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8" r:id="rId2"/>
    <p:sldId id="262" r:id="rId3"/>
    <p:sldId id="263" r:id="rId4"/>
    <p:sldId id="264" r:id="rId5"/>
    <p:sldId id="259" r:id="rId6"/>
    <p:sldId id="260" r:id="rId7"/>
    <p:sldId id="261" r:id="rId8"/>
    <p:sldId id="265" r:id="rId9"/>
    <p:sldId id="266" r:id="rId10"/>
    <p:sldId id="267" r:id="rId11"/>
    <p:sldId id="271" r:id="rId12"/>
    <p:sldId id="268" r:id="rId13"/>
    <p:sldId id="272" r:id="rId14"/>
    <p:sldId id="273" r:id="rId15"/>
    <p:sldId id="269" r:id="rId16"/>
    <p:sldId id="270" r:id="rId17"/>
    <p:sldId id="274" r:id="rId18"/>
    <p:sldId id="275" r:id="rId19"/>
    <p:sldId id="276" r:id="rId20"/>
    <p:sldId id="277" r:id="rId21"/>
    <p:sldId id="278" r:id="rId22"/>
    <p:sldId id="279" r:id="rId23"/>
    <p:sldId id="281" r:id="rId24"/>
    <p:sldId id="283" r:id="rId25"/>
    <p:sldId id="290" r:id="rId26"/>
    <p:sldId id="291" r:id="rId27"/>
    <p:sldId id="292" r:id="rId28"/>
    <p:sldId id="293" r:id="rId29"/>
    <p:sldId id="294" r:id="rId30"/>
    <p:sldId id="295" r:id="rId31"/>
    <p:sldId id="313"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284" r:id="rId50"/>
    <p:sldId id="282" r:id="rId51"/>
    <p:sldId id="285" r:id="rId52"/>
    <p:sldId id="286" r:id="rId53"/>
    <p:sldId id="287" r:id="rId54"/>
    <p:sldId id="288" r:id="rId55"/>
    <p:sldId id="289"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983" autoAdjust="0"/>
  </p:normalViewPr>
  <p:slideViewPr>
    <p:cSldViewPr snapToGrid="0">
      <p:cViewPr varScale="1">
        <p:scale>
          <a:sx n="79" d="100"/>
          <a:sy n="79" d="100"/>
        </p:scale>
        <p:origin x="16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A87693-92B2-4353-AE41-93CC86171F37}" type="datetimeFigureOut">
              <a:rPr lang="en-US" smtClean="0"/>
              <a:t>3/11/2019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41AC9B-C46E-4F4D-9340-8E6DA3B8225B}" type="slidenum">
              <a:rPr lang="en-US" smtClean="0"/>
              <a:t>‹#›</a:t>
            </a:fld>
            <a:endParaRPr lang="en-US"/>
          </a:p>
        </p:txBody>
      </p:sp>
    </p:spTree>
    <p:extLst>
      <p:ext uri="{BB962C8B-B14F-4D97-AF65-F5344CB8AC3E}">
        <p14:creationId xmlns:p14="http://schemas.microsoft.com/office/powerpoint/2010/main" val="50144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Shape 253"/>
          <p:cNvSpPr>
            <a:spLocks noGrp="1" noRot="1" noChangeAspect="1"/>
          </p:cNvSpPr>
          <p:nvPr>
            <p:ph type="sldImg"/>
          </p:nvPr>
        </p:nvSpPr>
        <p:spPr>
          <a:prstGeom prst="rect">
            <a:avLst/>
          </a:prstGeom>
        </p:spPr>
        <p:txBody>
          <a:bodyPr/>
          <a:lstStyle/>
          <a:p>
            <a:endParaRPr/>
          </a:p>
        </p:txBody>
      </p:sp>
      <p:sp>
        <p:nvSpPr>
          <p:cNvPr id="254" name="Shape 254"/>
          <p:cNvSpPr>
            <a:spLocks noGrp="1"/>
          </p:cNvSpPr>
          <p:nvPr>
            <p:ph type="body" sz="quarter" idx="1"/>
          </p:nvPr>
        </p:nvSpPr>
        <p:spPr>
          <a:prstGeom prst="rect">
            <a:avLst/>
          </a:prstGeom>
        </p:spPr>
        <p:txBody>
          <a:bodyPr/>
          <a:lstStyle/>
          <a:p>
            <a:r>
              <a:t>wikipedia says to use a sweep algorithm</a:t>
            </a:r>
          </a:p>
        </p:txBody>
      </p:sp>
    </p:spTree>
    <p:extLst>
      <p:ext uri="{BB962C8B-B14F-4D97-AF65-F5344CB8AC3E}">
        <p14:creationId xmlns:p14="http://schemas.microsoft.com/office/powerpoint/2010/main" val="3215685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Shape 331"/>
          <p:cNvSpPr>
            <a:spLocks noGrp="1" noRot="1" noChangeAspect="1"/>
          </p:cNvSpPr>
          <p:nvPr>
            <p:ph type="sldImg"/>
          </p:nvPr>
        </p:nvSpPr>
        <p:spPr>
          <a:prstGeom prst="rect">
            <a:avLst/>
          </a:prstGeom>
        </p:spPr>
        <p:txBody>
          <a:bodyPr/>
          <a:lstStyle/>
          <a:p>
            <a:endParaRPr/>
          </a:p>
        </p:txBody>
      </p:sp>
      <p:sp>
        <p:nvSpPr>
          <p:cNvPr id="332" name="Shape 332"/>
          <p:cNvSpPr>
            <a:spLocks noGrp="1"/>
          </p:cNvSpPr>
          <p:nvPr>
            <p:ph type="body" sz="quarter" idx="1"/>
          </p:nvPr>
        </p:nvSpPr>
        <p:spPr>
          <a:prstGeom prst="rect">
            <a:avLst/>
          </a:prstGeom>
        </p:spPr>
        <p:txBody>
          <a:bodyPr/>
          <a:lstStyle/>
          <a:p>
            <a:r>
              <a:t>go there</a:t>
            </a:r>
          </a:p>
        </p:txBody>
      </p:sp>
    </p:spTree>
    <p:extLst>
      <p:ext uri="{BB962C8B-B14F-4D97-AF65-F5344CB8AC3E}">
        <p14:creationId xmlns:p14="http://schemas.microsoft.com/office/powerpoint/2010/main" val="3543206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Shape 510"/>
          <p:cNvSpPr>
            <a:spLocks noGrp="1" noRot="1" noChangeAspect="1"/>
          </p:cNvSpPr>
          <p:nvPr>
            <p:ph type="sldImg"/>
          </p:nvPr>
        </p:nvSpPr>
        <p:spPr>
          <a:prstGeom prst="rect">
            <a:avLst/>
          </a:prstGeom>
        </p:spPr>
        <p:txBody>
          <a:bodyPr/>
          <a:lstStyle/>
          <a:p>
            <a:endParaRPr/>
          </a:p>
        </p:txBody>
      </p:sp>
      <p:sp>
        <p:nvSpPr>
          <p:cNvPr id="511" name="Shape 511"/>
          <p:cNvSpPr>
            <a:spLocks noGrp="1"/>
          </p:cNvSpPr>
          <p:nvPr>
            <p:ph type="body" sz="quarter" idx="1"/>
          </p:nvPr>
        </p:nvSpPr>
        <p:spPr>
          <a:prstGeom prst="rect">
            <a:avLst/>
          </a:prstGeom>
        </p:spPr>
        <p:txBody>
          <a:bodyPr/>
          <a:lstStyle>
            <a:lvl1pPr defTabSz="647700">
              <a:defRPr sz="1600">
                <a:latin typeface="Helvetica"/>
                <a:ea typeface="Helvetica"/>
                <a:cs typeface="Helvetica"/>
                <a:sym typeface="Helvetica"/>
              </a:defRPr>
            </a:lvl1pPr>
          </a:lstStyle>
          <a:p>
            <a:r>
              <a:t>a support mapping function returns a plane tangent to a point (plane divides space so that the object is completely in one of the half-spaces, and there’s one point on the plane)</a:t>
            </a:r>
          </a:p>
        </p:txBody>
      </p:sp>
    </p:spTree>
    <p:extLst>
      <p:ext uri="{BB962C8B-B14F-4D97-AF65-F5344CB8AC3E}">
        <p14:creationId xmlns:p14="http://schemas.microsoft.com/office/powerpoint/2010/main" val="2163926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Shape 538"/>
          <p:cNvSpPr>
            <a:spLocks noGrp="1" noRot="1" noChangeAspect="1"/>
          </p:cNvSpPr>
          <p:nvPr>
            <p:ph type="sldImg"/>
          </p:nvPr>
        </p:nvSpPr>
        <p:spPr>
          <a:prstGeom prst="rect">
            <a:avLst/>
          </a:prstGeom>
        </p:spPr>
        <p:txBody>
          <a:bodyPr/>
          <a:lstStyle/>
          <a:p>
            <a:endParaRPr/>
          </a:p>
        </p:txBody>
      </p:sp>
      <p:sp>
        <p:nvSpPr>
          <p:cNvPr id="539" name="Shape 539"/>
          <p:cNvSpPr>
            <a:spLocks noGrp="1"/>
          </p:cNvSpPr>
          <p:nvPr>
            <p:ph type="body" sz="quarter" idx="1"/>
          </p:nvPr>
        </p:nvSpPr>
        <p:spPr>
          <a:prstGeom prst="rect">
            <a:avLst/>
          </a:prstGeom>
        </p:spPr>
        <p:txBody>
          <a:bodyPr/>
          <a:lstStyle/>
          <a:p>
            <a:pPr marL="57799" marR="57799" defTabSz="1295400">
              <a:spcBef>
                <a:spcPts val="500"/>
              </a:spcBef>
              <a:buClr>
                <a:srgbClr val="000000"/>
              </a:buClr>
              <a:buFont typeface="Arial"/>
              <a:defRPr sz="3000"/>
            </a:pPr>
            <a:r>
              <a:rPr sz="1600">
                <a:uFill>
                  <a:solidFill>
                    <a:srgbClr val="000000"/>
                  </a:solidFill>
                </a:uFill>
                <a:latin typeface="+mn-lt"/>
                <a:ea typeface="+mn-ea"/>
                <a:cs typeface="+mn-cs"/>
                <a:sym typeface="Arial"/>
              </a:rPr>
              <a:t>Supporting points are not necessarily unique. That is, there may be infinitely many supporting points for a given direction. The support mapping function for a convex polyhedron simply returns the vertex most distant in direction </a:t>
            </a:r>
            <a:r>
              <a:rPr sz="1600" b="1">
                <a:uFill>
                  <a:solidFill>
                    <a:srgbClr val="000000"/>
                  </a:solidFill>
                </a:uFill>
                <a:latin typeface="+mn-lt"/>
                <a:ea typeface="+mn-ea"/>
                <a:cs typeface="+mn-cs"/>
                <a:sym typeface="Arial"/>
              </a:rPr>
              <a:t>d</a:t>
            </a:r>
            <a:r>
              <a:rPr sz="1600">
                <a:uFill>
                  <a:solidFill>
                    <a:srgbClr val="000000"/>
                  </a:solidFill>
                </a:uFill>
                <a:latin typeface="+mn-lt"/>
                <a:ea typeface="+mn-ea"/>
                <a:cs typeface="+mn-cs"/>
                <a:sym typeface="Arial"/>
              </a:rPr>
              <a:t> (any one if several equally distant). The support mapping for a sphere </a:t>
            </a:r>
            <a:r>
              <a:rPr sz="1600" i="1">
                <a:uFill>
                  <a:solidFill>
                    <a:srgbClr val="000000"/>
                  </a:solidFill>
                </a:uFill>
                <a:latin typeface="+mn-lt"/>
                <a:ea typeface="+mn-ea"/>
                <a:cs typeface="+mn-cs"/>
                <a:sym typeface="Arial"/>
              </a:rPr>
              <a:t>C</a:t>
            </a:r>
            <a:r>
              <a:rPr sz="1600">
                <a:uFill>
                  <a:solidFill>
                    <a:srgbClr val="000000"/>
                  </a:solidFill>
                </a:uFill>
                <a:latin typeface="+mn-lt"/>
                <a:ea typeface="+mn-ea"/>
                <a:cs typeface="+mn-cs"/>
                <a:sym typeface="Arial"/>
              </a:rPr>
              <a:t> of radius </a:t>
            </a:r>
            <a:r>
              <a:rPr sz="1600" i="1">
                <a:uFill>
                  <a:solidFill>
                    <a:srgbClr val="000000"/>
                  </a:solidFill>
                </a:uFill>
                <a:latin typeface="+mn-lt"/>
                <a:ea typeface="+mn-ea"/>
                <a:cs typeface="+mn-cs"/>
                <a:sym typeface="Arial"/>
              </a:rPr>
              <a:t>r</a:t>
            </a:r>
            <a:r>
              <a:rPr sz="1600">
                <a:uFill>
                  <a:solidFill>
                    <a:srgbClr val="000000"/>
                  </a:solidFill>
                </a:uFill>
                <a:latin typeface="+mn-lt"/>
                <a:ea typeface="+mn-ea"/>
                <a:cs typeface="+mn-cs"/>
                <a:sym typeface="Arial"/>
              </a:rPr>
              <a:t> and center </a:t>
            </a:r>
            <a:r>
              <a:rPr sz="1600" i="1">
                <a:uFill>
                  <a:solidFill>
                    <a:srgbClr val="000000"/>
                  </a:solidFill>
                </a:uFill>
                <a:latin typeface="+mn-lt"/>
                <a:ea typeface="+mn-ea"/>
                <a:cs typeface="+mn-cs"/>
                <a:sym typeface="Arial"/>
              </a:rPr>
              <a:t>O</a:t>
            </a:r>
            <a:r>
              <a:rPr sz="1600">
                <a:uFill>
                  <a:solidFill>
                    <a:srgbClr val="000000"/>
                  </a:solidFill>
                </a:uFill>
                <a:latin typeface="+mn-lt"/>
                <a:ea typeface="+mn-ea"/>
                <a:cs typeface="+mn-cs"/>
                <a:sym typeface="Arial"/>
              </a:rPr>
              <a:t> is given by </a:t>
            </a:r>
            <a:r>
              <a:rPr sz="1600" i="1">
                <a:uFill>
                  <a:solidFill>
                    <a:srgbClr val="000000"/>
                  </a:solidFill>
                </a:uFill>
                <a:latin typeface="+mn-lt"/>
                <a:ea typeface="+mn-ea"/>
                <a:cs typeface="+mn-cs"/>
                <a:sym typeface="Arial"/>
              </a:rPr>
              <a:t>S</a:t>
            </a:r>
            <a:r>
              <a:rPr sz="1600" i="1" baseline="-20250">
                <a:uFill>
                  <a:solidFill>
                    <a:srgbClr val="000000"/>
                  </a:solidFill>
                </a:uFill>
                <a:latin typeface="+mn-lt"/>
                <a:ea typeface="+mn-ea"/>
                <a:cs typeface="+mn-cs"/>
                <a:sym typeface="Arial"/>
              </a:rPr>
              <a:t>C</a:t>
            </a:r>
            <a:r>
              <a:rPr sz="1600">
                <a:uFill>
                  <a:solidFill>
                    <a:srgbClr val="000000"/>
                  </a:solidFill>
                </a:uFill>
                <a:latin typeface="+mn-lt"/>
                <a:ea typeface="+mn-ea"/>
                <a:cs typeface="+mn-cs"/>
                <a:sym typeface="Arial"/>
              </a:rPr>
              <a:t>(</a:t>
            </a:r>
            <a:r>
              <a:rPr sz="1600" b="1">
                <a:uFill>
                  <a:solidFill>
                    <a:srgbClr val="000000"/>
                  </a:solidFill>
                </a:uFill>
                <a:latin typeface="+mn-lt"/>
                <a:ea typeface="+mn-ea"/>
                <a:cs typeface="+mn-cs"/>
                <a:sym typeface="Arial"/>
              </a:rPr>
              <a:t>d</a:t>
            </a:r>
            <a:r>
              <a:rPr sz="1600">
                <a:uFill>
                  <a:solidFill>
                    <a:srgbClr val="000000"/>
                  </a:solidFill>
                </a:uFill>
                <a:latin typeface="+mn-lt"/>
                <a:ea typeface="+mn-ea"/>
                <a:cs typeface="+mn-cs"/>
                <a:sym typeface="Arial"/>
              </a:rPr>
              <a:t>) = </a:t>
            </a:r>
            <a:r>
              <a:rPr sz="1600" i="1">
                <a:uFill>
                  <a:solidFill>
                    <a:srgbClr val="000000"/>
                  </a:solidFill>
                </a:uFill>
                <a:latin typeface="+mn-lt"/>
                <a:ea typeface="+mn-ea"/>
                <a:cs typeface="+mn-cs"/>
                <a:sym typeface="Arial"/>
              </a:rPr>
              <a:t>O</a:t>
            </a:r>
            <a:r>
              <a:rPr sz="1600">
                <a:uFill>
                  <a:solidFill>
                    <a:srgbClr val="000000"/>
                  </a:solidFill>
                </a:uFill>
                <a:latin typeface="+mn-lt"/>
                <a:ea typeface="+mn-ea"/>
                <a:cs typeface="+mn-cs"/>
                <a:sym typeface="Arial"/>
              </a:rPr>
              <a:t> + </a:t>
            </a:r>
            <a:r>
              <a:rPr sz="1600" i="1">
                <a:uFill>
                  <a:solidFill>
                    <a:srgbClr val="000000"/>
                  </a:solidFill>
                </a:uFill>
                <a:latin typeface="+mn-lt"/>
                <a:ea typeface="+mn-ea"/>
                <a:cs typeface="+mn-cs"/>
                <a:sym typeface="Arial"/>
              </a:rPr>
              <a:t>r</a:t>
            </a:r>
            <a:r>
              <a:rPr sz="1600">
                <a:uFill>
                  <a:solidFill>
                    <a:srgbClr val="000000"/>
                  </a:solidFill>
                </a:uFill>
                <a:latin typeface="+mn-lt"/>
                <a:ea typeface="+mn-ea"/>
                <a:cs typeface="+mn-cs"/>
                <a:sym typeface="Arial"/>
              </a:rPr>
              <a:t> * ||</a:t>
            </a:r>
            <a:r>
              <a:rPr sz="1600" b="1">
                <a:uFill>
                  <a:solidFill>
                    <a:srgbClr val="000000"/>
                  </a:solidFill>
                </a:uFill>
                <a:latin typeface="+mn-lt"/>
                <a:ea typeface="+mn-ea"/>
                <a:cs typeface="+mn-cs"/>
                <a:sym typeface="Arial"/>
              </a:rPr>
              <a:t>d</a:t>
            </a:r>
            <a:r>
              <a:rPr sz="1600">
                <a:uFill>
                  <a:solidFill>
                    <a:srgbClr val="000000"/>
                  </a:solidFill>
                </a:uFill>
                <a:latin typeface="+mn-lt"/>
                <a:ea typeface="+mn-ea"/>
                <a:cs typeface="+mn-cs"/>
                <a:sym typeface="Arial"/>
              </a:rPr>
              <a:t>||.</a:t>
            </a:r>
          </a:p>
        </p:txBody>
      </p:sp>
    </p:spTree>
    <p:extLst>
      <p:ext uri="{BB962C8B-B14F-4D97-AF65-F5344CB8AC3E}">
        <p14:creationId xmlns:p14="http://schemas.microsoft.com/office/powerpoint/2010/main" val="1065133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 name="Shape 563"/>
          <p:cNvSpPr>
            <a:spLocks noGrp="1" noRot="1" noChangeAspect="1"/>
          </p:cNvSpPr>
          <p:nvPr>
            <p:ph type="sldImg"/>
          </p:nvPr>
        </p:nvSpPr>
        <p:spPr>
          <a:prstGeom prst="rect">
            <a:avLst/>
          </a:prstGeom>
        </p:spPr>
        <p:txBody>
          <a:bodyPr/>
          <a:lstStyle/>
          <a:p>
            <a:endParaRPr/>
          </a:p>
        </p:txBody>
      </p:sp>
      <p:sp>
        <p:nvSpPr>
          <p:cNvPr id="564" name="Shape 564"/>
          <p:cNvSpPr>
            <a:spLocks noGrp="1"/>
          </p:cNvSpPr>
          <p:nvPr>
            <p:ph type="body" sz="quarter" idx="1"/>
          </p:nvPr>
        </p:nvSpPr>
        <p:spPr>
          <a:prstGeom prst="rect">
            <a:avLst/>
          </a:prstGeom>
        </p:spPr>
        <p:txBody>
          <a:bodyPr/>
          <a:lstStyle/>
          <a:p>
            <a:pPr marL="57799" marR="57799" defTabSz="1295400">
              <a:spcBef>
                <a:spcPts val="500"/>
              </a:spcBef>
              <a:buClr>
                <a:srgbClr val="000000"/>
              </a:buClr>
              <a:buFont typeface="Arial"/>
              <a:defRPr sz="3000"/>
            </a:pPr>
            <a:r>
              <a:rPr sz="1600">
                <a:uFill>
                  <a:solidFill>
                    <a:srgbClr val="000000"/>
                  </a:solidFill>
                </a:uFill>
                <a:latin typeface="+mn-lt"/>
                <a:ea typeface="+mn-ea"/>
                <a:cs typeface="+mn-cs"/>
                <a:sym typeface="Arial"/>
              </a:rPr>
              <a:t>A </a:t>
            </a:r>
            <a:r>
              <a:rPr sz="1600" i="1">
                <a:uFill>
                  <a:solidFill>
                    <a:srgbClr val="000000"/>
                  </a:solidFill>
                </a:uFill>
                <a:latin typeface="+mn-lt"/>
                <a:ea typeface="+mn-ea"/>
                <a:cs typeface="+mn-cs"/>
                <a:sym typeface="Arial"/>
              </a:rPr>
              <a:t>d</a:t>
            </a:r>
            <a:r>
              <a:rPr sz="1600">
                <a:uFill>
                  <a:solidFill>
                    <a:srgbClr val="000000"/>
                  </a:solidFill>
                </a:uFill>
                <a:latin typeface="+mn-lt"/>
                <a:ea typeface="+mn-ea"/>
                <a:cs typeface="+mn-cs"/>
                <a:sym typeface="Arial"/>
              </a:rPr>
              <a:t>-</a:t>
            </a:r>
            <a:r>
              <a:rPr sz="1600" i="1">
                <a:uFill>
                  <a:solidFill>
                    <a:srgbClr val="000000"/>
                  </a:solidFill>
                </a:uFill>
                <a:latin typeface="+mn-lt"/>
                <a:ea typeface="+mn-ea"/>
                <a:cs typeface="+mn-cs"/>
                <a:sym typeface="Arial"/>
              </a:rPr>
              <a:t>simplex</a:t>
            </a:r>
            <a:r>
              <a:rPr sz="1600">
                <a:uFill>
                  <a:solidFill>
                    <a:srgbClr val="000000"/>
                  </a:solidFill>
                </a:uFill>
                <a:latin typeface="+mn-lt"/>
                <a:ea typeface="+mn-ea"/>
                <a:cs typeface="+mn-cs"/>
                <a:sym typeface="Arial"/>
              </a:rPr>
              <a:t> is the convex hull of </a:t>
            </a:r>
            <a:r>
              <a:rPr sz="1600" i="1">
                <a:uFill>
                  <a:solidFill>
                    <a:srgbClr val="000000"/>
                  </a:solidFill>
                </a:uFill>
                <a:latin typeface="+mn-lt"/>
                <a:ea typeface="+mn-ea"/>
                <a:cs typeface="+mn-cs"/>
                <a:sym typeface="Arial"/>
              </a:rPr>
              <a:t>d</a:t>
            </a:r>
            <a:r>
              <a:rPr sz="1600">
                <a:uFill>
                  <a:solidFill>
                    <a:srgbClr val="000000"/>
                  </a:solidFill>
                </a:uFill>
                <a:latin typeface="+mn-lt"/>
                <a:ea typeface="+mn-ea"/>
                <a:cs typeface="+mn-cs"/>
                <a:sym typeface="Arial"/>
              </a:rPr>
              <a:t>+1 affinely independent points in </a:t>
            </a:r>
            <a:r>
              <a:rPr sz="1600" i="1">
                <a:uFill>
                  <a:solidFill>
                    <a:srgbClr val="000000"/>
                  </a:solidFill>
                </a:uFill>
                <a:latin typeface="+mn-lt"/>
                <a:ea typeface="+mn-ea"/>
                <a:cs typeface="+mn-cs"/>
                <a:sym typeface="Arial"/>
              </a:rPr>
              <a:t>d</a:t>
            </a:r>
            <a:r>
              <a:rPr sz="1600">
                <a:uFill>
                  <a:solidFill>
                    <a:srgbClr val="000000"/>
                  </a:solidFill>
                </a:uFill>
                <a:latin typeface="+mn-lt"/>
                <a:ea typeface="+mn-ea"/>
                <a:cs typeface="+mn-cs"/>
                <a:sym typeface="Arial"/>
              </a:rPr>
              <a:t>-dimensional space. A </a:t>
            </a:r>
            <a:r>
              <a:rPr sz="1600" i="1">
                <a:uFill>
                  <a:solidFill>
                    <a:srgbClr val="000000"/>
                  </a:solidFill>
                </a:uFill>
                <a:latin typeface="+mn-lt"/>
                <a:ea typeface="+mn-ea"/>
                <a:cs typeface="+mn-cs"/>
                <a:sym typeface="Arial"/>
              </a:rPr>
              <a:t>simplex</a:t>
            </a:r>
            <a:r>
              <a:rPr sz="1600">
                <a:uFill>
                  <a:solidFill>
                    <a:srgbClr val="000000"/>
                  </a:solidFill>
                </a:uFill>
                <a:latin typeface="+mn-lt"/>
                <a:ea typeface="+mn-ea"/>
                <a:cs typeface="+mn-cs"/>
                <a:sym typeface="Arial"/>
              </a:rPr>
              <a:t> (plural </a:t>
            </a:r>
            <a:r>
              <a:rPr sz="1600" i="1">
                <a:uFill>
                  <a:solidFill>
                    <a:srgbClr val="000000"/>
                  </a:solidFill>
                </a:uFill>
                <a:latin typeface="+mn-lt"/>
                <a:ea typeface="+mn-ea"/>
                <a:cs typeface="+mn-cs"/>
                <a:sym typeface="Arial"/>
              </a:rPr>
              <a:t>simplices</a:t>
            </a:r>
            <a:r>
              <a:rPr sz="1600">
                <a:uFill>
                  <a:solidFill>
                    <a:srgbClr val="000000"/>
                  </a:solidFill>
                </a:uFill>
                <a:latin typeface="+mn-lt"/>
                <a:ea typeface="+mn-ea"/>
                <a:cs typeface="+mn-cs"/>
                <a:sym typeface="Arial"/>
              </a:rPr>
              <a:t>) is a </a:t>
            </a:r>
            <a:r>
              <a:rPr sz="1600" i="1">
                <a:uFill>
                  <a:solidFill>
                    <a:srgbClr val="000000"/>
                  </a:solidFill>
                </a:uFill>
                <a:latin typeface="+mn-lt"/>
                <a:ea typeface="+mn-ea"/>
                <a:cs typeface="+mn-cs"/>
                <a:sym typeface="Arial"/>
              </a:rPr>
              <a:t>d</a:t>
            </a:r>
            <a:r>
              <a:rPr sz="1600">
                <a:uFill>
                  <a:solidFill>
                    <a:srgbClr val="000000"/>
                  </a:solidFill>
                </a:uFill>
                <a:latin typeface="+mn-lt"/>
                <a:ea typeface="+mn-ea"/>
                <a:cs typeface="+mn-cs"/>
                <a:sym typeface="Arial"/>
              </a:rPr>
              <a:t>-simplex, for some given </a:t>
            </a:r>
            <a:r>
              <a:rPr sz="1600" i="1">
                <a:uFill>
                  <a:solidFill>
                    <a:srgbClr val="000000"/>
                  </a:solidFill>
                </a:uFill>
                <a:latin typeface="+mn-lt"/>
                <a:ea typeface="+mn-ea"/>
                <a:cs typeface="+mn-cs"/>
                <a:sym typeface="Arial"/>
              </a:rPr>
              <a:t>d</a:t>
            </a:r>
            <a:r>
              <a:rPr sz="1600">
                <a:uFill>
                  <a:solidFill>
                    <a:srgbClr val="000000"/>
                  </a:solidFill>
                </a:uFill>
                <a:latin typeface="+mn-lt"/>
                <a:ea typeface="+mn-ea"/>
                <a:cs typeface="+mn-cs"/>
                <a:sym typeface="Arial"/>
              </a:rPr>
              <a:t>.</a:t>
            </a:r>
          </a:p>
        </p:txBody>
      </p:sp>
    </p:spTree>
    <p:extLst>
      <p:ext uri="{BB962C8B-B14F-4D97-AF65-F5344CB8AC3E}">
        <p14:creationId xmlns:p14="http://schemas.microsoft.com/office/powerpoint/2010/main" val="441172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200C70-335B-4574-BDBC-10060B5EE260}" type="slidenum">
              <a:rPr lang="en-US" altLang="en-US"/>
              <a:pPr/>
              <a:t>31</a:t>
            </a:fld>
            <a:endParaRPr lang="en-US" altLang="en-US"/>
          </a:p>
        </p:txBody>
      </p:sp>
      <p:sp>
        <p:nvSpPr>
          <p:cNvPr id="165890" name="Rectangle 2"/>
          <p:cNvSpPr>
            <a:spLocks noRot="1" noChangeArrowheads="1" noTextEdit="1"/>
          </p:cNvSpPr>
          <p:nvPr>
            <p:ph type="sldImg"/>
          </p:nvPr>
        </p:nvSpPr>
        <p:spPr>
          <a:ln/>
        </p:spPr>
      </p:sp>
      <p:sp>
        <p:nvSpPr>
          <p:cNvPr id="165891" name="Rectangle 3"/>
          <p:cNvSpPr>
            <a:spLocks noGrp="1" noChangeArrowheads="1"/>
          </p:cNvSpPr>
          <p:nvPr>
            <p:ph type="body" idx="1"/>
          </p:nvPr>
        </p:nvSpPr>
        <p:spPr/>
        <p:txBody>
          <a:bodyPr/>
          <a:lstStyle/>
          <a:p>
            <a:r>
              <a:rPr lang="en-US" altLang="en-US"/>
              <a:t>The convex hull of a set </a:t>
            </a:r>
            <a:r>
              <a:rPr lang="en-US" altLang="en-US" i="1"/>
              <a:t>C</a:t>
            </a:r>
            <a:r>
              <a:rPr lang="en-US" altLang="en-US"/>
              <a:t> of points is here denoted by CH(</a:t>
            </a:r>
            <a:r>
              <a:rPr lang="en-US" altLang="en-US" i="1"/>
              <a:t>C</a:t>
            </a:r>
            <a:r>
              <a:rPr lang="en-US" altLang="en-US"/>
              <a:t>).</a:t>
            </a:r>
          </a:p>
        </p:txBody>
      </p:sp>
    </p:spTree>
    <p:extLst>
      <p:ext uri="{BB962C8B-B14F-4D97-AF65-F5344CB8AC3E}">
        <p14:creationId xmlns:p14="http://schemas.microsoft.com/office/powerpoint/2010/main" val="2387667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Shape 568"/>
          <p:cNvSpPr>
            <a:spLocks noGrp="1" noRot="1" noChangeAspect="1"/>
          </p:cNvSpPr>
          <p:nvPr>
            <p:ph type="sldImg"/>
          </p:nvPr>
        </p:nvSpPr>
        <p:spPr>
          <a:prstGeom prst="rect">
            <a:avLst/>
          </a:prstGeom>
        </p:spPr>
        <p:txBody>
          <a:bodyPr/>
          <a:lstStyle/>
          <a:p>
            <a:endParaRPr/>
          </a:p>
        </p:txBody>
      </p:sp>
      <p:sp>
        <p:nvSpPr>
          <p:cNvPr id="569" name="Shape 569"/>
          <p:cNvSpPr>
            <a:spLocks noGrp="1"/>
          </p:cNvSpPr>
          <p:nvPr>
            <p:ph type="body" sz="quarter" idx="1"/>
          </p:nvPr>
        </p:nvSpPr>
        <p:spPr>
          <a:prstGeom prst="rect">
            <a:avLst/>
          </a:prstGeom>
        </p:spPr>
        <p:txBody>
          <a:bodyPr/>
          <a:lstStyle>
            <a:lvl1pPr marL="57799" marR="57799" defTabSz="1295400">
              <a:spcBef>
                <a:spcPts val="500"/>
              </a:spcBef>
              <a:buClr>
                <a:srgbClr val="000000"/>
              </a:buClr>
              <a:buFont typeface="Arial"/>
              <a:defRPr sz="1600">
                <a:uFill>
                  <a:solidFill>
                    <a:srgbClr val="000000"/>
                  </a:solidFill>
                </a:uFill>
                <a:latin typeface="+mn-lt"/>
                <a:ea typeface="+mn-ea"/>
                <a:cs typeface="+mn-cs"/>
                <a:sym typeface="Arial"/>
              </a:defRPr>
            </a:lvl1pPr>
          </a:lstStyle>
          <a:p>
            <a:r>
              <a:t>2) “Point of minimum norm” is a snooty way of saying “point closest to the origin”.</a:t>
            </a:r>
          </a:p>
        </p:txBody>
      </p:sp>
    </p:spTree>
    <p:extLst>
      <p:ext uri="{BB962C8B-B14F-4D97-AF65-F5344CB8AC3E}">
        <p14:creationId xmlns:p14="http://schemas.microsoft.com/office/powerpoint/2010/main" val="2856377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Shape 585"/>
          <p:cNvSpPr>
            <a:spLocks noGrp="1" noRot="1" noChangeAspect="1"/>
          </p:cNvSpPr>
          <p:nvPr>
            <p:ph type="sldImg"/>
          </p:nvPr>
        </p:nvSpPr>
        <p:spPr>
          <a:prstGeom prst="rect">
            <a:avLst/>
          </a:prstGeom>
        </p:spPr>
        <p:txBody>
          <a:bodyPr/>
          <a:lstStyle/>
          <a:p>
            <a:endParaRPr/>
          </a:p>
        </p:txBody>
      </p:sp>
      <p:sp>
        <p:nvSpPr>
          <p:cNvPr id="586" name="Shape 586"/>
          <p:cNvSpPr>
            <a:spLocks noGrp="1"/>
          </p:cNvSpPr>
          <p:nvPr>
            <p:ph type="body" sz="quarter" idx="1"/>
          </p:nvPr>
        </p:nvSpPr>
        <p:spPr>
          <a:prstGeom prst="rect">
            <a:avLst/>
          </a:prstGeom>
        </p:spPr>
        <p:txBody>
          <a:bodyPr/>
          <a:lstStyle>
            <a:lvl1pPr marL="57799" marR="57799" defTabSz="1295400">
              <a:spcBef>
                <a:spcPts val="500"/>
              </a:spcBef>
              <a:buClr>
                <a:srgbClr val="000000"/>
              </a:buClr>
              <a:buFont typeface="Arial"/>
              <a:defRPr sz="1600">
                <a:uFill>
                  <a:solidFill>
                    <a:srgbClr val="000000"/>
                  </a:solidFill>
                </a:uFill>
                <a:latin typeface="+mn-lt"/>
                <a:ea typeface="+mn-ea"/>
                <a:cs typeface="+mn-cs"/>
                <a:sym typeface="Arial"/>
              </a:defRPr>
            </a:lvl1pPr>
          </a:lstStyle>
          <a:p>
            <a:r>
              <a:t>The example here uses a convex polyhedron, but the same principle applies to any convex object.</a:t>
            </a:r>
          </a:p>
        </p:txBody>
      </p:sp>
    </p:spTree>
    <p:extLst>
      <p:ext uri="{BB962C8B-B14F-4D97-AF65-F5344CB8AC3E}">
        <p14:creationId xmlns:p14="http://schemas.microsoft.com/office/powerpoint/2010/main" val="3980236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 name="Shape 610"/>
          <p:cNvSpPr>
            <a:spLocks noGrp="1" noRot="1" noChangeAspect="1"/>
          </p:cNvSpPr>
          <p:nvPr>
            <p:ph type="sldImg"/>
          </p:nvPr>
        </p:nvSpPr>
        <p:spPr>
          <a:prstGeom prst="rect">
            <a:avLst/>
          </a:prstGeom>
        </p:spPr>
        <p:txBody>
          <a:bodyPr/>
          <a:lstStyle/>
          <a:p>
            <a:endParaRPr/>
          </a:p>
        </p:txBody>
      </p:sp>
      <p:sp>
        <p:nvSpPr>
          <p:cNvPr id="611" name="Shape 611"/>
          <p:cNvSpPr>
            <a:spLocks noGrp="1"/>
          </p:cNvSpPr>
          <p:nvPr>
            <p:ph type="body" sz="quarter" idx="1"/>
          </p:nvPr>
        </p:nvSpPr>
        <p:spPr>
          <a:prstGeom prst="rect">
            <a:avLst/>
          </a:prstGeom>
        </p:spPr>
        <p:txBody>
          <a:bodyPr/>
          <a:lstStyle/>
          <a:p>
            <a:pPr marL="57799" marR="57799" defTabSz="1295400">
              <a:spcBef>
                <a:spcPts val="500"/>
              </a:spcBef>
              <a:buClr>
                <a:srgbClr val="000000"/>
              </a:buClr>
              <a:buFont typeface="Arial"/>
              <a:defRPr sz="3000"/>
            </a:pPr>
            <a:r>
              <a:rPr sz="1600">
                <a:uFill>
                  <a:solidFill>
                    <a:srgbClr val="000000"/>
                  </a:solidFill>
                </a:uFill>
                <a:latin typeface="+mn-lt"/>
                <a:ea typeface="+mn-ea"/>
                <a:cs typeface="+mn-cs"/>
                <a:sym typeface="Arial"/>
              </a:rPr>
              <a:t>Here we initialize </a:t>
            </a:r>
            <a:r>
              <a:rPr sz="1600" i="1">
                <a:uFill>
                  <a:solidFill>
                    <a:srgbClr val="000000"/>
                  </a:solidFill>
                </a:uFill>
                <a:latin typeface="+mn-lt"/>
                <a:ea typeface="+mn-ea"/>
                <a:cs typeface="+mn-cs"/>
                <a:sym typeface="Arial"/>
              </a:rPr>
              <a:t>Q</a:t>
            </a:r>
            <a:r>
              <a:rPr sz="1600">
                <a:uFill>
                  <a:solidFill>
                    <a:srgbClr val="000000"/>
                  </a:solidFill>
                </a:uFill>
                <a:latin typeface="+mn-lt"/>
                <a:ea typeface="+mn-ea"/>
                <a:cs typeface="+mn-cs"/>
                <a:sym typeface="Arial"/>
              </a:rPr>
              <a:t> with three points simply to reduce the number of steps required for the algorithm to terminate (to keep the example short).</a:t>
            </a:r>
          </a:p>
        </p:txBody>
      </p:sp>
    </p:spTree>
    <p:extLst>
      <p:ext uri="{BB962C8B-B14F-4D97-AF65-F5344CB8AC3E}">
        <p14:creationId xmlns:p14="http://schemas.microsoft.com/office/powerpoint/2010/main" val="757462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 name="Shape 634"/>
          <p:cNvSpPr>
            <a:spLocks noGrp="1" noRot="1" noChangeAspect="1"/>
          </p:cNvSpPr>
          <p:nvPr>
            <p:ph type="sldImg"/>
          </p:nvPr>
        </p:nvSpPr>
        <p:spPr>
          <a:prstGeom prst="rect">
            <a:avLst/>
          </a:prstGeom>
        </p:spPr>
        <p:txBody>
          <a:bodyPr/>
          <a:lstStyle/>
          <a:p>
            <a:endParaRPr/>
          </a:p>
        </p:txBody>
      </p:sp>
      <p:sp>
        <p:nvSpPr>
          <p:cNvPr id="635" name="Shape 635"/>
          <p:cNvSpPr>
            <a:spLocks noGrp="1"/>
          </p:cNvSpPr>
          <p:nvPr>
            <p:ph type="body" sz="quarter" idx="1"/>
          </p:nvPr>
        </p:nvSpPr>
        <p:spPr>
          <a:prstGeom prst="rect">
            <a:avLst/>
          </a:prstGeom>
        </p:spPr>
        <p:txBody>
          <a:bodyPr/>
          <a:lstStyle/>
          <a:p>
            <a:pPr marL="57799" marR="57799" defTabSz="1295400">
              <a:spcBef>
                <a:spcPts val="500"/>
              </a:spcBef>
              <a:buClr>
                <a:srgbClr val="000000"/>
              </a:buClr>
              <a:buFont typeface="Arial"/>
              <a:defRPr sz="3000"/>
            </a:pPr>
            <a:r>
              <a:rPr sz="1600">
                <a:uFill>
                  <a:solidFill>
                    <a:srgbClr val="000000"/>
                  </a:solidFill>
                </a:uFill>
                <a:latin typeface="+mn-lt"/>
                <a:ea typeface="+mn-ea"/>
                <a:cs typeface="+mn-cs"/>
                <a:sym typeface="Arial"/>
              </a:rPr>
              <a:t>Exactly how the point of minimum norm in CH(</a:t>
            </a:r>
            <a:r>
              <a:rPr sz="1600" i="1">
                <a:uFill>
                  <a:solidFill>
                    <a:srgbClr val="000000"/>
                  </a:solidFill>
                </a:uFill>
                <a:latin typeface="+mn-lt"/>
                <a:ea typeface="+mn-ea"/>
                <a:cs typeface="+mn-cs"/>
                <a:sym typeface="Arial"/>
              </a:rPr>
              <a:t>Q</a:t>
            </a:r>
            <a:r>
              <a:rPr sz="1600">
                <a:uFill>
                  <a:solidFill>
                    <a:srgbClr val="000000"/>
                  </a:solidFill>
                </a:uFill>
                <a:latin typeface="+mn-lt"/>
                <a:ea typeface="+mn-ea"/>
                <a:cs typeface="+mn-cs"/>
                <a:sym typeface="Arial"/>
              </a:rPr>
              <a:t>) is found is described further ahead.</a:t>
            </a:r>
          </a:p>
        </p:txBody>
      </p:sp>
    </p:spTree>
    <p:extLst>
      <p:ext uri="{BB962C8B-B14F-4D97-AF65-F5344CB8AC3E}">
        <p14:creationId xmlns:p14="http://schemas.microsoft.com/office/powerpoint/2010/main" val="129398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 name="Shape 656"/>
          <p:cNvSpPr>
            <a:spLocks noGrp="1" noRot="1" noChangeAspect="1"/>
          </p:cNvSpPr>
          <p:nvPr>
            <p:ph type="sldImg"/>
          </p:nvPr>
        </p:nvSpPr>
        <p:spPr>
          <a:prstGeom prst="rect">
            <a:avLst/>
          </a:prstGeom>
        </p:spPr>
        <p:txBody>
          <a:bodyPr/>
          <a:lstStyle/>
          <a:p>
            <a:endParaRPr/>
          </a:p>
        </p:txBody>
      </p:sp>
      <p:sp>
        <p:nvSpPr>
          <p:cNvPr id="657" name="Shape 657"/>
          <p:cNvSpPr>
            <a:spLocks noGrp="1"/>
          </p:cNvSpPr>
          <p:nvPr>
            <p:ph type="body" sz="quarter" idx="1"/>
          </p:nvPr>
        </p:nvSpPr>
        <p:spPr>
          <a:prstGeom prst="rect">
            <a:avLst/>
          </a:prstGeom>
        </p:spPr>
        <p:txBody>
          <a:bodyPr/>
          <a:lstStyle/>
          <a:p>
            <a:pPr marL="57799" marR="57799" defTabSz="1295400">
              <a:spcBef>
                <a:spcPts val="500"/>
              </a:spcBef>
              <a:buClr>
                <a:srgbClr val="000000"/>
              </a:buClr>
              <a:buFont typeface="Arial"/>
              <a:defRPr sz="3000"/>
            </a:pPr>
            <a:r>
              <a:rPr sz="1600">
                <a:uFill>
                  <a:solidFill>
                    <a:srgbClr val="000000"/>
                  </a:solidFill>
                </a:uFill>
                <a:latin typeface="+mn-lt"/>
                <a:ea typeface="+mn-ea"/>
                <a:cs typeface="+mn-cs"/>
                <a:sym typeface="Arial"/>
              </a:rPr>
              <a:t>Only </a:t>
            </a:r>
            <a:r>
              <a:rPr sz="1600" i="1">
                <a:uFill>
                  <a:solidFill>
                    <a:srgbClr val="000000"/>
                  </a:solidFill>
                </a:uFill>
                <a:latin typeface="+mn-lt"/>
                <a:ea typeface="+mn-ea"/>
                <a:cs typeface="+mn-cs"/>
                <a:sym typeface="Arial"/>
              </a:rPr>
              <a:t>Q</a:t>
            </a:r>
            <a:r>
              <a:rPr sz="1600" baseline="-20250">
                <a:uFill>
                  <a:solidFill>
                    <a:srgbClr val="000000"/>
                  </a:solidFill>
                </a:uFill>
                <a:latin typeface="+mn-lt"/>
                <a:ea typeface="+mn-ea"/>
                <a:cs typeface="+mn-cs"/>
                <a:sym typeface="Arial"/>
              </a:rPr>
              <a:t>1</a:t>
            </a:r>
            <a:r>
              <a:rPr sz="1600">
                <a:uFill>
                  <a:solidFill>
                    <a:srgbClr val="000000"/>
                  </a:solidFill>
                </a:uFill>
                <a:latin typeface="+mn-lt"/>
                <a:ea typeface="+mn-ea"/>
                <a:cs typeface="+mn-cs"/>
                <a:sym typeface="Arial"/>
              </a:rPr>
              <a:t> and </a:t>
            </a:r>
            <a:r>
              <a:rPr sz="1600" i="1">
                <a:uFill>
                  <a:solidFill>
                    <a:srgbClr val="000000"/>
                  </a:solidFill>
                </a:uFill>
                <a:latin typeface="+mn-lt"/>
                <a:ea typeface="+mn-ea"/>
                <a:cs typeface="+mn-cs"/>
                <a:sym typeface="Arial"/>
              </a:rPr>
              <a:t>Q</a:t>
            </a:r>
            <a:r>
              <a:rPr sz="1600" baseline="-20250">
                <a:uFill>
                  <a:solidFill>
                    <a:srgbClr val="000000"/>
                  </a:solidFill>
                </a:uFill>
                <a:latin typeface="+mn-lt"/>
                <a:ea typeface="+mn-ea"/>
                <a:cs typeface="+mn-cs"/>
                <a:sym typeface="Arial"/>
              </a:rPr>
              <a:t>2</a:t>
            </a:r>
            <a:r>
              <a:rPr sz="1600">
                <a:uFill>
                  <a:solidFill>
                    <a:srgbClr val="000000"/>
                  </a:solidFill>
                </a:uFill>
                <a:latin typeface="+mn-lt"/>
                <a:ea typeface="+mn-ea"/>
                <a:cs typeface="+mn-cs"/>
                <a:sym typeface="Arial"/>
              </a:rPr>
              <a:t> are needed to express </a:t>
            </a:r>
            <a:r>
              <a:rPr sz="1600" i="1">
                <a:uFill>
                  <a:solidFill>
                    <a:srgbClr val="000000"/>
                  </a:solidFill>
                </a:uFill>
                <a:latin typeface="+mn-lt"/>
                <a:ea typeface="+mn-ea"/>
                <a:cs typeface="+mn-cs"/>
                <a:sym typeface="Arial"/>
              </a:rPr>
              <a:t>P</a:t>
            </a:r>
            <a:r>
              <a:rPr sz="1600">
                <a:uFill>
                  <a:solidFill>
                    <a:srgbClr val="000000"/>
                  </a:solidFill>
                </a:uFill>
                <a:latin typeface="+mn-lt"/>
                <a:ea typeface="+mn-ea"/>
                <a:cs typeface="+mn-cs"/>
                <a:sym typeface="Arial"/>
              </a:rPr>
              <a:t> as a </a:t>
            </a:r>
            <a:r>
              <a:rPr sz="1600" i="1">
                <a:uFill>
                  <a:solidFill>
                    <a:srgbClr val="000000"/>
                  </a:solidFill>
                </a:uFill>
                <a:latin typeface="+mn-lt"/>
                <a:ea typeface="+mn-ea"/>
                <a:cs typeface="+mn-cs"/>
                <a:sym typeface="Arial"/>
              </a:rPr>
              <a:t>convex combination</a:t>
            </a:r>
            <a:r>
              <a:rPr sz="1600">
                <a:uFill>
                  <a:solidFill>
                    <a:srgbClr val="000000"/>
                  </a:solidFill>
                </a:uFill>
                <a:latin typeface="+mn-lt"/>
                <a:ea typeface="+mn-ea"/>
                <a:cs typeface="+mn-cs"/>
                <a:sym typeface="Arial"/>
              </a:rPr>
              <a:t> of points in </a:t>
            </a:r>
            <a:r>
              <a:rPr sz="1600" i="1">
                <a:uFill>
                  <a:solidFill>
                    <a:srgbClr val="000000"/>
                  </a:solidFill>
                </a:uFill>
                <a:latin typeface="+mn-lt"/>
                <a:ea typeface="+mn-ea"/>
                <a:cs typeface="+mn-cs"/>
                <a:sym typeface="Arial"/>
              </a:rPr>
              <a:t>Q</a:t>
            </a:r>
            <a:r>
              <a:rPr sz="1600">
                <a:uFill>
                  <a:solidFill>
                    <a:srgbClr val="000000"/>
                  </a:solidFill>
                </a:uFill>
                <a:latin typeface="+mn-lt"/>
                <a:ea typeface="+mn-ea"/>
                <a:cs typeface="+mn-cs"/>
                <a:sym typeface="Arial"/>
              </a:rPr>
              <a:t>. </a:t>
            </a:r>
            <a:r>
              <a:rPr sz="1600" i="1">
                <a:uFill>
                  <a:solidFill>
                    <a:srgbClr val="000000"/>
                  </a:solidFill>
                </a:uFill>
                <a:latin typeface="+mn-lt"/>
                <a:ea typeface="+mn-ea"/>
                <a:cs typeface="+mn-cs"/>
                <a:sym typeface="Arial"/>
              </a:rPr>
              <a:t>Q</a:t>
            </a:r>
            <a:r>
              <a:rPr sz="1600" baseline="-20250">
                <a:uFill>
                  <a:solidFill>
                    <a:srgbClr val="000000"/>
                  </a:solidFill>
                </a:uFill>
                <a:latin typeface="+mn-lt"/>
                <a:ea typeface="+mn-ea"/>
                <a:cs typeface="+mn-cs"/>
                <a:sym typeface="Arial"/>
              </a:rPr>
              <a:t>0</a:t>
            </a:r>
            <a:r>
              <a:rPr sz="1600">
                <a:uFill>
                  <a:solidFill>
                    <a:srgbClr val="000000"/>
                  </a:solidFill>
                </a:uFill>
                <a:latin typeface="+mn-lt"/>
                <a:ea typeface="+mn-ea"/>
                <a:cs typeface="+mn-cs"/>
                <a:sym typeface="Arial"/>
              </a:rPr>
              <a:t> is therefore deleted from </a:t>
            </a:r>
            <a:r>
              <a:rPr sz="1600" i="1">
                <a:uFill>
                  <a:solidFill>
                    <a:srgbClr val="000000"/>
                  </a:solidFill>
                </a:uFill>
                <a:latin typeface="+mn-lt"/>
                <a:ea typeface="+mn-ea"/>
                <a:cs typeface="+mn-cs"/>
                <a:sym typeface="Arial"/>
              </a:rPr>
              <a:t>Q</a:t>
            </a:r>
            <a:r>
              <a:rPr sz="1600">
                <a:uFill>
                  <a:solidFill>
                    <a:srgbClr val="000000"/>
                  </a:solidFill>
                </a:uFill>
                <a:latin typeface="+mn-lt"/>
                <a:ea typeface="+mn-ea"/>
                <a:cs typeface="+mn-cs"/>
                <a:sym typeface="Arial"/>
              </a:rPr>
              <a:t>. A convex combination is a weighted linear combination of the points, all weights being non-negative. (Compare barycentric coordinates.)</a:t>
            </a:r>
          </a:p>
        </p:txBody>
      </p:sp>
    </p:spTree>
    <p:extLst>
      <p:ext uri="{BB962C8B-B14F-4D97-AF65-F5344CB8AC3E}">
        <p14:creationId xmlns:p14="http://schemas.microsoft.com/office/powerpoint/2010/main" val="1503105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 name="Shape 679"/>
          <p:cNvSpPr>
            <a:spLocks noGrp="1" noRot="1" noChangeAspect="1"/>
          </p:cNvSpPr>
          <p:nvPr>
            <p:ph type="sldImg"/>
          </p:nvPr>
        </p:nvSpPr>
        <p:spPr>
          <a:prstGeom prst="rect">
            <a:avLst/>
          </a:prstGeom>
        </p:spPr>
        <p:txBody>
          <a:bodyPr/>
          <a:lstStyle/>
          <a:p>
            <a:endParaRPr/>
          </a:p>
        </p:txBody>
      </p:sp>
      <p:sp>
        <p:nvSpPr>
          <p:cNvPr id="680" name="Shape 680"/>
          <p:cNvSpPr>
            <a:spLocks noGrp="1"/>
          </p:cNvSpPr>
          <p:nvPr>
            <p:ph type="body" sz="quarter" idx="1"/>
          </p:nvPr>
        </p:nvSpPr>
        <p:spPr>
          <a:prstGeom prst="rect">
            <a:avLst/>
          </a:prstGeom>
        </p:spPr>
        <p:txBody>
          <a:bodyPr/>
          <a:lstStyle/>
          <a:p>
            <a:pPr marL="57799" marR="57799" defTabSz="1295400">
              <a:spcBef>
                <a:spcPts val="500"/>
              </a:spcBef>
              <a:buClr>
                <a:srgbClr val="000000"/>
              </a:buClr>
              <a:buFont typeface="Arial"/>
              <a:defRPr sz="3000"/>
            </a:pPr>
            <a:r>
              <a:rPr sz="1600">
                <a:uFill>
                  <a:solidFill>
                    <a:srgbClr val="000000"/>
                  </a:solidFill>
                </a:uFill>
                <a:latin typeface="+mn-lt"/>
                <a:ea typeface="+mn-ea"/>
                <a:cs typeface="+mn-cs"/>
                <a:sym typeface="Arial"/>
              </a:rPr>
              <a:t>The indicated yellow point </a:t>
            </a:r>
            <a:r>
              <a:rPr sz="1600" i="1">
                <a:uFill>
                  <a:solidFill>
                    <a:srgbClr val="000000"/>
                  </a:solidFill>
                </a:uFill>
                <a:latin typeface="+mn-lt"/>
                <a:ea typeface="+mn-ea"/>
                <a:cs typeface="+mn-cs"/>
                <a:sym typeface="Arial"/>
              </a:rPr>
              <a:t>V</a:t>
            </a:r>
            <a:r>
              <a:rPr sz="1600">
                <a:uFill>
                  <a:solidFill>
                    <a:srgbClr val="000000"/>
                  </a:solidFill>
                </a:uFill>
                <a:latin typeface="+mn-lt"/>
                <a:ea typeface="+mn-ea"/>
                <a:cs typeface="+mn-cs"/>
                <a:sym typeface="Arial"/>
              </a:rPr>
              <a:t> is the supporting point in direction –</a:t>
            </a:r>
            <a:r>
              <a:rPr sz="1600" i="1">
                <a:uFill>
                  <a:solidFill>
                    <a:srgbClr val="000000"/>
                  </a:solidFill>
                </a:uFill>
                <a:latin typeface="+mn-lt"/>
                <a:ea typeface="+mn-ea"/>
                <a:cs typeface="+mn-cs"/>
                <a:sym typeface="Arial"/>
              </a:rPr>
              <a:t>P</a:t>
            </a:r>
            <a:r>
              <a:rPr sz="1600">
                <a:uFill>
                  <a:solidFill>
                    <a:srgbClr val="000000"/>
                  </a:solidFill>
                </a:uFill>
                <a:latin typeface="+mn-lt"/>
                <a:ea typeface="+mn-ea"/>
                <a:cs typeface="+mn-cs"/>
                <a:sym typeface="Arial"/>
              </a:rPr>
              <a:t>.</a:t>
            </a:r>
          </a:p>
        </p:txBody>
      </p:sp>
    </p:spTree>
    <p:extLst>
      <p:ext uri="{BB962C8B-B14F-4D97-AF65-F5344CB8AC3E}">
        <p14:creationId xmlns:p14="http://schemas.microsoft.com/office/powerpoint/2010/main" val="562644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 name="Shape 756"/>
          <p:cNvSpPr>
            <a:spLocks noGrp="1" noRot="1" noChangeAspect="1"/>
          </p:cNvSpPr>
          <p:nvPr>
            <p:ph type="sldImg"/>
          </p:nvPr>
        </p:nvSpPr>
        <p:spPr>
          <a:prstGeom prst="rect">
            <a:avLst/>
          </a:prstGeom>
        </p:spPr>
        <p:txBody>
          <a:bodyPr/>
          <a:lstStyle/>
          <a:p>
            <a:endParaRPr/>
          </a:p>
        </p:txBody>
      </p:sp>
      <p:sp>
        <p:nvSpPr>
          <p:cNvPr id="757" name="Shape 757"/>
          <p:cNvSpPr>
            <a:spLocks noGrp="1"/>
          </p:cNvSpPr>
          <p:nvPr>
            <p:ph type="body" sz="quarter" idx="1"/>
          </p:nvPr>
        </p:nvSpPr>
        <p:spPr>
          <a:prstGeom prst="rect">
            <a:avLst/>
          </a:prstGeom>
        </p:spPr>
        <p:txBody>
          <a:bodyPr/>
          <a:lstStyle/>
          <a:p>
            <a:pPr marL="57799" marR="57799" defTabSz="1295400">
              <a:spcBef>
                <a:spcPts val="500"/>
              </a:spcBef>
              <a:buClr>
                <a:srgbClr val="000000"/>
              </a:buClr>
              <a:buFont typeface="Arial"/>
              <a:defRPr sz="3000"/>
            </a:pPr>
            <a:r>
              <a:rPr sz="1600">
                <a:uFill>
                  <a:solidFill>
                    <a:srgbClr val="000000"/>
                  </a:solidFill>
                </a:uFill>
                <a:latin typeface="+mn-lt"/>
                <a:ea typeface="+mn-ea"/>
                <a:cs typeface="+mn-cs"/>
                <a:sym typeface="Arial"/>
              </a:rPr>
              <a:t>Here there are infinitely many supporting points in direction –</a:t>
            </a:r>
            <a:r>
              <a:rPr sz="1600" i="1">
                <a:uFill>
                  <a:solidFill>
                    <a:srgbClr val="000000"/>
                  </a:solidFill>
                </a:uFill>
                <a:latin typeface="+mn-lt"/>
                <a:ea typeface="+mn-ea"/>
                <a:cs typeface="+mn-cs"/>
                <a:sym typeface="Arial"/>
              </a:rPr>
              <a:t>P</a:t>
            </a:r>
            <a:r>
              <a:rPr sz="1600">
                <a:uFill>
                  <a:solidFill>
                    <a:srgbClr val="000000"/>
                  </a:solidFill>
                </a:uFill>
                <a:latin typeface="+mn-lt"/>
                <a:ea typeface="+mn-ea"/>
                <a:cs typeface="+mn-cs"/>
                <a:sym typeface="Arial"/>
              </a:rPr>
              <a:t>. We arbitrarily picked </a:t>
            </a:r>
            <a:r>
              <a:rPr sz="1600" i="1">
                <a:uFill>
                  <a:solidFill>
                    <a:srgbClr val="000000"/>
                  </a:solidFill>
                </a:uFill>
                <a:latin typeface="+mn-lt"/>
                <a:ea typeface="+mn-ea"/>
                <a:cs typeface="+mn-cs"/>
                <a:sym typeface="Arial"/>
              </a:rPr>
              <a:t>Q</a:t>
            </a:r>
            <a:r>
              <a:rPr sz="1600" baseline="-20250">
                <a:uFill>
                  <a:solidFill>
                    <a:srgbClr val="000000"/>
                  </a:solidFill>
                </a:uFill>
                <a:latin typeface="+mn-lt"/>
                <a:ea typeface="+mn-ea"/>
                <a:cs typeface="+mn-cs"/>
                <a:sym typeface="Arial"/>
              </a:rPr>
              <a:t>2</a:t>
            </a:r>
            <a:r>
              <a:rPr sz="1600">
                <a:uFill>
                  <a:solidFill>
                    <a:srgbClr val="000000"/>
                  </a:solidFill>
                </a:uFill>
                <a:latin typeface="+mn-lt"/>
                <a:ea typeface="+mn-ea"/>
                <a:cs typeface="+mn-cs"/>
                <a:sym typeface="Arial"/>
              </a:rPr>
              <a:t>.</a:t>
            </a:r>
          </a:p>
        </p:txBody>
      </p:sp>
    </p:spTree>
    <p:extLst>
      <p:ext uri="{BB962C8B-B14F-4D97-AF65-F5344CB8AC3E}">
        <p14:creationId xmlns:p14="http://schemas.microsoft.com/office/powerpoint/2010/main" val="2111848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Shape 774"/>
          <p:cNvSpPr>
            <a:spLocks noGrp="1" noRot="1" noChangeAspect="1"/>
          </p:cNvSpPr>
          <p:nvPr>
            <p:ph type="sldImg"/>
          </p:nvPr>
        </p:nvSpPr>
        <p:spPr>
          <a:prstGeom prst="rect">
            <a:avLst/>
          </a:prstGeom>
        </p:spPr>
        <p:txBody>
          <a:bodyPr/>
          <a:lstStyle/>
          <a:p>
            <a:endParaRPr/>
          </a:p>
        </p:txBody>
      </p:sp>
      <p:sp>
        <p:nvSpPr>
          <p:cNvPr id="775" name="Shape 775"/>
          <p:cNvSpPr>
            <a:spLocks noGrp="1"/>
          </p:cNvSpPr>
          <p:nvPr>
            <p:ph type="body" sz="quarter" idx="1"/>
          </p:nvPr>
        </p:nvSpPr>
        <p:spPr>
          <a:prstGeom prst="rect">
            <a:avLst/>
          </a:prstGeom>
        </p:spPr>
        <p:txBody>
          <a:bodyPr/>
          <a:lstStyle/>
          <a:p>
            <a:pPr marL="57799" marR="57799" defTabSz="1295400">
              <a:spcBef>
                <a:spcPts val="500"/>
              </a:spcBef>
              <a:buClr>
                <a:srgbClr val="000000"/>
              </a:buClr>
              <a:buFont typeface="Arial"/>
              <a:defRPr sz="3000"/>
            </a:pPr>
            <a:r>
              <a:rPr sz="1600" i="1">
                <a:uFill>
                  <a:solidFill>
                    <a:srgbClr val="000000"/>
                  </a:solidFill>
                </a:uFill>
                <a:latin typeface="+mn-lt"/>
                <a:ea typeface="+mn-ea"/>
                <a:cs typeface="+mn-cs"/>
                <a:sym typeface="Arial"/>
              </a:rPr>
              <a:t>Q</a:t>
            </a:r>
            <a:r>
              <a:rPr sz="1600" baseline="-20250">
                <a:uFill>
                  <a:solidFill>
                    <a:srgbClr val="000000"/>
                  </a:solidFill>
                </a:uFill>
                <a:latin typeface="+mn-lt"/>
                <a:ea typeface="+mn-ea"/>
                <a:cs typeface="+mn-cs"/>
                <a:sym typeface="Arial"/>
              </a:rPr>
              <a:t>2</a:t>
            </a:r>
            <a:r>
              <a:rPr sz="1600">
                <a:uFill>
                  <a:solidFill>
                    <a:srgbClr val="000000"/>
                  </a:solidFill>
                </a:uFill>
                <a:latin typeface="+mn-lt"/>
                <a:ea typeface="+mn-ea"/>
                <a:cs typeface="+mn-cs"/>
                <a:sym typeface="Arial"/>
              </a:rPr>
              <a:t> is no more extreme than </a:t>
            </a:r>
            <a:r>
              <a:rPr sz="1600" i="1">
                <a:uFill>
                  <a:solidFill>
                    <a:srgbClr val="000000"/>
                  </a:solidFill>
                </a:uFill>
                <a:latin typeface="+mn-lt"/>
                <a:ea typeface="+mn-ea"/>
                <a:cs typeface="+mn-cs"/>
                <a:sym typeface="Arial"/>
              </a:rPr>
              <a:t>P</a:t>
            </a:r>
            <a:r>
              <a:rPr sz="1600">
                <a:uFill>
                  <a:solidFill>
                    <a:srgbClr val="000000"/>
                  </a:solidFill>
                </a:uFill>
                <a:latin typeface="+mn-lt"/>
                <a:ea typeface="+mn-ea"/>
                <a:cs typeface="+mn-cs"/>
                <a:sym typeface="Arial"/>
              </a:rPr>
              <a:t> in direction –</a:t>
            </a:r>
            <a:r>
              <a:rPr sz="1600" i="1">
                <a:uFill>
                  <a:solidFill>
                    <a:srgbClr val="000000"/>
                  </a:solidFill>
                </a:uFill>
                <a:latin typeface="+mn-lt"/>
                <a:ea typeface="+mn-ea"/>
                <a:cs typeface="+mn-cs"/>
                <a:sym typeface="Arial"/>
              </a:rPr>
              <a:t>P</a:t>
            </a:r>
            <a:r>
              <a:rPr sz="1600">
                <a:uFill>
                  <a:solidFill>
                    <a:srgbClr val="000000"/>
                  </a:solidFill>
                </a:uFill>
                <a:latin typeface="+mn-lt"/>
                <a:ea typeface="+mn-ea"/>
                <a:cs typeface="+mn-cs"/>
                <a:sym typeface="Arial"/>
              </a:rPr>
              <a:t>, so the algorithm terminates. </a:t>
            </a:r>
            <a:r>
              <a:rPr sz="1600" i="1">
                <a:uFill>
                  <a:solidFill>
                    <a:srgbClr val="000000"/>
                  </a:solidFill>
                </a:uFill>
                <a:latin typeface="+mn-lt"/>
                <a:ea typeface="+mn-ea"/>
                <a:cs typeface="+mn-cs"/>
                <a:sym typeface="Arial"/>
              </a:rPr>
              <a:t>P</a:t>
            </a:r>
            <a:r>
              <a:rPr sz="1600">
                <a:uFill>
                  <a:solidFill>
                    <a:srgbClr val="000000"/>
                  </a:solidFill>
                </a:uFill>
                <a:latin typeface="+mn-lt"/>
                <a:ea typeface="+mn-ea"/>
                <a:cs typeface="+mn-cs"/>
                <a:sym typeface="Arial"/>
              </a:rPr>
              <a:t> is the point on </a:t>
            </a:r>
            <a:r>
              <a:rPr sz="1600" i="1">
                <a:uFill>
                  <a:solidFill>
                    <a:srgbClr val="000000"/>
                  </a:solidFill>
                </a:uFill>
                <a:latin typeface="+mn-lt"/>
                <a:ea typeface="+mn-ea"/>
                <a:cs typeface="+mn-cs"/>
                <a:sym typeface="Arial"/>
              </a:rPr>
              <a:t>C</a:t>
            </a:r>
            <a:r>
              <a:rPr sz="1600">
                <a:uFill>
                  <a:solidFill>
                    <a:srgbClr val="000000"/>
                  </a:solidFill>
                </a:uFill>
                <a:latin typeface="+mn-lt"/>
                <a:ea typeface="+mn-ea"/>
                <a:cs typeface="+mn-cs"/>
                <a:sym typeface="Arial"/>
              </a:rPr>
              <a:t> closest to the origin.</a:t>
            </a:r>
          </a:p>
        </p:txBody>
      </p:sp>
    </p:spTree>
    <p:extLst>
      <p:ext uri="{BB962C8B-B14F-4D97-AF65-F5344CB8AC3E}">
        <p14:creationId xmlns:p14="http://schemas.microsoft.com/office/powerpoint/2010/main" val="339319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 name="Shape 826"/>
          <p:cNvSpPr>
            <a:spLocks noGrp="1" noRot="1" noChangeAspect="1"/>
          </p:cNvSpPr>
          <p:nvPr>
            <p:ph type="sldImg"/>
          </p:nvPr>
        </p:nvSpPr>
        <p:spPr>
          <a:prstGeom prst="rect">
            <a:avLst/>
          </a:prstGeom>
        </p:spPr>
        <p:txBody>
          <a:bodyPr/>
          <a:lstStyle/>
          <a:p>
            <a:endParaRPr/>
          </a:p>
        </p:txBody>
      </p:sp>
      <p:sp>
        <p:nvSpPr>
          <p:cNvPr id="827" name="Shape 827"/>
          <p:cNvSpPr>
            <a:spLocks noGrp="1"/>
          </p:cNvSpPr>
          <p:nvPr>
            <p:ph type="body" sz="quarter" idx="1"/>
          </p:nvPr>
        </p:nvSpPr>
        <p:spPr>
          <a:prstGeom prst="rect">
            <a:avLst/>
          </a:prstGeom>
        </p:spPr>
        <p:txBody>
          <a:bodyPr/>
          <a:lstStyle>
            <a:lvl1pPr marL="57799" marR="57799" defTabSz="1295400">
              <a:spcBef>
                <a:spcPts val="500"/>
              </a:spcBef>
              <a:buClr>
                <a:srgbClr val="000000"/>
              </a:buClr>
              <a:buFont typeface="Arial"/>
              <a:defRPr sz="1600">
                <a:uFill>
                  <a:solidFill>
                    <a:srgbClr val="000000"/>
                  </a:solidFill>
                </a:uFill>
                <a:latin typeface="+mn-lt"/>
                <a:ea typeface="+mn-ea"/>
                <a:cs typeface="+mn-cs"/>
                <a:sym typeface="Arial"/>
              </a:defRPr>
            </a:lvl1pPr>
          </a:lstStyle>
          <a:p>
            <a:r>
              <a:t>A triangle has 7 feature Vornoi regions: 3 vertex regions, 3 edge regions, and 1 face region.</a:t>
            </a:r>
          </a:p>
        </p:txBody>
      </p:sp>
    </p:spTree>
    <p:extLst>
      <p:ext uri="{BB962C8B-B14F-4D97-AF65-F5344CB8AC3E}">
        <p14:creationId xmlns:p14="http://schemas.microsoft.com/office/powerpoint/2010/main" val="155104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 name="Shape 845"/>
          <p:cNvSpPr>
            <a:spLocks noGrp="1" noRot="1" noChangeAspect="1"/>
          </p:cNvSpPr>
          <p:nvPr>
            <p:ph type="sldImg"/>
          </p:nvPr>
        </p:nvSpPr>
        <p:spPr>
          <a:prstGeom prst="rect">
            <a:avLst/>
          </a:prstGeom>
        </p:spPr>
        <p:txBody>
          <a:bodyPr/>
          <a:lstStyle/>
          <a:p>
            <a:endParaRPr/>
          </a:p>
        </p:txBody>
      </p:sp>
      <p:sp>
        <p:nvSpPr>
          <p:cNvPr id="846" name="Shape 846"/>
          <p:cNvSpPr>
            <a:spLocks noGrp="1"/>
          </p:cNvSpPr>
          <p:nvPr>
            <p:ph type="body" sz="quarter" idx="1"/>
          </p:nvPr>
        </p:nvSpPr>
        <p:spPr>
          <a:prstGeom prst="rect">
            <a:avLst/>
          </a:prstGeom>
        </p:spPr>
        <p:txBody>
          <a:bodyPr/>
          <a:lstStyle>
            <a:lvl1pPr marL="57799" marR="57799" defTabSz="1295400">
              <a:spcBef>
                <a:spcPts val="500"/>
              </a:spcBef>
              <a:buClr>
                <a:srgbClr val="000000"/>
              </a:buClr>
              <a:buFont typeface="Arial"/>
              <a:defRPr sz="1600">
                <a:uFill>
                  <a:solidFill>
                    <a:srgbClr val="000000"/>
                  </a:solidFill>
                </a:uFill>
                <a:latin typeface="+mn-lt"/>
                <a:ea typeface="+mn-ea"/>
                <a:cs typeface="+mn-cs"/>
                <a:sym typeface="Arial"/>
              </a:defRPr>
            </a:lvl1pPr>
          </a:lstStyle>
          <a:p>
            <a:r>
              <a:t>If the point lies in a vertex region, the closest point on the triangle is that vertex. The vertex regions are all tested in a similar manner.</a:t>
            </a:r>
          </a:p>
        </p:txBody>
      </p:sp>
    </p:spTree>
    <p:extLst>
      <p:ext uri="{BB962C8B-B14F-4D97-AF65-F5344CB8AC3E}">
        <p14:creationId xmlns:p14="http://schemas.microsoft.com/office/powerpoint/2010/main" val="33709848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 name="Shape 864"/>
          <p:cNvSpPr>
            <a:spLocks noGrp="1" noRot="1" noChangeAspect="1"/>
          </p:cNvSpPr>
          <p:nvPr>
            <p:ph type="sldImg"/>
          </p:nvPr>
        </p:nvSpPr>
        <p:spPr>
          <a:prstGeom prst="rect">
            <a:avLst/>
          </a:prstGeom>
        </p:spPr>
        <p:txBody>
          <a:bodyPr/>
          <a:lstStyle/>
          <a:p>
            <a:endParaRPr/>
          </a:p>
        </p:txBody>
      </p:sp>
      <p:sp>
        <p:nvSpPr>
          <p:cNvPr id="865" name="Shape 865"/>
          <p:cNvSpPr>
            <a:spLocks noGrp="1"/>
          </p:cNvSpPr>
          <p:nvPr>
            <p:ph type="body" sz="quarter" idx="1"/>
          </p:nvPr>
        </p:nvSpPr>
        <p:spPr>
          <a:prstGeom prst="rect">
            <a:avLst/>
          </a:prstGeom>
        </p:spPr>
        <p:txBody>
          <a:bodyPr/>
          <a:lstStyle>
            <a:lvl1pPr marL="57799" marR="57799" defTabSz="1295400">
              <a:spcBef>
                <a:spcPts val="500"/>
              </a:spcBef>
              <a:buClr>
                <a:srgbClr val="000000"/>
              </a:buClr>
              <a:buFont typeface="Arial"/>
              <a:defRPr sz="1600">
                <a:uFill>
                  <a:solidFill>
                    <a:srgbClr val="000000"/>
                  </a:solidFill>
                </a:uFill>
                <a:latin typeface="+mn-lt"/>
                <a:ea typeface="+mn-ea"/>
                <a:cs typeface="+mn-cs"/>
                <a:sym typeface="Arial"/>
              </a:defRPr>
            </a:lvl1pPr>
          </a:lstStyle>
          <a:p>
            <a:r>
              <a:t>If the point lies in an edge region, the closest point on the triangle is the orthogonal projection of the point onto the edge. If neither vertex nor edge regions contain the point, the closest point must lie inside the triangle (in the face region).</a:t>
            </a:r>
          </a:p>
        </p:txBody>
      </p:sp>
    </p:spTree>
    <p:extLst>
      <p:ext uri="{BB962C8B-B14F-4D97-AF65-F5344CB8AC3E}">
        <p14:creationId xmlns:p14="http://schemas.microsoft.com/office/powerpoint/2010/main" val="913454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3159EC-3F6F-483E-9719-7D79052E4DB5}" type="datetimeFigureOut">
              <a:rPr lang="en-US" smtClean="0"/>
              <a:t>3/11/2019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6382D-A1E8-4804-A3AD-CAF20CC8D4E5}" type="slidenum">
              <a:rPr lang="en-US" smtClean="0"/>
              <a:t>‹#›</a:t>
            </a:fld>
            <a:endParaRPr lang="en-US"/>
          </a:p>
        </p:txBody>
      </p:sp>
    </p:spTree>
    <p:extLst>
      <p:ext uri="{BB962C8B-B14F-4D97-AF65-F5344CB8AC3E}">
        <p14:creationId xmlns:p14="http://schemas.microsoft.com/office/powerpoint/2010/main" val="599289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3159EC-3F6F-483E-9719-7D79052E4DB5}" type="datetimeFigureOut">
              <a:rPr lang="en-US" smtClean="0"/>
              <a:t>3/11/2019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6382D-A1E8-4804-A3AD-CAF20CC8D4E5}" type="slidenum">
              <a:rPr lang="en-US" smtClean="0"/>
              <a:t>‹#›</a:t>
            </a:fld>
            <a:endParaRPr lang="en-US"/>
          </a:p>
        </p:txBody>
      </p:sp>
    </p:spTree>
    <p:extLst>
      <p:ext uri="{BB962C8B-B14F-4D97-AF65-F5344CB8AC3E}">
        <p14:creationId xmlns:p14="http://schemas.microsoft.com/office/powerpoint/2010/main" val="36469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33159EC-3F6F-483E-9719-7D79052E4DB5}" type="datetimeFigureOut">
              <a:rPr lang="en-US" smtClean="0"/>
              <a:t>3/11/2019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6382D-A1E8-4804-A3AD-CAF20CC8D4E5}" type="slidenum">
              <a:rPr lang="en-US" smtClean="0"/>
              <a:t>‹#›</a:t>
            </a:fld>
            <a:endParaRPr lang="en-US"/>
          </a:p>
        </p:txBody>
      </p:sp>
    </p:spTree>
    <p:extLst>
      <p:ext uri="{BB962C8B-B14F-4D97-AF65-F5344CB8AC3E}">
        <p14:creationId xmlns:p14="http://schemas.microsoft.com/office/powerpoint/2010/main" val="3921880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3159EC-3F6F-483E-9719-7D79052E4DB5}" type="datetimeFigureOut">
              <a:rPr lang="en-US" smtClean="0"/>
              <a:t>3/11/2019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6382D-A1E8-4804-A3AD-CAF20CC8D4E5}" type="slidenum">
              <a:rPr lang="en-US" smtClean="0"/>
              <a:t>‹#›</a:t>
            </a:fld>
            <a:endParaRPr lang="en-US"/>
          </a:p>
        </p:txBody>
      </p:sp>
    </p:spTree>
    <p:extLst>
      <p:ext uri="{BB962C8B-B14F-4D97-AF65-F5344CB8AC3E}">
        <p14:creationId xmlns:p14="http://schemas.microsoft.com/office/powerpoint/2010/main" val="2139963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3159EC-3F6F-483E-9719-7D79052E4DB5}" type="datetimeFigureOut">
              <a:rPr lang="en-US" smtClean="0"/>
              <a:t>3/11/2019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26382D-A1E8-4804-A3AD-CAF20CC8D4E5}" type="slidenum">
              <a:rPr lang="en-US" smtClean="0"/>
              <a:t>‹#›</a:t>
            </a:fld>
            <a:endParaRPr lang="en-US"/>
          </a:p>
        </p:txBody>
      </p:sp>
    </p:spTree>
    <p:extLst>
      <p:ext uri="{BB962C8B-B14F-4D97-AF65-F5344CB8AC3E}">
        <p14:creationId xmlns:p14="http://schemas.microsoft.com/office/powerpoint/2010/main" val="4053982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3159EC-3F6F-483E-9719-7D79052E4DB5}" type="datetimeFigureOut">
              <a:rPr lang="en-US" smtClean="0"/>
              <a:t>3/11/2019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26382D-A1E8-4804-A3AD-CAF20CC8D4E5}" type="slidenum">
              <a:rPr lang="en-US" smtClean="0"/>
              <a:t>‹#›</a:t>
            </a:fld>
            <a:endParaRPr lang="en-US"/>
          </a:p>
        </p:txBody>
      </p:sp>
    </p:spTree>
    <p:extLst>
      <p:ext uri="{BB962C8B-B14F-4D97-AF65-F5344CB8AC3E}">
        <p14:creationId xmlns:p14="http://schemas.microsoft.com/office/powerpoint/2010/main" val="1797789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3159EC-3F6F-483E-9719-7D79052E4DB5}" type="datetimeFigureOut">
              <a:rPr lang="en-US" smtClean="0"/>
              <a:t>3/11/2019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26382D-A1E8-4804-A3AD-CAF20CC8D4E5}" type="slidenum">
              <a:rPr lang="en-US" smtClean="0"/>
              <a:t>‹#›</a:t>
            </a:fld>
            <a:endParaRPr lang="en-US"/>
          </a:p>
        </p:txBody>
      </p:sp>
    </p:spTree>
    <p:extLst>
      <p:ext uri="{BB962C8B-B14F-4D97-AF65-F5344CB8AC3E}">
        <p14:creationId xmlns:p14="http://schemas.microsoft.com/office/powerpoint/2010/main" val="1451804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33159EC-3F6F-483E-9719-7D79052E4DB5}" type="datetimeFigureOut">
              <a:rPr lang="en-US" smtClean="0"/>
              <a:t>3/11/2019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6382D-A1E8-4804-A3AD-CAF20CC8D4E5}" type="slidenum">
              <a:rPr lang="en-US" smtClean="0"/>
              <a:t>‹#›</a:t>
            </a:fld>
            <a:endParaRPr lang="en-US"/>
          </a:p>
        </p:txBody>
      </p:sp>
    </p:spTree>
    <p:extLst>
      <p:ext uri="{BB962C8B-B14F-4D97-AF65-F5344CB8AC3E}">
        <p14:creationId xmlns:p14="http://schemas.microsoft.com/office/powerpoint/2010/main" val="513155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33159EC-3F6F-483E-9719-7D79052E4DB5}" type="datetimeFigureOut">
              <a:rPr lang="en-US" smtClean="0"/>
              <a:t>3/11/2019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6382D-A1E8-4804-A3AD-CAF20CC8D4E5}" type="slidenum">
              <a:rPr lang="en-US" smtClean="0"/>
              <a:t>‹#›</a:t>
            </a:fld>
            <a:endParaRPr lang="en-US"/>
          </a:p>
        </p:txBody>
      </p:sp>
    </p:spTree>
    <p:extLst>
      <p:ext uri="{BB962C8B-B14F-4D97-AF65-F5344CB8AC3E}">
        <p14:creationId xmlns:p14="http://schemas.microsoft.com/office/powerpoint/2010/main" val="1153538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3159EC-3F6F-483E-9719-7D79052E4DB5}" type="datetimeFigureOut">
              <a:rPr lang="en-US" smtClean="0"/>
              <a:t>3/11/2019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6382D-A1E8-4804-A3AD-CAF20CC8D4E5}" type="slidenum">
              <a:rPr lang="en-US" smtClean="0"/>
              <a:t>‹#›</a:t>
            </a:fld>
            <a:endParaRPr lang="en-US"/>
          </a:p>
        </p:txBody>
      </p:sp>
    </p:spTree>
    <p:extLst>
      <p:ext uri="{BB962C8B-B14F-4D97-AF65-F5344CB8AC3E}">
        <p14:creationId xmlns:p14="http://schemas.microsoft.com/office/powerpoint/2010/main" val="820223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3159EC-3F6F-483E-9719-7D79052E4DB5}" type="datetimeFigureOut">
              <a:rPr lang="en-US" smtClean="0"/>
              <a:t>3/11/2019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6382D-A1E8-4804-A3AD-CAF20CC8D4E5}" type="slidenum">
              <a:rPr lang="en-US" smtClean="0"/>
              <a:t>‹#›</a:t>
            </a:fld>
            <a:endParaRPr lang="en-US"/>
          </a:p>
        </p:txBody>
      </p:sp>
    </p:spTree>
    <p:extLst>
      <p:ext uri="{BB962C8B-B14F-4D97-AF65-F5344CB8AC3E}">
        <p14:creationId xmlns:p14="http://schemas.microsoft.com/office/powerpoint/2010/main" val="2264406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1" name="Title Text"/>
          <p:cNvSpPr txBox="1">
            <a:spLocks noGrp="1"/>
          </p:cNvSpPr>
          <p:nvPr>
            <p:ph type="title"/>
          </p:nvPr>
        </p:nvSpPr>
        <p:spPr>
          <a:prstGeom prst="rect">
            <a:avLst/>
          </a:prstGeom>
        </p:spPr>
        <p:txBody>
          <a:bodyPr/>
          <a:lstStyle>
            <a:lvl1pPr>
              <a:defRPr>
                <a:latin typeface="+mj-lt"/>
                <a:ea typeface="+mj-ea"/>
                <a:cs typeface="+mj-cs"/>
                <a:sym typeface="Baskerville"/>
              </a:defRPr>
            </a:lvl1pPr>
          </a:lstStyle>
          <a:p>
            <a:r>
              <a:t>Title Text</a:t>
            </a:r>
          </a:p>
        </p:txBody>
      </p:sp>
      <p:sp>
        <p:nvSpPr>
          <p:cNvPr id="12" name="Body Level One…"/>
          <p:cNvSpPr txBox="1">
            <a:spLocks noGrp="1"/>
          </p:cNvSpPr>
          <p:nvPr>
            <p:ph type="body" idx="1"/>
          </p:nvPr>
        </p:nvSpPr>
        <p:spPr>
          <a:xfrm>
            <a:off x="1190625" y="1946672"/>
            <a:ext cx="9810750" cy="4018359"/>
          </a:xfrm>
          <a:prstGeom prst="rect">
            <a:avLst/>
          </a:prstGeom>
        </p:spPr>
        <p:txBody>
          <a:bodyPr/>
          <a:lstStyle>
            <a:lvl1pPr>
              <a:spcBef>
                <a:spcPts val="1687"/>
              </a:spcBef>
            </a:lvl1pPr>
            <a:lvl2pPr>
              <a:spcBef>
                <a:spcPts val="1687"/>
              </a:spcBef>
            </a:lvl2pPr>
            <a:lvl3pPr>
              <a:spcBef>
                <a:spcPts val="1687"/>
              </a:spcBef>
            </a:lvl3pPr>
            <a:lvl4pPr>
              <a:spcBef>
                <a:spcPts val="1687"/>
              </a:spcBef>
            </a:lvl4pPr>
            <a:lvl5pPr>
              <a:spcBef>
                <a:spcPts val="1687"/>
              </a:spcBef>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4269540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3159EC-3F6F-483E-9719-7D79052E4DB5}" type="datetimeFigureOut">
              <a:rPr lang="en-US" smtClean="0"/>
              <a:t>3/11/2019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26382D-A1E8-4804-A3AD-CAF20CC8D4E5}" type="slidenum">
              <a:rPr lang="en-US" smtClean="0"/>
              <a:t>‹#›</a:t>
            </a:fld>
            <a:endParaRPr lang="en-US"/>
          </a:p>
        </p:txBody>
      </p:sp>
    </p:spTree>
    <p:extLst>
      <p:ext uri="{BB962C8B-B14F-4D97-AF65-F5344CB8AC3E}">
        <p14:creationId xmlns:p14="http://schemas.microsoft.com/office/powerpoint/2010/main" val="2689942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metanetsoftware.com/technique/tutorialA.html"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realtimecollisiondetection.net/pubs/SIGGRAPH04_Ericson_the_GJK_algorithm.ppt" TargetMode="External"/><Relationship Id="rId2" Type="http://schemas.openxmlformats.org/officeDocument/2006/relationships/hyperlink" Target="http://vec3.ca/gjk/" TargetMode="Externa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17.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25.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26.png"/><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4.png"/><Relationship Id="rId1"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32.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4.png"/><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32.png"/><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36.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8.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39.png"/><Relationship Id="rId10" Type="http://schemas.openxmlformats.org/officeDocument/2006/relationships/image" Target="../media/image46.png"/><Relationship Id="rId4" Type="http://schemas.openxmlformats.org/officeDocument/2006/relationships/image" Target="../media/image17.png"/><Relationship Id="rId9" Type="http://schemas.openxmlformats.org/officeDocument/2006/relationships/image" Target="../media/image45.png"/></Relationships>
</file>

<file path=ppt/slides/_rels/slide4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17.png"/><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38.png"/><Relationship Id="rId7"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51.png"/><Relationship Id="rId4"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www.realtimerendering.com/intersections.html" TargetMode="External"/><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58176" y="1531058"/>
            <a:ext cx="12192000" cy="1812462"/>
          </a:xfrm>
          <a:prstGeom prst="rect">
            <a:avLst/>
          </a:prstGeom>
        </p:spPr>
        <p:txBody>
          <a:bodyPr vert="horz" wrap="square" lIns="0" tIns="16933" rIns="0" bIns="0" rtlCol="0" anchor="b">
            <a:spAutoFit/>
          </a:bodyPr>
          <a:lstStyle/>
          <a:p>
            <a:pPr>
              <a:lnSpc>
                <a:spcPts val="5740"/>
              </a:lnSpc>
              <a:spcBef>
                <a:spcPts val="133"/>
              </a:spcBef>
            </a:pPr>
            <a:r>
              <a:rPr spc="-13" dirty="0"/>
              <a:t>Game</a:t>
            </a:r>
            <a:r>
              <a:rPr spc="-33" dirty="0"/>
              <a:t> </a:t>
            </a:r>
            <a:r>
              <a:rPr spc="-7" dirty="0"/>
              <a:t>Architecture</a:t>
            </a:r>
          </a:p>
          <a:p>
            <a:pPr>
              <a:lnSpc>
                <a:spcPts val="8300"/>
              </a:lnSpc>
            </a:pPr>
            <a:r>
              <a:rPr sz="6933" spc="-7" dirty="0"/>
              <a:t>Collision</a:t>
            </a:r>
            <a:r>
              <a:rPr sz="6933" spc="-133" dirty="0"/>
              <a:t> </a:t>
            </a:r>
            <a:r>
              <a:rPr sz="6933" spc="-7" dirty="0"/>
              <a:t>Detection</a:t>
            </a:r>
            <a:endParaRPr sz="6933" dirty="0"/>
          </a:p>
        </p:txBody>
      </p:sp>
      <p:sp>
        <p:nvSpPr>
          <p:cNvPr id="3" name="object 3"/>
          <p:cNvSpPr txBox="1"/>
          <p:nvPr/>
        </p:nvSpPr>
        <p:spPr>
          <a:xfrm>
            <a:off x="3707572" y="3857235"/>
            <a:ext cx="4771813" cy="591551"/>
          </a:xfrm>
          <a:prstGeom prst="rect">
            <a:avLst/>
          </a:prstGeom>
        </p:spPr>
        <p:txBody>
          <a:bodyPr vert="horz" wrap="square" lIns="0" tIns="16933" rIns="0" bIns="0" rtlCol="0">
            <a:spAutoFit/>
          </a:bodyPr>
          <a:lstStyle/>
          <a:p>
            <a:pPr marL="16933">
              <a:spcBef>
                <a:spcPts val="133"/>
              </a:spcBef>
            </a:pPr>
            <a:r>
              <a:rPr sz="3733" dirty="0">
                <a:solidFill>
                  <a:srgbClr val="595959"/>
                </a:solidFill>
                <a:latin typeface="Arial"/>
                <a:cs typeface="Arial"/>
              </a:rPr>
              <a:t>Making </a:t>
            </a:r>
            <a:r>
              <a:rPr sz="3733" spc="-7" dirty="0">
                <a:solidFill>
                  <a:srgbClr val="595959"/>
                </a:solidFill>
                <a:latin typeface="Arial"/>
                <a:cs typeface="Arial"/>
              </a:rPr>
              <a:t>things</a:t>
            </a:r>
            <a:r>
              <a:rPr sz="3733" spc="-140" dirty="0">
                <a:solidFill>
                  <a:srgbClr val="595959"/>
                </a:solidFill>
                <a:latin typeface="Arial"/>
                <a:cs typeface="Arial"/>
              </a:rPr>
              <a:t> </a:t>
            </a:r>
            <a:r>
              <a:rPr sz="3733" spc="-7" dirty="0">
                <a:solidFill>
                  <a:srgbClr val="595959"/>
                </a:solidFill>
                <a:latin typeface="Arial"/>
                <a:cs typeface="Arial"/>
              </a:rPr>
              <a:t>interact.</a:t>
            </a:r>
            <a:endParaRPr sz="3733" dirty="0">
              <a:latin typeface="Arial"/>
              <a:cs typeface="Arial"/>
            </a:endParaRPr>
          </a:p>
        </p:txBody>
      </p:sp>
    </p:spTree>
    <p:extLst>
      <p:ext uri="{BB962C8B-B14F-4D97-AF65-F5344CB8AC3E}">
        <p14:creationId xmlns:p14="http://schemas.microsoft.com/office/powerpoint/2010/main" val="1940216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57480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solidFill>
                  <a:srgbClr val="000000"/>
                </a:solidFill>
              </a:rPr>
              <a:t>What is </a:t>
            </a:r>
            <a:r>
              <a:rPr sz="3733" dirty="0">
                <a:solidFill>
                  <a:srgbClr val="000000"/>
                </a:solidFill>
              </a:rPr>
              <a:t>collision</a:t>
            </a:r>
            <a:r>
              <a:rPr sz="3733" spc="-127" dirty="0">
                <a:solidFill>
                  <a:srgbClr val="000000"/>
                </a:solidFill>
              </a:rPr>
              <a:t> </a:t>
            </a:r>
            <a:r>
              <a:rPr sz="3733" spc="-7" dirty="0">
                <a:solidFill>
                  <a:srgbClr val="000000"/>
                </a:solidFill>
              </a:rPr>
              <a:t>detection?</a:t>
            </a:r>
            <a:endParaRPr sz="3733"/>
          </a:p>
        </p:txBody>
      </p:sp>
      <p:sp>
        <p:nvSpPr>
          <p:cNvPr id="3" name="object 3"/>
          <p:cNvSpPr txBox="1"/>
          <p:nvPr/>
        </p:nvSpPr>
        <p:spPr>
          <a:xfrm>
            <a:off x="674657" y="1578798"/>
            <a:ext cx="3058160" cy="1027824"/>
          </a:xfrm>
          <a:prstGeom prst="rect">
            <a:avLst/>
          </a:prstGeom>
        </p:spPr>
        <p:txBody>
          <a:bodyPr vert="horz" wrap="square" lIns="0" tIns="62653" rIns="0" bIns="0" rtlCol="0">
            <a:spAutoFit/>
          </a:bodyPr>
          <a:lstStyle/>
          <a:p>
            <a:pPr marL="464808" indent="-447875">
              <a:spcBef>
                <a:spcPts val="493"/>
              </a:spcBef>
              <a:buChar char="●"/>
              <a:tabLst>
                <a:tab pos="463962" algn="l"/>
                <a:tab pos="465655" algn="l"/>
              </a:tabLst>
            </a:pPr>
            <a:r>
              <a:rPr sz="1867" b="1" spc="-7" dirty="0">
                <a:solidFill>
                  <a:srgbClr val="595959"/>
                </a:solidFill>
                <a:latin typeface="Arial"/>
                <a:cs typeface="Arial"/>
              </a:rPr>
              <a:t>Geometric</a:t>
            </a:r>
            <a:r>
              <a:rPr sz="1867" b="1" spc="-100" dirty="0">
                <a:solidFill>
                  <a:srgbClr val="595959"/>
                </a:solidFill>
                <a:latin typeface="Arial"/>
                <a:cs typeface="Arial"/>
              </a:rPr>
              <a:t> </a:t>
            </a:r>
            <a:r>
              <a:rPr sz="1867" b="1" spc="-7" dirty="0">
                <a:solidFill>
                  <a:srgbClr val="595959"/>
                </a:solidFill>
                <a:latin typeface="Arial"/>
                <a:cs typeface="Arial"/>
              </a:rPr>
              <a:t>Intersection</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Pairwise</a:t>
            </a:r>
            <a:r>
              <a:rPr sz="1867" spc="-20" dirty="0">
                <a:solidFill>
                  <a:srgbClr val="595959"/>
                </a:solidFill>
                <a:latin typeface="Arial"/>
                <a:cs typeface="Arial"/>
              </a:rPr>
              <a:t> </a:t>
            </a:r>
            <a:r>
              <a:rPr sz="1867" dirty="0">
                <a:solidFill>
                  <a:srgbClr val="595959"/>
                </a:solidFill>
                <a:latin typeface="Arial"/>
                <a:cs typeface="Arial"/>
              </a:rPr>
              <a:t>reduction</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Collision</a:t>
            </a:r>
            <a:r>
              <a:rPr sz="1867" spc="-20" dirty="0">
                <a:solidFill>
                  <a:srgbClr val="595959"/>
                </a:solidFill>
                <a:latin typeface="Arial"/>
                <a:cs typeface="Arial"/>
              </a:rPr>
              <a:t> </a:t>
            </a:r>
            <a:r>
              <a:rPr sz="1867" dirty="0">
                <a:solidFill>
                  <a:srgbClr val="595959"/>
                </a:solidFill>
                <a:latin typeface="Arial"/>
                <a:cs typeface="Arial"/>
              </a:rPr>
              <a:t>resolution</a:t>
            </a:r>
            <a:endParaRPr sz="1867">
              <a:latin typeface="Arial"/>
              <a:cs typeface="Arial"/>
            </a:endParaRPr>
          </a:p>
        </p:txBody>
      </p:sp>
      <p:sp>
        <p:nvSpPr>
          <p:cNvPr id="4" name="object 4"/>
          <p:cNvSpPr/>
          <p:nvPr/>
        </p:nvSpPr>
        <p:spPr>
          <a:xfrm>
            <a:off x="7727032" y="2433100"/>
            <a:ext cx="1066800" cy="1066800"/>
          </a:xfrm>
          <a:custGeom>
            <a:avLst/>
            <a:gdLst/>
            <a:ahLst/>
            <a:cxnLst/>
            <a:rect l="l" t="t" r="r" b="b"/>
            <a:pathLst>
              <a:path w="800100" h="800100">
                <a:moveTo>
                  <a:pt x="0" y="0"/>
                </a:moveTo>
                <a:lnTo>
                  <a:pt x="800099" y="0"/>
                </a:lnTo>
                <a:lnTo>
                  <a:pt x="800099" y="800099"/>
                </a:lnTo>
                <a:lnTo>
                  <a:pt x="0" y="800099"/>
                </a:lnTo>
                <a:lnTo>
                  <a:pt x="0" y="0"/>
                </a:lnTo>
                <a:close/>
              </a:path>
            </a:pathLst>
          </a:custGeom>
          <a:solidFill>
            <a:srgbClr val="9FC5E7">
              <a:alpha val="49229"/>
            </a:srgbClr>
          </a:solidFill>
        </p:spPr>
        <p:txBody>
          <a:bodyPr wrap="square" lIns="0" tIns="0" rIns="0" bIns="0" rtlCol="0"/>
          <a:lstStyle/>
          <a:p>
            <a:endParaRPr sz="2400"/>
          </a:p>
        </p:txBody>
      </p:sp>
      <p:sp>
        <p:nvSpPr>
          <p:cNvPr id="5" name="object 5"/>
          <p:cNvSpPr/>
          <p:nvPr/>
        </p:nvSpPr>
        <p:spPr>
          <a:xfrm>
            <a:off x="7727032" y="2433100"/>
            <a:ext cx="1066800" cy="1066800"/>
          </a:xfrm>
          <a:custGeom>
            <a:avLst/>
            <a:gdLst/>
            <a:ahLst/>
            <a:cxnLst/>
            <a:rect l="l" t="t" r="r" b="b"/>
            <a:pathLst>
              <a:path w="800100" h="800100">
                <a:moveTo>
                  <a:pt x="0" y="0"/>
                </a:moveTo>
                <a:lnTo>
                  <a:pt x="800099" y="0"/>
                </a:lnTo>
                <a:lnTo>
                  <a:pt x="800099" y="800099"/>
                </a:lnTo>
                <a:lnTo>
                  <a:pt x="0" y="800099"/>
                </a:lnTo>
                <a:lnTo>
                  <a:pt x="0" y="0"/>
                </a:lnTo>
                <a:close/>
              </a:path>
            </a:pathLst>
          </a:custGeom>
          <a:ln w="9524">
            <a:solidFill>
              <a:srgbClr val="0B5394"/>
            </a:solidFill>
          </a:ln>
        </p:spPr>
        <p:txBody>
          <a:bodyPr wrap="square" lIns="0" tIns="0" rIns="0" bIns="0" rtlCol="0"/>
          <a:lstStyle/>
          <a:p>
            <a:endParaRPr sz="2400"/>
          </a:p>
        </p:txBody>
      </p:sp>
      <p:sp>
        <p:nvSpPr>
          <p:cNvPr id="6" name="object 6"/>
          <p:cNvSpPr/>
          <p:nvPr/>
        </p:nvSpPr>
        <p:spPr>
          <a:xfrm>
            <a:off x="8474659" y="2207535"/>
            <a:ext cx="1425787" cy="1425787"/>
          </a:xfrm>
          <a:custGeom>
            <a:avLst/>
            <a:gdLst/>
            <a:ahLst/>
            <a:cxnLst/>
            <a:rect l="l" t="t" r="r" b="b"/>
            <a:pathLst>
              <a:path w="1069340" h="1069339">
                <a:moveTo>
                  <a:pt x="720299" y="1068899"/>
                </a:moveTo>
                <a:lnTo>
                  <a:pt x="0" y="720299"/>
                </a:lnTo>
                <a:lnTo>
                  <a:pt x="348599" y="0"/>
                </a:lnTo>
                <a:lnTo>
                  <a:pt x="1068899" y="348599"/>
                </a:lnTo>
                <a:lnTo>
                  <a:pt x="720299" y="1068899"/>
                </a:lnTo>
                <a:close/>
              </a:path>
            </a:pathLst>
          </a:custGeom>
          <a:solidFill>
            <a:srgbClr val="9FC5E7">
              <a:alpha val="49229"/>
            </a:srgbClr>
          </a:solidFill>
        </p:spPr>
        <p:txBody>
          <a:bodyPr wrap="square" lIns="0" tIns="0" rIns="0" bIns="0" rtlCol="0"/>
          <a:lstStyle/>
          <a:p>
            <a:endParaRPr sz="2400"/>
          </a:p>
        </p:txBody>
      </p:sp>
      <p:sp>
        <p:nvSpPr>
          <p:cNvPr id="7" name="object 7"/>
          <p:cNvSpPr/>
          <p:nvPr/>
        </p:nvSpPr>
        <p:spPr>
          <a:xfrm>
            <a:off x="8474659" y="2207535"/>
            <a:ext cx="1425787" cy="1425787"/>
          </a:xfrm>
          <a:custGeom>
            <a:avLst/>
            <a:gdLst/>
            <a:ahLst/>
            <a:cxnLst/>
            <a:rect l="l" t="t" r="r" b="b"/>
            <a:pathLst>
              <a:path w="1069340" h="1069339">
                <a:moveTo>
                  <a:pt x="348599" y="0"/>
                </a:moveTo>
                <a:lnTo>
                  <a:pt x="1068899" y="348599"/>
                </a:lnTo>
                <a:lnTo>
                  <a:pt x="720299" y="1068899"/>
                </a:lnTo>
                <a:lnTo>
                  <a:pt x="0" y="720299"/>
                </a:lnTo>
                <a:lnTo>
                  <a:pt x="348599" y="0"/>
                </a:lnTo>
                <a:close/>
              </a:path>
            </a:pathLst>
          </a:custGeom>
          <a:ln w="9524">
            <a:solidFill>
              <a:srgbClr val="0B5394"/>
            </a:solidFill>
          </a:ln>
        </p:spPr>
        <p:txBody>
          <a:bodyPr wrap="square" lIns="0" tIns="0" rIns="0" bIns="0" rtlCol="0"/>
          <a:lstStyle/>
          <a:p>
            <a:endParaRPr sz="2400"/>
          </a:p>
        </p:txBody>
      </p:sp>
      <p:sp>
        <p:nvSpPr>
          <p:cNvPr id="8" name="object 8"/>
          <p:cNvSpPr/>
          <p:nvPr/>
        </p:nvSpPr>
        <p:spPr>
          <a:xfrm>
            <a:off x="7525067" y="4236800"/>
            <a:ext cx="1066800" cy="1066800"/>
          </a:xfrm>
          <a:custGeom>
            <a:avLst/>
            <a:gdLst/>
            <a:ahLst/>
            <a:cxnLst/>
            <a:rect l="l" t="t" r="r" b="b"/>
            <a:pathLst>
              <a:path w="800100" h="800100">
                <a:moveTo>
                  <a:pt x="0" y="0"/>
                </a:moveTo>
                <a:lnTo>
                  <a:pt x="800099" y="0"/>
                </a:lnTo>
                <a:lnTo>
                  <a:pt x="800099" y="800099"/>
                </a:lnTo>
                <a:lnTo>
                  <a:pt x="0" y="800099"/>
                </a:lnTo>
                <a:lnTo>
                  <a:pt x="0" y="0"/>
                </a:lnTo>
                <a:close/>
              </a:path>
            </a:pathLst>
          </a:custGeom>
          <a:solidFill>
            <a:srgbClr val="9FC5E7">
              <a:alpha val="49229"/>
            </a:srgbClr>
          </a:solidFill>
        </p:spPr>
        <p:txBody>
          <a:bodyPr wrap="square" lIns="0" tIns="0" rIns="0" bIns="0" rtlCol="0"/>
          <a:lstStyle/>
          <a:p>
            <a:endParaRPr sz="2400"/>
          </a:p>
        </p:txBody>
      </p:sp>
      <p:sp>
        <p:nvSpPr>
          <p:cNvPr id="9" name="object 9"/>
          <p:cNvSpPr/>
          <p:nvPr/>
        </p:nvSpPr>
        <p:spPr>
          <a:xfrm>
            <a:off x="7525067" y="4236800"/>
            <a:ext cx="1066800" cy="1066800"/>
          </a:xfrm>
          <a:custGeom>
            <a:avLst/>
            <a:gdLst/>
            <a:ahLst/>
            <a:cxnLst/>
            <a:rect l="l" t="t" r="r" b="b"/>
            <a:pathLst>
              <a:path w="800100" h="800100">
                <a:moveTo>
                  <a:pt x="0" y="0"/>
                </a:moveTo>
                <a:lnTo>
                  <a:pt x="800099" y="0"/>
                </a:lnTo>
                <a:lnTo>
                  <a:pt x="800099" y="800099"/>
                </a:lnTo>
                <a:lnTo>
                  <a:pt x="0" y="800099"/>
                </a:lnTo>
                <a:lnTo>
                  <a:pt x="0" y="0"/>
                </a:lnTo>
                <a:close/>
              </a:path>
            </a:pathLst>
          </a:custGeom>
          <a:ln w="9524">
            <a:solidFill>
              <a:srgbClr val="0B5394"/>
            </a:solidFill>
          </a:ln>
        </p:spPr>
        <p:txBody>
          <a:bodyPr wrap="square" lIns="0" tIns="0" rIns="0" bIns="0" rtlCol="0"/>
          <a:lstStyle/>
          <a:p>
            <a:endParaRPr sz="2400"/>
          </a:p>
        </p:txBody>
      </p:sp>
      <p:sp>
        <p:nvSpPr>
          <p:cNvPr id="10" name="object 10"/>
          <p:cNvSpPr/>
          <p:nvPr/>
        </p:nvSpPr>
        <p:spPr>
          <a:xfrm>
            <a:off x="8793825" y="3995735"/>
            <a:ext cx="1425787" cy="1425787"/>
          </a:xfrm>
          <a:custGeom>
            <a:avLst/>
            <a:gdLst/>
            <a:ahLst/>
            <a:cxnLst/>
            <a:rect l="l" t="t" r="r" b="b"/>
            <a:pathLst>
              <a:path w="1069340" h="1069339">
                <a:moveTo>
                  <a:pt x="720299" y="1068899"/>
                </a:moveTo>
                <a:lnTo>
                  <a:pt x="0" y="720299"/>
                </a:lnTo>
                <a:lnTo>
                  <a:pt x="348599" y="0"/>
                </a:lnTo>
                <a:lnTo>
                  <a:pt x="1068899" y="348599"/>
                </a:lnTo>
                <a:lnTo>
                  <a:pt x="720299" y="1068899"/>
                </a:lnTo>
                <a:close/>
              </a:path>
            </a:pathLst>
          </a:custGeom>
          <a:solidFill>
            <a:srgbClr val="9FC5E7">
              <a:alpha val="49229"/>
            </a:srgbClr>
          </a:solidFill>
        </p:spPr>
        <p:txBody>
          <a:bodyPr wrap="square" lIns="0" tIns="0" rIns="0" bIns="0" rtlCol="0"/>
          <a:lstStyle/>
          <a:p>
            <a:endParaRPr sz="2400"/>
          </a:p>
        </p:txBody>
      </p:sp>
      <p:sp>
        <p:nvSpPr>
          <p:cNvPr id="11" name="object 11"/>
          <p:cNvSpPr/>
          <p:nvPr/>
        </p:nvSpPr>
        <p:spPr>
          <a:xfrm>
            <a:off x="8793825" y="3995735"/>
            <a:ext cx="1425787" cy="1425787"/>
          </a:xfrm>
          <a:custGeom>
            <a:avLst/>
            <a:gdLst/>
            <a:ahLst/>
            <a:cxnLst/>
            <a:rect l="l" t="t" r="r" b="b"/>
            <a:pathLst>
              <a:path w="1069340" h="1069339">
                <a:moveTo>
                  <a:pt x="348599" y="0"/>
                </a:moveTo>
                <a:lnTo>
                  <a:pt x="1068899" y="348599"/>
                </a:lnTo>
                <a:lnTo>
                  <a:pt x="720299" y="1068899"/>
                </a:lnTo>
                <a:lnTo>
                  <a:pt x="0" y="720299"/>
                </a:lnTo>
                <a:lnTo>
                  <a:pt x="348599" y="0"/>
                </a:lnTo>
                <a:close/>
              </a:path>
            </a:pathLst>
          </a:custGeom>
          <a:ln w="9524">
            <a:solidFill>
              <a:srgbClr val="0B5394"/>
            </a:solidFill>
          </a:ln>
        </p:spPr>
        <p:txBody>
          <a:bodyPr wrap="square" lIns="0" tIns="0" rIns="0" bIns="0" rtlCol="0"/>
          <a:lstStyle/>
          <a:p>
            <a:endParaRPr sz="2400"/>
          </a:p>
        </p:txBody>
      </p:sp>
    </p:spTree>
    <p:extLst>
      <p:ext uri="{BB962C8B-B14F-4D97-AF65-F5344CB8AC3E}">
        <p14:creationId xmlns:p14="http://schemas.microsoft.com/office/powerpoint/2010/main" val="158055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57480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solidFill>
                  <a:srgbClr val="000000"/>
                </a:solidFill>
              </a:rPr>
              <a:t>What is </a:t>
            </a:r>
            <a:r>
              <a:rPr sz="3733" dirty="0">
                <a:solidFill>
                  <a:srgbClr val="000000"/>
                </a:solidFill>
              </a:rPr>
              <a:t>collision</a:t>
            </a:r>
            <a:r>
              <a:rPr sz="3733" spc="-127" dirty="0">
                <a:solidFill>
                  <a:srgbClr val="000000"/>
                </a:solidFill>
              </a:rPr>
              <a:t> </a:t>
            </a:r>
            <a:r>
              <a:rPr sz="3733" spc="-7" dirty="0">
                <a:solidFill>
                  <a:srgbClr val="000000"/>
                </a:solidFill>
              </a:rPr>
              <a:t>detection?</a:t>
            </a:r>
            <a:endParaRPr sz="3733"/>
          </a:p>
        </p:txBody>
      </p:sp>
      <p:sp>
        <p:nvSpPr>
          <p:cNvPr id="3" name="object 3"/>
          <p:cNvSpPr txBox="1"/>
          <p:nvPr/>
        </p:nvSpPr>
        <p:spPr>
          <a:xfrm>
            <a:off x="674658" y="1578798"/>
            <a:ext cx="2860887" cy="1027824"/>
          </a:xfrm>
          <a:prstGeom prst="rect">
            <a:avLst/>
          </a:prstGeom>
        </p:spPr>
        <p:txBody>
          <a:bodyPr vert="horz" wrap="square" lIns="0" tIns="62653" rIns="0" bIns="0" rtlCol="0">
            <a:spAutoFit/>
          </a:bodyPr>
          <a:lstStyle/>
          <a:p>
            <a:pPr marL="464808" indent="-447875">
              <a:spcBef>
                <a:spcPts val="493"/>
              </a:spcBef>
              <a:buChar char="●"/>
              <a:tabLst>
                <a:tab pos="463962" algn="l"/>
                <a:tab pos="465655" algn="l"/>
              </a:tabLst>
            </a:pPr>
            <a:r>
              <a:rPr sz="1867" spc="-7" dirty="0">
                <a:solidFill>
                  <a:srgbClr val="595959"/>
                </a:solidFill>
                <a:latin typeface="Arial"/>
                <a:cs typeface="Arial"/>
              </a:rPr>
              <a:t>Geometric</a:t>
            </a:r>
            <a:r>
              <a:rPr sz="1867" spc="-100" dirty="0">
                <a:solidFill>
                  <a:srgbClr val="595959"/>
                </a:solidFill>
                <a:latin typeface="Arial"/>
                <a:cs typeface="Arial"/>
              </a:rPr>
              <a:t> </a:t>
            </a:r>
            <a:r>
              <a:rPr sz="1867" spc="-7" dirty="0">
                <a:solidFill>
                  <a:srgbClr val="595959"/>
                </a:solidFill>
                <a:latin typeface="Arial"/>
                <a:cs typeface="Arial"/>
              </a:rPr>
              <a:t>Intersection</a:t>
            </a:r>
            <a:endParaRPr sz="1867">
              <a:latin typeface="Arial"/>
              <a:cs typeface="Arial"/>
            </a:endParaRPr>
          </a:p>
          <a:p>
            <a:pPr marL="464808" indent="-447875">
              <a:spcBef>
                <a:spcPts val="360"/>
              </a:spcBef>
              <a:buChar char="●"/>
              <a:tabLst>
                <a:tab pos="463962" algn="l"/>
                <a:tab pos="465655" algn="l"/>
              </a:tabLst>
            </a:pPr>
            <a:r>
              <a:rPr sz="1867" b="1" spc="-7" dirty="0">
                <a:solidFill>
                  <a:srgbClr val="595959"/>
                </a:solidFill>
                <a:latin typeface="Arial"/>
                <a:cs typeface="Arial"/>
              </a:rPr>
              <a:t>Pairwise</a:t>
            </a:r>
            <a:r>
              <a:rPr sz="1867" b="1" spc="-33" dirty="0">
                <a:solidFill>
                  <a:srgbClr val="595959"/>
                </a:solidFill>
                <a:latin typeface="Arial"/>
                <a:cs typeface="Arial"/>
              </a:rPr>
              <a:t> </a:t>
            </a:r>
            <a:r>
              <a:rPr sz="1867" b="1" spc="-7" dirty="0">
                <a:solidFill>
                  <a:srgbClr val="595959"/>
                </a:solidFill>
                <a:latin typeface="Arial"/>
                <a:cs typeface="Arial"/>
              </a:rPr>
              <a:t>reduction</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Collision</a:t>
            </a:r>
            <a:r>
              <a:rPr sz="1867" spc="-27" dirty="0">
                <a:solidFill>
                  <a:srgbClr val="595959"/>
                </a:solidFill>
                <a:latin typeface="Arial"/>
                <a:cs typeface="Arial"/>
              </a:rPr>
              <a:t> </a:t>
            </a:r>
            <a:r>
              <a:rPr sz="1867" dirty="0">
                <a:solidFill>
                  <a:srgbClr val="595959"/>
                </a:solidFill>
                <a:latin typeface="Arial"/>
                <a:cs typeface="Arial"/>
              </a:rPr>
              <a:t>resolution</a:t>
            </a:r>
            <a:endParaRPr sz="1867">
              <a:latin typeface="Arial"/>
              <a:cs typeface="Arial"/>
            </a:endParaRPr>
          </a:p>
        </p:txBody>
      </p:sp>
      <p:sp>
        <p:nvSpPr>
          <p:cNvPr id="4" name="object 4"/>
          <p:cNvSpPr/>
          <p:nvPr/>
        </p:nvSpPr>
        <p:spPr>
          <a:xfrm>
            <a:off x="7614470" y="2590183"/>
            <a:ext cx="625687" cy="630767"/>
          </a:xfrm>
          <a:custGeom>
            <a:avLst/>
            <a:gdLst/>
            <a:ahLst/>
            <a:cxnLst/>
            <a:rect l="l" t="t" r="r" b="b"/>
            <a:pathLst>
              <a:path w="469264" h="473075">
                <a:moveTo>
                  <a:pt x="234449" y="472799"/>
                </a:moveTo>
                <a:lnTo>
                  <a:pt x="187200" y="467997"/>
                </a:lnTo>
                <a:lnTo>
                  <a:pt x="143191" y="454222"/>
                </a:lnTo>
                <a:lnTo>
                  <a:pt x="103366" y="432426"/>
                </a:lnTo>
                <a:lnTo>
                  <a:pt x="68668" y="403560"/>
                </a:lnTo>
                <a:lnTo>
                  <a:pt x="40040" y="368573"/>
                </a:lnTo>
                <a:lnTo>
                  <a:pt x="18424" y="328417"/>
                </a:lnTo>
                <a:lnTo>
                  <a:pt x="4763" y="284042"/>
                </a:lnTo>
                <a:lnTo>
                  <a:pt x="0" y="236399"/>
                </a:ln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8"/>
                </a:lnTo>
                <a:lnTo>
                  <a:pt x="400231" y="69240"/>
                </a:lnTo>
                <a:lnTo>
                  <a:pt x="429509" y="105245"/>
                </a:lnTo>
                <a:lnTo>
                  <a:pt x="451053" y="145933"/>
                </a:lnTo>
                <a:lnTo>
                  <a:pt x="464353" y="190065"/>
                </a:lnTo>
                <a:lnTo>
                  <a:pt x="468899" y="236399"/>
                </a:lnTo>
                <a:lnTo>
                  <a:pt x="464136" y="284042"/>
                </a:lnTo>
                <a:lnTo>
                  <a:pt x="450475" y="328417"/>
                </a:lnTo>
                <a:lnTo>
                  <a:pt x="428859" y="368573"/>
                </a:lnTo>
                <a:lnTo>
                  <a:pt x="400231" y="403560"/>
                </a:lnTo>
                <a:lnTo>
                  <a:pt x="365533" y="432426"/>
                </a:lnTo>
                <a:lnTo>
                  <a:pt x="325708" y="454222"/>
                </a:lnTo>
                <a:lnTo>
                  <a:pt x="281699" y="467997"/>
                </a:lnTo>
                <a:lnTo>
                  <a:pt x="234449" y="472799"/>
                </a:lnTo>
                <a:close/>
              </a:path>
            </a:pathLst>
          </a:custGeom>
          <a:solidFill>
            <a:srgbClr val="9FC5E7">
              <a:alpha val="49229"/>
            </a:srgbClr>
          </a:solidFill>
        </p:spPr>
        <p:txBody>
          <a:bodyPr wrap="square" lIns="0" tIns="0" rIns="0" bIns="0" rtlCol="0"/>
          <a:lstStyle/>
          <a:p>
            <a:endParaRPr sz="2400"/>
          </a:p>
        </p:txBody>
      </p:sp>
      <p:sp>
        <p:nvSpPr>
          <p:cNvPr id="5" name="object 5"/>
          <p:cNvSpPr/>
          <p:nvPr/>
        </p:nvSpPr>
        <p:spPr>
          <a:xfrm>
            <a:off x="7614470" y="2590183"/>
            <a:ext cx="625687" cy="630767"/>
          </a:xfrm>
          <a:custGeom>
            <a:avLst/>
            <a:gdLst/>
            <a:ahLst/>
            <a:cxnLst/>
            <a:rect l="l" t="t" r="r" b="b"/>
            <a:pathLst>
              <a:path w="469264" h="473075">
                <a:moveTo>
                  <a:pt x="0" y="236399"/>
                </a:move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8"/>
                </a:lnTo>
                <a:lnTo>
                  <a:pt x="400231" y="69240"/>
                </a:lnTo>
                <a:lnTo>
                  <a:pt x="429509" y="105245"/>
                </a:lnTo>
                <a:lnTo>
                  <a:pt x="451053" y="145933"/>
                </a:lnTo>
                <a:lnTo>
                  <a:pt x="464353" y="190065"/>
                </a:lnTo>
                <a:lnTo>
                  <a:pt x="468899" y="236399"/>
                </a:lnTo>
                <a:lnTo>
                  <a:pt x="464136" y="284042"/>
                </a:lnTo>
                <a:lnTo>
                  <a:pt x="450475" y="328417"/>
                </a:lnTo>
                <a:lnTo>
                  <a:pt x="428859" y="368573"/>
                </a:lnTo>
                <a:lnTo>
                  <a:pt x="400231" y="403560"/>
                </a:lnTo>
                <a:lnTo>
                  <a:pt x="365533" y="432426"/>
                </a:lnTo>
                <a:lnTo>
                  <a:pt x="325708" y="454222"/>
                </a:lnTo>
                <a:lnTo>
                  <a:pt x="281699" y="467997"/>
                </a:lnTo>
                <a:lnTo>
                  <a:pt x="234449" y="472799"/>
                </a:lnTo>
                <a:lnTo>
                  <a:pt x="187200" y="467997"/>
                </a:lnTo>
                <a:lnTo>
                  <a:pt x="143191" y="454222"/>
                </a:lnTo>
                <a:lnTo>
                  <a:pt x="103366" y="432426"/>
                </a:lnTo>
                <a:lnTo>
                  <a:pt x="68668" y="403560"/>
                </a:lnTo>
                <a:lnTo>
                  <a:pt x="40040" y="368573"/>
                </a:lnTo>
                <a:lnTo>
                  <a:pt x="18424" y="328417"/>
                </a:lnTo>
                <a:lnTo>
                  <a:pt x="4763" y="284042"/>
                </a:lnTo>
                <a:lnTo>
                  <a:pt x="0" y="236399"/>
                </a:lnTo>
                <a:close/>
              </a:path>
            </a:pathLst>
          </a:custGeom>
          <a:ln w="9524">
            <a:solidFill>
              <a:srgbClr val="595959"/>
            </a:solidFill>
          </a:ln>
        </p:spPr>
        <p:txBody>
          <a:bodyPr wrap="square" lIns="0" tIns="0" rIns="0" bIns="0" rtlCol="0"/>
          <a:lstStyle/>
          <a:p>
            <a:endParaRPr sz="2400"/>
          </a:p>
        </p:txBody>
      </p:sp>
      <p:sp>
        <p:nvSpPr>
          <p:cNvPr id="6" name="object 6"/>
          <p:cNvSpPr/>
          <p:nvPr/>
        </p:nvSpPr>
        <p:spPr>
          <a:xfrm>
            <a:off x="8629110" y="1959785"/>
            <a:ext cx="625687" cy="630767"/>
          </a:xfrm>
          <a:custGeom>
            <a:avLst/>
            <a:gdLst/>
            <a:ahLst/>
            <a:cxnLst/>
            <a:rect l="l" t="t" r="r" b="b"/>
            <a:pathLst>
              <a:path w="469265" h="473075">
                <a:moveTo>
                  <a:pt x="234449" y="472799"/>
                </a:moveTo>
                <a:lnTo>
                  <a:pt x="187200" y="467997"/>
                </a:lnTo>
                <a:lnTo>
                  <a:pt x="143191" y="454222"/>
                </a:lnTo>
                <a:lnTo>
                  <a:pt x="103366" y="432426"/>
                </a:lnTo>
                <a:lnTo>
                  <a:pt x="68668" y="403560"/>
                </a:lnTo>
                <a:lnTo>
                  <a:pt x="40040" y="368573"/>
                </a:lnTo>
                <a:lnTo>
                  <a:pt x="18424" y="328417"/>
                </a:lnTo>
                <a:lnTo>
                  <a:pt x="4763" y="284042"/>
                </a:lnTo>
                <a:lnTo>
                  <a:pt x="0" y="236399"/>
                </a:ln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8"/>
                </a:lnTo>
                <a:lnTo>
                  <a:pt x="400231" y="69239"/>
                </a:lnTo>
                <a:lnTo>
                  <a:pt x="429509" y="105245"/>
                </a:lnTo>
                <a:lnTo>
                  <a:pt x="451053" y="145933"/>
                </a:lnTo>
                <a:lnTo>
                  <a:pt x="464353" y="190065"/>
                </a:lnTo>
                <a:lnTo>
                  <a:pt x="468899" y="236399"/>
                </a:lnTo>
                <a:lnTo>
                  <a:pt x="464136" y="284042"/>
                </a:lnTo>
                <a:lnTo>
                  <a:pt x="450475" y="328417"/>
                </a:lnTo>
                <a:lnTo>
                  <a:pt x="428859" y="368573"/>
                </a:lnTo>
                <a:lnTo>
                  <a:pt x="400231" y="403560"/>
                </a:lnTo>
                <a:lnTo>
                  <a:pt x="365533" y="432426"/>
                </a:lnTo>
                <a:lnTo>
                  <a:pt x="325708" y="454222"/>
                </a:lnTo>
                <a:lnTo>
                  <a:pt x="281699" y="467997"/>
                </a:lnTo>
                <a:lnTo>
                  <a:pt x="234449" y="472799"/>
                </a:lnTo>
                <a:close/>
              </a:path>
            </a:pathLst>
          </a:custGeom>
          <a:solidFill>
            <a:srgbClr val="9FC5E7">
              <a:alpha val="49229"/>
            </a:srgbClr>
          </a:solidFill>
        </p:spPr>
        <p:txBody>
          <a:bodyPr wrap="square" lIns="0" tIns="0" rIns="0" bIns="0" rtlCol="0"/>
          <a:lstStyle/>
          <a:p>
            <a:endParaRPr sz="2400"/>
          </a:p>
        </p:txBody>
      </p:sp>
      <p:sp>
        <p:nvSpPr>
          <p:cNvPr id="7" name="object 7"/>
          <p:cNvSpPr/>
          <p:nvPr/>
        </p:nvSpPr>
        <p:spPr>
          <a:xfrm>
            <a:off x="8629110" y="1959785"/>
            <a:ext cx="625687" cy="630767"/>
          </a:xfrm>
          <a:custGeom>
            <a:avLst/>
            <a:gdLst/>
            <a:ahLst/>
            <a:cxnLst/>
            <a:rect l="l" t="t" r="r" b="b"/>
            <a:pathLst>
              <a:path w="469265" h="473075">
                <a:moveTo>
                  <a:pt x="0" y="236399"/>
                </a:move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8"/>
                </a:lnTo>
                <a:lnTo>
                  <a:pt x="400231" y="69239"/>
                </a:lnTo>
                <a:lnTo>
                  <a:pt x="429509" y="105245"/>
                </a:lnTo>
                <a:lnTo>
                  <a:pt x="451053" y="145933"/>
                </a:lnTo>
                <a:lnTo>
                  <a:pt x="464353" y="190065"/>
                </a:lnTo>
                <a:lnTo>
                  <a:pt x="468899" y="236399"/>
                </a:lnTo>
                <a:lnTo>
                  <a:pt x="464136" y="284042"/>
                </a:lnTo>
                <a:lnTo>
                  <a:pt x="450475" y="328417"/>
                </a:lnTo>
                <a:lnTo>
                  <a:pt x="428859" y="368573"/>
                </a:lnTo>
                <a:lnTo>
                  <a:pt x="400231" y="403560"/>
                </a:lnTo>
                <a:lnTo>
                  <a:pt x="365533" y="432426"/>
                </a:lnTo>
                <a:lnTo>
                  <a:pt x="325708" y="454222"/>
                </a:lnTo>
                <a:lnTo>
                  <a:pt x="281699" y="467997"/>
                </a:lnTo>
                <a:lnTo>
                  <a:pt x="234449" y="472799"/>
                </a:lnTo>
                <a:lnTo>
                  <a:pt x="187200" y="467997"/>
                </a:lnTo>
                <a:lnTo>
                  <a:pt x="143191" y="454222"/>
                </a:lnTo>
                <a:lnTo>
                  <a:pt x="103366" y="432426"/>
                </a:lnTo>
                <a:lnTo>
                  <a:pt x="68668" y="403560"/>
                </a:lnTo>
                <a:lnTo>
                  <a:pt x="40040" y="368573"/>
                </a:lnTo>
                <a:lnTo>
                  <a:pt x="18424" y="328417"/>
                </a:lnTo>
                <a:lnTo>
                  <a:pt x="4763" y="284042"/>
                </a:lnTo>
                <a:lnTo>
                  <a:pt x="0" y="236399"/>
                </a:lnTo>
                <a:close/>
              </a:path>
            </a:pathLst>
          </a:custGeom>
          <a:ln w="9524">
            <a:solidFill>
              <a:srgbClr val="595959"/>
            </a:solidFill>
          </a:ln>
        </p:spPr>
        <p:txBody>
          <a:bodyPr wrap="square" lIns="0" tIns="0" rIns="0" bIns="0" rtlCol="0"/>
          <a:lstStyle/>
          <a:p>
            <a:endParaRPr sz="2400"/>
          </a:p>
        </p:txBody>
      </p:sp>
      <p:sp>
        <p:nvSpPr>
          <p:cNvPr id="8" name="object 8"/>
          <p:cNvSpPr/>
          <p:nvPr/>
        </p:nvSpPr>
        <p:spPr>
          <a:xfrm>
            <a:off x="9643750" y="2590183"/>
            <a:ext cx="625687" cy="630767"/>
          </a:xfrm>
          <a:custGeom>
            <a:avLst/>
            <a:gdLst/>
            <a:ahLst/>
            <a:cxnLst/>
            <a:rect l="l" t="t" r="r" b="b"/>
            <a:pathLst>
              <a:path w="469265" h="473075">
                <a:moveTo>
                  <a:pt x="234449" y="472799"/>
                </a:moveTo>
                <a:lnTo>
                  <a:pt x="187200" y="467997"/>
                </a:lnTo>
                <a:lnTo>
                  <a:pt x="143191" y="454222"/>
                </a:lnTo>
                <a:lnTo>
                  <a:pt x="103366" y="432426"/>
                </a:lnTo>
                <a:lnTo>
                  <a:pt x="68668" y="403560"/>
                </a:lnTo>
                <a:lnTo>
                  <a:pt x="40040" y="368573"/>
                </a:lnTo>
                <a:lnTo>
                  <a:pt x="18424" y="328417"/>
                </a:lnTo>
                <a:lnTo>
                  <a:pt x="4763" y="284042"/>
                </a:lnTo>
                <a:lnTo>
                  <a:pt x="0" y="236399"/>
                </a:ln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8"/>
                </a:lnTo>
                <a:lnTo>
                  <a:pt x="400231" y="69240"/>
                </a:lnTo>
                <a:lnTo>
                  <a:pt x="429509" y="105245"/>
                </a:lnTo>
                <a:lnTo>
                  <a:pt x="451053" y="145933"/>
                </a:lnTo>
                <a:lnTo>
                  <a:pt x="464353" y="190065"/>
                </a:lnTo>
                <a:lnTo>
                  <a:pt x="468899" y="236399"/>
                </a:lnTo>
                <a:lnTo>
                  <a:pt x="464136" y="284042"/>
                </a:lnTo>
                <a:lnTo>
                  <a:pt x="450475" y="328417"/>
                </a:lnTo>
                <a:lnTo>
                  <a:pt x="428859" y="368573"/>
                </a:lnTo>
                <a:lnTo>
                  <a:pt x="400231" y="403560"/>
                </a:lnTo>
                <a:lnTo>
                  <a:pt x="365533" y="432426"/>
                </a:lnTo>
                <a:lnTo>
                  <a:pt x="325708" y="454222"/>
                </a:lnTo>
                <a:lnTo>
                  <a:pt x="281699" y="467997"/>
                </a:lnTo>
                <a:lnTo>
                  <a:pt x="234449" y="472799"/>
                </a:lnTo>
                <a:close/>
              </a:path>
            </a:pathLst>
          </a:custGeom>
          <a:solidFill>
            <a:srgbClr val="9FC5E7">
              <a:alpha val="49229"/>
            </a:srgbClr>
          </a:solidFill>
        </p:spPr>
        <p:txBody>
          <a:bodyPr wrap="square" lIns="0" tIns="0" rIns="0" bIns="0" rtlCol="0"/>
          <a:lstStyle/>
          <a:p>
            <a:endParaRPr sz="2400"/>
          </a:p>
        </p:txBody>
      </p:sp>
      <p:sp>
        <p:nvSpPr>
          <p:cNvPr id="9" name="object 9"/>
          <p:cNvSpPr/>
          <p:nvPr/>
        </p:nvSpPr>
        <p:spPr>
          <a:xfrm>
            <a:off x="9643750" y="2590183"/>
            <a:ext cx="625687" cy="630767"/>
          </a:xfrm>
          <a:custGeom>
            <a:avLst/>
            <a:gdLst/>
            <a:ahLst/>
            <a:cxnLst/>
            <a:rect l="l" t="t" r="r" b="b"/>
            <a:pathLst>
              <a:path w="469265" h="473075">
                <a:moveTo>
                  <a:pt x="0" y="236399"/>
                </a:move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8"/>
                </a:lnTo>
                <a:lnTo>
                  <a:pt x="400231" y="69240"/>
                </a:lnTo>
                <a:lnTo>
                  <a:pt x="429509" y="105245"/>
                </a:lnTo>
                <a:lnTo>
                  <a:pt x="451053" y="145933"/>
                </a:lnTo>
                <a:lnTo>
                  <a:pt x="464353" y="190065"/>
                </a:lnTo>
                <a:lnTo>
                  <a:pt x="468899" y="236399"/>
                </a:lnTo>
                <a:lnTo>
                  <a:pt x="464136" y="284042"/>
                </a:lnTo>
                <a:lnTo>
                  <a:pt x="450475" y="328417"/>
                </a:lnTo>
                <a:lnTo>
                  <a:pt x="428859" y="368573"/>
                </a:lnTo>
                <a:lnTo>
                  <a:pt x="400231" y="403560"/>
                </a:lnTo>
                <a:lnTo>
                  <a:pt x="365533" y="432426"/>
                </a:lnTo>
                <a:lnTo>
                  <a:pt x="325708" y="454222"/>
                </a:lnTo>
                <a:lnTo>
                  <a:pt x="281699" y="467997"/>
                </a:lnTo>
                <a:lnTo>
                  <a:pt x="234449" y="472799"/>
                </a:lnTo>
                <a:lnTo>
                  <a:pt x="187200" y="467997"/>
                </a:lnTo>
                <a:lnTo>
                  <a:pt x="143191" y="454222"/>
                </a:lnTo>
                <a:lnTo>
                  <a:pt x="103366" y="432426"/>
                </a:lnTo>
                <a:lnTo>
                  <a:pt x="68668" y="403560"/>
                </a:lnTo>
                <a:lnTo>
                  <a:pt x="40040" y="368573"/>
                </a:lnTo>
                <a:lnTo>
                  <a:pt x="18424" y="328417"/>
                </a:lnTo>
                <a:lnTo>
                  <a:pt x="4763" y="284042"/>
                </a:lnTo>
                <a:lnTo>
                  <a:pt x="0" y="236399"/>
                </a:lnTo>
                <a:close/>
              </a:path>
            </a:pathLst>
          </a:custGeom>
          <a:ln w="9524">
            <a:solidFill>
              <a:srgbClr val="595959"/>
            </a:solidFill>
          </a:ln>
        </p:spPr>
        <p:txBody>
          <a:bodyPr wrap="square" lIns="0" tIns="0" rIns="0" bIns="0" rtlCol="0"/>
          <a:lstStyle/>
          <a:p>
            <a:endParaRPr sz="2400"/>
          </a:p>
        </p:txBody>
      </p:sp>
      <p:sp>
        <p:nvSpPr>
          <p:cNvPr id="10" name="object 10"/>
          <p:cNvSpPr/>
          <p:nvPr/>
        </p:nvSpPr>
        <p:spPr>
          <a:xfrm>
            <a:off x="10268853" y="3499035"/>
            <a:ext cx="625687" cy="630767"/>
          </a:xfrm>
          <a:custGeom>
            <a:avLst/>
            <a:gdLst/>
            <a:ahLst/>
            <a:cxnLst/>
            <a:rect l="l" t="t" r="r" b="b"/>
            <a:pathLst>
              <a:path w="469265" h="473075">
                <a:moveTo>
                  <a:pt x="234449" y="472799"/>
                </a:moveTo>
                <a:lnTo>
                  <a:pt x="187200" y="467997"/>
                </a:lnTo>
                <a:lnTo>
                  <a:pt x="143191" y="454222"/>
                </a:lnTo>
                <a:lnTo>
                  <a:pt x="103366" y="432426"/>
                </a:lnTo>
                <a:lnTo>
                  <a:pt x="68668" y="403559"/>
                </a:lnTo>
                <a:lnTo>
                  <a:pt x="40040" y="368573"/>
                </a:lnTo>
                <a:lnTo>
                  <a:pt x="18424" y="328417"/>
                </a:lnTo>
                <a:lnTo>
                  <a:pt x="4763" y="284042"/>
                </a:lnTo>
                <a:lnTo>
                  <a:pt x="0" y="236399"/>
                </a:ln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69" y="17994"/>
                </a:lnTo>
                <a:lnTo>
                  <a:pt x="364522" y="39717"/>
                </a:lnTo>
                <a:lnTo>
                  <a:pt x="400231" y="69239"/>
                </a:lnTo>
                <a:lnTo>
                  <a:pt x="429509" y="105245"/>
                </a:lnTo>
                <a:lnTo>
                  <a:pt x="451053" y="145933"/>
                </a:lnTo>
                <a:lnTo>
                  <a:pt x="464353" y="190065"/>
                </a:lnTo>
                <a:lnTo>
                  <a:pt x="468899" y="236399"/>
                </a:lnTo>
                <a:lnTo>
                  <a:pt x="464136" y="284042"/>
                </a:lnTo>
                <a:lnTo>
                  <a:pt x="450475" y="328417"/>
                </a:lnTo>
                <a:lnTo>
                  <a:pt x="428859" y="368573"/>
                </a:lnTo>
                <a:lnTo>
                  <a:pt x="400231" y="403559"/>
                </a:lnTo>
                <a:lnTo>
                  <a:pt x="365533" y="432426"/>
                </a:lnTo>
                <a:lnTo>
                  <a:pt x="325708" y="454222"/>
                </a:lnTo>
                <a:lnTo>
                  <a:pt x="281699" y="467997"/>
                </a:lnTo>
                <a:lnTo>
                  <a:pt x="234449" y="472799"/>
                </a:lnTo>
                <a:close/>
              </a:path>
            </a:pathLst>
          </a:custGeom>
          <a:solidFill>
            <a:srgbClr val="9FC5E7">
              <a:alpha val="49229"/>
            </a:srgbClr>
          </a:solidFill>
        </p:spPr>
        <p:txBody>
          <a:bodyPr wrap="square" lIns="0" tIns="0" rIns="0" bIns="0" rtlCol="0"/>
          <a:lstStyle/>
          <a:p>
            <a:endParaRPr sz="2400"/>
          </a:p>
        </p:txBody>
      </p:sp>
      <p:sp>
        <p:nvSpPr>
          <p:cNvPr id="11" name="object 11"/>
          <p:cNvSpPr/>
          <p:nvPr/>
        </p:nvSpPr>
        <p:spPr>
          <a:xfrm>
            <a:off x="10268853" y="3499035"/>
            <a:ext cx="625687" cy="630767"/>
          </a:xfrm>
          <a:custGeom>
            <a:avLst/>
            <a:gdLst/>
            <a:ahLst/>
            <a:cxnLst/>
            <a:rect l="l" t="t" r="r" b="b"/>
            <a:pathLst>
              <a:path w="469265" h="473075">
                <a:moveTo>
                  <a:pt x="0" y="236399"/>
                </a:move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69" y="17994"/>
                </a:lnTo>
                <a:lnTo>
                  <a:pt x="364522" y="39717"/>
                </a:lnTo>
                <a:lnTo>
                  <a:pt x="400230" y="69239"/>
                </a:lnTo>
                <a:lnTo>
                  <a:pt x="429509" y="105245"/>
                </a:lnTo>
                <a:lnTo>
                  <a:pt x="451053" y="145933"/>
                </a:lnTo>
                <a:lnTo>
                  <a:pt x="464353" y="190065"/>
                </a:lnTo>
                <a:lnTo>
                  <a:pt x="468899" y="236399"/>
                </a:lnTo>
                <a:lnTo>
                  <a:pt x="464136" y="284042"/>
                </a:lnTo>
                <a:lnTo>
                  <a:pt x="450475" y="328417"/>
                </a:lnTo>
                <a:lnTo>
                  <a:pt x="428859" y="368573"/>
                </a:lnTo>
                <a:lnTo>
                  <a:pt x="400231" y="403559"/>
                </a:lnTo>
                <a:lnTo>
                  <a:pt x="365533" y="432426"/>
                </a:lnTo>
                <a:lnTo>
                  <a:pt x="325708" y="454222"/>
                </a:lnTo>
                <a:lnTo>
                  <a:pt x="281699" y="467997"/>
                </a:lnTo>
                <a:lnTo>
                  <a:pt x="234449" y="472799"/>
                </a:lnTo>
                <a:lnTo>
                  <a:pt x="187200" y="467997"/>
                </a:lnTo>
                <a:lnTo>
                  <a:pt x="143191" y="454222"/>
                </a:lnTo>
                <a:lnTo>
                  <a:pt x="103366" y="432426"/>
                </a:lnTo>
                <a:lnTo>
                  <a:pt x="68668" y="403559"/>
                </a:lnTo>
                <a:lnTo>
                  <a:pt x="40040" y="368573"/>
                </a:lnTo>
                <a:lnTo>
                  <a:pt x="18424" y="328417"/>
                </a:lnTo>
                <a:lnTo>
                  <a:pt x="4763" y="284042"/>
                </a:lnTo>
                <a:lnTo>
                  <a:pt x="0" y="236399"/>
                </a:lnTo>
                <a:close/>
              </a:path>
            </a:pathLst>
          </a:custGeom>
          <a:ln w="9524">
            <a:solidFill>
              <a:srgbClr val="595959"/>
            </a:solidFill>
          </a:ln>
        </p:spPr>
        <p:txBody>
          <a:bodyPr wrap="square" lIns="0" tIns="0" rIns="0" bIns="0" rtlCol="0"/>
          <a:lstStyle/>
          <a:p>
            <a:endParaRPr sz="2400"/>
          </a:p>
        </p:txBody>
      </p:sp>
      <p:sp>
        <p:nvSpPr>
          <p:cNvPr id="12" name="object 12"/>
          <p:cNvSpPr/>
          <p:nvPr/>
        </p:nvSpPr>
        <p:spPr>
          <a:xfrm>
            <a:off x="9643750" y="4407887"/>
            <a:ext cx="625687" cy="630767"/>
          </a:xfrm>
          <a:custGeom>
            <a:avLst/>
            <a:gdLst/>
            <a:ahLst/>
            <a:cxnLst/>
            <a:rect l="l" t="t" r="r" b="b"/>
            <a:pathLst>
              <a:path w="469265" h="473075">
                <a:moveTo>
                  <a:pt x="234449" y="472799"/>
                </a:moveTo>
                <a:lnTo>
                  <a:pt x="187200" y="467997"/>
                </a:lnTo>
                <a:lnTo>
                  <a:pt x="143191" y="454222"/>
                </a:lnTo>
                <a:lnTo>
                  <a:pt x="103366" y="432426"/>
                </a:lnTo>
                <a:lnTo>
                  <a:pt x="68668" y="403560"/>
                </a:lnTo>
                <a:lnTo>
                  <a:pt x="40040" y="368573"/>
                </a:lnTo>
                <a:lnTo>
                  <a:pt x="18424" y="328417"/>
                </a:lnTo>
                <a:lnTo>
                  <a:pt x="4763" y="284042"/>
                </a:lnTo>
                <a:lnTo>
                  <a:pt x="0" y="236399"/>
                </a:ln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8"/>
                </a:lnTo>
                <a:lnTo>
                  <a:pt x="400231" y="69239"/>
                </a:lnTo>
                <a:lnTo>
                  <a:pt x="429509" y="105245"/>
                </a:lnTo>
                <a:lnTo>
                  <a:pt x="451053" y="145933"/>
                </a:lnTo>
                <a:lnTo>
                  <a:pt x="464353" y="190065"/>
                </a:lnTo>
                <a:lnTo>
                  <a:pt x="468899" y="236399"/>
                </a:lnTo>
                <a:lnTo>
                  <a:pt x="464136" y="284042"/>
                </a:lnTo>
                <a:lnTo>
                  <a:pt x="450475" y="328417"/>
                </a:lnTo>
                <a:lnTo>
                  <a:pt x="428859" y="368573"/>
                </a:lnTo>
                <a:lnTo>
                  <a:pt x="400231" y="403560"/>
                </a:lnTo>
                <a:lnTo>
                  <a:pt x="365533" y="432426"/>
                </a:lnTo>
                <a:lnTo>
                  <a:pt x="325708" y="454222"/>
                </a:lnTo>
                <a:lnTo>
                  <a:pt x="281699" y="467997"/>
                </a:lnTo>
                <a:lnTo>
                  <a:pt x="234449" y="472799"/>
                </a:lnTo>
                <a:close/>
              </a:path>
            </a:pathLst>
          </a:custGeom>
          <a:solidFill>
            <a:srgbClr val="9FC5E7">
              <a:alpha val="49229"/>
            </a:srgbClr>
          </a:solidFill>
        </p:spPr>
        <p:txBody>
          <a:bodyPr wrap="square" lIns="0" tIns="0" rIns="0" bIns="0" rtlCol="0"/>
          <a:lstStyle/>
          <a:p>
            <a:endParaRPr sz="2400"/>
          </a:p>
        </p:txBody>
      </p:sp>
      <p:sp>
        <p:nvSpPr>
          <p:cNvPr id="13" name="object 13"/>
          <p:cNvSpPr/>
          <p:nvPr/>
        </p:nvSpPr>
        <p:spPr>
          <a:xfrm>
            <a:off x="9643750" y="4407887"/>
            <a:ext cx="625687" cy="630767"/>
          </a:xfrm>
          <a:custGeom>
            <a:avLst/>
            <a:gdLst/>
            <a:ahLst/>
            <a:cxnLst/>
            <a:rect l="l" t="t" r="r" b="b"/>
            <a:pathLst>
              <a:path w="469265" h="473075">
                <a:moveTo>
                  <a:pt x="0" y="236399"/>
                </a:move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8"/>
                </a:lnTo>
                <a:lnTo>
                  <a:pt x="400231" y="69239"/>
                </a:lnTo>
                <a:lnTo>
                  <a:pt x="429509" y="105245"/>
                </a:lnTo>
                <a:lnTo>
                  <a:pt x="451053" y="145933"/>
                </a:lnTo>
                <a:lnTo>
                  <a:pt x="464353" y="190065"/>
                </a:lnTo>
                <a:lnTo>
                  <a:pt x="468899" y="236399"/>
                </a:lnTo>
                <a:lnTo>
                  <a:pt x="464136" y="284042"/>
                </a:lnTo>
                <a:lnTo>
                  <a:pt x="450475" y="328417"/>
                </a:lnTo>
                <a:lnTo>
                  <a:pt x="428859" y="368573"/>
                </a:lnTo>
                <a:lnTo>
                  <a:pt x="400231" y="403560"/>
                </a:lnTo>
                <a:lnTo>
                  <a:pt x="365533" y="432426"/>
                </a:lnTo>
                <a:lnTo>
                  <a:pt x="325708" y="454222"/>
                </a:lnTo>
                <a:lnTo>
                  <a:pt x="281699" y="467997"/>
                </a:lnTo>
                <a:lnTo>
                  <a:pt x="234449" y="472799"/>
                </a:lnTo>
                <a:lnTo>
                  <a:pt x="187200" y="467997"/>
                </a:lnTo>
                <a:lnTo>
                  <a:pt x="143191" y="454222"/>
                </a:lnTo>
                <a:lnTo>
                  <a:pt x="103366" y="432426"/>
                </a:lnTo>
                <a:lnTo>
                  <a:pt x="68668" y="403560"/>
                </a:lnTo>
                <a:lnTo>
                  <a:pt x="40040" y="368573"/>
                </a:lnTo>
                <a:lnTo>
                  <a:pt x="18424" y="328417"/>
                </a:lnTo>
                <a:lnTo>
                  <a:pt x="4763" y="284042"/>
                </a:lnTo>
                <a:lnTo>
                  <a:pt x="0" y="236399"/>
                </a:lnTo>
                <a:close/>
              </a:path>
            </a:pathLst>
          </a:custGeom>
          <a:ln w="9524">
            <a:solidFill>
              <a:srgbClr val="595959"/>
            </a:solidFill>
          </a:ln>
        </p:spPr>
        <p:txBody>
          <a:bodyPr wrap="square" lIns="0" tIns="0" rIns="0" bIns="0" rtlCol="0"/>
          <a:lstStyle/>
          <a:p>
            <a:endParaRPr sz="2400"/>
          </a:p>
        </p:txBody>
      </p:sp>
      <p:sp>
        <p:nvSpPr>
          <p:cNvPr id="14" name="object 14"/>
          <p:cNvSpPr/>
          <p:nvPr/>
        </p:nvSpPr>
        <p:spPr>
          <a:xfrm>
            <a:off x="8629110" y="5038287"/>
            <a:ext cx="625687" cy="630767"/>
          </a:xfrm>
          <a:custGeom>
            <a:avLst/>
            <a:gdLst/>
            <a:ahLst/>
            <a:cxnLst/>
            <a:rect l="l" t="t" r="r" b="b"/>
            <a:pathLst>
              <a:path w="469265" h="473075">
                <a:moveTo>
                  <a:pt x="234449" y="472799"/>
                </a:moveTo>
                <a:lnTo>
                  <a:pt x="187200" y="467997"/>
                </a:lnTo>
                <a:lnTo>
                  <a:pt x="143191" y="454222"/>
                </a:lnTo>
                <a:lnTo>
                  <a:pt x="103366" y="432426"/>
                </a:lnTo>
                <a:lnTo>
                  <a:pt x="68668" y="403559"/>
                </a:lnTo>
                <a:lnTo>
                  <a:pt x="40040" y="368573"/>
                </a:lnTo>
                <a:lnTo>
                  <a:pt x="18424" y="328417"/>
                </a:lnTo>
                <a:lnTo>
                  <a:pt x="4763" y="284042"/>
                </a:lnTo>
                <a:lnTo>
                  <a:pt x="0" y="236399"/>
                </a:ln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7"/>
                </a:lnTo>
                <a:lnTo>
                  <a:pt x="400231" y="69239"/>
                </a:lnTo>
                <a:lnTo>
                  <a:pt x="429509" y="105245"/>
                </a:lnTo>
                <a:lnTo>
                  <a:pt x="451053" y="145933"/>
                </a:lnTo>
                <a:lnTo>
                  <a:pt x="464353" y="190065"/>
                </a:lnTo>
                <a:lnTo>
                  <a:pt x="468899" y="236399"/>
                </a:lnTo>
                <a:lnTo>
                  <a:pt x="464136" y="284042"/>
                </a:lnTo>
                <a:lnTo>
                  <a:pt x="450475" y="328417"/>
                </a:lnTo>
                <a:lnTo>
                  <a:pt x="428859" y="368573"/>
                </a:lnTo>
                <a:lnTo>
                  <a:pt x="400231" y="403559"/>
                </a:lnTo>
                <a:lnTo>
                  <a:pt x="365533" y="432426"/>
                </a:lnTo>
                <a:lnTo>
                  <a:pt x="325708" y="454222"/>
                </a:lnTo>
                <a:lnTo>
                  <a:pt x="281699" y="467997"/>
                </a:lnTo>
                <a:lnTo>
                  <a:pt x="234449" y="472799"/>
                </a:lnTo>
                <a:close/>
              </a:path>
            </a:pathLst>
          </a:custGeom>
          <a:solidFill>
            <a:srgbClr val="9FC5E7">
              <a:alpha val="49229"/>
            </a:srgbClr>
          </a:solidFill>
        </p:spPr>
        <p:txBody>
          <a:bodyPr wrap="square" lIns="0" tIns="0" rIns="0" bIns="0" rtlCol="0"/>
          <a:lstStyle/>
          <a:p>
            <a:endParaRPr sz="2400"/>
          </a:p>
        </p:txBody>
      </p:sp>
      <p:sp>
        <p:nvSpPr>
          <p:cNvPr id="15" name="object 15"/>
          <p:cNvSpPr/>
          <p:nvPr/>
        </p:nvSpPr>
        <p:spPr>
          <a:xfrm>
            <a:off x="8629110" y="5038287"/>
            <a:ext cx="625687" cy="630767"/>
          </a:xfrm>
          <a:custGeom>
            <a:avLst/>
            <a:gdLst/>
            <a:ahLst/>
            <a:cxnLst/>
            <a:rect l="l" t="t" r="r" b="b"/>
            <a:pathLst>
              <a:path w="469265" h="473075">
                <a:moveTo>
                  <a:pt x="0" y="236399"/>
                </a:move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7"/>
                </a:lnTo>
                <a:lnTo>
                  <a:pt x="400231" y="69239"/>
                </a:lnTo>
                <a:lnTo>
                  <a:pt x="429509" y="105245"/>
                </a:lnTo>
                <a:lnTo>
                  <a:pt x="451053" y="145933"/>
                </a:lnTo>
                <a:lnTo>
                  <a:pt x="464353" y="190065"/>
                </a:lnTo>
                <a:lnTo>
                  <a:pt x="468899" y="236399"/>
                </a:lnTo>
                <a:lnTo>
                  <a:pt x="464136" y="284042"/>
                </a:lnTo>
                <a:lnTo>
                  <a:pt x="450475" y="328417"/>
                </a:lnTo>
                <a:lnTo>
                  <a:pt x="428859" y="368573"/>
                </a:lnTo>
                <a:lnTo>
                  <a:pt x="400231" y="403559"/>
                </a:lnTo>
                <a:lnTo>
                  <a:pt x="365533" y="432426"/>
                </a:lnTo>
                <a:lnTo>
                  <a:pt x="325708" y="454222"/>
                </a:lnTo>
                <a:lnTo>
                  <a:pt x="281699" y="467997"/>
                </a:lnTo>
                <a:lnTo>
                  <a:pt x="234449" y="472799"/>
                </a:lnTo>
                <a:lnTo>
                  <a:pt x="187200" y="467997"/>
                </a:lnTo>
                <a:lnTo>
                  <a:pt x="143191" y="454222"/>
                </a:lnTo>
                <a:lnTo>
                  <a:pt x="103366" y="432426"/>
                </a:lnTo>
                <a:lnTo>
                  <a:pt x="68668" y="403559"/>
                </a:lnTo>
                <a:lnTo>
                  <a:pt x="40040" y="368573"/>
                </a:lnTo>
                <a:lnTo>
                  <a:pt x="18424" y="328417"/>
                </a:lnTo>
                <a:lnTo>
                  <a:pt x="4763" y="284042"/>
                </a:lnTo>
                <a:lnTo>
                  <a:pt x="0" y="236399"/>
                </a:lnTo>
                <a:close/>
              </a:path>
            </a:pathLst>
          </a:custGeom>
          <a:ln w="9524">
            <a:solidFill>
              <a:srgbClr val="595959"/>
            </a:solidFill>
          </a:ln>
        </p:spPr>
        <p:txBody>
          <a:bodyPr wrap="square" lIns="0" tIns="0" rIns="0" bIns="0" rtlCol="0"/>
          <a:lstStyle/>
          <a:p>
            <a:endParaRPr sz="2400"/>
          </a:p>
        </p:txBody>
      </p:sp>
      <p:sp>
        <p:nvSpPr>
          <p:cNvPr id="16" name="object 16"/>
          <p:cNvSpPr/>
          <p:nvPr/>
        </p:nvSpPr>
        <p:spPr>
          <a:xfrm>
            <a:off x="7614470" y="4407887"/>
            <a:ext cx="625687" cy="630767"/>
          </a:xfrm>
          <a:custGeom>
            <a:avLst/>
            <a:gdLst/>
            <a:ahLst/>
            <a:cxnLst/>
            <a:rect l="l" t="t" r="r" b="b"/>
            <a:pathLst>
              <a:path w="469264" h="473075">
                <a:moveTo>
                  <a:pt x="234449" y="472799"/>
                </a:moveTo>
                <a:lnTo>
                  <a:pt x="187200" y="467997"/>
                </a:lnTo>
                <a:lnTo>
                  <a:pt x="143191" y="454222"/>
                </a:lnTo>
                <a:lnTo>
                  <a:pt x="103366" y="432426"/>
                </a:lnTo>
                <a:lnTo>
                  <a:pt x="68668" y="403560"/>
                </a:lnTo>
                <a:lnTo>
                  <a:pt x="40040" y="368573"/>
                </a:lnTo>
                <a:lnTo>
                  <a:pt x="18424" y="328417"/>
                </a:lnTo>
                <a:lnTo>
                  <a:pt x="4763" y="284042"/>
                </a:lnTo>
                <a:lnTo>
                  <a:pt x="0" y="236399"/>
                </a:ln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8"/>
                </a:lnTo>
                <a:lnTo>
                  <a:pt x="400231" y="69239"/>
                </a:lnTo>
                <a:lnTo>
                  <a:pt x="429509" y="105245"/>
                </a:lnTo>
                <a:lnTo>
                  <a:pt x="451053" y="145933"/>
                </a:lnTo>
                <a:lnTo>
                  <a:pt x="464353" y="190065"/>
                </a:lnTo>
                <a:lnTo>
                  <a:pt x="468899" y="236399"/>
                </a:lnTo>
                <a:lnTo>
                  <a:pt x="464136" y="284042"/>
                </a:lnTo>
                <a:lnTo>
                  <a:pt x="450475" y="328417"/>
                </a:lnTo>
                <a:lnTo>
                  <a:pt x="428859" y="368573"/>
                </a:lnTo>
                <a:lnTo>
                  <a:pt x="400231" y="403560"/>
                </a:lnTo>
                <a:lnTo>
                  <a:pt x="365533" y="432426"/>
                </a:lnTo>
                <a:lnTo>
                  <a:pt x="325708" y="454222"/>
                </a:lnTo>
                <a:lnTo>
                  <a:pt x="281699" y="467997"/>
                </a:lnTo>
                <a:lnTo>
                  <a:pt x="234449" y="472799"/>
                </a:lnTo>
                <a:close/>
              </a:path>
            </a:pathLst>
          </a:custGeom>
          <a:solidFill>
            <a:srgbClr val="9FC5E7">
              <a:alpha val="49229"/>
            </a:srgbClr>
          </a:solidFill>
        </p:spPr>
        <p:txBody>
          <a:bodyPr wrap="square" lIns="0" tIns="0" rIns="0" bIns="0" rtlCol="0"/>
          <a:lstStyle/>
          <a:p>
            <a:endParaRPr sz="2400"/>
          </a:p>
        </p:txBody>
      </p:sp>
      <p:sp>
        <p:nvSpPr>
          <p:cNvPr id="17" name="object 17"/>
          <p:cNvSpPr/>
          <p:nvPr/>
        </p:nvSpPr>
        <p:spPr>
          <a:xfrm>
            <a:off x="7614470" y="4407887"/>
            <a:ext cx="625687" cy="630767"/>
          </a:xfrm>
          <a:custGeom>
            <a:avLst/>
            <a:gdLst/>
            <a:ahLst/>
            <a:cxnLst/>
            <a:rect l="l" t="t" r="r" b="b"/>
            <a:pathLst>
              <a:path w="469264" h="473075">
                <a:moveTo>
                  <a:pt x="0" y="236399"/>
                </a:move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3" y="39718"/>
                </a:lnTo>
                <a:lnTo>
                  <a:pt x="400231" y="69239"/>
                </a:lnTo>
                <a:lnTo>
                  <a:pt x="429509" y="105245"/>
                </a:lnTo>
                <a:lnTo>
                  <a:pt x="451053" y="145933"/>
                </a:lnTo>
                <a:lnTo>
                  <a:pt x="464353" y="190065"/>
                </a:lnTo>
                <a:lnTo>
                  <a:pt x="468899" y="236399"/>
                </a:lnTo>
                <a:lnTo>
                  <a:pt x="464136" y="284042"/>
                </a:lnTo>
                <a:lnTo>
                  <a:pt x="450475" y="328417"/>
                </a:lnTo>
                <a:lnTo>
                  <a:pt x="428859" y="368573"/>
                </a:lnTo>
                <a:lnTo>
                  <a:pt x="400231" y="403560"/>
                </a:lnTo>
                <a:lnTo>
                  <a:pt x="365533" y="432426"/>
                </a:lnTo>
                <a:lnTo>
                  <a:pt x="325708" y="454222"/>
                </a:lnTo>
                <a:lnTo>
                  <a:pt x="281699" y="467997"/>
                </a:lnTo>
                <a:lnTo>
                  <a:pt x="234449" y="472799"/>
                </a:lnTo>
                <a:lnTo>
                  <a:pt x="187200" y="467997"/>
                </a:lnTo>
                <a:lnTo>
                  <a:pt x="143191" y="454222"/>
                </a:lnTo>
                <a:lnTo>
                  <a:pt x="103366" y="432426"/>
                </a:lnTo>
                <a:lnTo>
                  <a:pt x="68668" y="403560"/>
                </a:lnTo>
                <a:lnTo>
                  <a:pt x="40040" y="368573"/>
                </a:lnTo>
                <a:lnTo>
                  <a:pt x="18424" y="328417"/>
                </a:lnTo>
                <a:lnTo>
                  <a:pt x="4763" y="284042"/>
                </a:lnTo>
                <a:lnTo>
                  <a:pt x="0" y="236399"/>
                </a:lnTo>
                <a:close/>
              </a:path>
            </a:pathLst>
          </a:custGeom>
          <a:ln w="9524">
            <a:solidFill>
              <a:srgbClr val="595959"/>
            </a:solidFill>
          </a:ln>
        </p:spPr>
        <p:txBody>
          <a:bodyPr wrap="square" lIns="0" tIns="0" rIns="0" bIns="0" rtlCol="0"/>
          <a:lstStyle/>
          <a:p>
            <a:endParaRPr sz="2400"/>
          </a:p>
        </p:txBody>
      </p:sp>
      <p:sp>
        <p:nvSpPr>
          <p:cNvPr id="18" name="object 18"/>
          <p:cNvSpPr/>
          <p:nvPr/>
        </p:nvSpPr>
        <p:spPr>
          <a:xfrm>
            <a:off x="6989366" y="3499035"/>
            <a:ext cx="625687" cy="630767"/>
          </a:xfrm>
          <a:custGeom>
            <a:avLst/>
            <a:gdLst/>
            <a:ahLst/>
            <a:cxnLst/>
            <a:rect l="l" t="t" r="r" b="b"/>
            <a:pathLst>
              <a:path w="469264" h="473075">
                <a:moveTo>
                  <a:pt x="234449" y="472799"/>
                </a:moveTo>
                <a:lnTo>
                  <a:pt x="187200" y="467997"/>
                </a:lnTo>
                <a:lnTo>
                  <a:pt x="143191" y="454222"/>
                </a:lnTo>
                <a:lnTo>
                  <a:pt x="103366" y="432426"/>
                </a:lnTo>
                <a:lnTo>
                  <a:pt x="68668" y="403559"/>
                </a:lnTo>
                <a:lnTo>
                  <a:pt x="40040" y="368573"/>
                </a:lnTo>
                <a:lnTo>
                  <a:pt x="18424" y="328417"/>
                </a:lnTo>
                <a:lnTo>
                  <a:pt x="4763" y="284042"/>
                </a:lnTo>
                <a:lnTo>
                  <a:pt x="0" y="236399"/>
                </a:ln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2" y="39717"/>
                </a:lnTo>
                <a:lnTo>
                  <a:pt x="400231" y="69239"/>
                </a:lnTo>
                <a:lnTo>
                  <a:pt x="429509" y="105245"/>
                </a:lnTo>
                <a:lnTo>
                  <a:pt x="451053" y="145933"/>
                </a:lnTo>
                <a:lnTo>
                  <a:pt x="464353" y="190065"/>
                </a:lnTo>
                <a:lnTo>
                  <a:pt x="468899" y="236399"/>
                </a:lnTo>
                <a:lnTo>
                  <a:pt x="464136" y="284042"/>
                </a:lnTo>
                <a:lnTo>
                  <a:pt x="450475" y="328417"/>
                </a:lnTo>
                <a:lnTo>
                  <a:pt x="428859" y="368573"/>
                </a:lnTo>
                <a:lnTo>
                  <a:pt x="400231" y="403559"/>
                </a:lnTo>
                <a:lnTo>
                  <a:pt x="365533" y="432426"/>
                </a:lnTo>
                <a:lnTo>
                  <a:pt x="325708" y="454222"/>
                </a:lnTo>
                <a:lnTo>
                  <a:pt x="281699" y="467997"/>
                </a:lnTo>
                <a:lnTo>
                  <a:pt x="234449" y="472799"/>
                </a:lnTo>
                <a:close/>
              </a:path>
            </a:pathLst>
          </a:custGeom>
          <a:solidFill>
            <a:srgbClr val="9FC5E7">
              <a:alpha val="49229"/>
            </a:srgbClr>
          </a:solidFill>
        </p:spPr>
        <p:txBody>
          <a:bodyPr wrap="square" lIns="0" tIns="0" rIns="0" bIns="0" rtlCol="0"/>
          <a:lstStyle/>
          <a:p>
            <a:endParaRPr sz="2400"/>
          </a:p>
        </p:txBody>
      </p:sp>
      <p:sp>
        <p:nvSpPr>
          <p:cNvPr id="19" name="object 19"/>
          <p:cNvSpPr/>
          <p:nvPr/>
        </p:nvSpPr>
        <p:spPr>
          <a:xfrm>
            <a:off x="6989366" y="3499035"/>
            <a:ext cx="625687" cy="630767"/>
          </a:xfrm>
          <a:custGeom>
            <a:avLst/>
            <a:gdLst/>
            <a:ahLst/>
            <a:cxnLst/>
            <a:rect l="l" t="t" r="r" b="b"/>
            <a:pathLst>
              <a:path w="469264" h="473075">
                <a:moveTo>
                  <a:pt x="0" y="236399"/>
                </a:moveTo>
                <a:lnTo>
                  <a:pt x="4763" y="188757"/>
                </a:lnTo>
                <a:lnTo>
                  <a:pt x="18424" y="144382"/>
                </a:lnTo>
                <a:lnTo>
                  <a:pt x="40040" y="104226"/>
                </a:lnTo>
                <a:lnTo>
                  <a:pt x="68668" y="69239"/>
                </a:lnTo>
                <a:lnTo>
                  <a:pt x="103366" y="40373"/>
                </a:lnTo>
                <a:lnTo>
                  <a:pt x="143191" y="18577"/>
                </a:lnTo>
                <a:lnTo>
                  <a:pt x="187200" y="4802"/>
                </a:lnTo>
                <a:lnTo>
                  <a:pt x="234449" y="0"/>
                </a:lnTo>
                <a:lnTo>
                  <a:pt x="280402" y="4584"/>
                </a:lnTo>
                <a:lnTo>
                  <a:pt x="324170" y="17994"/>
                </a:lnTo>
                <a:lnTo>
                  <a:pt x="364522" y="39717"/>
                </a:lnTo>
                <a:lnTo>
                  <a:pt x="400231" y="69239"/>
                </a:lnTo>
                <a:lnTo>
                  <a:pt x="429509" y="105245"/>
                </a:lnTo>
                <a:lnTo>
                  <a:pt x="451053" y="145933"/>
                </a:lnTo>
                <a:lnTo>
                  <a:pt x="464353" y="190065"/>
                </a:lnTo>
                <a:lnTo>
                  <a:pt x="468899" y="236399"/>
                </a:lnTo>
                <a:lnTo>
                  <a:pt x="464136" y="284042"/>
                </a:lnTo>
                <a:lnTo>
                  <a:pt x="450475" y="328417"/>
                </a:lnTo>
                <a:lnTo>
                  <a:pt x="428859" y="368573"/>
                </a:lnTo>
                <a:lnTo>
                  <a:pt x="400231" y="403559"/>
                </a:lnTo>
                <a:lnTo>
                  <a:pt x="365533" y="432426"/>
                </a:lnTo>
                <a:lnTo>
                  <a:pt x="325708" y="454222"/>
                </a:lnTo>
                <a:lnTo>
                  <a:pt x="281699" y="467997"/>
                </a:lnTo>
                <a:lnTo>
                  <a:pt x="234449" y="472799"/>
                </a:lnTo>
                <a:lnTo>
                  <a:pt x="187200" y="467997"/>
                </a:lnTo>
                <a:lnTo>
                  <a:pt x="143191" y="454222"/>
                </a:lnTo>
                <a:lnTo>
                  <a:pt x="103366" y="432426"/>
                </a:lnTo>
                <a:lnTo>
                  <a:pt x="68668" y="403559"/>
                </a:lnTo>
                <a:lnTo>
                  <a:pt x="40040" y="368573"/>
                </a:lnTo>
                <a:lnTo>
                  <a:pt x="18424" y="328417"/>
                </a:lnTo>
                <a:lnTo>
                  <a:pt x="4763" y="284042"/>
                </a:lnTo>
                <a:lnTo>
                  <a:pt x="0" y="236399"/>
                </a:lnTo>
                <a:close/>
              </a:path>
            </a:pathLst>
          </a:custGeom>
          <a:ln w="9524">
            <a:solidFill>
              <a:srgbClr val="595959"/>
            </a:solidFill>
          </a:ln>
        </p:spPr>
        <p:txBody>
          <a:bodyPr wrap="square" lIns="0" tIns="0" rIns="0" bIns="0" rtlCol="0"/>
          <a:lstStyle/>
          <a:p>
            <a:endParaRPr sz="2400"/>
          </a:p>
        </p:txBody>
      </p:sp>
      <p:sp>
        <p:nvSpPr>
          <p:cNvPr id="20" name="object 20"/>
          <p:cNvSpPr/>
          <p:nvPr/>
        </p:nvSpPr>
        <p:spPr>
          <a:xfrm>
            <a:off x="8941709" y="2590184"/>
            <a:ext cx="0" cy="2448560"/>
          </a:xfrm>
          <a:custGeom>
            <a:avLst/>
            <a:gdLst/>
            <a:ahLst/>
            <a:cxnLst/>
            <a:rect l="l" t="t" r="r" b="b"/>
            <a:pathLst>
              <a:path h="1836420">
                <a:moveTo>
                  <a:pt x="0" y="0"/>
                </a:moveTo>
                <a:lnTo>
                  <a:pt x="0" y="1835999"/>
                </a:lnTo>
              </a:path>
            </a:pathLst>
          </a:custGeom>
          <a:ln w="19049">
            <a:solidFill>
              <a:srgbClr val="595959"/>
            </a:solidFill>
          </a:ln>
        </p:spPr>
        <p:txBody>
          <a:bodyPr wrap="square" lIns="0" tIns="0" rIns="0" bIns="0" rtlCol="0"/>
          <a:lstStyle/>
          <a:p>
            <a:endParaRPr sz="2400"/>
          </a:p>
        </p:txBody>
      </p:sp>
      <p:sp>
        <p:nvSpPr>
          <p:cNvPr id="21" name="object 21"/>
          <p:cNvSpPr/>
          <p:nvPr/>
        </p:nvSpPr>
        <p:spPr>
          <a:xfrm>
            <a:off x="8941710" y="2590184"/>
            <a:ext cx="794173" cy="1910080"/>
          </a:xfrm>
          <a:custGeom>
            <a:avLst/>
            <a:gdLst/>
            <a:ahLst/>
            <a:cxnLst/>
            <a:rect l="l" t="t" r="r" b="b"/>
            <a:pathLst>
              <a:path w="595629" h="1432560">
                <a:moveTo>
                  <a:pt x="0" y="0"/>
                </a:moveTo>
                <a:lnTo>
                  <a:pt x="595199" y="1432499"/>
                </a:lnTo>
              </a:path>
            </a:pathLst>
          </a:custGeom>
          <a:ln w="19049">
            <a:solidFill>
              <a:srgbClr val="595959"/>
            </a:solidFill>
          </a:ln>
        </p:spPr>
        <p:txBody>
          <a:bodyPr wrap="square" lIns="0" tIns="0" rIns="0" bIns="0" rtlCol="0"/>
          <a:lstStyle/>
          <a:p>
            <a:endParaRPr sz="2400"/>
          </a:p>
        </p:txBody>
      </p:sp>
      <p:sp>
        <p:nvSpPr>
          <p:cNvPr id="22" name="object 22"/>
          <p:cNvSpPr/>
          <p:nvPr/>
        </p:nvSpPr>
        <p:spPr>
          <a:xfrm>
            <a:off x="8148110" y="2590184"/>
            <a:ext cx="794173" cy="1910080"/>
          </a:xfrm>
          <a:custGeom>
            <a:avLst/>
            <a:gdLst/>
            <a:ahLst/>
            <a:cxnLst/>
            <a:rect l="l" t="t" r="r" b="b"/>
            <a:pathLst>
              <a:path w="595629" h="1432560">
                <a:moveTo>
                  <a:pt x="595199" y="0"/>
                </a:moveTo>
                <a:lnTo>
                  <a:pt x="0" y="1432499"/>
                </a:lnTo>
              </a:path>
            </a:pathLst>
          </a:custGeom>
          <a:ln w="19049">
            <a:solidFill>
              <a:srgbClr val="595959"/>
            </a:solidFill>
          </a:ln>
        </p:spPr>
        <p:txBody>
          <a:bodyPr wrap="square" lIns="0" tIns="0" rIns="0" bIns="0" rtlCol="0"/>
          <a:lstStyle/>
          <a:p>
            <a:endParaRPr sz="2400"/>
          </a:p>
        </p:txBody>
      </p:sp>
      <p:sp>
        <p:nvSpPr>
          <p:cNvPr id="23" name="object 23"/>
          <p:cNvSpPr/>
          <p:nvPr/>
        </p:nvSpPr>
        <p:spPr>
          <a:xfrm>
            <a:off x="8148269" y="2497865"/>
            <a:ext cx="573193" cy="185420"/>
          </a:xfrm>
          <a:custGeom>
            <a:avLst/>
            <a:gdLst/>
            <a:ahLst/>
            <a:cxnLst/>
            <a:rect l="l" t="t" r="r" b="b"/>
            <a:pathLst>
              <a:path w="429895" h="139064">
                <a:moveTo>
                  <a:pt x="429299" y="0"/>
                </a:moveTo>
                <a:lnTo>
                  <a:pt x="0" y="138599"/>
                </a:lnTo>
              </a:path>
            </a:pathLst>
          </a:custGeom>
          <a:ln w="19049">
            <a:solidFill>
              <a:srgbClr val="595959"/>
            </a:solidFill>
          </a:ln>
        </p:spPr>
        <p:txBody>
          <a:bodyPr wrap="square" lIns="0" tIns="0" rIns="0" bIns="0" rtlCol="0"/>
          <a:lstStyle/>
          <a:p>
            <a:endParaRPr sz="2400"/>
          </a:p>
        </p:txBody>
      </p:sp>
      <p:sp>
        <p:nvSpPr>
          <p:cNvPr id="24" name="object 24"/>
          <p:cNvSpPr/>
          <p:nvPr/>
        </p:nvSpPr>
        <p:spPr>
          <a:xfrm>
            <a:off x="9162753" y="2497865"/>
            <a:ext cx="573193" cy="185420"/>
          </a:xfrm>
          <a:custGeom>
            <a:avLst/>
            <a:gdLst/>
            <a:ahLst/>
            <a:cxnLst/>
            <a:rect l="l" t="t" r="r" b="b"/>
            <a:pathLst>
              <a:path w="429895" h="139064">
                <a:moveTo>
                  <a:pt x="0" y="0"/>
                </a:moveTo>
                <a:lnTo>
                  <a:pt x="429299" y="138599"/>
                </a:lnTo>
              </a:path>
            </a:pathLst>
          </a:custGeom>
          <a:ln w="19049">
            <a:solidFill>
              <a:srgbClr val="595959"/>
            </a:solidFill>
          </a:ln>
        </p:spPr>
        <p:txBody>
          <a:bodyPr wrap="square" lIns="0" tIns="0" rIns="0" bIns="0" rtlCol="0"/>
          <a:lstStyle/>
          <a:p>
            <a:endParaRPr sz="2400"/>
          </a:p>
        </p:txBody>
      </p:sp>
      <p:sp>
        <p:nvSpPr>
          <p:cNvPr id="25" name="object 25"/>
          <p:cNvSpPr/>
          <p:nvPr/>
        </p:nvSpPr>
        <p:spPr>
          <a:xfrm>
            <a:off x="8941710" y="2590184"/>
            <a:ext cx="1327573" cy="1224280"/>
          </a:xfrm>
          <a:custGeom>
            <a:avLst/>
            <a:gdLst/>
            <a:ahLst/>
            <a:cxnLst/>
            <a:rect l="l" t="t" r="r" b="b"/>
            <a:pathLst>
              <a:path w="995679" h="918210">
                <a:moveTo>
                  <a:pt x="0" y="0"/>
                </a:moveTo>
                <a:lnTo>
                  <a:pt x="995399" y="917999"/>
                </a:lnTo>
              </a:path>
            </a:pathLst>
          </a:custGeom>
          <a:ln w="19049">
            <a:solidFill>
              <a:srgbClr val="595959"/>
            </a:solidFill>
          </a:ln>
        </p:spPr>
        <p:txBody>
          <a:bodyPr wrap="square" lIns="0" tIns="0" rIns="0" bIns="0" rtlCol="0"/>
          <a:lstStyle/>
          <a:p>
            <a:endParaRPr sz="2400"/>
          </a:p>
        </p:txBody>
      </p:sp>
      <p:sp>
        <p:nvSpPr>
          <p:cNvPr id="26" name="object 26"/>
          <p:cNvSpPr/>
          <p:nvPr/>
        </p:nvSpPr>
        <p:spPr>
          <a:xfrm>
            <a:off x="7614510" y="2590184"/>
            <a:ext cx="1327573" cy="1224280"/>
          </a:xfrm>
          <a:custGeom>
            <a:avLst/>
            <a:gdLst/>
            <a:ahLst/>
            <a:cxnLst/>
            <a:rect l="l" t="t" r="r" b="b"/>
            <a:pathLst>
              <a:path w="995679" h="918210">
                <a:moveTo>
                  <a:pt x="995399" y="0"/>
                </a:moveTo>
                <a:lnTo>
                  <a:pt x="0" y="917999"/>
                </a:lnTo>
              </a:path>
            </a:pathLst>
          </a:custGeom>
          <a:ln w="19049">
            <a:solidFill>
              <a:srgbClr val="595959"/>
            </a:solidFill>
          </a:ln>
        </p:spPr>
        <p:txBody>
          <a:bodyPr wrap="square" lIns="0" tIns="0" rIns="0" bIns="0" rtlCol="0"/>
          <a:lstStyle/>
          <a:p>
            <a:endParaRPr sz="2400"/>
          </a:p>
        </p:txBody>
      </p:sp>
      <p:sp>
        <p:nvSpPr>
          <p:cNvPr id="27" name="object 27"/>
          <p:cNvSpPr/>
          <p:nvPr/>
        </p:nvSpPr>
        <p:spPr>
          <a:xfrm>
            <a:off x="8148107" y="3128263"/>
            <a:ext cx="1587500" cy="1372447"/>
          </a:xfrm>
          <a:custGeom>
            <a:avLst/>
            <a:gdLst/>
            <a:ahLst/>
            <a:cxnLst/>
            <a:rect l="l" t="t" r="r" b="b"/>
            <a:pathLst>
              <a:path w="1190625" h="1029335">
                <a:moveTo>
                  <a:pt x="1190400" y="0"/>
                </a:moveTo>
                <a:lnTo>
                  <a:pt x="0" y="1029000"/>
                </a:lnTo>
              </a:path>
            </a:pathLst>
          </a:custGeom>
          <a:ln w="19049">
            <a:solidFill>
              <a:srgbClr val="595959"/>
            </a:solidFill>
          </a:ln>
        </p:spPr>
        <p:txBody>
          <a:bodyPr wrap="square" lIns="0" tIns="0" rIns="0" bIns="0" rtlCol="0"/>
          <a:lstStyle/>
          <a:p>
            <a:endParaRPr sz="2400"/>
          </a:p>
        </p:txBody>
      </p:sp>
      <p:sp>
        <p:nvSpPr>
          <p:cNvPr id="28" name="object 28"/>
          <p:cNvSpPr/>
          <p:nvPr/>
        </p:nvSpPr>
        <p:spPr>
          <a:xfrm>
            <a:off x="10177390" y="3128263"/>
            <a:ext cx="183727" cy="463973"/>
          </a:xfrm>
          <a:custGeom>
            <a:avLst/>
            <a:gdLst/>
            <a:ahLst/>
            <a:cxnLst/>
            <a:rect l="l" t="t" r="r" b="b"/>
            <a:pathLst>
              <a:path w="137795" h="347980">
                <a:moveTo>
                  <a:pt x="0" y="0"/>
                </a:moveTo>
                <a:lnTo>
                  <a:pt x="137399" y="347399"/>
                </a:lnTo>
              </a:path>
            </a:pathLst>
          </a:custGeom>
          <a:ln w="19049">
            <a:solidFill>
              <a:srgbClr val="595959"/>
            </a:solidFill>
          </a:ln>
        </p:spPr>
        <p:txBody>
          <a:bodyPr wrap="square" lIns="0" tIns="0" rIns="0" bIns="0" rtlCol="0"/>
          <a:lstStyle/>
          <a:p>
            <a:endParaRPr sz="2400"/>
          </a:p>
        </p:txBody>
      </p:sp>
      <p:sp>
        <p:nvSpPr>
          <p:cNvPr id="29" name="object 29"/>
          <p:cNvSpPr/>
          <p:nvPr/>
        </p:nvSpPr>
        <p:spPr>
          <a:xfrm>
            <a:off x="10177211" y="4037115"/>
            <a:ext cx="183727" cy="463973"/>
          </a:xfrm>
          <a:custGeom>
            <a:avLst/>
            <a:gdLst/>
            <a:ahLst/>
            <a:cxnLst/>
            <a:rect l="l" t="t" r="r" b="b"/>
            <a:pathLst>
              <a:path w="137795" h="347979">
                <a:moveTo>
                  <a:pt x="137399" y="0"/>
                </a:moveTo>
                <a:lnTo>
                  <a:pt x="0" y="347399"/>
                </a:lnTo>
              </a:path>
            </a:pathLst>
          </a:custGeom>
          <a:ln w="19049">
            <a:solidFill>
              <a:srgbClr val="595959"/>
            </a:solidFill>
          </a:ln>
        </p:spPr>
        <p:txBody>
          <a:bodyPr wrap="square" lIns="0" tIns="0" rIns="0" bIns="0" rtlCol="0"/>
          <a:lstStyle/>
          <a:p>
            <a:endParaRPr sz="2400"/>
          </a:p>
        </p:txBody>
      </p:sp>
      <p:sp>
        <p:nvSpPr>
          <p:cNvPr id="30" name="object 30"/>
          <p:cNvSpPr/>
          <p:nvPr/>
        </p:nvSpPr>
        <p:spPr>
          <a:xfrm>
            <a:off x="9162909" y="4945967"/>
            <a:ext cx="573193" cy="185420"/>
          </a:xfrm>
          <a:custGeom>
            <a:avLst/>
            <a:gdLst/>
            <a:ahLst/>
            <a:cxnLst/>
            <a:rect l="l" t="t" r="r" b="b"/>
            <a:pathLst>
              <a:path w="429895" h="139064">
                <a:moveTo>
                  <a:pt x="429299" y="0"/>
                </a:moveTo>
                <a:lnTo>
                  <a:pt x="0" y="138599"/>
                </a:lnTo>
              </a:path>
            </a:pathLst>
          </a:custGeom>
          <a:ln w="19049">
            <a:solidFill>
              <a:srgbClr val="595959"/>
            </a:solidFill>
          </a:ln>
        </p:spPr>
        <p:txBody>
          <a:bodyPr wrap="square" lIns="0" tIns="0" rIns="0" bIns="0" rtlCol="0"/>
          <a:lstStyle/>
          <a:p>
            <a:endParaRPr sz="2400"/>
          </a:p>
        </p:txBody>
      </p:sp>
      <p:sp>
        <p:nvSpPr>
          <p:cNvPr id="31" name="object 31"/>
          <p:cNvSpPr/>
          <p:nvPr/>
        </p:nvSpPr>
        <p:spPr>
          <a:xfrm>
            <a:off x="8148269" y="4945806"/>
            <a:ext cx="573193" cy="185420"/>
          </a:xfrm>
          <a:custGeom>
            <a:avLst/>
            <a:gdLst/>
            <a:ahLst/>
            <a:cxnLst/>
            <a:rect l="l" t="t" r="r" b="b"/>
            <a:pathLst>
              <a:path w="429895" h="139064">
                <a:moveTo>
                  <a:pt x="429299" y="138599"/>
                </a:moveTo>
                <a:lnTo>
                  <a:pt x="0" y="0"/>
                </a:lnTo>
              </a:path>
            </a:pathLst>
          </a:custGeom>
          <a:ln w="19049">
            <a:solidFill>
              <a:srgbClr val="595959"/>
            </a:solidFill>
          </a:ln>
        </p:spPr>
        <p:txBody>
          <a:bodyPr wrap="square" lIns="0" tIns="0" rIns="0" bIns="0" rtlCol="0"/>
          <a:lstStyle/>
          <a:p>
            <a:endParaRPr sz="2400"/>
          </a:p>
        </p:txBody>
      </p:sp>
      <p:sp>
        <p:nvSpPr>
          <p:cNvPr id="32" name="object 32"/>
          <p:cNvSpPr/>
          <p:nvPr/>
        </p:nvSpPr>
        <p:spPr>
          <a:xfrm>
            <a:off x="7522829" y="4037007"/>
            <a:ext cx="183727" cy="463973"/>
          </a:xfrm>
          <a:custGeom>
            <a:avLst/>
            <a:gdLst/>
            <a:ahLst/>
            <a:cxnLst/>
            <a:rect l="l" t="t" r="r" b="b"/>
            <a:pathLst>
              <a:path w="137795" h="347979">
                <a:moveTo>
                  <a:pt x="137399" y="347399"/>
                </a:moveTo>
                <a:lnTo>
                  <a:pt x="0" y="0"/>
                </a:lnTo>
              </a:path>
            </a:pathLst>
          </a:custGeom>
          <a:ln w="19049">
            <a:solidFill>
              <a:srgbClr val="595959"/>
            </a:solidFill>
          </a:ln>
        </p:spPr>
        <p:txBody>
          <a:bodyPr wrap="square" lIns="0" tIns="0" rIns="0" bIns="0" rtlCol="0"/>
          <a:lstStyle/>
          <a:p>
            <a:endParaRPr sz="2400"/>
          </a:p>
        </p:txBody>
      </p:sp>
      <p:sp>
        <p:nvSpPr>
          <p:cNvPr id="33" name="object 33"/>
          <p:cNvSpPr/>
          <p:nvPr/>
        </p:nvSpPr>
        <p:spPr>
          <a:xfrm>
            <a:off x="7523009" y="3128155"/>
            <a:ext cx="183727" cy="463973"/>
          </a:xfrm>
          <a:custGeom>
            <a:avLst/>
            <a:gdLst/>
            <a:ahLst/>
            <a:cxnLst/>
            <a:rect l="l" t="t" r="r" b="b"/>
            <a:pathLst>
              <a:path w="137795" h="347980">
                <a:moveTo>
                  <a:pt x="0" y="347399"/>
                </a:moveTo>
                <a:lnTo>
                  <a:pt x="137399" y="0"/>
                </a:lnTo>
              </a:path>
            </a:pathLst>
          </a:custGeom>
          <a:ln w="19049">
            <a:solidFill>
              <a:srgbClr val="595959"/>
            </a:solidFill>
          </a:ln>
        </p:spPr>
        <p:txBody>
          <a:bodyPr wrap="square" lIns="0" tIns="0" rIns="0" bIns="0" rtlCol="0"/>
          <a:lstStyle/>
          <a:p>
            <a:endParaRPr sz="2400"/>
          </a:p>
        </p:txBody>
      </p:sp>
      <p:sp>
        <p:nvSpPr>
          <p:cNvPr id="34" name="object 34"/>
          <p:cNvSpPr/>
          <p:nvPr/>
        </p:nvSpPr>
        <p:spPr>
          <a:xfrm>
            <a:off x="8239749" y="2905383"/>
            <a:ext cx="1404620" cy="0"/>
          </a:xfrm>
          <a:custGeom>
            <a:avLst/>
            <a:gdLst/>
            <a:ahLst/>
            <a:cxnLst/>
            <a:rect l="l" t="t" r="r" b="b"/>
            <a:pathLst>
              <a:path w="1053465">
                <a:moveTo>
                  <a:pt x="1052999" y="0"/>
                </a:moveTo>
                <a:lnTo>
                  <a:pt x="0" y="0"/>
                </a:lnTo>
              </a:path>
            </a:pathLst>
          </a:custGeom>
          <a:ln w="19049">
            <a:solidFill>
              <a:srgbClr val="595959"/>
            </a:solidFill>
          </a:ln>
        </p:spPr>
        <p:txBody>
          <a:bodyPr wrap="square" lIns="0" tIns="0" rIns="0" bIns="0" rtlCol="0"/>
          <a:lstStyle/>
          <a:p>
            <a:endParaRPr sz="2400"/>
          </a:p>
        </p:txBody>
      </p:sp>
      <p:sp>
        <p:nvSpPr>
          <p:cNvPr id="35" name="object 35"/>
          <p:cNvSpPr/>
          <p:nvPr/>
        </p:nvSpPr>
        <p:spPr>
          <a:xfrm>
            <a:off x="9735308" y="3128263"/>
            <a:ext cx="0" cy="1372447"/>
          </a:xfrm>
          <a:custGeom>
            <a:avLst/>
            <a:gdLst/>
            <a:ahLst/>
            <a:cxnLst/>
            <a:rect l="l" t="t" r="r" b="b"/>
            <a:pathLst>
              <a:path h="1029335">
                <a:moveTo>
                  <a:pt x="0" y="0"/>
                </a:moveTo>
                <a:lnTo>
                  <a:pt x="0" y="1029000"/>
                </a:lnTo>
              </a:path>
            </a:pathLst>
          </a:custGeom>
          <a:ln w="19049">
            <a:solidFill>
              <a:srgbClr val="595959"/>
            </a:solidFill>
          </a:ln>
        </p:spPr>
        <p:txBody>
          <a:bodyPr wrap="square" lIns="0" tIns="0" rIns="0" bIns="0" rtlCol="0"/>
          <a:lstStyle/>
          <a:p>
            <a:endParaRPr sz="2400"/>
          </a:p>
        </p:txBody>
      </p:sp>
      <p:sp>
        <p:nvSpPr>
          <p:cNvPr id="36" name="object 36"/>
          <p:cNvSpPr/>
          <p:nvPr/>
        </p:nvSpPr>
        <p:spPr>
          <a:xfrm>
            <a:off x="7614507" y="3128263"/>
            <a:ext cx="2120900" cy="686645"/>
          </a:xfrm>
          <a:custGeom>
            <a:avLst/>
            <a:gdLst/>
            <a:ahLst/>
            <a:cxnLst/>
            <a:rect l="l" t="t" r="r" b="b"/>
            <a:pathLst>
              <a:path w="1590675" h="514985">
                <a:moveTo>
                  <a:pt x="1590600" y="0"/>
                </a:moveTo>
                <a:lnTo>
                  <a:pt x="0" y="514499"/>
                </a:lnTo>
              </a:path>
            </a:pathLst>
          </a:custGeom>
          <a:ln w="19049">
            <a:solidFill>
              <a:srgbClr val="595959"/>
            </a:solidFill>
          </a:ln>
        </p:spPr>
        <p:txBody>
          <a:bodyPr wrap="square" lIns="0" tIns="0" rIns="0" bIns="0" rtlCol="0"/>
          <a:lstStyle/>
          <a:p>
            <a:endParaRPr sz="2400"/>
          </a:p>
        </p:txBody>
      </p:sp>
      <p:sp>
        <p:nvSpPr>
          <p:cNvPr id="37" name="object 37"/>
          <p:cNvSpPr/>
          <p:nvPr/>
        </p:nvSpPr>
        <p:spPr>
          <a:xfrm>
            <a:off x="8941708" y="3128263"/>
            <a:ext cx="794173" cy="1910080"/>
          </a:xfrm>
          <a:custGeom>
            <a:avLst/>
            <a:gdLst/>
            <a:ahLst/>
            <a:cxnLst/>
            <a:rect l="l" t="t" r="r" b="b"/>
            <a:pathLst>
              <a:path w="595629" h="1432560">
                <a:moveTo>
                  <a:pt x="595199" y="0"/>
                </a:moveTo>
                <a:lnTo>
                  <a:pt x="0" y="1432500"/>
                </a:lnTo>
              </a:path>
            </a:pathLst>
          </a:custGeom>
          <a:ln w="19049">
            <a:solidFill>
              <a:srgbClr val="595959"/>
            </a:solidFill>
          </a:ln>
        </p:spPr>
        <p:txBody>
          <a:bodyPr wrap="square" lIns="0" tIns="0" rIns="0" bIns="0" rtlCol="0"/>
          <a:lstStyle/>
          <a:p>
            <a:endParaRPr sz="2400"/>
          </a:p>
        </p:txBody>
      </p:sp>
      <p:sp>
        <p:nvSpPr>
          <p:cNvPr id="38" name="object 38"/>
          <p:cNvSpPr/>
          <p:nvPr/>
        </p:nvSpPr>
        <p:spPr>
          <a:xfrm>
            <a:off x="8148054" y="3128235"/>
            <a:ext cx="2120900" cy="686645"/>
          </a:xfrm>
          <a:custGeom>
            <a:avLst/>
            <a:gdLst/>
            <a:ahLst/>
            <a:cxnLst/>
            <a:rect l="l" t="t" r="r" b="b"/>
            <a:pathLst>
              <a:path w="1590675" h="514985">
                <a:moveTo>
                  <a:pt x="1590599" y="514499"/>
                </a:moveTo>
                <a:lnTo>
                  <a:pt x="0" y="0"/>
                </a:lnTo>
              </a:path>
            </a:pathLst>
          </a:custGeom>
          <a:ln w="19049">
            <a:solidFill>
              <a:srgbClr val="595959"/>
            </a:solidFill>
          </a:ln>
        </p:spPr>
        <p:txBody>
          <a:bodyPr wrap="square" lIns="0" tIns="0" rIns="0" bIns="0" rtlCol="0"/>
          <a:lstStyle/>
          <a:p>
            <a:endParaRPr sz="2400"/>
          </a:p>
        </p:txBody>
      </p:sp>
      <p:sp>
        <p:nvSpPr>
          <p:cNvPr id="39" name="object 39"/>
          <p:cNvSpPr/>
          <p:nvPr/>
        </p:nvSpPr>
        <p:spPr>
          <a:xfrm>
            <a:off x="7614453" y="3814235"/>
            <a:ext cx="2655147" cy="0"/>
          </a:xfrm>
          <a:custGeom>
            <a:avLst/>
            <a:gdLst/>
            <a:ahLst/>
            <a:cxnLst/>
            <a:rect l="l" t="t" r="r" b="b"/>
            <a:pathLst>
              <a:path w="1991359">
                <a:moveTo>
                  <a:pt x="1990799" y="0"/>
                </a:moveTo>
                <a:lnTo>
                  <a:pt x="0" y="0"/>
                </a:lnTo>
              </a:path>
            </a:pathLst>
          </a:custGeom>
          <a:ln w="19049">
            <a:solidFill>
              <a:srgbClr val="595959"/>
            </a:solidFill>
          </a:ln>
        </p:spPr>
        <p:txBody>
          <a:bodyPr wrap="square" lIns="0" tIns="0" rIns="0" bIns="0" rtlCol="0"/>
          <a:lstStyle/>
          <a:p>
            <a:endParaRPr sz="2400"/>
          </a:p>
        </p:txBody>
      </p:sp>
      <p:sp>
        <p:nvSpPr>
          <p:cNvPr id="40" name="object 40"/>
          <p:cNvSpPr/>
          <p:nvPr/>
        </p:nvSpPr>
        <p:spPr>
          <a:xfrm>
            <a:off x="8148054" y="3814235"/>
            <a:ext cx="2120900" cy="686645"/>
          </a:xfrm>
          <a:custGeom>
            <a:avLst/>
            <a:gdLst/>
            <a:ahLst/>
            <a:cxnLst/>
            <a:rect l="l" t="t" r="r" b="b"/>
            <a:pathLst>
              <a:path w="1590675" h="514985">
                <a:moveTo>
                  <a:pt x="1590599" y="0"/>
                </a:moveTo>
                <a:lnTo>
                  <a:pt x="0" y="514499"/>
                </a:lnTo>
              </a:path>
            </a:pathLst>
          </a:custGeom>
          <a:ln w="19049">
            <a:solidFill>
              <a:srgbClr val="595959"/>
            </a:solidFill>
          </a:ln>
        </p:spPr>
        <p:txBody>
          <a:bodyPr wrap="square" lIns="0" tIns="0" rIns="0" bIns="0" rtlCol="0"/>
          <a:lstStyle/>
          <a:p>
            <a:endParaRPr sz="2400"/>
          </a:p>
        </p:txBody>
      </p:sp>
      <p:sp>
        <p:nvSpPr>
          <p:cNvPr id="41" name="object 41"/>
          <p:cNvSpPr/>
          <p:nvPr/>
        </p:nvSpPr>
        <p:spPr>
          <a:xfrm>
            <a:off x="8941654" y="3814235"/>
            <a:ext cx="1327573" cy="1224280"/>
          </a:xfrm>
          <a:custGeom>
            <a:avLst/>
            <a:gdLst/>
            <a:ahLst/>
            <a:cxnLst/>
            <a:rect l="l" t="t" r="r" b="b"/>
            <a:pathLst>
              <a:path w="995679" h="918210">
                <a:moveTo>
                  <a:pt x="995399" y="0"/>
                </a:moveTo>
                <a:lnTo>
                  <a:pt x="0" y="917999"/>
                </a:lnTo>
              </a:path>
            </a:pathLst>
          </a:custGeom>
          <a:ln w="19049">
            <a:solidFill>
              <a:srgbClr val="595959"/>
            </a:solidFill>
          </a:ln>
        </p:spPr>
        <p:txBody>
          <a:bodyPr wrap="square" lIns="0" tIns="0" rIns="0" bIns="0" rtlCol="0"/>
          <a:lstStyle/>
          <a:p>
            <a:endParaRPr sz="2400"/>
          </a:p>
        </p:txBody>
      </p:sp>
      <p:sp>
        <p:nvSpPr>
          <p:cNvPr id="42" name="object 42"/>
          <p:cNvSpPr/>
          <p:nvPr/>
        </p:nvSpPr>
        <p:spPr>
          <a:xfrm>
            <a:off x="8148107" y="3128207"/>
            <a:ext cx="1587500" cy="1372447"/>
          </a:xfrm>
          <a:custGeom>
            <a:avLst/>
            <a:gdLst/>
            <a:ahLst/>
            <a:cxnLst/>
            <a:rect l="l" t="t" r="r" b="b"/>
            <a:pathLst>
              <a:path w="1190625" h="1029335">
                <a:moveTo>
                  <a:pt x="1190400" y="1028999"/>
                </a:moveTo>
                <a:lnTo>
                  <a:pt x="0" y="0"/>
                </a:lnTo>
              </a:path>
            </a:pathLst>
          </a:custGeom>
          <a:ln w="19049">
            <a:solidFill>
              <a:srgbClr val="595959"/>
            </a:solidFill>
          </a:ln>
        </p:spPr>
        <p:txBody>
          <a:bodyPr wrap="square" lIns="0" tIns="0" rIns="0" bIns="0" rtlCol="0"/>
          <a:lstStyle/>
          <a:p>
            <a:endParaRPr sz="2400"/>
          </a:p>
        </p:txBody>
      </p:sp>
      <p:sp>
        <p:nvSpPr>
          <p:cNvPr id="43" name="object 43"/>
          <p:cNvSpPr/>
          <p:nvPr/>
        </p:nvSpPr>
        <p:spPr>
          <a:xfrm>
            <a:off x="7614507" y="3814207"/>
            <a:ext cx="2120900" cy="686645"/>
          </a:xfrm>
          <a:custGeom>
            <a:avLst/>
            <a:gdLst/>
            <a:ahLst/>
            <a:cxnLst/>
            <a:rect l="l" t="t" r="r" b="b"/>
            <a:pathLst>
              <a:path w="1590675" h="514985">
                <a:moveTo>
                  <a:pt x="1590600" y="514499"/>
                </a:moveTo>
                <a:lnTo>
                  <a:pt x="0" y="0"/>
                </a:lnTo>
              </a:path>
            </a:pathLst>
          </a:custGeom>
          <a:ln w="19049">
            <a:solidFill>
              <a:srgbClr val="595959"/>
            </a:solidFill>
          </a:ln>
        </p:spPr>
        <p:txBody>
          <a:bodyPr wrap="square" lIns="0" tIns="0" rIns="0" bIns="0" rtlCol="0"/>
          <a:lstStyle/>
          <a:p>
            <a:endParaRPr sz="2400"/>
          </a:p>
        </p:txBody>
      </p:sp>
      <p:sp>
        <p:nvSpPr>
          <p:cNvPr id="44" name="object 44"/>
          <p:cNvSpPr/>
          <p:nvPr/>
        </p:nvSpPr>
        <p:spPr>
          <a:xfrm>
            <a:off x="8239749" y="4723087"/>
            <a:ext cx="1404620" cy="0"/>
          </a:xfrm>
          <a:custGeom>
            <a:avLst/>
            <a:gdLst/>
            <a:ahLst/>
            <a:cxnLst/>
            <a:rect l="l" t="t" r="r" b="b"/>
            <a:pathLst>
              <a:path w="1053465">
                <a:moveTo>
                  <a:pt x="1052999" y="0"/>
                </a:moveTo>
                <a:lnTo>
                  <a:pt x="0" y="0"/>
                </a:lnTo>
              </a:path>
            </a:pathLst>
          </a:custGeom>
          <a:ln w="19049">
            <a:solidFill>
              <a:srgbClr val="595959"/>
            </a:solidFill>
          </a:ln>
        </p:spPr>
        <p:txBody>
          <a:bodyPr wrap="square" lIns="0" tIns="0" rIns="0" bIns="0" rtlCol="0"/>
          <a:lstStyle/>
          <a:p>
            <a:endParaRPr sz="2400"/>
          </a:p>
        </p:txBody>
      </p:sp>
      <p:sp>
        <p:nvSpPr>
          <p:cNvPr id="45" name="object 45"/>
          <p:cNvSpPr/>
          <p:nvPr/>
        </p:nvSpPr>
        <p:spPr>
          <a:xfrm>
            <a:off x="8148110" y="3128285"/>
            <a:ext cx="794173" cy="1910080"/>
          </a:xfrm>
          <a:custGeom>
            <a:avLst/>
            <a:gdLst/>
            <a:ahLst/>
            <a:cxnLst/>
            <a:rect l="l" t="t" r="r" b="b"/>
            <a:pathLst>
              <a:path w="595629" h="1432560">
                <a:moveTo>
                  <a:pt x="595199" y="1432500"/>
                </a:moveTo>
                <a:lnTo>
                  <a:pt x="0" y="0"/>
                </a:lnTo>
              </a:path>
            </a:pathLst>
          </a:custGeom>
          <a:ln w="19049">
            <a:solidFill>
              <a:srgbClr val="595959"/>
            </a:solidFill>
          </a:ln>
        </p:spPr>
        <p:txBody>
          <a:bodyPr wrap="square" lIns="0" tIns="0" rIns="0" bIns="0" rtlCol="0"/>
          <a:lstStyle/>
          <a:p>
            <a:endParaRPr sz="2400"/>
          </a:p>
        </p:txBody>
      </p:sp>
      <p:sp>
        <p:nvSpPr>
          <p:cNvPr id="46" name="object 46"/>
          <p:cNvSpPr/>
          <p:nvPr/>
        </p:nvSpPr>
        <p:spPr>
          <a:xfrm>
            <a:off x="7614510" y="3814285"/>
            <a:ext cx="1327573" cy="1224280"/>
          </a:xfrm>
          <a:custGeom>
            <a:avLst/>
            <a:gdLst/>
            <a:ahLst/>
            <a:cxnLst/>
            <a:rect l="l" t="t" r="r" b="b"/>
            <a:pathLst>
              <a:path w="995679" h="918210">
                <a:moveTo>
                  <a:pt x="995399" y="918000"/>
                </a:moveTo>
                <a:lnTo>
                  <a:pt x="0" y="0"/>
                </a:lnTo>
              </a:path>
            </a:pathLst>
          </a:custGeom>
          <a:ln w="19049">
            <a:solidFill>
              <a:srgbClr val="595959"/>
            </a:solidFill>
          </a:ln>
        </p:spPr>
        <p:txBody>
          <a:bodyPr wrap="square" lIns="0" tIns="0" rIns="0" bIns="0" rtlCol="0"/>
          <a:lstStyle/>
          <a:p>
            <a:endParaRPr sz="2400"/>
          </a:p>
        </p:txBody>
      </p:sp>
      <p:sp>
        <p:nvSpPr>
          <p:cNvPr id="47" name="object 47"/>
          <p:cNvSpPr/>
          <p:nvPr/>
        </p:nvSpPr>
        <p:spPr>
          <a:xfrm>
            <a:off x="8148112" y="3128207"/>
            <a:ext cx="0" cy="1372447"/>
          </a:xfrm>
          <a:custGeom>
            <a:avLst/>
            <a:gdLst/>
            <a:ahLst/>
            <a:cxnLst/>
            <a:rect l="l" t="t" r="r" b="b"/>
            <a:pathLst>
              <a:path h="1029335">
                <a:moveTo>
                  <a:pt x="0" y="1028999"/>
                </a:moveTo>
                <a:lnTo>
                  <a:pt x="0" y="0"/>
                </a:lnTo>
              </a:path>
            </a:pathLst>
          </a:custGeom>
          <a:ln w="19049">
            <a:solidFill>
              <a:srgbClr val="595959"/>
            </a:solidFill>
          </a:ln>
        </p:spPr>
        <p:txBody>
          <a:bodyPr wrap="square" lIns="0" tIns="0" rIns="0" bIns="0" rtlCol="0"/>
          <a:lstStyle/>
          <a:p>
            <a:endParaRPr sz="2400"/>
          </a:p>
        </p:txBody>
      </p:sp>
    </p:spTree>
    <p:extLst>
      <p:ext uri="{BB962C8B-B14F-4D97-AF65-F5344CB8AC3E}">
        <p14:creationId xmlns:p14="http://schemas.microsoft.com/office/powerpoint/2010/main" val="3025830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57480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solidFill>
                  <a:srgbClr val="000000"/>
                </a:solidFill>
              </a:rPr>
              <a:t>What is </a:t>
            </a:r>
            <a:r>
              <a:rPr sz="3733" dirty="0">
                <a:solidFill>
                  <a:srgbClr val="000000"/>
                </a:solidFill>
              </a:rPr>
              <a:t>collision</a:t>
            </a:r>
            <a:r>
              <a:rPr sz="3733" spc="-127" dirty="0">
                <a:solidFill>
                  <a:srgbClr val="000000"/>
                </a:solidFill>
              </a:rPr>
              <a:t> </a:t>
            </a:r>
            <a:r>
              <a:rPr sz="3733" spc="-7" dirty="0">
                <a:solidFill>
                  <a:srgbClr val="000000"/>
                </a:solidFill>
              </a:rPr>
              <a:t>detection?</a:t>
            </a:r>
            <a:endParaRPr sz="3733"/>
          </a:p>
        </p:txBody>
      </p:sp>
      <p:sp>
        <p:nvSpPr>
          <p:cNvPr id="3" name="object 3"/>
          <p:cNvSpPr txBox="1"/>
          <p:nvPr/>
        </p:nvSpPr>
        <p:spPr>
          <a:xfrm>
            <a:off x="674658" y="1578798"/>
            <a:ext cx="2860887" cy="1027824"/>
          </a:xfrm>
          <a:prstGeom prst="rect">
            <a:avLst/>
          </a:prstGeom>
        </p:spPr>
        <p:txBody>
          <a:bodyPr vert="horz" wrap="square" lIns="0" tIns="62653" rIns="0" bIns="0" rtlCol="0">
            <a:spAutoFit/>
          </a:bodyPr>
          <a:lstStyle/>
          <a:p>
            <a:pPr marL="464808" indent="-447875">
              <a:spcBef>
                <a:spcPts val="493"/>
              </a:spcBef>
              <a:buChar char="●"/>
              <a:tabLst>
                <a:tab pos="463962" algn="l"/>
                <a:tab pos="465655" algn="l"/>
              </a:tabLst>
            </a:pPr>
            <a:r>
              <a:rPr sz="1867" spc="-7" dirty="0">
                <a:solidFill>
                  <a:srgbClr val="595959"/>
                </a:solidFill>
                <a:latin typeface="Arial"/>
                <a:cs typeface="Arial"/>
              </a:rPr>
              <a:t>Geometric</a:t>
            </a:r>
            <a:r>
              <a:rPr sz="1867" spc="-100" dirty="0">
                <a:solidFill>
                  <a:srgbClr val="595959"/>
                </a:solidFill>
                <a:latin typeface="Arial"/>
                <a:cs typeface="Arial"/>
              </a:rPr>
              <a:t> </a:t>
            </a:r>
            <a:r>
              <a:rPr sz="1867" spc="-7" dirty="0">
                <a:solidFill>
                  <a:srgbClr val="595959"/>
                </a:solidFill>
                <a:latin typeface="Arial"/>
                <a:cs typeface="Arial"/>
              </a:rPr>
              <a:t>Intersection</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Pairwise</a:t>
            </a:r>
            <a:r>
              <a:rPr sz="1867" spc="-27" dirty="0">
                <a:solidFill>
                  <a:srgbClr val="595959"/>
                </a:solidFill>
                <a:latin typeface="Arial"/>
                <a:cs typeface="Arial"/>
              </a:rPr>
              <a:t> </a:t>
            </a:r>
            <a:r>
              <a:rPr sz="1867" dirty="0">
                <a:solidFill>
                  <a:srgbClr val="595959"/>
                </a:solidFill>
                <a:latin typeface="Arial"/>
                <a:cs typeface="Arial"/>
              </a:rPr>
              <a:t>reduction</a:t>
            </a:r>
            <a:endParaRPr sz="1867">
              <a:latin typeface="Arial"/>
              <a:cs typeface="Arial"/>
            </a:endParaRPr>
          </a:p>
          <a:p>
            <a:pPr marL="464808" indent="-447875">
              <a:spcBef>
                <a:spcPts val="360"/>
              </a:spcBef>
              <a:buChar char="●"/>
              <a:tabLst>
                <a:tab pos="463962" algn="l"/>
                <a:tab pos="465655" algn="l"/>
              </a:tabLst>
            </a:pPr>
            <a:r>
              <a:rPr sz="1867" b="1" spc="-7" dirty="0">
                <a:solidFill>
                  <a:srgbClr val="595959"/>
                </a:solidFill>
                <a:latin typeface="Arial"/>
                <a:cs typeface="Arial"/>
              </a:rPr>
              <a:t>Collision</a:t>
            </a:r>
            <a:r>
              <a:rPr sz="1867" b="1" spc="-40" dirty="0">
                <a:solidFill>
                  <a:srgbClr val="595959"/>
                </a:solidFill>
                <a:latin typeface="Arial"/>
                <a:cs typeface="Arial"/>
              </a:rPr>
              <a:t> </a:t>
            </a:r>
            <a:r>
              <a:rPr sz="1867" b="1" spc="-7" dirty="0">
                <a:solidFill>
                  <a:srgbClr val="595959"/>
                </a:solidFill>
                <a:latin typeface="Arial"/>
                <a:cs typeface="Arial"/>
              </a:rPr>
              <a:t>resolution</a:t>
            </a:r>
            <a:endParaRPr sz="1867">
              <a:latin typeface="Arial"/>
              <a:cs typeface="Arial"/>
            </a:endParaRPr>
          </a:p>
        </p:txBody>
      </p:sp>
      <p:sp>
        <p:nvSpPr>
          <p:cNvPr id="4" name="object 4"/>
          <p:cNvSpPr/>
          <p:nvPr/>
        </p:nvSpPr>
        <p:spPr>
          <a:xfrm>
            <a:off x="6526849" y="1966367"/>
            <a:ext cx="4457699" cy="3695699"/>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75740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Intersection Testing"/>
          <p:cNvSpPr txBox="1">
            <a:spLocks noGrp="1"/>
          </p:cNvSpPr>
          <p:nvPr>
            <p:ph type="title"/>
          </p:nvPr>
        </p:nvSpPr>
        <p:spPr>
          <a:prstGeom prst="rect">
            <a:avLst/>
          </a:prstGeom>
        </p:spPr>
        <p:txBody>
          <a:bodyPr/>
          <a:lstStyle/>
          <a:p>
            <a:r>
              <a:rPr dirty="0"/>
              <a:t>Intersection Testing</a:t>
            </a:r>
          </a:p>
        </p:txBody>
      </p:sp>
      <p:sp>
        <p:nvSpPr>
          <p:cNvPr id="96" name="General goals: given two objects with current and previous transforms specified, determine if, where, and when the two objects intersect…"/>
          <p:cNvSpPr txBox="1">
            <a:spLocks noGrp="1"/>
          </p:cNvSpPr>
          <p:nvPr>
            <p:ph type="body" idx="1"/>
          </p:nvPr>
        </p:nvSpPr>
        <p:spPr>
          <a:xfrm>
            <a:off x="838200" y="1535906"/>
            <a:ext cx="7358063" cy="5206008"/>
          </a:xfrm>
          <a:prstGeom prst="rect">
            <a:avLst/>
          </a:prstGeom>
        </p:spPr>
        <p:txBody>
          <a:bodyPr>
            <a:normAutofit fontScale="77500" lnSpcReduction="20000"/>
          </a:bodyPr>
          <a:lstStyle/>
          <a:p>
            <a:pPr marL="577220" indent="-353986">
              <a:defRPr sz="3700"/>
            </a:pPr>
            <a:r>
              <a:rPr dirty="0"/>
              <a:t> General goals: given two objects with current and previous transforms specified, determine if, where, and when the two objects intersect</a:t>
            </a:r>
          </a:p>
          <a:p>
            <a:pPr marL="577220" indent="-353986">
              <a:defRPr sz="3700"/>
            </a:pPr>
            <a:r>
              <a:rPr dirty="0"/>
              <a:t>Alternative: given two objects with only current transforms, determine if they intersect</a:t>
            </a:r>
          </a:p>
          <a:p>
            <a:pPr marL="577220" indent="-353986">
              <a:defRPr sz="3700"/>
            </a:pPr>
            <a:r>
              <a:rPr dirty="0"/>
              <a:t>Sometimes, we need to find all intersections. </a:t>
            </a:r>
          </a:p>
          <a:p>
            <a:pPr marL="577220" indent="-353986">
              <a:defRPr sz="3700"/>
            </a:pPr>
            <a:r>
              <a:rPr dirty="0"/>
              <a:t>Other times, we just want the first one. </a:t>
            </a:r>
          </a:p>
          <a:p>
            <a:pPr marL="577220" indent="-353986">
              <a:defRPr sz="3700"/>
            </a:pPr>
            <a:r>
              <a:rPr dirty="0"/>
              <a:t>Sometimes, we just need to know if the two objects intersect and don’t need the actual intersection data</a:t>
            </a:r>
          </a:p>
        </p:txBody>
      </p:sp>
    </p:spTree>
    <p:extLst>
      <p:ext uri="{BB962C8B-B14F-4D97-AF65-F5344CB8AC3E}">
        <p14:creationId xmlns:p14="http://schemas.microsoft.com/office/powerpoint/2010/main" val="54659266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9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9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9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9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9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build="p" bldLvl="5"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ase Reduction"/>
          <p:cNvSpPr txBox="1">
            <a:spLocks noGrp="1"/>
          </p:cNvSpPr>
          <p:nvPr>
            <p:ph type="title"/>
          </p:nvPr>
        </p:nvSpPr>
        <p:spPr>
          <a:prstGeom prst="rect">
            <a:avLst/>
          </a:prstGeom>
        </p:spPr>
        <p:txBody>
          <a:bodyPr/>
          <a:lstStyle/>
          <a:p>
            <a:r>
              <a:t>Case Reduction</a:t>
            </a:r>
          </a:p>
        </p:txBody>
      </p:sp>
      <p:sp>
        <p:nvSpPr>
          <p:cNvPr id="99" name="Phases (Havok)…"/>
          <p:cNvSpPr txBox="1">
            <a:spLocks noGrp="1"/>
          </p:cNvSpPr>
          <p:nvPr>
            <p:ph type="body" idx="1"/>
          </p:nvPr>
        </p:nvSpPr>
        <p:spPr>
          <a:xfrm>
            <a:off x="2248971" y="1946672"/>
            <a:ext cx="7694058" cy="4820716"/>
          </a:xfrm>
          <a:prstGeom prst="rect">
            <a:avLst/>
          </a:prstGeom>
        </p:spPr>
        <p:txBody>
          <a:bodyPr>
            <a:normAutofit fontScale="85000" lnSpcReduction="20000"/>
          </a:bodyPr>
          <a:lstStyle/>
          <a:p>
            <a:pPr>
              <a:spcBef>
                <a:spcPts val="844"/>
              </a:spcBef>
              <a:defRPr sz="3800"/>
            </a:pPr>
            <a:r>
              <a:rPr dirty="0"/>
              <a:t>Phases (</a:t>
            </a:r>
            <a:r>
              <a:rPr dirty="0" err="1"/>
              <a:t>Havok</a:t>
            </a:r>
            <a:r>
              <a:rPr dirty="0"/>
              <a:t>)</a:t>
            </a:r>
          </a:p>
          <a:p>
            <a:pPr>
              <a:spcBef>
                <a:spcPts val="844"/>
              </a:spcBef>
              <a:defRPr sz="3800"/>
            </a:pPr>
            <a:r>
              <a:rPr dirty="0"/>
              <a:t>System operates in multiple phases of different granularities: </a:t>
            </a:r>
          </a:p>
          <a:p>
            <a:pPr>
              <a:spcBef>
                <a:spcPts val="844"/>
              </a:spcBef>
              <a:defRPr sz="3800"/>
            </a:pPr>
            <a:r>
              <a:rPr dirty="0"/>
              <a:t>Broad phase</a:t>
            </a:r>
          </a:p>
          <a:p>
            <a:pPr lvl="1">
              <a:spcBef>
                <a:spcPts val="844"/>
              </a:spcBef>
              <a:defRPr sz="3800"/>
            </a:pPr>
            <a:r>
              <a:rPr dirty="0"/>
              <a:t>Simplistic, large bounding shapes for fast rejection.</a:t>
            </a:r>
          </a:p>
          <a:p>
            <a:pPr>
              <a:spcBef>
                <a:spcPts val="844"/>
              </a:spcBef>
              <a:defRPr sz="3800"/>
            </a:pPr>
            <a:r>
              <a:rPr dirty="0"/>
              <a:t>Mid phase </a:t>
            </a:r>
          </a:p>
          <a:p>
            <a:pPr lvl="1">
              <a:spcBef>
                <a:spcPts val="844"/>
              </a:spcBef>
              <a:defRPr sz="3800"/>
            </a:pPr>
            <a:r>
              <a:rPr dirty="0"/>
              <a:t>Further refined bounding shapes</a:t>
            </a:r>
          </a:p>
          <a:p>
            <a:pPr>
              <a:spcBef>
                <a:spcPts val="844"/>
              </a:spcBef>
              <a:defRPr sz="3800"/>
            </a:pPr>
            <a:r>
              <a:rPr dirty="0"/>
              <a:t>Narrow phase </a:t>
            </a:r>
          </a:p>
          <a:p>
            <a:pPr lvl="1">
              <a:spcBef>
                <a:spcPts val="844"/>
              </a:spcBef>
              <a:defRPr sz="3800"/>
            </a:pPr>
            <a:r>
              <a:rPr dirty="0"/>
              <a:t>Close convex hull intersection, such as GJK</a:t>
            </a:r>
          </a:p>
        </p:txBody>
      </p:sp>
    </p:spTree>
    <p:extLst>
      <p:ext uri="{BB962C8B-B14F-4D97-AF65-F5344CB8AC3E}">
        <p14:creationId xmlns:p14="http://schemas.microsoft.com/office/powerpoint/2010/main" val="1880851455"/>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Case Reduction"/>
          <p:cNvSpPr txBox="1">
            <a:spLocks noGrp="1"/>
          </p:cNvSpPr>
          <p:nvPr>
            <p:ph type="title"/>
          </p:nvPr>
        </p:nvSpPr>
        <p:spPr>
          <a:prstGeom prst="rect">
            <a:avLst/>
          </a:prstGeom>
        </p:spPr>
        <p:txBody>
          <a:bodyPr/>
          <a:lstStyle/>
          <a:p>
            <a:r>
              <a:t>Case Reduction</a:t>
            </a:r>
          </a:p>
        </p:txBody>
      </p:sp>
      <p:sp>
        <p:nvSpPr>
          <p:cNvPr id="102" name="Space Partitioning (UE4)…"/>
          <p:cNvSpPr txBox="1">
            <a:spLocks noGrp="1"/>
          </p:cNvSpPr>
          <p:nvPr>
            <p:ph type="body" idx="1"/>
          </p:nvPr>
        </p:nvSpPr>
        <p:spPr>
          <a:xfrm>
            <a:off x="2248971" y="1946672"/>
            <a:ext cx="7694058" cy="4820716"/>
          </a:xfrm>
          <a:prstGeom prst="rect">
            <a:avLst/>
          </a:prstGeom>
        </p:spPr>
        <p:txBody>
          <a:bodyPr>
            <a:normAutofit fontScale="92500" lnSpcReduction="10000"/>
          </a:bodyPr>
          <a:lstStyle/>
          <a:p>
            <a:pPr>
              <a:spcBef>
                <a:spcPts val="1266"/>
              </a:spcBef>
              <a:defRPr sz="3800"/>
            </a:pPr>
            <a:r>
              <a:rPr dirty="0"/>
              <a:t>Space Partitioning (UE4)</a:t>
            </a:r>
          </a:p>
          <a:p>
            <a:pPr>
              <a:spcBef>
                <a:spcPts val="1266"/>
              </a:spcBef>
              <a:defRPr sz="3800"/>
            </a:pPr>
            <a:r>
              <a:rPr dirty="0"/>
              <a:t>In lieu of a broad phase, a system may instead opt for a space partitioning system to bucket objects into different subspaces. </a:t>
            </a:r>
          </a:p>
          <a:p>
            <a:pPr lvl="1">
              <a:spcBef>
                <a:spcPts val="1266"/>
              </a:spcBef>
              <a:defRPr sz="3800"/>
            </a:pPr>
            <a:r>
              <a:rPr dirty="0"/>
              <a:t>Divide world space into partitions</a:t>
            </a:r>
          </a:p>
          <a:p>
            <a:pPr lvl="2">
              <a:spcBef>
                <a:spcPts val="1266"/>
              </a:spcBef>
              <a:defRPr sz="3800"/>
            </a:pPr>
            <a:r>
              <a:rPr dirty="0"/>
              <a:t>Octrees or BSP </a:t>
            </a:r>
          </a:p>
          <a:p>
            <a:pPr lvl="1">
              <a:spcBef>
                <a:spcPts val="1266"/>
              </a:spcBef>
              <a:defRPr sz="3800"/>
            </a:pPr>
            <a:r>
              <a:rPr dirty="0"/>
              <a:t>Bucket objects into partitions</a:t>
            </a:r>
          </a:p>
          <a:p>
            <a:pPr lvl="1">
              <a:spcBef>
                <a:spcPts val="1266"/>
              </a:spcBef>
              <a:defRPr sz="3800"/>
            </a:pPr>
            <a:r>
              <a:rPr dirty="0"/>
              <a:t>Perform tests within partitions. </a:t>
            </a:r>
          </a:p>
        </p:txBody>
      </p:sp>
    </p:spTree>
    <p:extLst>
      <p:ext uri="{BB962C8B-B14F-4D97-AF65-F5344CB8AC3E}">
        <p14:creationId xmlns:p14="http://schemas.microsoft.com/office/powerpoint/2010/main" val="755397571"/>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ase Reduction"/>
          <p:cNvSpPr txBox="1">
            <a:spLocks noGrp="1"/>
          </p:cNvSpPr>
          <p:nvPr>
            <p:ph type="title"/>
          </p:nvPr>
        </p:nvSpPr>
        <p:spPr>
          <a:prstGeom prst="rect">
            <a:avLst/>
          </a:prstGeom>
        </p:spPr>
        <p:txBody>
          <a:bodyPr/>
          <a:lstStyle/>
          <a:p>
            <a:r>
              <a:t>Case Reduction</a:t>
            </a:r>
          </a:p>
        </p:txBody>
      </p:sp>
      <p:sp>
        <p:nvSpPr>
          <p:cNvPr id="109" name="Filtering (everyone)…"/>
          <p:cNvSpPr txBox="1">
            <a:spLocks noGrp="1"/>
          </p:cNvSpPr>
          <p:nvPr>
            <p:ph type="body" idx="1"/>
          </p:nvPr>
        </p:nvSpPr>
        <p:spPr>
          <a:xfrm>
            <a:off x="2248971" y="1946672"/>
            <a:ext cx="7694058" cy="4820716"/>
          </a:xfrm>
          <a:prstGeom prst="rect">
            <a:avLst/>
          </a:prstGeom>
        </p:spPr>
        <p:txBody>
          <a:bodyPr/>
          <a:lstStyle/>
          <a:p>
            <a:pPr>
              <a:spcBef>
                <a:spcPts val="1266"/>
              </a:spcBef>
              <a:defRPr sz="3800"/>
            </a:pPr>
            <a:r>
              <a:t>Filtering (everyone)</a:t>
            </a:r>
          </a:p>
          <a:p>
            <a:pPr>
              <a:spcBef>
                <a:spcPts val="1266"/>
              </a:spcBef>
              <a:defRPr sz="3800"/>
            </a:pPr>
            <a:r>
              <a:t>Objects only need to intersect with certain other objects</a:t>
            </a:r>
          </a:p>
          <a:p>
            <a:pPr lvl="1">
              <a:spcBef>
                <a:spcPts val="1266"/>
              </a:spcBef>
              <a:defRPr sz="3800"/>
            </a:pPr>
            <a:r>
              <a:t>Assignable collider types</a:t>
            </a:r>
          </a:p>
          <a:p>
            <a:pPr lvl="1">
              <a:spcBef>
                <a:spcPts val="1266"/>
              </a:spcBef>
              <a:defRPr sz="3800"/>
            </a:pPr>
            <a:r>
              <a:t>Layers (Bitmasks)</a:t>
            </a:r>
          </a:p>
        </p:txBody>
      </p:sp>
    </p:spTree>
    <p:extLst>
      <p:ext uri="{BB962C8B-B14F-4D97-AF65-F5344CB8AC3E}">
        <p14:creationId xmlns:p14="http://schemas.microsoft.com/office/powerpoint/2010/main" val="2021726519"/>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79128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solidFill>
                  <a:srgbClr val="000000"/>
                </a:solidFill>
              </a:rPr>
              <a:t>Geometric</a:t>
            </a:r>
            <a:r>
              <a:rPr sz="3733" spc="-127" dirty="0">
                <a:solidFill>
                  <a:srgbClr val="000000"/>
                </a:solidFill>
              </a:rPr>
              <a:t> </a:t>
            </a:r>
            <a:r>
              <a:rPr sz="3733" spc="-7" dirty="0">
                <a:solidFill>
                  <a:srgbClr val="000000"/>
                </a:solidFill>
              </a:rPr>
              <a:t>Intersection</a:t>
            </a:r>
            <a:endParaRPr sz="3733"/>
          </a:p>
        </p:txBody>
      </p:sp>
      <p:sp>
        <p:nvSpPr>
          <p:cNvPr id="3" name="object 3"/>
          <p:cNvSpPr txBox="1"/>
          <p:nvPr/>
        </p:nvSpPr>
        <p:spPr>
          <a:xfrm>
            <a:off x="633666" y="1549744"/>
            <a:ext cx="7890087" cy="2642005"/>
          </a:xfrm>
          <a:prstGeom prst="rect">
            <a:avLst/>
          </a:prstGeom>
        </p:spPr>
        <p:txBody>
          <a:bodyPr vert="horz" wrap="square" lIns="0" tIns="88900" rIns="0" bIns="0" rtlCol="0">
            <a:spAutoFit/>
          </a:bodyPr>
          <a:lstStyle/>
          <a:p>
            <a:pPr marL="505447" indent="-488514">
              <a:spcBef>
                <a:spcPts val="700"/>
              </a:spcBef>
              <a:buChar char="●"/>
              <a:tabLst>
                <a:tab pos="505447" algn="l"/>
                <a:tab pos="506294" algn="l"/>
              </a:tabLst>
            </a:pPr>
            <a:r>
              <a:rPr sz="2400" spc="-7" dirty="0">
                <a:solidFill>
                  <a:srgbClr val="595959"/>
                </a:solidFill>
                <a:latin typeface="Arial"/>
                <a:cs typeface="Arial"/>
              </a:rPr>
              <a:t>Intersection testing is</a:t>
            </a:r>
            <a:r>
              <a:rPr sz="2400" spc="-20" dirty="0">
                <a:solidFill>
                  <a:srgbClr val="595959"/>
                </a:solidFill>
                <a:latin typeface="Arial"/>
                <a:cs typeface="Arial"/>
              </a:rPr>
              <a:t> </a:t>
            </a:r>
            <a:r>
              <a:rPr sz="2400" dirty="0">
                <a:solidFill>
                  <a:srgbClr val="595959"/>
                </a:solidFill>
                <a:latin typeface="Arial"/>
                <a:cs typeface="Arial"/>
              </a:rPr>
              <a:t>costly</a:t>
            </a:r>
            <a:endParaRPr sz="2400">
              <a:latin typeface="Arial"/>
              <a:cs typeface="Arial"/>
            </a:endParaRPr>
          </a:p>
          <a:p>
            <a:pPr marL="1115031" lvl="1" indent="-447875">
              <a:spcBef>
                <a:spcPts val="440"/>
              </a:spcBef>
              <a:buChar char="○"/>
              <a:tabLst>
                <a:tab pos="1115031" algn="l"/>
                <a:tab pos="1115879" algn="l"/>
              </a:tabLst>
            </a:pPr>
            <a:r>
              <a:rPr sz="1867" spc="-7" dirty="0">
                <a:solidFill>
                  <a:srgbClr val="595959"/>
                </a:solidFill>
                <a:latin typeface="Arial"/>
                <a:cs typeface="Arial"/>
              </a:rPr>
              <a:t>Triangle-to-triangle test </a:t>
            </a:r>
            <a:r>
              <a:rPr sz="1867" dirty="0">
                <a:solidFill>
                  <a:srgbClr val="595959"/>
                </a:solidFill>
                <a:latin typeface="Arial"/>
                <a:cs typeface="Arial"/>
              </a:rPr>
              <a:t>several </a:t>
            </a:r>
            <a:r>
              <a:rPr sz="1867" spc="-7" dirty="0">
                <a:solidFill>
                  <a:srgbClr val="595959"/>
                </a:solidFill>
                <a:latin typeface="Arial"/>
                <a:cs typeface="Arial"/>
              </a:rPr>
              <a:t>times </a:t>
            </a:r>
            <a:r>
              <a:rPr sz="1867" dirty="0">
                <a:solidFill>
                  <a:srgbClr val="595959"/>
                </a:solidFill>
                <a:latin typeface="Arial"/>
                <a:cs typeface="Arial"/>
              </a:rPr>
              <a:t>costlier </a:t>
            </a:r>
            <a:r>
              <a:rPr sz="1867" spc="-7" dirty="0">
                <a:solidFill>
                  <a:srgbClr val="595959"/>
                </a:solidFill>
                <a:latin typeface="Arial"/>
                <a:cs typeface="Arial"/>
              </a:rPr>
              <a:t>than</a:t>
            </a:r>
            <a:r>
              <a:rPr sz="1867" spc="-120" dirty="0">
                <a:solidFill>
                  <a:srgbClr val="595959"/>
                </a:solidFill>
                <a:latin typeface="Arial"/>
                <a:cs typeface="Arial"/>
              </a:rPr>
              <a:t> </a:t>
            </a:r>
            <a:r>
              <a:rPr sz="1867" dirty="0">
                <a:solidFill>
                  <a:srgbClr val="595959"/>
                </a:solidFill>
                <a:latin typeface="Arial"/>
                <a:cs typeface="Arial"/>
              </a:rPr>
              <a:t>circle-to-circle</a:t>
            </a:r>
            <a:endParaRPr sz="1867">
              <a:latin typeface="Arial"/>
              <a:cs typeface="Arial"/>
            </a:endParaRPr>
          </a:p>
          <a:p>
            <a:pPr marL="1115031" lvl="1" indent="-447875">
              <a:spcBef>
                <a:spcPts val="360"/>
              </a:spcBef>
              <a:buChar char="○"/>
              <a:tabLst>
                <a:tab pos="1115031" algn="l"/>
                <a:tab pos="1115879" algn="l"/>
              </a:tabLst>
            </a:pPr>
            <a:r>
              <a:rPr sz="1867" spc="-7" dirty="0">
                <a:solidFill>
                  <a:srgbClr val="595959"/>
                </a:solidFill>
                <a:latin typeface="Arial"/>
                <a:cs typeface="Arial"/>
              </a:rPr>
              <a:t>Thousands of triangles </a:t>
            </a:r>
            <a:r>
              <a:rPr sz="1867" dirty="0">
                <a:solidFill>
                  <a:srgbClr val="595959"/>
                </a:solidFill>
                <a:latin typeface="Arial"/>
                <a:cs typeface="Arial"/>
              </a:rPr>
              <a:t>means </a:t>
            </a:r>
            <a:r>
              <a:rPr sz="1867" spc="-7" dirty="0">
                <a:solidFill>
                  <a:srgbClr val="595959"/>
                </a:solidFill>
                <a:latin typeface="Arial"/>
                <a:cs typeface="Arial"/>
              </a:rPr>
              <a:t>thousands of times the</a:t>
            </a:r>
            <a:r>
              <a:rPr sz="1867" spc="-53" dirty="0">
                <a:solidFill>
                  <a:srgbClr val="595959"/>
                </a:solidFill>
                <a:latin typeface="Arial"/>
                <a:cs typeface="Arial"/>
              </a:rPr>
              <a:t> </a:t>
            </a:r>
            <a:r>
              <a:rPr sz="1867" dirty="0">
                <a:solidFill>
                  <a:srgbClr val="595959"/>
                </a:solidFill>
                <a:latin typeface="Arial"/>
                <a:cs typeface="Arial"/>
              </a:rPr>
              <a:t>cost</a:t>
            </a:r>
            <a:endParaRPr sz="1867">
              <a:latin typeface="Arial"/>
              <a:cs typeface="Arial"/>
            </a:endParaRPr>
          </a:p>
          <a:p>
            <a:pPr marL="505447" indent="-488514">
              <a:spcBef>
                <a:spcPts val="339"/>
              </a:spcBef>
              <a:buChar char="●"/>
              <a:tabLst>
                <a:tab pos="505447" algn="l"/>
                <a:tab pos="506294" algn="l"/>
              </a:tabLst>
            </a:pPr>
            <a:r>
              <a:rPr sz="2400" spc="-7" dirty="0">
                <a:solidFill>
                  <a:srgbClr val="595959"/>
                </a:solidFill>
                <a:latin typeface="Arial"/>
                <a:cs typeface="Arial"/>
              </a:rPr>
              <a:t>Approximate bounds with </a:t>
            </a:r>
            <a:r>
              <a:rPr sz="2400" dirty="0">
                <a:solidFill>
                  <a:srgbClr val="595959"/>
                </a:solidFill>
                <a:latin typeface="Arial"/>
                <a:cs typeface="Arial"/>
              </a:rPr>
              <a:t>simpler</a:t>
            </a:r>
            <a:r>
              <a:rPr sz="2400" spc="-33" dirty="0">
                <a:solidFill>
                  <a:srgbClr val="595959"/>
                </a:solidFill>
                <a:latin typeface="Arial"/>
                <a:cs typeface="Arial"/>
              </a:rPr>
              <a:t> </a:t>
            </a:r>
            <a:r>
              <a:rPr sz="2400" dirty="0">
                <a:solidFill>
                  <a:srgbClr val="595959"/>
                </a:solidFill>
                <a:latin typeface="Arial"/>
                <a:cs typeface="Arial"/>
              </a:rPr>
              <a:t>shapes</a:t>
            </a:r>
            <a:endParaRPr sz="2400">
              <a:latin typeface="Arial"/>
              <a:cs typeface="Arial"/>
            </a:endParaRPr>
          </a:p>
          <a:p>
            <a:pPr marL="505447" indent="-488514">
              <a:spcBef>
                <a:spcPts val="420"/>
              </a:spcBef>
              <a:buChar char="●"/>
              <a:tabLst>
                <a:tab pos="505447" algn="l"/>
                <a:tab pos="506294" algn="l"/>
              </a:tabLst>
            </a:pPr>
            <a:r>
              <a:rPr sz="2400" spc="-7" dirty="0">
                <a:solidFill>
                  <a:srgbClr val="595959"/>
                </a:solidFill>
                <a:latin typeface="Arial"/>
                <a:cs typeface="Arial"/>
              </a:rPr>
              <a:t>There are</a:t>
            </a:r>
            <a:r>
              <a:rPr sz="2400" spc="-13" dirty="0">
                <a:solidFill>
                  <a:srgbClr val="595959"/>
                </a:solidFill>
                <a:latin typeface="Arial"/>
                <a:cs typeface="Arial"/>
              </a:rPr>
              <a:t> </a:t>
            </a:r>
            <a:r>
              <a:rPr sz="2400" spc="-7" dirty="0">
                <a:solidFill>
                  <a:srgbClr val="595959"/>
                </a:solidFill>
                <a:latin typeface="Arial"/>
                <a:cs typeface="Arial"/>
              </a:rPr>
              <a:t>trade-offs</a:t>
            </a:r>
            <a:endParaRPr sz="2400">
              <a:latin typeface="Arial"/>
              <a:cs typeface="Arial"/>
            </a:endParaRPr>
          </a:p>
          <a:p>
            <a:pPr marL="1115031" lvl="1" indent="-447875">
              <a:spcBef>
                <a:spcPts val="440"/>
              </a:spcBef>
              <a:buChar char="○"/>
              <a:tabLst>
                <a:tab pos="1115031" algn="l"/>
                <a:tab pos="1115879" algn="l"/>
              </a:tabLst>
            </a:pPr>
            <a:r>
              <a:rPr sz="1867" spc="-7" dirty="0">
                <a:solidFill>
                  <a:srgbClr val="595959"/>
                </a:solidFill>
                <a:latin typeface="Arial"/>
                <a:cs typeface="Arial"/>
              </a:rPr>
              <a:t>Accuracy</a:t>
            </a:r>
            <a:endParaRPr sz="1867">
              <a:latin typeface="Arial"/>
              <a:cs typeface="Arial"/>
            </a:endParaRPr>
          </a:p>
          <a:p>
            <a:pPr marL="1115031" lvl="1" indent="-447875">
              <a:spcBef>
                <a:spcPts val="360"/>
              </a:spcBef>
              <a:buChar char="○"/>
              <a:tabLst>
                <a:tab pos="1115031" algn="l"/>
                <a:tab pos="1115879" algn="l"/>
              </a:tabLst>
            </a:pPr>
            <a:r>
              <a:rPr sz="1867" spc="-7" dirty="0">
                <a:solidFill>
                  <a:srgbClr val="595959"/>
                </a:solidFill>
                <a:latin typeface="Arial"/>
                <a:cs typeface="Arial"/>
              </a:rPr>
              <a:t>Complexity</a:t>
            </a:r>
            <a:endParaRPr sz="1867">
              <a:latin typeface="Arial"/>
              <a:cs typeface="Arial"/>
            </a:endParaRPr>
          </a:p>
        </p:txBody>
      </p:sp>
    </p:spTree>
    <p:extLst>
      <p:ext uri="{BB962C8B-B14F-4D97-AF65-F5344CB8AC3E}">
        <p14:creationId xmlns:p14="http://schemas.microsoft.com/office/powerpoint/2010/main" val="4006510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967" y="671767"/>
            <a:ext cx="3424767" cy="591551"/>
          </a:xfrm>
          <a:prstGeom prst="rect">
            <a:avLst/>
          </a:prstGeom>
        </p:spPr>
        <p:txBody>
          <a:bodyPr vert="horz" wrap="square" lIns="0" tIns="16933" rIns="0" bIns="0" rtlCol="0">
            <a:spAutoFit/>
          </a:bodyPr>
          <a:lstStyle/>
          <a:p>
            <a:pPr marL="16933">
              <a:spcBef>
                <a:spcPts val="133"/>
              </a:spcBef>
            </a:pPr>
            <a:r>
              <a:rPr sz="3733" spc="-13" dirty="0">
                <a:latin typeface="Arial"/>
                <a:cs typeface="Arial"/>
              </a:rPr>
              <a:t>Shapes:</a:t>
            </a:r>
            <a:r>
              <a:rPr sz="3733" spc="-120" dirty="0">
                <a:latin typeface="Arial"/>
                <a:cs typeface="Arial"/>
              </a:rPr>
              <a:t> </a:t>
            </a:r>
            <a:r>
              <a:rPr sz="3733" spc="-7" dirty="0">
                <a:latin typeface="Arial"/>
                <a:cs typeface="Arial"/>
              </a:rPr>
              <a:t>Sphere</a:t>
            </a:r>
            <a:endParaRPr sz="3733">
              <a:latin typeface="Arial"/>
              <a:cs typeface="Arial"/>
            </a:endParaRPr>
          </a:p>
        </p:txBody>
      </p:sp>
      <p:sp>
        <p:nvSpPr>
          <p:cNvPr id="3" name="object 3"/>
          <p:cNvSpPr/>
          <p:nvPr/>
        </p:nvSpPr>
        <p:spPr>
          <a:xfrm>
            <a:off x="1731900" y="3371033"/>
            <a:ext cx="2299733" cy="1149867"/>
          </a:xfrm>
          <a:prstGeom prst="rect">
            <a:avLst/>
          </a:prstGeom>
          <a:blipFill>
            <a:blip r:embed="rId2" cstate="print"/>
            <a:stretch>
              <a:fillRect/>
            </a:stretch>
          </a:blipFill>
        </p:spPr>
        <p:txBody>
          <a:bodyPr wrap="square" lIns="0" tIns="0" rIns="0" bIns="0" rtlCol="0"/>
          <a:lstStyle/>
          <a:p>
            <a:endParaRPr sz="2400"/>
          </a:p>
        </p:txBody>
      </p:sp>
      <p:sp>
        <p:nvSpPr>
          <p:cNvPr id="4" name="object 4"/>
          <p:cNvSpPr/>
          <p:nvPr/>
        </p:nvSpPr>
        <p:spPr>
          <a:xfrm>
            <a:off x="1731900" y="2796100"/>
            <a:ext cx="2300393" cy="2300393"/>
          </a:xfrm>
          <a:custGeom>
            <a:avLst/>
            <a:gdLst/>
            <a:ahLst/>
            <a:cxnLst/>
            <a:rect l="l" t="t" r="r" b="b"/>
            <a:pathLst>
              <a:path w="1725295" h="1725295">
                <a:moveTo>
                  <a:pt x="0" y="862349"/>
                </a:moveTo>
                <a:lnTo>
                  <a:pt x="1365" y="813415"/>
                </a:lnTo>
                <a:lnTo>
                  <a:pt x="5411" y="765196"/>
                </a:lnTo>
                <a:lnTo>
                  <a:pt x="12067" y="717766"/>
                </a:lnTo>
                <a:lnTo>
                  <a:pt x="21259" y="671199"/>
                </a:lnTo>
                <a:lnTo>
                  <a:pt x="32914" y="625565"/>
                </a:lnTo>
                <a:lnTo>
                  <a:pt x="46960" y="580939"/>
                </a:lnTo>
                <a:lnTo>
                  <a:pt x="63323" y="537393"/>
                </a:lnTo>
                <a:lnTo>
                  <a:pt x="81931" y="495000"/>
                </a:lnTo>
                <a:lnTo>
                  <a:pt x="102711" y="453833"/>
                </a:lnTo>
                <a:lnTo>
                  <a:pt x="125591" y="413964"/>
                </a:lnTo>
                <a:lnTo>
                  <a:pt x="150497" y="375467"/>
                </a:lnTo>
                <a:lnTo>
                  <a:pt x="177357" y="338413"/>
                </a:lnTo>
                <a:lnTo>
                  <a:pt x="206097" y="302877"/>
                </a:lnTo>
                <a:lnTo>
                  <a:pt x="236646" y="268930"/>
                </a:lnTo>
                <a:lnTo>
                  <a:pt x="268930" y="236646"/>
                </a:lnTo>
                <a:lnTo>
                  <a:pt x="302877" y="206097"/>
                </a:lnTo>
                <a:lnTo>
                  <a:pt x="338413" y="177357"/>
                </a:lnTo>
                <a:lnTo>
                  <a:pt x="375467" y="150497"/>
                </a:lnTo>
                <a:lnTo>
                  <a:pt x="413964" y="125591"/>
                </a:lnTo>
                <a:lnTo>
                  <a:pt x="453833" y="102711"/>
                </a:lnTo>
                <a:lnTo>
                  <a:pt x="495000" y="81931"/>
                </a:lnTo>
                <a:lnTo>
                  <a:pt x="537393" y="63323"/>
                </a:lnTo>
                <a:lnTo>
                  <a:pt x="580939" y="46960"/>
                </a:lnTo>
                <a:lnTo>
                  <a:pt x="625565" y="32914"/>
                </a:lnTo>
                <a:lnTo>
                  <a:pt x="671199" y="21259"/>
                </a:lnTo>
                <a:lnTo>
                  <a:pt x="717766" y="12067"/>
                </a:lnTo>
                <a:lnTo>
                  <a:pt x="765196" y="5411"/>
                </a:lnTo>
                <a:lnTo>
                  <a:pt x="813415" y="1365"/>
                </a:lnTo>
                <a:lnTo>
                  <a:pt x="862349" y="0"/>
                </a:lnTo>
                <a:lnTo>
                  <a:pt x="911198" y="1383"/>
                </a:lnTo>
                <a:lnTo>
                  <a:pt x="959654" y="5504"/>
                </a:lnTo>
                <a:lnTo>
                  <a:pt x="1007612" y="12319"/>
                </a:lnTo>
                <a:lnTo>
                  <a:pt x="1054967" y="21783"/>
                </a:lnTo>
                <a:lnTo>
                  <a:pt x="1101613" y="33855"/>
                </a:lnTo>
                <a:lnTo>
                  <a:pt x="1147445" y="48489"/>
                </a:lnTo>
                <a:lnTo>
                  <a:pt x="1192357" y="65642"/>
                </a:lnTo>
                <a:lnTo>
                  <a:pt x="1236243" y="85270"/>
                </a:lnTo>
                <a:lnTo>
                  <a:pt x="1278999" y="107331"/>
                </a:lnTo>
                <a:lnTo>
                  <a:pt x="1320519" y="131779"/>
                </a:lnTo>
                <a:lnTo>
                  <a:pt x="1360696" y="158571"/>
                </a:lnTo>
                <a:lnTo>
                  <a:pt x="1399426" y="187664"/>
                </a:lnTo>
                <a:lnTo>
                  <a:pt x="1436604" y="219013"/>
                </a:lnTo>
                <a:lnTo>
                  <a:pt x="1472123" y="252576"/>
                </a:lnTo>
                <a:lnTo>
                  <a:pt x="1505686" y="288095"/>
                </a:lnTo>
                <a:lnTo>
                  <a:pt x="1537035" y="325273"/>
                </a:lnTo>
                <a:lnTo>
                  <a:pt x="1566128" y="364003"/>
                </a:lnTo>
                <a:lnTo>
                  <a:pt x="1592920" y="404180"/>
                </a:lnTo>
                <a:lnTo>
                  <a:pt x="1617368" y="445700"/>
                </a:lnTo>
                <a:lnTo>
                  <a:pt x="1639429" y="488456"/>
                </a:lnTo>
                <a:lnTo>
                  <a:pt x="1659057" y="532342"/>
                </a:lnTo>
                <a:lnTo>
                  <a:pt x="1676210" y="577254"/>
                </a:lnTo>
                <a:lnTo>
                  <a:pt x="1690844" y="623086"/>
                </a:lnTo>
                <a:lnTo>
                  <a:pt x="1702916" y="669732"/>
                </a:lnTo>
                <a:lnTo>
                  <a:pt x="1712380" y="717087"/>
                </a:lnTo>
                <a:lnTo>
                  <a:pt x="1719195" y="765045"/>
                </a:lnTo>
                <a:lnTo>
                  <a:pt x="1723316" y="813501"/>
                </a:lnTo>
                <a:lnTo>
                  <a:pt x="1724699" y="862349"/>
                </a:lnTo>
                <a:lnTo>
                  <a:pt x="1723334" y="911284"/>
                </a:lnTo>
                <a:lnTo>
                  <a:pt x="1719288" y="959503"/>
                </a:lnTo>
                <a:lnTo>
                  <a:pt x="1712632" y="1006933"/>
                </a:lnTo>
                <a:lnTo>
                  <a:pt x="1703440" y="1053501"/>
                </a:lnTo>
                <a:lnTo>
                  <a:pt x="1691785" y="1099134"/>
                </a:lnTo>
                <a:lnTo>
                  <a:pt x="1677739" y="1143760"/>
                </a:lnTo>
                <a:lnTo>
                  <a:pt x="1661376" y="1187306"/>
                </a:lnTo>
                <a:lnTo>
                  <a:pt x="1642768" y="1229699"/>
                </a:lnTo>
                <a:lnTo>
                  <a:pt x="1621988" y="1270866"/>
                </a:lnTo>
                <a:lnTo>
                  <a:pt x="1599108" y="1310735"/>
                </a:lnTo>
                <a:lnTo>
                  <a:pt x="1574202" y="1349232"/>
                </a:lnTo>
                <a:lnTo>
                  <a:pt x="1547342" y="1386286"/>
                </a:lnTo>
                <a:lnTo>
                  <a:pt x="1518602" y="1421822"/>
                </a:lnTo>
                <a:lnTo>
                  <a:pt x="1488053" y="1455769"/>
                </a:lnTo>
                <a:lnTo>
                  <a:pt x="1455769" y="1488053"/>
                </a:lnTo>
                <a:lnTo>
                  <a:pt x="1421822" y="1518602"/>
                </a:lnTo>
                <a:lnTo>
                  <a:pt x="1386286" y="1547342"/>
                </a:lnTo>
                <a:lnTo>
                  <a:pt x="1349232" y="1574202"/>
                </a:lnTo>
                <a:lnTo>
                  <a:pt x="1310735" y="1599108"/>
                </a:lnTo>
                <a:lnTo>
                  <a:pt x="1270866" y="1621988"/>
                </a:lnTo>
                <a:lnTo>
                  <a:pt x="1229699" y="1642768"/>
                </a:lnTo>
                <a:lnTo>
                  <a:pt x="1187306" y="1661376"/>
                </a:lnTo>
                <a:lnTo>
                  <a:pt x="1143760" y="1677739"/>
                </a:lnTo>
                <a:lnTo>
                  <a:pt x="1099134" y="1691785"/>
                </a:lnTo>
                <a:lnTo>
                  <a:pt x="1053500" y="1703440"/>
                </a:lnTo>
                <a:lnTo>
                  <a:pt x="1006933" y="1712632"/>
                </a:lnTo>
                <a:lnTo>
                  <a:pt x="959503" y="1719288"/>
                </a:lnTo>
                <a:lnTo>
                  <a:pt x="911284" y="1723334"/>
                </a:lnTo>
                <a:lnTo>
                  <a:pt x="862349" y="1724699"/>
                </a:lnTo>
                <a:lnTo>
                  <a:pt x="813415" y="1723334"/>
                </a:lnTo>
                <a:lnTo>
                  <a:pt x="765196" y="1719288"/>
                </a:lnTo>
                <a:lnTo>
                  <a:pt x="717766" y="1712632"/>
                </a:lnTo>
                <a:lnTo>
                  <a:pt x="671199" y="1703440"/>
                </a:lnTo>
                <a:lnTo>
                  <a:pt x="625565" y="1691785"/>
                </a:lnTo>
                <a:lnTo>
                  <a:pt x="580939" y="1677739"/>
                </a:lnTo>
                <a:lnTo>
                  <a:pt x="537393" y="1661376"/>
                </a:lnTo>
                <a:lnTo>
                  <a:pt x="495000" y="1642768"/>
                </a:lnTo>
                <a:lnTo>
                  <a:pt x="453833" y="1621988"/>
                </a:lnTo>
                <a:lnTo>
                  <a:pt x="413964" y="1599108"/>
                </a:lnTo>
                <a:lnTo>
                  <a:pt x="375467" y="1574202"/>
                </a:lnTo>
                <a:lnTo>
                  <a:pt x="338413" y="1547342"/>
                </a:lnTo>
                <a:lnTo>
                  <a:pt x="302877" y="1518602"/>
                </a:lnTo>
                <a:lnTo>
                  <a:pt x="268930" y="1488053"/>
                </a:lnTo>
                <a:lnTo>
                  <a:pt x="236646" y="1455769"/>
                </a:lnTo>
                <a:lnTo>
                  <a:pt x="206097" y="1421822"/>
                </a:lnTo>
                <a:lnTo>
                  <a:pt x="177357" y="1386286"/>
                </a:lnTo>
                <a:lnTo>
                  <a:pt x="150497" y="1349232"/>
                </a:lnTo>
                <a:lnTo>
                  <a:pt x="125591" y="1310735"/>
                </a:lnTo>
                <a:lnTo>
                  <a:pt x="102711" y="1270866"/>
                </a:lnTo>
                <a:lnTo>
                  <a:pt x="81931" y="1229699"/>
                </a:lnTo>
                <a:lnTo>
                  <a:pt x="63323" y="1187306"/>
                </a:lnTo>
                <a:lnTo>
                  <a:pt x="46960" y="1143760"/>
                </a:lnTo>
                <a:lnTo>
                  <a:pt x="32914" y="1099134"/>
                </a:lnTo>
                <a:lnTo>
                  <a:pt x="21259" y="1053501"/>
                </a:lnTo>
                <a:lnTo>
                  <a:pt x="12067" y="1006933"/>
                </a:lnTo>
                <a:lnTo>
                  <a:pt x="5411" y="959503"/>
                </a:lnTo>
                <a:lnTo>
                  <a:pt x="1365" y="911284"/>
                </a:lnTo>
                <a:lnTo>
                  <a:pt x="0" y="862349"/>
                </a:lnTo>
                <a:close/>
              </a:path>
            </a:pathLst>
          </a:custGeom>
          <a:ln w="19049">
            <a:solidFill>
              <a:srgbClr val="FF0000"/>
            </a:solidFill>
          </a:ln>
        </p:spPr>
        <p:txBody>
          <a:bodyPr wrap="square" lIns="0" tIns="0" rIns="0" bIns="0" rtlCol="0"/>
          <a:lstStyle/>
          <a:p>
            <a:endParaRPr sz="2400"/>
          </a:p>
        </p:txBody>
      </p:sp>
      <p:sp>
        <p:nvSpPr>
          <p:cNvPr id="5" name="object 5"/>
          <p:cNvSpPr txBox="1"/>
          <p:nvPr/>
        </p:nvSpPr>
        <p:spPr>
          <a:xfrm>
            <a:off x="5905821" y="2361616"/>
            <a:ext cx="4108027" cy="755762"/>
          </a:xfrm>
          <a:prstGeom prst="rect">
            <a:avLst/>
          </a:prstGeom>
        </p:spPr>
        <p:txBody>
          <a:bodyPr vert="horz" wrap="square" lIns="0" tIns="16933" rIns="0" bIns="0" rtlCol="0">
            <a:spAutoFit/>
          </a:bodyPr>
          <a:lstStyle/>
          <a:p>
            <a:pPr marL="16933">
              <a:spcBef>
                <a:spcPts val="133"/>
              </a:spcBef>
            </a:pPr>
            <a:r>
              <a:rPr sz="4800" dirty="0">
                <a:latin typeface="Cambria"/>
                <a:cs typeface="Cambria"/>
              </a:rPr>
              <a:t>|</a:t>
            </a:r>
            <a:r>
              <a:rPr sz="4800" i="1" dirty="0">
                <a:latin typeface="Cambria"/>
                <a:cs typeface="Cambria"/>
              </a:rPr>
              <a:t>C</a:t>
            </a:r>
            <a:r>
              <a:rPr sz="4800" i="1" baseline="-31250" dirty="0">
                <a:latin typeface="Cambria"/>
                <a:cs typeface="Cambria"/>
              </a:rPr>
              <a:t>1 </a:t>
            </a:r>
            <a:r>
              <a:rPr sz="4800" i="1" dirty="0">
                <a:latin typeface="Cambria"/>
                <a:cs typeface="Cambria"/>
              </a:rPr>
              <a:t>- C</a:t>
            </a:r>
            <a:r>
              <a:rPr sz="4800" i="1" baseline="-31250" dirty="0">
                <a:latin typeface="Cambria"/>
                <a:cs typeface="Cambria"/>
              </a:rPr>
              <a:t>2</a:t>
            </a:r>
            <a:r>
              <a:rPr sz="4800" dirty="0">
                <a:latin typeface="Cambria"/>
                <a:cs typeface="Cambria"/>
              </a:rPr>
              <a:t>| &lt; </a:t>
            </a:r>
            <a:r>
              <a:rPr sz="4800" i="1" dirty="0">
                <a:latin typeface="Cambria"/>
                <a:cs typeface="Cambria"/>
              </a:rPr>
              <a:t>r</a:t>
            </a:r>
            <a:r>
              <a:rPr sz="4800" i="1" baseline="-31250" dirty="0">
                <a:latin typeface="Cambria"/>
                <a:cs typeface="Cambria"/>
              </a:rPr>
              <a:t>1 </a:t>
            </a:r>
            <a:r>
              <a:rPr sz="4800" dirty="0">
                <a:latin typeface="Cambria"/>
                <a:cs typeface="Cambria"/>
              </a:rPr>
              <a:t>+</a:t>
            </a:r>
            <a:r>
              <a:rPr sz="4800" spc="540" dirty="0">
                <a:latin typeface="Cambria"/>
                <a:cs typeface="Cambria"/>
              </a:rPr>
              <a:t> </a:t>
            </a:r>
            <a:r>
              <a:rPr sz="4800" i="1" dirty="0">
                <a:latin typeface="Cambria"/>
                <a:cs typeface="Cambria"/>
              </a:rPr>
              <a:t>r</a:t>
            </a:r>
            <a:r>
              <a:rPr sz="4800" i="1" baseline="-31250" dirty="0">
                <a:latin typeface="Cambria"/>
                <a:cs typeface="Cambria"/>
              </a:rPr>
              <a:t>2</a:t>
            </a:r>
            <a:endParaRPr sz="4800" baseline="-31250">
              <a:latin typeface="Cambria"/>
              <a:cs typeface="Cambria"/>
            </a:endParaRPr>
          </a:p>
        </p:txBody>
      </p:sp>
      <p:sp>
        <p:nvSpPr>
          <p:cNvPr id="6" name="object 6"/>
          <p:cNvSpPr/>
          <p:nvPr/>
        </p:nvSpPr>
        <p:spPr>
          <a:xfrm>
            <a:off x="6033416" y="4051432"/>
            <a:ext cx="1623907" cy="1623907"/>
          </a:xfrm>
          <a:custGeom>
            <a:avLst/>
            <a:gdLst/>
            <a:ahLst/>
            <a:cxnLst/>
            <a:rect l="l" t="t" r="r" b="b"/>
            <a:pathLst>
              <a:path w="1217929" h="1217929">
                <a:moveTo>
                  <a:pt x="608849" y="1217699"/>
                </a:moveTo>
                <a:lnTo>
                  <a:pt x="561268" y="1215868"/>
                </a:lnTo>
                <a:lnTo>
                  <a:pt x="514689" y="1210463"/>
                </a:lnTo>
                <a:lnTo>
                  <a:pt x="469246" y="1201619"/>
                </a:lnTo>
                <a:lnTo>
                  <a:pt x="425075" y="1189473"/>
                </a:lnTo>
                <a:lnTo>
                  <a:pt x="382313" y="1174160"/>
                </a:lnTo>
                <a:lnTo>
                  <a:pt x="341093" y="1155815"/>
                </a:lnTo>
                <a:lnTo>
                  <a:pt x="301551" y="1134574"/>
                </a:lnTo>
                <a:lnTo>
                  <a:pt x="263824" y="1110571"/>
                </a:lnTo>
                <a:lnTo>
                  <a:pt x="228045" y="1083942"/>
                </a:lnTo>
                <a:lnTo>
                  <a:pt x="194351" y="1054823"/>
                </a:lnTo>
                <a:lnTo>
                  <a:pt x="162876" y="1023348"/>
                </a:lnTo>
                <a:lnTo>
                  <a:pt x="133757" y="989654"/>
                </a:lnTo>
                <a:lnTo>
                  <a:pt x="107128" y="953875"/>
                </a:lnTo>
                <a:lnTo>
                  <a:pt x="83125" y="916148"/>
                </a:lnTo>
                <a:lnTo>
                  <a:pt x="61884" y="876606"/>
                </a:lnTo>
                <a:lnTo>
                  <a:pt x="43539" y="835386"/>
                </a:lnTo>
                <a:lnTo>
                  <a:pt x="28226" y="792624"/>
                </a:lnTo>
                <a:lnTo>
                  <a:pt x="16080" y="748453"/>
                </a:lnTo>
                <a:lnTo>
                  <a:pt x="7236" y="703010"/>
                </a:lnTo>
                <a:lnTo>
                  <a:pt x="1831" y="656431"/>
                </a:lnTo>
                <a:lnTo>
                  <a:pt x="0" y="608849"/>
                </a:lnTo>
                <a:lnTo>
                  <a:pt x="1831" y="561268"/>
                </a:lnTo>
                <a:lnTo>
                  <a:pt x="7236" y="514689"/>
                </a:lnTo>
                <a:lnTo>
                  <a:pt x="16080" y="469246"/>
                </a:lnTo>
                <a:lnTo>
                  <a:pt x="28226" y="425075"/>
                </a:lnTo>
                <a:lnTo>
                  <a:pt x="43539" y="382313"/>
                </a:lnTo>
                <a:lnTo>
                  <a:pt x="61884" y="341093"/>
                </a:lnTo>
                <a:lnTo>
                  <a:pt x="83125" y="301551"/>
                </a:lnTo>
                <a:lnTo>
                  <a:pt x="107128" y="263824"/>
                </a:lnTo>
                <a:lnTo>
                  <a:pt x="133757" y="228045"/>
                </a:lnTo>
                <a:lnTo>
                  <a:pt x="162876" y="194351"/>
                </a:lnTo>
                <a:lnTo>
                  <a:pt x="194351" y="162876"/>
                </a:lnTo>
                <a:lnTo>
                  <a:pt x="228045" y="133757"/>
                </a:lnTo>
                <a:lnTo>
                  <a:pt x="263824" y="107128"/>
                </a:lnTo>
                <a:lnTo>
                  <a:pt x="301551" y="83125"/>
                </a:lnTo>
                <a:lnTo>
                  <a:pt x="341093" y="61884"/>
                </a:lnTo>
                <a:lnTo>
                  <a:pt x="382313" y="43539"/>
                </a:lnTo>
                <a:lnTo>
                  <a:pt x="425075" y="28226"/>
                </a:lnTo>
                <a:lnTo>
                  <a:pt x="469246" y="16080"/>
                </a:lnTo>
                <a:lnTo>
                  <a:pt x="514689" y="7236"/>
                </a:lnTo>
                <a:lnTo>
                  <a:pt x="561268" y="1831"/>
                </a:lnTo>
                <a:lnTo>
                  <a:pt x="608849" y="0"/>
                </a:lnTo>
                <a:lnTo>
                  <a:pt x="657060" y="1910"/>
                </a:lnTo>
                <a:lnTo>
                  <a:pt x="704670" y="7584"/>
                </a:lnTo>
                <a:lnTo>
                  <a:pt x="751473" y="16938"/>
                </a:lnTo>
                <a:lnTo>
                  <a:pt x="797267" y="29887"/>
                </a:lnTo>
                <a:lnTo>
                  <a:pt x="841846" y="46345"/>
                </a:lnTo>
                <a:lnTo>
                  <a:pt x="885007" y="66230"/>
                </a:lnTo>
                <a:lnTo>
                  <a:pt x="926544" y="89455"/>
                </a:lnTo>
                <a:lnTo>
                  <a:pt x="966253" y="115936"/>
                </a:lnTo>
                <a:lnTo>
                  <a:pt x="1003931" y="145588"/>
                </a:lnTo>
                <a:lnTo>
                  <a:pt x="1039371" y="178328"/>
                </a:lnTo>
                <a:lnTo>
                  <a:pt x="1072111" y="213768"/>
                </a:lnTo>
                <a:lnTo>
                  <a:pt x="1101763" y="251446"/>
                </a:lnTo>
                <a:lnTo>
                  <a:pt x="1128244" y="291155"/>
                </a:lnTo>
                <a:lnTo>
                  <a:pt x="1151469" y="332692"/>
                </a:lnTo>
                <a:lnTo>
                  <a:pt x="1171354" y="375853"/>
                </a:lnTo>
                <a:lnTo>
                  <a:pt x="1187812" y="420432"/>
                </a:lnTo>
                <a:lnTo>
                  <a:pt x="1200761" y="466226"/>
                </a:lnTo>
                <a:lnTo>
                  <a:pt x="1210115" y="513029"/>
                </a:lnTo>
                <a:lnTo>
                  <a:pt x="1215789" y="560639"/>
                </a:lnTo>
                <a:lnTo>
                  <a:pt x="1217699" y="608849"/>
                </a:lnTo>
                <a:lnTo>
                  <a:pt x="1215868" y="656431"/>
                </a:lnTo>
                <a:lnTo>
                  <a:pt x="1210463" y="703010"/>
                </a:lnTo>
                <a:lnTo>
                  <a:pt x="1201619" y="748453"/>
                </a:lnTo>
                <a:lnTo>
                  <a:pt x="1189473" y="792624"/>
                </a:lnTo>
                <a:lnTo>
                  <a:pt x="1174160" y="835386"/>
                </a:lnTo>
                <a:lnTo>
                  <a:pt x="1155815" y="876606"/>
                </a:lnTo>
                <a:lnTo>
                  <a:pt x="1134574" y="916148"/>
                </a:lnTo>
                <a:lnTo>
                  <a:pt x="1110571" y="953875"/>
                </a:lnTo>
                <a:lnTo>
                  <a:pt x="1083942" y="989654"/>
                </a:lnTo>
                <a:lnTo>
                  <a:pt x="1054823" y="1023348"/>
                </a:lnTo>
                <a:lnTo>
                  <a:pt x="1023348" y="1054823"/>
                </a:lnTo>
                <a:lnTo>
                  <a:pt x="989654" y="1083942"/>
                </a:lnTo>
                <a:lnTo>
                  <a:pt x="953875" y="1110571"/>
                </a:lnTo>
                <a:lnTo>
                  <a:pt x="916148" y="1134574"/>
                </a:lnTo>
                <a:lnTo>
                  <a:pt x="876606" y="1155815"/>
                </a:lnTo>
                <a:lnTo>
                  <a:pt x="835386" y="1174160"/>
                </a:lnTo>
                <a:lnTo>
                  <a:pt x="792624" y="1189473"/>
                </a:lnTo>
                <a:lnTo>
                  <a:pt x="748453" y="1201619"/>
                </a:lnTo>
                <a:lnTo>
                  <a:pt x="703010" y="1210463"/>
                </a:lnTo>
                <a:lnTo>
                  <a:pt x="656431" y="1215868"/>
                </a:lnTo>
                <a:lnTo>
                  <a:pt x="608849" y="1217699"/>
                </a:lnTo>
                <a:close/>
              </a:path>
            </a:pathLst>
          </a:custGeom>
          <a:solidFill>
            <a:srgbClr val="EEEEEE"/>
          </a:solidFill>
        </p:spPr>
        <p:txBody>
          <a:bodyPr wrap="square" lIns="0" tIns="0" rIns="0" bIns="0" rtlCol="0"/>
          <a:lstStyle/>
          <a:p>
            <a:endParaRPr sz="2400"/>
          </a:p>
        </p:txBody>
      </p:sp>
      <p:sp>
        <p:nvSpPr>
          <p:cNvPr id="7" name="object 7"/>
          <p:cNvSpPr/>
          <p:nvPr/>
        </p:nvSpPr>
        <p:spPr>
          <a:xfrm>
            <a:off x="6033416" y="4051432"/>
            <a:ext cx="1623907" cy="1623907"/>
          </a:xfrm>
          <a:custGeom>
            <a:avLst/>
            <a:gdLst/>
            <a:ahLst/>
            <a:cxnLst/>
            <a:rect l="l" t="t" r="r" b="b"/>
            <a:pathLst>
              <a:path w="1217929" h="1217929">
                <a:moveTo>
                  <a:pt x="0" y="608849"/>
                </a:moveTo>
                <a:lnTo>
                  <a:pt x="1831" y="561268"/>
                </a:lnTo>
                <a:lnTo>
                  <a:pt x="7236" y="514689"/>
                </a:lnTo>
                <a:lnTo>
                  <a:pt x="16080" y="469246"/>
                </a:lnTo>
                <a:lnTo>
                  <a:pt x="28226" y="425075"/>
                </a:lnTo>
                <a:lnTo>
                  <a:pt x="43539" y="382313"/>
                </a:lnTo>
                <a:lnTo>
                  <a:pt x="61884" y="341093"/>
                </a:lnTo>
                <a:lnTo>
                  <a:pt x="83125" y="301551"/>
                </a:lnTo>
                <a:lnTo>
                  <a:pt x="107128" y="263824"/>
                </a:lnTo>
                <a:lnTo>
                  <a:pt x="133757" y="228045"/>
                </a:lnTo>
                <a:lnTo>
                  <a:pt x="162876" y="194351"/>
                </a:lnTo>
                <a:lnTo>
                  <a:pt x="194351" y="162876"/>
                </a:lnTo>
                <a:lnTo>
                  <a:pt x="228045" y="133757"/>
                </a:lnTo>
                <a:lnTo>
                  <a:pt x="263824" y="107128"/>
                </a:lnTo>
                <a:lnTo>
                  <a:pt x="301551" y="83125"/>
                </a:lnTo>
                <a:lnTo>
                  <a:pt x="341093" y="61884"/>
                </a:lnTo>
                <a:lnTo>
                  <a:pt x="382313" y="43539"/>
                </a:lnTo>
                <a:lnTo>
                  <a:pt x="425075" y="28226"/>
                </a:lnTo>
                <a:lnTo>
                  <a:pt x="469246" y="16080"/>
                </a:lnTo>
                <a:lnTo>
                  <a:pt x="514689" y="7236"/>
                </a:lnTo>
                <a:lnTo>
                  <a:pt x="561268" y="1831"/>
                </a:lnTo>
                <a:lnTo>
                  <a:pt x="608849" y="0"/>
                </a:lnTo>
                <a:lnTo>
                  <a:pt x="657060" y="1910"/>
                </a:lnTo>
                <a:lnTo>
                  <a:pt x="704670" y="7584"/>
                </a:lnTo>
                <a:lnTo>
                  <a:pt x="751473" y="16938"/>
                </a:lnTo>
                <a:lnTo>
                  <a:pt x="797267" y="29887"/>
                </a:lnTo>
                <a:lnTo>
                  <a:pt x="841846" y="46345"/>
                </a:lnTo>
                <a:lnTo>
                  <a:pt x="885007" y="66230"/>
                </a:lnTo>
                <a:lnTo>
                  <a:pt x="926544" y="89455"/>
                </a:lnTo>
                <a:lnTo>
                  <a:pt x="966253" y="115936"/>
                </a:lnTo>
                <a:lnTo>
                  <a:pt x="1003931" y="145588"/>
                </a:lnTo>
                <a:lnTo>
                  <a:pt x="1039371" y="178328"/>
                </a:lnTo>
                <a:lnTo>
                  <a:pt x="1072111" y="213768"/>
                </a:lnTo>
                <a:lnTo>
                  <a:pt x="1101763" y="251446"/>
                </a:lnTo>
                <a:lnTo>
                  <a:pt x="1128244" y="291155"/>
                </a:lnTo>
                <a:lnTo>
                  <a:pt x="1151469" y="332692"/>
                </a:lnTo>
                <a:lnTo>
                  <a:pt x="1171354" y="375853"/>
                </a:lnTo>
                <a:lnTo>
                  <a:pt x="1187812" y="420432"/>
                </a:lnTo>
                <a:lnTo>
                  <a:pt x="1200761" y="466226"/>
                </a:lnTo>
                <a:lnTo>
                  <a:pt x="1210115" y="513029"/>
                </a:lnTo>
                <a:lnTo>
                  <a:pt x="1215789" y="560639"/>
                </a:lnTo>
                <a:lnTo>
                  <a:pt x="1217699" y="608849"/>
                </a:lnTo>
                <a:lnTo>
                  <a:pt x="1215868" y="656431"/>
                </a:lnTo>
                <a:lnTo>
                  <a:pt x="1210463" y="703010"/>
                </a:lnTo>
                <a:lnTo>
                  <a:pt x="1201619" y="748453"/>
                </a:lnTo>
                <a:lnTo>
                  <a:pt x="1189473" y="792624"/>
                </a:lnTo>
                <a:lnTo>
                  <a:pt x="1174160" y="835386"/>
                </a:lnTo>
                <a:lnTo>
                  <a:pt x="1155815" y="876606"/>
                </a:lnTo>
                <a:lnTo>
                  <a:pt x="1134574" y="916148"/>
                </a:lnTo>
                <a:lnTo>
                  <a:pt x="1110571" y="953875"/>
                </a:lnTo>
                <a:lnTo>
                  <a:pt x="1083942" y="989654"/>
                </a:lnTo>
                <a:lnTo>
                  <a:pt x="1054823" y="1023348"/>
                </a:lnTo>
                <a:lnTo>
                  <a:pt x="1023348" y="1054823"/>
                </a:lnTo>
                <a:lnTo>
                  <a:pt x="989654" y="1083942"/>
                </a:lnTo>
                <a:lnTo>
                  <a:pt x="953875" y="1110571"/>
                </a:lnTo>
                <a:lnTo>
                  <a:pt x="916148" y="1134574"/>
                </a:lnTo>
                <a:lnTo>
                  <a:pt x="876606" y="1155815"/>
                </a:lnTo>
                <a:lnTo>
                  <a:pt x="835386" y="1174160"/>
                </a:lnTo>
                <a:lnTo>
                  <a:pt x="792624" y="1189473"/>
                </a:lnTo>
                <a:lnTo>
                  <a:pt x="748453" y="1201619"/>
                </a:lnTo>
                <a:lnTo>
                  <a:pt x="703010" y="1210463"/>
                </a:lnTo>
                <a:lnTo>
                  <a:pt x="656431" y="1215868"/>
                </a:lnTo>
                <a:lnTo>
                  <a:pt x="608849" y="1217699"/>
                </a:lnTo>
                <a:lnTo>
                  <a:pt x="561268" y="1215868"/>
                </a:lnTo>
                <a:lnTo>
                  <a:pt x="514689" y="1210463"/>
                </a:lnTo>
                <a:lnTo>
                  <a:pt x="469246" y="1201619"/>
                </a:lnTo>
                <a:lnTo>
                  <a:pt x="425075" y="1189473"/>
                </a:lnTo>
                <a:lnTo>
                  <a:pt x="382313" y="1174160"/>
                </a:lnTo>
                <a:lnTo>
                  <a:pt x="341093" y="1155815"/>
                </a:lnTo>
                <a:lnTo>
                  <a:pt x="301551" y="1134574"/>
                </a:lnTo>
                <a:lnTo>
                  <a:pt x="263824" y="1110571"/>
                </a:lnTo>
                <a:lnTo>
                  <a:pt x="228045" y="1083942"/>
                </a:lnTo>
                <a:lnTo>
                  <a:pt x="194351" y="1054823"/>
                </a:lnTo>
                <a:lnTo>
                  <a:pt x="162876" y="1023348"/>
                </a:lnTo>
                <a:lnTo>
                  <a:pt x="133757" y="989654"/>
                </a:lnTo>
                <a:lnTo>
                  <a:pt x="107128" y="953875"/>
                </a:lnTo>
                <a:lnTo>
                  <a:pt x="83125" y="916148"/>
                </a:lnTo>
                <a:lnTo>
                  <a:pt x="61884" y="876606"/>
                </a:lnTo>
                <a:lnTo>
                  <a:pt x="43539" y="835386"/>
                </a:lnTo>
                <a:lnTo>
                  <a:pt x="28226" y="792624"/>
                </a:lnTo>
                <a:lnTo>
                  <a:pt x="16080" y="748453"/>
                </a:lnTo>
                <a:lnTo>
                  <a:pt x="7236" y="703010"/>
                </a:lnTo>
                <a:lnTo>
                  <a:pt x="1831" y="656431"/>
                </a:lnTo>
                <a:lnTo>
                  <a:pt x="0" y="608849"/>
                </a:lnTo>
                <a:close/>
              </a:path>
            </a:pathLst>
          </a:custGeom>
          <a:ln w="9524">
            <a:solidFill>
              <a:srgbClr val="666666"/>
            </a:solidFill>
          </a:ln>
        </p:spPr>
        <p:txBody>
          <a:bodyPr wrap="square" lIns="0" tIns="0" rIns="0" bIns="0" rtlCol="0"/>
          <a:lstStyle/>
          <a:p>
            <a:endParaRPr sz="2400"/>
          </a:p>
        </p:txBody>
      </p:sp>
      <p:sp>
        <p:nvSpPr>
          <p:cNvPr id="8" name="object 8"/>
          <p:cNvSpPr/>
          <p:nvPr/>
        </p:nvSpPr>
        <p:spPr>
          <a:xfrm>
            <a:off x="8262316" y="4051432"/>
            <a:ext cx="1623907" cy="1623907"/>
          </a:xfrm>
          <a:custGeom>
            <a:avLst/>
            <a:gdLst/>
            <a:ahLst/>
            <a:cxnLst/>
            <a:rect l="l" t="t" r="r" b="b"/>
            <a:pathLst>
              <a:path w="1217929" h="1217929">
                <a:moveTo>
                  <a:pt x="608849" y="1217699"/>
                </a:moveTo>
                <a:lnTo>
                  <a:pt x="561268" y="1215868"/>
                </a:lnTo>
                <a:lnTo>
                  <a:pt x="514689" y="1210463"/>
                </a:lnTo>
                <a:lnTo>
                  <a:pt x="469246" y="1201619"/>
                </a:lnTo>
                <a:lnTo>
                  <a:pt x="425075" y="1189473"/>
                </a:lnTo>
                <a:lnTo>
                  <a:pt x="382313" y="1174160"/>
                </a:lnTo>
                <a:lnTo>
                  <a:pt x="341093" y="1155815"/>
                </a:lnTo>
                <a:lnTo>
                  <a:pt x="301551" y="1134574"/>
                </a:lnTo>
                <a:lnTo>
                  <a:pt x="263824" y="1110571"/>
                </a:lnTo>
                <a:lnTo>
                  <a:pt x="228045" y="1083942"/>
                </a:lnTo>
                <a:lnTo>
                  <a:pt x="194351" y="1054823"/>
                </a:lnTo>
                <a:lnTo>
                  <a:pt x="162876" y="1023348"/>
                </a:lnTo>
                <a:lnTo>
                  <a:pt x="133757" y="989654"/>
                </a:lnTo>
                <a:lnTo>
                  <a:pt x="107128" y="953875"/>
                </a:lnTo>
                <a:lnTo>
                  <a:pt x="83125" y="916148"/>
                </a:lnTo>
                <a:lnTo>
                  <a:pt x="61884" y="876606"/>
                </a:lnTo>
                <a:lnTo>
                  <a:pt x="43539" y="835386"/>
                </a:lnTo>
                <a:lnTo>
                  <a:pt x="28226" y="792624"/>
                </a:lnTo>
                <a:lnTo>
                  <a:pt x="16080" y="748453"/>
                </a:lnTo>
                <a:lnTo>
                  <a:pt x="7236" y="703010"/>
                </a:lnTo>
                <a:lnTo>
                  <a:pt x="1831" y="656431"/>
                </a:lnTo>
                <a:lnTo>
                  <a:pt x="0" y="608849"/>
                </a:lnTo>
                <a:lnTo>
                  <a:pt x="1831" y="561268"/>
                </a:lnTo>
                <a:lnTo>
                  <a:pt x="7236" y="514689"/>
                </a:lnTo>
                <a:lnTo>
                  <a:pt x="16080" y="469246"/>
                </a:lnTo>
                <a:lnTo>
                  <a:pt x="28226" y="425075"/>
                </a:lnTo>
                <a:lnTo>
                  <a:pt x="43539" y="382313"/>
                </a:lnTo>
                <a:lnTo>
                  <a:pt x="61884" y="341093"/>
                </a:lnTo>
                <a:lnTo>
                  <a:pt x="83125" y="301551"/>
                </a:lnTo>
                <a:lnTo>
                  <a:pt x="107128" y="263824"/>
                </a:lnTo>
                <a:lnTo>
                  <a:pt x="133757" y="228045"/>
                </a:lnTo>
                <a:lnTo>
                  <a:pt x="162876" y="194351"/>
                </a:lnTo>
                <a:lnTo>
                  <a:pt x="194351" y="162876"/>
                </a:lnTo>
                <a:lnTo>
                  <a:pt x="228045" y="133757"/>
                </a:lnTo>
                <a:lnTo>
                  <a:pt x="263824" y="107128"/>
                </a:lnTo>
                <a:lnTo>
                  <a:pt x="301551" y="83125"/>
                </a:lnTo>
                <a:lnTo>
                  <a:pt x="341093" y="61884"/>
                </a:lnTo>
                <a:lnTo>
                  <a:pt x="382313" y="43539"/>
                </a:lnTo>
                <a:lnTo>
                  <a:pt x="425075" y="28226"/>
                </a:lnTo>
                <a:lnTo>
                  <a:pt x="469246" y="16080"/>
                </a:lnTo>
                <a:lnTo>
                  <a:pt x="514689" y="7236"/>
                </a:lnTo>
                <a:lnTo>
                  <a:pt x="561268" y="1831"/>
                </a:lnTo>
                <a:lnTo>
                  <a:pt x="608849" y="0"/>
                </a:lnTo>
                <a:lnTo>
                  <a:pt x="657060" y="1910"/>
                </a:lnTo>
                <a:lnTo>
                  <a:pt x="704670" y="7584"/>
                </a:lnTo>
                <a:lnTo>
                  <a:pt x="751474" y="16938"/>
                </a:lnTo>
                <a:lnTo>
                  <a:pt x="797267" y="29887"/>
                </a:lnTo>
                <a:lnTo>
                  <a:pt x="841846" y="46345"/>
                </a:lnTo>
                <a:lnTo>
                  <a:pt x="885007" y="66230"/>
                </a:lnTo>
                <a:lnTo>
                  <a:pt x="926544" y="89455"/>
                </a:lnTo>
                <a:lnTo>
                  <a:pt x="966253" y="115936"/>
                </a:lnTo>
                <a:lnTo>
                  <a:pt x="1003931" y="145588"/>
                </a:lnTo>
                <a:lnTo>
                  <a:pt x="1039371" y="178328"/>
                </a:lnTo>
                <a:lnTo>
                  <a:pt x="1072111" y="213768"/>
                </a:lnTo>
                <a:lnTo>
                  <a:pt x="1101763" y="251446"/>
                </a:lnTo>
                <a:lnTo>
                  <a:pt x="1128244" y="291155"/>
                </a:lnTo>
                <a:lnTo>
                  <a:pt x="1151469" y="332692"/>
                </a:lnTo>
                <a:lnTo>
                  <a:pt x="1171353" y="375853"/>
                </a:lnTo>
                <a:lnTo>
                  <a:pt x="1187812" y="420432"/>
                </a:lnTo>
                <a:lnTo>
                  <a:pt x="1200761" y="466226"/>
                </a:lnTo>
                <a:lnTo>
                  <a:pt x="1210115" y="513029"/>
                </a:lnTo>
                <a:lnTo>
                  <a:pt x="1215789" y="560639"/>
                </a:lnTo>
                <a:lnTo>
                  <a:pt x="1217699" y="608849"/>
                </a:lnTo>
                <a:lnTo>
                  <a:pt x="1215868" y="656431"/>
                </a:lnTo>
                <a:lnTo>
                  <a:pt x="1210463" y="703010"/>
                </a:lnTo>
                <a:lnTo>
                  <a:pt x="1201619" y="748453"/>
                </a:lnTo>
                <a:lnTo>
                  <a:pt x="1189473" y="792624"/>
                </a:lnTo>
                <a:lnTo>
                  <a:pt x="1174160" y="835386"/>
                </a:lnTo>
                <a:lnTo>
                  <a:pt x="1155815" y="876606"/>
                </a:lnTo>
                <a:lnTo>
                  <a:pt x="1134574" y="916148"/>
                </a:lnTo>
                <a:lnTo>
                  <a:pt x="1110571" y="953875"/>
                </a:lnTo>
                <a:lnTo>
                  <a:pt x="1083942" y="989654"/>
                </a:lnTo>
                <a:lnTo>
                  <a:pt x="1054823" y="1023348"/>
                </a:lnTo>
                <a:lnTo>
                  <a:pt x="1023348" y="1054823"/>
                </a:lnTo>
                <a:lnTo>
                  <a:pt x="989654" y="1083942"/>
                </a:lnTo>
                <a:lnTo>
                  <a:pt x="953875" y="1110571"/>
                </a:lnTo>
                <a:lnTo>
                  <a:pt x="916148" y="1134574"/>
                </a:lnTo>
                <a:lnTo>
                  <a:pt x="876606" y="1155815"/>
                </a:lnTo>
                <a:lnTo>
                  <a:pt x="835386" y="1174160"/>
                </a:lnTo>
                <a:lnTo>
                  <a:pt x="792624" y="1189473"/>
                </a:lnTo>
                <a:lnTo>
                  <a:pt x="748453" y="1201619"/>
                </a:lnTo>
                <a:lnTo>
                  <a:pt x="703010" y="1210463"/>
                </a:lnTo>
                <a:lnTo>
                  <a:pt x="656431" y="1215868"/>
                </a:lnTo>
                <a:lnTo>
                  <a:pt x="608849" y="1217699"/>
                </a:lnTo>
                <a:close/>
              </a:path>
            </a:pathLst>
          </a:custGeom>
          <a:solidFill>
            <a:srgbClr val="EEEEEE"/>
          </a:solidFill>
        </p:spPr>
        <p:txBody>
          <a:bodyPr wrap="square" lIns="0" tIns="0" rIns="0" bIns="0" rtlCol="0"/>
          <a:lstStyle/>
          <a:p>
            <a:endParaRPr sz="2400"/>
          </a:p>
        </p:txBody>
      </p:sp>
      <p:sp>
        <p:nvSpPr>
          <p:cNvPr id="9" name="object 9"/>
          <p:cNvSpPr/>
          <p:nvPr/>
        </p:nvSpPr>
        <p:spPr>
          <a:xfrm>
            <a:off x="8262316" y="4051432"/>
            <a:ext cx="1623907" cy="1623907"/>
          </a:xfrm>
          <a:custGeom>
            <a:avLst/>
            <a:gdLst/>
            <a:ahLst/>
            <a:cxnLst/>
            <a:rect l="l" t="t" r="r" b="b"/>
            <a:pathLst>
              <a:path w="1217929" h="1217929">
                <a:moveTo>
                  <a:pt x="0" y="608849"/>
                </a:moveTo>
                <a:lnTo>
                  <a:pt x="1831" y="561268"/>
                </a:lnTo>
                <a:lnTo>
                  <a:pt x="7236" y="514689"/>
                </a:lnTo>
                <a:lnTo>
                  <a:pt x="16080" y="469246"/>
                </a:lnTo>
                <a:lnTo>
                  <a:pt x="28226" y="425075"/>
                </a:lnTo>
                <a:lnTo>
                  <a:pt x="43539" y="382313"/>
                </a:lnTo>
                <a:lnTo>
                  <a:pt x="61884" y="341093"/>
                </a:lnTo>
                <a:lnTo>
                  <a:pt x="83125" y="301551"/>
                </a:lnTo>
                <a:lnTo>
                  <a:pt x="107128" y="263824"/>
                </a:lnTo>
                <a:lnTo>
                  <a:pt x="133757" y="228045"/>
                </a:lnTo>
                <a:lnTo>
                  <a:pt x="162876" y="194351"/>
                </a:lnTo>
                <a:lnTo>
                  <a:pt x="194351" y="162876"/>
                </a:lnTo>
                <a:lnTo>
                  <a:pt x="228045" y="133757"/>
                </a:lnTo>
                <a:lnTo>
                  <a:pt x="263824" y="107128"/>
                </a:lnTo>
                <a:lnTo>
                  <a:pt x="301551" y="83125"/>
                </a:lnTo>
                <a:lnTo>
                  <a:pt x="341093" y="61884"/>
                </a:lnTo>
                <a:lnTo>
                  <a:pt x="382313" y="43539"/>
                </a:lnTo>
                <a:lnTo>
                  <a:pt x="425075" y="28226"/>
                </a:lnTo>
                <a:lnTo>
                  <a:pt x="469246" y="16080"/>
                </a:lnTo>
                <a:lnTo>
                  <a:pt x="514689" y="7236"/>
                </a:lnTo>
                <a:lnTo>
                  <a:pt x="561268" y="1831"/>
                </a:lnTo>
                <a:lnTo>
                  <a:pt x="608849" y="0"/>
                </a:lnTo>
                <a:lnTo>
                  <a:pt x="657060" y="1910"/>
                </a:lnTo>
                <a:lnTo>
                  <a:pt x="704670" y="7584"/>
                </a:lnTo>
                <a:lnTo>
                  <a:pt x="751474" y="16938"/>
                </a:lnTo>
                <a:lnTo>
                  <a:pt x="797267" y="29887"/>
                </a:lnTo>
                <a:lnTo>
                  <a:pt x="841846" y="46345"/>
                </a:lnTo>
                <a:lnTo>
                  <a:pt x="885007" y="66230"/>
                </a:lnTo>
                <a:lnTo>
                  <a:pt x="926544" y="89455"/>
                </a:lnTo>
                <a:lnTo>
                  <a:pt x="966253" y="115936"/>
                </a:lnTo>
                <a:lnTo>
                  <a:pt x="1003931" y="145588"/>
                </a:lnTo>
                <a:lnTo>
                  <a:pt x="1039371" y="178328"/>
                </a:lnTo>
                <a:lnTo>
                  <a:pt x="1072111" y="213768"/>
                </a:lnTo>
                <a:lnTo>
                  <a:pt x="1101763" y="251446"/>
                </a:lnTo>
                <a:lnTo>
                  <a:pt x="1128244" y="291155"/>
                </a:lnTo>
                <a:lnTo>
                  <a:pt x="1151469" y="332692"/>
                </a:lnTo>
                <a:lnTo>
                  <a:pt x="1171353" y="375853"/>
                </a:lnTo>
                <a:lnTo>
                  <a:pt x="1187812" y="420432"/>
                </a:lnTo>
                <a:lnTo>
                  <a:pt x="1200761" y="466226"/>
                </a:lnTo>
                <a:lnTo>
                  <a:pt x="1210115" y="513029"/>
                </a:lnTo>
                <a:lnTo>
                  <a:pt x="1215789" y="560639"/>
                </a:lnTo>
                <a:lnTo>
                  <a:pt x="1217699" y="608849"/>
                </a:lnTo>
                <a:lnTo>
                  <a:pt x="1215868" y="656431"/>
                </a:lnTo>
                <a:lnTo>
                  <a:pt x="1210463" y="703010"/>
                </a:lnTo>
                <a:lnTo>
                  <a:pt x="1201619" y="748453"/>
                </a:lnTo>
                <a:lnTo>
                  <a:pt x="1189473" y="792624"/>
                </a:lnTo>
                <a:lnTo>
                  <a:pt x="1174160" y="835386"/>
                </a:lnTo>
                <a:lnTo>
                  <a:pt x="1155815" y="876606"/>
                </a:lnTo>
                <a:lnTo>
                  <a:pt x="1134574" y="916148"/>
                </a:lnTo>
                <a:lnTo>
                  <a:pt x="1110571" y="953875"/>
                </a:lnTo>
                <a:lnTo>
                  <a:pt x="1083942" y="989654"/>
                </a:lnTo>
                <a:lnTo>
                  <a:pt x="1054823" y="1023348"/>
                </a:lnTo>
                <a:lnTo>
                  <a:pt x="1023348" y="1054823"/>
                </a:lnTo>
                <a:lnTo>
                  <a:pt x="989654" y="1083942"/>
                </a:lnTo>
                <a:lnTo>
                  <a:pt x="953875" y="1110571"/>
                </a:lnTo>
                <a:lnTo>
                  <a:pt x="916148" y="1134574"/>
                </a:lnTo>
                <a:lnTo>
                  <a:pt x="876606" y="1155815"/>
                </a:lnTo>
                <a:lnTo>
                  <a:pt x="835386" y="1174160"/>
                </a:lnTo>
                <a:lnTo>
                  <a:pt x="792624" y="1189473"/>
                </a:lnTo>
                <a:lnTo>
                  <a:pt x="748453" y="1201619"/>
                </a:lnTo>
                <a:lnTo>
                  <a:pt x="703010" y="1210463"/>
                </a:lnTo>
                <a:lnTo>
                  <a:pt x="656431" y="1215868"/>
                </a:lnTo>
                <a:lnTo>
                  <a:pt x="608849" y="1217699"/>
                </a:lnTo>
                <a:lnTo>
                  <a:pt x="561268" y="1215868"/>
                </a:lnTo>
                <a:lnTo>
                  <a:pt x="514689" y="1210463"/>
                </a:lnTo>
                <a:lnTo>
                  <a:pt x="469246" y="1201619"/>
                </a:lnTo>
                <a:lnTo>
                  <a:pt x="425075" y="1189473"/>
                </a:lnTo>
                <a:lnTo>
                  <a:pt x="382313" y="1174160"/>
                </a:lnTo>
                <a:lnTo>
                  <a:pt x="341093" y="1155815"/>
                </a:lnTo>
                <a:lnTo>
                  <a:pt x="301551" y="1134574"/>
                </a:lnTo>
                <a:lnTo>
                  <a:pt x="263824" y="1110571"/>
                </a:lnTo>
                <a:lnTo>
                  <a:pt x="228045" y="1083942"/>
                </a:lnTo>
                <a:lnTo>
                  <a:pt x="194351" y="1054823"/>
                </a:lnTo>
                <a:lnTo>
                  <a:pt x="162876" y="1023348"/>
                </a:lnTo>
                <a:lnTo>
                  <a:pt x="133757" y="989654"/>
                </a:lnTo>
                <a:lnTo>
                  <a:pt x="107128" y="953875"/>
                </a:lnTo>
                <a:lnTo>
                  <a:pt x="83125" y="916148"/>
                </a:lnTo>
                <a:lnTo>
                  <a:pt x="61884" y="876606"/>
                </a:lnTo>
                <a:lnTo>
                  <a:pt x="43539" y="835386"/>
                </a:lnTo>
                <a:lnTo>
                  <a:pt x="28226" y="792624"/>
                </a:lnTo>
                <a:lnTo>
                  <a:pt x="16080" y="748453"/>
                </a:lnTo>
                <a:lnTo>
                  <a:pt x="7236" y="703010"/>
                </a:lnTo>
                <a:lnTo>
                  <a:pt x="1831" y="656431"/>
                </a:lnTo>
                <a:lnTo>
                  <a:pt x="0" y="608849"/>
                </a:lnTo>
                <a:close/>
              </a:path>
            </a:pathLst>
          </a:custGeom>
          <a:ln w="9524">
            <a:solidFill>
              <a:srgbClr val="595959"/>
            </a:solidFill>
          </a:ln>
        </p:spPr>
        <p:txBody>
          <a:bodyPr wrap="square" lIns="0" tIns="0" rIns="0" bIns="0" rtlCol="0"/>
          <a:lstStyle/>
          <a:p>
            <a:endParaRPr sz="2400"/>
          </a:p>
        </p:txBody>
      </p:sp>
      <p:sp>
        <p:nvSpPr>
          <p:cNvPr id="10" name="object 10"/>
          <p:cNvSpPr/>
          <p:nvPr/>
        </p:nvSpPr>
        <p:spPr>
          <a:xfrm>
            <a:off x="6888773" y="4863233"/>
            <a:ext cx="2142067" cy="0"/>
          </a:xfrm>
          <a:custGeom>
            <a:avLst/>
            <a:gdLst/>
            <a:ahLst/>
            <a:cxnLst/>
            <a:rect l="l" t="t" r="r" b="b"/>
            <a:pathLst>
              <a:path w="1606550">
                <a:moveTo>
                  <a:pt x="0" y="0"/>
                </a:moveTo>
                <a:lnTo>
                  <a:pt x="1606313" y="0"/>
                </a:lnTo>
              </a:path>
            </a:pathLst>
          </a:custGeom>
          <a:ln w="9524">
            <a:solidFill>
              <a:srgbClr val="595959"/>
            </a:solidFill>
          </a:ln>
        </p:spPr>
        <p:txBody>
          <a:bodyPr wrap="square" lIns="0" tIns="0" rIns="0" bIns="0" rtlCol="0"/>
          <a:lstStyle/>
          <a:p>
            <a:endParaRPr sz="2400"/>
          </a:p>
        </p:txBody>
      </p:sp>
      <p:sp>
        <p:nvSpPr>
          <p:cNvPr id="11" name="object 11"/>
          <p:cNvSpPr/>
          <p:nvPr/>
        </p:nvSpPr>
        <p:spPr>
          <a:xfrm>
            <a:off x="6863817" y="4848951"/>
            <a:ext cx="39793" cy="28787"/>
          </a:xfrm>
          <a:custGeom>
            <a:avLst/>
            <a:gdLst/>
            <a:ahLst/>
            <a:cxnLst/>
            <a:rect l="l" t="t" r="r" b="b"/>
            <a:pathLst>
              <a:path w="29845" h="21589">
                <a:moveTo>
                  <a:pt x="29430" y="21423"/>
                </a:moveTo>
                <a:lnTo>
                  <a:pt x="0" y="10711"/>
                </a:lnTo>
                <a:lnTo>
                  <a:pt x="29430" y="0"/>
                </a:lnTo>
                <a:lnTo>
                  <a:pt x="18718" y="10711"/>
                </a:lnTo>
                <a:lnTo>
                  <a:pt x="29430" y="21423"/>
                </a:lnTo>
                <a:close/>
              </a:path>
            </a:pathLst>
          </a:custGeom>
          <a:solidFill>
            <a:srgbClr val="595959"/>
          </a:solidFill>
        </p:spPr>
        <p:txBody>
          <a:bodyPr wrap="square" lIns="0" tIns="0" rIns="0" bIns="0" rtlCol="0"/>
          <a:lstStyle/>
          <a:p>
            <a:endParaRPr sz="2400"/>
          </a:p>
        </p:txBody>
      </p:sp>
      <p:sp>
        <p:nvSpPr>
          <p:cNvPr id="12" name="object 12"/>
          <p:cNvSpPr/>
          <p:nvPr/>
        </p:nvSpPr>
        <p:spPr>
          <a:xfrm>
            <a:off x="6863817" y="4848951"/>
            <a:ext cx="39793" cy="28787"/>
          </a:xfrm>
          <a:custGeom>
            <a:avLst/>
            <a:gdLst/>
            <a:ahLst/>
            <a:cxnLst/>
            <a:rect l="l" t="t" r="r" b="b"/>
            <a:pathLst>
              <a:path w="29845" h="21589">
                <a:moveTo>
                  <a:pt x="18718" y="10711"/>
                </a:moveTo>
                <a:lnTo>
                  <a:pt x="29430" y="0"/>
                </a:lnTo>
                <a:lnTo>
                  <a:pt x="0" y="10711"/>
                </a:lnTo>
                <a:lnTo>
                  <a:pt x="29430" y="21423"/>
                </a:lnTo>
                <a:lnTo>
                  <a:pt x="18718" y="10711"/>
                </a:lnTo>
                <a:close/>
              </a:path>
            </a:pathLst>
          </a:custGeom>
          <a:ln w="9524">
            <a:solidFill>
              <a:srgbClr val="595959"/>
            </a:solidFill>
          </a:ln>
        </p:spPr>
        <p:txBody>
          <a:bodyPr wrap="square" lIns="0" tIns="0" rIns="0" bIns="0" rtlCol="0"/>
          <a:lstStyle/>
          <a:p>
            <a:endParaRPr sz="2400"/>
          </a:p>
        </p:txBody>
      </p:sp>
      <p:sp>
        <p:nvSpPr>
          <p:cNvPr id="13" name="object 13"/>
          <p:cNvSpPr/>
          <p:nvPr/>
        </p:nvSpPr>
        <p:spPr>
          <a:xfrm>
            <a:off x="9016244" y="4848951"/>
            <a:ext cx="39793" cy="28787"/>
          </a:xfrm>
          <a:custGeom>
            <a:avLst/>
            <a:gdLst/>
            <a:ahLst/>
            <a:cxnLst/>
            <a:rect l="l" t="t" r="r" b="b"/>
            <a:pathLst>
              <a:path w="29845" h="21589">
                <a:moveTo>
                  <a:pt x="0" y="21423"/>
                </a:moveTo>
                <a:lnTo>
                  <a:pt x="10711" y="10711"/>
                </a:lnTo>
                <a:lnTo>
                  <a:pt x="0" y="0"/>
                </a:lnTo>
                <a:lnTo>
                  <a:pt x="29429" y="10711"/>
                </a:lnTo>
                <a:lnTo>
                  <a:pt x="0" y="21423"/>
                </a:lnTo>
                <a:close/>
              </a:path>
            </a:pathLst>
          </a:custGeom>
          <a:solidFill>
            <a:srgbClr val="595959"/>
          </a:solidFill>
        </p:spPr>
        <p:txBody>
          <a:bodyPr wrap="square" lIns="0" tIns="0" rIns="0" bIns="0" rtlCol="0"/>
          <a:lstStyle/>
          <a:p>
            <a:endParaRPr sz="2400"/>
          </a:p>
        </p:txBody>
      </p:sp>
      <p:sp>
        <p:nvSpPr>
          <p:cNvPr id="14" name="object 14"/>
          <p:cNvSpPr/>
          <p:nvPr/>
        </p:nvSpPr>
        <p:spPr>
          <a:xfrm>
            <a:off x="9016244" y="4848951"/>
            <a:ext cx="39793" cy="28787"/>
          </a:xfrm>
          <a:custGeom>
            <a:avLst/>
            <a:gdLst/>
            <a:ahLst/>
            <a:cxnLst/>
            <a:rect l="l" t="t" r="r" b="b"/>
            <a:pathLst>
              <a:path w="29845" h="21589">
                <a:moveTo>
                  <a:pt x="10711" y="10711"/>
                </a:moveTo>
                <a:lnTo>
                  <a:pt x="0" y="21423"/>
                </a:lnTo>
                <a:lnTo>
                  <a:pt x="29429" y="10711"/>
                </a:lnTo>
                <a:lnTo>
                  <a:pt x="0" y="0"/>
                </a:lnTo>
                <a:lnTo>
                  <a:pt x="10711" y="10711"/>
                </a:lnTo>
                <a:close/>
              </a:path>
            </a:pathLst>
          </a:custGeom>
          <a:ln w="9524">
            <a:solidFill>
              <a:srgbClr val="595959"/>
            </a:solidFill>
          </a:ln>
        </p:spPr>
        <p:txBody>
          <a:bodyPr wrap="square" lIns="0" tIns="0" rIns="0" bIns="0" rtlCol="0"/>
          <a:lstStyle/>
          <a:p>
            <a:endParaRPr sz="2400"/>
          </a:p>
        </p:txBody>
      </p:sp>
      <p:sp>
        <p:nvSpPr>
          <p:cNvPr id="15" name="object 15"/>
          <p:cNvSpPr/>
          <p:nvPr/>
        </p:nvSpPr>
        <p:spPr>
          <a:xfrm>
            <a:off x="6845217" y="4051433"/>
            <a:ext cx="5927" cy="820420"/>
          </a:xfrm>
          <a:custGeom>
            <a:avLst/>
            <a:gdLst/>
            <a:ahLst/>
            <a:cxnLst/>
            <a:rect l="l" t="t" r="r" b="b"/>
            <a:pathLst>
              <a:path w="4445" h="615314">
                <a:moveTo>
                  <a:pt x="0" y="0"/>
                </a:moveTo>
                <a:lnTo>
                  <a:pt x="3899" y="614699"/>
                </a:lnTo>
              </a:path>
            </a:pathLst>
          </a:custGeom>
          <a:ln w="9524">
            <a:solidFill>
              <a:srgbClr val="595959"/>
            </a:solidFill>
          </a:ln>
        </p:spPr>
        <p:txBody>
          <a:bodyPr wrap="square" lIns="0" tIns="0" rIns="0" bIns="0" rtlCol="0"/>
          <a:lstStyle/>
          <a:p>
            <a:endParaRPr sz="2400"/>
          </a:p>
        </p:txBody>
      </p:sp>
      <p:sp>
        <p:nvSpPr>
          <p:cNvPr id="16" name="object 16"/>
          <p:cNvSpPr/>
          <p:nvPr/>
        </p:nvSpPr>
        <p:spPr>
          <a:xfrm>
            <a:off x="9074116" y="4051433"/>
            <a:ext cx="3387" cy="820420"/>
          </a:xfrm>
          <a:custGeom>
            <a:avLst/>
            <a:gdLst/>
            <a:ahLst/>
            <a:cxnLst/>
            <a:rect l="l" t="t" r="r" b="b"/>
            <a:pathLst>
              <a:path w="2540" h="615314">
                <a:moveTo>
                  <a:pt x="0" y="0"/>
                </a:moveTo>
                <a:lnTo>
                  <a:pt x="2099" y="614699"/>
                </a:lnTo>
              </a:path>
            </a:pathLst>
          </a:custGeom>
          <a:ln w="9524">
            <a:solidFill>
              <a:srgbClr val="595959"/>
            </a:solidFill>
          </a:ln>
        </p:spPr>
        <p:txBody>
          <a:bodyPr wrap="square" lIns="0" tIns="0" rIns="0" bIns="0" rtlCol="0"/>
          <a:lstStyle/>
          <a:p>
            <a:endParaRPr sz="2400"/>
          </a:p>
        </p:txBody>
      </p:sp>
    </p:spTree>
    <p:extLst>
      <p:ext uri="{BB962C8B-B14F-4D97-AF65-F5344CB8AC3E}">
        <p14:creationId xmlns:p14="http://schemas.microsoft.com/office/powerpoint/2010/main" val="2672345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Capsule"/>
          <p:cNvSpPr txBox="1">
            <a:spLocks noGrp="1"/>
          </p:cNvSpPr>
          <p:nvPr>
            <p:ph type="title"/>
          </p:nvPr>
        </p:nvSpPr>
        <p:spPr>
          <a:prstGeom prst="rect">
            <a:avLst/>
          </a:prstGeom>
        </p:spPr>
        <p:txBody>
          <a:bodyPr/>
          <a:lstStyle/>
          <a:p>
            <a:r>
              <a:t>Capsule</a:t>
            </a:r>
          </a:p>
        </p:txBody>
      </p:sp>
      <p:sp>
        <p:nvSpPr>
          <p:cNvPr id="193" name="Cylinder with hemispheres on ends…"/>
          <p:cNvSpPr txBox="1">
            <a:spLocks noGrp="1"/>
          </p:cNvSpPr>
          <p:nvPr>
            <p:ph type="body" sz="half" idx="1"/>
          </p:nvPr>
        </p:nvSpPr>
        <p:spPr>
          <a:xfrm>
            <a:off x="2416969" y="1946672"/>
            <a:ext cx="7358063" cy="2759273"/>
          </a:xfrm>
          <a:prstGeom prst="rect">
            <a:avLst/>
          </a:prstGeom>
        </p:spPr>
        <p:txBody>
          <a:bodyPr>
            <a:normAutofit lnSpcReduction="10000"/>
          </a:bodyPr>
          <a:lstStyle/>
          <a:p>
            <a:pPr marL="558086" indent="-334851">
              <a:defRPr sz="3500"/>
            </a:pPr>
            <a:r>
              <a:t>Cylinder with hemispheres on ends</a:t>
            </a:r>
          </a:p>
          <a:p>
            <a:pPr marL="558086" indent="-334851">
              <a:spcBef>
                <a:spcPts val="844"/>
              </a:spcBef>
              <a:defRPr sz="3500"/>
            </a:pPr>
            <a:r>
              <a:t>One way to compute:</a:t>
            </a:r>
          </a:p>
          <a:p>
            <a:pPr marL="870614" lvl="1" indent="-334851">
              <a:spcBef>
                <a:spcPts val="844"/>
              </a:spcBef>
              <a:defRPr sz="3500"/>
            </a:pPr>
            <a:r>
              <a:t>Calc bounding box</a:t>
            </a:r>
          </a:p>
          <a:p>
            <a:pPr marL="870614" lvl="1" indent="-334851">
              <a:spcBef>
                <a:spcPts val="844"/>
              </a:spcBef>
              <a:defRPr sz="3500"/>
            </a:pPr>
            <a:r>
              <a:t>Use long axis for length</a:t>
            </a:r>
          </a:p>
          <a:p>
            <a:pPr marL="870614" lvl="1" indent="-334851">
              <a:spcBef>
                <a:spcPts val="844"/>
              </a:spcBef>
              <a:defRPr sz="3500"/>
            </a:pPr>
            <a:r>
              <a:t>Next largest width for radius</a:t>
            </a:r>
          </a:p>
        </p:txBody>
      </p:sp>
      <p:sp>
        <p:nvSpPr>
          <p:cNvPr id="194" name="Line"/>
          <p:cNvSpPr/>
          <p:nvPr/>
        </p:nvSpPr>
        <p:spPr>
          <a:xfrm>
            <a:off x="7000000" y="5072062"/>
            <a:ext cx="506891" cy="45629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38100" cap="sq">
            <a:solidFill>
              <a:srgbClr val="FF2600"/>
            </a:solidFill>
          </a:ln>
        </p:spPr>
        <p:txBody>
          <a:bodyPr lIns="35719" tIns="35719" rIns="35719" bIns="35719" anchor="ctr"/>
          <a:lstStyle/>
          <a:p>
            <a:pPr marL="28573" marR="28573" defTabSz="642915">
              <a:defRPr sz="2400">
                <a:solidFill>
                  <a:srgbClr val="FFFFFF"/>
                </a:solidFill>
                <a:uFill>
                  <a:solidFill>
                    <a:srgbClr val="FFFFFF"/>
                  </a:solidFill>
                </a:uFill>
                <a:latin typeface="Times New Roman"/>
                <a:ea typeface="Times New Roman"/>
                <a:cs typeface="Times New Roman"/>
                <a:sym typeface="Times New Roman"/>
              </a:defRPr>
            </a:pPr>
            <a:endParaRPr sz="1687"/>
          </a:p>
        </p:txBody>
      </p:sp>
      <p:sp>
        <p:nvSpPr>
          <p:cNvPr id="195" name="Line"/>
          <p:cNvSpPr/>
          <p:nvPr/>
        </p:nvSpPr>
        <p:spPr>
          <a:xfrm rot="5460000">
            <a:off x="7025859" y="5554261"/>
            <a:ext cx="506996" cy="45620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38100" cap="sq">
            <a:solidFill>
              <a:srgbClr val="FF2600"/>
            </a:solidFill>
          </a:ln>
        </p:spPr>
        <p:txBody>
          <a:bodyPr lIns="35719" tIns="35719" rIns="35719" bIns="35719" anchor="ctr"/>
          <a:lstStyle/>
          <a:p>
            <a:pPr marL="28573" marR="28573" defTabSz="642915">
              <a:defRPr sz="2400">
                <a:solidFill>
                  <a:srgbClr val="FFFFFF"/>
                </a:solidFill>
                <a:uFill>
                  <a:solidFill>
                    <a:srgbClr val="FFFFFF"/>
                  </a:solidFill>
                </a:uFill>
                <a:latin typeface="Times New Roman"/>
                <a:ea typeface="Times New Roman"/>
                <a:cs typeface="Times New Roman"/>
                <a:sym typeface="Times New Roman"/>
              </a:defRPr>
            </a:pPr>
            <a:endParaRPr sz="1687"/>
          </a:p>
        </p:txBody>
      </p:sp>
      <p:sp>
        <p:nvSpPr>
          <p:cNvPr id="196" name="Line"/>
          <p:cNvSpPr/>
          <p:nvPr/>
        </p:nvSpPr>
        <p:spPr>
          <a:xfrm rot="10920000">
            <a:off x="4667338" y="5579166"/>
            <a:ext cx="557580" cy="45629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38100" cap="sq">
            <a:solidFill>
              <a:srgbClr val="FF2600"/>
            </a:solidFill>
          </a:ln>
        </p:spPr>
        <p:txBody>
          <a:bodyPr lIns="35719" tIns="35719" rIns="35719" bIns="35719" anchor="ctr"/>
          <a:lstStyle/>
          <a:p>
            <a:pPr marL="28573" marR="28573" defTabSz="642915">
              <a:defRPr sz="2400">
                <a:solidFill>
                  <a:srgbClr val="FFFFFF"/>
                </a:solidFill>
                <a:uFill>
                  <a:solidFill>
                    <a:srgbClr val="FFFFFF"/>
                  </a:solidFill>
                </a:uFill>
                <a:latin typeface="Times New Roman"/>
                <a:ea typeface="Times New Roman"/>
                <a:cs typeface="Times New Roman"/>
                <a:sym typeface="Times New Roman"/>
              </a:defRPr>
            </a:pPr>
            <a:endParaRPr sz="1687"/>
          </a:p>
        </p:txBody>
      </p:sp>
      <p:sp>
        <p:nvSpPr>
          <p:cNvPr id="197" name="Line"/>
          <p:cNvSpPr/>
          <p:nvPr/>
        </p:nvSpPr>
        <p:spPr>
          <a:xfrm rot="16380000">
            <a:off x="4669386" y="5098466"/>
            <a:ext cx="506995" cy="45620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38100" cap="sq">
            <a:solidFill>
              <a:srgbClr val="FF2600"/>
            </a:solidFill>
          </a:ln>
        </p:spPr>
        <p:txBody>
          <a:bodyPr lIns="35719" tIns="35719" rIns="35719" bIns="35719" anchor="ctr"/>
          <a:lstStyle/>
          <a:p>
            <a:pPr marL="28573" marR="28573" defTabSz="642915">
              <a:defRPr sz="2400">
                <a:solidFill>
                  <a:srgbClr val="FFFFFF"/>
                </a:solidFill>
                <a:uFill>
                  <a:solidFill>
                    <a:srgbClr val="FFFFFF"/>
                  </a:solidFill>
                </a:uFill>
                <a:latin typeface="Times New Roman"/>
                <a:ea typeface="Times New Roman"/>
                <a:cs typeface="Times New Roman"/>
                <a:sym typeface="Times New Roman"/>
              </a:defRPr>
            </a:pPr>
            <a:endParaRPr sz="1687"/>
          </a:p>
        </p:txBody>
      </p:sp>
      <p:sp>
        <p:nvSpPr>
          <p:cNvPr id="198" name="Line"/>
          <p:cNvSpPr/>
          <p:nvPr/>
        </p:nvSpPr>
        <p:spPr>
          <a:xfrm flipH="1">
            <a:off x="5175196" y="5072062"/>
            <a:ext cx="1824805" cy="1117"/>
          </a:xfrm>
          <a:prstGeom prst="line">
            <a:avLst/>
          </a:prstGeom>
          <a:ln w="38100" cap="sq">
            <a:solidFill>
              <a:srgbClr val="FF2600"/>
            </a:solidFill>
          </a:ln>
        </p:spPr>
        <p:txBody>
          <a:bodyPr lIns="35719" tIns="35719" rIns="35719" bIns="35719" anchor="ctr"/>
          <a:lstStyle/>
          <a:p>
            <a:endParaRPr sz="1266"/>
          </a:p>
        </p:txBody>
      </p:sp>
      <p:sp>
        <p:nvSpPr>
          <p:cNvPr id="199" name="Line"/>
          <p:cNvSpPr/>
          <p:nvPr/>
        </p:nvSpPr>
        <p:spPr>
          <a:xfrm flipH="1">
            <a:off x="5225885" y="6035352"/>
            <a:ext cx="1824805" cy="1117"/>
          </a:xfrm>
          <a:prstGeom prst="line">
            <a:avLst/>
          </a:prstGeom>
          <a:ln w="38100" cap="sq">
            <a:solidFill>
              <a:srgbClr val="FF2600"/>
            </a:solidFill>
          </a:ln>
        </p:spPr>
        <p:txBody>
          <a:bodyPr lIns="35719" tIns="35719" rIns="35719" bIns="35719" anchor="ctr"/>
          <a:lstStyle/>
          <a:p>
            <a:endParaRPr sz="1266"/>
          </a:p>
        </p:txBody>
      </p:sp>
      <p:sp>
        <p:nvSpPr>
          <p:cNvPr id="200" name="Line"/>
          <p:cNvSpPr/>
          <p:nvPr/>
        </p:nvSpPr>
        <p:spPr>
          <a:xfrm>
            <a:off x="5124507" y="5579057"/>
            <a:ext cx="1926183" cy="1117"/>
          </a:xfrm>
          <a:prstGeom prst="line">
            <a:avLst/>
          </a:prstGeom>
          <a:ln w="38100">
            <a:solidFill>
              <a:srgbClr val="FF2600"/>
            </a:solidFill>
            <a:prstDash val="dash"/>
          </a:ln>
        </p:spPr>
        <p:txBody>
          <a:bodyPr lIns="35719" tIns="35719" rIns="35719" bIns="35719" anchor="ctr"/>
          <a:lstStyle/>
          <a:p>
            <a:endParaRPr sz="1266"/>
          </a:p>
        </p:txBody>
      </p:sp>
      <p:sp>
        <p:nvSpPr>
          <p:cNvPr id="201" name="Oval"/>
          <p:cNvSpPr/>
          <p:nvPr/>
        </p:nvSpPr>
        <p:spPr>
          <a:xfrm>
            <a:off x="4972440" y="5072063"/>
            <a:ext cx="253446" cy="963290"/>
          </a:xfrm>
          <a:prstGeom prst="ellipse">
            <a:avLst/>
          </a:prstGeom>
          <a:ln w="12700" cap="sq">
            <a:solidFill>
              <a:srgbClr val="FF2600"/>
            </a:solidFill>
          </a:ln>
        </p:spPr>
        <p:txBody>
          <a:bodyPr lIns="35719" tIns="35719" rIns="35719" bIns="35719" anchor="ctr"/>
          <a:lstStyle/>
          <a:p>
            <a:pPr marL="28573" marR="28573" defTabSz="642915">
              <a:defRPr sz="2400">
                <a:solidFill>
                  <a:srgbClr val="FFFFFF"/>
                </a:solidFill>
                <a:uFill>
                  <a:solidFill>
                    <a:srgbClr val="FFFFFF"/>
                  </a:solidFill>
                </a:uFill>
                <a:latin typeface="Times New Roman"/>
                <a:ea typeface="Times New Roman"/>
                <a:cs typeface="Times New Roman"/>
                <a:sym typeface="Times New Roman"/>
              </a:defRPr>
            </a:pPr>
            <a:endParaRPr sz="1687"/>
          </a:p>
        </p:txBody>
      </p:sp>
      <p:sp>
        <p:nvSpPr>
          <p:cNvPr id="202" name="Oval"/>
          <p:cNvSpPr/>
          <p:nvPr/>
        </p:nvSpPr>
        <p:spPr>
          <a:xfrm>
            <a:off x="6898622" y="5072063"/>
            <a:ext cx="253446" cy="963290"/>
          </a:xfrm>
          <a:prstGeom prst="ellipse">
            <a:avLst/>
          </a:prstGeom>
          <a:ln w="12700" cap="sq">
            <a:solidFill>
              <a:srgbClr val="FF2600"/>
            </a:solidFill>
          </a:ln>
        </p:spPr>
        <p:txBody>
          <a:bodyPr lIns="35719" tIns="35719" rIns="35719" bIns="35719" anchor="ctr"/>
          <a:lstStyle/>
          <a:p>
            <a:pPr marL="28573" marR="28573" defTabSz="642915">
              <a:defRPr sz="2400">
                <a:solidFill>
                  <a:srgbClr val="FFFFFF"/>
                </a:solidFill>
                <a:uFill>
                  <a:solidFill>
                    <a:srgbClr val="FFFFFF"/>
                  </a:solidFill>
                </a:uFill>
                <a:latin typeface="Times New Roman"/>
                <a:ea typeface="Times New Roman"/>
                <a:cs typeface="Times New Roman"/>
                <a:sym typeface="Times New Roman"/>
              </a:defRPr>
            </a:pPr>
            <a:endParaRPr sz="1687"/>
          </a:p>
        </p:txBody>
      </p:sp>
      <p:sp>
        <p:nvSpPr>
          <p:cNvPr id="203" name="Line"/>
          <p:cNvSpPr/>
          <p:nvPr/>
        </p:nvSpPr>
        <p:spPr>
          <a:xfrm>
            <a:off x="5986220" y="5072063"/>
            <a:ext cx="1117" cy="506995"/>
          </a:xfrm>
          <a:prstGeom prst="line">
            <a:avLst/>
          </a:prstGeom>
          <a:ln w="19050" cap="sq">
            <a:solidFill>
              <a:srgbClr val="000000"/>
            </a:solidFill>
            <a:headEnd type="triangle"/>
            <a:tailEnd type="triangle"/>
          </a:ln>
        </p:spPr>
        <p:txBody>
          <a:bodyPr lIns="35719" tIns="35719" rIns="35719" bIns="35719" anchor="ctr"/>
          <a:lstStyle/>
          <a:p>
            <a:endParaRPr sz="1266"/>
          </a:p>
        </p:txBody>
      </p:sp>
      <p:sp>
        <p:nvSpPr>
          <p:cNvPr id="204" name="r"/>
          <p:cNvSpPr txBox="1"/>
          <p:nvPr/>
        </p:nvSpPr>
        <p:spPr>
          <a:xfrm>
            <a:off x="5971436" y="5198811"/>
            <a:ext cx="210315" cy="266933"/>
          </a:xfrm>
          <a:prstGeom prst="rect">
            <a:avLst/>
          </a:prstGeom>
          <a:ln w="38100" cap="sq">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lvl1pPr marL="40639" marR="40639" defTabSz="914400">
              <a:spcBef>
                <a:spcPts val="1000"/>
              </a:spcBef>
              <a:buClr>
                <a:srgbClr val="FFFFFF"/>
              </a:buClr>
              <a:buFont typeface="Arial"/>
              <a:defRPr sz="1800">
                <a:uFill>
                  <a:solidFill>
                    <a:srgbClr val="000000"/>
                  </a:solidFill>
                </a:uFill>
                <a:latin typeface="+mj-lt"/>
                <a:ea typeface="+mj-ea"/>
                <a:cs typeface="+mj-cs"/>
                <a:sym typeface="Baskerville"/>
              </a:defRPr>
            </a:lvl1pPr>
          </a:lstStyle>
          <a:p>
            <a:r>
              <a:rPr sz="1266"/>
              <a:t>r</a:t>
            </a:r>
          </a:p>
        </p:txBody>
      </p:sp>
      <p:sp>
        <p:nvSpPr>
          <p:cNvPr id="205" name="Line"/>
          <p:cNvSpPr/>
          <p:nvPr/>
        </p:nvSpPr>
        <p:spPr>
          <a:xfrm flipH="1">
            <a:off x="7000000" y="5578000"/>
            <a:ext cx="506891" cy="1058"/>
          </a:xfrm>
          <a:prstGeom prst="line">
            <a:avLst/>
          </a:prstGeom>
          <a:ln w="19050" cap="sq">
            <a:solidFill>
              <a:srgbClr val="000000"/>
            </a:solidFill>
            <a:headEnd type="triangle"/>
            <a:tailEnd type="triangle"/>
          </a:ln>
        </p:spPr>
        <p:txBody>
          <a:bodyPr lIns="35719" tIns="35719" rIns="35719" bIns="35719" anchor="ctr"/>
          <a:lstStyle/>
          <a:p>
            <a:endParaRPr sz="1266"/>
          </a:p>
        </p:txBody>
      </p:sp>
      <p:sp>
        <p:nvSpPr>
          <p:cNvPr id="206" name="r"/>
          <p:cNvSpPr txBox="1"/>
          <p:nvPr/>
        </p:nvSpPr>
        <p:spPr>
          <a:xfrm>
            <a:off x="7166852" y="5334010"/>
            <a:ext cx="210315" cy="266933"/>
          </a:xfrm>
          <a:prstGeom prst="rect">
            <a:avLst/>
          </a:prstGeom>
          <a:ln w="38100" cap="sq">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lvl1pPr marL="40639" marR="40639" defTabSz="914400">
              <a:spcBef>
                <a:spcPts val="1000"/>
              </a:spcBef>
              <a:buClr>
                <a:srgbClr val="FFFFFF"/>
              </a:buClr>
              <a:buFont typeface="Arial"/>
              <a:defRPr sz="1800">
                <a:uFill>
                  <a:solidFill>
                    <a:srgbClr val="000000"/>
                  </a:solidFill>
                </a:uFill>
                <a:latin typeface="+mj-lt"/>
                <a:ea typeface="+mj-ea"/>
                <a:cs typeface="+mj-cs"/>
                <a:sym typeface="Baskerville"/>
              </a:defRPr>
            </a:lvl1pPr>
          </a:lstStyle>
          <a:p>
            <a:r>
              <a:rPr sz="1266"/>
              <a:t>r</a:t>
            </a:r>
          </a:p>
        </p:txBody>
      </p:sp>
    </p:spTree>
    <p:extLst>
      <p:ext uri="{BB962C8B-B14F-4D97-AF65-F5344CB8AC3E}">
        <p14:creationId xmlns:p14="http://schemas.microsoft.com/office/powerpoint/2010/main" val="2686621022"/>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967" y="671767"/>
            <a:ext cx="3638127" cy="591551"/>
          </a:xfrm>
          <a:prstGeom prst="rect">
            <a:avLst/>
          </a:prstGeom>
        </p:spPr>
        <p:txBody>
          <a:bodyPr vert="horz" wrap="square" lIns="0" tIns="16933" rIns="0" bIns="0" rtlCol="0">
            <a:spAutoFit/>
          </a:bodyPr>
          <a:lstStyle/>
          <a:p>
            <a:pPr marL="16933">
              <a:spcBef>
                <a:spcPts val="133"/>
              </a:spcBef>
            </a:pPr>
            <a:r>
              <a:rPr sz="3733" spc="-13" dirty="0">
                <a:latin typeface="Arial"/>
                <a:cs typeface="Arial"/>
              </a:rPr>
              <a:t>Shapes:</a:t>
            </a:r>
            <a:r>
              <a:rPr sz="3733" spc="-113" dirty="0">
                <a:latin typeface="Arial"/>
                <a:cs typeface="Arial"/>
              </a:rPr>
              <a:t> </a:t>
            </a:r>
            <a:r>
              <a:rPr sz="3733" spc="-7" dirty="0">
                <a:latin typeface="Arial"/>
                <a:cs typeface="Arial"/>
              </a:rPr>
              <a:t>Capsule</a:t>
            </a:r>
            <a:endParaRPr sz="3733">
              <a:latin typeface="Arial"/>
              <a:cs typeface="Arial"/>
            </a:endParaRPr>
          </a:p>
        </p:txBody>
      </p:sp>
      <p:sp>
        <p:nvSpPr>
          <p:cNvPr id="3" name="object 3"/>
          <p:cNvSpPr/>
          <p:nvPr/>
        </p:nvSpPr>
        <p:spPr>
          <a:xfrm>
            <a:off x="1731900" y="3371033"/>
            <a:ext cx="2299733" cy="1149867"/>
          </a:xfrm>
          <a:prstGeom prst="rect">
            <a:avLst/>
          </a:prstGeom>
          <a:blipFill>
            <a:blip r:embed="rId2" cstate="print"/>
            <a:stretch>
              <a:fillRect/>
            </a:stretch>
          </a:blipFill>
        </p:spPr>
        <p:txBody>
          <a:bodyPr wrap="square" lIns="0" tIns="0" rIns="0" bIns="0" rtlCol="0"/>
          <a:lstStyle/>
          <a:p>
            <a:endParaRPr sz="2400"/>
          </a:p>
        </p:txBody>
      </p:sp>
      <p:sp>
        <p:nvSpPr>
          <p:cNvPr id="4" name="object 4"/>
          <p:cNvSpPr/>
          <p:nvPr/>
        </p:nvSpPr>
        <p:spPr>
          <a:xfrm>
            <a:off x="1403962" y="3371001"/>
            <a:ext cx="583353" cy="1150620"/>
          </a:xfrm>
          <a:custGeom>
            <a:avLst/>
            <a:gdLst/>
            <a:ahLst/>
            <a:cxnLst/>
            <a:rect l="l" t="t" r="r" b="b"/>
            <a:pathLst>
              <a:path w="437515" h="862964">
                <a:moveTo>
                  <a:pt x="437339" y="0"/>
                </a:moveTo>
                <a:lnTo>
                  <a:pt x="412715" y="2737"/>
                </a:lnTo>
                <a:lnTo>
                  <a:pt x="377464" y="6333"/>
                </a:lnTo>
                <a:lnTo>
                  <a:pt x="337419" y="12553"/>
                </a:lnTo>
                <a:lnTo>
                  <a:pt x="298415" y="23158"/>
                </a:lnTo>
                <a:lnTo>
                  <a:pt x="259390" y="39459"/>
                </a:lnTo>
                <a:lnTo>
                  <a:pt x="218104" y="60236"/>
                </a:lnTo>
                <a:lnTo>
                  <a:pt x="178628" y="83455"/>
                </a:lnTo>
                <a:lnTo>
                  <a:pt x="145029" y="107081"/>
                </a:lnTo>
                <a:lnTo>
                  <a:pt x="98720" y="151939"/>
                </a:lnTo>
                <a:lnTo>
                  <a:pt x="63988" y="208374"/>
                </a:lnTo>
                <a:lnTo>
                  <a:pt x="45673" y="248100"/>
                </a:lnTo>
                <a:lnTo>
                  <a:pt x="27810" y="294294"/>
                </a:lnTo>
                <a:lnTo>
                  <a:pt x="12842" y="341663"/>
                </a:lnTo>
                <a:lnTo>
                  <a:pt x="3210" y="384918"/>
                </a:lnTo>
                <a:lnTo>
                  <a:pt x="0" y="422294"/>
                </a:lnTo>
                <a:lnTo>
                  <a:pt x="1764" y="456731"/>
                </a:lnTo>
                <a:lnTo>
                  <a:pt x="14789" y="523842"/>
                </a:lnTo>
                <a:lnTo>
                  <a:pt x="37399" y="595838"/>
                </a:lnTo>
                <a:lnTo>
                  <a:pt x="52570" y="630885"/>
                </a:lnTo>
                <a:lnTo>
                  <a:pt x="88681" y="690690"/>
                </a:lnTo>
                <a:lnTo>
                  <a:pt x="133002" y="738939"/>
                </a:lnTo>
                <a:lnTo>
                  <a:pt x="190116" y="783414"/>
                </a:lnTo>
                <a:lnTo>
                  <a:pt x="224256" y="804941"/>
                </a:lnTo>
                <a:lnTo>
                  <a:pt x="260023" y="824116"/>
                </a:lnTo>
                <a:lnTo>
                  <a:pt x="295520" y="839311"/>
                </a:lnTo>
                <a:lnTo>
                  <a:pt x="333891" y="849507"/>
                </a:lnTo>
                <a:lnTo>
                  <a:pt x="374931" y="855768"/>
                </a:lnTo>
                <a:lnTo>
                  <a:pt x="411720" y="859587"/>
                </a:lnTo>
                <a:lnTo>
                  <a:pt x="437339" y="862457"/>
                </a:lnTo>
              </a:path>
            </a:pathLst>
          </a:custGeom>
          <a:ln w="19049">
            <a:solidFill>
              <a:srgbClr val="FF0000"/>
            </a:solidFill>
          </a:ln>
        </p:spPr>
        <p:txBody>
          <a:bodyPr wrap="square" lIns="0" tIns="0" rIns="0" bIns="0" rtlCol="0"/>
          <a:lstStyle/>
          <a:p>
            <a:endParaRPr sz="2400"/>
          </a:p>
        </p:txBody>
      </p:sp>
      <p:sp>
        <p:nvSpPr>
          <p:cNvPr id="5" name="object 5"/>
          <p:cNvSpPr/>
          <p:nvPr/>
        </p:nvSpPr>
        <p:spPr>
          <a:xfrm>
            <a:off x="1971566" y="3371032"/>
            <a:ext cx="1739900" cy="0"/>
          </a:xfrm>
          <a:custGeom>
            <a:avLst/>
            <a:gdLst/>
            <a:ahLst/>
            <a:cxnLst/>
            <a:rect l="l" t="t" r="r" b="b"/>
            <a:pathLst>
              <a:path w="1304925">
                <a:moveTo>
                  <a:pt x="0" y="0"/>
                </a:moveTo>
                <a:lnTo>
                  <a:pt x="1304699" y="0"/>
                </a:lnTo>
              </a:path>
            </a:pathLst>
          </a:custGeom>
          <a:ln w="19049">
            <a:solidFill>
              <a:srgbClr val="FF0000"/>
            </a:solidFill>
          </a:ln>
        </p:spPr>
        <p:txBody>
          <a:bodyPr wrap="square" lIns="0" tIns="0" rIns="0" bIns="0" rtlCol="0"/>
          <a:lstStyle/>
          <a:p>
            <a:endParaRPr sz="2400"/>
          </a:p>
        </p:txBody>
      </p:sp>
      <p:sp>
        <p:nvSpPr>
          <p:cNvPr id="6" name="object 6"/>
          <p:cNvSpPr/>
          <p:nvPr/>
        </p:nvSpPr>
        <p:spPr>
          <a:xfrm>
            <a:off x="1971566" y="4520899"/>
            <a:ext cx="1778847" cy="0"/>
          </a:xfrm>
          <a:custGeom>
            <a:avLst/>
            <a:gdLst/>
            <a:ahLst/>
            <a:cxnLst/>
            <a:rect l="l" t="t" r="r" b="b"/>
            <a:pathLst>
              <a:path w="1334135">
                <a:moveTo>
                  <a:pt x="0" y="0"/>
                </a:moveTo>
                <a:lnTo>
                  <a:pt x="1333799" y="0"/>
                </a:lnTo>
              </a:path>
            </a:pathLst>
          </a:custGeom>
          <a:ln w="19049">
            <a:solidFill>
              <a:srgbClr val="FF0000"/>
            </a:solidFill>
          </a:ln>
        </p:spPr>
        <p:txBody>
          <a:bodyPr wrap="square" lIns="0" tIns="0" rIns="0" bIns="0" rtlCol="0"/>
          <a:lstStyle/>
          <a:p>
            <a:endParaRPr sz="2400"/>
          </a:p>
        </p:txBody>
      </p:sp>
      <p:sp>
        <p:nvSpPr>
          <p:cNvPr id="7" name="object 7"/>
          <p:cNvSpPr/>
          <p:nvPr/>
        </p:nvSpPr>
        <p:spPr>
          <a:xfrm>
            <a:off x="3706901" y="3371001"/>
            <a:ext cx="583353" cy="1150620"/>
          </a:xfrm>
          <a:custGeom>
            <a:avLst/>
            <a:gdLst/>
            <a:ahLst/>
            <a:cxnLst/>
            <a:rect l="l" t="t" r="r" b="b"/>
            <a:pathLst>
              <a:path w="437514" h="862964">
                <a:moveTo>
                  <a:pt x="0" y="862457"/>
                </a:moveTo>
                <a:lnTo>
                  <a:pt x="24624" y="859720"/>
                </a:lnTo>
                <a:lnTo>
                  <a:pt x="59875" y="856123"/>
                </a:lnTo>
                <a:lnTo>
                  <a:pt x="99920" y="849903"/>
                </a:lnTo>
                <a:lnTo>
                  <a:pt x="138924" y="839298"/>
                </a:lnTo>
                <a:lnTo>
                  <a:pt x="177949" y="822997"/>
                </a:lnTo>
                <a:lnTo>
                  <a:pt x="219235" y="802220"/>
                </a:lnTo>
                <a:lnTo>
                  <a:pt x="258711" y="779001"/>
                </a:lnTo>
                <a:lnTo>
                  <a:pt x="292310" y="755375"/>
                </a:lnTo>
                <a:lnTo>
                  <a:pt x="338619" y="710517"/>
                </a:lnTo>
                <a:lnTo>
                  <a:pt x="373351" y="654082"/>
                </a:lnTo>
                <a:lnTo>
                  <a:pt x="391666" y="614356"/>
                </a:lnTo>
                <a:lnTo>
                  <a:pt x="409529" y="568162"/>
                </a:lnTo>
                <a:lnTo>
                  <a:pt x="424497" y="520793"/>
                </a:lnTo>
                <a:lnTo>
                  <a:pt x="434129" y="477538"/>
                </a:lnTo>
                <a:lnTo>
                  <a:pt x="437339" y="440162"/>
                </a:lnTo>
                <a:lnTo>
                  <a:pt x="435575" y="405725"/>
                </a:lnTo>
                <a:lnTo>
                  <a:pt x="422550" y="338614"/>
                </a:lnTo>
                <a:lnTo>
                  <a:pt x="399940" y="266619"/>
                </a:lnTo>
                <a:lnTo>
                  <a:pt x="384769" y="231571"/>
                </a:lnTo>
                <a:lnTo>
                  <a:pt x="348658" y="171766"/>
                </a:lnTo>
                <a:lnTo>
                  <a:pt x="304336" y="123517"/>
                </a:lnTo>
                <a:lnTo>
                  <a:pt x="247223" y="79042"/>
                </a:lnTo>
                <a:lnTo>
                  <a:pt x="213083" y="57515"/>
                </a:lnTo>
                <a:lnTo>
                  <a:pt x="177316" y="38340"/>
                </a:lnTo>
                <a:lnTo>
                  <a:pt x="141819" y="23145"/>
                </a:lnTo>
                <a:lnTo>
                  <a:pt x="103448" y="12949"/>
                </a:lnTo>
                <a:lnTo>
                  <a:pt x="62408" y="6688"/>
                </a:lnTo>
                <a:lnTo>
                  <a:pt x="25619" y="2869"/>
                </a:lnTo>
                <a:lnTo>
                  <a:pt x="0" y="0"/>
                </a:lnTo>
              </a:path>
            </a:pathLst>
          </a:custGeom>
          <a:ln w="19049">
            <a:solidFill>
              <a:srgbClr val="FF0000"/>
            </a:solidFill>
          </a:ln>
        </p:spPr>
        <p:txBody>
          <a:bodyPr wrap="square" lIns="0" tIns="0" rIns="0" bIns="0" rtlCol="0"/>
          <a:lstStyle/>
          <a:p>
            <a:endParaRPr sz="2400"/>
          </a:p>
        </p:txBody>
      </p:sp>
      <p:sp>
        <p:nvSpPr>
          <p:cNvPr id="8" name="object 8"/>
          <p:cNvSpPr txBox="1"/>
          <p:nvPr/>
        </p:nvSpPr>
        <p:spPr>
          <a:xfrm>
            <a:off x="6057197" y="2365680"/>
            <a:ext cx="4068233" cy="632651"/>
          </a:xfrm>
          <a:prstGeom prst="rect">
            <a:avLst/>
          </a:prstGeom>
        </p:spPr>
        <p:txBody>
          <a:bodyPr vert="horz" wrap="square" lIns="0" tIns="16933" rIns="0" bIns="0" rtlCol="0">
            <a:spAutoFit/>
          </a:bodyPr>
          <a:lstStyle/>
          <a:p>
            <a:pPr marL="16933">
              <a:spcBef>
                <a:spcPts val="133"/>
              </a:spcBef>
            </a:pPr>
            <a:r>
              <a:rPr sz="4000" i="1" spc="-7" dirty="0">
                <a:latin typeface="Cambria"/>
                <a:cs typeface="Cambria"/>
              </a:rPr>
              <a:t>dist(L</a:t>
            </a:r>
            <a:r>
              <a:rPr sz="4000" i="1" spc="-9" baseline="-31944" dirty="0">
                <a:latin typeface="Cambria"/>
                <a:cs typeface="Cambria"/>
              </a:rPr>
              <a:t>1</a:t>
            </a:r>
            <a:r>
              <a:rPr sz="4000" i="1" spc="-7" dirty="0">
                <a:latin typeface="Cambria"/>
                <a:cs typeface="Cambria"/>
              </a:rPr>
              <a:t>, L</a:t>
            </a:r>
            <a:r>
              <a:rPr sz="4000" i="1" spc="-9" baseline="-31944" dirty="0">
                <a:latin typeface="Cambria"/>
                <a:cs typeface="Cambria"/>
              </a:rPr>
              <a:t>2</a:t>
            </a:r>
            <a:r>
              <a:rPr sz="4000" i="1" spc="-7" dirty="0">
                <a:latin typeface="Cambria"/>
                <a:cs typeface="Cambria"/>
              </a:rPr>
              <a:t>) </a:t>
            </a:r>
            <a:r>
              <a:rPr sz="4000" dirty="0">
                <a:latin typeface="Cambria"/>
                <a:cs typeface="Cambria"/>
              </a:rPr>
              <a:t>&lt; </a:t>
            </a:r>
            <a:r>
              <a:rPr sz="4000" i="1" dirty="0">
                <a:latin typeface="Cambria"/>
                <a:cs typeface="Cambria"/>
              </a:rPr>
              <a:t>r</a:t>
            </a:r>
            <a:r>
              <a:rPr sz="4000" i="1" baseline="-31944" dirty="0">
                <a:latin typeface="Cambria"/>
                <a:cs typeface="Cambria"/>
              </a:rPr>
              <a:t>1 </a:t>
            </a:r>
            <a:r>
              <a:rPr sz="4000" dirty="0">
                <a:latin typeface="Cambria"/>
                <a:cs typeface="Cambria"/>
              </a:rPr>
              <a:t>+</a:t>
            </a:r>
            <a:r>
              <a:rPr sz="4000" spc="-393" dirty="0">
                <a:latin typeface="Cambria"/>
                <a:cs typeface="Cambria"/>
              </a:rPr>
              <a:t> </a:t>
            </a:r>
            <a:r>
              <a:rPr sz="4000" i="1" dirty="0">
                <a:latin typeface="Cambria"/>
                <a:cs typeface="Cambria"/>
              </a:rPr>
              <a:t>r</a:t>
            </a:r>
            <a:r>
              <a:rPr sz="4000" i="1" baseline="-31944" dirty="0">
                <a:latin typeface="Cambria"/>
                <a:cs typeface="Cambria"/>
              </a:rPr>
              <a:t>2</a:t>
            </a:r>
            <a:endParaRPr sz="4000" baseline="-31944">
              <a:latin typeface="Cambria"/>
              <a:cs typeface="Cambria"/>
            </a:endParaRPr>
          </a:p>
        </p:txBody>
      </p:sp>
      <p:sp>
        <p:nvSpPr>
          <p:cNvPr id="9" name="object 9"/>
          <p:cNvSpPr/>
          <p:nvPr/>
        </p:nvSpPr>
        <p:spPr>
          <a:xfrm>
            <a:off x="5560603" y="4885719"/>
            <a:ext cx="963507" cy="1009227"/>
          </a:xfrm>
          <a:custGeom>
            <a:avLst/>
            <a:gdLst/>
            <a:ahLst/>
            <a:cxnLst/>
            <a:rect l="l" t="t" r="r" b="b"/>
            <a:pathLst>
              <a:path w="722629" h="756920">
                <a:moveTo>
                  <a:pt x="411821" y="756663"/>
                </a:moveTo>
                <a:lnTo>
                  <a:pt x="346713" y="749469"/>
                </a:lnTo>
                <a:lnTo>
                  <a:pt x="280189" y="728173"/>
                </a:lnTo>
                <a:lnTo>
                  <a:pt x="245715" y="711753"/>
                </a:lnTo>
                <a:lnTo>
                  <a:pt x="212249" y="692773"/>
                </a:lnTo>
                <a:lnTo>
                  <a:pt x="153329" y="651929"/>
                </a:lnTo>
                <a:lnTo>
                  <a:pt x="103428" y="605640"/>
                </a:lnTo>
                <a:lnTo>
                  <a:pt x="60079" y="536468"/>
                </a:lnTo>
                <a:lnTo>
                  <a:pt x="40203" y="490949"/>
                </a:lnTo>
                <a:lnTo>
                  <a:pt x="23281" y="444412"/>
                </a:lnTo>
                <a:lnTo>
                  <a:pt x="10951" y="402447"/>
                </a:lnTo>
                <a:lnTo>
                  <a:pt x="0" y="337104"/>
                </a:lnTo>
                <a:lnTo>
                  <a:pt x="621" y="306671"/>
                </a:lnTo>
                <a:lnTo>
                  <a:pt x="15148" y="232979"/>
                </a:lnTo>
                <a:lnTo>
                  <a:pt x="29612" y="189533"/>
                </a:lnTo>
                <a:lnTo>
                  <a:pt x="47044" y="146735"/>
                </a:lnTo>
                <a:lnTo>
                  <a:pt x="65716" y="108795"/>
                </a:lnTo>
                <a:lnTo>
                  <a:pt x="88119" y="75160"/>
                </a:lnTo>
                <a:lnTo>
                  <a:pt x="114189" y="44143"/>
                </a:lnTo>
                <a:lnTo>
                  <a:pt x="138374" y="18253"/>
                </a:lnTo>
                <a:lnTo>
                  <a:pt x="155119" y="0"/>
                </a:lnTo>
                <a:lnTo>
                  <a:pt x="722257" y="649564"/>
                </a:lnTo>
                <a:lnTo>
                  <a:pt x="701075" y="664249"/>
                </a:lnTo>
                <a:lnTo>
                  <a:pt x="670856" y="685565"/>
                </a:lnTo>
                <a:lnTo>
                  <a:pt x="635829" y="707837"/>
                </a:lnTo>
                <a:lnTo>
                  <a:pt x="600225" y="725390"/>
                </a:lnTo>
                <a:lnTo>
                  <a:pt x="563498" y="737288"/>
                </a:lnTo>
                <a:lnTo>
                  <a:pt x="523951" y="746366"/>
                </a:lnTo>
                <a:lnTo>
                  <a:pt x="484083" y="752602"/>
                </a:lnTo>
                <a:lnTo>
                  <a:pt x="446395" y="755976"/>
                </a:lnTo>
                <a:lnTo>
                  <a:pt x="411821" y="756663"/>
                </a:lnTo>
                <a:close/>
              </a:path>
            </a:pathLst>
          </a:custGeom>
          <a:solidFill>
            <a:srgbClr val="EEEEEE"/>
          </a:solidFill>
        </p:spPr>
        <p:txBody>
          <a:bodyPr wrap="square" lIns="0" tIns="0" rIns="0" bIns="0" rtlCol="0"/>
          <a:lstStyle/>
          <a:p>
            <a:endParaRPr sz="2400"/>
          </a:p>
        </p:txBody>
      </p:sp>
      <p:sp>
        <p:nvSpPr>
          <p:cNvPr id="10" name="object 10"/>
          <p:cNvSpPr/>
          <p:nvPr/>
        </p:nvSpPr>
        <p:spPr>
          <a:xfrm>
            <a:off x="5560603" y="4885719"/>
            <a:ext cx="963507" cy="1009227"/>
          </a:xfrm>
          <a:custGeom>
            <a:avLst/>
            <a:gdLst/>
            <a:ahLst/>
            <a:cxnLst/>
            <a:rect l="l" t="t" r="r" b="b"/>
            <a:pathLst>
              <a:path w="722629" h="756920">
                <a:moveTo>
                  <a:pt x="155119" y="0"/>
                </a:moveTo>
                <a:lnTo>
                  <a:pt x="138374" y="18253"/>
                </a:lnTo>
                <a:lnTo>
                  <a:pt x="114189" y="44143"/>
                </a:lnTo>
                <a:lnTo>
                  <a:pt x="88119" y="75160"/>
                </a:lnTo>
                <a:lnTo>
                  <a:pt x="65716" y="108795"/>
                </a:lnTo>
                <a:lnTo>
                  <a:pt x="47044" y="146735"/>
                </a:lnTo>
                <a:lnTo>
                  <a:pt x="29612" y="189533"/>
                </a:lnTo>
                <a:lnTo>
                  <a:pt x="15148" y="232979"/>
                </a:lnTo>
                <a:lnTo>
                  <a:pt x="5380" y="272867"/>
                </a:lnTo>
                <a:lnTo>
                  <a:pt x="0" y="337104"/>
                </a:lnTo>
                <a:lnTo>
                  <a:pt x="3461" y="367813"/>
                </a:lnTo>
                <a:lnTo>
                  <a:pt x="23281" y="444412"/>
                </a:lnTo>
                <a:lnTo>
                  <a:pt x="40203" y="490949"/>
                </a:lnTo>
                <a:lnTo>
                  <a:pt x="60079" y="536468"/>
                </a:lnTo>
                <a:lnTo>
                  <a:pt x="81268" y="575379"/>
                </a:lnTo>
                <a:lnTo>
                  <a:pt x="127403" y="630417"/>
                </a:lnTo>
                <a:lnTo>
                  <a:pt x="181344" y="672397"/>
                </a:lnTo>
                <a:lnTo>
                  <a:pt x="245715" y="711753"/>
                </a:lnTo>
                <a:lnTo>
                  <a:pt x="280189" y="728173"/>
                </a:lnTo>
                <a:lnTo>
                  <a:pt x="346713" y="749469"/>
                </a:lnTo>
                <a:lnTo>
                  <a:pt x="411821" y="756663"/>
                </a:lnTo>
                <a:lnTo>
                  <a:pt x="446395" y="755976"/>
                </a:lnTo>
                <a:lnTo>
                  <a:pt x="523951" y="746366"/>
                </a:lnTo>
                <a:lnTo>
                  <a:pt x="563498" y="737288"/>
                </a:lnTo>
                <a:lnTo>
                  <a:pt x="600225" y="725390"/>
                </a:lnTo>
                <a:lnTo>
                  <a:pt x="635829" y="707837"/>
                </a:lnTo>
                <a:lnTo>
                  <a:pt x="670856" y="685565"/>
                </a:lnTo>
                <a:lnTo>
                  <a:pt x="701075" y="664249"/>
                </a:lnTo>
                <a:lnTo>
                  <a:pt x="722257" y="649564"/>
                </a:lnTo>
              </a:path>
            </a:pathLst>
          </a:custGeom>
          <a:ln w="9524">
            <a:solidFill>
              <a:srgbClr val="666666"/>
            </a:solidFill>
          </a:ln>
        </p:spPr>
        <p:txBody>
          <a:bodyPr wrap="square" lIns="0" tIns="0" rIns="0" bIns="0" rtlCol="0"/>
          <a:lstStyle/>
          <a:p>
            <a:endParaRPr sz="2400"/>
          </a:p>
        </p:txBody>
      </p:sp>
      <p:sp>
        <p:nvSpPr>
          <p:cNvPr id="11" name="object 11"/>
          <p:cNvSpPr/>
          <p:nvPr/>
        </p:nvSpPr>
        <p:spPr>
          <a:xfrm>
            <a:off x="5755820" y="3751861"/>
            <a:ext cx="1310640" cy="1144692"/>
          </a:xfrm>
          <a:custGeom>
            <a:avLst/>
            <a:gdLst/>
            <a:ahLst/>
            <a:cxnLst/>
            <a:rect l="l" t="t" r="r" b="b"/>
            <a:pathLst>
              <a:path w="982979" h="858520">
                <a:moveTo>
                  <a:pt x="0" y="857999"/>
                </a:moveTo>
                <a:lnTo>
                  <a:pt x="982799" y="0"/>
                </a:lnTo>
              </a:path>
            </a:pathLst>
          </a:custGeom>
          <a:ln w="9524">
            <a:solidFill>
              <a:srgbClr val="666666"/>
            </a:solidFill>
          </a:ln>
        </p:spPr>
        <p:txBody>
          <a:bodyPr wrap="square" lIns="0" tIns="0" rIns="0" bIns="0" rtlCol="0"/>
          <a:lstStyle/>
          <a:p>
            <a:endParaRPr sz="2400"/>
          </a:p>
        </p:txBody>
      </p:sp>
      <p:sp>
        <p:nvSpPr>
          <p:cNvPr id="12" name="object 12"/>
          <p:cNvSpPr/>
          <p:nvPr/>
        </p:nvSpPr>
        <p:spPr>
          <a:xfrm>
            <a:off x="6512126" y="4591999"/>
            <a:ext cx="1340273" cy="1170092"/>
          </a:xfrm>
          <a:custGeom>
            <a:avLst/>
            <a:gdLst/>
            <a:ahLst/>
            <a:cxnLst/>
            <a:rect l="l" t="t" r="r" b="b"/>
            <a:pathLst>
              <a:path w="1005204" h="877570">
                <a:moveTo>
                  <a:pt x="0" y="877499"/>
                </a:moveTo>
                <a:lnTo>
                  <a:pt x="1004699" y="0"/>
                </a:lnTo>
              </a:path>
            </a:pathLst>
          </a:custGeom>
          <a:ln w="9524">
            <a:solidFill>
              <a:srgbClr val="666666"/>
            </a:solidFill>
          </a:ln>
        </p:spPr>
        <p:txBody>
          <a:bodyPr wrap="square" lIns="0" tIns="0" rIns="0" bIns="0" rtlCol="0"/>
          <a:lstStyle/>
          <a:p>
            <a:endParaRPr sz="2400"/>
          </a:p>
        </p:txBody>
      </p:sp>
      <p:sp>
        <p:nvSpPr>
          <p:cNvPr id="13" name="object 13"/>
          <p:cNvSpPr/>
          <p:nvPr/>
        </p:nvSpPr>
        <p:spPr>
          <a:xfrm>
            <a:off x="7063168" y="3611673"/>
            <a:ext cx="963507" cy="1009227"/>
          </a:xfrm>
          <a:custGeom>
            <a:avLst/>
            <a:gdLst/>
            <a:ahLst/>
            <a:cxnLst/>
            <a:rect l="l" t="t" r="r" b="b"/>
            <a:pathLst>
              <a:path w="722629" h="756920">
                <a:moveTo>
                  <a:pt x="567137" y="756663"/>
                </a:moveTo>
                <a:lnTo>
                  <a:pt x="0" y="107098"/>
                </a:lnTo>
                <a:lnTo>
                  <a:pt x="21182" y="92413"/>
                </a:lnTo>
                <a:lnTo>
                  <a:pt x="51401" y="71097"/>
                </a:lnTo>
                <a:lnTo>
                  <a:pt x="86428" y="48825"/>
                </a:lnTo>
                <a:lnTo>
                  <a:pt x="122031" y="31273"/>
                </a:lnTo>
                <a:lnTo>
                  <a:pt x="158758" y="19374"/>
                </a:lnTo>
                <a:lnTo>
                  <a:pt x="198306" y="10296"/>
                </a:lnTo>
                <a:lnTo>
                  <a:pt x="238174" y="4060"/>
                </a:lnTo>
                <a:lnTo>
                  <a:pt x="310436" y="0"/>
                </a:lnTo>
                <a:lnTo>
                  <a:pt x="343319" y="2049"/>
                </a:lnTo>
                <a:lnTo>
                  <a:pt x="408143" y="15793"/>
                </a:lnTo>
                <a:lnTo>
                  <a:pt x="476541" y="44910"/>
                </a:lnTo>
                <a:lnTo>
                  <a:pt x="510008" y="63889"/>
                </a:lnTo>
                <a:lnTo>
                  <a:pt x="568928" y="104733"/>
                </a:lnTo>
                <a:lnTo>
                  <a:pt x="618828" y="151022"/>
                </a:lnTo>
                <a:lnTo>
                  <a:pt x="662178" y="220194"/>
                </a:lnTo>
                <a:lnTo>
                  <a:pt x="682054" y="265713"/>
                </a:lnTo>
                <a:lnTo>
                  <a:pt x="698976" y="312250"/>
                </a:lnTo>
                <a:lnTo>
                  <a:pt x="711306" y="354214"/>
                </a:lnTo>
                <a:lnTo>
                  <a:pt x="722257" y="419558"/>
                </a:lnTo>
                <a:lnTo>
                  <a:pt x="721636" y="449991"/>
                </a:lnTo>
                <a:lnTo>
                  <a:pt x="707108" y="523683"/>
                </a:lnTo>
                <a:lnTo>
                  <a:pt x="692645" y="567130"/>
                </a:lnTo>
                <a:lnTo>
                  <a:pt x="675213" y="609927"/>
                </a:lnTo>
                <a:lnTo>
                  <a:pt x="656540" y="647866"/>
                </a:lnTo>
                <a:lnTo>
                  <a:pt x="634138" y="681502"/>
                </a:lnTo>
                <a:lnTo>
                  <a:pt x="608068" y="712519"/>
                </a:lnTo>
                <a:lnTo>
                  <a:pt x="583883" y="738409"/>
                </a:lnTo>
                <a:lnTo>
                  <a:pt x="567137" y="756663"/>
                </a:lnTo>
                <a:close/>
              </a:path>
            </a:pathLst>
          </a:custGeom>
          <a:solidFill>
            <a:srgbClr val="EEEEEE"/>
          </a:solidFill>
        </p:spPr>
        <p:txBody>
          <a:bodyPr wrap="square" lIns="0" tIns="0" rIns="0" bIns="0" rtlCol="0"/>
          <a:lstStyle/>
          <a:p>
            <a:endParaRPr sz="2400"/>
          </a:p>
        </p:txBody>
      </p:sp>
      <p:sp>
        <p:nvSpPr>
          <p:cNvPr id="14" name="object 14"/>
          <p:cNvSpPr/>
          <p:nvPr/>
        </p:nvSpPr>
        <p:spPr>
          <a:xfrm>
            <a:off x="7063168" y="3611673"/>
            <a:ext cx="963507" cy="1009227"/>
          </a:xfrm>
          <a:custGeom>
            <a:avLst/>
            <a:gdLst/>
            <a:ahLst/>
            <a:cxnLst/>
            <a:rect l="l" t="t" r="r" b="b"/>
            <a:pathLst>
              <a:path w="722629" h="756920">
                <a:moveTo>
                  <a:pt x="567137" y="756663"/>
                </a:moveTo>
                <a:lnTo>
                  <a:pt x="583883" y="738409"/>
                </a:lnTo>
                <a:lnTo>
                  <a:pt x="608068" y="712519"/>
                </a:lnTo>
                <a:lnTo>
                  <a:pt x="634138" y="681502"/>
                </a:lnTo>
                <a:lnTo>
                  <a:pt x="656540" y="647866"/>
                </a:lnTo>
                <a:lnTo>
                  <a:pt x="675213" y="609927"/>
                </a:lnTo>
                <a:lnTo>
                  <a:pt x="692645" y="567130"/>
                </a:lnTo>
                <a:lnTo>
                  <a:pt x="707108" y="523683"/>
                </a:lnTo>
                <a:lnTo>
                  <a:pt x="716877" y="483795"/>
                </a:lnTo>
                <a:lnTo>
                  <a:pt x="722257" y="419558"/>
                </a:lnTo>
                <a:lnTo>
                  <a:pt x="718796" y="388849"/>
                </a:lnTo>
                <a:lnTo>
                  <a:pt x="698976" y="312250"/>
                </a:lnTo>
                <a:lnTo>
                  <a:pt x="682054" y="265713"/>
                </a:lnTo>
                <a:lnTo>
                  <a:pt x="662178" y="220194"/>
                </a:lnTo>
                <a:lnTo>
                  <a:pt x="640988" y="181283"/>
                </a:lnTo>
                <a:lnTo>
                  <a:pt x="594854" y="126245"/>
                </a:lnTo>
                <a:lnTo>
                  <a:pt x="540913" y="84265"/>
                </a:lnTo>
                <a:lnTo>
                  <a:pt x="476541" y="44910"/>
                </a:lnTo>
                <a:lnTo>
                  <a:pt x="442068" y="28490"/>
                </a:lnTo>
                <a:lnTo>
                  <a:pt x="375544" y="7193"/>
                </a:lnTo>
                <a:lnTo>
                  <a:pt x="310436" y="0"/>
                </a:lnTo>
                <a:lnTo>
                  <a:pt x="275861" y="686"/>
                </a:lnTo>
                <a:lnTo>
                  <a:pt x="198306" y="10296"/>
                </a:lnTo>
                <a:lnTo>
                  <a:pt x="158758" y="19374"/>
                </a:lnTo>
                <a:lnTo>
                  <a:pt x="122031" y="31273"/>
                </a:lnTo>
                <a:lnTo>
                  <a:pt x="86428" y="48825"/>
                </a:lnTo>
                <a:lnTo>
                  <a:pt x="51401" y="71097"/>
                </a:lnTo>
                <a:lnTo>
                  <a:pt x="21182" y="92413"/>
                </a:lnTo>
                <a:lnTo>
                  <a:pt x="0" y="107098"/>
                </a:lnTo>
              </a:path>
            </a:pathLst>
          </a:custGeom>
          <a:ln w="9524">
            <a:solidFill>
              <a:srgbClr val="666666"/>
            </a:solidFill>
          </a:ln>
        </p:spPr>
        <p:txBody>
          <a:bodyPr wrap="square" lIns="0" tIns="0" rIns="0" bIns="0" rtlCol="0"/>
          <a:lstStyle/>
          <a:p>
            <a:endParaRPr sz="2400"/>
          </a:p>
        </p:txBody>
      </p:sp>
      <p:sp>
        <p:nvSpPr>
          <p:cNvPr id="15" name="object 15"/>
          <p:cNvSpPr/>
          <p:nvPr/>
        </p:nvSpPr>
        <p:spPr>
          <a:xfrm>
            <a:off x="5759986" y="3756631"/>
            <a:ext cx="2059093" cy="2001520"/>
          </a:xfrm>
          <a:custGeom>
            <a:avLst/>
            <a:gdLst/>
            <a:ahLst/>
            <a:cxnLst/>
            <a:rect l="l" t="t" r="r" b="b"/>
            <a:pathLst>
              <a:path w="1544320" h="1501139">
                <a:moveTo>
                  <a:pt x="560999" y="1500599"/>
                </a:moveTo>
                <a:lnTo>
                  <a:pt x="0" y="857999"/>
                </a:lnTo>
                <a:lnTo>
                  <a:pt x="982799" y="0"/>
                </a:lnTo>
                <a:lnTo>
                  <a:pt x="1543799" y="642599"/>
                </a:lnTo>
                <a:lnTo>
                  <a:pt x="560999" y="1500599"/>
                </a:lnTo>
                <a:close/>
              </a:path>
            </a:pathLst>
          </a:custGeom>
          <a:solidFill>
            <a:srgbClr val="EEEEEE"/>
          </a:solidFill>
        </p:spPr>
        <p:txBody>
          <a:bodyPr wrap="square" lIns="0" tIns="0" rIns="0" bIns="0" rtlCol="0"/>
          <a:lstStyle/>
          <a:p>
            <a:endParaRPr sz="2400"/>
          </a:p>
        </p:txBody>
      </p:sp>
      <p:sp>
        <p:nvSpPr>
          <p:cNvPr id="16" name="object 16"/>
          <p:cNvSpPr/>
          <p:nvPr/>
        </p:nvSpPr>
        <p:spPr>
          <a:xfrm>
            <a:off x="6133985" y="4185031"/>
            <a:ext cx="1310640" cy="1144692"/>
          </a:xfrm>
          <a:custGeom>
            <a:avLst/>
            <a:gdLst/>
            <a:ahLst/>
            <a:cxnLst/>
            <a:rect l="l" t="t" r="r" b="b"/>
            <a:pathLst>
              <a:path w="982979" h="858520">
                <a:moveTo>
                  <a:pt x="0" y="857999"/>
                </a:moveTo>
                <a:lnTo>
                  <a:pt x="982799" y="0"/>
                </a:lnTo>
              </a:path>
            </a:pathLst>
          </a:custGeom>
          <a:ln w="28574">
            <a:solidFill>
              <a:srgbClr val="595959"/>
            </a:solidFill>
          </a:ln>
        </p:spPr>
        <p:txBody>
          <a:bodyPr wrap="square" lIns="0" tIns="0" rIns="0" bIns="0" rtlCol="0"/>
          <a:lstStyle/>
          <a:p>
            <a:endParaRPr sz="2400"/>
          </a:p>
        </p:txBody>
      </p:sp>
      <p:sp>
        <p:nvSpPr>
          <p:cNvPr id="17" name="object 17"/>
          <p:cNvSpPr/>
          <p:nvPr/>
        </p:nvSpPr>
        <p:spPr>
          <a:xfrm>
            <a:off x="7714196" y="4520901"/>
            <a:ext cx="583353" cy="1150620"/>
          </a:xfrm>
          <a:custGeom>
            <a:avLst/>
            <a:gdLst/>
            <a:ahLst/>
            <a:cxnLst/>
            <a:rect l="l" t="t" r="r" b="b"/>
            <a:pathLst>
              <a:path w="437514" h="862964">
                <a:moveTo>
                  <a:pt x="437339" y="862457"/>
                </a:moveTo>
                <a:lnTo>
                  <a:pt x="374931" y="855768"/>
                </a:lnTo>
                <a:lnTo>
                  <a:pt x="333891" y="849507"/>
                </a:lnTo>
                <a:lnTo>
                  <a:pt x="295520" y="839311"/>
                </a:lnTo>
                <a:lnTo>
                  <a:pt x="260023" y="824116"/>
                </a:lnTo>
                <a:lnTo>
                  <a:pt x="224256" y="804941"/>
                </a:lnTo>
                <a:lnTo>
                  <a:pt x="190116" y="783414"/>
                </a:lnTo>
                <a:lnTo>
                  <a:pt x="133002" y="738939"/>
                </a:lnTo>
                <a:lnTo>
                  <a:pt x="88681" y="690690"/>
                </a:lnTo>
                <a:lnTo>
                  <a:pt x="52570" y="630885"/>
                </a:lnTo>
                <a:lnTo>
                  <a:pt x="37399" y="595837"/>
                </a:lnTo>
                <a:lnTo>
                  <a:pt x="24670" y="559523"/>
                </a:lnTo>
                <a:lnTo>
                  <a:pt x="7146" y="489993"/>
                </a:lnTo>
                <a:lnTo>
                  <a:pt x="0" y="422294"/>
                </a:lnTo>
                <a:lnTo>
                  <a:pt x="3210" y="384918"/>
                </a:lnTo>
                <a:lnTo>
                  <a:pt x="12842" y="341663"/>
                </a:lnTo>
                <a:lnTo>
                  <a:pt x="27810" y="294294"/>
                </a:lnTo>
                <a:lnTo>
                  <a:pt x="45672" y="248100"/>
                </a:lnTo>
                <a:lnTo>
                  <a:pt x="63988" y="208373"/>
                </a:lnTo>
                <a:lnTo>
                  <a:pt x="98720" y="151939"/>
                </a:lnTo>
                <a:lnTo>
                  <a:pt x="145029" y="107081"/>
                </a:lnTo>
                <a:lnTo>
                  <a:pt x="178627" y="83455"/>
                </a:lnTo>
                <a:lnTo>
                  <a:pt x="218104" y="60236"/>
                </a:lnTo>
                <a:lnTo>
                  <a:pt x="259389" y="39459"/>
                </a:lnTo>
                <a:lnTo>
                  <a:pt x="298415" y="23157"/>
                </a:lnTo>
                <a:lnTo>
                  <a:pt x="337419" y="12553"/>
                </a:lnTo>
                <a:lnTo>
                  <a:pt x="377464" y="6333"/>
                </a:lnTo>
                <a:lnTo>
                  <a:pt x="437339" y="0"/>
                </a:lnTo>
                <a:lnTo>
                  <a:pt x="437339" y="862457"/>
                </a:lnTo>
                <a:close/>
              </a:path>
            </a:pathLst>
          </a:custGeom>
          <a:solidFill>
            <a:srgbClr val="EEEEEE"/>
          </a:solidFill>
        </p:spPr>
        <p:txBody>
          <a:bodyPr wrap="square" lIns="0" tIns="0" rIns="0" bIns="0" rtlCol="0"/>
          <a:lstStyle/>
          <a:p>
            <a:endParaRPr sz="2400"/>
          </a:p>
        </p:txBody>
      </p:sp>
      <p:sp>
        <p:nvSpPr>
          <p:cNvPr id="18" name="object 18"/>
          <p:cNvSpPr/>
          <p:nvPr/>
        </p:nvSpPr>
        <p:spPr>
          <a:xfrm>
            <a:off x="7714196" y="4520901"/>
            <a:ext cx="583353" cy="1150620"/>
          </a:xfrm>
          <a:custGeom>
            <a:avLst/>
            <a:gdLst/>
            <a:ahLst/>
            <a:cxnLst/>
            <a:rect l="l" t="t" r="r" b="b"/>
            <a:pathLst>
              <a:path w="437514" h="862964">
                <a:moveTo>
                  <a:pt x="437339" y="0"/>
                </a:moveTo>
                <a:lnTo>
                  <a:pt x="412715" y="2736"/>
                </a:lnTo>
                <a:lnTo>
                  <a:pt x="377464" y="6333"/>
                </a:lnTo>
                <a:lnTo>
                  <a:pt x="337419" y="12553"/>
                </a:lnTo>
                <a:lnTo>
                  <a:pt x="298415" y="23157"/>
                </a:lnTo>
                <a:lnTo>
                  <a:pt x="259389" y="39459"/>
                </a:lnTo>
                <a:lnTo>
                  <a:pt x="218104" y="60236"/>
                </a:lnTo>
                <a:lnTo>
                  <a:pt x="178627" y="83455"/>
                </a:lnTo>
                <a:lnTo>
                  <a:pt x="145029" y="107081"/>
                </a:lnTo>
                <a:lnTo>
                  <a:pt x="98720" y="151939"/>
                </a:lnTo>
                <a:lnTo>
                  <a:pt x="63988" y="208373"/>
                </a:lnTo>
                <a:lnTo>
                  <a:pt x="45672" y="248100"/>
                </a:lnTo>
                <a:lnTo>
                  <a:pt x="27810" y="294294"/>
                </a:lnTo>
                <a:lnTo>
                  <a:pt x="12842" y="341663"/>
                </a:lnTo>
                <a:lnTo>
                  <a:pt x="3210" y="384918"/>
                </a:lnTo>
                <a:lnTo>
                  <a:pt x="0" y="422294"/>
                </a:lnTo>
                <a:lnTo>
                  <a:pt x="1764" y="456731"/>
                </a:lnTo>
                <a:lnTo>
                  <a:pt x="14789" y="523842"/>
                </a:lnTo>
                <a:lnTo>
                  <a:pt x="37399" y="595837"/>
                </a:lnTo>
                <a:lnTo>
                  <a:pt x="52570" y="630885"/>
                </a:lnTo>
                <a:lnTo>
                  <a:pt x="88681" y="690690"/>
                </a:lnTo>
                <a:lnTo>
                  <a:pt x="133002" y="738939"/>
                </a:lnTo>
                <a:lnTo>
                  <a:pt x="190116" y="783414"/>
                </a:lnTo>
                <a:lnTo>
                  <a:pt x="224256" y="804941"/>
                </a:lnTo>
                <a:lnTo>
                  <a:pt x="260023" y="824116"/>
                </a:lnTo>
                <a:lnTo>
                  <a:pt x="295520" y="839311"/>
                </a:lnTo>
                <a:lnTo>
                  <a:pt x="333891" y="849507"/>
                </a:lnTo>
                <a:lnTo>
                  <a:pt x="374931" y="855768"/>
                </a:lnTo>
                <a:lnTo>
                  <a:pt x="411720" y="859587"/>
                </a:lnTo>
                <a:lnTo>
                  <a:pt x="437339" y="862457"/>
                </a:lnTo>
              </a:path>
            </a:pathLst>
          </a:custGeom>
          <a:ln w="9524">
            <a:solidFill>
              <a:srgbClr val="666666"/>
            </a:solidFill>
          </a:ln>
        </p:spPr>
        <p:txBody>
          <a:bodyPr wrap="square" lIns="0" tIns="0" rIns="0" bIns="0" rtlCol="0"/>
          <a:lstStyle/>
          <a:p>
            <a:endParaRPr sz="2400"/>
          </a:p>
        </p:txBody>
      </p:sp>
      <p:sp>
        <p:nvSpPr>
          <p:cNvPr id="19" name="object 19"/>
          <p:cNvSpPr/>
          <p:nvPr/>
        </p:nvSpPr>
        <p:spPr>
          <a:xfrm>
            <a:off x="8281799" y="4520933"/>
            <a:ext cx="1739900" cy="0"/>
          </a:xfrm>
          <a:custGeom>
            <a:avLst/>
            <a:gdLst/>
            <a:ahLst/>
            <a:cxnLst/>
            <a:rect l="l" t="t" r="r" b="b"/>
            <a:pathLst>
              <a:path w="1304925">
                <a:moveTo>
                  <a:pt x="0" y="0"/>
                </a:moveTo>
                <a:lnTo>
                  <a:pt x="1304699" y="0"/>
                </a:lnTo>
              </a:path>
            </a:pathLst>
          </a:custGeom>
          <a:ln w="9524">
            <a:solidFill>
              <a:srgbClr val="666666"/>
            </a:solidFill>
          </a:ln>
        </p:spPr>
        <p:txBody>
          <a:bodyPr wrap="square" lIns="0" tIns="0" rIns="0" bIns="0" rtlCol="0"/>
          <a:lstStyle/>
          <a:p>
            <a:endParaRPr sz="2400"/>
          </a:p>
        </p:txBody>
      </p:sp>
      <p:sp>
        <p:nvSpPr>
          <p:cNvPr id="20" name="object 20"/>
          <p:cNvSpPr/>
          <p:nvPr/>
        </p:nvSpPr>
        <p:spPr>
          <a:xfrm>
            <a:off x="8281799" y="5670800"/>
            <a:ext cx="1778847" cy="0"/>
          </a:xfrm>
          <a:custGeom>
            <a:avLst/>
            <a:gdLst/>
            <a:ahLst/>
            <a:cxnLst/>
            <a:rect l="l" t="t" r="r" b="b"/>
            <a:pathLst>
              <a:path w="1334134">
                <a:moveTo>
                  <a:pt x="0" y="0"/>
                </a:moveTo>
                <a:lnTo>
                  <a:pt x="1333799" y="0"/>
                </a:lnTo>
              </a:path>
            </a:pathLst>
          </a:custGeom>
          <a:ln w="9524">
            <a:solidFill>
              <a:srgbClr val="666666"/>
            </a:solidFill>
          </a:ln>
        </p:spPr>
        <p:txBody>
          <a:bodyPr wrap="square" lIns="0" tIns="0" rIns="0" bIns="0" rtlCol="0"/>
          <a:lstStyle/>
          <a:p>
            <a:endParaRPr sz="2400"/>
          </a:p>
        </p:txBody>
      </p:sp>
      <p:sp>
        <p:nvSpPr>
          <p:cNvPr id="21" name="object 21"/>
          <p:cNvSpPr/>
          <p:nvPr/>
        </p:nvSpPr>
        <p:spPr>
          <a:xfrm>
            <a:off x="10017133" y="4520901"/>
            <a:ext cx="583353" cy="1150620"/>
          </a:xfrm>
          <a:custGeom>
            <a:avLst/>
            <a:gdLst/>
            <a:ahLst/>
            <a:cxnLst/>
            <a:rect l="l" t="t" r="r" b="b"/>
            <a:pathLst>
              <a:path w="437515" h="862964">
                <a:moveTo>
                  <a:pt x="0" y="862457"/>
                </a:moveTo>
                <a:lnTo>
                  <a:pt x="0" y="0"/>
                </a:lnTo>
                <a:lnTo>
                  <a:pt x="62408" y="6688"/>
                </a:lnTo>
                <a:lnTo>
                  <a:pt x="103448" y="12949"/>
                </a:lnTo>
                <a:lnTo>
                  <a:pt x="141819" y="23145"/>
                </a:lnTo>
                <a:lnTo>
                  <a:pt x="177316" y="38340"/>
                </a:lnTo>
                <a:lnTo>
                  <a:pt x="213083" y="57515"/>
                </a:lnTo>
                <a:lnTo>
                  <a:pt x="247223" y="79042"/>
                </a:lnTo>
                <a:lnTo>
                  <a:pt x="304336" y="123518"/>
                </a:lnTo>
                <a:lnTo>
                  <a:pt x="348658" y="171766"/>
                </a:lnTo>
                <a:lnTo>
                  <a:pt x="384769" y="231571"/>
                </a:lnTo>
                <a:lnTo>
                  <a:pt x="399940" y="266619"/>
                </a:lnTo>
                <a:lnTo>
                  <a:pt x="412670" y="302933"/>
                </a:lnTo>
                <a:lnTo>
                  <a:pt x="430193" y="372463"/>
                </a:lnTo>
                <a:lnTo>
                  <a:pt x="437340" y="440162"/>
                </a:lnTo>
                <a:lnTo>
                  <a:pt x="434129" y="477538"/>
                </a:lnTo>
                <a:lnTo>
                  <a:pt x="424497" y="520793"/>
                </a:lnTo>
                <a:lnTo>
                  <a:pt x="409529" y="568162"/>
                </a:lnTo>
                <a:lnTo>
                  <a:pt x="391666" y="614356"/>
                </a:lnTo>
                <a:lnTo>
                  <a:pt x="373351" y="654082"/>
                </a:lnTo>
                <a:lnTo>
                  <a:pt x="338618" y="710517"/>
                </a:lnTo>
                <a:lnTo>
                  <a:pt x="292309" y="755375"/>
                </a:lnTo>
                <a:lnTo>
                  <a:pt x="258711" y="779001"/>
                </a:lnTo>
                <a:lnTo>
                  <a:pt x="219235" y="802220"/>
                </a:lnTo>
                <a:lnTo>
                  <a:pt x="177949" y="822997"/>
                </a:lnTo>
                <a:lnTo>
                  <a:pt x="138924" y="839298"/>
                </a:lnTo>
                <a:lnTo>
                  <a:pt x="99920" y="849903"/>
                </a:lnTo>
                <a:lnTo>
                  <a:pt x="59875" y="856123"/>
                </a:lnTo>
                <a:lnTo>
                  <a:pt x="0" y="862457"/>
                </a:lnTo>
                <a:close/>
              </a:path>
            </a:pathLst>
          </a:custGeom>
          <a:solidFill>
            <a:srgbClr val="EEEEEE"/>
          </a:solidFill>
        </p:spPr>
        <p:txBody>
          <a:bodyPr wrap="square" lIns="0" tIns="0" rIns="0" bIns="0" rtlCol="0"/>
          <a:lstStyle/>
          <a:p>
            <a:endParaRPr sz="2400"/>
          </a:p>
        </p:txBody>
      </p:sp>
      <p:sp>
        <p:nvSpPr>
          <p:cNvPr id="22" name="object 22"/>
          <p:cNvSpPr/>
          <p:nvPr/>
        </p:nvSpPr>
        <p:spPr>
          <a:xfrm>
            <a:off x="10017133" y="4520901"/>
            <a:ext cx="583353" cy="1150620"/>
          </a:xfrm>
          <a:custGeom>
            <a:avLst/>
            <a:gdLst/>
            <a:ahLst/>
            <a:cxnLst/>
            <a:rect l="l" t="t" r="r" b="b"/>
            <a:pathLst>
              <a:path w="437515" h="862964">
                <a:moveTo>
                  <a:pt x="0" y="862457"/>
                </a:moveTo>
                <a:lnTo>
                  <a:pt x="24624" y="859720"/>
                </a:lnTo>
                <a:lnTo>
                  <a:pt x="59875" y="856123"/>
                </a:lnTo>
                <a:lnTo>
                  <a:pt x="99920" y="849903"/>
                </a:lnTo>
                <a:lnTo>
                  <a:pt x="138924" y="839298"/>
                </a:lnTo>
                <a:lnTo>
                  <a:pt x="177949" y="822997"/>
                </a:lnTo>
                <a:lnTo>
                  <a:pt x="219235" y="802220"/>
                </a:lnTo>
                <a:lnTo>
                  <a:pt x="258711" y="779001"/>
                </a:lnTo>
                <a:lnTo>
                  <a:pt x="292309" y="755375"/>
                </a:lnTo>
                <a:lnTo>
                  <a:pt x="338618" y="710517"/>
                </a:lnTo>
                <a:lnTo>
                  <a:pt x="373351" y="654082"/>
                </a:lnTo>
                <a:lnTo>
                  <a:pt x="391666" y="614356"/>
                </a:lnTo>
                <a:lnTo>
                  <a:pt x="409529" y="568162"/>
                </a:lnTo>
                <a:lnTo>
                  <a:pt x="424497" y="520793"/>
                </a:lnTo>
                <a:lnTo>
                  <a:pt x="434129" y="477538"/>
                </a:lnTo>
                <a:lnTo>
                  <a:pt x="437340" y="440162"/>
                </a:lnTo>
                <a:lnTo>
                  <a:pt x="435575" y="405725"/>
                </a:lnTo>
                <a:lnTo>
                  <a:pt x="422550" y="338614"/>
                </a:lnTo>
                <a:lnTo>
                  <a:pt x="399940" y="266619"/>
                </a:lnTo>
                <a:lnTo>
                  <a:pt x="384769" y="231571"/>
                </a:lnTo>
                <a:lnTo>
                  <a:pt x="348658" y="171766"/>
                </a:lnTo>
                <a:lnTo>
                  <a:pt x="304336" y="123518"/>
                </a:lnTo>
                <a:lnTo>
                  <a:pt x="247223" y="79042"/>
                </a:lnTo>
                <a:lnTo>
                  <a:pt x="213083" y="57515"/>
                </a:lnTo>
                <a:lnTo>
                  <a:pt x="177316" y="38340"/>
                </a:lnTo>
                <a:lnTo>
                  <a:pt x="141819" y="23145"/>
                </a:lnTo>
                <a:lnTo>
                  <a:pt x="103448" y="12949"/>
                </a:lnTo>
                <a:lnTo>
                  <a:pt x="62408" y="6688"/>
                </a:lnTo>
                <a:lnTo>
                  <a:pt x="25619" y="2869"/>
                </a:lnTo>
                <a:lnTo>
                  <a:pt x="0" y="0"/>
                </a:lnTo>
              </a:path>
            </a:pathLst>
          </a:custGeom>
          <a:ln w="9524">
            <a:solidFill>
              <a:srgbClr val="666666"/>
            </a:solidFill>
          </a:ln>
        </p:spPr>
        <p:txBody>
          <a:bodyPr wrap="square" lIns="0" tIns="0" rIns="0" bIns="0" rtlCol="0"/>
          <a:lstStyle/>
          <a:p>
            <a:endParaRPr sz="2400"/>
          </a:p>
        </p:txBody>
      </p:sp>
      <p:sp>
        <p:nvSpPr>
          <p:cNvPr id="23" name="object 23"/>
          <p:cNvSpPr/>
          <p:nvPr/>
        </p:nvSpPr>
        <p:spPr>
          <a:xfrm>
            <a:off x="8281799" y="4527267"/>
            <a:ext cx="1739900" cy="1137920"/>
          </a:xfrm>
          <a:custGeom>
            <a:avLst/>
            <a:gdLst/>
            <a:ahLst/>
            <a:cxnLst/>
            <a:rect l="l" t="t" r="r" b="b"/>
            <a:pathLst>
              <a:path w="1304925" h="853439">
                <a:moveTo>
                  <a:pt x="0" y="0"/>
                </a:moveTo>
                <a:lnTo>
                  <a:pt x="1304699" y="0"/>
                </a:lnTo>
                <a:lnTo>
                  <a:pt x="1304699" y="852899"/>
                </a:lnTo>
                <a:lnTo>
                  <a:pt x="0" y="852899"/>
                </a:lnTo>
                <a:lnTo>
                  <a:pt x="0" y="0"/>
                </a:lnTo>
                <a:close/>
              </a:path>
            </a:pathLst>
          </a:custGeom>
          <a:solidFill>
            <a:srgbClr val="EEEEEE"/>
          </a:solidFill>
        </p:spPr>
        <p:txBody>
          <a:bodyPr wrap="square" lIns="0" tIns="0" rIns="0" bIns="0" rtlCol="0"/>
          <a:lstStyle/>
          <a:p>
            <a:endParaRPr sz="2400"/>
          </a:p>
        </p:txBody>
      </p:sp>
      <p:sp>
        <p:nvSpPr>
          <p:cNvPr id="24" name="object 24"/>
          <p:cNvSpPr/>
          <p:nvPr/>
        </p:nvSpPr>
        <p:spPr>
          <a:xfrm>
            <a:off x="8281801" y="5076817"/>
            <a:ext cx="1739900" cy="38100"/>
          </a:xfrm>
          <a:custGeom>
            <a:avLst/>
            <a:gdLst/>
            <a:ahLst/>
            <a:cxnLst/>
            <a:rect l="l" t="t" r="r" b="b"/>
            <a:pathLst>
              <a:path w="1304925" h="28575">
                <a:moveTo>
                  <a:pt x="0" y="0"/>
                </a:moveTo>
                <a:lnTo>
                  <a:pt x="1304699" y="0"/>
                </a:lnTo>
                <a:lnTo>
                  <a:pt x="1304699" y="28574"/>
                </a:lnTo>
                <a:lnTo>
                  <a:pt x="0" y="28574"/>
                </a:lnTo>
                <a:lnTo>
                  <a:pt x="0" y="0"/>
                </a:lnTo>
                <a:close/>
              </a:path>
            </a:pathLst>
          </a:custGeom>
          <a:solidFill>
            <a:srgbClr val="595959"/>
          </a:solidFill>
        </p:spPr>
        <p:txBody>
          <a:bodyPr wrap="square" lIns="0" tIns="0" rIns="0" bIns="0" rtlCol="0"/>
          <a:lstStyle/>
          <a:p>
            <a:endParaRPr sz="2400"/>
          </a:p>
        </p:txBody>
      </p:sp>
      <p:sp>
        <p:nvSpPr>
          <p:cNvPr id="25" name="object 25"/>
          <p:cNvSpPr/>
          <p:nvPr/>
        </p:nvSpPr>
        <p:spPr>
          <a:xfrm>
            <a:off x="7444385" y="4185031"/>
            <a:ext cx="838200" cy="911013"/>
          </a:xfrm>
          <a:custGeom>
            <a:avLst/>
            <a:gdLst/>
            <a:ahLst/>
            <a:cxnLst/>
            <a:rect l="l" t="t" r="r" b="b"/>
            <a:pathLst>
              <a:path w="628650" h="683260">
                <a:moveTo>
                  <a:pt x="0" y="0"/>
                </a:moveTo>
                <a:lnTo>
                  <a:pt x="628199" y="683099"/>
                </a:lnTo>
              </a:path>
            </a:pathLst>
          </a:custGeom>
          <a:ln w="9524">
            <a:solidFill>
              <a:srgbClr val="595959"/>
            </a:solidFill>
            <a:prstDash val="lgDash"/>
          </a:ln>
        </p:spPr>
        <p:txBody>
          <a:bodyPr wrap="square" lIns="0" tIns="0" rIns="0" bIns="0" rtlCol="0"/>
          <a:lstStyle/>
          <a:p>
            <a:endParaRPr sz="2400"/>
          </a:p>
        </p:txBody>
      </p:sp>
    </p:spTree>
    <p:extLst>
      <p:ext uri="{BB962C8B-B14F-4D97-AF65-F5344CB8AC3E}">
        <p14:creationId xmlns:p14="http://schemas.microsoft.com/office/powerpoint/2010/main" val="865159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Line-Line Distance"/>
          <p:cNvSpPr txBox="1">
            <a:spLocks noGrp="1"/>
          </p:cNvSpPr>
          <p:nvPr>
            <p:ph type="title"/>
          </p:nvPr>
        </p:nvSpPr>
        <p:spPr>
          <a:prstGeom prst="rect">
            <a:avLst/>
          </a:prstGeom>
        </p:spPr>
        <p:txBody>
          <a:bodyPr/>
          <a:lstStyle/>
          <a:p>
            <a:r>
              <a:t>Line-Line Distance</a:t>
            </a:r>
          </a:p>
        </p:txBody>
      </p:sp>
      <p:sp>
        <p:nvSpPr>
          <p:cNvPr id="245" name="where x0 and x1 are points on respective lines, and n0 and n1 are unit direction vectors along those lines"/>
          <p:cNvSpPr txBox="1">
            <a:spLocks noGrp="1"/>
          </p:cNvSpPr>
          <p:nvPr>
            <p:ph type="body" idx="1"/>
          </p:nvPr>
        </p:nvSpPr>
        <p:spPr>
          <a:prstGeom prst="rect">
            <a:avLst/>
          </a:prstGeom>
        </p:spPr>
        <p:txBody>
          <a:bodyPr/>
          <a:lstStyle/>
          <a:p>
            <a:endParaRPr/>
          </a:p>
          <a:p>
            <a:endParaRPr/>
          </a:p>
          <a:p>
            <a:endParaRPr/>
          </a:p>
          <a:p>
            <a:endParaRPr/>
          </a:p>
          <a:p>
            <a:r>
              <a:t>where x0 and x1 are points on respective lines, and n0 and n1 are unit direction vectors along those lines</a:t>
            </a:r>
          </a:p>
        </p:txBody>
      </p:sp>
      <p:pic>
        <p:nvPicPr>
          <p:cNvPr id="246" name="final.pdf" descr="final.pdf"/>
          <p:cNvPicPr>
            <a:picLocks noChangeAspect="1"/>
          </p:cNvPicPr>
          <p:nvPr/>
        </p:nvPicPr>
        <p:blipFill>
          <a:blip r:embed="rId2">
            <a:extLst/>
          </a:blip>
          <a:stretch>
            <a:fillRect/>
          </a:stretch>
        </p:blipFill>
        <p:spPr>
          <a:xfrm>
            <a:off x="4765477" y="3036094"/>
            <a:ext cx="2661047" cy="785813"/>
          </a:xfrm>
          <a:prstGeom prst="rect">
            <a:avLst/>
          </a:prstGeom>
          <a:ln w="12700">
            <a:miter lim="400000"/>
          </a:ln>
        </p:spPr>
      </p:pic>
    </p:spTree>
    <p:extLst>
      <p:ext uri="{BB962C8B-B14F-4D97-AF65-F5344CB8AC3E}">
        <p14:creationId xmlns:p14="http://schemas.microsoft.com/office/powerpoint/2010/main" val="1592731130"/>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Segment-Segment Collision"/>
          <p:cNvSpPr txBox="1">
            <a:spLocks noGrp="1"/>
          </p:cNvSpPr>
          <p:nvPr>
            <p:ph type="title"/>
          </p:nvPr>
        </p:nvSpPr>
        <p:spPr>
          <a:prstGeom prst="rect">
            <a:avLst/>
          </a:prstGeom>
        </p:spPr>
        <p:txBody>
          <a:bodyPr/>
          <a:lstStyle/>
          <a:p>
            <a:r>
              <a:t>Segment-Segment Collision</a:t>
            </a:r>
          </a:p>
        </p:txBody>
      </p:sp>
      <p:sp>
        <p:nvSpPr>
          <p:cNvPr id="249" name="Determine closest point between lines…"/>
          <p:cNvSpPr txBox="1">
            <a:spLocks noGrp="1"/>
          </p:cNvSpPr>
          <p:nvPr>
            <p:ph type="body" sz="half" idx="1"/>
          </p:nvPr>
        </p:nvSpPr>
        <p:spPr>
          <a:xfrm>
            <a:off x="2416969" y="1946672"/>
            <a:ext cx="7358063" cy="2500313"/>
          </a:xfrm>
          <a:prstGeom prst="rect">
            <a:avLst/>
          </a:prstGeom>
        </p:spPr>
        <p:txBody>
          <a:bodyPr/>
          <a:lstStyle/>
          <a:p>
            <a:r>
              <a:t>Determine closest point between lines</a:t>
            </a:r>
          </a:p>
          <a:p>
            <a:r>
              <a:t>If lies on both segments, done</a:t>
            </a:r>
          </a:p>
          <a:p>
            <a:r>
              <a:t>Otherwise clamp against nearest endpoint and recompute</a:t>
            </a:r>
          </a:p>
        </p:txBody>
      </p:sp>
      <p:sp>
        <p:nvSpPr>
          <p:cNvPr id="250" name="Line"/>
          <p:cNvSpPr/>
          <p:nvPr/>
        </p:nvSpPr>
        <p:spPr>
          <a:xfrm flipV="1">
            <a:off x="4542234" y="5197078"/>
            <a:ext cx="2464594" cy="857250"/>
          </a:xfrm>
          <a:prstGeom prst="line">
            <a:avLst/>
          </a:prstGeom>
          <a:ln w="38100" cap="sq">
            <a:solidFill>
              <a:srgbClr val="FF2600"/>
            </a:solidFill>
          </a:ln>
        </p:spPr>
        <p:txBody>
          <a:bodyPr lIns="35719" tIns="35719" rIns="35719" bIns="35719" anchor="ctr"/>
          <a:lstStyle/>
          <a:p>
            <a:endParaRPr sz="1266"/>
          </a:p>
        </p:txBody>
      </p:sp>
      <p:sp>
        <p:nvSpPr>
          <p:cNvPr id="251" name="Line"/>
          <p:cNvSpPr/>
          <p:nvPr/>
        </p:nvSpPr>
        <p:spPr>
          <a:xfrm flipV="1">
            <a:off x="7381875" y="4500563"/>
            <a:ext cx="642938" cy="1339453"/>
          </a:xfrm>
          <a:prstGeom prst="line">
            <a:avLst/>
          </a:prstGeom>
          <a:ln w="38100" cap="sq">
            <a:solidFill>
              <a:srgbClr val="FF2600"/>
            </a:solidFill>
          </a:ln>
        </p:spPr>
        <p:txBody>
          <a:bodyPr lIns="35719" tIns="35719" rIns="35719" bIns="35719" anchor="ctr"/>
          <a:lstStyle/>
          <a:p>
            <a:endParaRPr sz="1266"/>
          </a:p>
        </p:txBody>
      </p:sp>
      <p:sp>
        <p:nvSpPr>
          <p:cNvPr id="252" name="Line"/>
          <p:cNvSpPr/>
          <p:nvPr/>
        </p:nvSpPr>
        <p:spPr>
          <a:xfrm>
            <a:off x="7006828" y="5197078"/>
            <a:ext cx="589359" cy="267891"/>
          </a:xfrm>
          <a:prstGeom prst="line">
            <a:avLst/>
          </a:prstGeom>
          <a:ln w="12700">
            <a:solidFill>
              <a:srgbClr val="FF2600"/>
            </a:solidFill>
            <a:prstDash val="dash"/>
          </a:ln>
        </p:spPr>
        <p:txBody>
          <a:bodyPr lIns="35719" tIns="35719" rIns="35719" bIns="35719" anchor="ctr"/>
          <a:lstStyle/>
          <a:p>
            <a:endParaRPr sz="1266"/>
          </a:p>
        </p:txBody>
      </p:sp>
    </p:spTree>
    <p:extLst>
      <p:ext uri="{BB962C8B-B14F-4D97-AF65-F5344CB8AC3E}">
        <p14:creationId xmlns:p14="http://schemas.microsoft.com/office/powerpoint/2010/main" val="784279823"/>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4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4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4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 grpId="0" build="p" bldLvl="5"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3162300" cy="591551"/>
          </a:xfrm>
          <a:prstGeom prst="rect">
            <a:avLst/>
          </a:prstGeom>
        </p:spPr>
        <p:txBody>
          <a:bodyPr vert="horz" wrap="square" lIns="0" tIns="16933" rIns="0" bIns="0" rtlCol="0" anchor="ctr">
            <a:spAutoFit/>
          </a:bodyPr>
          <a:lstStyle/>
          <a:p>
            <a:pPr marL="16933">
              <a:lnSpc>
                <a:spcPct val="100000"/>
              </a:lnSpc>
              <a:spcBef>
                <a:spcPts val="133"/>
              </a:spcBef>
            </a:pPr>
            <a:r>
              <a:rPr sz="3733" spc="-13" dirty="0">
                <a:solidFill>
                  <a:srgbClr val="000000"/>
                </a:solidFill>
              </a:rPr>
              <a:t>Shapes:</a:t>
            </a:r>
            <a:r>
              <a:rPr sz="3733" spc="-120" dirty="0">
                <a:solidFill>
                  <a:srgbClr val="000000"/>
                </a:solidFill>
              </a:rPr>
              <a:t> </a:t>
            </a:r>
            <a:r>
              <a:rPr sz="3733" spc="-7" dirty="0">
                <a:solidFill>
                  <a:srgbClr val="000000"/>
                </a:solidFill>
              </a:rPr>
              <a:t>AABB</a:t>
            </a:r>
            <a:endParaRPr sz="3733"/>
          </a:p>
        </p:txBody>
      </p:sp>
      <p:sp>
        <p:nvSpPr>
          <p:cNvPr id="3" name="object 3"/>
          <p:cNvSpPr/>
          <p:nvPr/>
        </p:nvSpPr>
        <p:spPr>
          <a:xfrm>
            <a:off x="1603263" y="2842286"/>
            <a:ext cx="2557007" cy="2266047"/>
          </a:xfrm>
          <a:prstGeom prst="rect">
            <a:avLst/>
          </a:prstGeom>
          <a:blipFill>
            <a:blip r:embed="rId2" cstate="print"/>
            <a:stretch>
              <a:fillRect/>
            </a:stretch>
          </a:blipFill>
        </p:spPr>
        <p:txBody>
          <a:bodyPr wrap="square" lIns="0" tIns="0" rIns="0" bIns="0" rtlCol="0"/>
          <a:lstStyle/>
          <a:p>
            <a:endParaRPr sz="2400"/>
          </a:p>
        </p:txBody>
      </p:sp>
      <p:sp>
        <p:nvSpPr>
          <p:cNvPr id="4" name="object 4"/>
          <p:cNvSpPr/>
          <p:nvPr/>
        </p:nvSpPr>
        <p:spPr>
          <a:xfrm>
            <a:off x="1461299" y="2548525"/>
            <a:ext cx="0" cy="2794847"/>
          </a:xfrm>
          <a:custGeom>
            <a:avLst/>
            <a:gdLst/>
            <a:ahLst/>
            <a:cxnLst/>
            <a:rect l="l" t="t" r="r" b="b"/>
            <a:pathLst>
              <a:path h="2096135">
                <a:moveTo>
                  <a:pt x="0" y="2095556"/>
                </a:moveTo>
                <a:lnTo>
                  <a:pt x="0" y="0"/>
                </a:lnTo>
              </a:path>
            </a:pathLst>
          </a:custGeom>
          <a:ln w="9524">
            <a:solidFill>
              <a:srgbClr val="595959"/>
            </a:solidFill>
          </a:ln>
        </p:spPr>
        <p:txBody>
          <a:bodyPr wrap="square" lIns="0" tIns="0" rIns="0" bIns="0" rtlCol="0"/>
          <a:lstStyle/>
          <a:p>
            <a:endParaRPr sz="2400"/>
          </a:p>
        </p:txBody>
      </p:sp>
      <p:sp>
        <p:nvSpPr>
          <p:cNvPr id="5" name="object 5"/>
          <p:cNvSpPr/>
          <p:nvPr/>
        </p:nvSpPr>
        <p:spPr>
          <a:xfrm>
            <a:off x="1447017" y="2523566"/>
            <a:ext cx="28787" cy="39793"/>
          </a:xfrm>
          <a:custGeom>
            <a:avLst/>
            <a:gdLst/>
            <a:ahLst/>
            <a:cxnLst/>
            <a:rect l="l" t="t" r="r" b="b"/>
            <a:pathLst>
              <a:path w="21590" h="29844">
                <a:moveTo>
                  <a:pt x="0" y="29430"/>
                </a:moveTo>
                <a:lnTo>
                  <a:pt x="10711" y="0"/>
                </a:lnTo>
                <a:lnTo>
                  <a:pt x="17524" y="18718"/>
                </a:lnTo>
                <a:lnTo>
                  <a:pt x="10711" y="18718"/>
                </a:lnTo>
                <a:lnTo>
                  <a:pt x="0" y="29430"/>
                </a:lnTo>
                <a:close/>
              </a:path>
              <a:path w="21590" h="29844">
                <a:moveTo>
                  <a:pt x="21423" y="29430"/>
                </a:moveTo>
                <a:lnTo>
                  <a:pt x="10711" y="18718"/>
                </a:lnTo>
                <a:lnTo>
                  <a:pt x="17524" y="18718"/>
                </a:lnTo>
                <a:lnTo>
                  <a:pt x="21423" y="29430"/>
                </a:lnTo>
                <a:close/>
              </a:path>
            </a:pathLst>
          </a:custGeom>
          <a:solidFill>
            <a:srgbClr val="595959"/>
          </a:solidFill>
        </p:spPr>
        <p:txBody>
          <a:bodyPr wrap="square" lIns="0" tIns="0" rIns="0" bIns="0" rtlCol="0"/>
          <a:lstStyle/>
          <a:p>
            <a:endParaRPr sz="2400"/>
          </a:p>
        </p:txBody>
      </p:sp>
      <p:sp>
        <p:nvSpPr>
          <p:cNvPr id="6" name="object 6"/>
          <p:cNvSpPr/>
          <p:nvPr/>
        </p:nvSpPr>
        <p:spPr>
          <a:xfrm>
            <a:off x="1447017" y="2523566"/>
            <a:ext cx="28787" cy="39793"/>
          </a:xfrm>
          <a:custGeom>
            <a:avLst/>
            <a:gdLst/>
            <a:ahLst/>
            <a:cxnLst/>
            <a:rect l="l" t="t" r="r" b="b"/>
            <a:pathLst>
              <a:path w="21590" h="29844">
                <a:moveTo>
                  <a:pt x="10711" y="18718"/>
                </a:moveTo>
                <a:lnTo>
                  <a:pt x="21423" y="29430"/>
                </a:lnTo>
                <a:lnTo>
                  <a:pt x="10711" y="0"/>
                </a:lnTo>
                <a:lnTo>
                  <a:pt x="0" y="29430"/>
                </a:lnTo>
                <a:lnTo>
                  <a:pt x="10711" y="18718"/>
                </a:lnTo>
                <a:close/>
              </a:path>
            </a:pathLst>
          </a:custGeom>
          <a:ln w="9524">
            <a:solidFill>
              <a:srgbClr val="595959"/>
            </a:solidFill>
          </a:ln>
        </p:spPr>
        <p:txBody>
          <a:bodyPr wrap="square" lIns="0" tIns="0" rIns="0" bIns="0" rtlCol="0"/>
          <a:lstStyle/>
          <a:p>
            <a:endParaRPr sz="2400"/>
          </a:p>
        </p:txBody>
      </p:sp>
      <p:sp>
        <p:nvSpPr>
          <p:cNvPr id="7" name="object 7"/>
          <p:cNvSpPr/>
          <p:nvPr/>
        </p:nvSpPr>
        <p:spPr>
          <a:xfrm>
            <a:off x="1469032" y="5342599"/>
            <a:ext cx="2778760" cy="0"/>
          </a:xfrm>
          <a:custGeom>
            <a:avLst/>
            <a:gdLst/>
            <a:ahLst/>
            <a:cxnLst/>
            <a:rect l="l" t="t" r="r" b="b"/>
            <a:pathLst>
              <a:path w="2084070">
                <a:moveTo>
                  <a:pt x="0" y="0"/>
                </a:moveTo>
                <a:lnTo>
                  <a:pt x="2083856" y="0"/>
                </a:lnTo>
              </a:path>
            </a:pathLst>
          </a:custGeom>
          <a:ln w="9524">
            <a:solidFill>
              <a:srgbClr val="595959"/>
            </a:solidFill>
          </a:ln>
        </p:spPr>
        <p:txBody>
          <a:bodyPr wrap="square" lIns="0" tIns="0" rIns="0" bIns="0" rtlCol="0"/>
          <a:lstStyle/>
          <a:p>
            <a:endParaRPr sz="2400"/>
          </a:p>
        </p:txBody>
      </p:sp>
      <p:sp>
        <p:nvSpPr>
          <p:cNvPr id="8" name="object 8"/>
          <p:cNvSpPr/>
          <p:nvPr/>
        </p:nvSpPr>
        <p:spPr>
          <a:xfrm>
            <a:off x="4233228" y="5328317"/>
            <a:ext cx="39793" cy="28787"/>
          </a:xfrm>
          <a:custGeom>
            <a:avLst/>
            <a:gdLst/>
            <a:ahLst/>
            <a:cxnLst/>
            <a:rect l="l" t="t" r="r" b="b"/>
            <a:pathLst>
              <a:path w="29844" h="21589">
                <a:moveTo>
                  <a:pt x="0" y="21423"/>
                </a:moveTo>
                <a:lnTo>
                  <a:pt x="10711" y="10711"/>
                </a:lnTo>
                <a:lnTo>
                  <a:pt x="0" y="0"/>
                </a:lnTo>
                <a:lnTo>
                  <a:pt x="29430" y="10711"/>
                </a:lnTo>
                <a:lnTo>
                  <a:pt x="0" y="21423"/>
                </a:lnTo>
                <a:close/>
              </a:path>
            </a:pathLst>
          </a:custGeom>
          <a:solidFill>
            <a:srgbClr val="595959"/>
          </a:solidFill>
        </p:spPr>
        <p:txBody>
          <a:bodyPr wrap="square" lIns="0" tIns="0" rIns="0" bIns="0" rtlCol="0"/>
          <a:lstStyle/>
          <a:p>
            <a:endParaRPr sz="2400"/>
          </a:p>
        </p:txBody>
      </p:sp>
      <p:sp>
        <p:nvSpPr>
          <p:cNvPr id="9" name="object 9"/>
          <p:cNvSpPr/>
          <p:nvPr/>
        </p:nvSpPr>
        <p:spPr>
          <a:xfrm>
            <a:off x="4233228" y="5328317"/>
            <a:ext cx="39793" cy="28787"/>
          </a:xfrm>
          <a:custGeom>
            <a:avLst/>
            <a:gdLst/>
            <a:ahLst/>
            <a:cxnLst/>
            <a:rect l="l" t="t" r="r" b="b"/>
            <a:pathLst>
              <a:path w="29844" h="21589">
                <a:moveTo>
                  <a:pt x="10711" y="10711"/>
                </a:moveTo>
                <a:lnTo>
                  <a:pt x="0" y="21423"/>
                </a:lnTo>
                <a:lnTo>
                  <a:pt x="29430" y="10711"/>
                </a:lnTo>
                <a:lnTo>
                  <a:pt x="0" y="0"/>
                </a:lnTo>
                <a:lnTo>
                  <a:pt x="10711" y="10711"/>
                </a:lnTo>
                <a:close/>
              </a:path>
            </a:pathLst>
          </a:custGeom>
          <a:ln w="9524">
            <a:solidFill>
              <a:srgbClr val="595959"/>
            </a:solidFill>
          </a:ln>
        </p:spPr>
        <p:txBody>
          <a:bodyPr wrap="square" lIns="0" tIns="0" rIns="0" bIns="0" rtlCol="0"/>
          <a:lstStyle/>
          <a:p>
            <a:endParaRPr sz="2400"/>
          </a:p>
        </p:txBody>
      </p:sp>
      <p:sp>
        <p:nvSpPr>
          <p:cNvPr id="10" name="object 10"/>
          <p:cNvSpPr txBox="1"/>
          <p:nvPr/>
        </p:nvSpPr>
        <p:spPr>
          <a:xfrm>
            <a:off x="916867" y="3774851"/>
            <a:ext cx="143085" cy="304421"/>
          </a:xfrm>
          <a:prstGeom prst="rect">
            <a:avLst/>
          </a:prstGeom>
        </p:spPr>
        <p:txBody>
          <a:bodyPr vert="horz" wrap="square" lIns="0" tIns="16933" rIns="0" bIns="0" rtlCol="0">
            <a:spAutoFit/>
          </a:bodyPr>
          <a:lstStyle/>
          <a:p>
            <a:pPr marL="16933">
              <a:spcBef>
                <a:spcPts val="133"/>
              </a:spcBef>
            </a:pPr>
            <a:r>
              <a:rPr sz="1867" i="1" dirty="0">
                <a:latin typeface="Cambria"/>
                <a:cs typeface="Cambria"/>
              </a:rPr>
              <a:t>y</a:t>
            </a:r>
            <a:endParaRPr sz="1867">
              <a:latin typeface="Cambria"/>
              <a:cs typeface="Cambria"/>
            </a:endParaRPr>
          </a:p>
        </p:txBody>
      </p:sp>
      <p:sp>
        <p:nvSpPr>
          <p:cNvPr id="11" name="object 11"/>
          <p:cNvSpPr txBox="1"/>
          <p:nvPr/>
        </p:nvSpPr>
        <p:spPr>
          <a:xfrm>
            <a:off x="2793533" y="5595018"/>
            <a:ext cx="140547" cy="304421"/>
          </a:xfrm>
          <a:prstGeom prst="rect">
            <a:avLst/>
          </a:prstGeom>
        </p:spPr>
        <p:txBody>
          <a:bodyPr vert="horz" wrap="square" lIns="0" tIns="16933" rIns="0" bIns="0" rtlCol="0">
            <a:spAutoFit/>
          </a:bodyPr>
          <a:lstStyle/>
          <a:p>
            <a:pPr marL="16933">
              <a:spcBef>
                <a:spcPts val="133"/>
              </a:spcBef>
            </a:pPr>
            <a:r>
              <a:rPr sz="1867" i="1" dirty="0">
                <a:latin typeface="Cambria"/>
                <a:cs typeface="Cambria"/>
              </a:rPr>
              <a:t>x</a:t>
            </a:r>
            <a:endParaRPr sz="1867">
              <a:latin typeface="Cambria"/>
              <a:cs typeface="Cambria"/>
            </a:endParaRPr>
          </a:p>
        </p:txBody>
      </p:sp>
      <p:sp>
        <p:nvSpPr>
          <p:cNvPr id="12" name="object 12"/>
          <p:cNvSpPr txBox="1"/>
          <p:nvPr/>
        </p:nvSpPr>
        <p:spPr>
          <a:xfrm>
            <a:off x="6390538" y="1734311"/>
            <a:ext cx="3285913" cy="2381848"/>
          </a:xfrm>
          <a:prstGeom prst="rect">
            <a:avLst/>
          </a:prstGeom>
        </p:spPr>
        <p:txBody>
          <a:bodyPr vert="horz" wrap="square" lIns="0" tIns="16933" rIns="0" bIns="0" rtlCol="0">
            <a:spAutoFit/>
          </a:bodyPr>
          <a:lstStyle/>
          <a:p>
            <a:pPr algn="ctr">
              <a:spcBef>
                <a:spcPts val="133"/>
              </a:spcBef>
            </a:pPr>
            <a:r>
              <a:rPr sz="3200" i="1" spc="-7" dirty="0">
                <a:latin typeface="Cambria"/>
                <a:cs typeface="Cambria"/>
              </a:rPr>
              <a:t>C</a:t>
            </a:r>
            <a:r>
              <a:rPr sz="3200" i="1" spc="-9" baseline="-31250" dirty="0">
                <a:latin typeface="Cambria"/>
                <a:cs typeface="Cambria"/>
              </a:rPr>
              <a:t>1</a:t>
            </a:r>
            <a:r>
              <a:rPr sz="3200" i="1" spc="-7" dirty="0">
                <a:latin typeface="Cambria"/>
                <a:cs typeface="Cambria"/>
              </a:rPr>
              <a:t>.x </a:t>
            </a:r>
            <a:r>
              <a:rPr sz="3200" dirty="0">
                <a:latin typeface="Cambria"/>
                <a:cs typeface="Cambria"/>
              </a:rPr>
              <a:t>- </a:t>
            </a:r>
            <a:r>
              <a:rPr sz="3200" i="1" spc="-7" dirty="0">
                <a:latin typeface="Cambria"/>
                <a:cs typeface="Cambria"/>
              </a:rPr>
              <a:t>C</a:t>
            </a:r>
            <a:r>
              <a:rPr sz="3200" i="1" spc="-9" baseline="-31250" dirty="0">
                <a:latin typeface="Cambria"/>
                <a:cs typeface="Cambria"/>
              </a:rPr>
              <a:t>2</a:t>
            </a:r>
            <a:r>
              <a:rPr sz="3200" i="1" spc="-7" dirty="0">
                <a:latin typeface="Cambria"/>
                <a:cs typeface="Cambria"/>
              </a:rPr>
              <a:t>.x </a:t>
            </a:r>
            <a:r>
              <a:rPr sz="3200" dirty="0">
                <a:latin typeface="Cambria"/>
                <a:cs typeface="Cambria"/>
              </a:rPr>
              <a:t>&lt; </a:t>
            </a:r>
            <a:r>
              <a:rPr sz="3200" i="1" dirty="0">
                <a:latin typeface="Cambria"/>
                <a:cs typeface="Cambria"/>
              </a:rPr>
              <a:t>w</a:t>
            </a:r>
            <a:r>
              <a:rPr sz="3200" i="1" baseline="-31250" dirty="0">
                <a:latin typeface="Cambria"/>
                <a:cs typeface="Cambria"/>
              </a:rPr>
              <a:t>1 </a:t>
            </a:r>
            <a:r>
              <a:rPr sz="3200" dirty="0">
                <a:latin typeface="Cambria"/>
                <a:cs typeface="Cambria"/>
              </a:rPr>
              <a:t>+</a:t>
            </a:r>
            <a:r>
              <a:rPr sz="3200" spc="-327" dirty="0">
                <a:latin typeface="Cambria"/>
                <a:cs typeface="Cambria"/>
              </a:rPr>
              <a:t> </a:t>
            </a:r>
            <a:r>
              <a:rPr sz="3200" i="1" dirty="0">
                <a:latin typeface="Cambria"/>
                <a:cs typeface="Cambria"/>
              </a:rPr>
              <a:t>w</a:t>
            </a:r>
            <a:r>
              <a:rPr sz="3200" i="1" baseline="-31250" dirty="0">
                <a:latin typeface="Cambria"/>
                <a:cs typeface="Cambria"/>
              </a:rPr>
              <a:t>2</a:t>
            </a:r>
            <a:endParaRPr sz="3200" baseline="-31250">
              <a:latin typeface="Cambria"/>
              <a:cs typeface="Cambria"/>
            </a:endParaRPr>
          </a:p>
          <a:p>
            <a:pPr algn="ctr">
              <a:lnSpc>
                <a:spcPts val="1880"/>
              </a:lnSpc>
              <a:spcBef>
                <a:spcPts val="1620"/>
              </a:spcBef>
            </a:pPr>
            <a:r>
              <a:rPr sz="1600" i="1" spc="-7" dirty="0">
                <a:latin typeface="Cambria"/>
                <a:cs typeface="Cambria"/>
              </a:rPr>
              <a:t>and</a:t>
            </a:r>
            <a:endParaRPr sz="1600">
              <a:latin typeface="Cambria"/>
              <a:cs typeface="Cambria"/>
            </a:endParaRPr>
          </a:p>
          <a:p>
            <a:pPr algn="ctr">
              <a:lnSpc>
                <a:spcPts val="3800"/>
              </a:lnSpc>
            </a:pPr>
            <a:r>
              <a:rPr sz="3200" i="1" spc="-7" dirty="0">
                <a:latin typeface="Cambria"/>
                <a:cs typeface="Cambria"/>
              </a:rPr>
              <a:t>C</a:t>
            </a:r>
            <a:r>
              <a:rPr sz="3200" i="1" spc="-9" baseline="-31250" dirty="0">
                <a:latin typeface="Cambria"/>
                <a:cs typeface="Cambria"/>
              </a:rPr>
              <a:t>1</a:t>
            </a:r>
            <a:r>
              <a:rPr sz="3200" i="1" spc="-7" dirty="0">
                <a:latin typeface="Cambria"/>
                <a:cs typeface="Cambria"/>
              </a:rPr>
              <a:t>.y </a:t>
            </a:r>
            <a:r>
              <a:rPr sz="3200" dirty="0">
                <a:latin typeface="Cambria"/>
                <a:cs typeface="Cambria"/>
              </a:rPr>
              <a:t>- </a:t>
            </a:r>
            <a:r>
              <a:rPr sz="3200" i="1" spc="-7" dirty="0">
                <a:latin typeface="Cambria"/>
                <a:cs typeface="Cambria"/>
              </a:rPr>
              <a:t>C</a:t>
            </a:r>
            <a:r>
              <a:rPr sz="3200" i="1" spc="-9" baseline="-31250" dirty="0">
                <a:latin typeface="Cambria"/>
                <a:cs typeface="Cambria"/>
              </a:rPr>
              <a:t>2</a:t>
            </a:r>
            <a:r>
              <a:rPr sz="3200" i="1" spc="-7" dirty="0">
                <a:latin typeface="Cambria"/>
                <a:cs typeface="Cambria"/>
              </a:rPr>
              <a:t>.y </a:t>
            </a:r>
            <a:r>
              <a:rPr sz="3200" dirty="0">
                <a:latin typeface="Cambria"/>
                <a:cs typeface="Cambria"/>
              </a:rPr>
              <a:t>&lt; </a:t>
            </a:r>
            <a:r>
              <a:rPr sz="3200" i="1" dirty="0">
                <a:latin typeface="Cambria"/>
                <a:cs typeface="Cambria"/>
              </a:rPr>
              <a:t>h</a:t>
            </a:r>
            <a:r>
              <a:rPr sz="3200" i="1" baseline="-31250" dirty="0">
                <a:latin typeface="Cambria"/>
                <a:cs typeface="Cambria"/>
              </a:rPr>
              <a:t>1 </a:t>
            </a:r>
            <a:r>
              <a:rPr sz="3200" dirty="0">
                <a:latin typeface="Cambria"/>
                <a:cs typeface="Cambria"/>
              </a:rPr>
              <a:t>+</a:t>
            </a:r>
            <a:r>
              <a:rPr sz="3200" spc="-339" dirty="0">
                <a:latin typeface="Cambria"/>
                <a:cs typeface="Cambria"/>
              </a:rPr>
              <a:t> </a:t>
            </a:r>
            <a:r>
              <a:rPr sz="3200" i="1" dirty="0">
                <a:latin typeface="Cambria"/>
                <a:cs typeface="Cambria"/>
              </a:rPr>
              <a:t>h</a:t>
            </a:r>
            <a:r>
              <a:rPr sz="3200" i="1" baseline="-31250" dirty="0">
                <a:latin typeface="Cambria"/>
                <a:cs typeface="Cambria"/>
              </a:rPr>
              <a:t>2</a:t>
            </a:r>
            <a:endParaRPr sz="3200" baseline="-31250">
              <a:latin typeface="Cambria"/>
              <a:cs typeface="Cambria"/>
            </a:endParaRPr>
          </a:p>
          <a:p>
            <a:pPr algn="ctr">
              <a:lnSpc>
                <a:spcPts val="1880"/>
              </a:lnSpc>
              <a:spcBef>
                <a:spcPts val="1627"/>
              </a:spcBef>
            </a:pPr>
            <a:r>
              <a:rPr sz="1600" i="1" spc="-7" dirty="0">
                <a:latin typeface="Cambria"/>
                <a:cs typeface="Cambria"/>
              </a:rPr>
              <a:t>and</a:t>
            </a:r>
            <a:endParaRPr sz="1600">
              <a:latin typeface="Cambria"/>
              <a:cs typeface="Cambria"/>
            </a:endParaRPr>
          </a:p>
          <a:p>
            <a:pPr algn="ctr">
              <a:lnSpc>
                <a:spcPts val="3800"/>
              </a:lnSpc>
            </a:pPr>
            <a:r>
              <a:rPr sz="3200" i="1" spc="-7" dirty="0">
                <a:latin typeface="Cambria"/>
                <a:cs typeface="Cambria"/>
              </a:rPr>
              <a:t>C</a:t>
            </a:r>
            <a:r>
              <a:rPr sz="3200" i="1" spc="-9" baseline="-31250" dirty="0">
                <a:latin typeface="Cambria"/>
                <a:cs typeface="Cambria"/>
              </a:rPr>
              <a:t>1</a:t>
            </a:r>
            <a:r>
              <a:rPr sz="3200" i="1" spc="-7" dirty="0">
                <a:latin typeface="Cambria"/>
                <a:cs typeface="Cambria"/>
              </a:rPr>
              <a:t>.z </a:t>
            </a:r>
            <a:r>
              <a:rPr sz="3200" dirty="0">
                <a:latin typeface="Cambria"/>
                <a:cs typeface="Cambria"/>
              </a:rPr>
              <a:t>- </a:t>
            </a:r>
            <a:r>
              <a:rPr sz="3200" i="1" spc="-7" dirty="0">
                <a:latin typeface="Cambria"/>
                <a:cs typeface="Cambria"/>
              </a:rPr>
              <a:t>C</a:t>
            </a:r>
            <a:r>
              <a:rPr sz="3200" i="1" spc="-9" baseline="-31250" dirty="0">
                <a:latin typeface="Cambria"/>
                <a:cs typeface="Cambria"/>
              </a:rPr>
              <a:t>2</a:t>
            </a:r>
            <a:r>
              <a:rPr sz="3200" i="1" spc="-7" dirty="0">
                <a:latin typeface="Cambria"/>
                <a:cs typeface="Cambria"/>
              </a:rPr>
              <a:t>.z </a:t>
            </a:r>
            <a:r>
              <a:rPr sz="3200" dirty="0">
                <a:latin typeface="Cambria"/>
                <a:cs typeface="Cambria"/>
              </a:rPr>
              <a:t>&lt; </a:t>
            </a:r>
            <a:r>
              <a:rPr sz="3200" i="1" dirty="0">
                <a:latin typeface="Cambria"/>
                <a:cs typeface="Cambria"/>
              </a:rPr>
              <a:t>l</a:t>
            </a:r>
            <a:r>
              <a:rPr sz="3200" i="1" baseline="-31250" dirty="0">
                <a:latin typeface="Cambria"/>
                <a:cs typeface="Cambria"/>
              </a:rPr>
              <a:t>1 </a:t>
            </a:r>
            <a:r>
              <a:rPr sz="3200" dirty="0">
                <a:latin typeface="Cambria"/>
                <a:cs typeface="Cambria"/>
              </a:rPr>
              <a:t>+</a:t>
            </a:r>
            <a:r>
              <a:rPr sz="3200" spc="-320" dirty="0">
                <a:latin typeface="Cambria"/>
                <a:cs typeface="Cambria"/>
              </a:rPr>
              <a:t> </a:t>
            </a:r>
            <a:r>
              <a:rPr sz="3200" i="1" dirty="0">
                <a:latin typeface="Cambria"/>
                <a:cs typeface="Cambria"/>
              </a:rPr>
              <a:t>l</a:t>
            </a:r>
            <a:r>
              <a:rPr sz="3200" i="1" baseline="-31250" dirty="0">
                <a:latin typeface="Cambria"/>
                <a:cs typeface="Cambria"/>
              </a:rPr>
              <a:t>2</a:t>
            </a:r>
            <a:endParaRPr sz="3200" baseline="-31250">
              <a:latin typeface="Cambria"/>
              <a:cs typeface="Cambria"/>
            </a:endParaRPr>
          </a:p>
        </p:txBody>
      </p:sp>
      <p:sp>
        <p:nvSpPr>
          <p:cNvPr id="13" name="object 13"/>
          <p:cNvSpPr/>
          <p:nvPr/>
        </p:nvSpPr>
        <p:spPr>
          <a:xfrm>
            <a:off x="6718666" y="5172499"/>
            <a:ext cx="1150620" cy="1150620"/>
          </a:xfrm>
          <a:custGeom>
            <a:avLst/>
            <a:gdLst/>
            <a:ahLst/>
            <a:cxnLst/>
            <a:rect l="l" t="t" r="r" b="b"/>
            <a:pathLst>
              <a:path w="862964" h="862964">
                <a:moveTo>
                  <a:pt x="0" y="0"/>
                </a:moveTo>
                <a:lnTo>
                  <a:pt x="862499" y="0"/>
                </a:lnTo>
                <a:lnTo>
                  <a:pt x="862499" y="862499"/>
                </a:lnTo>
                <a:lnTo>
                  <a:pt x="0" y="862499"/>
                </a:lnTo>
                <a:lnTo>
                  <a:pt x="0" y="0"/>
                </a:lnTo>
                <a:close/>
              </a:path>
            </a:pathLst>
          </a:custGeom>
          <a:solidFill>
            <a:srgbClr val="EEEEEE"/>
          </a:solidFill>
        </p:spPr>
        <p:txBody>
          <a:bodyPr wrap="square" lIns="0" tIns="0" rIns="0" bIns="0" rtlCol="0"/>
          <a:lstStyle/>
          <a:p>
            <a:endParaRPr sz="2400"/>
          </a:p>
        </p:txBody>
      </p:sp>
      <p:sp>
        <p:nvSpPr>
          <p:cNvPr id="14" name="object 14"/>
          <p:cNvSpPr/>
          <p:nvPr/>
        </p:nvSpPr>
        <p:spPr>
          <a:xfrm>
            <a:off x="6718666" y="5172499"/>
            <a:ext cx="1150620" cy="1150620"/>
          </a:xfrm>
          <a:custGeom>
            <a:avLst/>
            <a:gdLst/>
            <a:ahLst/>
            <a:cxnLst/>
            <a:rect l="l" t="t" r="r" b="b"/>
            <a:pathLst>
              <a:path w="862964" h="862964">
                <a:moveTo>
                  <a:pt x="0" y="0"/>
                </a:moveTo>
                <a:lnTo>
                  <a:pt x="862499" y="0"/>
                </a:lnTo>
                <a:lnTo>
                  <a:pt x="862499" y="862499"/>
                </a:lnTo>
                <a:lnTo>
                  <a:pt x="0" y="862499"/>
                </a:lnTo>
                <a:lnTo>
                  <a:pt x="0" y="0"/>
                </a:lnTo>
                <a:close/>
              </a:path>
            </a:pathLst>
          </a:custGeom>
          <a:ln w="9524">
            <a:solidFill>
              <a:srgbClr val="595959"/>
            </a:solidFill>
          </a:ln>
        </p:spPr>
        <p:txBody>
          <a:bodyPr wrap="square" lIns="0" tIns="0" rIns="0" bIns="0" rtlCol="0"/>
          <a:lstStyle/>
          <a:p>
            <a:endParaRPr sz="2400"/>
          </a:p>
        </p:txBody>
      </p:sp>
      <p:sp>
        <p:nvSpPr>
          <p:cNvPr id="15" name="object 15"/>
          <p:cNvSpPr/>
          <p:nvPr/>
        </p:nvSpPr>
        <p:spPr>
          <a:xfrm>
            <a:off x="8197599" y="4520899"/>
            <a:ext cx="1150620" cy="1150620"/>
          </a:xfrm>
          <a:custGeom>
            <a:avLst/>
            <a:gdLst/>
            <a:ahLst/>
            <a:cxnLst/>
            <a:rect l="l" t="t" r="r" b="b"/>
            <a:pathLst>
              <a:path w="862965" h="862964">
                <a:moveTo>
                  <a:pt x="0" y="0"/>
                </a:moveTo>
                <a:lnTo>
                  <a:pt x="862499" y="0"/>
                </a:lnTo>
                <a:lnTo>
                  <a:pt x="862499" y="862499"/>
                </a:lnTo>
                <a:lnTo>
                  <a:pt x="0" y="862499"/>
                </a:lnTo>
                <a:lnTo>
                  <a:pt x="0" y="0"/>
                </a:lnTo>
                <a:close/>
              </a:path>
            </a:pathLst>
          </a:custGeom>
          <a:solidFill>
            <a:srgbClr val="EEEEEE"/>
          </a:solidFill>
        </p:spPr>
        <p:txBody>
          <a:bodyPr wrap="square" lIns="0" tIns="0" rIns="0" bIns="0" rtlCol="0"/>
          <a:lstStyle/>
          <a:p>
            <a:endParaRPr sz="2400"/>
          </a:p>
        </p:txBody>
      </p:sp>
      <p:sp>
        <p:nvSpPr>
          <p:cNvPr id="16" name="object 16"/>
          <p:cNvSpPr/>
          <p:nvPr/>
        </p:nvSpPr>
        <p:spPr>
          <a:xfrm>
            <a:off x="8197599" y="4520899"/>
            <a:ext cx="1150620" cy="1150620"/>
          </a:xfrm>
          <a:custGeom>
            <a:avLst/>
            <a:gdLst/>
            <a:ahLst/>
            <a:cxnLst/>
            <a:rect l="l" t="t" r="r" b="b"/>
            <a:pathLst>
              <a:path w="862965" h="862964">
                <a:moveTo>
                  <a:pt x="0" y="0"/>
                </a:moveTo>
                <a:lnTo>
                  <a:pt x="862499" y="0"/>
                </a:lnTo>
                <a:lnTo>
                  <a:pt x="862499" y="862499"/>
                </a:lnTo>
                <a:lnTo>
                  <a:pt x="0" y="862499"/>
                </a:lnTo>
                <a:lnTo>
                  <a:pt x="0" y="0"/>
                </a:lnTo>
                <a:close/>
              </a:path>
            </a:pathLst>
          </a:custGeom>
          <a:ln w="9524">
            <a:solidFill>
              <a:srgbClr val="595959"/>
            </a:solidFill>
          </a:ln>
        </p:spPr>
        <p:txBody>
          <a:bodyPr wrap="square" lIns="0" tIns="0" rIns="0" bIns="0" rtlCol="0"/>
          <a:lstStyle/>
          <a:p>
            <a:endParaRPr sz="2400"/>
          </a:p>
        </p:txBody>
      </p:sp>
      <p:sp>
        <p:nvSpPr>
          <p:cNvPr id="17" name="object 17"/>
          <p:cNvSpPr/>
          <p:nvPr/>
        </p:nvSpPr>
        <p:spPr>
          <a:xfrm>
            <a:off x="8033200" y="4407066"/>
            <a:ext cx="0" cy="2188633"/>
          </a:xfrm>
          <a:custGeom>
            <a:avLst/>
            <a:gdLst/>
            <a:ahLst/>
            <a:cxnLst/>
            <a:rect l="l" t="t" r="r" b="b"/>
            <a:pathLst>
              <a:path h="1641475">
                <a:moveTo>
                  <a:pt x="0" y="0"/>
                </a:moveTo>
                <a:lnTo>
                  <a:pt x="0" y="1640999"/>
                </a:lnTo>
              </a:path>
            </a:pathLst>
          </a:custGeom>
          <a:ln w="19049">
            <a:solidFill>
              <a:srgbClr val="FF0000"/>
            </a:solidFill>
          </a:ln>
        </p:spPr>
        <p:txBody>
          <a:bodyPr wrap="square" lIns="0" tIns="0" rIns="0" bIns="0" rtlCol="0"/>
          <a:lstStyle/>
          <a:p>
            <a:endParaRPr sz="2400"/>
          </a:p>
        </p:txBody>
      </p:sp>
      <p:sp>
        <p:nvSpPr>
          <p:cNvPr id="18" name="object 18"/>
          <p:cNvSpPr/>
          <p:nvPr/>
        </p:nvSpPr>
        <p:spPr>
          <a:xfrm>
            <a:off x="6486865" y="5427633"/>
            <a:ext cx="3124200" cy="0"/>
          </a:xfrm>
          <a:custGeom>
            <a:avLst/>
            <a:gdLst/>
            <a:ahLst/>
            <a:cxnLst/>
            <a:rect l="l" t="t" r="r" b="b"/>
            <a:pathLst>
              <a:path w="2343150">
                <a:moveTo>
                  <a:pt x="0" y="0"/>
                </a:moveTo>
                <a:lnTo>
                  <a:pt x="2342699" y="0"/>
                </a:lnTo>
              </a:path>
            </a:pathLst>
          </a:custGeom>
          <a:ln w="19049">
            <a:solidFill>
              <a:srgbClr val="FF0000"/>
            </a:solidFill>
          </a:ln>
        </p:spPr>
        <p:txBody>
          <a:bodyPr wrap="square" lIns="0" tIns="0" rIns="0" bIns="0" rtlCol="0"/>
          <a:lstStyle/>
          <a:p>
            <a:endParaRPr sz="2400"/>
          </a:p>
        </p:txBody>
      </p:sp>
    </p:spTree>
    <p:extLst>
      <p:ext uri="{BB962C8B-B14F-4D97-AF65-F5344CB8AC3E}">
        <p14:creationId xmlns:p14="http://schemas.microsoft.com/office/powerpoint/2010/main" val="1128974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3267287" cy="591551"/>
          </a:xfrm>
          <a:prstGeom prst="rect">
            <a:avLst/>
          </a:prstGeom>
        </p:spPr>
        <p:txBody>
          <a:bodyPr vert="horz" wrap="square" lIns="0" tIns="16933" rIns="0" bIns="0" rtlCol="0" anchor="ctr">
            <a:spAutoFit/>
          </a:bodyPr>
          <a:lstStyle/>
          <a:p>
            <a:pPr marL="16933">
              <a:lnSpc>
                <a:spcPct val="100000"/>
              </a:lnSpc>
              <a:spcBef>
                <a:spcPts val="133"/>
              </a:spcBef>
            </a:pPr>
            <a:r>
              <a:rPr sz="3733" spc="-13" dirty="0">
                <a:solidFill>
                  <a:srgbClr val="000000"/>
                </a:solidFill>
              </a:rPr>
              <a:t>Shapes:</a:t>
            </a:r>
            <a:r>
              <a:rPr sz="3733" spc="-120" dirty="0">
                <a:solidFill>
                  <a:srgbClr val="000000"/>
                </a:solidFill>
              </a:rPr>
              <a:t> </a:t>
            </a:r>
            <a:r>
              <a:rPr sz="3733" spc="-7" dirty="0">
                <a:solidFill>
                  <a:srgbClr val="000000"/>
                </a:solidFill>
              </a:rPr>
              <a:t>OOBB</a:t>
            </a:r>
            <a:endParaRPr sz="3733"/>
          </a:p>
        </p:txBody>
      </p:sp>
      <p:sp>
        <p:nvSpPr>
          <p:cNvPr id="3" name="object 3"/>
          <p:cNvSpPr/>
          <p:nvPr/>
        </p:nvSpPr>
        <p:spPr>
          <a:xfrm>
            <a:off x="1596458" y="2937363"/>
            <a:ext cx="2570353" cy="2017140"/>
          </a:xfrm>
          <a:prstGeom prst="rect">
            <a:avLst/>
          </a:prstGeom>
          <a:blipFill>
            <a:blip r:embed="rId2" cstate="print"/>
            <a:stretch>
              <a:fillRect/>
            </a:stretch>
          </a:blipFill>
        </p:spPr>
        <p:txBody>
          <a:bodyPr wrap="square" lIns="0" tIns="0" rIns="0" bIns="0" rtlCol="0"/>
          <a:lstStyle/>
          <a:p>
            <a:endParaRPr sz="2400"/>
          </a:p>
        </p:txBody>
      </p:sp>
      <p:sp>
        <p:nvSpPr>
          <p:cNvPr id="4" name="object 4"/>
          <p:cNvSpPr/>
          <p:nvPr/>
        </p:nvSpPr>
        <p:spPr>
          <a:xfrm>
            <a:off x="1352558" y="2416753"/>
            <a:ext cx="3059007" cy="3059007"/>
          </a:xfrm>
          <a:custGeom>
            <a:avLst/>
            <a:gdLst/>
            <a:ahLst/>
            <a:cxnLst/>
            <a:rect l="l" t="t" r="r" b="b"/>
            <a:pathLst>
              <a:path w="2294254" h="2294254">
                <a:moveTo>
                  <a:pt x="0" y="731999"/>
                </a:moveTo>
                <a:lnTo>
                  <a:pt x="1561799" y="0"/>
                </a:lnTo>
                <a:lnTo>
                  <a:pt x="2293799" y="1561800"/>
                </a:lnTo>
                <a:lnTo>
                  <a:pt x="731999" y="2293800"/>
                </a:lnTo>
                <a:lnTo>
                  <a:pt x="0" y="731999"/>
                </a:lnTo>
                <a:close/>
              </a:path>
            </a:pathLst>
          </a:custGeom>
          <a:ln w="19049">
            <a:solidFill>
              <a:srgbClr val="FF0000"/>
            </a:solidFill>
          </a:ln>
        </p:spPr>
        <p:txBody>
          <a:bodyPr wrap="square" lIns="0" tIns="0" rIns="0" bIns="0" rtlCol="0"/>
          <a:lstStyle/>
          <a:p>
            <a:endParaRPr sz="2400"/>
          </a:p>
        </p:txBody>
      </p:sp>
      <p:sp>
        <p:nvSpPr>
          <p:cNvPr id="5" name="object 5"/>
          <p:cNvSpPr/>
          <p:nvPr/>
        </p:nvSpPr>
        <p:spPr>
          <a:xfrm>
            <a:off x="1461299" y="2548525"/>
            <a:ext cx="0" cy="2794847"/>
          </a:xfrm>
          <a:custGeom>
            <a:avLst/>
            <a:gdLst/>
            <a:ahLst/>
            <a:cxnLst/>
            <a:rect l="l" t="t" r="r" b="b"/>
            <a:pathLst>
              <a:path h="2096135">
                <a:moveTo>
                  <a:pt x="0" y="2095556"/>
                </a:moveTo>
                <a:lnTo>
                  <a:pt x="0" y="0"/>
                </a:lnTo>
              </a:path>
            </a:pathLst>
          </a:custGeom>
          <a:ln w="9524">
            <a:solidFill>
              <a:srgbClr val="595959"/>
            </a:solidFill>
          </a:ln>
        </p:spPr>
        <p:txBody>
          <a:bodyPr wrap="square" lIns="0" tIns="0" rIns="0" bIns="0" rtlCol="0"/>
          <a:lstStyle/>
          <a:p>
            <a:endParaRPr sz="2400"/>
          </a:p>
        </p:txBody>
      </p:sp>
      <p:sp>
        <p:nvSpPr>
          <p:cNvPr id="6" name="object 6"/>
          <p:cNvSpPr/>
          <p:nvPr/>
        </p:nvSpPr>
        <p:spPr>
          <a:xfrm>
            <a:off x="1447017" y="2523566"/>
            <a:ext cx="28787" cy="39793"/>
          </a:xfrm>
          <a:custGeom>
            <a:avLst/>
            <a:gdLst/>
            <a:ahLst/>
            <a:cxnLst/>
            <a:rect l="l" t="t" r="r" b="b"/>
            <a:pathLst>
              <a:path w="21590" h="29844">
                <a:moveTo>
                  <a:pt x="0" y="29430"/>
                </a:moveTo>
                <a:lnTo>
                  <a:pt x="10711" y="0"/>
                </a:lnTo>
                <a:lnTo>
                  <a:pt x="17524" y="18718"/>
                </a:lnTo>
                <a:lnTo>
                  <a:pt x="10711" y="18718"/>
                </a:lnTo>
                <a:lnTo>
                  <a:pt x="0" y="29430"/>
                </a:lnTo>
                <a:close/>
              </a:path>
              <a:path w="21590" h="29844">
                <a:moveTo>
                  <a:pt x="21423" y="29430"/>
                </a:moveTo>
                <a:lnTo>
                  <a:pt x="10711" y="18718"/>
                </a:lnTo>
                <a:lnTo>
                  <a:pt x="17524" y="18718"/>
                </a:lnTo>
                <a:lnTo>
                  <a:pt x="21423" y="29430"/>
                </a:lnTo>
                <a:close/>
              </a:path>
            </a:pathLst>
          </a:custGeom>
          <a:solidFill>
            <a:srgbClr val="595959"/>
          </a:solidFill>
        </p:spPr>
        <p:txBody>
          <a:bodyPr wrap="square" lIns="0" tIns="0" rIns="0" bIns="0" rtlCol="0"/>
          <a:lstStyle/>
          <a:p>
            <a:endParaRPr sz="2400"/>
          </a:p>
        </p:txBody>
      </p:sp>
      <p:sp>
        <p:nvSpPr>
          <p:cNvPr id="7" name="object 7"/>
          <p:cNvSpPr/>
          <p:nvPr/>
        </p:nvSpPr>
        <p:spPr>
          <a:xfrm>
            <a:off x="1447017" y="2523566"/>
            <a:ext cx="28787" cy="39793"/>
          </a:xfrm>
          <a:custGeom>
            <a:avLst/>
            <a:gdLst/>
            <a:ahLst/>
            <a:cxnLst/>
            <a:rect l="l" t="t" r="r" b="b"/>
            <a:pathLst>
              <a:path w="21590" h="29844">
                <a:moveTo>
                  <a:pt x="10711" y="18718"/>
                </a:moveTo>
                <a:lnTo>
                  <a:pt x="21423" y="29430"/>
                </a:lnTo>
                <a:lnTo>
                  <a:pt x="10711" y="0"/>
                </a:lnTo>
                <a:lnTo>
                  <a:pt x="0" y="29430"/>
                </a:lnTo>
                <a:lnTo>
                  <a:pt x="10711" y="18718"/>
                </a:lnTo>
                <a:close/>
              </a:path>
            </a:pathLst>
          </a:custGeom>
          <a:ln w="9524">
            <a:solidFill>
              <a:srgbClr val="595959"/>
            </a:solidFill>
          </a:ln>
        </p:spPr>
        <p:txBody>
          <a:bodyPr wrap="square" lIns="0" tIns="0" rIns="0" bIns="0" rtlCol="0"/>
          <a:lstStyle/>
          <a:p>
            <a:endParaRPr sz="2400"/>
          </a:p>
        </p:txBody>
      </p:sp>
      <p:sp>
        <p:nvSpPr>
          <p:cNvPr id="8" name="object 8"/>
          <p:cNvSpPr/>
          <p:nvPr/>
        </p:nvSpPr>
        <p:spPr>
          <a:xfrm>
            <a:off x="1469032" y="5342599"/>
            <a:ext cx="2778760" cy="0"/>
          </a:xfrm>
          <a:custGeom>
            <a:avLst/>
            <a:gdLst/>
            <a:ahLst/>
            <a:cxnLst/>
            <a:rect l="l" t="t" r="r" b="b"/>
            <a:pathLst>
              <a:path w="2084070">
                <a:moveTo>
                  <a:pt x="0" y="0"/>
                </a:moveTo>
                <a:lnTo>
                  <a:pt x="2083856" y="0"/>
                </a:lnTo>
              </a:path>
            </a:pathLst>
          </a:custGeom>
          <a:ln w="9524">
            <a:solidFill>
              <a:srgbClr val="595959"/>
            </a:solidFill>
          </a:ln>
        </p:spPr>
        <p:txBody>
          <a:bodyPr wrap="square" lIns="0" tIns="0" rIns="0" bIns="0" rtlCol="0"/>
          <a:lstStyle/>
          <a:p>
            <a:endParaRPr sz="2400"/>
          </a:p>
        </p:txBody>
      </p:sp>
      <p:sp>
        <p:nvSpPr>
          <p:cNvPr id="9" name="object 9"/>
          <p:cNvSpPr/>
          <p:nvPr/>
        </p:nvSpPr>
        <p:spPr>
          <a:xfrm>
            <a:off x="4233228" y="5328317"/>
            <a:ext cx="39793" cy="28787"/>
          </a:xfrm>
          <a:custGeom>
            <a:avLst/>
            <a:gdLst/>
            <a:ahLst/>
            <a:cxnLst/>
            <a:rect l="l" t="t" r="r" b="b"/>
            <a:pathLst>
              <a:path w="29844" h="21589">
                <a:moveTo>
                  <a:pt x="0" y="21423"/>
                </a:moveTo>
                <a:lnTo>
                  <a:pt x="10711" y="10711"/>
                </a:lnTo>
                <a:lnTo>
                  <a:pt x="0" y="0"/>
                </a:lnTo>
                <a:lnTo>
                  <a:pt x="29430" y="10711"/>
                </a:lnTo>
                <a:lnTo>
                  <a:pt x="0" y="21423"/>
                </a:lnTo>
                <a:close/>
              </a:path>
            </a:pathLst>
          </a:custGeom>
          <a:solidFill>
            <a:srgbClr val="595959"/>
          </a:solidFill>
        </p:spPr>
        <p:txBody>
          <a:bodyPr wrap="square" lIns="0" tIns="0" rIns="0" bIns="0" rtlCol="0"/>
          <a:lstStyle/>
          <a:p>
            <a:endParaRPr sz="2400"/>
          </a:p>
        </p:txBody>
      </p:sp>
      <p:sp>
        <p:nvSpPr>
          <p:cNvPr id="10" name="object 10"/>
          <p:cNvSpPr/>
          <p:nvPr/>
        </p:nvSpPr>
        <p:spPr>
          <a:xfrm>
            <a:off x="4233228" y="5328317"/>
            <a:ext cx="39793" cy="28787"/>
          </a:xfrm>
          <a:custGeom>
            <a:avLst/>
            <a:gdLst/>
            <a:ahLst/>
            <a:cxnLst/>
            <a:rect l="l" t="t" r="r" b="b"/>
            <a:pathLst>
              <a:path w="29844" h="21589">
                <a:moveTo>
                  <a:pt x="10711" y="10711"/>
                </a:moveTo>
                <a:lnTo>
                  <a:pt x="0" y="21423"/>
                </a:lnTo>
                <a:lnTo>
                  <a:pt x="29430" y="10711"/>
                </a:lnTo>
                <a:lnTo>
                  <a:pt x="0" y="0"/>
                </a:lnTo>
                <a:lnTo>
                  <a:pt x="10711" y="10711"/>
                </a:lnTo>
                <a:close/>
              </a:path>
            </a:pathLst>
          </a:custGeom>
          <a:ln w="9524">
            <a:solidFill>
              <a:srgbClr val="595959"/>
            </a:solidFill>
          </a:ln>
        </p:spPr>
        <p:txBody>
          <a:bodyPr wrap="square" lIns="0" tIns="0" rIns="0" bIns="0" rtlCol="0"/>
          <a:lstStyle/>
          <a:p>
            <a:endParaRPr sz="2400"/>
          </a:p>
        </p:txBody>
      </p:sp>
      <p:sp>
        <p:nvSpPr>
          <p:cNvPr id="11" name="object 11"/>
          <p:cNvSpPr txBox="1"/>
          <p:nvPr/>
        </p:nvSpPr>
        <p:spPr>
          <a:xfrm>
            <a:off x="916867" y="3774851"/>
            <a:ext cx="143085" cy="304421"/>
          </a:xfrm>
          <a:prstGeom prst="rect">
            <a:avLst/>
          </a:prstGeom>
        </p:spPr>
        <p:txBody>
          <a:bodyPr vert="horz" wrap="square" lIns="0" tIns="16933" rIns="0" bIns="0" rtlCol="0">
            <a:spAutoFit/>
          </a:bodyPr>
          <a:lstStyle/>
          <a:p>
            <a:pPr marL="16933">
              <a:spcBef>
                <a:spcPts val="133"/>
              </a:spcBef>
            </a:pPr>
            <a:r>
              <a:rPr sz="1867" i="1" dirty="0">
                <a:latin typeface="Cambria"/>
                <a:cs typeface="Cambria"/>
              </a:rPr>
              <a:t>y</a:t>
            </a:r>
            <a:endParaRPr sz="1867">
              <a:latin typeface="Cambria"/>
              <a:cs typeface="Cambria"/>
            </a:endParaRPr>
          </a:p>
        </p:txBody>
      </p:sp>
      <p:sp>
        <p:nvSpPr>
          <p:cNvPr id="12" name="object 12"/>
          <p:cNvSpPr txBox="1"/>
          <p:nvPr/>
        </p:nvSpPr>
        <p:spPr>
          <a:xfrm>
            <a:off x="2793533" y="5595018"/>
            <a:ext cx="140547" cy="304421"/>
          </a:xfrm>
          <a:prstGeom prst="rect">
            <a:avLst/>
          </a:prstGeom>
        </p:spPr>
        <p:txBody>
          <a:bodyPr vert="horz" wrap="square" lIns="0" tIns="16933" rIns="0" bIns="0" rtlCol="0">
            <a:spAutoFit/>
          </a:bodyPr>
          <a:lstStyle/>
          <a:p>
            <a:pPr marL="16933">
              <a:spcBef>
                <a:spcPts val="133"/>
              </a:spcBef>
            </a:pPr>
            <a:r>
              <a:rPr sz="1867" i="1" dirty="0">
                <a:latin typeface="Cambria"/>
                <a:cs typeface="Cambria"/>
              </a:rPr>
              <a:t>x</a:t>
            </a:r>
            <a:endParaRPr sz="1867">
              <a:latin typeface="Cambria"/>
              <a:cs typeface="Cambria"/>
            </a:endParaRPr>
          </a:p>
        </p:txBody>
      </p:sp>
      <p:sp>
        <p:nvSpPr>
          <p:cNvPr id="13" name="object 13"/>
          <p:cNvSpPr txBox="1"/>
          <p:nvPr/>
        </p:nvSpPr>
        <p:spPr>
          <a:xfrm>
            <a:off x="7511587" y="3255293"/>
            <a:ext cx="1275080" cy="1248205"/>
          </a:xfrm>
          <a:prstGeom prst="rect">
            <a:avLst/>
          </a:prstGeom>
        </p:spPr>
        <p:txBody>
          <a:bodyPr vert="horz" wrap="square" lIns="0" tIns="16933" rIns="0" bIns="0" rtlCol="0">
            <a:spAutoFit/>
          </a:bodyPr>
          <a:lstStyle/>
          <a:p>
            <a:pPr marL="16933">
              <a:spcBef>
                <a:spcPts val="133"/>
              </a:spcBef>
            </a:pPr>
            <a:r>
              <a:rPr sz="8000" i="1" spc="-7" dirty="0">
                <a:latin typeface="Cambria"/>
                <a:cs typeface="Cambria"/>
              </a:rPr>
              <a:t>???</a:t>
            </a:r>
            <a:endParaRPr sz="8000">
              <a:latin typeface="Cambria"/>
              <a:cs typeface="Cambria"/>
            </a:endParaRPr>
          </a:p>
        </p:txBody>
      </p:sp>
    </p:spTree>
    <p:extLst>
      <p:ext uri="{BB962C8B-B14F-4D97-AF65-F5344CB8AC3E}">
        <p14:creationId xmlns:p14="http://schemas.microsoft.com/office/powerpoint/2010/main" val="1143625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4447" y="2288016"/>
            <a:ext cx="10831407" cy="1909583"/>
          </a:xfrm>
          <a:prstGeom prst="rect">
            <a:avLst/>
          </a:prstGeom>
        </p:spPr>
        <p:txBody>
          <a:bodyPr vert="horz" wrap="square" lIns="0" tIns="254847" rIns="0" bIns="0" rtlCol="0" anchor="ctr">
            <a:spAutoFit/>
          </a:bodyPr>
          <a:lstStyle/>
          <a:p>
            <a:pPr marL="1981997">
              <a:lnSpc>
                <a:spcPct val="100000"/>
              </a:lnSpc>
              <a:spcBef>
                <a:spcPts val="2007"/>
              </a:spcBef>
            </a:pPr>
            <a:r>
              <a:rPr sz="4800" spc="-13" dirty="0"/>
              <a:t>Separating Axis</a:t>
            </a:r>
            <a:r>
              <a:rPr sz="4800" spc="-47" dirty="0"/>
              <a:t> </a:t>
            </a:r>
            <a:r>
              <a:rPr sz="4800" spc="-7" dirty="0"/>
              <a:t>Theorem</a:t>
            </a:r>
            <a:endParaRPr sz="4800"/>
          </a:p>
          <a:p>
            <a:pPr marL="16933" marR="6773" algn="ctr">
              <a:lnSpc>
                <a:spcPct val="114599"/>
              </a:lnSpc>
              <a:spcBef>
                <a:spcPts val="513"/>
              </a:spcBef>
            </a:pPr>
            <a:r>
              <a:rPr sz="2400" spc="-7" dirty="0"/>
              <a:t>For two </a:t>
            </a:r>
            <a:r>
              <a:rPr sz="2400" dirty="0"/>
              <a:t>convex shapes, </a:t>
            </a:r>
            <a:r>
              <a:rPr sz="2400" spc="-7" dirty="0"/>
              <a:t>if an axis exists on which the projections of both </a:t>
            </a:r>
            <a:r>
              <a:rPr sz="2400" dirty="0"/>
              <a:t>shapes  </a:t>
            </a:r>
            <a:r>
              <a:rPr sz="2400" spc="-7" dirty="0"/>
              <a:t>do not overlap, the objects are not</a:t>
            </a:r>
            <a:r>
              <a:rPr sz="2400" spc="-27" dirty="0"/>
              <a:t> </a:t>
            </a:r>
            <a:r>
              <a:rPr sz="2400" spc="-7" dirty="0"/>
              <a:t>intersecting.</a:t>
            </a:r>
            <a:endParaRPr sz="2400"/>
          </a:p>
        </p:txBody>
      </p:sp>
    </p:spTree>
    <p:extLst>
      <p:ext uri="{BB962C8B-B14F-4D97-AF65-F5344CB8AC3E}">
        <p14:creationId xmlns:p14="http://schemas.microsoft.com/office/powerpoint/2010/main" val="3541696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023438"/>
            <a:ext cx="14020800" cy="694207"/>
          </a:xfrm>
          <a:prstGeom prst="rect">
            <a:avLst/>
          </a:prstGeom>
        </p:spPr>
        <p:txBody>
          <a:bodyPr vert="horz" wrap="square" lIns="0" tIns="16933" rIns="0" bIns="0" rtlCol="0" anchor="ctr">
            <a:spAutoFit/>
          </a:bodyPr>
          <a:lstStyle/>
          <a:p>
            <a:pPr marL="16933">
              <a:lnSpc>
                <a:spcPct val="100000"/>
              </a:lnSpc>
              <a:spcBef>
                <a:spcPts val="133"/>
              </a:spcBef>
            </a:pPr>
            <a:r>
              <a:rPr spc="-7" dirty="0"/>
              <a:t>Two objects </a:t>
            </a:r>
            <a:r>
              <a:rPr b="1" spc="-7" dirty="0">
                <a:latin typeface="Arial"/>
                <a:cs typeface="Arial"/>
              </a:rPr>
              <a:t>do not</a:t>
            </a:r>
            <a:r>
              <a:rPr b="1" spc="-67" dirty="0">
                <a:latin typeface="Arial"/>
                <a:cs typeface="Arial"/>
              </a:rPr>
              <a:t> </a:t>
            </a:r>
            <a:r>
              <a:rPr dirty="0"/>
              <a:t>collide</a:t>
            </a:r>
          </a:p>
        </p:txBody>
      </p:sp>
      <p:sp>
        <p:nvSpPr>
          <p:cNvPr id="3" name="object 3"/>
          <p:cNvSpPr txBox="1"/>
          <p:nvPr/>
        </p:nvSpPr>
        <p:spPr>
          <a:xfrm>
            <a:off x="1377710" y="3052911"/>
            <a:ext cx="9435253" cy="1125094"/>
          </a:xfrm>
          <a:prstGeom prst="rect">
            <a:avLst/>
          </a:prstGeom>
        </p:spPr>
        <p:txBody>
          <a:bodyPr vert="horz" wrap="square" lIns="0" tIns="16933" rIns="0" bIns="0" rtlCol="0">
            <a:spAutoFit/>
          </a:bodyPr>
          <a:lstStyle/>
          <a:p>
            <a:pPr marL="1693" algn="ctr">
              <a:spcBef>
                <a:spcPts val="133"/>
              </a:spcBef>
            </a:pPr>
            <a:r>
              <a:rPr sz="3200" spc="-7" dirty="0">
                <a:solidFill>
                  <a:srgbClr val="595959"/>
                </a:solidFill>
                <a:latin typeface="Arial"/>
                <a:cs typeface="Arial"/>
              </a:rPr>
              <a:t>if</a:t>
            </a:r>
            <a:endParaRPr sz="3200">
              <a:latin typeface="Arial"/>
              <a:cs typeface="Arial"/>
            </a:endParaRPr>
          </a:p>
          <a:p>
            <a:pPr algn="ctr">
              <a:spcBef>
                <a:spcPts val="40"/>
              </a:spcBef>
            </a:pPr>
            <a:r>
              <a:rPr sz="4000" spc="-7" dirty="0">
                <a:solidFill>
                  <a:srgbClr val="595959"/>
                </a:solidFill>
                <a:latin typeface="Arial"/>
                <a:cs typeface="Arial"/>
              </a:rPr>
              <a:t>there exists </a:t>
            </a:r>
            <a:r>
              <a:rPr sz="4000" dirty="0">
                <a:solidFill>
                  <a:srgbClr val="595959"/>
                </a:solidFill>
                <a:latin typeface="Arial"/>
                <a:cs typeface="Arial"/>
              </a:rPr>
              <a:t>a </a:t>
            </a:r>
            <a:r>
              <a:rPr sz="4000" b="1" spc="-7" dirty="0">
                <a:solidFill>
                  <a:srgbClr val="595959"/>
                </a:solidFill>
                <a:latin typeface="Arial"/>
                <a:cs typeface="Arial"/>
              </a:rPr>
              <a:t>plane </a:t>
            </a:r>
            <a:r>
              <a:rPr sz="4000" spc="-7" dirty="0">
                <a:solidFill>
                  <a:srgbClr val="595959"/>
                </a:solidFill>
                <a:latin typeface="Arial"/>
                <a:cs typeface="Arial"/>
              </a:rPr>
              <a:t>that </a:t>
            </a:r>
            <a:r>
              <a:rPr sz="4000" b="1" spc="-7" dirty="0">
                <a:solidFill>
                  <a:srgbClr val="595959"/>
                </a:solidFill>
                <a:latin typeface="Arial"/>
                <a:cs typeface="Arial"/>
              </a:rPr>
              <a:t>separates</a:t>
            </a:r>
            <a:r>
              <a:rPr sz="4000" b="1" spc="7" dirty="0">
                <a:solidFill>
                  <a:srgbClr val="595959"/>
                </a:solidFill>
                <a:latin typeface="Arial"/>
                <a:cs typeface="Arial"/>
              </a:rPr>
              <a:t> </a:t>
            </a:r>
            <a:r>
              <a:rPr sz="4000" spc="-7" dirty="0">
                <a:solidFill>
                  <a:srgbClr val="595959"/>
                </a:solidFill>
                <a:latin typeface="Arial"/>
                <a:cs typeface="Arial"/>
              </a:rPr>
              <a:t>them.</a:t>
            </a:r>
            <a:endParaRPr sz="4000">
              <a:latin typeface="Arial"/>
              <a:cs typeface="Arial"/>
            </a:endParaRPr>
          </a:p>
        </p:txBody>
      </p:sp>
    </p:spTree>
    <p:extLst>
      <p:ext uri="{BB962C8B-B14F-4D97-AF65-F5344CB8AC3E}">
        <p14:creationId xmlns:p14="http://schemas.microsoft.com/office/powerpoint/2010/main" val="3927862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AABB Collision"/>
          <p:cNvSpPr txBox="1">
            <a:spLocks noGrp="1"/>
          </p:cNvSpPr>
          <p:nvPr>
            <p:ph type="title"/>
          </p:nvPr>
        </p:nvSpPr>
        <p:spPr>
          <a:prstGeom prst="rect">
            <a:avLst/>
          </a:prstGeom>
        </p:spPr>
        <p:txBody>
          <a:bodyPr/>
          <a:lstStyle/>
          <a:p>
            <a:r>
              <a:t>AABB Collision</a:t>
            </a:r>
          </a:p>
        </p:txBody>
      </p:sp>
      <p:sp>
        <p:nvSpPr>
          <p:cNvPr id="278" name="Compare x values in min,max vertices…"/>
          <p:cNvSpPr txBox="1">
            <a:spLocks noGrp="1"/>
          </p:cNvSpPr>
          <p:nvPr>
            <p:ph type="body" idx="1"/>
          </p:nvPr>
        </p:nvSpPr>
        <p:spPr>
          <a:xfrm>
            <a:off x="2416969" y="1902023"/>
            <a:ext cx="7358063" cy="4348758"/>
          </a:xfrm>
          <a:prstGeom prst="rect">
            <a:avLst/>
          </a:prstGeom>
        </p:spPr>
        <p:txBody>
          <a:bodyPr/>
          <a:lstStyle/>
          <a:p>
            <a:r>
              <a:t>Compare x values in min,max vertices</a:t>
            </a:r>
          </a:p>
          <a:p>
            <a:r>
              <a:t>If min2 &gt; max1 or min1 &gt; max2, no collision (separating plane)</a:t>
            </a:r>
          </a:p>
          <a:p>
            <a:endParaRPr/>
          </a:p>
          <a:p>
            <a:endParaRPr/>
          </a:p>
          <a:p>
            <a:endParaRPr/>
          </a:p>
          <a:p>
            <a:r>
              <a:t>Otherwise check y and z directions</a:t>
            </a:r>
          </a:p>
        </p:txBody>
      </p:sp>
      <p:sp>
        <p:nvSpPr>
          <p:cNvPr id="279" name="Rectangle"/>
          <p:cNvSpPr/>
          <p:nvPr/>
        </p:nvSpPr>
        <p:spPr>
          <a:xfrm>
            <a:off x="5130477" y="4242717"/>
            <a:ext cx="699865" cy="667495"/>
          </a:xfrm>
          <a:prstGeom prst="rect">
            <a:avLst/>
          </a:prstGeom>
          <a:ln w="38100" cap="sq">
            <a:solidFill>
              <a:srgbClr val="FF2600"/>
            </a:solidFill>
            <a:miter lim="400000"/>
          </a:ln>
        </p:spPr>
        <p:txBody>
          <a:bodyPr lIns="35719" tIns="35719" rIns="35719" bIns="35719" anchor="ctr"/>
          <a:lstStyle/>
          <a:p>
            <a:pPr marL="28573" marR="28573" defTabSz="642915">
              <a:defRPr sz="2400">
                <a:solidFill>
                  <a:srgbClr val="FFFFFF"/>
                </a:solidFill>
                <a:uFill>
                  <a:solidFill>
                    <a:srgbClr val="FFFFFF"/>
                  </a:solidFill>
                </a:uFill>
                <a:latin typeface="Times New Roman"/>
                <a:ea typeface="Times New Roman"/>
                <a:cs typeface="Times New Roman"/>
                <a:sym typeface="Times New Roman"/>
              </a:defRPr>
            </a:pPr>
            <a:endParaRPr sz="1687"/>
          </a:p>
        </p:txBody>
      </p:sp>
      <p:sp>
        <p:nvSpPr>
          <p:cNvPr id="280" name="Rectangle"/>
          <p:cNvSpPr/>
          <p:nvPr/>
        </p:nvSpPr>
        <p:spPr>
          <a:xfrm>
            <a:off x="6321475" y="4221510"/>
            <a:ext cx="709910" cy="730002"/>
          </a:xfrm>
          <a:prstGeom prst="rect">
            <a:avLst/>
          </a:prstGeom>
          <a:ln w="38100" cap="sq">
            <a:solidFill>
              <a:srgbClr val="FF2600"/>
            </a:solidFill>
            <a:miter lim="400000"/>
          </a:ln>
        </p:spPr>
        <p:txBody>
          <a:bodyPr lIns="35719" tIns="35719" rIns="35719" bIns="35719" anchor="ctr"/>
          <a:lstStyle/>
          <a:p>
            <a:pPr marL="28573" marR="28573" defTabSz="642915">
              <a:defRPr sz="2400">
                <a:solidFill>
                  <a:srgbClr val="FFFFFF"/>
                </a:solidFill>
                <a:uFill>
                  <a:solidFill>
                    <a:srgbClr val="FFFFFF"/>
                  </a:solidFill>
                </a:uFill>
                <a:latin typeface="Times New Roman"/>
                <a:ea typeface="Times New Roman"/>
                <a:cs typeface="Times New Roman"/>
                <a:sym typeface="Times New Roman"/>
              </a:defRPr>
            </a:pPr>
            <a:endParaRPr sz="1687"/>
          </a:p>
        </p:txBody>
      </p:sp>
      <p:sp>
        <p:nvSpPr>
          <p:cNvPr id="281" name="min1"/>
          <p:cNvSpPr txBox="1"/>
          <p:nvPr/>
        </p:nvSpPr>
        <p:spPr>
          <a:xfrm>
            <a:off x="4831333" y="5085457"/>
            <a:ext cx="432812" cy="266933"/>
          </a:xfrm>
          <a:prstGeom prst="rect">
            <a:avLst/>
          </a:prstGeom>
          <a:ln w="38100" cap="sq">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p>
            <a:pPr marL="28573" marR="28573" defTabSz="642915">
              <a:spcBef>
                <a:spcPts val="703"/>
              </a:spcBef>
              <a:buClr>
                <a:srgbClr val="FFFFFF"/>
              </a:buClr>
              <a:buFont typeface="Arial"/>
              <a:defRPr sz="1800">
                <a:uFill>
                  <a:solidFill>
                    <a:srgbClr val="000000"/>
                  </a:solidFill>
                </a:uFill>
                <a:latin typeface="+mj-lt"/>
                <a:ea typeface="+mj-ea"/>
                <a:cs typeface="+mj-cs"/>
                <a:sym typeface="Baskerville"/>
              </a:defRPr>
            </a:pPr>
            <a:r>
              <a:rPr sz="1266"/>
              <a:t>min</a:t>
            </a:r>
            <a:r>
              <a:rPr sz="1266" baseline="-25000"/>
              <a:t>1</a:t>
            </a:r>
          </a:p>
        </p:txBody>
      </p:sp>
      <p:sp>
        <p:nvSpPr>
          <p:cNvPr id="282" name="max1"/>
          <p:cNvSpPr txBox="1"/>
          <p:nvPr/>
        </p:nvSpPr>
        <p:spPr>
          <a:xfrm>
            <a:off x="5566916" y="5097735"/>
            <a:ext cx="544711" cy="266933"/>
          </a:xfrm>
          <a:prstGeom prst="rect">
            <a:avLst/>
          </a:prstGeom>
          <a:ln w="38100" cap="sq">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spAutoFit/>
          </a:bodyPr>
          <a:lstStyle/>
          <a:p>
            <a:pPr marL="28573" marR="28573" defTabSz="642915">
              <a:spcBef>
                <a:spcPts val="703"/>
              </a:spcBef>
              <a:buClr>
                <a:srgbClr val="FFFFFF"/>
              </a:buClr>
              <a:buFont typeface="Arial"/>
              <a:defRPr sz="1800">
                <a:uFill>
                  <a:solidFill>
                    <a:srgbClr val="000000"/>
                  </a:solidFill>
                </a:uFill>
                <a:latin typeface="+mj-lt"/>
                <a:ea typeface="+mj-ea"/>
                <a:cs typeface="+mj-cs"/>
                <a:sym typeface="Baskerville"/>
              </a:defRPr>
            </a:pPr>
            <a:r>
              <a:rPr sz="1266"/>
              <a:t>max</a:t>
            </a:r>
            <a:r>
              <a:rPr sz="1266" baseline="-25000"/>
              <a:t>1</a:t>
            </a:r>
          </a:p>
        </p:txBody>
      </p:sp>
      <p:sp>
        <p:nvSpPr>
          <p:cNvPr id="283" name="min2"/>
          <p:cNvSpPr txBox="1"/>
          <p:nvPr/>
        </p:nvSpPr>
        <p:spPr>
          <a:xfrm>
            <a:off x="6186413" y="5106665"/>
            <a:ext cx="432812" cy="266933"/>
          </a:xfrm>
          <a:prstGeom prst="rect">
            <a:avLst/>
          </a:prstGeom>
          <a:ln w="38100" cap="sq">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p>
            <a:pPr marL="28573" marR="28573" defTabSz="642915">
              <a:spcBef>
                <a:spcPts val="703"/>
              </a:spcBef>
              <a:buClr>
                <a:srgbClr val="FFFFFF"/>
              </a:buClr>
              <a:buFont typeface="Arial"/>
              <a:defRPr sz="1800">
                <a:uFill>
                  <a:solidFill>
                    <a:srgbClr val="000000"/>
                  </a:solidFill>
                </a:uFill>
                <a:latin typeface="+mj-lt"/>
                <a:ea typeface="+mj-ea"/>
                <a:cs typeface="+mj-cs"/>
                <a:sym typeface="Baskerville"/>
              </a:defRPr>
            </a:pPr>
            <a:r>
              <a:rPr sz="1266"/>
              <a:t>min</a:t>
            </a:r>
            <a:r>
              <a:rPr sz="1266" baseline="-25000"/>
              <a:t>2</a:t>
            </a:r>
          </a:p>
        </p:txBody>
      </p:sp>
      <p:sp>
        <p:nvSpPr>
          <p:cNvPr id="284" name="max2"/>
          <p:cNvSpPr txBox="1"/>
          <p:nvPr/>
        </p:nvSpPr>
        <p:spPr>
          <a:xfrm>
            <a:off x="6838280" y="5118944"/>
            <a:ext cx="500063" cy="266933"/>
          </a:xfrm>
          <a:prstGeom prst="rect">
            <a:avLst/>
          </a:prstGeom>
          <a:ln w="38100" cap="sq">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spAutoFit/>
          </a:bodyPr>
          <a:lstStyle/>
          <a:p>
            <a:pPr marL="28573" marR="28573" defTabSz="642915">
              <a:spcBef>
                <a:spcPts val="703"/>
              </a:spcBef>
              <a:buClr>
                <a:srgbClr val="FFFFFF"/>
              </a:buClr>
              <a:buFont typeface="Arial"/>
              <a:defRPr sz="1800">
                <a:uFill>
                  <a:solidFill>
                    <a:srgbClr val="000000"/>
                  </a:solidFill>
                </a:uFill>
                <a:latin typeface="+mj-lt"/>
                <a:ea typeface="+mj-ea"/>
                <a:cs typeface="+mj-cs"/>
                <a:sym typeface="Baskerville"/>
              </a:defRPr>
            </a:pPr>
            <a:r>
              <a:rPr sz="1266"/>
              <a:t>max</a:t>
            </a:r>
            <a:r>
              <a:rPr sz="1266" baseline="-25000"/>
              <a:t>2</a:t>
            </a:r>
          </a:p>
        </p:txBody>
      </p:sp>
      <p:sp>
        <p:nvSpPr>
          <p:cNvPr id="285" name="Line"/>
          <p:cNvSpPr/>
          <p:nvPr/>
        </p:nvSpPr>
        <p:spPr>
          <a:xfrm>
            <a:off x="4116958" y="5106664"/>
            <a:ext cx="3960317" cy="1117"/>
          </a:xfrm>
          <a:prstGeom prst="line">
            <a:avLst/>
          </a:prstGeom>
          <a:ln w="25400" cap="sq">
            <a:solidFill>
              <a:srgbClr val="0433FF"/>
            </a:solidFill>
          </a:ln>
        </p:spPr>
        <p:txBody>
          <a:bodyPr lIns="35719" tIns="35719" rIns="35719" bIns="35719" anchor="ctr"/>
          <a:lstStyle/>
          <a:p>
            <a:endParaRPr sz="1266"/>
          </a:p>
        </p:txBody>
      </p:sp>
      <p:sp>
        <p:nvSpPr>
          <p:cNvPr id="286" name="Line"/>
          <p:cNvSpPr/>
          <p:nvPr/>
        </p:nvSpPr>
        <p:spPr>
          <a:xfrm>
            <a:off x="5128245" y="4923607"/>
            <a:ext cx="1117" cy="183059"/>
          </a:xfrm>
          <a:prstGeom prst="line">
            <a:avLst/>
          </a:prstGeom>
          <a:ln w="19050">
            <a:solidFill>
              <a:srgbClr val="FF2600"/>
            </a:solidFill>
            <a:prstDash val="dash"/>
          </a:ln>
        </p:spPr>
        <p:txBody>
          <a:bodyPr lIns="35719" tIns="35719" rIns="35719" bIns="35719" anchor="ctr"/>
          <a:lstStyle/>
          <a:p>
            <a:endParaRPr sz="1266"/>
          </a:p>
        </p:txBody>
      </p:sp>
      <p:sp>
        <p:nvSpPr>
          <p:cNvPr id="287" name="Line"/>
          <p:cNvSpPr/>
          <p:nvPr/>
        </p:nvSpPr>
        <p:spPr>
          <a:xfrm>
            <a:off x="5837039" y="4909096"/>
            <a:ext cx="1117" cy="183059"/>
          </a:xfrm>
          <a:prstGeom prst="line">
            <a:avLst/>
          </a:prstGeom>
          <a:ln w="19050">
            <a:solidFill>
              <a:srgbClr val="FF2600"/>
            </a:solidFill>
            <a:prstDash val="dash"/>
          </a:ln>
        </p:spPr>
        <p:txBody>
          <a:bodyPr lIns="35719" tIns="35719" rIns="35719" bIns="35719" anchor="ctr"/>
          <a:lstStyle/>
          <a:p>
            <a:endParaRPr sz="1266"/>
          </a:p>
        </p:txBody>
      </p:sp>
      <p:sp>
        <p:nvSpPr>
          <p:cNvPr id="288" name="Line"/>
          <p:cNvSpPr/>
          <p:nvPr/>
        </p:nvSpPr>
        <p:spPr>
          <a:xfrm>
            <a:off x="6325939" y="4925839"/>
            <a:ext cx="1117" cy="183059"/>
          </a:xfrm>
          <a:prstGeom prst="line">
            <a:avLst/>
          </a:prstGeom>
          <a:ln w="19050">
            <a:solidFill>
              <a:srgbClr val="FF2600"/>
            </a:solidFill>
            <a:prstDash val="dash"/>
          </a:ln>
        </p:spPr>
        <p:txBody>
          <a:bodyPr lIns="35719" tIns="35719" rIns="35719" bIns="35719" anchor="ctr"/>
          <a:lstStyle/>
          <a:p>
            <a:endParaRPr sz="1266"/>
          </a:p>
        </p:txBody>
      </p:sp>
      <p:sp>
        <p:nvSpPr>
          <p:cNvPr id="289" name="Line"/>
          <p:cNvSpPr/>
          <p:nvPr/>
        </p:nvSpPr>
        <p:spPr>
          <a:xfrm>
            <a:off x="7035849" y="4912444"/>
            <a:ext cx="1117" cy="183059"/>
          </a:xfrm>
          <a:prstGeom prst="line">
            <a:avLst/>
          </a:prstGeom>
          <a:ln w="19050">
            <a:solidFill>
              <a:srgbClr val="FF2600"/>
            </a:solidFill>
            <a:prstDash val="dash"/>
          </a:ln>
        </p:spPr>
        <p:txBody>
          <a:bodyPr lIns="35719" tIns="35719" rIns="35719" bIns="35719" anchor="ctr"/>
          <a:lstStyle/>
          <a:p>
            <a:endParaRPr sz="1266"/>
          </a:p>
        </p:txBody>
      </p:sp>
    </p:spTree>
    <p:extLst>
      <p:ext uri="{BB962C8B-B14F-4D97-AF65-F5344CB8AC3E}">
        <p14:creationId xmlns:p14="http://schemas.microsoft.com/office/powerpoint/2010/main" val="36098721"/>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70630" y="2838294"/>
            <a:ext cx="1926167" cy="1926167"/>
          </a:xfrm>
          <a:custGeom>
            <a:avLst/>
            <a:gdLst/>
            <a:ahLst/>
            <a:cxnLst/>
            <a:rect l="l" t="t" r="r" b="b"/>
            <a:pathLst>
              <a:path w="1444625" h="1444625">
                <a:moveTo>
                  <a:pt x="0" y="460799"/>
                </a:moveTo>
                <a:lnTo>
                  <a:pt x="983400" y="0"/>
                </a:lnTo>
                <a:lnTo>
                  <a:pt x="1444200" y="983399"/>
                </a:lnTo>
                <a:lnTo>
                  <a:pt x="460800" y="1444199"/>
                </a:lnTo>
                <a:lnTo>
                  <a:pt x="0" y="460799"/>
                </a:lnTo>
                <a:close/>
              </a:path>
            </a:pathLst>
          </a:custGeom>
          <a:ln w="19049">
            <a:solidFill>
              <a:srgbClr val="FF0000"/>
            </a:solidFill>
          </a:ln>
        </p:spPr>
        <p:txBody>
          <a:bodyPr wrap="square" lIns="0" tIns="0" rIns="0" bIns="0" rtlCol="0"/>
          <a:lstStyle/>
          <a:p>
            <a:endParaRPr sz="2400"/>
          </a:p>
        </p:txBody>
      </p:sp>
      <p:sp>
        <p:nvSpPr>
          <p:cNvPr id="3" name="object 3"/>
          <p:cNvSpPr txBox="1">
            <a:spLocks noGrp="1"/>
          </p:cNvSpPr>
          <p:nvPr>
            <p:ph type="title"/>
          </p:nvPr>
        </p:nvSpPr>
        <p:spPr>
          <a:xfrm>
            <a:off x="512968" y="677405"/>
            <a:ext cx="7733885"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smtClean="0">
                <a:solidFill>
                  <a:srgbClr val="000000"/>
                </a:solidFill>
              </a:rPr>
              <a:t>Projection</a:t>
            </a:r>
            <a:r>
              <a:rPr lang="en-US" sz="3733" spc="-7" dirty="0" smtClean="0">
                <a:solidFill>
                  <a:srgbClr val="000000"/>
                </a:solidFill>
              </a:rPr>
              <a:t> for OOBB </a:t>
            </a:r>
            <a:endParaRPr sz="3733" dirty="0"/>
          </a:p>
        </p:txBody>
      </p:sp>
      <p:sp>
        <p:nvSpPr>
          <p:cNvPr id="4" name="object 4"/>
          <p:cNvSpPr/>
          <p:nvPr/>
        </p:nvSpPr>
        <p:spPr>
          <a:xfrm>
            <a:off x="1461299" y="2548525"/>
            <a:ext cx="0" cy="2794847"/>
          </a:xfrm>
          <a:custGeom>
            <a:avLst/>
            <a:gdLst/>
            <a:ahLst/>
            <a:cxnLst/>
            <a:rect l="l" t="t" r="r" b="b"/>
            <a:pathLst>
              <a:path h="2096135">
                <a:moveTo>
                  <a:pt x="0" y="2095556"/>
                </a:moveTo>
                <a:lnTo>
                  <a:pt x="0" y="0"/>
                </a:lnTo>
              </a:path>
            </a:pathLst>
          </a:custGeom>
          <a:ln w="9524">
            <a:solidFill>
              <a:srgbClr val="595959"/>
            </a:solidFill>
          </a:ln>
        </p:spPr>
        <p:txBody>
          <a:bodyPr wrap="square" lIns="0" tIns="0" rIns="0" bIns="0" rtlCol="0"/>
          <a:lstStyle/>
          <a:p>
            <a:endParaRPr sz="2400"/>
          </a:p>
        </p:txBody>
      </p:sp>
      <p:sp>
        <p:nvSpPr>
          <p:cNvPr id="5" name="object 5"/>
          <p:cNvSpPr/>
          <p:nvPr/>
        </p:nvSpPr>
        <p:spPr>
          <a:xfrm>
            <a:off x="1447017" y="2523566"/>
            <a:ext cx="28787" cy="39793"/>
          </a:xfrm>
          <a:custGeom>
            <a:avLst/>
            <a:gdLst/>
            <a:ahLst/>
            <a:cxnLst/>
            <a:rect l="l" t="t" r="r" b="b"/>
            <a:pathLst>
              <a:path w="21590" h="29844">
                <a:moveTo>
                  <a:pt x="0" y="29430"/>
                </a:moveTo>
                <a:lnTo>
                  <a:pt x="10711" y="0"/>
                </a:lnTo>
                <a:lnTo>
                  <a:pt x="17524" y="18718"/>
                </a:lnTo>
                <a:lnTo>
                  <a:pt x="10711" y="18718"/>
                </a:lnTo>
                <a:lnTo>
                  <a:pt x="0" y="29430"/>
                </a:lnTo>
                <a:close/>
              </a:path>
              <a:path w="21590" h="29844">
                <a:moveTo>
                  <a:pt x="21423" y="29430"/>
                </a:moveTo>
                <a:lnTo>
                  <a:pt x="10711" y="18718"/>
                </a:lnTo>
                <a:lnTo>
                  <a:pt x="17524" y="18718"/>
                </a:lnTo>
                <a:lnTo>
                  <a:pt x="21423" y="29430"/>
                </a:lnTo>
                <a:close/>
              </a:path>
            </a:pathLst>
          </a:custGeom>
          <a:solidFill>
            <a:srgbClr val="595959"/>
          </a:solidFill>
        </p:spPr>
        <p:txBody>
          <a:bodyPr wrap="square" lIns="0" tIns="0" rIns="0" bIns="0" rtlCol="0"/>
          <a:lstStyle/>
          <a:p>
            <a:endParaRPr sz="2400"/>
          </a:p>
        </p:txBody>
      </p:sp>
      <p:sp>
        <p:nvSpPr>
          <p:cNvPr id="6" name="object 6"/>
          <p:cNvSpPr/>
          <p:nvPr/>
        </p:nvSpPr>
        <p:spPr>
          <a:xfrm>
            <a:off x="1447017" y="2523566"/>
            <a:ext cx="28787" cy="39793"/>
          </a:xfrm>
          <a:custGeom>
            <a:avLst/>
            <a:gdLst/>
            <a:ahLst/>
            <a:cxnLst/>
            <a:rect l="l" t="t" r="r" b="b"/>
            <a:pathLst>
              <a:path w="21590" h="29844">
                <a:moveTo>
                  <a:pt x="10711" y="18718"/>
                </a:moveTo>
                <a:lnTo>
                  <a:pt x="21423" y="29430"/>
                </a:lnTo>
                <a:lnTo>
                  <a:pt x="10711" y="0"/>
                </a:lnTo>
                <a:lnTo>
                  <a:pt x="0" y="29430"/>
                </a:lnTo>
                <a:lnTo>
                  <a:pt x="10711" y="18718"/>
                </a:lnTo>
                <a:close/>
              </a:path>
            </a:pathLst>
          </a:custGeom>
          <a:ln w="9524">
            <a:solidFill>
              <a:srgbClr val="595959"/>
            </a:solidFill>
          </a:ln>
        </p:spPr>
        <p:txBody>
          <a:bodyPr wrap="square" lIns="0" tIns="0" rIns="0" bIns="0" rtlCol="0"/>
          <a:lstStyle/>
          <a:p>
            <a:endParaRPr sz="2400"/>
          </a:p>
        </p:txBody>
      </p:sp>
      <p:sp>
        <p:nvSpPr>
          <p:cNvPr id="7" name="object 7"/>
          <p:cNvSpPr/>
          <p:nvPr/>
        </p:nvSpPr>
        <p:spPr>
          <a:xfrm>
            <a:off x="1469032" y="5342599"/>
            <a:ext cx="2778760" cy="0"/>
          </a:xfrm>
          <a:custGeom>
            <a:avLst/>
            <a:gdLst/>
            <a:ahLst/>
            <a:cxnLst/>
            <a:rect l="l" t="t" r="r" b="b"/>
            <a:pathLst>
              <a:path w="2084070">
                <a:moveTo>
                  <a:pt x="0" y="0"/>
                </a:moveTo>
                <a:lnTo>
                  <a:pt x="2083856" y="0"/>
                </a:lnTo>
              </a:path>
            </a:pathLst>
          </a:custGeom>
          <a:ln w="9524">
            <a:solidFill>
              <a:srgbClr val="595959"/>
            </a:solidFill>
          </a:ln>
        </p:spPr>
        <p:txBody>
          <a:bodyPr wrap="square" lIns="0" tIns="0" rIns="0" bIns="0" rtlCol="0"/>
          <a:lstStyle/>
          <a:p>
            <a:endParaRPr sz="2400"/>
          </a:p>
        </p:txBody>
      </p:sp>
      <p:sp>
        <p:nvSpPr>
          <p:cNvPr id="8" name="object 8"/>
          <p:cNvSpPr/>
          <p:nvPr/>
        </p:nvSpPr>
        <p:spPr>
          <a:xfrm>
            <a:off x="4233228" y="5328317"/>
            <a:ext cx="39793" cy="28787"/>
          </a:xfrm>
          <a:custGeom>
            <a:avLst/>
            <a:gdLst/>
            <a:ahLst/>
            <a:cxnLst/>
            <a:rect l="l" t="t" r="r" b="b"/>
            <a:pathLst>
              <a:path w="29844" h="21589">
                <a:moveTo>
                  <a:pt x="0" y="21423"/>
                </a:moveTo>
                <a:lnTo>
                  <a:pt x="10711" y="10711"/>
                </a:lnTo>
                <a:lnTo>
                  <a:pt x="0" y="0"/>
                </a:lnTo>
                <a:lnTo>
                  <a:pt x="29430" y="10711"/>
                </a:lnTo>
                <a:lnTo>
                  <a:pt x="0" y="21423"/>
                </a:lnTo>
                <a:close/>
              </a:path>
            </a:pathLst>
          </a:custGeom>
          <a:solidFill>
            <a:srgbClr val="595959"/>
          </a:solidFill>
        </p:spPr>
        <p:txBody>
          <a:bodyPr wrap="square" lIns="0" tIns="0" rIns="0" bIns="0" rtlCol="0"/>
          <a:lstStyle/>
          <a:p>
            <a:endParaRPr sz="2400"/>
          </a:p>
        </p:txBody>
      </p:sp>
      <p:sp>
        <p:nvSpPr>
          <p:cNvPr id="9" name="object 9"/>
          <p:cNvSpPr/>
          <p:nvPr/>
        </p:nvSpPr>
        <p:spPr>
          <a:xfrm>
            <a:off x="4233228" y="5328317"/>
            <a:ext cx="39793" cy="28787"/>
          </a:xfrm>
          <a:custGeom>
            <a:avLst/>
            <a:gdLst/>
            <a:ahLst/>
            <a:cxnLst/>
            <a:rect l="l" t="t" r="r" b="b"/>
            <a:pathLst>
              <a:path w="29844" h="21589">
                <a:moveTo>
                  <a:pt x="10711" y="10711"/>
                </a:moveTo>
                <a:lnTo>
                  <a:pt x="0" y="21423"/>
                </a:lnTo>
                <a:lnTo>
                  <a:pt x="29430" y="10711"/>
                </a:lnTo>
                <a:lnTo>
                  <a:pt x="0" y="0"/>
                </a:lnTo>
                <a:lnTo>
                  <a:pt x="10711" y="10711"/>
                </a:lnTo>
                <a:close/>
              </a:path>
            </a:pathLst>
          </a:custGeom>
          <a:ln w="9524">
            <a:solidFill>
              <a:srgbClr val="595959"/>
            </a:solidFill>
          </a:ln>
        </p:spPr>
        <p:txBody>
          <a:bodyPr wrap="square" lIns="0" tIns="0" rIns="0" bIns="0" rtlCol="0"/>
          <a:lstStyle/>
          <a:p>
            <a:endParaRPr sz="2400"/>
          </a:p>
        </p:txBody>
      </p:sp>
      <p:sp>
        <p:nvSpPr>
          <p:cNvPr id="10" name="object 10"/>
          <p:cNvSpPr txBox="1"/>
          <p:nvPr/>
        </p:nvSpPr>
        <p:spPr>
          <a:xfrm>
            <a:off x="916867" y="3774851"/>
            <a:ext cx="143085" cy="304421"/>
          </a:xfrm>
          <a:prstGeom prst="rect">
            <a:avLst/>
          </a:prstGeom>
        </p:spPr>
        <p:txBody>
          <a:bodyPr vert="horz" wrap="square" lIns="0" tIns="16933" rIns="0" bIns="0" rtlCol="0">
            <a:spAutoFit/>
          </a:bodyPr>
          <a:lstStyle/>
          <a:p>
            <a:pPr marL="16933">
              <a:spcBef>
                <a:spcPts val="133"/>
              </a:spcBef>
            </a:pPr>
            <a:r>
              <a:rPr sz="1867" i="1" dirty="0">
                <a:latin typeface="Cambria"/>
                <a:cs typeface="Cambria"/>
              </a:rPr>
              <a:t>y</a:t>
            </a:r>
            <a:endParaRPr sz="1867">
              <a:latin typeface="Cambria"/>
              <a:cs typeface="Cambria"/>
            </a:endParaRPr>
          </a:p>
        </p:txBody>
      </p:sp>
      <p:sp>
        <p:nvSpPr>
          <p:cNvPr id="11" name="object 11"/>
          <p:cNvSpPr/>
          <p:nvPr/>
        </p:nvSpPr>
        <p:spPr>
          <a:xfrm>
            <a:off x="2845429" y="3811894"/>
            <a:ext cx="259080" cy="566420"/>
          </a:xfrm>
          <a:custGeom>
            <a:avLst/>
            <a:gdLst/>
            <a:ahLst/>
            <a:cxnLst/>
            <a:rect l="l" t="t" r="r" b="b"/>
            <a:pathLst>
              <a:path w="194310" h="424814">
                <a:moveTo>
                  <a:pt x="194223" y="424238"/>
                </a:moveTo>
                <a:lnTo>
                  <a:pt x="0" y="0"/>
                </a:lnTo>
              </a:path>
            </a:pathLst>
          </a:custGeom>
          <a:ln w="19049">
            <a:solidFill>
              <a:srgbClr val="3D85C6"/>
            </a:solidFill>
          </a:ln>
        </p:spPr>
        <p:txBody>
          <a:bodyPr wrap="square" lIns="0" tIns="0" rIns="0" bIns="0" rtlCol="0"/>
          <a:lstStyle/>
          <a:p>
            <a:endParaRPr sz="2400"/>
          </a:p>
        </p:txBody>
      </p:sp>
      <p:sp>
        <p:nvSpPr>
          <p:cNvPr id="12" name="object 12"/>
          <p:cNvSpPr/>
          <p:nvPr/>
        </p:nvSpPr>
        <p:spPr>
          <a:xfrm>
            <a:off x="3066532" y="4339683"/>
            <a:ext cx="59267" cy="83820"/>
          </a:xfrm>
          <a:custGeom>
            <a:avLst/>
            <a:gdLst/>
            <a:ahLst/>
            <a:cxnLst/>
            <a:rect l="l" t="t" r="r" b="b"/>
            <a:pathLst>
              <a:path w="44450" h="62864">
                <a:moveTo>
                  <a:pt x="41242" y="28396"/>
                </a:moveTo>
                <a:lnTo>
                  <a:pt x="28396" y="28396"/>
                </a:lnTo>
                <a:lnTo>
                  <a:pt x="38957" y="0"/>
                </a:lnTo>
                <a:lnTo>
                  <a:pt x="41242" y="28396"/>
                </a:lnTo>
                <a:close/>
              </a:path>
              <a:path w="44450" h="62864">
                <a:moveTo>
                  <a:pt x="43980" y="62435"/>
                </a:moveTo>
                <a:lnTo>
                  <a:pt x="0" y="17835"/>
                </a:lnTo>
                <a:lnTo>
                  <a:pt x="28396" y="28396"/>
                </a:lnTo>
                <a:lnTo>
                  <a:pt x="41242" y="28396"/>
                </a:lnTo>
                <a:lnTo>
                  <a:pt x="43980" y="62435"/>
                </a:lnTo>
                <a:close/>
              </a:path>
            </a:pathLst>
          </a:custGeom>
          <a:solidFill>
            <a:srgbClr val="3D85C6"/>
          </a:solidFill>
        </p:spPr>
        <p:txBody>
          <a:bodyPr wrap="square" lIns="0" tIns="0" rIns="0" bIns="0" rtlCol="0"/>
          <a:lstStyle/>
          <a:p>
            <a:endParaRPr sz="2400"/>
          </a:p>
        </p:txBody>
      </p:sp>
      <p:sp>
        <p:nvSpPr>
          <p:cNvPr id="13" name="object 13"/>
          <p:cNvSpPr/>
          <p:nvPr/>
        </p:nvSpPr>
        <p:spPr>
          <a:xfrm>
            <a:off x="3066532" y="4339683"/>
            <a:ext cx="59267" cy="83820"/>
          </a:xfrm>
          <a:custGeom>
            <a:avLst/>
            <a:gdLst/>
            <a:ahLst/>
            <a:cxnLst/>
            <a:rect l="l" t="t" r="r" b="b"/>
            <a:pathLst>
              <a:path w="44450" h="62864">
                <a:moveTo>
                  <a:pt x="28396" y="28396"/>
                </a:moveTo>
                <a:lnTo>
                  <a:pt x="0" y="17835"/>
                </a:lnTo>
                <a:lnTo>
                  <a:pt x="43980" y="62435"/>
                </a:lnTo>
                <a:lnTo>
                  <a:pt x="38957" y="0"/>
                </a:lnTo>
                <a:lnTo>
                  <a:pt x="28396" y="28396"/>
                </a:lnTo>
                <a:close/>
              </a:path>
            </a:pathLst>
          </a:custGeom>
          <a:ln w="19049">
            <a:solidFill>
              <a:srgbClr val="3D85C6"/>
            </a:solidFill>
          </a:ln>
        </p:spPr>
        <p:txBody>
          <a:bodyPr wrap="square" lIns="0" tIns="0" rIns="0" bIns="0" rtlCol="0"/>
          <a:lstStyle/>
          <a:p>
            <a:endParaRPr sz="2400"/>
          </a:p>
        </p:txBody>
      </p:sp>
      <p:sp>
        <p:nvSpPr>
          <p:cNvPr id="14" name="object 14"/>
          <p:cNvSpPr/>
          <p:nvPr/>
        </p:nvSpPr>
        <p:spPr>
          <a:xfrm>
            <a:off x="2256850" y="3796294"/>
            <a:ext cx="596900" cy="276013"/>
          </a:xfrm>
          <a:custGeom>
            <a:avLst/>
            <a:gdLst/>
            <a:ahLst/>
            <a:cxnLst/>
            <a:rect l="l" t="t" r="r" b="b"/>
            <a:pathLst>
              <a:path w="447675" h="207010">
                <a:moveTo>
                  <a:pt x="0" y="206614"/>
                </a:moveTo>
                <a:lnTo>
                  <a:pt x="447135" y="0"/>
                </a:lnTo>
              </a:path>
            </a:pathLst>
          </a:custGeom>
          <a:ln w="19049">
            <a:solidFill>
              <a:srgbClr val="6AA84F"/>
            </a:solidFill>
          </a:ln>
        </p:spPr>
        <p:txBody>
          <a:bodyPr wrap="square" lIns="0" tIns="0" rIns="0" bIns="0" rtlCol="0"/>
          <a:lstStyle/>
          <a:p>
            <a:endParaRPr sz="2400"/>
          </a:p>
        </p:txBody>
      </p:sp>
      <p:sp>
        <p:nvSpPr>
          <p:cNvPr id="15" name="object 15"/>
          <p:cNvSpPr/>
          <p:nvPr/>
        </p:nvSpPr>
        <p:spPr>
          <a:xfrm>
            <a:off x="2211538" y="4033867"/>
            <a:ext cx="83820" cy="59267"/>
          </a:xfrm>
          <a:custGeom>
            <a:avLst/>
            <a:gdLst/>
            <a:ahLst/>
            <a:cxnLst/>
            <a:rect l="l" t="t" r="r" b="b"/>
            <a:pathLst>
              <a:path w="62864" h="44450">
                <a:moveTo>
                  <a:pt x="0" y="44137"/>
                </a:moveTo>
                <a:lnTo>
                  <a:pt x="44444" y="0"/>
                </a:lnTo>
                <a:lnTo>
                  <a:pt x="33983" y="28433"/>
                </a:lnTo>
                <a:lnTo>
                  <a:pt x="62417" y="38894"/>
                </a:lnTo>
                <a:lnTo>
                  <a:pt x="0" y="44137"/>
                </a:lnTo>
                <a:close/>
              </a:path>
            </a:pathLst>
          </a:custGeom>
          <a:solidFill>
            <a:srgbClr val="6AA84F"/>
          </a:solidFill>
        </p:spPr>
        <p:txBody>
          <a:bodyPr wrap="square" lIns="0" tIns="0" rIns="0" bIns="0" rtlCol="0"/>
          <a:lstStyle/>
          <a:p>
            <a:endParaRPr sz="2400"/>
          </a:p>
        </p:txBody>
      </p:sp>
      <p:sp>
        <p:nvSpPr>
          <p:cNvPr id="16" name="object 16"/>
          <p:cNvSpPr/>
          <p:nvPr/>
        </p:nvSpPr>
        <p:spPr>
          <a:xfrm>
            <a:off x="2211538" y="4033867"/>
            <a:ext cx="83820" cy="59267"/>
          </a:xfrm>
          <a:custGeom>
            <a:avLst/>
            <a:gdLst/>
            <a:ahLst/>
            <a:cxnLst/>
            <a:rect l="l" t="t" r="r" b="b"/>
            <a:pathLst>
              <a:path w="62864" h="44450">
                <a:moveTo>
                  <a:pt x="33983" y="28433"/>
                </a:moveTo>
                <a:lnTo>
                  <a:pt x="44444" y="0"/>
                </a:lnTo>
                <a:lnTo>
                  <a:pt x="0" y="44137"/>
                </a:lnTo>
                <a:lnTo>
                  <a:pt x="62417" y="38894"/>
                </a:lnTo>
                <a:lnTo>
                  <a:pt x="33983" y="28433"/>
                </a:lnTo>
                <a:close/>
              </a:path>
            </a:pathLst>
          </a:custGeom>
          <a:ln w="19049">
            <a:solidFill>
              <a:srgbClr val="6AA84F"/>
            </a:solidFill>
          </a:ln>
        </p:spPr>
        <p:txBody>
          <a:bodyPr wrap="square" lIns="0" tIns="0" rIns="0" bIns="0" rtlCol="0"/>
          <a:lstStyle/>
          <a:p>
            <a:endParaRPr sz="2400"/>
          </a:p>
        </p:txBody>
      </p:sp>
      <p:sp>
        <p:nvSpPr>
          <p:cNvPr id="17" name="object 17"/>
          <p:cNvSpPr/>
          <p:nvPr/>
        </p:nvSpPr>
        <p:spPr>
          <a:xfrm>
            <a:off x="3140629" y="4456694"/>
            <a:ext cx="0" cy="877993"/>
          </a:xfrm>
          <a:custGeom>
            <a:avLst/>
            <a:gdLst/>
            <a:ahLst/>
            <a:cxnLst/>
            <a:rect l="l" t="t" r="r" b="b"/>
            <a:pathLst>
              <a:path h="658495">
                <a:moveTo>
                  <a:pt x="0" y="0"/>
                </a:moveTo>
                <a:lnTo>
                  <a:pt x="0" y="658499"/>
                </a:lnTo>
              </a:path>
            </a:pathLst>
          </a:custGeom>
          <a:ln w="9524">
            <a:solidFill>
              <a:srgbClr val="6AA84F"/>
            </a:solidFill>
            <a:prstDash val="lgDash"/>
          </a:ln>
        </p:spPr>
        <p:txBody>
          <a:bodyPr wrap="square" lIns="0" tIns="0" rIns="0" bIns="0" rtlCol="0"/>
          <a:lstStyle/>
          <a:p>
            <a:endParaRPr sz="2400"/>
          </a:p>
        </p:txBody>
      </p:sp>
      <p:sp>
        <p:nvSpPr>
          <p:cNvPr id="18" name="object 18"/>
          <p:cNvSpPr/>
          <p:nvPr/>
        </p:nvSpPr>
        <p:spPr>
          <a:xfrm>
            <a:off x="2177829" y="4108293"/>
            <a:ext cx="0" cy="1242059"/>
          </a:xfrm>
          <a:custGeom>
            <a:avLst/>
            <a:gdLst/>
            <a:ahLst/>
            <a:cxnLst/>
            <a:rect l="l" t="t" r="r" b="b"/>
            <a:pathLst>
              <a:path h="931545">
                <a:moveTo>
                  <a:pt x="0" y="0"/>
                </a:moveTo>
                <a:lnTo>
                  <a:pt x="0" y="931499"/>
                </a:lnTo>
              </a:path>
            </a:pathLst>
          </a:custGeom>
          <a:ln w="9524">
            <a:solidFill>
              <a:srgbClr val="6AA84F"/>
            </a:solidFill>
            <a:prstDash val="lgDash"/>
          </a:ln>
        </p:spPr>
        <p:txBody>
          <a:bodyPr wrap="square" lIns="0" tIns="0" rIns="0" bIns="0" rtlCol="0"/>
          <a:lstStyle/>
          <a:p>
            <a:endParaRPr sz="2400"/>
          </a:p>
        </p:txBody>
      </p:sp>
      <p:sp>
        <p:nvSpPr>
          <p:cNvPr id="19" name="object 19"/>
          <p:cNvSpPr/>
          <p:nvPr/>
        </p:nvSpPr>
        <p:spPr>
          <a:xfrm>
            <a:off x="2845266" y="5474032"/>
            <a:ext cx="294639" cy="0"/>
          </a:xfrm>
          <a:custGeom>
            <a:avLst/>
            <a:gdLst/>
            <a:ahLst/>
            <a:cxnLst/>
            <a:rect l="l" t="t" r="r" b="b"/>
            <a:pathLst>
              <a:path w="220980">
                <a:moveTo>
                  <a:pt x="0" y="0"/>
                </a:moveTo>
                <a:lnTo>
                  <a:pt x="220499" y="0"/>
                </a:lnTo>
              </a:path>
            </a:pathLst>
          </a:custGeom>
          <a:ln w="19049">
            <a:solidFill>
              <a:srgbClr val="3D85C6"/>
            </a:solidFill>
          </a:ln>
        </p:spPr>
        <p:txBody>
          <a:bodyPr wrap="square" lIns="0" tIns="0" rIns="0" bIns="0" rtlCol="0"/>
          <a:lstStyle/>
          <a:p>
            <a:endParaRPr sz="2400"/>
          </a:p>
        </p:txBody>
      </p:sp>
      <p:sp>
        <p:nvSpPr>
          <p:cNvPr id="20" name="object 20"/>
          <p:cNvSpPr txBox="1"/>
          <p:nvPr/>
        </p:nvSpPr>
        <p:spPr>
          <a:xfrm>
            <a:off x="5871499" y="1555335"/>
            <a:ext cx="4480560" cy="1287190"/>
          </a:xfrm>
          <a:prstGeom prst="rect">
            <a:avLst/>
          </a:prstGeom>
        </p:spPr>
        <p:txBody>
          <a:bodyPr vert="horz" wrap="square" lIns="0" tIns="16933" rIns="0" bIns="0" rtlCol="0">
            <a:spAutoFit/>
          </a:bodyPr>
          <a:lstStyle/>
          <a:p>
            <a:pPr marL="505447" marR="6773" indent="-488514">
              <a:lnSpc>
                <a:spcPct val="114599"/>
              </a:lnSpc>
              <a:spcBef>
                <a:spcPts val="133"/>
              </a:spcBef>
              <a:buChar char="●"/>
              <a:tabLst>
                <a:tab pos="505447" algn="l"/>
                <a:tab pos="506294" algn="l"/>
              </a:tabLst>
            </a:pPr>
            <a:r>
              <a:rPr sz="2400" spc="-7" dirty="0">
                <a:solidFill>
                  <a:srgbClr val="595959"/>
                </a:solidFill>
                <a:latin typeface="Arial"/>
                <a:cs typeface="Arial"/>
              </a:rPr>
              <a:t>Sum the projection of the half  </a:t>
            </a:r>
            <a:r>
              <a:rPr sz="2400" dirty="0">
                <a:solidFill>
                  <a:srgbClr val="595959"/>
                </a:solidFill>
                <a:latin typeface="Arial"/>
                <a:cs typeface="Arial"/>
              </a:rPr>
              <a:t>vectors </a:t>
            </a:r>
            <a:r>
              <a:rPr sz="2400" spc="-7" dirty="0">
                <a:solidFill>
                  <a:srgbClr val="595959"/>
                </a:solidFill>
                <a:latin typeface="Arial"/>
                <a:cs typeface="Arial"/>
              </a:rPr>
              <a:t>to get the</a:t>
            </a:r>
            <a:r>
              <a:rPr sz="2400" spc="-60" dirty="0">
                <a:solidFill>
                  <a:srgbClr val="595959"/>
                </a:solidFill>
                <a:latin typeface="Arial"/>
                <a:cs typeface="Arial"/>
              </a:rPr>
              <a:t> </a:t>
            </a:r>
            <a:r>
              <a:rPr sz="2400" spc="-7" dirty="0">
                <a:solidFill>
                  <a:srgbClr val="595959"/>
                </a:solidFill>
                <a:latin typeface="Arial"/>
                <a:cs typeface="Arial"/>
              </a:rPr>
              <a:t>‘radius.’</a:t>
            </a:r>
            <a:endParaRPr sz="2400">
              <a:latin typeface="Arial"/>
              <a:cs typeface="Arial"/>
            </a:endParaRPr>
          </a:p>
          <a:p>
            <a:pPr marL="505447" indent="-488514">
              <a:spcBef>
                <a:spcPts val="420"/>
              </a:spcBef>
              <a:buChar char="●"/>
              <a:tabLst>
                <a:tab pos="505447" algn="l"/>
                <a:tab pos="506294" algn="l"/>
              </a:tabLst>
            </a:pPr>
            <a:r>
              <a:rPr sz="2400" spc="-7" dirty="0">
                <a:solidFill>
                  <a:srgbClr val="595959"/>
                </a:solidFill>
                <a:latin typeface="Arial"/>
                <a:cs typeface="Arial"/>
              </a:rPr>
              <a:t>Project </a:t>
            </a:r>
            <a:r>
              <a:rPr sz="2400" i="1" dirty="0">
                <a:solidFill>
                  <a:srgbClr val="595959"/>
                </a:solidFill>
                <a:latin typeface="Cambria"/>
                <a:cs typeface="Cambria"/>
              </a:rPr>
              <a:t>a </a:t>
            </a:r>
            <a:r>
              <a:rPr sz="2400" spc="-7" dirty="0">
                <a:solidFill>
                  <a:srgbClr val="595959"/>
                </a:solidFill>
                <a:latin typeface="Arial"/>
                <a:cs typeface="Arial"/>
              </a:rPr>
              <a:t>onto</a:t>
            </a:r>
            <a:r>
              <a:rPr sz="2400" spc="147" dirty="0">
                <a:solidFill>
                  <a:srgbClr val="595959"/>
                </a:solidFill>
                <a:latin typeface="Arial"/>
                <a:cs typeface="Arial"/>
              </a:rPr>
              <a:t> </a:t>
            </a:r>
            <a:r>
              <a:rPr sz="2400" i="1" dirty="0">
                <a:solidFill>
                  <a:srgbClr val="595959"/>
                </a:solidFill>
                <a:latin typeface="Cambria"/>
                <a:cs typeface="Cambria"/>
              </a:rPr>
              <a:t>b</a:t>
            </a:r>
            <a:r>
              <a:rPr sz="2400" dirty="0">
                <a:solidFill>
                  <a:srgbClr val="595959"/>
                </a:solidFill>
                <a:latin typeface="Arial"/>
                <a:cs typeface="Arial"/>
              </a:rPr>
              <a:t>:</a:t>
            </a:r>
            <a:endParaRPr sz="2400">
              <a:latin typeface="Arial"/>
              <a:cs typeface="Arial"/>
            </a:endParaRPr>
          </a:p>
        </p:txBody>
      </p:sp>
      <p:sp>
        <p:nvSpPr>
          <p:cNvPr id="21" name="object 21"/>
          <p:cNvSpPr txBox="1"/>
          <p:nvPr/>
        </p:nvSpPr>
        <p:spPr>
          <a:xfrm>
            <a:off x="5871499" y="4504273"/>
            <a:ext cx="3706707" cy="386430"/>
          </a:xfrm>
          <a:prstGeom prst="rect">
            <a:avLst/>
          </a:prstGeom>
        </p:spPr>
        <p:txBody>
          <a:bodyPr vert="horz" wrap="square" lIns="0" tIns="16933" rIns="0" bIns="0" rtlCol="0">
            <a:spAutoFit/>
          </a:bodyPr>
          <a:lstStyle/>
          <a:p>
            <a:pPr marL="505447" indent="-488514">
              <a:spcBef>
                <a:spcPts val="133"/>
              </a:spcBef>
              <a:buChar char="●"/>
              <a:tabLst>
                <a:tab pos="505447" algn="l"/>
                <a:tab pos="506294" algn="l"/>
              </a:tabLst>
            </a:pPr>
            <a:r>
              <a:rPr sz="2400" spc="-7" dirty="0">
                <a:solidFill>
                  <a:srgbClr val="595959"/>
                </a:solidFill>
                <a:latin typeface="Arial"/>
                <a:cs typeface="Arial"/>
              </a:rPr>
              <a:t>When </a:t>
            </a:r>
            <a:r>
              <a:rPr sz="2400" i="1" dirty="0">
                <a:solidFill>
                  <a:srgbClr val="595959"/>
                </a:solidFill>
                <a:latin typeface="Arial"/>
                <a:cs typeface="Arial"/>
              </a:rPr>
              <a:t>b </a:t>
            </a:r>
            <a:r>
              <a:rPr sz="2400" spc="-7" dirty="0">
                <a:solidFill>
                  <a:srgbClr val="595959"/>
                </a:solidFill>
                <a:latin typeface="Arial"/>
                <a:cs typeface="Arial"/>
              </a:rPr>
              <a:t>is </a:t>
            </a:r>
            <a:r>
              <a:rPr sz="2400" dirty="0">
                <a:solidFill>
                  <a:srgbClr val="595959"/>
                </a:solidFill>
                <a:latin typeface="Arial"/>
                <a:cs typeface="Arial"/>
              </a:rPr>
              <a:t>a </a:t>
            </a:r>
            <a:r>
              <a:rPr sz="2400" spc="-7" dirty="0">
                <a:solidFill>
                  <a:srgbClr val="595959"/>
                </a:solidFill>
                <a:latin typeface="Arial"/>
                <a:cs typeface="Arial"/>
              </a:rPr>
              <a:t>unit</a:t>
            </a:r>
            <a:r>
              <a:rPr sz="2400" spc="-120" dirty="0">
                <a:solidFill>
                  <a:srgbClr val="595959"/>
                </a:solidFill>
                <a:latin typeface="Arial"/>
                <a:cs typeface="Arial"/>
              </a:rPr>
              <a:t> </a:t>
            </a:r>
            <a:r>
              <a:rPr sz="2400" dirty="0">
                <a:solidFill>
                  <a:srgbClr val="595959"/>
                </a:solidFill>
                <a:latin typeface="Arial"/>
                <a:cs typeface="Arial"/>
              </a:rPr>
              <a:t>vector:</a:t>
            </a:r>
            <a:endParaRPr sz="2400">
              <a:latin typeface="Arial"/>
              <a:cs typeface="Arial"/>
            </a:endParaRPr>
          </a:p>
        </p:txBody>
      </p:sp>
      <p:sp>
        <p:nvSpPr>
          <p:cNvPr id="22" name="object 22"/>
          <p:cNvSpPr/>
          <p:nvPr/>
        </p:nvSpPr>
        <p:spPr>
          <a:xfrm>
            <a:off x="2180333" y="5474032"/>
            <a:ext cx="665479" cy="0"/>
          </a:xfrm>
          <a:custGeom>
            <a:avLst/>
            <a:gdLst/>
            <a:ahLst/>
            <a:cxnLst/>
            <a:rect l="l" t="t" r="r" b="b"/>
            <a:pathLst>
              <a:path w="499110">
                <a:moveTo>
                  <a:pt x="0" y="0"/>
                </a:moveTo>
                <a:lnTo>
                  <a:pt x="498899" y="0"/>
                </a:lnTo>
              </a:path>
            </a:pathLst>
          </a:custGeom>
          <a:ln w="19049">
            <a:solidFill>
              <a:srgbClr val="6AA84F"/>
            </a:solidFill>
          </a:ln>
        </p:spPr>
        <p:txBody>
          <a:bodyPr wrap="square" lIns="0" tIns="0" rIns="0" bIns="0" rtlCol="0"/>
          <a:lstStyle/>
          <a:p>
            <a:endParaRPr sz="2400"/>
          </a:p>
        </p:txBody>
      </p:sp>
      <p:sp>
        <p:nvSpPr>
          <p:cNvPr id="23" name="object 23"/>
          <p:cNvSpPr/>
          <p:nvPr/>
        </p:nvSpPr>
        <p:spPr>
          <a:xfrm>
            <a:off x="7881830" y="3206600"/>
            <a:ext cx="1219199" cy="901699"/>
          </a:xfrm>
          <a:prstGeom prst="rect">
            <a:avLst/>
          </a:prstGeom>
          <a:blipFill>
            <a:blip r:embed="rId2" cstate="print"/>
            <a:stretch>
              <a:fillRect/>
            </a:stretch>
          </a:blipFill>
        </p:spPr>
        <p:txBody>
          <a:bodyPr wrap="square" lIns="0" tIns="0" rIns="0" bIns="0" rtlCol="0"/>
          <a:lstStyle/>
          <a:p>
            <a:endParaRPr sz="2400"/>
          </a:p>
        </p:txBody>
      </p:sp>
      <p:sp>
        <p:nvSpPr>
          <p:cNvPr id="24" name="object 24"/>
          <p:cNvSpPr/>
          <p:nvPr/>
        </p:nvSpPr>
        <p:spPr>
          <a:xfrm>
            <a:off x="7907230" y="5258133"/>
            <a:ext cx="1168399" cy="431799"/>
          </a:xfrm>
          <a:prstGeom prst="rect">
            <a:avLst/>
          </a:prstGeom>
          <a:blipFill>
            <a:blip r:embed="rId3" cstate="print"/>
            <a:stretch>
              <a:fillRect/>
            </a:stretch>
          </a:blipFill>
        </p:spPr>
        <p:txBody>
          <a:bodyPr wrap="square" lIns="0" tIns="0" rIns="0" bIns="0" rtlCol="0"/>
          <a:lstStyle/>
          <a:p>
            <a:endParaRPr sz="2400"/>
          </a:p>
        </p:txBody>
      </p:sp>
      <p:sp>
        <p:nvSpPr>
          <p:cNvPr id="25" name="object 25"/>
          <p:cNvSpPr txBox="1"/>
          <p:nvPr/>
        </p:nvSpPr>
        <p:spPr>
          <a:xfrm>
            <a:off x="2793533" y="5595018"/>
            <a:ext cx="140547" cy="304421"/>
          </a:xfrm>
          <a:prstGeom prst="rect">
            <a:avLst/>
          </a:prstGeom>
        </p:spPr>
        <p:txBody>
          <a:bodyPr vert="horz" wrap="square" lIns="0" tIns="16933" rIns="0" bIns="0" rtlCol="0">
            <a:spAutoFit/>
          </a:bodyPr>
          <a:lstStyle/>
          <a:p>
            <a:pPr marL="16933">
              <a:spcBef>
                <a:spcPts val="133"/>
              </a:spcBef>
            </a:pPr>
            <a:r>
              <a:rPr sz="1867" i="1" dirty="0">
                <a:latin typeface="Cambria"/>
                <a:cs typeface="Cambria"/>
              </a:rPr>
              <a:t>x</a:t>
            </a:r>
            <a:endParaRPr sz="1867">
              <a:latin typeface="Cambria"/>
              <a:cs typeface="Cambria"/>
            </a:endParaRPr>
          </a:p>
        </p:txBody>
      </p:sp>
    </p:spTree>
    <p:extLst>
      <p:ext uri="{BB962C8B-B14F-4D97-AF65-F5344CB8AC3E}">
        <p14:creationId xmlns:p14="http://schemas.microsoft.com/office/powerpoint/2010/main" val="2720746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70630" y="2838294"/>
            <a:ext cx="1926167" cy="1926167"/>
          </a:xfrm>
          <a:custGeom>
            <a:avLst/>
            <a:gdLst/>
            <a:ahLst/>
            <a:cxnLst/>
            <a:rect l="l" t="t" r="r" b="b"/>
            <a:pathLst>
              <a:path w="1444625" h="1444625">
                <a:moveTo>
                  <a:pt x="0" y="460799"/>
                </a:moveTo>
                <a:lnTo>
                  <a:pt x="983400" y="0"/>
                </a:lnTo>
                <a:lnTo>
                  <a:pt x="1444200" y="983399"/>
                </a:lnTo>
                <a:lnTo>
                  <a:pt x="460800" y="1444199"/>
                </a:lnTo>
                <a:lnTo>
                  <a:pt x="0" y="460799"/>
                </a:lnTo>
                <a:close/>
              </a:path>
            </a:pathLst>
          </a:custGeom>
          <a:ln w="19049">
            <a:solidFill>
              <a:srgbClr val="FF0000"/>
            </a:solidFill>
          </a:ln>
        </p:spPr>
        <p:txBody>
          <a:bodyPr wrap="square" lIns="0" tIns="0" rIns="0" bIns="0" rtlCol="0"/>
          <a:lstStyle/>
          <a:p>
            <a:endParaRPr sz="2400"/>
          </a:p>
        </p:txBody>
      </p:sp>
      <p:sp>
        <p:nvSpPr>
          <p:cNvPr id="3" name="object 3"/>
          <p:cNvSpPr txBox="1">
            <a:spLocks noGrp="1"/>
          </p:cNvSpPr>
          <p:nvPr>
            <p:ph type="title"/>
          </p:nvPr>
        </p:nvSpPr>
        <p:spPr>
          <a:xfrm>
            <a:off x="512968" y="677405"/>
            <a:ext cx="4145296"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smtClean="0">
                <a:solidFill>
                  <a:srgbClr val="000000"/>
                </a:solidFill>
              </a:rPr>
              <a:t>Projection</a:t>
            </a:r>
            <a:r>
              <a:rPr lang="en-US" sz="3733" spc="-7" dirty="0" smtClean="0">
                <a:solidFill>
                  <a:srgbClr val="000000"/>
                </a:solidFill>
              </a:rPr>
              <a:t> for OOBB</a:t>
            </a:r>
            <a:endParaRPr sz="3733" dirty="0"/>
          </a:p>
        </p:txBody>
      </p:sp>
      <p:sp>
        <p:nvSpPr>
          <p:cNvPr id="4" name="object 4"/>
          <p:cNvSpPr/>
          <p:nvPr/>
        </p:nvSpPr>
        <p:spPr>
          <a:xfrm>
            <a:off x="1461299" y="2548525"/>
            <a:ext cx="0" cy="2794847"/>
          </a:xfrm>
          <a:custGeom>
            <a:avLst/>
            <a:gdLst/>
            <a:ahLst/>
            <a:cxnLst/>
            <a:rect l="l" t="t" r="r" b="b"/>
            <a:pathLst>
              <a:path h="2096135">
                <a:moveTo>
                  <a:pt x="0" y="2095556"/>
                </a:moveTo>
                <a:lnTo>
                  <a:pt x="0" y="0"/>
                </a:lnTo>
              </a:path>
            </a:pathLst>
          </a:custGeom>
          <a:ln w="9524">
            <a:solidFill>
              <a:srgbClr val="595959"/>
            </a:solidFill>
          </a:ln>
        </p:spPr>
        <p:txBody>
          <a:bodyPr wrap="square" lIns="0" tIns="0" rIns="0" bIns="0" rtlCol="0"/>
          <a:lstStyle/>
          <a:p>
            <a:endParaRPr sz="2400"/>
          </a:p>
        </p:txBody>
      </p:sp>
      <p:sp>
        <p:nvSpPr>
          <p:cNvPr id="5" name="object 5"/>
          <p:cNvSpPr/>
          <p:nvPr/>
        </p:nvSpPr>
        <p:spPr>
          <a:xfrm>
            <a:off x="1447017" y="2523566"/>
            <a:ext cx="28787" cy="39793"/>
          </a:xfrm>
          <a:custGeom>
            <a:avLst/>
            <a:gdLst/>
            <a:ahLst/>
            <a:cxnLst/>
            <a:rect l="l" t="t" r="r" b="b"/>
            <a:pathLst>
              <a:path w="21590" h="29844">
                <a:moveTo>
                  <a:pt x="0" y="29430"/>
                </a:moveTo>
                <a:lnTo>
                  <a:pt x="10711" y="0"/>
                </a:lnTo>
                <a:lnTo>
                  <a:pt x="17524" y="18718"/>
                </a:lnTo>
                <a:lnTo>
                  <a:pt x="10711" y="18718"/>
                </a:lnTo>
                <a:lnTo>
                  <a:pt x="0" y="29430"/>
                </a:lnTo>
                <a:close/>
              </a:path>
              <a:path w="21590" h="29844">
                <a:moveTo>
                  <a:pt x="21423" y="29430"/>
                </a:moveTo>
                <a:lnTo>
                  <a:pt x="10711" y="18718"/>
                </a:lnTo>
                <a:lnTo>
                  <a:pt x="17524" y="18718"/>
                </a:lnTo>
                <a:lnTo>
                  <a:pt x="21423" y="29430"/>
                </a:lnTo>
                <a:close/>
              </a:path>
            </a:pathLst>
          </a:custGeom>
          <a:solidFill>
            <a:srgbClr val="595959"/>
          </a:solidFill>
        </p:spPr>
        <p:txBody>
          <a:bodyPr wrap="square" lIns="0" tIns="0" rIns="0" bIns="0" rtlCol="0"/>
          <a:lstStyle/>
          <a:p>
            <a:endParaRPr sz="2400"/>
          </a:p>
        </p:txBody>
      </p:sp>
      <p:sp>
        <p:nvSpPr>
          <p:cNvPr id="6" name="object 6"/>
          <p:cNvSpPr/>
          <p:nvPr/>
        </p:nvSpPr>
        <p:spPr>
          <a:xfrm>
            <a:off x="1447017" y="2523566"/>
            <a:ext cx="28787" cy="39793"/>
          </a:xfrm>
          <a:custGeom>
            <a:avLst/>
            <a:gdLst/>
            <a:ahLst/>
            <a:cxnLst/>
            <a:rect l="l" t="t" r="r" b="b"/>
            <a:pathLst>
              <a:path w="21590" h="29844">
                <a:moveTo>
                  <a:pt x="10711" y="18718"/>
                </a:moveTo>
                <a:lnTo>
                  <a:pt x="21423" y="29430"/>
                </a:lnTo>
                <a:lnTo>
                  <a:pt x="10711" y="0"/>
                </a:lnTo>
                <a:lnTo>
                  <a:pt x="0" y="29430"/>
                </a:lnTo>
                <a:lnTo>
                  <a:pt x="10711" y="18718"/>
                </a:lnTo>
                <a:close/>
              </a:path>
            </a:pathLst>
          </a:custGeom>
          <a:ln w="9524">
            <a:solidFill>
              <a:srgbClr val="595959"/>
            </a:solidFill>
          </a:ln>
        </p:spPr>
        <p:txBody>
          <a:bodyPr wrap="square" lIns="0" tIns="0" rIns="0" bIns="0" rtlCol="0"/>
          <a:lstStyle/>
          <a:p>
            <a:endParaRPr sz="2400"/>
          </a:p>
        </p:txBody>
      </p:sp>
      <p:sp>
        <p:nvSpPr>
          <p:cNvPr id="7" name="object 7"/>
          <p:cNvSpPr/>
          <p:nvPr/>
        </p:nvSpPr>
        <p:spPr>
          <a:xfrm>
            <a:off x="1469032" y="5342599"/>
            <a:ext cx="2778760" cy="0"/>
          </a:xfrm>
          <a:custGeom>
            <a:avLst/>
            <a:gdLst/>
            <a:ahLst/>
            <a:cxnLst/>
            <a:rect l="l" t="t" r="r" b="b"/>
            <a:pathLst>
              <a:path w="2084070">
                <a:moveTo>
                  <a:pt x="0" y="0"/>
                </a:moveTo>
                <a:lnTo>
                  <a:pt x="2083856" y="0"/>
                </a:lnTo>
              </a:path>
            </a:pathLst>
          </a:custGeom>
          <a:ln w="9524">
            <a:solidFill>
              <a:srgbClr val="595959"/>
            </a:solidFill>
          </a:ln>
        </p:spPr>
        <p:txBody>
          <a:bodyPr wrap="square" lIns="0" tIns="0" rIns="0" bIns="0" rtlCol="0"/>
          <a:lstStyle/>
          <a:p>
            <a:endParaRPr sz="2400"/>
          </a:p>
        </p:txBody>
      </p:sp>
      <p:sp>
        <p:nvSpPr>
          <p:cNvPr id="8" name="object 8"/>
          <p:cNvSpPr/>
          <p:nvPr/>
        </p:nvSpPr>
        <p:spPr>
          <a:xfrm>
            <a:off x="4233228" y="5328317"/>
            <a:ext cx="39793" cy="28787"/>
          </a:xfrm>
          <a:custGeom>
            <a:avLst/>
            <a:gdLst/>
            <a:ahLst/>
            <a:cxnLst/>
            <a:rect l="l" t="t" r="r" b="b"/>
            <a:pathLst>
              <a:path w="29844" h="21589">
                <a:moveTo>
                  <a:pt x="0" y="21423"/>
                </a:moveTo>
                <a:lnTo>
                  <a:pt x="10711" y="10711"/>
                </a:lnTo>
                <a:lnTo>
                  <a:pt x="0" y="0"/>
                </a:lnTo>
                <a:lnTo>
                  <a:pt x="29430" y="10711"/>
                </a:lnTo>
                <a:lnTo>
                  <a:pt x="0" y="21423"/>
                </a:lnTo>
                <a:close/>
              </a:path>
            </a:pathLst>
          </a:custGeom>
          <a:solidFill>
            <a:srgbClr val="595959"/>
          </a:solidFill>
        </p:spPr>
        <p:txBody>
          <a:bodyPr wrap="square" lIns="0" tIns="0" rIns="0" bIns="0" rtlCol="0"/>
          <a:lstStyle/>
          <a:p>
            <a:endParaRPr sz="2400"/>
          </a:p>
        </p:txBody>
      </p:sp>
      <p:sp>
        <p:nvSpPr>
          <p:cNvPr id="9" name="object 9"/>
          <p:cNvSpPr/>
          <p:nvPr/>
        </p:nvSpPr>
        <p:spPr>
          <a:xfrm>
            <a:off x="4233228" y="5328317"/>
            <a:ext cx="39793" cy="28787"/>
          </a:xfrm>
          <a:custGeom>
            <a:avLst/>
            <a:gdLst/>
            <a:ahLst/>
            <a:cxnLst/>
            <a:rect l="l" t="t" r="r" b="b"/>
            <a:pathLst>
              <a:path w="29844" h="21589">
                <a:moveTo>
                  <a:pt x="10711" y="10711"/>
                </a:moveTo>
                <a:lnTo>
                  <a:pt x="0" y="21423"/>
                </a:lnTo>
                <a:lnTo>
                  <a:pt x="29430" y="10711"/>
                </a:lnTo>
                <a:lnTo>
                  <a:pt x="0" y="0"/>
                </a:lnTo>
                <a:lnTo>
                  <a:pt x="10711" y="10711"/>
                </a:lnTo>
                <a:close/>
              </a:path>
            </a:pathLst>
          </a:custGeom>
          <a:ln w="9524">
            <a:solidFill>
              <a:srgbClr val="595959"/>
            </a:solidFill>
          </a:ln>
        </p:spPr>
        <p:txBody>
          <a:bodyPr wrap="square" lIns="0" tIns="0" rIns="0" bIns="0" rtlCol="0"/>
          <a:lstStyle/>
          <a:p>
            <a:endParaRPr sz="2400"/>
          </a:p>
        </p:txBody>
      </p:sp>
      <p:sp>
        <p:nvSpPr>
          <p:cNvPr id="10" name="object 10"/>
          <p:cNvSpPr txBox="1"/>
          <p:nvPr/>
        </p:nvSpPr>
        <p:spPr>
          <a:xfrm>
            <a:off x="916867" y="3774851"/>
            <a:ext cx="143085" cy="304421"/>
          </a:xfrm>
          <a:prstGeom prst="rect">
            <a:avLst/>
          </a:prstGeom>
        </p:spPr>
        <p:txBody>
          <a:bodyPr vert="horz" wrap="square" lIns="0" tIns="16933" rIns="0" bIns="0" rtlCol="0">
            <a:spAutoFit/>
          </a:bodyPr>
          <a:lstStyle/>
          <a:p>
            <a:pPr marL="16933">
              <a:spcBef>
                <a:spcPts val="133"/>
              </a:spcBef>
            </a:pPr>
            <a:r>
              <a:rPr sz="1867" i="1" dirty="0">
                <a:latin typeface="Cambria"/>
                <a:cs typeface="Cambria"/>
              </a:rPr>
              <a:t>y</a:t>
            </a:r>
            <a:endParaRPr sz="1867">
              <a:latin typeface="Cambria"/>
              <a:cs typeface="Cambria"/>
            </a:endParaRPr>
          </a:p>
        </p:txBody>
      </p:sp>
      <p:sp>
        <p:nvSpPr>
          <p:cNvPr id="11" name="object 11"/>
          <p:cNvSpPr txBox="1"/>
          <p:nvPr/>
        </p:nvSpPr>
        <p:spPr>
          <a:xfrm>
            <a:off x="2793533" y="5595018"/>
            <a:ext cx="140547" cy="304421"/>
          </a:xfrm>
          <a:prstGeom prst="rect">
            <a:avLst/>
          </a:prstGeom>
        </p:spPr>
        <p:txBody>
          <a:bodyPr vert="horz" wrap="square" lIns="0" tIns="16933" rIns="0" bIns="0" rtlCol="0">
            <a:spAutoFit/>
          </a:bodyPr>
          <a:lstStyle/>
          <a:p>
            <a:pPr marL="16933">
              <a:spcBef>
                <a:spcPts val="133"/>
              </a:spcBef>
            </a:pPr>
            <a:r>
              <a:rPr sz="1867" i="1" dirty="0">
                <a:latin typeface="Cambria"/>
                <a:cs typeface="Cambria"/>
              </a:rPr>
              <a:t>x</a:t>
            </a:r>
            <a:endParaRPr sz="1867">
              <a:latin typeface="Cambria"/>
              <a:cs typeface="Cambria"/>
            </a:endParaRPr>
          </a:p>
        </p:txBody>
      </p:sp>
      <p:sp>
        <p:nvSpPr>
          <p:cNvPr id="12" name="object 12"/>
          <p:cNvSpPr/>
          <p:nvPr/>
        </p:nvSpPr>
        <p:spPr>
          <a:xfrm>
            <a:off x="2845429" y="3811894"/>
            <a:ext cx="259080" cy="566420"/>
          </a:xfrm>
          <a:custGeom>
            <a:avLst/>
            <a:gdLst/>
            <a:ahLst/>
            <a:cxnLst/>
            <a:rect l="l" t="t" r="r" b="b"/>
            <a:pathLst>
              <a:path w="194310" h="424814">
                <a:moveTo>
                  <a:pt x="194223" y="424238"/>
                </a:moveTo>
                <a:lnTo>
                  <a:pt x="0" y="0"/>
                </a:lnTo>
              </a:path>
            </a:pathLst>
          </a:custGeom>
          <a:ln w="19049">
            <a:solidFill>
              <a:srgbClr val="0000FF"/>
            </a:solidFill>
          </a:ln>
        </p:spPr>
        <p:txBody>
          <a:bodyPr wrap="square" lIns="0" tIns="0" rIns="0" bIns="0" rtlCol="0"/>
          <a:lstStyle/>
          <a:p>
            <a:endParaRPr sz="2400"/>
          </a:p>
        </p:txBody>
      </p:sp>
      <p:sp>
        <p:nvSpPr>
          <p:cNvPr id="13" name="object 13"/>
          <p:cNvSpPr/>
          <p:nvPr/>
        </p:nvSpPr>
        <p:spPr>
          <a:xfrm>
            <a:off x="3066532" y="4339683"/>
            <a:ext cx="59267" cy="83820"/>
          </a:xfrm>
          <a:custGeom>
            <a:avLst/>
            <a:gdLst/>
            <a:ahLst/>
            <a:cxnLst/>
            <a:rect l="l" t="t" r="r" b="b"/>
            <a:pathLst>
              <a:path w="44450" h="62864">
                <a:moveTo>
                  <a:pt x="41242" y="28396"/>
                </a:moveTo>
                <a:lnTo>
                  <a:pt x="28396" y="28396"/>
                </a:lnTo>
                <a:lnTo>
                  <a:pt x="38957" y="0"/>
                </a:lnTo>
                <a:lnTo>
                  <a:pt x="41242" y="28396"/>
                </a:lnTo>
                <a:close/>
              </a:path>
              <a:path w="44450" h="62864">
                <a:moveTo>
                  <a:pt x="43980" y="62435"/>
                </a:moveTo>
                <a:lnTo>
                  <a:pt x="0" y="17835"/>
                </a:lnTo>
                <a:lnTo>
                  <a:pt x="28396" y="28396"/>
                </a:lnTo>
                <a:lnTo>
                  <a:pt x="41242" y="28396"/>
                </a:lnTo>
                <a:lnTo>
                  <a:pt x="43980" y="62435"/>
                </a:lnTo>
                <a:close/>
              </a:path>
            </a:pathLst>
          </a:custGeom>
          <a:solidFill>
            <a:srgbClr val="0000FF"/>
          </a:solidFill>
        </p:spPr>
        <p:txBody>
          <a:bodyPr wrap="square" lIns="0" tIns="0" rIns="0" bIns="0" rtlCol="0"/>
          <a:lstStyle/>
          <a:p>
            <a:endParaRPr sz="2400"/>
          </a:p>
        </p:txBody>
      </p:sp>
      <p:sp>
        <p:nvSpPr>
          <p:cNvPr id="14" name="object 14"/>
          <p:cNvSpPr/>
          <p:nvPr/>
        </p:nvSpPr>
        <p:spPr>
          <a:xfrm>
            <a:off x="3066532" y="4339683"/>
            <a:ext cx="59267" cy="83820"/>
          </a:xfrm>
          <a:custGeom>
            <a:avLst/>
            <a:gdLst/>
            <a:ahLst/>
            <a:cxnLst/>
            <a:rect l="l" t="t" r="r" b="b"/>
            <a:pathLst>
              <a:path w="44450" h="62864">
                <a:moveTo>
                  <a:pt x="28396" y="28396"/>
                </a:moveTo>
                <a:lnTo>
                  <a:pt x="0" y="17835"/>
                </a:lnTo>
                <a:lnTo>
                  <a:pt x="43980" y="62435"/>
                </a:lnTo>
                <a:lnTo>
                  <a:pt x="38957" y="0"/>
                </a:lnTo>
                <a:lnTo>
                  <a:pt x="28396" y="28396"/>
                </a:lnTo>
                <a:close/>
              </a:path>
            </a:pathLst>
          </a:custGeom>
          <a:ln w="19049">
            <a:solidFill>
              <a:srgbClr val="0000FF"/>
            </a:solidFill>
          </a:ln>
        </p:spPr>
        <p:txBody>
          <a:bodyPr wrap="square" lIns="0" tIns="0" rIns="0" bIns="0" rtlCol="0"/>
          <a:lstStyle/>
          <a:p>
            <a:endParaRPr sz="2400"/>
          </a:p>
        </p:txBody>
      </p:sp>
      <p:sp>
        <p:nvSpPr>
          <p:cNvPr id="15" name="object 15"/>
          <p:cNvSpPr/>
          <p:nvPr/>
        </p:nvSpPr>
        <p:spPr>
          <a:xfrm>
            <a:off x="2256850" y="3796294"/>
            <a:ext cx="596900" cy="276013"/>
          </a:xfrm>
          <a:custGeom>
            <a:avLst/>
            <a:gdLst/>
            <a:ahLst/>
            <a:cxnLst/>
            <a:rect l="l" t="t" r="r" b="b"/>
            <a:pathLst>
              <a:path w="447675" h="207010">
                <a:moveTo>
                  <a:pt x="0" y="206614"/>
                </a:moveTo>
                <a:lnTo>
                  <a:pt x="447135" y="0"/>
                </a:lnTo>
              </a:path>
            </a:pathLst>
          </a:custGeom>
          <a:ln w="19049">
            <a:solidFill>
              <a:srgbClr val="0000FF"/>
            </a:solidFill>
          </a:ln>
        </p:spPr>
        <p:txBody>
          <a:bodyPr wrap="square" lIns="0" tIns="0" rIns="0" bIns="0" rtlCol="0"/>
          <a:lstStyle/>
          <a:p>
            <a:endParaRPr sz="2400"/>
          </a:p>
        </p:txBody>
      </p:sp>
      <p:sp>
        <p:nvSpPr>
          <p:cNvPr id="16" name="object 16"/>
          <p:cNvSpPr/>
          <p:nvPr/>
        </p:nvSpPr>
        <p:spPr>
          <a:xfrm>
            <a:off x="2211538" y="4033867"/>
            <a:ext cx="83820" cy="59267"/>
          </a:xfrm>
          <a:custGeom>
            <a:avLst/>
            <a:gdLst/>
            <a:ahLst/>
            <a:cxnLst/>
            <a:rect l="l" t="t" r="r" b="b"/>
            <a:pathLst>
              <a:path w="62864" h="44450">
                <a:moveTo>
                  <a:pt x="0" y="44137"/>
                </a:moveTo>
                <a:lnTo>
                  <a:pt x="44444" y="0"/>
                </a:lnTo>
                <a:lnTo>
                  <a:pt x="33983" y="28433"/>
                </a:lnTo>
                <a:lnTo>
                  <a:pt x="62417" y="38894"/>
                </a:lnTo>
                <a:lnTo>
                  <a:pt x="0" y="44137"/>
                </a:lnTo>
                <a:close/>
              </a:path>
            </a:pathLst>
          </a:custGeom>
          <a:solidFill>
            <a:srgbClr val="0000FF"/>
          </a:solidFill>
        </p:spPr>
        <p:txBody>
          <a:bodyPr wrap="square" lIns="0" tIns="0" rIns="0" bIns="0" rtlCol="0"/>
          <a:lstStyle/>
          <a:p>
            <a:endParaRPr sz="2400"/>
          </a:p>
        </p:txBody>
      </p:sp>
      <p:sp>
        <p:nvSpPr>
          <p:cNvPr id="17" name="object 17"/>
          <p:cNvSpPr/>
          <p:nvPr/>
        </p:nvSpPr>
        <p:spPr>
          <a:xfrm>
            <a:off x="2211538" y="4033867"/>
            <a:ext cx="83820" cy="59267"/>
          </a:xfrm>
          <a:custGeom>
            <a:avLst/>
            <a:gdLst/>
            <a:ahLst/>
            <a:cxnLst/>
            <a:rect l="l" t="t" r="r" b="b"/>
            <a:pathLst>
              <a:path w="62864" h="44450">
                <a:moveTo>
                  <a:pt x="33983" y="28433"/>
                </a:moveTo>
                <a:lnTo>
                  <a:pt x="44444" y="0"/>
                </a:lnTo>
                <a:lnTo>
                  <a:pt x="0" y="44137"/>
                </a:lnTo>
                <a:lnTo>
                  <a:pt x="62417" y="38894"/>
                </a:lnTo>
                <a:lnTo>
                  <a:pt x="33983" y="28433"/>
                </a:lnTo>
                <a:close/>
              </a:path>
            </a:pathLst>
          </a:custGeom>
          <a:ln w="19049">
            <a:solidFill>
              <a:srgbClr val="0000FF"/>
            </a:solidFill>
          </a:ln>
        </p:spPr>
        <p:txBody>
          <a:bodyPr wrap="square" lIns="0" tIns="0" rIns="0" bIns="0" rtlCol="0"/>
          <a:lstStyle/>
          <a:p>
            <a:endParaRPr sz="2400"/>
          </a:p>
        </p:txBody>
      </p:sp>
      <p:sp>
        <p:nvSpPr>
          <p:cNvPr id="18" name="object 18"/>
          <p:cNvSpPr/>
          <p:nvPr/>
        </p:nvSpPr>
        <p:spPr>
          <a:xfrm>
            <a:off x="3140629" y="4456694"/>
            <a:ext cx="0" cy="877993"/>
          </a:xfrm>
          <a:custGeom>
            <a:avLst/>
            <a:gdLst/>
            <a:ahLst/>
            <a:cxnLst/>
            <a:rect l="l" t="t" r="r" b="b"/>
            <a:pathLst>
              <a:path h="658495">
                <a:moveTo>
                  <a:pt x="0" y="0"/>
                </a:moveTo>
                <a:lnTo>
                  <a:pt x="0" y="658499"/>
                </a:lnTo>
              </a:path>
            </a:pathLst>
          </a:custGeom>
          <a:ln w="9524">
            <a:solidFill>
              <a:srgbClr val="6AA84F"/>
            </a:solidFill>
            <a:prstDash val="lgDash"/>
          </a:ln>
        </p:spPr>
        <p:txBody>
          <a:bodyPr wrap="square" lIns="0" tIns="0" rIns="0" bIns="0" rtlCol="0"/>
          <a:lstStyle/>
          <a:p>
            <a:endParaRPr sz="2400"/>
          </a:p>
        </p:txBody>
      </p:sp>
      <p:sp>
        <p:nvSpPr>
          <p:cNvPr id="19" name="object 19"/>
          <p:cNvSpPr/>
          <p:nvPr/>
        </p:nvSpPr>
        <p:spPr>
          <a:xfrm>
            <a:off x="2177829" y="4108293"/>
            <a:ext cx="0" cy="1242059"/>
          </a:xfrm>
          <a:custGeom>
            <a:avLst/>
            <a:gdLst/>
            <a:ahLst/>
            <a:cxnLst/>
            <a:rect l="l" t="t" r="r" b="b"/>
            <a:pathLst>
              <a:path h="931545">
                <a:moveTo>
                  <a:pt x="0" y="0"/>
                </a:moveTo>
                <a:lnTo>
                  <a:pt x="0" y="931499"/>
                </a:lnTo>
              </a:path>
            </a:pathLst>
          </a:custGeom>
          <a:ln w="9524">
            <a:solidFill>
              <a:srgbClr val="6AA84F"/>
            </a:solidFill>
            <a:prstDash val="lgDash"/>
          </a:ln>
        </p:spPr>
        <p:txBody>
          <a:bodyPr wrap="square" lIns="0" tIns="0" rIns="0" bIns="0" rtlCol="0"/>
          <a:lstStyle/>
          <a:p>
            <a:endParaRPr sz="2400"/>
          </a:p>
        </p:txBody>
      </p:sp>
      <p:sp>
        <p:nvSpPr>
          <p:cNvPr id="20" name="object 20"/>
          <p:cNvSpPr/>
          <p:nvPr/>
        </p:nvSpPr>
        <p:spPr>
          <a:xfrm>
            <a:off x="1847833" y="5457467"/>
            <a:ext cx="1949027" cy="0"/>
          </a:xfrm>
          <a:custGeom>
            <a:avLst/>
            <a:gdLst/>
            <a:ahLst/>
            <a:cxnLst/>
            <a:rect l="l" t="t" r="r" b="b"/>
            <a:pathLst>
              <a:path w="1461770">
                <a:moveTo>
                  <a:pt x="0" y="0"/>
                </a:moveTo>
                <a:lnTo>
                  <a:pt x="1461299" y="0"/>
                </a:lnTo>
              </a:path>
            </a:pathLst>
          </a:custGeom>
          <a:ln w="19049">
            <a:solidFill>
              <a:srgbClr val="FF0000"/>
            </a:solidFill>
          </a:ln>
        </p:spPr>
        <p:txBody>
          <a:bodyPr wrap="square" lIns="0" tIns="0" rIns="0" bIns="0" rtlCol="0"/>
          <a:lstStyle/>
          <a:p>
            <a:endParaRPr sz="2400"/>
          </a:p>
        </p:txBody>
      </p:sp>
      <p:sp>
        <p:nvSpPr>
          <p:cNvPr id="21" name="object 21"/>
          <p:cNvSpPr txBox="1"/>
          <p:nvPr/>
        </p:nvSpPr>
        <p:spPr>
          <a:xfrm>
            <a:off x="5879234" y="1678033"/>
            <a:ext cx="5345853" cy="1545978"/>
          </a:xfrm>
          <a:prstGeom prst="rect">
            <a:avLst/>
          </a:prstGeom>
        </p:spPr>
        <p:txBody>
          <a:bodyPr vert="horz" wrap="square" lIns="0" tIns="16933" rIns="0" bIns="0" rtlCol="0">
            <a:spAutoFit/>
          </a:bodyPr>
          <a:lstStyle/>
          <a:p>
            <a:pPr marL="505447" marR="6773" indent="-488514">
              <a:lnSpc>
                <a:spcPct val="114599"/>
              </a:lnSpc>
              <a:spcBef>
                <a:spcPts val="133"/>
              </a:spcBef>
              <a:buFont typeface="Arial"/>
              <a:buChar char="●"/>
              <a:tabLst>
                <a:tab pos="505447" algn="l"/>
                <a:tab pos="506294" algn="l"/>
              </a:tabLst>
            </a:pPr>
            <a:r>
              <a:rPr sz="2400" spc="-7" dirty="0">
                <a:solidFill>
                  <a:srgbClr val="595959"/>
                </a:solidFill>
                <a:latin typeface="Arial"/>
                <a:cs typeface="Arial"/>
              </a:rPr>
              <a:t>Double the projection and </a:t>
            </a:r>
            <a:r>
              <a:rPr sz="2400" dirty="0">
                <a:solidFill>
                  <a:srgbClr val="595959"/>
                </a:solidFill>
                <a:latin typeface="Arial"/>
                <a:cs typeface="Arial"/>
              </a:rPr>
              <a:t>center </a:t>
            </a:r>
            <a:r>
              <a:rPr sz="2400" spc="-7" dirty="0">
                <a:solidFill>
                  <a:srgbClr val="595959"/>
                </a:solidFill>
                <a:latin typeface="Arial"/>
                <a:cs typeface="Arial"/>
              </a:rPr>
              <a:t>it  on the box’s position along the</a:t>
            </a:r>
            <a:r>
              <a:rPr sz="2400" spc="-100" dirty="0">
                <a:solidFill>
                  <a:srgbClr val="595959"/>
                </a:solidFill>
                <a:latin typeface="Arial"/>
                <a:cs typeface="Arial"/>
              </a:rPr>
              <a:t> </a:t>
            </a:r>
            <a:r>
              <a:rPr sz="2400" spc="-7" dirty="0">
                <a:solidFill>
                  <a:srgbClr val="595959"/>
                </a:solidFill>
                <a:latin typeface="Arial"/>
                <a:cs typeface="Arial"/>
              </a:rPr>
              <a:t>axis.</a:t>
            </a:r>
            <a:endParaRPr sz="2400">
              <a:latin typeface="Arial"/>
              <a:cs typeface="Arial"/>
            </a:endParaRPr>
          </a:p>
          <a:p>
            <a:pPr marL="1115031" marR="297173" lvl="1" indent="-447875">
              <a:lnSpc>
                <a:spcPct val="116100"/>
              </a:lnSpc>
              <a:spcBef>
                <a:spcPts val="80"/>
              </a:spcBef>
              <a:buChar char="○"/>
              <a:tabLst>
                <a:tab pos="1115031" algn="l"/>
                <a:tab pos="1115879" algn="l"/>
              </a:tabLst>
            </a:pPr>
            <a:r>
              <a:rPr sz="1867" spc="-7" dirty="0">
                <a:solidFill>
                  <a:srgbClr val="595959"/>
                </a:solidFill>
                <a:latin typeface="Arial"/>
                <a:cs typeface="Arial"/>
              </a:rPr>
              <a:t>In practice, the ‘center point’ is the  </a:t>
            </a:r>
            <a:r>
              <a:rPr sz="1867" dirty="0">
                <a:solidFill>
                  <a:srgbClr val="595959"/>
                </a:solidFill>
                <a:latin typeface="Arial"/>
                <a:cs typeface="Arial"/>
              </a:rPr>
              <a:t>center </a:t>
            </a:r>
            <a:r>
              <a:rPr sz="1867" spc="-7" dirty="0">
                <a:solidFill>
                  <a:srgbClr val="595959"/>
                </a:solidFill>
                <a:latin typeface="Arial"/>
                <a:cs typeface="Arial"/>
              </a:rPr>
              <a:t>of the box dotted with the</a:t>
            </a:r>
            <a:r>
              <a:rPr sz="1867" spc="-107" dirty="0">
                <a:solidFill>
                  <a:srgbClr val="595959"/>
                </a:solidFill>
                <a:latin typeface="Arial"/>
                <a:cs typeface="Arial"/>
              </a:rPr>
              <a:t> </a:t>
            </a:r>
            <a:r>
              <a:rPr sz="1867" spc="-7" dirty="0">
                <a:solidFill>
                  <a:srgbClr val="595959"/>
                </a:solidFill>
                <a:latin typeface="Arial"/>
                <a:cs typeface="Arial"/>
              </a:rPr>
              <a:t>axis.</a:t>
            </a:r>
            <a:endParaRPr sz="1867">
              <a:latin typeface="Arial"/>
              <a:cs typeface="Arial"/>
            </a:endParaRPr>
          </a:p>
        </p:txBody>
      </p:sp>
      <p:sp>
        <p:nvSpPr>
          <p:cNvPr id="22" name="object 22"/>
          <p:cNvSpPr txBox="1"/>
          <p:nvPr/>
        </p:nvSpPr>
        <p:spPr>
          <a:xfrm>
            <a:off x="5879234" y="3176635"/>
            <a:ext cx="4804833" cy="1707818"/>
          </a:xfrm>
          <a:prstGeom prst="rect">
            <a:avLst/>
          </a:prstGeom>
        </p:spPr>
        <p:txBody>
          <a:bodyPr vert="horz" wrap="square" lIns="0" tIns="16933" rIns="0" bIns="0" rtlCol="0">
            <a:spAutoFit/>
          </a:bodyPr>
          <a:lstStyle/>
          <a:p>
            <a:pPr marL="505447" marR="6773" indent="-488514">
              <a:lnSpc>
                <a:spcPct val="114599"/>
              </a:lnSpc>
              <a:spcBef>
                <a:spcPts val="133"/>
              </a:spcBef>
              <a:buChar char="●"/>
              <a:tabLst>
                <a:tab pos="505447" algn="l"/>
                <a:tab pos="506294" algn="l"/>
              </a:tabLst>
            </a:pPr>
            <a:r>
              <a:rPr sz="2400" spc="-7" dirty="0">
                <a:solidFill>
                  <a:srgbClr val="595959"/>
                </a:solidFill>
                <a:latin typeface="Arial"/>
                <a:cs typeface="Arial"/>
              </a:rPr>
              <a:t>Check for overlap of projections  along that</a:t>
            </a:r>
            <a:r>
              <a:rPr sz="2400" spc="-20" dirty="0">
                <a:solidFill>
                  <a:srgbClr val="595959"/>
                </a:solidFill>
                <a:latin typeface="Arial"/>
                <a:cs typeface="Arial"/>
              </a:rPr>
              <a:t> </a:t>
            </a:r>
            <a:r>
              <a:rPr sz="2400" spc="-7" dirty="0">
                <a:solidFill>
                  <a:srgbClr val="595959"/>
                </a:solidFill>
                <a:latin typeface="Arial"/>
                <a:cs typeface="Arial"/>
              </a:rPr>
              <a:t>axis.</a:t>
            </a:r>
            <a:endParaRPr sz="2400">
              <a:latin typeface="Arial"/>
              <a:cs typeface="Arial"/>
            </a:endParaRPr>
          </a:p>
          <a:p>
            <a:pPr marL="505447" indent="-488514">
              <a:spcBef>
                <a:spcPts val="420"/>
              </a:spcBef>
              <a:buChar char="●"/>
              <a:tabLst>
                <a:tab pos="505447" algn="l"/>
                <a:tab pos="506294" algn="l"/>
              </a:tabLst>
            </a:pPr>
            <a:r>
              <a:rPr sz="2400" spc="-7" dirty="0">
                <a:solidFill>
                  <a:srgbClr val="595959"/>
                </a:solidFill>
                <a:latin typeface="Arial"/>
                <a:cs typeface="Arial"/>
              </a:rPr>
              <a:t>Repeat for each</a:t>
            </a:r>
            <a:r>
              <a:rPr sz="2400" spc="-27" dirty="0">
                <a:solidFill>
                  <a:srgbClr val="595959"/>
                </a:solidFill>
                <a:latin typeface="Arial"/>
                <a:cs typeface="Arial"/>
              </a:rPr>
              <a:t> </a:t>
            </a:r>
            <a:r>
              <a:rPr sz="2400" spc="-7" dirty="0">
                <a:solidFill>
                  <a:srgbClr val="595959"/>
                </a:solidFill>
                <a:latin typeface="Arial"/>
                <a:cs typeface="Arial"/>
              </a:rPr>
              <a:t>axis.</a:t>
            </a:r>
            <a:endParaRPr sz="2400">
              <a:latin typeface="Arial"/>
              <a:cs typeface="Arial"/>
            </a:endParaRPr>
          </a:p>
          <a:p>
            <a:pPr marL="505447" indent="-488514">
              <a:spcBef>
                <a:spcPts val="420"/>
              </a:spcBef>
              <a:buChar char="●"/>
              <a:tabLst>
                <a:tab pos="505447" algn="l"/>
                <a:tab pos="506294" algn="l"/>
              </a:tabLst>
            </a:pPr>
            <a:r>
              <a:rPr sz="2400" spc="-7" dirty="0">
                <a:solidFill>
                  <a:srgbClr val="595959"/>
                </a:solidFill>
                <a:latin typeface="Arial"/>
                <a:cs typeface="Arial"/>
              </a:rPr>
              <a:t>Reject on first</a:t>
            </a:r>
            <a:r>
              <a:rPr sz="2400" spc="-40" dirty="0">
                <a:solidFill>
                  <a:srgbClr val="595959"/>
                </a:solidFill>
                <a:latin typeface="Arial"/>
                <a:cs typeface="Arial"/>
              </a:rPr>
              <a:t> </a:t>
            </a:r>
            <a:r>
              <a:rPr sz="2400" spc="-7" dirty="0">
                <a:solidFill>
                  <a:srgbClr val="595959"/>
                </a:solidFill>
                <a:latin typeface="Arial"/>
                <a:cs typeface="Arial"/>
              </a:rPr>
              <a:t>non-overlap.</a:t>
            </a:r>
            <a:endParaRPr sz="2400">
              <a:latin typeface="Arial"/>
              <a:cs typeface="Arial"/>
            </a:endParaRPr>
          </a:p>
        </p:txBody>
      </p:sp>
      <p:sp>
        <p:nvSpPr>
          <p:cNvPr id="23" name="object 23"/>
          <p:cNvSpPr/>
          <p:nvPr/>
        </p:nvSpPr>
        <p:spPr>
          <a:xfrm>
            <a:off x="2845265" y="3811732"/>
            <a:ext cx="0" cy="1524000"/>
          </a:xfrm>
          <a:custGeom>
            <a:avLst/>
            <a:gdLst/>
            <a:ahLst/>
            <a:cxnLst/>
            <a:rect l="l" t="t" r="r" b="b"/>
            <a:pathLst>
              <a:path h="1143000">
                <a:moveTo>
                  <a:pt x="0" y="0"/>
                </a:moveTo>
                <a:lnTo>
                  <a:pt x="0" y="1142399"/>
                </a:lnTo>
              </a:path>
            </a:pathLst>
          </a:custGeom>
          <a:ln w="9524">
            <a:solidFill>
              <a:srgbClr val="595959"/>
            </a:solidFill>
            <a:prstDash val="lgDash"/>
          </a:ln>
        </p:spPr>
        <p:txBody>
          <a:bodyPr wrap="square" lIns="0" tIns="0" rIns="0" bIns="0" rtlCol="0"/>
          <a:lstStyle/>
          <a:p>
            <a:endParaRPr sz="2400"/>
          </a:p>
        </p:txBody>
      </p:sp>
    </p:spTree>
    <p:extLst>
      <p:ext uri="{BB962C8B-B14F-4D97-AF65-F5344CB8AC3E}">
        <p14:creationId xmlns:p14="http://schemas.microsoft.com/office/powerpoint/2010/main" val="3558198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Separating Axis Theorem</a:t>
            </a:r>
            <a:endParaRPr lang="en-US" dirty="0"/>
          </a:p>
        </p:txBody>
      </p:sp>
      <p:sp>
        <p:nvSpPr>
          <p:cNvPr id="3" name="Content Placeholder 2"/>
          <p:cNvSpPr>
            <a:spLocks noGrp="1"/>
          </p:cNvSpPr>
          <p:nvPr>
            <p:ph idx="1"/>
          </p:nvPr>
        </p:nvSpPr>
        <p:spPr/>
        <p:txBody>
          <a:bodyPr/>
          <a:lstStyle/>
          <a:p>
            <a:r>
              <a:rPr lang="en-US" dirty="0" smtClean="0"/>
              <a:t>Can be extended to any other convex shape</a:t>
            </a:r>
          </a:p>
          <a:p>
            <a:r>
              <a:rPr lang="en-US" dirty="0" smtClean="0"/>
              <a:t>Project all vertices onto the axis</a:t>
            </a:r>
          </a:p>
          <a:p>
            <a:r>
              <a:rPr lang="en-US" dirty="0" smtClean="0"/>
              <a:t>(v dot a) is the magnitude of the projection </a:t>
            </a:r>
          </a:p>
          <a:p>
            <a:r>
              <a:rPr lang="en-US" dirty="0" smtClean="0"/>
              <a:t>Use this for min/max comparison</a:t>
            </a:r>
          </a:p>
          <a:p>
            <a:endParaRPr lang="en-US" dirty="0" smtClean="0"/>
          </a:p>
          <a:p>
            <a:pPr marL="0" indent="0">
              <a:buNone/>
            </a:pPr>
            <a:endParaRPr lang="en-US" dirty="0" smtClean="0"/>
          </a:p>
        </p:txBody>
      </p:sp>
    </p:spTree>
    <p:extLst>
      <p:ext uri="{BB962C8B-B14F-4D97-AF65-F5344CB8AC3E}">
        <p14:creationId xmlns:p14="http://schemas.microsoft.com/office/powerpoint/2010/main" val="1746747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Separating Axis Theorem"/>
          <p:cNvSpPr txBox="1">
            <a:spLocks noGrp="1"/>
          </p:cNvSpPr>
          <p:nvPr>
            <p:ph type="title"/>
          </p:nvPr>
        </p:nvSpPr>
        <p:spPr>
          <a:prstGeom prst="rect">
            <a:avLst/>
          </a:prstGeom>
        </p:spPr>
        <p:txBody>
          <a:bodyPr/>
          <a:lstStyle/>
          <a:p>
            <a:r>
              <a:t>Separating Axis Theorem</a:t>
            </a:r>
          </a:p>
        </p:txBody>
      </p:sp>
      <p:sp>
        <p:nvSpPr>
          <p:cNvPr id="330" name="http://www.metanetsoftware.com/technique/tutorialA.html"/>
          <p:cNvSpPr txBox="1">
            <a:spLocks noGrp="1"/>
          </p:cNvSpPr>
          <p:nvPr>
            <p:ph type="body" idx="1"/>
          </p:nvPr>
        </p:nvSpPr>
        <p:spPr>
          <a:xfrm>
            <a:off x="1577578" y="1946672"/>
            <a:ext cx="9036844" cy="4018359"/>
          </a:xfrm>
          <a:prstGeom prst="rect">
            <a:avLst/>
          </a:prstGeom>
        </p:spPr>
        <p:txBody>
          <a:bodyPr/>
          <a:lstStyle>
            <a:lvl1pPr marL="0" indent="0">
              <a:buSzTx/>
              <a:buNone/>
              <a:defRPr sz="4000">
                <a:hlinkClick r:id="rId3"/>
              </a:defRPr>
            </a:lvl1pPr>
          </a:lstStyle>
          <a:p>
            <a:r>
              <a:rPr dirty="0">
                <a:hlinkClick r:id="rId3"/>
              </a:rPr>
              <a:t>http://www.metanetsoftware.com/technique/tutorialA.html</a:t>
            </a:r>
          </a:p>
        </p:txBody>
      </p:sp>
    </p:spTree>
    <p:extLst>
      <p:ext uri="{BB962C8B-B14F-4D97-AF65-F5344CB8AC3E}">
        <p14:creationId xmlns:p14="http://schemas.microsoft.com/office/powerpoint/2010/main" val="965024377"/>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3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3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 grpId="0" build="p" bldLvl="5"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 name="Implementing GJK"/>
          <p:cNvSpPr txBox="1">
            <a:spLocks noGrp="1"/>
          </p:cNvSpPr>
          <p:nvPr>
            <p:ph type="title"/>
          </p:nvPr>
        </p:nvSpPr>
        <p:spPr>
          <a:xfrm>
            <a:off x="474453" y="365125"/>
            <a:ext cx="11481757" cy="1325563"/>
          </a:xfrm>
          <a:prstGeom prst="rect">
            <a:avLst/>
          </a:prstGeom>
        </p:spPr>
        <p:txBody>
          <a:bodyPr/>
          <a:lstStyle/>
          <a:p>
            <a:r>
              <a:rPr lang="en-US" dirty="0" smtClean="0"/>
              <a:t>Gilbert-Johnson-</a:t>
            </a:r>
            <a:r>
              <a:rPr lang="en-US" dirty="0" err="1" smtClean="0"/>
              <a:t>Keerthi</a:t>
            </a:r>
            <a:r>
              <a:rPr lang="en-US" dirty="0" smtClean="0"/>
              <a:t> Distance Algorithm (GJK)</a:t>
            </a:r>
            <a:endParaRPr dirty="0"/>
          </a:p>
        </p:txBody>
      </p:sp>
      <p:sp>
        <p:nvSpPr>
          <p:cNvPr id="477" name="The Gilbert–Johnson–Keerthi distance algorithm…"/>
          <p:cNvSpPr txBox="1">
            <a:spLocks noGrp="1"/>
          </p:cNvSpPr>
          <p:nvPr>
            <p:ph type="body" idx="1"/>
          </p:nvPr>
        </p:nvSpPr>
        <p:spPr>
          <a:prstGeom prst="rect">
            <a:avLst/>
          </a:prstGeom>
        </p:spPr>
        <p:txBody>
          <a:bodyPr/>
          <a:lstStyle/>
          <a:p>
            <a:pPr>
              <a:defRPr sz="3700"/>
            </a:pPr>
            <a:r>
              <a:rPr sz="3200" dirty="0" smtClean="0">
                <a:hlinkClick r:id="rId2"/>
              </a:rPr>
              <a:t>http</a:t>
            </a:r>
            <a:r>
              <a:rPr sz="3200" dirty="0">
                <a:hlinkClick r:id="rId2"/>
              </a:rPr>
              <a:t>://vec3.ca/gjk</a:t>
            </a:r>
            <a:r>
              <a:rPr sz="3200" dirty="0" smtClean="0">
                <a:hlinkClick r:id="rId2"/>
              </a:rPr>
              <a:t>/</a:t>
            </a:r>
            <a:r>
              <a:rPr sz="3200" dirty="0" smtClean="0"/>
              <a:t> </a:t>
            </a:r>
            <a:endParaRPr sz="3200" dirty="0"/>
          </a:p>
          <a:p>
            <a:pPr>
              <a:defRPr sz="3700"/>
            </a:pPr>
            <a:r>
              <a:rPr sz="3200" dirty="0">
                <a:hlinkClick r:id="rId3"/>
              </a:rPr>
              <a:t>http://</a:t>
            </a:r>
            <a:r>
              <a:rPr sz="3200" dirty="0" smtClean="0">
                <a:hlinkClick r:id="rId3"/>
              </a:rPr>
              <a:t>realtimecollisiondetection.net/pubs/SIGGRAPH04_Ericson_the_GJK_algorithm.ppt</a:t>
            </a:r>
            <a:endParaRPr lang="en-US" sz="3200" dirty="0" smtClean="0"/>
          </a:p>
          <a:p>
            <a:pPr>
              <a:defRPr sz="3700"/>
            </a:pPr>
            <a:endParaRPr dirty="0"/>
          </a:p>
        </p:txBody>
      </p:sp>
    </p:spTree>
    <p:extLst>
      <p:ext uri="{BB962C8B-B14F-4D97-AF65-F5344CB8AC3E}">
        <p14:creationId xmlns:p14="http://schemas.microsoft.com/office/powerpoint/2010/main" val="262827987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7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47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47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 grpId="0" build="p" bldLvl="5"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3325707" cy="591551"/>
          </a:xfrm>
          <a:prstGeom prst="rect">
            <a:avLst/>
          </a:prstGeom>
        </p:spPr>
        <p:txBody>
          <a:bodyPr vert="horz" wrap="square" lIns="0" tIns="16933" rIns="0" bIns="0" rtlCol="0" anchor="ctr">
            <a:spAutoFit/>
          </a:bodyPr>
          <a:lstStyle/>
          <a:p>
            <a:pPr marL="16933">
              <a:lnSpc>
                <a:spcPct val="100000"/>
              </a:lnSpc>
              <a:spcBef>
                <a:spcPts val="133"/>
              </a:spcBef>
            </a:pPr>
            <a:r>
              <a:rPr sz="3733" dirty="0">
                <a:solidFill>
                  <a:srgbClr val="000000"/>
                </a:solidFill>
              </a:rPr>
              <a:t>Minkowski</a:t>
            </a:r>
            <a:r>
              <a:rPr sz="3733" spc="-127" dirty="0">
                <a:solidFill>
                  <a:srgbClr val="000000"/>
                </a:solidFill>
              </a:rPr>
              <a:t> </a:t>
            </a:r>
            <a:r>
              <a:rPr sz="3733" spc="-7" dirty="0">
                <a:solidFill>
                  <a:srgbClr val="000000"/>
                </a:solidFill>
              </a:rPr>
              <a:t>Sum</a:t>
            </a:r>
            <a:endParaRPr sz="3733"/>
          </a:p>
        </p:txBody>
      </p:sp>
      <p:sp>
        <p:nvSpPr>
          <p:cNvPr id="3" name="object 3"/>
          <p:cNvSpPr txBox="1"/>
          <p:nvPr/>
        </p:nvSpPr>
        <p:spPr>
          <a:xfrm>
            <a:off x="633666" y="1568468"/>
            <a:ext cx="10882207" cy="884258"/>
          </a:xfrm>
          <a:prstGeom prst="rect">
            <a:avLst/>
          </a:prstGeom>
        </p:spPr>
        <p:txBody>
          <a:bodyPr vert="horz" wrap="square" lIns="0" tIns="70272" rIns="0" bIns="0" rtlCol="0">
            <a:spAutoFit/>
          </a:bodyPr>
          <a:lstStyle/>
          <a:p>
            <a:pPr marL="505447" marR="6773" indent="-488514">
              <a:lnSpc>
                <a:spcPct val="114599"/>
              </a:lnSpc>
              <a:buChar char="●"/>
              <a:tabLst>
                <a:tab pos="505447" algn="l"/>
                <a:tab pos="506294" algn="l"/>
              </a:tabLst>
            </a:pPr>
            <a:r>
              <a:rPr sz="2400" spc="-7" dirty="0" smtClean="0">
                <a:solidFill>
                  <a:srgbClr val="595959"/>
                </a:solidFill>
                <a:latin typeface="Arial"/>
                <a:cs typeface="Arial"/>
              </a:rPr>
              <a:t>The </a:t>
            </a:r>
            <a:r>
              <a:rPr sz="2400" b="1" dirty="0">
                <a:solidFill>
                  <a:srgbClr val="595959"/>
                </a:solidFill>
                <a:latin typeface="Arial"/>
                <a:cs typeface="Arial"/>
              </a:rPr>
              <a:t>Minkowski</a:t>
            </a:r>
            <a:r>
              <a:rPr sz="2400" b="1" dirty="0">
                <a:solidFill>
                  <a:srgbClr val="595959"/>
                </a:solidFill>
                <a:latin typeface="Arial"/>
                <a:cs typeface="Arial"/>
              </a:rPr>
              <a:t> </a:t>
            </a:r>
            <a:r>
              <a:rPr sz="2400" b="1" spc="-7" dirty="0">
                <a:solidFill>
                  <a:srgbClr val="595959"/>
                </a:solidFill>
                <a:latin typeface="Arial"/>
                <a:cs typeface="Arial"/>
              </a:rPr>
              <a:t>sum </a:t>
            </a:r>
            <a:r>
              <a:rPr sz="2400" spc="-7" dirty="0">
                <a:solidFill>
                  <a:srgbClr val="595959"/>
                </a:solidFill>
                <a:latin typeface="Arial"/>
                <a:cs typeface="Arial"/>
              </a:rPr>
              <a:t>is the </a:t>
            </a:r>
            <a:r>
              <a:rPr sz="2400" dirty="0">
                <a:solidFill>
                  <a:srgbClr val="595959"/>
                </a:solidFill>
                <a:latin typeface="Arial"/>
                <a:cs typeface="Arial"/>
              </a:rPr>
              <a:t>result </a:t>
            </a:r>
            <a:r>
              <a:rPr sz="2400" spc="-7" dirty="0">
                <a:solidFill>
                  <a:srgbClr val="595959"/>
                </a:solidFill>
                <a:latin typeface="Arial"/>
                <a:cs typeface="Arial"/>
              </a:rPr>
              <a:t>of taking every point within one </a:t>
            </a:r>
            <a:r>
              <a:rPr sz="2400" dirty="0">
                <a:solidFill>
                  <a:srgbClr val="595959"/>
                </a:solidFill>
                <a:latin typeface="Arial"/>
                <a:cs typeface="Arial"/>
              </a:rPr>
              <a:t>shape, </a:t>
            </a:r>
            <a:r>
              <a:rPr sz="2400" spc="-7" dirty="0">
                <a:solidFill>
                  <a:srgbClr val="595959"/>
                </a:solidFill>
                <a:latin typeface="Arial"/>
                <a:cs typeface="Arial"/>
              </a:rPr>
              <a:t>and  adding it to every point in</a:t>
            </a:r>
            <a:r>
              <a:rPr sz="2400" spc="-20" dirty="0">
                <a:solidFill>
                  <a:srgbClr val="595959"/>
                </a:solidFill>
                <a:latin typeface="Arial"/>
                <a:cs typeface="Arial"/>
              </a:rPr>
              <a:t> </a:t>
            </a:r>
            <a:r>
              <a:rPr sz="2400" spc="-7" dirty="0">
                <a:solidFill>
                  <a:srgbClr val="595959"/>
                </a:solidFill>
                <a:latin typeface="Arial"/>
                <a:cs typeface="Arial"/>
              </a:rPr>
              <a:t>another.</a:t>
            </a:r>
            <a:endParaRPr sz="2400" dirty="0">
              <a:latin typeface="Arial"/>
              <a:cs typeface="Arial"/>
            </a:endParaRPr>
          </a:p>
        </p:txBody>
      </p:sp>
      <p:sp>
        <p:nvSpPr>
          <p:cNvPr id="4" name="object 4"/>
          <p:cNvSpPr/>
          <p:nvPr/>
        </p:nvSpPr>
        <p:spPr>
          <a:xfrm>
            <a:off x="5357016" y="3273667"/>
            <a:ext cx="1477960" cy="359765"/>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5347299" y="4610299"/>
            <a:ext cx="1497407" cy="359765"/>
          </a:xfrm>
          <a:prstGeom prst="rect">
            <a:avLst/>
          </a:prstGeom>
          <a:blipFill>
            <a:blip r:embed="rId3" cstate="print"/>
            <a:stretch>
              <a:fillRect/>
            </a:stretch>
          </a:blipFill>
        </p:spPr>
        <p:txBody>
          <a:bodyPr wrap="square" lIns="0" tIns="0" rIns="0" bIns="0" rtlCol="0"/>
          <a:lstStyle/>
          <a:p>
            <a:endParaRPr sz="2400"/>
          </a:p>
        </p:txBody>
      </p:sp>
      <p:sp>
        <p:nvSpPr>
          <p:cNvPr id="6" name="object 6"/>
          <p:cNvSpPr txBox="1"/>
          <p:nvPr/>
        </p:nvSpPr>
        <p:spPr>
          <a:xfrm>
            <a:off x="633666" y="3857008"/>
            <a:ext cx="10787708" cy="2284386"/>
          </a:xfrm>
          <a:prstGeom prst="rect">
            <a:avLst/>
          </a:prstGeom>
        </p:spPr>
        <p:txBody>
          <a:bodyPr vert="horz" wrap="square" lIns="0" tIns="16933" rIns="0" bIns="0" rtlCol="0">
            <a:spAutoFit/>
          </a:bodyPr>
          <a:lstStyle/>
          <a:p>
            <a:pPr marL="505447" indent="-488514">
              <a:spcBef>
                <a:spcPts val="133"/>
              </a:spcBef>
              <a:buChar char="●"/>
              <a:tabLst>
                <a:tab pos="505447" algn="l"/>
                <a:tab pos="506294" algn="l"/>
              </a:tabLst>
            </a:pPr>
            <a:r>
              <a:rPr sz="2400" spc="-7" dirty="0" smtClean="0">
                <a:solidFill>
                  <a:srgbClr val="595959"/>
                </a:solidFill>
                <a:latin typeface="Arial"/>
                <a:cs typeface="Arial"/>
              </a:rPr>
              <a:t>the </a:t>
            </a:r>
            <a:r>
              <a:rPr sz="2400" spc="-7" dirty="0">
                <a:solidFill>
                  <a:srgbClr val="595959"/>
                </a:solidFill>
                <a:latin typeface="Arial"/>
                <a:cs typeface="Arial"/>
              </a:rPr>
              <a:t>difference is </a:t>
            </a:r>
            <a:r>
              <a:rPr sz="2400" dirty="0">
                <a:solidFill>
                  <a:srgbClr val="595959"/>
                </a:solidFill>
                <a:latin typeface="Arial"/>
                <a:cs typeface="Arial"/>
              </a:rPr>
              <a:t>simply </a:t>
            </a:r>
            <a:r>
              <a:rPr sz="2400" spc="-7" dirty="0">
                <a:solidFill>
                  <a:srgbClr val="595959"/>
                </a:solidFill>
                <a:latin typeface="Arial"/>
                <a:cs typeface="Arial"/>
              </a:rPr>
              <a:t>the </a:t>
            </a:r>
            <a:r>
              <a:rPr sz="2400" dirty="0">
                <a:solidFill>
                  <a:srgbClr val="595959"/>
                </a:solidFill>
                <a:latin typeface="Arial"/>
                <a:cs typeface="Arial"/>
              </a:rPr>
              <a:t>subtraction </a:t>
            </a:r>
            <a:r>
              <a:rPr sz="2400" spc="-7" dirty="0">
                <a:solidFill>
                  <a:srgbClr val="595959"/>
                </a:solidFill>
                <a:latin typeface="Arial"/>
                <a:cs typeface="Arial"/>
              </a:rPr>
              <a:t>of </a:t>
            </a:r>
            <a:r>
              <a:rPr sz="2400" b="1" dirty="0">
                <a:solidFill>
                  <a:srgbClr val="595959"/>
                </a:solidFill>
                <a:latin typeface="Arial"/>
                <a:cs typeface="Arial"/>
              </a:rPr>
              <a:t>B </a:t>
            </a:r>
            <a:r>
              <a:rPr sz="2400" spc="-7" dirty="0">
                <a:solidFill>
                  <a:srgbClr val="595959"/>
                </a:solidFill>
                <a:latin typeface="Arial"/>
                <a:cs typeface="Arial"/>
              </a:rPr>
              <a:t>from</a:t>
            </a:r>
            <a:r>
              <a:rPr sz="2400" spc="-33" dirty="0">
                <a:solidFill>
                  <a:srgbClr val="595959"/>
                </a:solidFill>
                <a:latin typeface="Arial"/>
                <a:cs typeface="Arial"/>
              </a:rPr>
              <a:t> </a:t>
            </a:r>
            <a:r>
              <a:rPr sz="2400" b="1" dirty="0">
                <a:solidFill>
                  <a:srgbClr val="595959"/>
                </a:solidFill>
                <a:latin typeface="Arial"/>
                <a:cs typeface="Arial"/>
              </a:rPr>
              <a:t>A</a:t>
            </a:r>
            <a:r>
              <a:rPr sz="2400" dirty="0" smtClean="0">
                <a:solidFill>
                  <a:srgbClr val="595959"/>
                </a:solidFill>
                <a:latin typeface="Arial"/>
                <a:cs typeface="Arial"/>
              </a:rPr>
              <a:t>.</a:t>
            </a:r>
            <a:endParaRPr lang="en-US" sz="2400" dirty="0" smtClean="0">
              <a:solidFill>
                <a:srgbClr val="595959"/>
              </a:solidFill>
              <a:latin typeface="Arial"/>
              <a:cs typeface="Arial"/>
            </a:endParaRPr>
          </a:p>
          <a:p>
            <a:pPr marL="505447" indent="-488514">
              <a:spcBef>
                <a:spcPts val="133"/>
              </a:spcBef>
              <a:buChar char="●"/>
              <a:tabLst>
                <a:tab pos="505447" algn="l"/>
                <a:tab pos="506294" algn="l"/>
              </a:tabLst>
            </a:pPr>
            <a:endParaRPr lang="en-US" sz="2400" dirty="0">
              <a:solidFill>
                <a:srgbClr val="595959"/>
              </a:solidFill>
              <a:latin typeface="Arial"/>
              <a:cs typeface="Arial"/>
            </a:endParaRPr>
          </a:p>
          <a:p>
            <a:pPr marL="505447" indent="-488514">
              <a:spcBef>
                <a:spcPts val="133"/>
              </a:spcBef>
              <a:buChar char="●"/>
              <a:tabLst>
                <a:tab pos="505447" algn="l"/>
                <a:tab pos="506294" algn="l"/>
              </a:tabLst>
            </a:pPr>
            <a:endParaRPr lang="en-US" sz="2400" dirty="0" smtClean="0">
              <a:solidFill>
                <a:srgbClr val="595959"/>
              </a:solidFill>
              <a:latin typeface="Arial"/>
              <a:cs typeface="Arial"/>
            </a:endParaRPr>
          </a:p>
          <a:p>
            <a:pPr marL="505447" indent="-488514">
              <a:spcBef>
                <a:spcPts val="133"/>
              </a:spcBef>
              <a:buChar char="●"/>
              <a:tabLst>
                <a:tab pos="505447" algn="l"/>
                <a:tab pos="506294" algn="l"/>
              </a:tabLst>
            </a:pPr>
            <a:endParaRPr lang="en-US" sz="2400" dirty="0">
              <a:solidFill>
                <a:srgbClr val="595959"/>
              </a:solidFill>
              <a:latin typeface="Arial"/>
              <a:cs typeface="Arial"/>
            </a:endParaRPr>
          </a:p>
          <a:p>
            <a:pPr marL="505447" indent="-488514">
              <a:spcBef>
                <a:spcPts val="133"/>
              </a:spcBef>
              <a:buChar char="●"/>
              <a:tabLst>
                <a:tab pos="505447" algn="l"/>
                <a:tab pos="506294" algn="l"/>
              </a:tabLst>
            </a:pPr>
            <a:r>
              <a:rPr lang="en-US" sz="2400" dirty="0" smtClean="0">
                <a:solidFill>
                  <a:srgbClr val="595959"/>
                </a:solidFill>
                <a:latin typeface="Arial"/>
                <a:cs typeface="Arial"/>
              </a:rPr>
              <a:t>If a point (</a:t>
            </a:r>
            <a:r>
              <a:rPr lang="en-US" sz="2400" dirty="0" err="1" smtClean="0">
                <a:solidFill>
                  <a:srgbClr val="595959"/>
                </a:solidFill>
                <a:latin typeface="Arial"/>
                <a:cs typeface="Arial"/>
              </a:rPr>
              <a:t>x,y</a:t>
            </a:r>
            <a:r>
              <a:rPr lang="en-US" sz="2400" dirty="0" smtClean="0">
                <a:solidFill>
                  <a:srgbClr val="595959"/>
                </a:solidFill>
                <a:latin typeface="Arial"/>
                <a:cs typeface="Arial"/>
              </a:rPr>
              <a:t>) is in both A and B, then the point (0,0) will be one of the points in the </a:t>
            </a:r>
            <a:r>
              <a:rPr lang="en-US" sz="2400" dirty="0" err="1" smtClean="0">
                <a:solidFill>
                  <a:srgbClr val="595959"/>
                </a:solidFill>
                <a:latin typeface="Arial"/>
                <a:cs typeface="Arial"/>
              </a:rPr>
              <a:t>Minkowski</a:t>
            </a:r>
            <a:r>
              <a:rPr lang="en-US" sz="2400" dirty="0" smtClean="0">
                <a:solidFill>
                  <a:srgbClr val="595959"/>
                </a:solidFill>
                <a:latin typeface="Arial"/>
                <a:cs typeface="Arial"/>
              </a:rPr>
              <a:t> sum of A-B. </a:t>
            </a:r>
            <a:endParaRPr sz="2400" dirty="0">
              <a:latin typeface="Arial"/>
              <a:cs typeface="Arial"/>
            </a:endParaRPr>
          </a:p>
        </p:txBody>
      </p:sp>
    </p:spTree>
    <p:extLst>
      <p:ext uri="{BB962C8B-B14F-4D97-AF65-F5344CB8AC3E}">
        <p14:creationId xmlns:p14="http://schemas.microsoft.com/office/powerpoint/2010/main" val="2085613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7405"/>
            <a:ext cx="3245273"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solidFill>
                  <a:srgbClr val="000000"/>
                </a:solidFill>
              </a:rPr>
              <a:t>At </a:t>
            </a:r>
            <a:r>
              <a:rPr sz="3733" dirty="0">
                <a:solidFill>
                  <a:srgbClr val="000000"/>
                </a:solidFill>
              </a:rPr>
              <a:t>a </a:t>
            </a:r>
            <a:r>
              <a:rPr sz="3733" spc="-7" dirty="0">
                <a:solidFill>
                  <a:srgbClr val="000000"/>
                </a:solidFill>
              </a:rPr>
              <a:t>High</a:t>
            </a:r>
            <a:r>
              <a:rPr sz="3733" spc="-140" dirty="0">
                <a:solidFill>
                  <a:srgbClr val="000000"/>
                </a:solidFill>
              </a:rPr>
              <a:t> </a:t>
            </a:r>
            <a:r>
              <a:rPr sz="3733" spc="-7" dirty="0">
                <a:solidFill>
                  <a:srgbClr val="000000"/>
                </a:solidFill>
              </a:rPr>
              <a:t>Level</a:t>
            </a:r>
            <a:endParaRPr sz="3733"/>
          </a:p>
        </p:txBody>
      </p:sp>
      <p:sp>
        <p:nvSpPr>
          <p:cNvPr id="3" name="object 3"/>
          <p:cNvSpPr txBox="1"/>
          <p:nvPr/>
        </p:nvSpPr>
        <p:spPr>
          <a:xfrm>
            <a:off x="633665" y="1568467"/>
            <a:ext cx="10793307" cy="3493049"/>
          </a:xfrm>
          <a:prstGeom prst="rect">
            <a:avLst/>
          </a:prstGeom>
        </p:spPr>
        <p:txBody>
          <a:bodyPr vert="horz" wrap="square" lIns="0" tIns="70272" rIns="0" bIns="0" rtlCol="0">
            <a:spAutoFit/>
          </a:bodyPr>
          <a:lstStyle/>
          <a:p>
            <a:pPr marL="505447" indent="-488514">
              <a:spcBef>
                <a:spcPts val="552"/>
              </a:spcBef>
              <a:buChar char="●"/>
              <a:tabLst>
                <a:tab pos="505447" algn="l"/>
                <a:tab pos="506294" algn="l"/>
              </a:tabLst>
            </a:pPr>
            <a:r>
              <a:rPr sz="2400" spc="-7" dirty="0">
                <a:solidFill>
                  <a:srgbClr val="595959"/>
                </a:solidFill>
                <a:latin typeface="Arial"/>
                <a:cs typeface="Arial"/>
              </a:rPr>
              <a:t>The </a:t>
            </a:r>
            <a:r>
              <a:rPr sz="2400" dirty="0">
                <a:solidFill>
                  <a:srgbClr val="595959"/>
                </a:solidFill>
                <a:latin typeface="Arial"/>
                <a:cs typeface="Arial"/>
              </a:rPr>
              <a:t>Minkowski</a:t>
            </a:r>
            <a:r>
              <a:rPr sz="2400" dirty="0">
                <a:solidFill>
                  <a:srgbClr val="595959"/>
                </a:solidFill>
                <a:latin typeface="Arial"/>
                <a:cs typeface="Arial"/>
              </a:rPr>
              <a:t> </a:t>
            </a:r>
            <a:r>
              <a:rPr sz="2400" spc="-7" dirty="0">
                <a:solidFill>
                  <a:srgbClr val="595959"/>
                </a:solidFill>
                <a:latin typeface="Arial"/>
                <a:cs typeface="Arial"/>
              </a:rPr>
              <a:t>difference </a:t>
            </a:r>
            <a:r>
              <a:rPr sz="2400" spc="7" dirty="0">
                <a:solidFill>
                  <a:srgbClr val="595959"/>
                </a:solidFill>
                <a:latin typeface="Arial"/>
                <a:cs typeface="Arial"/>
              </a:rPr>
              <a:t>(</a:t>
            </a:r>
            <a:r>
              <a:rPr sz="2400" b="1" spc="7" dirty="0">
                <a:solidFill>
                  <a:srgbClr val="595959"/>
                </a:solidFill>
                <a:latin typeface="Arial"/>
                <a:cs typeface="Arial"/>
              </a:rPr>
              <a:t>M</a:t>
            </a:r>
            <a:r>
              <a:rPr sz="2400" spc="7" dirty="0">
                <a:solidFill>
                  <a:srgbClr val="595959"/>
                </a:solidFill>
                <a:latin typeface="Arial"/>
                <a:cs typeface="Arial"/>
              </a:rPr>
              <a:t>) </a:t>
            </a:r>
            <a:r>
              <a:rPr sz="2400" spc="-7" dirty="0">
                <a:solidFill>
                  <a:srgbClr val="595959"/>
                </a:solidFill>
                <a:latin typeface="Arial"/>
                <a:cs typeface="Arial"/>
              </a:rPr>
              <a:t>of two </a:t>
            </a:r>
            <a:r>
              <a:rPr sz="2400" dirty="0">
                <a:solidFill>
                  <a:srgbClr val="595959"/>
                </a:solidFill>
                <a:latin typeface="Arial"/>
                <a:cs typeface="Arial"/>
              </a:rPr>
              <a:t>convex shapes </a:t>
            </a:r>
            <a:r>
              <a:rPr sz="2400" spc="-7" dirty="0">
                <a:solidFill>
                  <a:srgbClr val="595959"/>
                </a:solidFill>
                <a:latin typeface="Arial"/>
                <a:cs typeface="Arial"/>
              </a:rPr>
              <a:t>is itself </a:t>
            </a:r>
            <a:r>
              <a:rPr sz="2400" dirty="0">
                <a:solidFill>
                  <a:srgbClr val="595959"/>
                </a:solidFill>
                <a:latin typeface="Arial"/>
                <a:cs typeface="Arial"/>
              </a:rPr>
              <a:t>convex,</a:t>
            </a:r>
            <a:r>
              <a:rPr sz="2400" spc="-113" dirty="0">
                <a:solidFill>
                  <a:srgbClr val="595959"/>
                </a:solidFill>
                <a:latin typeface="Arial"/>
                <a:cs typeface="Arial"/>
              </a:rPr>
              <a:t> </a:t>
            </a:r>
            <a:r>
              <a:rPr sz="2400" spc="-7" dirty="0">
                <a:solidFill>
                  <a:srgbClr val="595959"/>
                </a:solidFill>
                <a:latin typeface="Arial"/>
                <a:cs typeface="Arial"/>
              </a:rPr>
              <a:t>and...</a:t>
            </a:r>
            <a:endParaRPr sz="2400" dirty="0">
              <a:latin typeface="Arial"/>
              <a:cs typeface="Arial"/>
            </a:endParaRPr>
          </a:p>
          <a:p>
            <a:pPr marL="505447" marR="282780" indent="-488514">
              <a:lnSpc>
                <a:spcPct val="114599"/>
              </a:lnSpc>
              <a:buChar char="●"/>
              <a:tabLst>
                <a:tab pos="505447" algn="l"/>
                <a:tab pos="506294" algn="l"/>
              </a:tabLst>
            </a:pPr>
            <a:r>
              <a:rPr sz="2400" spc="-7" dirty="0">
                <a:solidFill>
                  <a:srgbClr val="595959"/>
                </a:solidFill>
                <a:latin typeface="Arial"/>
                <a:cs typeface="Arial"/>
              </a:rPr>
              <a:t>The </a:t>
            </a:r>
            <a:r>
              <a:rPr sz="2400" dirty="0">
                <a:solidFill>
                  <a:srgbClr val="595959"/>
                </a:solidFill>
                <a:latin typeface="Arial"/>
                <a:cs typeface="Arial"/>
              </a:rPr>
              <a:t>Minkowski</a:t>
            </a:r>
            <a:r>
              <a:rPr sz="2400" dirty="0">
                <a:solidFill>
                  <a:srgbClr val="595959"/>
                </a:solidFill>
                <a:latin typeface="Arial"/>
                <a:cs typeface="Arial"/>
              </a:rPr>
              <a:t> </a:t>
            </a:r>
            <a:r>
              <a:rPr sz="2400" spc="-7" dirty="0">
                <a:solidFill>
                  <a:srgbClr val="595959"/>
                </a:solidFill>
                <a:latin typeface="Arial"/>
                <a:cs typeface="Arial"/>
              </a:rPr>
              <a:t>difference of two </a:t>
            </a:r>
            <a:r>
              <a:rPr sz="2400" b="1" spc="-7" dirty="0">
                <a:solidFill>
                  <a:srgbClr val="595959"/>
                </a:solidFill>
                <a:latin typeface="Arial"/>
                <a:cs typeface="Arial"/>
              </a:rPr>
              <a:t>intersecting </a:t>
            </a:r>
            <a:r>
              <a:rPr sz="2400" dirty="0">
                <a:solidFill>
                  <a:srgbClr val="595959"/>
                </a:solidFill>
                <a:latin typeface="Arial"/>
                <a:cs typeface="Arial"/>
              </a:rPr>
              <a:t>convex shapes contains </a:t>
            </a:r>
            <a:r>
              <a:rPr sz="2400" spc="-7" dirty="0">
                <a:solidFill>
                  <a:srgbClr val="595959"/>
                </a:solidFill>
                <a:latin typeface="Arial"/>
                <a:cs typeface="Arial"/>
              </a:rPr>
              <a:t>the  origin.</a:t>
            </a:r>
            <a:endParaRPr sz="2400" dirty="0">
              <a:latin typeface="Arial"/>
              <a:cs typeface="Arial"/>
            </a:endParaRPr>
          </a:p>
          <a:p>
            <a:pPr marL="1115031" lvl="1" indent="-447875">
              <a:spcBef>
                <a:spcPts val="440"/>
              </a:spcBef>
              <a:buChar char="○"/>
              <a:tabLst>
                <a:tab pos="1115031" algn="l"/>
                <a:tab pos="1115879" algn="l"/>
              </a:tabLst>
            </a:pPr>
            <a:r>
              <a:rPr sz="1867" spc="-7" dirty="0">
                <a:solidFill>
                  <a:srgbClr val="595959"/>
                </a:solidFill>
                <a:latin typeface="Arial"/>
                <a:cs typeface="Arial"/>
              </a:rPr>
              <a:t>This is </a:t>
            </a:r>
            <a:r>
              <a:rPr sz="1867" dirty="0">
                <a:solidFill>
                  <a:srgbClr val="595959"/>
                </a:solidFill>
                <a:latin typeface="Arial"/>
                <a:cs typeface="Arial"/>
              </a:rPr>
              <a:t>mostly </a:t>
            </a:r>
            <a:r>
              <a:rPr sz="1867" spc="-7" dirty="0">
                <a:solidFill>
                  <a:srgbClr val="595959"/>
                </a:solidFill>
                <a:latin typeface="Arial"/>
                <a:cs typeface="Arial"/>
              </a:rPr>
              <a:t>intuitive </a:t>
            </a:r>
            <a:r>
              <a:rPr sz="1867" dirty="0">
                <a:solidFill>
                  <a:srgbClr val="595959"/>
                </a:solidFill>
                <a:latin typeface="Arial"/>
                <a:cs typeface="Arial"/>
              </a:rPr>
              <a:t>- </a:t>
            </a:r>
            <a:r>
              <a:rPr sz="1867" spc="-7" dirty="0">
                <a:solidFill>
                  <a:srgbClr val="595959"/>
                </a:solidFill>
                <a:latin typeface="Arial"/>
                <a:cs typeface="Arial"/>
              </a:rPr>
              <a:t>if the </a:t>
            </a:r>
            <a:r>
              <a:rPr sz="1867" dirty="0">
                <a:solidFill>
                  <a:srgbClr val="595959"/>
                </a:solidFill>
                <a:latin typeface="Arial"/>
                <a:cs typeface="Arial"/>
              </a:rPr>
              <a:t>shapes </a:t>
            </a:r>
            <a:r>
              <a:rPr sz="1867" spc="-7" dirty="0">
                <a:solidFill>
                  <a:srgbClr val="595959"/>
                </a:solidFill>
                <a:latin typeface="Arial"/>
                <a:cs typeface="Arial"/>
              </a:rPr>
              <a:t>are intersection, they </a:t>
            </a:r>
            <a:r>
              <a:rPr sz="1867" dirty="0">
                <a:solidFill>
                  <a:srgbClr val="595959"/>
                </a:solidFill>
                <a:latin typeface="Arial"/>
                <a:cs typeface="Arial"/>
              </a:rPr>
              <a:t>share some </a:t>
            </a:r>
            <a:r>
              <a:rPr sz="1867" spc="-7" dirty="0">
                <a:solidFill>
                  <a:srgbClr val="595959"/>
                </a:solidFill>
                <a:latin typeface="Arial"/>
                <a:cs typeface="Arial"/>
              </a:rPr>
              <a:t>of the </a:t>
            </a:r>
            <a:r>
              <a:rPr sz="1867" dirty="0">
                <a:solidFill>
                  <a:srgbClr val="595959"/>
                </a:solidFill>
                <a:latin typeface="Arial"/>
                <a:cs typeface="Arial"/>
              </a:rPr>
              <a:t>same</a:t>
            </a:r>
            <a:r>
              <a:rPr sz="1867" spc="-100" dirty="0">
                <a:solidFill>
                  <a:srgbClr val="595959"/>
                </a:solidFill>
                <a:latin typeface="Arial"/>
                <a:cs typeface="Arial"/>
              </a:rPr>
              <a:t> </a:t>
            </a:r>
            <a:r>
              <a:rPr sz="1867" spc="-7" dirty="0">
                <a:solidFill>
                  <a:srgbClr val="595959"/>
                </a:solidFill>
                <a:latin typeface="Arial"/>
                <a:cs typeface="Arial"/>
              </a:rPr>
              <a:t>points.</a:t>
            </a:r>
            <a:endParaRPr sz="1867" dirty="0">
              <a:latin typeface="Arial"/>
              <a:cs typeface="Arial"/>
            </a:endParaRPr>
          </a:p>
          <a:p>
            <a:pPr marL="1115031" lvl="1" indent="-447875">
              <a:spcBef>
                <a:spcPts val="360"/>
              </a:spcBef>
              <a:buChar char="○"/>
              <a:tabLst>
                <a:tab pos="1115031" algn="l"/>
                <a:tab pos="1115879" algn="l"/>
              </a:tabLst>
            </a:pPr>
            <a:r>
              <a:rPr sz="1867" spc="-7" dirty="0">
                <a:solidFill>
                  <a:srgbClr val="595959"/>
                </a:solidFill>
                <a:latin typeface="Arial"/>
                <a:cs typeface="Arial"/>
              </a:rPr>
              <a:t>Those points </a:t>
            </a:r>
            <a:r>
              <a:rPr sz="1867" dirty="0">
                <a:solidFill>
                  <a:srgbClr val="595959"/>
                </a:solidFill>
                <a:latin typeface="Arial"/>
                <a:cs typeface="Arial"/>
              </a:rPr>
              <a:t>subtracted </a:t>
            </a:r>
            <a:r>
              <a:rPr sz="1867" spc="-7" dirty="0">
                <a:solidFill>
                  <a:srgbClr val="595959"/>
                </a:solidFill>
                <a:latin typeface="Arial"/>
                <a:cs typeface="Arial"/>
              </a:rPr>
              <a:t>from themselves equals the</a:t>
            </a:r>
            <a:r>
              <a:rPr sz="1867" spc="-27" dirty="0">
                <a:solidFill>
                  <a:srgbClr val="595959"/>
                </a:solidFill>
                <a:latin typeface="Arial"/>
                <a:cs typeface="Arial"/>
              </a:rPr>
              <a:t> </a:t>
            </a:r>
            <a:r>
              <a:rPr sz="1867" spc="-7" dirty="0">
                <a:solidFill>
                  <a:srgbClr val="595959"/>
                </a:solidFill>
                <a:latin typeface="Arial"/>
                <a:cs typeface="Arial"/>
              </a:rPr>
              <a:t>origin.</a:t>
            </a:r>
            <a:endParaRPr sz="1867" dirty="0">
              <a:latin typeface="Arial"/>
              <a:cs typeface="Arial"/>
            </a:endParaRPr>
          </a:p>
          <a:p>
            <a:pPr marL="505447" marR="6773" indent="-488514">
              <a:lnSpc>
                <a:spcPts val="3307"/>
              </a:lnSpc>
              <a:spcBef>
                <a:spcPts val="93"/>
              </a:spcBef>
              <a:buChar char="●"/>
              <a:tabLst>
                <a:tab pos="505447" algn="l"/>
                <a:tab pos="506294" algn="l"/>
              </a:tabLst>
            </a:pPr>
            <a:r>
              <a:rPr sz="2400" spc="-7" dirty="0">
                <a:solidFill>
                  <a:srgbClr val="595959"/>
                </a:solidFill>
                <a:latin typeface="Arial"/>
                <a:cs typeface="Arial"/>
              </a:rPr>
              <a:t>The GJK algorithm </a:t>
            </a:r>
            <a:r>
              <a:rPr sz="2400" dirty="0">
                <a:solidFill>
                  <a:srgbClr val="595959"/>
                </a:solidFill>
                <a:latin typeface="Arial"/>
                <a:cs typeface="Arial"/>
              </a:rPr>
              <a:t>seeks </a:t>
            </a:r>
            <a:r>
              <a:rPr sz="2400" spc="-7" dirty="0">
                <a:solidFill>
                  <a:srgbClr val="595959"/>
                </a:solidFill>
                <a:latin typeface="Arial"/>
                <a:cs typeface="Arial"/>
              </a:rPr>
              <a:t>to locate the origin within the </a:t>
            </a:r>
            <a:r>
              <a:rPr sz="2400" dirty="0">
                <a:solidFill>
                  <a:srgbClr val="595959"/>
                </a:solidFill>
                <a:latin typeface="Arial"/>
                <a:cs typeface="Arial"/>
              </a:rPr>
              <a:t>Minkowski</a:t>
            </a:r>
            <a:r>
              <a:rPr sz="2400" dirty="0">
                <a:solidFill>
                  <a:srgbClr val="595959"/>
                </a:solidFill>
                <a:latin typeface="Arial"/>
                <a:cs typeface="Arial"/>
              </a:rPr>
              <a:t> </a:t>
            </a:r>
            <a:r>
              <a:rPr sz="2400" spc="-7" dirty="0">
                <a:solidFill>
                  <a:srgbClr val="595959"/>
                </a:solidFill>
                <a:latin typeface="Arial"/>
                <a:cs typeface="Arial"/>
              </a:rPr>
              <a:t>difference  of two </a:t>
            </a:r>
            <a:r>
              <a:rPr sz="2400" dirty="0">
                <a:solidFill>
                  <a:srgbClr val="595959"/>
                </a:solidFill>
                <a:latin typeface="Arial"/>
                <a:cs typeface="Arial"/>
              </a:rPr>
              <a:t>convex</a:t>
            </a:r>
            <a:r>
              <a:rPr sz="2400" spc="-13" dirty="0">
                <a:solidFill>
                  <a:srgbClr val="595959"/>
                </a:solidFill>
                <a:latin typeface="Arial"/>
                <a:cs typeface="Arial"/>
              </a:rPr>
              <a:t> </a:t>
            </a:r>
            <a:r>
              <a:rPr sz="2400" dirty="0">
                <a:solidFill>
                  <a:srgbClr val="595959"/>
                </a:solidFill>
                <a:latin typeface="Arial"/>
                <a:cs typeface="Arial"/>
              </a:rPr>
              <a:t>shapes.</a:t>
            </a:r>
            <a:endParaRPr sz="2400" dirty="0">
              <a:latin typeface="Arial"/>
              <a:cs typeface="Arial"/>
            </a:endParaRPr>
          </a:p>
          <a:p>
            <a:pPr marL="1115031" marR="678162" lvl="1" indent="-447875">
              <a:lnSpc>
                <a:spcPts val="2600"/>
              </a:lnSpc>
              <a:spcBef>
                <a:spcPts val="40"/>
              </a:spcBef>
              <a:buChar char="○"/>
              <a:tabLst>
                <a:tab pos="1115031" algn="l"/>
                <a:tab pos="1115879" algn="l"/>
              </a:tabLst>
            </a:pPr>
            <a:r>
              <a:rPr sz="1867" spc="-7" dirty="0">
                <a:solidFill>
                  <a:srgbClr val="595959"/>
                </a:solidFill>
                <a:latin typeface="Arial"/>
                <a:cs typeface="Arial"/>
              </a:rPr>
              <a:t>It does </a:t>
            </a:r>
            <a:r>
              <a:rPr sz="1867" dirty="0">
                <a:solidFill>
                  <a:srgbClr val="595959"/>
                </a:solidFill>
                <a:latin typeface="Arial"/>
                <a:cs typeface="Arial"/>
              </a:rPr>
              <a:t>so </a:t>
            </a:r>
            <a:r>
              <a:rPr sz="1867" spc="-7" dirty="0">
                <a:solidFill>
                  <a:srgbClr val="595959"/>
                </a:solidFill>
                <a:latin typeface="Arial"/>
                <a:cs typeface="Arial"/>
              </a:rPr>
              <a:t>by </a:t>
            </a:r>
            <a:r>
              <a:rPr sz="1867" dirty="0">
                <a:solidFill>
                  <a:srgbClr val="595959"/>
                </a:solidFill>
                <a:latin typeface="Arial"/>
                <a:cs typeface="Arial"/>
              </a:rPr>
              <a:t>constructing a </a:t>
            </a:r>
            <a:r>
              <a:rPr sz="1867" b="1" spc="-7" dirty="0">
                <a:solidFill>
                  <a:srgbClr val="595959"/>
                </a:solidFill>
                <a:latin typeface="Arial"/>
                <a:cs typeface="Arial"/>
              </a:rPr>
              <a:t>simplex </a:t>
            </a:r>
            <a:r>
              <a:rPr sz="1867" dirty="0">
                <a:solidFill>
                  <a:srgbClr val="595959"/>
                </a:solidFill>
                <a:latin typeface="Arial"/>
                <a:cs typeface="Arial"/>
              </a:rPr>
              <a:t>(in </a:t>
            </a:r>
            <a:r>
              <a:rPr sz="1867" spc="-7" dirty="0">
                <a:solidFill>
                  <a:srgbClr val="595959"/>
                </a:solidFill>
                <a:latin typeface="Arial"/>
                <a:cs typeface="Arial"/>
              </a:rPr>
              <a:t>3D, </a:t>
            </a:r>
            <a:r>
              <a:rPr sz="1867" dirty="0">
                <a:solidFill>
                  <a:srgbClr val="595959"/>
                </a:solidFill>
                <a:latin typeface="Arial"/>
                <a:cs typeface="Arial"/>
              </a:rPr>
              <a:t>a </a:t>
            </a:r>
            <a:r>
              <a:rPr sz="1867" spc="-7" dirty="0">
                <a:solidFill>
                  <a:srgbClr val="595959"/>
                </a:solidFill>
                <a:latin typeface="Arial"/>
                <a:cs typeface="Arial"/>
              </a:rPr>
              <a:t>tetrahedron) within the difference which  </a:t>
            </a:r>
            <a:r>
              <a:rPr sz="1867" dirty="0">
                <a:solidFill>
                  <a:srgbClr val="595959"/>
                </a:solidFill>
                <a:latin typeface="Arial"/>
                <a:cs typeface="Arial"/>
              </a:rPr>
              <a:t>contains </a:t>
            </a:r>
            <a:r>
              <a:rPr sz="1867" spc="-7" dirty="0">
                <a:solidFill>
                  <a:srgbClr val="595959"/>
                </a:solidFill>
                <a:latin typeface="Arial"/>
                <a:cs typeface="Arial"/>
              </a:rPr>
              <a:t>the</a:t>
            </a:r>
            <a:r>
              <a:rPr sz="1867" spc="-20" dirty="0">
                <a:solidFill>
                  <a:srgbClr val="595959"/>
                </a:solidFill>
                <a:latin typeface="Arial"/>
                <a:cs typeface="Arial"/>
              </a:rPr>
              <a:t> </a:t>
            </a:r>
            <a:r>
              <a:rPr sz="1867" spc="-7" dirty="0">
                <a:solidFill>
                  <a:srgbClr val="595959"/>
                </a:solidFill>
                <a:latin typeface="Arial"/>
                <a:cs typeface="Arial"/>
              </a:rPr>
              <a:t>origin.</a:t>
            </a:r>
            <a:endParaRPr sz="1867" dirty="0">
              <a:latin typeface="Arial"/>
              <a:cs typeface="Arial"/>
            </a:endParaRPr>
          </a:p>
        </p:txBody>
      </p:sp>
    </p:spTree>
    <p:extLst>
      <p:ext uri="{BB962C8B-B14F-4D97-AF65-F5344CB8AC3E}">
        <p14:creationId xmlns:p14="http://schemas.microsoft.com/office/powerpoint/2010/main" val="2679730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484" name="Line"/>
          <p:cNvSpPr/>
          <p:nvPr/>
        </p:nvSpPr>
        <p:spPr>
          <a:xfrm flipV="1">
            <a:off x="5268912" y="4694238"/>
            <a:ext cx="1375173" cy="232173"/>
          </a:xfrm>
          <a:prstGeom prst="line">
            <a:avLst/>
          </a:prstGeom>
          <a:ln w="57150" cap="rnd">
            <a:solidFill>
              <a:srgbClr val="FFFB00"/>
            </a:solidFill>
            <a:prstDash val="sysDot"/>
          </a:ln>
        </p:spPr>
        <p:txBody>
          <a:bodyPr lIns="35719" tIns="35719" rIns="35719" bIns="35719" anchor="ctr"/>
          <a:lstStyle/>
          <a:p>
            <a:endParaRPr sz="1266"/>
          </a:p>
        </p:txBody>
      </p:sp>
      <p:sp>
        <p:nvSpPr>
          <p:cNvPr id="486" name="Shape"/>
          <p:cNvSpPr/>
          <p:nvPr/>
        </p:nvSpPr>
        <p:spPr>
          <a:xfrm>
            <a:off x="6564312" y="3689350"/>
            <a:ext cx="2503489" cy="2411016"/>
          </a:xfrm>
          <a:custGeom>
            <a:avLst/>
            <a:gdLst/>
            <a:ahLst/>
            <a:cxnLst>
              <a:cxn ang="0">
                <a:pos x="wd2" y="hd2"/>
              </a:cxn>
              <a:cxn ang="5400000">
                <a:pos x="wd2" y="hd2"/>
              </a:cxn>
              <a:cxn ang="10800000">
                <a:pos x="wd2" y="hd2"/>
              </a:cxn>
              <a:cxn ang="16200000">
                <a:pos x="wd2" y="hd2"/>
              </a:cxn>
            </a:cxnLst>
            <a:rect l="0" t="0" r="r" b="b"/>
            <a:pathLst>
              <a:path w="21600" h="21600" extrusionOk="0">
                <a:moveTo>
                  <a:pt x="0" y="5585"/>
                </a:moveTo>
                <a:lnTo>
                  <a:pt x="1972" y="18545"/>
                </a:lnTo>
                <a:lnTo>
                  <a:pt x="10766" y="21600"/>
                </a:lnTo>
                <a:lnTo>
                  <a:pt x="17039" y="19426"/>
                </a:lnTo>
                <a:lnTo>
                  <a:pt x="21600" y="9166"/>
                </a:lnTo>
                <a:lnTo>
                  <a:pt x="15231" y="583"/>
                </a:lnTo>
                <a:lnTo>
                  <a:pt x="6205" y="0"/>
                </a:lnTo>
                <a:lnTo>
                  <a:pt x="0" y="5585"/>
                </a:lnTo>
                <a:close/>
              </a:path>
            </a:pathLst>
          </a:custGeom>
          <a:solidFill>
            <a:srgbClr val="E7B913"/>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487" name="Shape"/>
          <p:cNvSpPr/>
          <p:nvPr/>
        </p:nvSpPr>
        <p:spPr>
          <a:xfrm>
            <a:off x="2678113" y="3611562"/>
            <a:ext cx="2589610" cy="2865438"/>
          </a:xfrm>
          <a:custGeom>
            <a:avLst/>
            <a:gdLst/>
            <a:ahLst/>
            <a:cxnLst>
              <a:cxn ang="0">
                <a:pos x="wd2" y="hd2"/>
              </a:cxn>
              <a:cxn ang="5400000">
                <a:pos x="wd2" y="hd2"/>
              </a:cxn>
              <a:cxn ang="10800000">
                <a:pos x="wd2" y="hd2"/>
              </a:cxn>
              <a:cxn ang="16200000">
                <a:pos x="wd2" y="hd2"/>
              </a:cxn>
            </a:cxnLst>
            <a:rect l="0" t="0" r="r" b="b"/>
            <a:pathLst>
              <a:path w="21600" h="21600" extrusionOk="0">
                <a:moveTo>
                  <a:pt x="21600" y="9885"/>
                </a:moveTo>
                <a:lnTo>
                  <a:pt x="15247" y="694"/>
                </a:lnTo>
                <a:lnTo>
                  <a:pt x="4129" y="0"/>
                </a:lnTo>
                <a:lnTo>
                  <a:pt x="0" y="10459"/>
                </a:lnTo>
                <a:lnTo>
                  <a:pt x="1284" y="14863"/>
                </a:lnTo>
                <a:lnTo>
                  <a:pt x="10840" y="21600"/>
                </a:lnTo>
                <a:lnTo>
                  <a:pt x="19059" y="19649"/>
                </a:lnTo>
                <a:lnTo>
                  <a:pt x="21600" y="9885"/>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488" name="Circle"/>
          <p:cNvSpPr/>
          <p:nvPr/>
        </p:nvSpPr>
        <p:spPr>
          <a:xfrm>
            <a:off x="5192713" y="4846638"/>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489" name="Circle"/>
          <p:cNvSpPr/>
          <p:nvPr/>
        </p:nvSpPr>
        <p:spPr>
          <a:xfrm>
            <a:off x="6564313" y="4618038"/>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490" name="image.pdf" descr="image.pdf"/>
          <p:cNvPicPr>
            <a:picLocks/>
          </p:cNvPicPr>
          <p:nvPr/>
        </p:nvPicPr>
        <p:blipFill>
          <a:blip r:embed="rId2">
            <a:extLst/>
          </a:blip>
          <a:stretch>
            <a:fillRect/>
          </a:stretch>
        </p:blipFill>
        <p:spPr>
          <a:xfrm>
            <a:off x="5649912" y="4230688"/>
            <a:ext cx="441326" cy="539750"/>
          </a:xfrm>
          <a:prstGeom prst="rect">
            <a:avLst/>
          </a:prstGeom>
          <a:ln w="12700">
            <a:miter lim="400000"/>
          </a:ln>
        </p:spPr>
      </p:pic>
      <p:pic>
        <p:nvPicPr>
          <p:cNvPr id="491" name="image.pdf" descr="image.pdf"/>
          <p:cNvPicPr>
            <a:picLocks/>
          </p:cNvPicPr>
          <p:nvPr/>
        </p:nvPicPr>
        <p:blipFill>
          <a:blip r:embed="rId3">
            <a:extLst/>
          </a:blip>
          <a:stretch>
            <a:fillRect/>
          </a:stretch>
        </p:blipFill>
        <p:spPr>
          <a:xfrm>
            <a:off x="4583112" y="4618038"/>
            <a:ext cx="588964" cy="687388"/>
          </a:xfrm>
          <a:prstGeom prst="rect">
            <a:avLst/>
          </a:prstGeom>
          <a:ln w="12700">
            <a:miter lim="400000"/>
          </a:ln>
        </p:spPr>
      </p:pic>
      <p:pic>
        <p:nvPicPr>
          <p:cNvPr id="492" name="image.pdf" descr="image.pdf"/>
          <p:cNvPicPr>
            <a:picLocks/>
          </p:cNvPicPr>
          <p:nvPr/>
        </p:nvPicPr>
        <p:blipFill>
          <a:blip r:embed="rId4">
            <a:extLst/>
          </a:blip>
          <a:stretch>
            <a:fillRect/>
          </a:stretch>
        </p:blipFill>
        <p:spPr>
          <a:xfrm>
            <a:off x="6716712" y="4313238"/>
            <a:ext cx="588963" cy="687587"/>
          </a:xfrm>
          <a:prstGeom prst="rect">
            <a:avLst/>
          </a:prstGeom>
          <a:ln w="12700">
            <a:miter lim="400000"/>
          </a:ln>
        </p:spPr>
      </p:pic>
      <p:sp>
        <p:nvSpPr>
          <p:cNvPr id="493" name="Given two convex polyhedra…"/>
          <p:cNvSpPr txBox="1">
            <a:spLocks noGrp="1"/>
          </p:cNvSpPr>
          <p:nvPr>
            <p:ph type="body" idx="1"/>
          </p:nvPr>
        </p:nvSpPr>
        <p:spPr>
          <a:prstGeom prst="rect">
            <a:avLst/>
          </a:prstGeom>
        </p:spPr>
        <p:txBody>
          <a:bodyPr/>
          <a:lstStyle/>
          <a:p>
            <a:pPr>
              <a:buClr>
                <a:srgbClr val="FFA900"/>
              </a:buClr>
              <a:buFont typeface="Arial"/>
            </a:pPr>
            <a:r>
              <a:rPr dirty="0">
                <a:solidFill>
                  <a:schemeClr val="bg1"/>
                </a:solidFill>
              </a:rPr>
              <a:t>Given two convex </a:t>
            </a:r>
            <a:r>
              <a:rPr dirty="0" err="1">
                <a:solidFill>
                  <a:schemeClr val="bg1"/>
                </a:solidFill>
              </a:rPr>
              <a:t>polyhedra</a:t>
            </a:r>
            <a:endParaRPr dirty="0">
              <a:solidFill>
                <a:schemeClr val="bg1"/>
              </a:solidFill>
            </a:endParaRPr>
          </a:p>
          <a:p>
            <a:pPr lvl="1">
              <a:buClr>
                <a:srgbClr val="FFA900"/>
              </a:buClr>
              <a:buFont typeface="Arial"/>
            </a:pPr>
            <a:r>
              <a:rPr dirty="0">
                <a:solidFill>
                  <a:schemeClr val="bg1"/>
                </a:solidFill>
              </a:rPr>
              <a:t>Computes distance </a:t>
            </a:r>
            <a:r>
              <a:rPr i="1" dirty="0">
                <a:solidFill>
                  <a:schemeClr val="bg1"/>
                </a:solidFill>
              </a:rPr>
              <a:t>d</a:t>
            </a:r>
          </a:p>
          <a:p>
            <a:pPr lvl="1">
              <a:buClr>
                <a:srgbClr val="FFA900"/>
              </a:buClr>
              <a:buFont typeface="Arial"/>
            </a:pPr>
            <a:r>
              <a:rPr dirty="0">
                <a:solidFill>
                  <a:schemeClr val="bg1"/>
                </a:solidFill>
              </a:rPr>
              <a:t>Can also return closest pair of points </a:t>
            </a:r>
            <a:r>
              <a:rPr i="1" dirty="0">
                <a:solidFill>
                  <a:schemeClr val="bg1"/>
                </a:solidFill>
              </a:rPr>
              <a:t>P</a:t>
            </a:r>
            <a:r>
              <a:rPr i="1" baseline="-20000" dirty="0">
                <a:solidFill>
                  <a:schemeClr val="bg1"/>
                </a:solidFill>
              </a:rPr>
              <a:t>A</a:t>
            </a:r>
            <a:r>
              <a:rPr dirty="0">
                <a:solidFill>
                  <a:schemeClr val="bg1"/>
                </a:solidFill>
              </a:rPr>
              <a:t>, </a:t>
            </a:r>
            <a:r>
              <a:rPr i="1" dirty="0">
                <a:solidFill>
                  <a:schemeClr val="bg1"/>
                </a:solidFill>
              </a:rPr>
              <a:t>P</a:t>
            </a:r>
            <a:r>
              <a:rPr i="1" baseline="-20000" dirty="0">
                <a:solidFill>
                  <a:schemeClr val="bg1"/>
                </a:solidFill>
              </a:rPr>
              <a:t>B</a:t>
            </a:r>
          </a:p>
        </p:txBody>
      </p:sp>
      <p:sp>
        <p:nvSpPr>
          <p:cNvPr id="2" name="Title 1"/>
          <p:cNvSpPr>
            <a:spLocks noGrp="1"/>
          </p:cNvSpPr>
          <p:nvPr>
            <p:ph type="title"/>
          </p:nvPr>
        </p:nvSpPr>
        <p:spPr>
          <a:xfrm>
            <a:off x="838199" y="365125"/>
            <a:ext cx="11353801" cy="1325563"/>
          </a:xfrm>
        </p:spPr>
        <p:txBody>
          <a:bodyPr/>
          <a:lstStyle/>
          <a:p>
            <a:r>
              <a:rPr lang="en-US" dirty="0">
                <a:solidFill>
                  <a:schemeClr val="bg1"/>
                </a:solidFill>
              </a:rPr>
              <a:t>Gilbert-Johnson-</a:t>
            </a:r>
            <a:r>
              <a:rPr lang="en-US" dirty="0" err="1">
                <a:solidFill>
                  <a:schemeClr val="bg1"/>
                </a:solidFill>
              </a:rPr>
              <a:t>Keerthi</a:t>
            </a:r>
            <a:r>
              <a:rPr lang="en-US" dirty="0">
                <a:solidFill>
                  <a:schemeClr val="bg1"/>
                </a:solidFill>
              </a:rPr>
              <a:t> Distance Algorithm (GJK)</a:t>
            </a:r>
          </a:p>
        </p:txBody>
      </p:sp>
    </p:spTree>
    <p:extLst>
      <p:ext uri="{BB962C8B-B14F-4D97-AF65-F5344CB8AC3E}">
        <p14:creationId xmlns:p14="http://schemas.microsoft.com/office/powerpoint/2010/main" val="3862249357"/>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495" name="Oval"/>
          <p:cNvSpPr/>
          <p:nvPr/>
        </p:nvSpPr>
        <p:spPr>
          <a:xfrm rot="19020000">
            <a:off x="6401271" y="3276110"/>
            <a:ext cx="2589610" cy="3045024"/>
          </a:xfrm>
          <a:prstGeom prst="ellipse">
            <a:avLst/>
          </a:prstGeom>
          <a:solidFill>
            <a:srgbClr val="E7B913"/>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496" name="Oval"/>
          <p:cNvSpPr/>
          <p:nvPr/>
        </p:nvSpPr>
        <p:spPr>
          <a:xfrm rot="19020000">
            <a:off x="7009909" y="3428188"/>
            <a:ext cx="910829" cy="1062634"/>
          </a:xfrm>
          <a:prstGeom prst="ellipse">
            <a:avLst/>
          </a:prstGeom>
          <a:gradFill>
            <a:gsLst>
              <a:gs pos="0">
                <a:srgbClr val="FFFB00"/>
              </a:gs>
              <a:gs pos="100000">
                <a:srgbClr val="E7B913"/>
              </a:gs>
            </a:gsLst>
            <a:path>
              <a:fillToRect l="50000" t="50000" r="50000" b="50000"/>
            </a:path>
          </a:gradFill>
          <a:ln w="57150"/>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500" name="Group"/>
          <p:cNvGrpSpPr/>
          <p:nvPr/>
        </p:nvGrpSpPr>
        <p:grpSpPr>
          <a:xfrm>
            <a:off x="2970610" y="3429000"/>
            <a:ext cx="1982391" cy="2893219"/>
            <a:chOff x="0" y="0"/>
            <a:chExt cx="2819400" cy="4114800"/>
          </a:xfrm>
        </p:grpSpPr>
        <p:sp>
          <p:nvSpPr>
            <p:cNvPr id="497" name="Shape"/>
            <p:cNvSpPr/>
            <p:nvPr/>
          </p:nvSpPr>
          <p:spPr>
            <a:xfrm>
              <a:off x="0" y="0"/>
              <a:ext cx="2819401" cy="411480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5" y="0"/>
                    <a:pt x="0" y="1209"/>
                    <a:pt x="0" y="2700"/>
                  </a:cubicBezTo>
                  <a:lnTo>
                    <a:pt x="0" y="18900"/>
                  </a:lnTo>
                  <a:cubicBezTo>
                    <a:pt x="0" y="20391"/>
                    <a:pt x="4835" y="21600"/>
                    <a:pt x="10800" y="21600"/>
                  </a:cubicBezTo>
                  <a:cubicBezTo>
                    <a:pt x="16765" y="21600"/>
                    <a:pt x="21600" y="20391"/>
                    <a:pt x="21600" y="18900"/>
                  </a:cubicBezTo>
                  <a:lnTo>
                    <a:pt x="21600" y="2700"/>
                  </a:lnTo>
                  <a:cubicBezTo>
                    <a:pt x="21600" y="1209"/>
                    <a:pt x="16765" y="0"/>
                    <a:pt x="10800" y="0"/>
                  </a:cubicBezTo>
                  <a:close/>
                </a:path>
              </a:pathLst>
            </a:custGeom>
            <a:solidFill>
              <a:srgbClr val="9C9E00"/>
            </a:solidFill>
            <a:ln w="57150" cap="flat">
              <a:solidFill>
                <a:srgbClr val="000000"/>
              </a:solidFill>
              <a:prstDash val="solid"/>
              <a:round/>
            </a:ln>
            <a:effectLst/>
          </p:spPr>
          <p:txBody>
            <a:bodyPr wrap="square" lIns="35719" tIns="35719" rIns="35719" bIns="35719" numCol="1" anchor="ctr">
              <a:noAutofit/>
            </a:bodyP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498" name="Oval"/>
            <p:cNvSpPr/>
            <p:nvPr/>
          </p:nvSpPr>
          <p:spPr>
            <a:xfrm>
              <a:off x="0" y="0"/>
              <a:ext cx="2819400" cy="1028700"/>
            </a:xfrm>
            <a:prstGeom prst="ellipse">
              <a:avLst/>
            </a:prstGeom>
            <a:solidFill>
              <a:srgbClr val="B1B246"/>
            </a:solidFill>
            <a:ln w="57150" cap="flat">
              <a:noFill/>
              <a:round/>
            </a:ln>
            <a:effectLst/>
          </p:spPr>
          <p:txBody>
            <a:bodyPr wrap="square" lIns="35719" tIns="35719" rIns="35719" bIns="35719" numCol="1" anchor="ctr">
              <a:noAutofit/>
            </a:bodyP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499" name="Line"/>
            <p:cNvSpPr/>
            <p:nvPr/>
          </p:nvSpPr>
          <p:spPr>
            <a:xfrm>
              <a:off x="0" y="514773"/>
              <a:ext cx="2819401" cy="51477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11929"/>
                    <a:pt x="4835" y="21600"/>
                    <a:pt x="10800" y="21600"/>
                  </a:cubicBezTo>
                  <a:cubicBezTo>
                    <a:pt x="16765" y="21600"/>
                    <a:pt x="21600" y="11929"/>
                    <a:pt x="21600" y="0"/>
                  </a:cubicBezTo>
                </a:path>
              </a:pathLst>
            </a:custGeom>
            <a:noFill/>
            <a:ln w="57150" cap="flat">
              <a:solidFill>
                <a:srgbClr val="000000"/>
              </a:solidFill>
              <a:prstDash val="solid"/>
              <a:round/>
            </a:ln>
            <a:effectLst/>
          </p:spPr>
          <p:txBody>
            <a:bodyPr wrap="square" lIns="35719" tIns="35719" rIns="35719" bIns="35719" numCol="1" anchor="ctr">
              <a:noAutofit/>
            </a:bodyP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sp>
        <p:nvSpPr>
          <p:cNvPr id="501" name="Line"/>
          <p:cNvSpPr/>
          <p:nvPr/>
        </p:nvSpPr>
        <p:spPr>
          <a:xfrm flipV="1">
            <a:off x="4964112" y="4846637"/>
            <a:ext cx="1375173" cy="232173"/>
          </a:xfrm>
          <a:prstGeom prst="line">
            <a:avLst/>
          </a:prstGeom>
          <a:ln w="57150" cap="rnd">
            <a:solidFill>
              <a:srgbClr val="FFFB00"/>
            </a:solidFill>
            <a:prstDash val="sysDot"/>
          </a:ln>
        </p:spPr>
        <p:txBody>
          <a:bodyPr lIns="35719" tIns="35719" rIns="35719" bIns="35719" anchor="ctr"/>
          <a:lstStyle/>
          <a:p>
            <a:endParaRPr sz="1266"/>
          </a:p>
        </p:txBody>
      </p:sp>
      <p:sp>
        <p:nvSpPr>
          <p:cNvPr id="503" name="Circle"/>
          <p:cNvSpPr/>
          <p:nvPr/>
        </p:nvSpPr>
        <p:spPr>
          <a:xfrm>
            <a:off x="4887913" y="4999038"/>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04" name="Circle"/>
          <p:cNvSpPr/>
          <p:nvPr/>
        </p:nvSpPr>
        <p:spPr>
          <a:xfrm>
            <a:off x="6259512" y="4770438"/>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505" name="image.pdf" descr="image.pdf"/>
          <p:cNvPicPr>
            <a:picLocks/>
          </p:cNvPicPr>
          <p:nvPr/>
        </p:nvPicPr>
        <p:blipFill>
          <a:blip r:embed="rId3">
            <a:extLst/>
          </a:blip>
          <a:stretch>
            <a:fillRect/>
          </a:stretch>
        </p:blipFill>
        <p:spPr>
          <a:xfrm>
            <a:off x="5345113" y="4383087"/>
            <a:ext cx="441326" cy="539751"/>
          </a:xfrm>
          <a:prstGeom prst="rect">
            <a:avLst/>
          </a:prstGeom>
          <a:ln w="12700">
            <a:miter lim="400000"/>
          </a:ln>
        </p:spPr>
      </p:pic>
      <p:pic>
        <p:nvPicPr>
          <p:cNvPr id="506" name="image.pdf" descr="image.pdf"/>
          <p:cNvPicPr>
            <a:picLocks/>
          </p:cNvPicPr>
          <p:nvPr/>
        </p:nvPicPr>
        <p:blipFill>
          <a:blip r:embed="rId4">
            <a:extLst/>
          </a:blip>
          <a:stretch>
            <a:fillRect/>
          </a:stretch>
        </p:blipFill>
        <p:spPr>
          <a:xfrm>
            <a:off x="4278312" y="4770438"/>
            <a:ext cx="588964" cy="687388"/>
          </a:xfrm>
          <a:prstGeom prst="rect">
            <a:avLst/>
          </a:prstGeom>
          <a:ln w="12700">
            <a:miter lim="400000"/>
          </a:ln>
        </p:spPr>
      </p:pic>
      <p:pic>
        <p:nvPicPr>
          <p:cNvPr id="507" name="image.pdf" descr="image.pdf"/>
          <p:cNvPicPr>
            <a:picLocks/>
          </p:cNvPicPr>
          <p:nvPr/>
        </p:nvPicPr>
        <p:blipFill>
          <a:blip r:embed="rId5">
            <a:extLst/>
          </a:blip>
          <a:stretch>
            <a:fillRect/>
          </a:stretch>
        </p:blipFill>
        <p:spPr>
          <a:xfrm>
            <a:off x="6411913" y="4465638"/>
            <a:ext cx="588963" cy="687587"/>
          </a:xfrm>
          <a:prstGeom prst="rect">
            <a:avLst/>
          </a:prstGeom>
          <a:ln w="12700">
            <a:miter lim="400000"/>
          </a:ln>
        </p:spPr>
      </p:pic>
      <p:sp>
        <p:nvSpPr>
          <p:cNvPr id="508" name="Generalized for arbitrary convex objects…"/>
          <p:cNvSpPr txBox="1">
            <a:spLocks noGrp="1"/>
          </p:cNvSpPr>
          <p:nvPr>
            <p:ph type="body" idx="1"/>
          </p:nvPr>
        </p:nvSpPr>
        <p:spPr>
          <a:prstGeom prst="rect">
            <a:avLst/>
          </a:prstGeom>
        </p:spPr>
        <p:txBody>
          <a:bodyPr/>
          <a:lstStyle/>
          <a:p>
            <a:pPr>
              <a:buClr>
                <a:srgbClr val="FFA900"/>
              </a:buClr>
              <a:buFont typeface="Arial"/>
            </a:pPr>
            <a:r>
              <a:rPr dirty="0">
                <a:solidFill>
                  <a:schemeClr val="bg1"/>
                </a:solidFill>
              </a:rPr>
              <a:t>Generalized for arbitrary convex objects</a:t>
            </a:r>
          </a:p>
          <a:p>
            <a:pPr lvl="1">
              <a:buClr>
                <a:srgbClr val="FFA900"/>
              </a:buClr>
              <a:buFont typeface="Arial"/>
            </a:pPr>
            <a:r>
              <a:rPr dirty="0">
                <a:solidFill>
                  <a:schemeClr val="bg1"/>
                </a:solidFill>
              </a:rPr>
              <a:t>As long as they can be described in terms of a </a:t>
            </a:r>
            <a:r>
              <a:rPr i="1" dirty="0">
                <a:solidFill>
                  <a:schemeClr val="bg1"/>
                </a:solidFill>
              </a:rPr>
              <a:t>support mapping</a:t>
            </a:r>
            <a:r>
              <a:rPr dirty="0">
                <a:solidFill>
                  <a:schemeClr val="bg1"/>
                </a:solidFill>
              </a:rPr>
              <a:t> function</a:t>
            </a:r>
          </a:p>
        </p:txBody>
      </p:sp>
      <p:sp>
        <p:nvSpPr>
          <p:cNvPr id="509" name="Oval"/>
          <p:cNvSpPr/>
          <p:nvPr/>
        </p:nvSpPr>
        <p:spPr>
          <a:xfrm>
            <a:off x="3274219" y="3509367"/>
            <a:ext cx="1062633" cy="455414"/>
          </a:xfrm>
          <a:prstGeom prst="ellipse">
            <a:avLst/>
          </a:prstGeom>
          <a:gradFill>
            <a:gsLst>
              <a:gs pos="0">
                <a:srgbClr val="EAE761">
                  <a:alpha val="63999"/>
                </a:srgbClr>
              </a:gs>
              <a:gs pos="100000">
                <a:srgbClr val="C0C336">
                  <a:alpha val="0"/>
                </a:srgbClr>
              </a:gs>
            </a:gsLst>
            <a:path>
              <a:fillToRect l="50000" t="50000" r="50000" b="50000"/>
            </a:path>
          </a:gra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383265542"/>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513" name="Line"/>
          <p:cNvSpPr/>
          <p:nvPr/>
        </p:nvSpPr>
        <p:spPr>
          <a:xfrm flipH="1" flipV="1">
            <a:off x="7774781" y="2134195"/>
            <a:ext cx="910828" cy="839391"/>
          </a:xfrm>
          <a:prstGeom prst="line">
            <a:avLst/>
          </a:prstGeom>
          <a:ln w="57150" cap="rnd">
            <a:solidFill>
              <a:srgbClr val="FFFB00"/>
            </a:solidFill>
            <a:prstDash val="sysDot"/>
          </a:ln>
        </p:spPr>
        <p:txBody>
          <a:bodyPr lIns="35719" tIns="35719" rIns="35719" bIns="35719" anchor="ctr"/>
          <a:lstStyle/>
          <a:p>
            <a:endParaRPr sz="1266"/>
          </a:p>
        </p:txBody>
      </p:sp>
      <p:sp>
        <p:nvSpPr>
          <p:cNvPr id="514" name="Circle"/>
          <p:cNvSpPr/>
          <p:nvPr/>
        </p:nvSpPr>
        <p:spPr>
          <a:xfrm>
            <a:off x="6399609" y="2286000"/>
            <a:ext cx="2205633" cy="2205633"/>
          </a:xfrm>
          <a:prstGeom prst="ellipse">
            <a:avLst/>
          </a:pr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15" name="Line"/>
          <p:cNvSpPr/>
          <p:nvPr/>
        </p:nvSpPr>
        <p:spPr>
          <a:xfrm flipH="1" flipV="1">
            <a:off x="4345781" y="1830586"/>
            <a:ext cx="910828" cy="839391"/>
          </a:xfrm>
          <a:prstGeom prst="line">
            <a:avLst/>
          </a:prstGeom>
          <a:ln w="57150" cap="rnd">
            <a:solidFill>
              <a:srgbClr val="FFFB00"/>
            </a:solidFill>
            <a:prstDash val="sysDot"/>
          </a:ln>
        </p:spPr>
        <p:txBody>
          <a:bodyPr lIns="35719" tIns="35719" rIns="35719" bIns="35719" anchor="ctr"/>
          <a:lstStyle/>
          <a:p>
            <a:endParaRPr sz="1266"/>
          </a:p>
        </p:txBody>
      </p:sp>
      <p:sp>
        <p:nvSpPr>
          <p:cNvPr id="516" name="Shape"/>
          <p:cNvSpPr/>
          <p:nvPr/>
        </p:nvSpPr>
        <p:spPr>
          <a:xfrm>
            <a:off x="2970609" y="2205633"/>
            <a:ext cx="2518172" cy="2366367"/>
          </a:xfrm>
          <a:custGeom>
            <a:avLst/>
            <a:gdLst/>
            <a:ahLst/>
            <a:cxnLst>
              <a:cxn ang="0">
                <a:pos x="wd2" y="hd2"/>
              </a:cxn>
              <a:cxn ang="5400000">
                <a:pos x="wd2" y="hd2"/>
              </a:cxn>
              <a:cxn ang="10800000">
                <a:pos x="wd2" y="hd2"/>
              </a:cxn>
              <a:cxn ang="16200000">
                <a:pos x="wd2" y="hd2"/>
              </a:cxn>
            </a:cxnLst>
            <a:rect l="0" t="0" r="r" b="b"/>
            <a:pathLst>
              <a:path w="21600" h="21600" extrusionOk="0">
                <a:moveTo>
                  <a:pt x="15709" y="0"/>
                </a:moveTo>
                <a:lnTo>
                  <a:pt x="21600" y="12542"/>
                </a:lnTo>
                <a:lnTo>
                  <a:pt x="15055" y="21600"/>
                </a:lnTo>
                <a:lnTo>
                  <a:pt x="6545" y="20206"/>
                </a:lnTo>
                <a:lnTo>
                  <a:pt x="1964" y="16026"/>
                </a:lnTo>
                <a:lnTo>
                  <a:pt x="0" y="6968"/>
                </a:lnTo>
                <a:lnTo>
                  <a:pt x="7855" y="697"/>
                </a:lnTo>
                <a:lnTo>
                  <a:pt x="15709" y="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18" name="Circle"/>
          <p:cNvSpPr/>
          <p:nvPr/>
        </p:nvSpPr>
        <p:spPr>
          <a:xfrm>
            <a:off x="2899172" y="2893219"/>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19" name="Circle"/>
          <p:cNvSpPr/>
          <p:nvPr/>
        </p:nvSpPr>
        <p:spPr>
          <a:xfrm>
            <a:off x="3122414" y="3884414"/>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20" name="Circle"/>
          <p:cNvSpPr/>
          <p:nvPr/>
        </p:nvSpPr>
        <p:spPr>
          <a:xfrm>
            <a:off x="4649390" y="4491633"/>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21" name="Circle"/>
          <p:cNvSpPr/>
          <p:nvPr/>
        </p:nvSpPr>
        <p:spPr>
          <a:xfrm>
            <a:off x="5408414" y="3509367"/>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22" name="Circle"/>
          <p:cNvSpPr/>
          <p:nvPr/>
        </p:nvSpPr>
        <p:spPr>
          <a:xfrm>
            <a:off x="4720828" y="2134195"/>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23" name="Circle"/>
          <p:cNvSpPr/>
          <p:nvPr/>
        </p:nvSpPr>
        <p:spPr>
          <a:xfrm>
            <a:off x="3810000" y="2205633"/>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24" name="Circle"/>
          <p:cNvSpPr/>
          <p:nvPr/>
        </p:nvSpPr>
        <p:spPr>
          <a:xfrm>
            <a:off x="3658195" y="433982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25" name="Supporting (or extreme) point"/>
          <p:cNvSpPr txBox="1"/>
          <p:nvPr/>
        </p:nvSpPr>
        <p:spPr>
          <a:xfrm>
            <a:off x="2292350" y="4804172"/>
            <a:ext cx="3966279" cy="440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p>
            <a:pPr marL="40638" marR="40638" defTabSz="910796">
              <a:buClr>
                <a:srgbClr val="FFFFFF"/>
              </a:buClr>
              <a:buFont typeface="Arial"/>
              <a:defRPr sz="2400">
                <a:solidFill>
                  <a:srgbClr val="FFFFFF"/>
                </a:solidFill>
                <a:uFill>
                  <a:solidFill>
                    <a:srgbClr val="FFFFFF"/>
                  </a:solidFill>
                </a:uFill>
                <a:latin typeface="+mn-lt"/>
                <a:ea typeface="+mn-ea"/>
                <a:cs typeface="+mn-cs"/>
                <a:sym typeface="Arial"/>
              </a:defRPr>
            </a:pPr>
            <a:r>
              <a:rPr sz="2391" b="1" u="sng"/>
              <a:t>Supporting</a:t>
            </a:r>
            <a:r>
              <a:rPr sz="2391" b="1"/>
              <a:t> (or </a:t>
            </a:r>
            <a:r>
              <a:rPr sz="2391" b="1" u="sng"/>
              <a:t>extreme</a:t>
            </a:r>
            <a:r>
              <a:rPr sz="2391" b="1"/>
              <a:t>) point</a:t>
            </a:r>
          </a:p>
        </p:txBody>
      </p:sp>
      <p:sp>
        <p:nvSpPr>
          <p:cNvPr id="526" name="Line"/>
          <p:cNvSpPr/>
          <p:nvPr/>
        </p:nvSpPr>
        <p:spPr>
          <a:xfrm flipV="1">
            <a:off x="1827609" y="2286000"/>
            <a:ext cx="1294805" cy="1375172"/>
          </a:xfrm>
          <a:prstGeom prst="line">
            <a:avLst/>
          </a:prstGeom>
          <a:ln w="57150">
            <a:solidFill>
              <a:srgbClr val="000000"/>
            </a:solidFill>
            <a:tailEnd type="triangle"/>
          </a:ln>
        </p:spPr>
        <p:txBody>
          <a:bodyPr lIns="35719" tIns="35719" rIns="35719" bIns="35719" anchor="ctr"/>
          <a:lstStyle/>
          <a:p>
            <a:endParaRPr sz="1266"/>
          </a:p>
        </p:txBody>
      </p:sp>
      <p:pic>
        <p:nvPicPr>
          <p:cNvPr id="527" name="image.pdf" descr="image.pdf"/>
          <p:cNvPicPr>
            <a:picLocks/>
          </p:cNvPicPr>
          <p:nvPr/>
        </p:nvPicPr>
        <p:blipFill>
          <a:blip r:embed="rId3">
            <a:extLst/>
          </a:blip>
          <a:stretch>
            <a:fillRect/>
          </a:stretch>
        </p:blipFill>
        <p:spPr>
          <a:xfrm>
            <a:off x="2078037" y="2518172"/>
            <a:ext cx="436563" cy="535782"/>
          </a:xfrm>
          <a:prstGeom prst="rect">
            <a:avLst/>
          </a:prstGeom>
          <a:ln w="12700">
            <a:miter lim="400000"/>
          </a:ln>
        </p:spPr>
      </p:pic>
      <p:pic>
        <p:nvPicPr>
          <p:cNvPr id="528" name="image.pdf" descr="image.pdf"/>
          <p:cNvPicPr>
            <a:picLocks/>
          </p:cNvPicPr>
          <p:nvPr/>
        </p:nvPicPr>
        <p:blipFill>
          <a:blip r:embed="rId4">
            <a:extLst/>
          </a:blip>
          <a:stretch>
            <a:fillRect/>
          </a:stretch>
        </p:blipFill>
        <p:spPr>
          <a:xfrm>
            <a:off x="4910138" y="1750219"/>
            <a:ext cx="1795463" cy="677863"/>
          </a:xfrm>
          <a:prstGeom prst="rect">
            <a:avLst/>
          </a:prstGeom>
          <a:ln w="12700">
            <a:miter lim="400000"/>
          </a:ln>
        </p:spPr>
      </p:pic>
      <p:pic>
        <p:nvPicPr>
          <p:cNvPr id="529" name="image.pdf" descr="image.pdf"/>
          <p:cNvPicPr>
            <a:picLocks/>
          </p:cNvPicPr>
          <p:nvPr/>
        </p:nvPicPr>
        <p:blipFill>
          <a:blip r:embed="rId5">
            <a:extLst/>
          </a:blip>
          <a:stretch>
            <a:fillRect/>
          </a:stretch>
        </p:blipFill>
        <p:spPr>
          <a:xfrm>
            <a:off x="6789738" y="4804172"/>
            <a:ext cx="449263" cy="450850"/>
          </a:xfrm>
          <a:prstGeom prst="rect">
            <a:avLst/>
          </a:prstGeom>
          <a:ln w="12700">
            <a:miter lim="400000"/>
          </a:ln>
        </p:spPr>
      </p:pic>
      <p:pic>
        <p:nvPicPr>
          <p:cNvPr id="530" name="image.pdf" descr="image.pdf"/>
          <p:cNvPicPr>
            <a:picLocks/>
          </p:cNvPicPr>
          <p:nvPr/>
        </p:nvPicPr>
        <p:blipFill>
          <a:blip r:embed="rId6">
            <a:extLst/>
          </a:blip>
          <a:stretch>
            <a:fillRect/>
          </a:stretch>
        </p:blipFill>
        <p:spPr>
          <a:xfrm>
            <a:off x="9031287" y="4804172"/>
            <a:ext cx="404813" cy="491133"/>
          </a:xfrm>
          <a:prstGeom prst="rect">
            <a:avLst/>
          </a:prstGeom>
          <a:ln w="12700">
            <a:miter lim="400000"/>
          </a:ln>
        </p:spPr>
      </p:pic>
      <p:sp>
        <p:nvSpPr>
          <p:cNvPr id="531" name="for direction"/>
          <p:cNvSpPr txBox="1"/>
          <p:nvPr/>
        </p:nvSpPr>
        <p:spPr>
          <a:xfrm>
            <a:off x="7158633" y="4804172"/>
            <a:ext cx="1833452" cy="440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lvl1pPr marL="57799" marR="57799" defTabSz="1295400">
              <a:buClr>
                <a:srgbClr val="FFFFFF"/>
              </a:buClr>
              <a:buFont typeface="Arial"/>
              <a:defRPr sz="3400" b="1">
                <a:solidFill>
                  <a:srgbClr val="FFFFFF"/>
                </a:solidFill>
                <a:uFill>
                  <a:solidFill>
                    <a:srgbClr val="FFFFFF"/>
                  </a:solidFill>
                </a:uFill>
                <a:latin typeface="+mn-lt"/>
                <a:ea typeface="+mn-ea"/>
                <a:cs typeface="+mn-cs"/>
                <a:sym typeface="Arial"/>
              </a:defRPr>
            </a:lvl1pPr>
          </a:lstStyle>
          <a:p>
            <a:r>
              <a:rPr sz="2391"/>
              <a:t>for direction </a:t>
            </a:r>
          </a:p>
        </p:txBody>
      </p:sp>
      <p:pic>
        <p:nvPicPr>
          <p:cNvPr id="532" name="image.pdf" descr="image.pdf"/>
          <p:cNvPicPr>
            <a:picLocks/>
          </p:cNvPicPr>
          <p:nvPr/>
        </p:nvPicPr>
        <p:blipFill>
          <a:blip r:embed="rId7">
            <a:extLst/>
          </a:blip>
          <a:stretch>
            <a:fillRect/>
          </a:stretch>
        </p:blipFill>
        <p:spPr>
          <a:xfrm>
            <a:off x="3933825" y="3125391"/>
            <a:ext cx="485776" cy="535782"/>
          </a:xfrm>
          <a:prstGeom prst="rect">
            <a:avLst/>
          </a:prstGeom>
          <a:ln w="12700">
            <a:miter lim="400000"/>
          </a:ln>
        </p:spPr>
      </p:pic>
      <p:pic>
        <p:nvPicPr>
          <p:cNvPr id="533" name="image.pdf" descr="image.pdf"/>
          <p:cNvPicPr>
            <a:picLocks/>
          </p:cNvPicPr>
          <p:nvPr/>
        </p:nvPicPr>
        <p:blipFill>
          <a:blip r:embed="rId8">
            <a:extLst/>
          </a:blip>
          <a:stretch>
            <a:fillRect/>
          </a:stretch>
        </p:blipFill>
        <p:spPr>
          <a:xfrm>
            <a:off x="8230195" y="5313362"/>
            <a:ext cx="991195" cy="630238"/>
          </a:xfrm>
          <a:prstGeom prst="rect">
            <a:avLst/>
          </a:prstGeom>
          <a:ln w="12700">
            <a:miter lim="400000"/>
          </a:ln>
        </p:spPr>
      </p:pic>
      <p:sp>
        <p:nvSpPr>
          <p:cNvPr id="534" name="returned by support mapping function"/>
          <p:cNvSpPr txBox="1"/>
          <p:nvPr/>
        </p:nvSpPr>
        <p:spPr>
          <a:xfrm>
            <a:off x="2586633" y="5331024"/>
            <a:ext cx="5042535" cy="440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p>
            <a:pPr marL="40638" marR="40638" defTabSz="910796">
              <a:buClr>
                <a:srgbClr val="FFFFFF"/>
              </a:buClr>
              <a:buFont typeface="Arial"/>
              <a:defRPr sz="2400">
                <a:solidFill>
                  <a:srgbClr val="FFFFFF"/>
                </a:solidFill>
                <a:uFill>
                  <a:solidFill>
                    <a:srgbClr val="FFFFFF"/>
                  </a:solidFill>
                </a:uFill>
                <a:latin typeface="+mn-lt"/>
                <a:ea typeface="+mn-ea"/>
                <a:cs typeface="+mn-cs"/>
                <a:sym typeface="Arial"/>
              </a:defRPr>
            </a:pPr>
            <a:r>
              <a:rPr sz="2391" b="1"/>
              <a:t>returned by </a:t>
            </a:r>
            <a:r>
              <a:rPr sz="2391" b="1" u="sng"/>
              <a:t>support mapping</a:t>
            </a:r>
            <a:r>
              <a:rPr sz="2391" b="1"/>
              <a:t> function</a:t>
            </a:r>
          </a:p>
        </p:txBody>
      </p:sp>
      <p:sp>
        <p:nvSpPr>
          <p:cNvPr id="535" name="Circle"/>
          <p:cNvSpPr/>
          <p:nvPr/>
        </p:nvSpPr>
        <p:spPr>
          <a:xfrm>
            <a:off x="8149828" y="2437805"/>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536" name="image.pdf" descr="image.pdf"/>
          <p:cNvPicPr>
            <a:picLocks/>
          </p:cNvPicPr>
          <p:nvPr/>
        </p:nvPicPr>
        <p:blipFill>
          <a:blip r:embed="rId4">
            <a:extLst/>
          </a:blip>
          <a:stretch>
            <a:fillRect/>
          </a:stretch>
        </p:blipFill>
        <p:spPr>
          <a:xfrm>
            <a:off x="8339138" y="2053828"/>
            <a:ext cx="1795463" cy="677863"/>
          </a:xfrm>
          <a:prstGeom prst="rect">
            <a:avLst/>
          </a:prstGeom>
          <a:ln w="12700">
            <a:miter lim="400000"/>
          </a:ln>
        </p:spPr>
      </p:pic>
      <p:pic>
        <p:nvPicPr>
          <p:cNvPr id="537" name="image.pdf" descr="image.pdf"/>
          <p:cNvPicPr>
            <a:picLocks/>
          </p:cNvPicPr>
          <p:nvPr/>
        </p:nvPicPr>
        <p:blipFill>
          <a:blip r:embed="rId7">
            <a:extLst/>
          </a:blip>
          <a:stretch>
            <a:fillRect/>
          </a:stretch>
        </p:blipFill>
        <p:spPr>
          <a:xfrm>
            <a:off x="7239000" y="3125391"/>
            <a:ext cx="485776" cy="535782"/>
          </a:xfrm>
          <a:prstGeom prst="rect">
            <a:avLst/>
          </a:prstGeom>
          <a:ln w="12700">
            <a:miter lim="400000"/>
          </a:ln>
        </p:spPr>
      </p:pic>
      <p:sp>
        <p:nvSpPr>
          <p:cNvPr id="2" name="Title 1"/>
          <p:cNvSpPr>
            <a:spLocks noGrp="1"/>
          </p:cNvSpPr>
          <p:nvPr>
            <p:ph type="title"/>
          </p:nvPr>
        </p:nvSpPr>
        <p:spPr/>
        <p:txBody>
          <a:bodyPr/>
          <a:lstStyle/>
          <a:p>
            <a:endParaRPr lang="en-US" dirty="0"/>
          </a:p>
        </p:txBody>
      </p:sp>
    </p:spTree>
    <p:extLst>
      <p:ext uri="{BB962C8B-B14F-4D97-AF65-F5344CB8AC3E}">
        <p14:creationId xmlns:p14="http://schemas.microsoft.com/office/powerpoint/2010/main" val="794411590"/>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542" name="0-simplex"/>
          <p:cNvSpPr txBox="1"/>
          <p:nvPr/>
        </p:nvSpPr>
        <p:spPr>
          <a:xfrm>
            <a:off x="2363391" y="4268391"/>
            <a:ext cx="1416734" cy="440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lvl1pPr marL="57799" marR="57799" defTabSz="1295400">
              <a:buClr>
                <a:srgbClr val="FFFFFF"/>
              </a:buClr>
              <a:buFont typeface="Arial"/>
              <a:defRPr sz="3400" b="1">
                <a:solidFill>
                  <a:srgbClr val="FFFFFF"/>
                </a:solidFill>
                <a:uFill>
                  <a:solidFill>
                    <a:srgbClr val="FFFFFF"/>
                  </a:solidFill>
                </a:uFill>
                <a:latin typeface="+mn-lt"/>
                <a:ea typeface="+mn-ea"/>
                <a:cs typeface="+mn-cs"/>
                <a:sym typeface="Arial"/>
              </a:defRPr>
            </a:lvl1pPr>
          </a:lstStyle>
          <a:p>
            <a:r>
              <a:rPr sz="2391"/>
              <a:t>0-simplex</a:t>
            </a:r>
          </a:p>
        </p:txBody>
      </p:sp>
      <p:sp>
        <p:nvSpPr>
          <p:cNvPr id="543" name="1-simplex"/>
          <p:cNvSpPr txBox="1"/>
          <p:nvPr/>
        </p:nvSpPr>
        <p:spPr>
          <a:xfrm>
            <a:off x="4113610" y="4268391"/>
            <a:ext cx="1416734" cy="440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lvl1pPr marL="57799" marR="57799" defTabSz="1295400">
              <a:buClr>
                <a:srgbClr val="FFFFFF"/>
              </a:buClr>
              <a:buFont typeface="Arial"/>
              <a:defRPr sz="3400" b="1">
                <a:solidFill>
                  <a:srgbClr val="FFFFFF"/>
                </a:solidFill>
                <a:uFill>
                  <a:solidFill>
                    <a:srgbClr val="FFFFFF"/>
                  </a:solidFill>
                </a:uFill>
                <a:latin typeface="+mn-lt"/>
                <a:ea typeface="+mn-ea"/>
                <a:cs typeface="+mn-cs"/>
                <a:sym typeface="Arial"/>
              </a:defRPr>
            </a:lvl1pPr>
          </a:lstStyle>
          <a:p>
            <a:r>
              <a:rPr sz="2391"/>
              <a:t>1-simplex</a:t>
            </a:r>
          </a:p>
        </p:txBody>
      </p:sp>
      <p:sp>
        <p:nvSpPr>
          <p:cNvPr id="544" name="2-simplex"/>
          <p:cNvSpPr txBox="1"/>
          <p:nvPr/>
        </p:nvSpPr>
        <p:spPr>
          <a:xfrm>
            <a:off x="5944196" y="4268391"/>
            <a:ext cx="1416734" cy="440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lvl1pPr marL="57799" marR="57799" defTabSz="1295400">
              <a:buClr>
                <a:srgbClr val="FFFFFF"/>
              </a:buClr>
              <a:buFont typeface="Arial"/>
              <a:defRPr sz="3400" b="1">
                <a:solidFill>
                  <a:srgbClr val="FFFFFF"/>
                </a:solidFill>
                <a:uFill>
                  <a:solidFill>
                    <a:srgbClr val="FFFFFF"/>
                  </a:solidFill>
                </a:uFill>
                <a:latin typeface="+mn-lt"/>
                <a:ea typeface="+mn-ea"/>
                <a:cs typeface="+mn-cs"/>
                <a:sym typeface="Arial"/>
              </a:defRPr>
            </a:lvl1pPr>
          </a:lstStyle>
          <a:p>
            <a:r>
              <a:rPr sz="2391"/>
              <a:t>2-simplex</a:t>
            </a:r>
          </a:p>
        </p:txBody>
      </p:sp>
      <p:sp>
        <p:nvSpPr>
          <p:cNvPr id="545" name="3-simplex"/>
          <p:cNvSpPr txBox="1"/>
          <p:nvPr/>
        </p:nvSpPr>
        <p:spPr>
          <a:xfrm>
            <a:off x="7926586" y="4268391"/>
            <a:ext cx="1416734" cy="440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lvl1pPr marL="57799" marR="57799" defTabSz="1295400">
              <a:buClr>
                <a:srgbClr val="FFFFFF"/>
              </a:buClr>
              <a:buFont typeface="Arial"/>
              <a:defRPr sz="3400" b="1">
                <a:solidFill>
                  <a:srgbClr val="FFFFFF"/>
                </a:solidFill>
                <a:uFill>
                  <a:solidFill>
                    <a:srgbClr val="FFFFFF"/>
                  </a:solidFill>
                </a:uFill>
                <a:latin typeface="+mn-lt"/>
                <a:ea typeface="+mn-ea"/>
                <a:cs typeface="+mn-cs"/>
                <a:sym typeface="Arial"/>
              </a:defRPr>
            </a:lvl1pPr>
          </a:lstStyle>
          <a:p>
            <a:r>
              <a:rPr sz="2391"/>
              <a:t>3-simplex</a:t>
            </a:r>
          </a:p>
        </p:txBody>
      </p:sp>
      <p:sp>
        <p:nvSpPr>
          <p:cNvPr id="546" name="Shape"/>
          <p:cNvSpPr/>
          <p:nvPr/>
        </p:nvSpPr>
        <p:spPr>
          <a:xfrm>
            <a:off x="7998023" y="2663825"/>
            <a:ext cx="1526977" cy="1526977"/>
          </a:xfrm>
          <a:custGeom>
            <a:avLst/>
            <a:gdLst/>
            <a:ahLst/>
            <a:cxnLst>
              <a:cxn ang="0">
                <a:pos x="wd2" y="hd2"/>
              </a:cxn>
              <a:cxn ang="5400000">
                <a:pos x="wd2" y="hd2"/>
              </a:cxn>
              <a:cxn ang="10800000">
                <a:pos x="wd2" y="hd2"/>
              </a:cxn>
              <a:cxn ang="16200000">
                <a:pos x="wd2" y="hd2"/>
              </a:cxn>
            </a:cxnLst>
            <a:rect l="0" t="0" r="r" b="b"/>
            <a:pathLst>
              <a:path w="21600" h="21600" extrusionOk="0">
                <a:moveTo>
                  <a:pt x="0" y="14040"/>
                </a:moveTo>
                <a:lnTo>
                  <a:pt x="9720" y="0"/>
                </a:lnTo>
                <a:lnTo>
                  <a:pt x="21600" y="11880"/>
                </a:lnTo>
                <a:lnTo>
                  <a:pt x="12960" y="21600"/>
                </a:lnTo>
                <a:lnTo>
                  <a:pt x="0" y="1404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47" name="Circle"/>
          <p:cNvSpPr/>
          <p:nvPr/>
        </p:nvSpPr>
        <p:spPr>
          <a:xfrm>
            <a:off x="7926586" y="3578225"/>
            <a:ext cx="151805" cy="151805"/>
          </a:xfrm>
          <a:prstGeom prst="ellipse">
            <a:avLst/>
          </a:prstGeom>
          <a:solidFill>
            <a:srgbClr val="000000"/>
          </a:solidFill>
          <a:ln>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48" name="Circle"/>
          <p:cNvSpPr/>
          <p:nvPr/>
        </p:nvSpPr>
        <p:spPr>
          <a:xfrm>
            <a:off x="8614172" y="2587625"/>
            <a:ext cx="151805" cy="151805"/>
          </a:xfrm>
          <a:prstGeom prst="ellipse">
            <a:avLst/>
          </a:prstGeom>
          <a:solidFill>
            <a:srgbClr val="000000"/>
          </a:solidFill>
          <a:ln>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49" name="Circle"/>
          <p:cNvSpPr/>
          <p:nvPr/>
        </p:nvSpPr>
        <p:spPr>
          <a:xfrm>
            <a:off x="8837414" y="4111625"/>
            <a:ext cx="151805" cy="151805"/>
          </a:xfrm>
          <a:prstGeom prst="ellipse">
            <a:avLst/>
          </a:prstGeom>
          <a:solidFill>
            <a:srgbClr val="000000"/>
          </a:solidFill>
          <a:ln>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50" name="Circle"/>
          <p:cNvSpPr/>
          <p:nvPr/>
        </p:nvSpPr>
        <p:spPr>
          <a:xfrm>
            <a:off x="9444633" y="3425825"/>
            <a:ext cx="151805" cy="151805"/>
          </a:xfrm>
          <a:prstGeom prst="ellipse">
            <a:avLst/>
          </a:prstGeom>
          <a:solidFill>
            <a:srgbClr val="000000"/>
          </a:solidFill>
          <a:ln>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51" name="Line"/>
          <p:cNvSpPr/>
          <p:nvPr/>
        </p:nvSpPr>
        <p:spPr>
          <a:xfrm flipV="1">
            <a:off x="7998023" y="3502026"/>
            <a:ext cx="1526977" cy="151805"/>
          </a:xfrm>
          <a:prstGeom prst="line">
            <a:avLst/>
          </a:prstGeom>
          <a:ln w="57150" cap="rnd">
            <a:solidFill>
              <a:srgbClr val="000000"/>
            </a:solidFill>
            <a:prstDash val="sysDot"/>
          </a:ln>
        </p:spPr>
        <p:txBody>
          <a:bodyPr lIns="35719" tIns="35719" rIns="35719" bIns="35719" anchor="ctr"/>
          <a:lstStyle/>
          <a:p>
            <a:endParaRPr sz="1266"/>
          </a:p>
        </p:txBody>
      </p:sp>
      <p:sp>
        <p:nvSpPr>
          <p:cNvPr id="552" name="Line"/>
          <p:cNvSpPr/>
          <p:nvPr/>
        </p:nvSpPr>
        <p:spPr>
          <a:xfrm>
            <a:off x="8685609" y="2663825"/>
            <a:ext cx="232172" cy="1526977"/>
          </a:xfrm>
          <a:prstGeom prst="line">
            <a:avLst/>
          </a:prstGeom>
          <a:ln w="57150">
            <a:solidFill>
              <a:srgbClr val="000000"/>
            </a:solidFill>
          </a:ln>
        </p:spPr>
        <p:txBody>
          <a:bodyPr lIns="35719" tIns="35719" rIns="35719" bIns="35719" anchor="ctr"/>
          <a:lstStyle/>
          <a:p>
            <a:endParaRPr sz="1266"/>
          </a:p>
        </p:txBody>
      </p:sp>
      <p:sp>
        <p:nvSpPr>
          <p:cNvPr id="553" name="Triangle"/>
          <p:cNvSpPr/>
          <p:nvPr/>
        </p:nvSpPr>
        <p:spPr>
          <a:xfrm>
            <a:off x="6176367" y="2663825"/>
            <a:ext cx="1062633" cy="122336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343" y="0"/>
                </a:lnTo>
                <a:lnTo>
                  <a:pt x="21600" y="17550"/>
                </a:lnTo>
                <a:lnTo>
                  <a:pt x="0" y="2160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54" name="Circle"/>
          <p:cNvSpPr/>
          <p:nvPr/>
        </p:nvSpPr>
        <p:spPr>
          <a:xfrm>
            <a:off x="3050976" y="3197225"/>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55" name="Circle"/>
          <p:cNvSpPr/>
          <p:nvPr/>
        </p:nvSpPr>
        <p:spPr>
          <a:xfrm>
            <a:off x="4345781" y="3806825"/>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56" name="Circle"/>
          <p:cNvSpPr/>
          <p:nvPr/>
        </p:nvSpPr>
        <p:spPr>
          <a:xfrm>
            <a:off x="5185172" y="2587625"/>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57" name="Circle"/>
          <p:cNvSpPr/>
          <p:nvPr/>
        </p:nvSpPr>
        <p:spPr>
          <a:xfrm>
            <a:off x="6096000" y="3806825"/>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58" name="Circle"/>
          <p:cNvSpPr/>
          <p:nvPr/>
        </p:nvSpPr>
        <p:spPr>
          <a:xfrm>
            <a:off x="6703219" y="2587625"/>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59" name="Circle"/>
          <p:cNvSpPr/>
          <p:nvPr/>
        </p:nvSpPr>
        <p:spPr>
          <a:xfrm>
            <a:off x="7158633" y="3578225"/>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60" name="Line"/>
          <p:cNvSpPr/>
          <p:nvPr/>
        </p:nvSpPr>
        <p:spPr>
          <a:xfrm flipV="1">
            <a:off x="4417219" y="2663825"/>
            <a:ext cx="839391" cy="1223368"/>
          </a:xfrm>
          <a:prstGeom prst="line">
            <a:avLst/>
          </a:prstGeom>
          <a:ln w="57150">
            <a:solidFill>
              <a:srgbClr val="000000"/>
            </a:solidFill>
          </a:ln>
        </p:spPr>
        <p:txBody>
          <a:bodyPr lIns="35719" tIns="35719" rIns="35719" bIns="35719" anchor="ctr"/>
          <a:lstStyle/>
          <a:p>
            <a:endParaRPr sz="1266"/>
          </a:p>
        </p:txBody>
      </p:sp>
      <p:sp>
        <p:nvSpPr>
          <p:cNvPr id="561" name="Line"/>
          <p:cNvSpPr/>
          <p:nvPr/>
        </p:nvSpPr>
        <p:spPr>
          <a:xfrm rot="5400000">
            <a:off x="5658445" y="1509117"/>
            <a:ext cx="571500" cy="716160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806"/>
                  <a:pt x="10800" y="1800"/>
                </a:cubicBezTo>
                <a:lnTo>
                  <a:pt x="10800" y="9000"/>
                </a:lnTo>
                <a:cubicBezTo>
                  <a:pt x="10800" y="9994"/>
                  <a:pt x="15635" y="10800"/>
                  <a:pt x="21600" y="10800"/>
                </a:cubicBezTo>
                <a:cubicBezTo>
                  <a:pt x="15635" y="10800"/>
                  <a:pt x="10800" y="11606"/>
                  <a:pt x="10800" y="12600"/>
                </a:cubicBezTo>
                <a:lnTo>
                  <a:pt x="10800" y="19800"/>
                </a:lnTo>
                <a:cubicBezTo>
                  <a:pt x="10800" y="20794"/>
                  <a:pt x="5965" y="21600"/>
                  <a:pt x="0" y="21600"/>
                </a:cubicBezTo>
              </a:path>
            </a:pathLst>
          </a:custGeom>
          <a:ln w="57150">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62" name="simplex"/>
          <p:cNvSpPr txBox="1"/>
          <p:nvPr/>
        </p:nvSpPr>
        <p:spPr>
          <a:xfrm>
            <a:off x="5310188" y="5482829"/>
            <a:ext cx="1166666" cy="440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spAutoFit/>
          </a:bodyPr>
          <a:lstStyle>
            <a:lvl1pPr marL="57799" marR="57799" defTabSz="1295400">
              <a:buClr>
                <a:srgbClr val="FFFFFF"/>
              </a:buClr>
              <a:buFont typeface="Arial"/>
              <a:defRPr sz="3400" b="1">
                <a:solidFill>
                  <a:srgbClr val="FFFFFF"/>
                </a:solidFill>
                <a:uFill>
                  <a:solidFill>
                    <a:srgbClr val="FFFFFF"/>
                  </a:solidFill>
                </a:uFill>
                <a:latin typeface="+mn-lt"/>
                <a:ea typeface="+mn-ea"/>
                <a:cs typeface="+mn-cs"/>
                <a:sym typeface="Arial"/>
              </a:defRPr>
            </a:lvl1pPr>
          </a:lstStyle>
          <a:p>
            <a:r>
              <a:rPr sz="2391"/>
              <a:t>simplex</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029860698"/>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71740" name="Freeform 60"/>
          <p:cNvSpPr>
            <a:spLocks/>
          </p:cNvSpPr>
          <p:nvPr/>
        </p:nvSpPr>
        <p:spPr bwMode="auto">
          <a:xfrm>
            <a:off x="6505575" y="2438400"/>
            <a:ext cx="1905000" cy="1600200"/>
          </a:xfrm>
          <a:custGeom>
            <a:avLst/>
            <a:gdLst>
              <a:gd name="T0" fmla="*/ 528 w 1200"/>
              <a:gd name="T1" fmla="*/ 0 h 1008"/>
              <a:gd name="T2" fmla="*/ 1008 w 1200"/>
              <a:gd name="T3" fmla="*/ 240 h 1008"/>
              <a:gd name="T4" fmla="*/ 1200 w 1200"/>
              <a:gd name="T5" fmla="*/ 672 h 1008"/>
              <a:gd name="T6" fmla="*/ 816 w 1200"/>
              <a:gd name="T7" fmla="*/ 1008 h 1008"/>
              <a:gd name="T8" fmla="*/ 192 w 1200"/>
              <a:gd name="T9" fmla="*/ 912 h 1008"/>
              <a:gd name="T10" fmla="*/ 0 w 1200"/>
              <a:gd name="T11" fmla="*/ 672 h 1008"/>
              <a:gd name="T12" fmla="*/ 48 w 1200"/>
              <a:gd name="T13" fmla="*/ 288 h 1008"/>
              <a:gd name="T14" fmla="*/ 528 w 1200"/>
              <a:gd name="T15" fmla="*/ 0 h 10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0" h="1008">
                <a:moveTo>
                  <a:pt x="528" y="0"/>
                </a:moveTo>
                <a:lnTo>
                  <a:pt x="1008" y="240"/>
                </a:lnTo>
                <a:lnTo>
                  <a:pt x="1200" y="672"/>
                </a:lnTo>
                <a:lnTo>
                  <a:pt x="816" y="1008"/>
                </a:lnTo>
                <a:lnTo>
                  <a:pt x="192" y="912"/>
                </a:lnTo>
                <a:lnTo>
                  <a:pt x="0" y="672"/>
                </a:lnTo>
                <a:lnTo>
                  <a:pt x="48" y="288"/>
                </a:lnTo>
                <a:lnTo>
                  <a:pt x="528" y="0"/>
                </a:lnTo>
                <a:close/>
              </a:path>
            </a:pathLst>
          </a:custGeom>
          <a:solidFill>
            <a:schemeClr val="accent1"/>
          </a:solidFill>
          <a:ln w="57150"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22" name="Oval 42"/>
          <p:cNvSpPr>
            <a:spLocks noChangeArrowheads="1"/>
          </p:cNvSpPr>
          <p:nvPr/>
        </p:nvSpPr>
        <p:spPr bwMode="auto">
          <a:xfrm>
            <a:off x="3200400" y="28194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23" name="Oval 43"/>
          <p:cNvSpPr>
            <a:spLocks noChangeArrowheads="1"/>
          </p:cNvSpPr>
          <p:nvPr/>
        </p:nvSpPr>
        <p:spPr bwMode="auto">
          <a:xfrm>
            <a:off x="3124200" y="34290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24" name="Oval 44"/>
          <p:cNvSpPr>
            <a:spLocks noChangeArrowheads="1"/>
          </p:cNvSpPr>
          <p:nvPr/>
        </p:nvSpPr>
        <p:spPr bwMode="auto">
          <a:xfrm>
            <a:off x="4419600" y="39624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25" name="Oval 45"/>
          <p:cNvSpPr>
            <a:spLocks noChangeArrowheads="1"/>
          </p:cNvSpPr>
          <p:nvPr/>
        </p:nvSpPr>
        <p:spPr bwMode="auto">
          <a:xfrm>
            <a:off x="4114800" y="30480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26" name="Oval 46"/>
          <p:cNvSpPr>
            <a:spLocks noChangeArrowheads="1"/>
          </p:cNvSpPr>
          <p:nvPr/>
        </p:nvSpPr>
        <p:spPr bwMode="auto">
          <a:xfrm>
            <a:off x="5029200" y="34290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27" name="Oval 47"/>
          <p:cNvSpPr>
            <a:spLocks noChangeArrowheads="1"/>
          </p:cNvSpPr>
          <p:nvPr/>
        </p:nvSpPr>
        <p:spPr bwMode="auto">
          <a:xfrm>
            <a:off x="4724400" y="27432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28" name="Oval 48"/>
          <p:cNvSpPr>
            <a:spLocks noChangeArrowheads="1"/>
          </p:cNvSpPr>
          <p:nvPr/>
        </p:nvSpPr>
        <p:spPr bwMode="auto">
          <a:xfrm>
            <a:off x="3962400" y="23622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29" name="Oval 49"/>
          <p:cNvSpPr>
            <a:spLocks noChangeArrowheads="1"/>
          </p:cNvSpPr>
          <p:nvPr/>
        </p:nvSpPr>
        <p:spPr bwMode="auto">
          <a:xfrm>
            <a:off x="3429000" y="38100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0" name="Oval 50"/>
          <p:cNvSpPr>
            <a:spLocks noChangeArrowheads="1"/>
          </p:cNvSpPr>
          <p:nvPr/>
        </p:nvSpPr>
        <p:spPr bwMode="auto">
          <a:xfrm>
            <a:off x="4495800" y="33528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1" name="Oval 51"/>
          <p:cNvSpPr>
            <a:spLocks noChangeArrowheads="1"/>
          </p:cNvSpPr>
          <p:nvPr/>
        </p:nvSpPr>
        <p:spPr bwMode="auto">
          <a:xfrm>
            <a:off x="6505575" y="28194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2" name="Oval 52"/>
          <p:cNvSpPr>
            <a:spLocks noChangeArrowheads="1"/>
          </p:cNvSpPr>
          <p:nvPr/>
        </p:nvSpPr>
        <p:spPr bwMode="auto">
          <a:xfrm>
            <a:off x="6429375" y="34290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3" name="Oval 53"/>
          <p:cNvSpPr>
            <a:spLocks noChangeArrowheads="1"/>
          </p:cNvSpPr>
          <p:nvPr/>
        </p:nvSpPr>
        <p:spPr bwMode="auto">
          <a:xfrm>
            <a:off x="7724775" y="39624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4" name="Oval 54"/>
          <p:cNvSpPr>
            <a:spLocks noChangeArrowheads="1"/>
          </p:cNvSpPr>
          <p:nvPr/>
        </p:nvSpPr>
        <p:spPr bwMode="auto">
          <a:xfrm>
            <a:off x="7419975" y="30480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5" name="Oval 55"/>
          <p:cNvSpPr>
            <a:spLocks noChangeArrowheads="1"/>
          </p:cNvSpPr>
          <p:nvPr/>
        </p:nvSpPr>
        <p:spPr bwMode="auto">
          <a:xfrm>
            <a:off x="8334375" y="34290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6" name="Oval 56"/>
          <p:cNvSpPr>
            <a:spLocks noChangeArrowheads="1"/>
          </p:cNvSpPr>
          <p:nvPr/>
        </p:nvSpPr>
        <p:spPr bwMode="auto">
          <a:xfrm>
            <a:off x="8029575" y="27432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7" name="Oval 57"/>
          <p:cNvSpPr>
            <a:spLocks noChangeArrowheads="1"/>
          </p:cNvSpPr>
          <p:nvPr/>
        </p:nvSpPr>
        <p:spPr bwMode="auto">
          <a:xfrm>
            <a:off x="7267575" y="23622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8" name="Oval 58"/>
          <p:cNvSpPr>
            <a:spLocks noChangeArrowheads="1"/>
          </p:cNvSpPr>
          <p:nvPr/>
        </p:nvSpPr>
        <p:spPr bwMode="auto">
          <a:xfrm>
            <a:off x="6734175" y="38100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9" name="Oval 59"/>
          <p:cNvSpPr>
            <a:spLocks noChangeArrowheads="1"/>
          </p:cNvSpPr>
          <p:nvPr/>
        </p:nvSpPr>
        <p:spPr bwMode="auto">
          <a:xfrm>
            <a:off x="7800975" y="3352800"/>
            <a:ext cx="1524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41" name="Text Box 61"/>
          <p:cNvSpPr txBox="1">
            <a:spLocks noChangeArrowheads="1"/>
          </p:cNvSpPr>
          <p:nvPr/>
        </p:nvSpPr>
        <p:spPr bwMode="auto">
          <a:xfrm>
            <a:off x="3200401" y="4284664"/>
            <a:ext cx="15356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Point set </a:t>
            </a:r>
            <a:r>
              <a:rPr lang="en-US" altLang="en-US" sz="2400" b="1" i="1"/>
              <a:t>C</a:t>
            </a:r>
          </a:p>
        </p:txBody>
      </p:sp>
      <p:sp>
        <p:nvSpPr>
          <p:cNvPr id="71742" name="Text Box 62"/>
          <p:cNvSpPr txBox="1">
            <a:spLocks noChangeArrowheads="1"/>
          </p:cNvSpPr>
          <p:nvPr/>
        </p:nvSpPr>
        <p:spPr bwMode="auto">
          <a:xfrm>
            <a:off x="6048376" y="4284664"/>
            <a:ext cx="2517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Convex hull, CH(</a:t>
            </a:r>
            <a:r>
              <a:rPr lang="en-US" altLang="en-US" sz="2400" b="1" i="1"/>
              <a:t>C</a:t>
            </a:r>
            <a:r>
              <a:rPr lang="en-US" altLang="en-US" sz="2400" b="1"/>
              <a:t>)</a:t>
            </a:r>
          </a:p>
        </p:txBody>
      </p:sp>
      <p:sp>
        <p:nvSpPr>
          <p:cNvPr id="2" name="Title 1"/>
          <p:cNvSpPr>
            <a:spLocks noGrp="1"/>
          </p:cNvSpPr>
          <p:nvPr>
            <p:ph type="title"/>
          </p:nvPr>
        </p:nvSpPr>
        <p:spPr/>
        <p:txBody>
          <a:bodyPr/>
          <a:lstStyle/>
          <a:p>
            <a:endParaRPr lang="en-US" dirty="0"/>
          </a:p>
        </p:txBody>
      </p:sp>
    </p:spTree>
    <p:extLst>
      <p:ext uri="{BB962C8B-B14F-4D97-AF65-F5344CB8AC3E}">
        <p14:creationId xmlns:p14="http://schemas.microsoft.com/office/powerpoint/2010/main" val="377732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566" name="The GJK algorithm"/>
          <p:cNvSpPr txBox="1">
            <a:spLocks noGrp="1"/>
          </p:cNvSpPr>
          <p:nvPr>
            <p:ph type="title"/>
          </p:nvPr>
        </p:nvSpPr>
        <p:spPr>
          <a:xfrm>
            <a:off x="1979414" y="168275"/>
            <a:ext cx="6402586" cy="1355726"/>
          </a:xfrm>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The GJK algorithm</a:t>
            </a:r>
          </a:p>
        </p:txBody>
      </p:sp>
      <p:sp>
        <p:nvSpPr>
          <p:cNvPr id="567" name="Initialize the simplex set Q with up to d+1 points from C (in d dimensions)…"/>
          <p:cNvSpPr txBox="1">
            <a:spLocks noGrp="1"/>
          </p:cNvSpPr>
          <p:nvPr>
            <p:ph type="body" idx="1"/>
          </p:nvPr>
        </p:nvSpPr>
        <p:spPr>
          <a:xfrm>
            <a:off x="1979414" y="1526977"/>
            <a:ext cx="8233172" cy="5331023"/>
          </a:xfrm>
          <a:prstGeom prst="rect">
            <a:avLst/>
          </a:prstGeom>
        </p:spPr>
        <p:txBody>
          <a:bodyPr>
            <a:normAutofit/>
          </a:bodyPr>
          <a:lstStyle/>
          <a:p>
            <a:pPr marL="398736" indent="-370162">
              <a:lnSpc>
                <a:spcPct val="80000"/>
              </a:lnSpc>
              <a:spcBef>
                <a:spcPts val="2391"/>
              </a:spcBef>
              <a:buClr>
                <a:srgbClr val="FFA900"/>
              </a:buClr>
              <a:buFont typeface="Arial"/>
              <a:buAutoNum type="arabicPeriod"/>
            </a:pPr>
            <a:r>
              <a:rPr sz="2400" dirty="0">
                <a:solidFill>
                  <a:schemeClr val="bg1"/>
                </a:solidFill>
              </a:rPr>
              <a:t>Initialize the simplex set </a:t>
            </a:r>
            <a:r>
              <a:rPr sz="2400" i="1" dirty="0">
                <a:solidFill>
                  <a:schemeClr val="bg1"/>
                </a:solidFill>
              </a:rPr>
              <a:t>Q</a:t>
            </a:r>
            <a:r>
              <a:rPr sz="2400" dirty="0">
                <a:solidFill>
                  <a:schemeClr val="bg1"/>
                </a:solidFill>
              </a:rPr>
              <a:t> with up to </a:t>
            </a:r>
            <a:r>
              <a:rPr sz="2400" i="1" dirty="0">
                <a:solidFill>
                  <a:schemeClr val="bg1"/>
                </a:solidFill>
              </a:rPr>
              <a:t>d</a:t>
            </a:r>
            <a:r>
              <a:rPr sz="2400" dirty="0">
                <a:solidFill>
                  <a:schemeClr val="bg1"/>
                </a:solidFill>
              </a:rPr>
              <a:t>+1 points from </a:t>
            </a:r>
            <a:r>
              <a:rPr sz="2400" i="1" dirty="0">
                <a:solidFill>
                  <a:schemeClr val="bg1"/>
                </a:solidFill>
              </a:rPr>
              <a:t>C</a:t>
            </a:r>
            <a:r>
              <a:rPr sz="2400" dirty="0">
                <a:solidFill>
                  <a:schemeClr val="bg1"/>
                </a:solidFill>
              </a:rPr>
              <a:t> (in </a:t>
            </a:r>
            <a:r>
              <a:rPr sz="2400" i="1" dirty="0">
                <a:solidFill>
                  <a:schemeClr val="bg1"/>
                </a:solidFill>
              </a:rPr>
              <a:t>d</a:t>
            </a:r>
            <a:r>
              <a:rPr sz="2400" dirty="0">
                <a:solidFill>
                  <a:schemeClr val="bg1"/>
                </a:solidFill>
              </a:rPr>
              <a:t> dimensions)</a:t>
            </a:r>
          </a:p>
          <a:p>
            <a:pPr marL="398736" indent="-370162">
              <a:lnSpc>
                <a:spcPct val="80000"/>
              </a:lnSpc>
              <a:spcBef>
                <a:spcPts val="2391"/>
              </a:spcBef>
              <a:buClr>
                <a:srgbClr val="FFA900"/>
              </a:buClr>
              <a:buFont typeface="Arial"/>
              <a:buAutoNum type="arabicPeriod"/>
            </a:pPr>
            <a:r>
              <a:rPr sz="2400" dirty="0">
                <a:solidFill>
                  <a:schemeClr val="bg1"/>
                </a:solidFill>
              </a:rPr>
              <a:t>Compute point </a:t>
            </a:r>
            <a:r>
              <a:rPr sz="2400" i="1" dirty="0">
                <a:solidFill>
                  <a:schemeClr val="bg1"/>
                </a:solidFill>
              </a:rPr>
              <a:t>P</a:t>
            </a:r>
            <a:r>
              <a:rPr sz="2400" dirty="0">
                <a:solidFill>
                  <a:schemeClr val="bg1"/>
                </a:solidFill>
              </a:rPr>
              <a:t> of minimum norm in CH(</a:t>
            </a:r>
            <a:r>
              <a:rPr sz="2400" i="1" dirty="0">
                <a:solidFill>
                  <a:schemeClr val="bg1"/>
                </a:solidFill>
              </a:rPr>
              <a:t>Q</a:t>
            </a:r>
            <a:r>
              <a:rPr sz="2400" dirty="0">
                <a:solidFill>
                  <a:schemeClr val="bg1"/>
                </a:solidFill>
              </a:rPr>
              <a:t>)</a:t>
            </a:r>
          </a:p>
          <a:p>
            <a:pPr marL="398736" indent="-370162">
              <a:lnSpc>
                <a:spcPct val="80000"/>
              </a:lnSpc>
              <a:spcBef>
                <a:spcPts val="2391"/>
              </a:spcBef>
              <a:buClr>
                <a:srgbClr val="FFA900"/>
              </a:buClr>
              <a:buFont typeface="Arial"/>
              <a:buAutoNum type="arabicPeriod"/>
            </a:pPr>
            <a:r>
              <a:rPr sz="2400" dirty="0">
                <a:solidFill>
                  <a:schemeClr val="bg1"/>
                </a:solidFill>
              </a:rPr>
              <a:t>If </a:t>
            </a:r>
            <a:r>
              <a:rPr sz="2400" i="1" dirty="0">
                <a:solidFill>
                  <a:schemeClr val="bg1"/>
                </a:solidFill>
              </a:rPr>
              <a:t>P</a:t>
            </a:r>
            <a:r>
              <a:rPr sz="2400" dirty="0">
                <a:solidFill>
                  <a:schemeClr val="bg1"/>
                </a:solidFill>
              </a:rPr>
              <a:t> is the origin, exit; return 0</a:t>
            </a:r>
          </a:p>
          <a:p>
            <a:pPr marL="398736" indent="-370162">
              <a:lnSpc>
                <a:spcPct val="80000"/>
              </a:lnSpc>
              <a:spcBef>
                <a:spcPts val="2391"/>
              </a:spcBef>
              <a:buClr>
                <a:srgbClr val="FFA900"/>
              </a:buClr>
              <a:buFont typeface="Arial"/>
              <a:buAutoNum type="arabicPeriod"/>
            </a:pPr>
            <a:r>
              <a:rPr sz="2400" dirty="0">
                <a:solidFill>
                  <a:schemeClr val="bg1"/>
                </a:solidFill>
              </a:rPr>
              <a:t>Reduce </a:t>
            </a:r>
            <a:r>
              <a:rPr sz="2400" i="1" dirty="0">
                <a:solidFill>
                  <a:schemeClr val="bg1"/>
                </a:solidFill>
              </a:rPr>
              <a:t>Q</a:t>
            </a:r>
            <a:r>
              <a:rPr sz="2400" dirty="0">
                <a:solidFill>
                  <a:schemeClr val="bg1"/>
                </a:solidFill>
              </a:rPr>
              <a:t> to the smallest subset </a:t>
            </a:r>
            <a:r>
              <a:rPr sz="2400" i="1" dirty="0">
                <a:solidFill>
                  <a:schemeClr val="bg1"/>
                </a:solidFill>
              </a:rPr>
              <a:t>Q</a:t>
            </a:r>
            <a:r>
              <a:rPr sz="2400" dirty="0">
                <a:solidFill>
                  <a:schemeClr val="bg1"/>
                </a:solidFill>
              </a:rPr>
              <a:t>’ of </a:t>
            </a:r>
            <a:r>
              <a:rPr sz="2400" i="1" dirty="0">
                <a:solidFill>
                  <a:schemeClr val="bg1"/>
                </a:solidFill>
              </a:rPr>
              <a:t>Q</a:t>
            </a:r>
            <a:r>
              <a:rPr sz="2400" dirty="0">
                <a:solidFill>
                  <a:schemeClr val="bg1"/>
                </a:solidFill>
              </a:rPr>
              <a:t>, such that </a:t>
            </a:r>
            <a:r>
              <a:rPr sz="2400" i="1" dirty="0">
                <a:solidFill>
                  <a:schemeClr val="bg1"/>
                </a:solidFill>
              </a:rPr>
              <a:t>P</a:t>
            </a:r>
            <a:r>
              <a:rPr sz="2400" dirty="0">
                <a:solidFill>
                  <a:schemeClr val="bg1"/>
                </a:solidFill>
              </a:rPr>
              <a:t> in CH(</a:t>
            </a:r>
            <a:r>
              <a:rPr sz="2400" i="1" dirty="0">
                <a:solidFill>
                  <a:schemeClr val="bg1"/>
                </a:solidFill>
              </a:rPr>
              <a:t>Q</a:t>
            </a:r>
            <a:r>
              <a:rPr sz="2400" dirty="0">
                <a:solidFill>
                  <a:schemeClr val="bg1"/>
                </a:solidFill>
              </a:rPr>
              <a:t>’)</a:t>
            </a:r>
          </a:p>
          <a:p>
            <a:pPr marL="398736" indent="-370162">
              <a:lnSpc>
                <a:spcPct val="80000"/>
              </a:lnSpc>
              <a:spcBef>
                <a:spcPts val="2391"/>
              </a:spcBef>
              <a:buClr>
                <a:srgbClr val="FFA900"/>
              </a:buClr>
              <a:buFont typeface="Arial"/>
              <a:buAutoNum type="arabicPeriod"/>
            </a:pPr>
            <a:r>
              <a:rPr sz="2400" dirty="0">
                <a:solidFill>
                  <a:schemeClr val="bg1"/>
                </a:solidFill>
              </a:rPr>
              <a:t>Let </a:t>
            </a:r>
            <a:r>
              <a:rPr sz="2400" i="1" dirty="0">
                <a:solidFill>
                  <a:schemeClr val="bg1"/>
                </a:solidFill>
              </a:rPr>
              <a:t>V</a:t>
            </a:r>
            <a:r>
              <a:rPr sz="2400" dirty="0">
                <a:solidFill>
                  <a:schemeClr val="bg1"/>
                </a:solidFill>
              </a:rPr>
              <a:t>=</a:t>
            </a:r>
            <a:r>
              <a:rPr sz="2400" i="1" dirty="0">
                <a:solidFill>
                  <a:schemeClr val="bg1"/>
                </a:solidFill>
              </a:rPr>
              <a:t>S</a:t>
            </a:r>
            <a:r>
              <a:rPr sz="2400" i="1" baseline="-20000" dirty="0">
                <a:solidFill>
                  <a:schemeClr val="bg1"/>
                </a:solidFill>
              </a:rPr>
              <a:t>C</a:t>
            </a:r>
            <a:r>
              <a:rPr sz="2400" dirty="0">
                <a:solidFill>
                  <a:schemeClr val="bg1"/>
                </a:solidFill>
              </a:rPr>
              <a:t>(–</a:t>
            </a:r>
            <a:r>
              <a:rPr sz="2400" i="1" dirty="0">
                <a:solidFill>
                  <a:schemeClr val="bg1"/>
                </a:solidFill>
              </a:rPr>
              <a:t>P</a:t>
            </a:r>
            <a:r>
              <a:rPr sz="2400" dirty="0">
                <a:solidFill>
                  <a:schemeClr val="bg1"/>
                </a:solidFill>
              </a:rPr>
              <a:t>) be a supporting point in direction –</a:t>
            </a:r>
            <a:r>
              <a:rPr sz="2400" i="1" dirty="0">
                <a:solidFill>
                  <a:schemeClr val="bg1"/>
                </a:solidFill>
              </a:rPr>
              <a:t>P</a:t>
            </a:r>
          </a:p>
          <a:p>
            <a:pPr marL="398736" indent="-370162">
              <a:lnSpc>
                <a:spcPct val="80000"/>
              </a:lnSpc>
              <a:spcBef>
                <a:spcPts val="2391"/>
              </a:spcBef>
              <a:buClr>
                <a:srgbClr val="FFA900"/>
              </a:buClr>
              <a:buFont typeface="Arial"/>
              <a:buAutoNum type="arabicPeriod"/>
            </a:pPr>
            <a:r>
              <a:rPr sz="2400" dirty="0">
                <a:solidFill>
                  <a:schemeClr val="bg1"/>
                </a:solidFill>
              </a:rPr>
              <a:t>If </a:t>
            </a:r>
            <a:r>
              <a:rPr sz="2400" i="1" dirty="0">
                <a:solidFill>
                  <a:schemeClr val="bg1"/>
                </a:solidFill>
              </a:rPr>
              <a:t>V</a:t>
            </a:r>
            <a:r>
              <a:rPr sz="2400" dirty="0">
                <a:solidFill>
                  <a:schemeClr val="bg1"/>
                </a:solidFill>
              </a:rPr>
              <a:t> no more extreme in direction –</a:t>
            </a:r>
            <a:r>
              <a:rPr sz="2400" i="1" dirty="0">
                <a:solidFill>
                  <a:schemeClr val="bg1"/>
                </a:solidFill>
              </a:rPr>
              <a:t>P</a:t>
            </a:r>
            <a:r>
              <a:rPr sz="2400" dirty="0">
                <a:solidFill>
                  <a:schemeClr val="bg1"/>
                </a:solidFill>
              </a:rPr>
              <a:t> than </a:t>
            </a:r>
            <a:r>
              <a:rPr sz="2400" i="1" dirty="0">
                <a:solidFill>
                  <a:schemeClr val="bg1"/>
                </a:solidFill>
              </a:rPr>
              <a:t>P</a:t>
            </a:r>
            <a:r>
              <a:rPr sz="2400" dirty="0">
                <a:solidFill>
                  <a:schemeClr val="bg1"/>
                </a:solidFill>
              </a:rPr>
              <a:t> itself, exit; return ||</a:t>
            </a:r>
            <a:r>
              <a:rPr sz="2400" i="1" dirty="0">
                <a:solidFill>
                  <a:schemeClr val="bg1"/>
                </a:solidFill>
              </a:rPr>
              <a:t>P</a:t>
            </a:r>
            <a:r>
              <a:rPr sz="2400" dirty="0">
                <a:solidFill>
                  <a:schemeClr val="bg1"/>
                </a:solidFill>
              </a:rPr>
              <a:t>||</a:t>
            </a:r>
          </a:p>
          <a:p>
            <a:pPr marL="398736" indent="-370162">
              <a:lnSpc>
                <a:spcPct val="80000"/>
              </a:lnSpc>
              <a:spcBef>
                <a:spcPts val="2391"/>
              </a:spcBef>
              <a:buClr>
                <a:srgbClr val="FFA900"/>
              </a:buClr>
              <a:buFont typeface="Arial"/>
              <a:buAutoNum type="arabicPeriod"/>
            </a:pPr>
            <a:r>
              <a:rPr sz="2400" dirty="0">
                <a:solidFill>
                  <a:schemeClr val="bg1"/>
                </a:solidFill>
              </a:rPr>
              <a:t>Add </a:t>
            </a:r>
            <a:r>
              <a:rPr sz="2400" i="1" dirty="0">
                <a:solidFill>
                  <a:schemeClr val="bg1"/>
                </a:solidFill>
              </a:rPr>
              <a:t>V</a:t>
            </a:r>
            <a:r>
              <a:rPr sz="2400" dirty="0">
                <a:solidFill>
                  <a:schemeClr val="bg1"/>
                </a:solidFill>
              </a:rPr>
              <a:t> to </a:t>
            </a:r>
            <a:r>
              <a:rPr sz="2400" i="1" dirty="0">
                <a:solidFill>
                  <a:schemeClr val="bg1"/>
                </a:solidFill>
              </a:rPr>
              <a:t>Q</a:t>
            </a:r>
            <a:r>
              <a:rPr sz="2400" dirty="0">
                <a:solidFill>
                  <a:schemeClr val="bg1"/>
                </a:solidFill>
              </a:rPr>
              <a:t>. Go to step 2</a:t>
            </a:r>
          </a:p>
        </p:txBody>
      </p:sp>
    </p:spTree>
    <p:extLst>
      <p:ext uri="{BB962C8B-B14F-4D97-AF65-F5344CB8AC3E}">
        <p14:creationId xmlns:p14="http://schemas.microsoft.com/office/powerpoint/2010/main" val="4240892890"/>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571" name="Shape"/>
          <p:cNvSpPr/>
          <p:nvPr/>
        </p:nvSpPr>
        <p:spPr>
          <a:xfrm>
            <a:off x="2970609" y="3348633"/>
            <a:ext cx="5179219" cy="3045023"/>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8424" y="19980"/>
                </a:lnTo>
                <a:lnTo>
                  <a:pt x="11753" y="21600"/>
                </a:lnTo>
                <a:lnTo>
                  <a:pt x="3812" y="14580"/>
                </a:lnTo>
                <a:lnTo>
                  <a:pt x="0" y="5400"/>
                </a:lnTo>
                <a:lnTo>
                  <a:pt x="6671" y="0"/>
                </a:lnTo>
                <a:lnTo>
                  <a:pt x="17471" y="2160"/>
                </a:lnTo>
                <a:lnTo>
                  <a:pt x="21600" y="972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574" name="Group"/>
          <p:cNvGrpSpPr/>
          <p:nvPr/>
        </p:nvGrpSpPr>
        <p:grpSpPr>
          <a:xfrm>
            <a:off x="3886994" y="6098977"/>
            <a:ext cx="303610" cy="303609"/>
            <a:chOff x="0" y="0"/>
            <a:chExt cx="431800" cy="431800"/>
          </a:xfrm>
        </p:grpSpPr>
        <p:sp>
          <p:nvSpPr>
            <p:cNvPr id="572" name="Line"/>
            <p:cNvSpPr/>
            <p:nvPr/>
          </p:nvSpPr>
          <p:spPr>
            <a:xfrm>
              <a:off x="220697" y="0"/>
              <a:ext cx="2259" cy="431800"/>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sp>
          <p:nvSpPr>
            <p:cNvPr id="573" name="Line"/>
            <p:cNvSpPr/>
            <p:nvPr/>
          </p:nvSpPr>
          <p:spPr>
            <a:xfrm flipV="1">
              <a:off x="0" y="211384"/>
              <a:ext cx="431800" cy="2259"/>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grpSp>
      <p:sp>
        <p:nvSpPr>
          <p:cNvPr id="575" name="GJK example 1(10)"/>
          <p:cNvSpPr txBox="1">
            <a:spLocks noGrp="1"/>
          </p:cNvSpPr>
          <p:nvPr>
            <p:ph type="title"/>
          </p:nvPr>
        </p:nvSpPr>
        <p:spPr>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rPr dirty="0"/>
              <a:t>GJK </a:t>
            </a:r>
            <a:r>
              <a:rPr dirty="0" smtClean="0"/>
              <a:t>example</a:t>
            </a:r>
            <a:endParaRPr dirty="0"/>
          </a:p>
        </p:txBody>
      </p:sp>
      <p:pic>
        <p:nvPicPr>
          <p:cNvPr id="576" name="image.pdf" descr="image.pdf"/>
          <p:cNvPicPr>
            <a:picLocks/>
          </p:cNvPicPr>
          <p:nvPr/>
        </p:nvPicPr>
        <p:blipFill>
          <a:blip r:embed="rId3">
            <a:extLst/>
          </a:blip>
          <a:stretch>
            <a:fillRect/>
          </a:stretch>
        </p:blipFill>
        <p:spPr>
          <a:xfrm>
            <a:off x="5378450" y="4471988"/>
            <a:ext cx="488950" cy="539750"/>
          </a:xfrm>
          <a:prstGeom prst="rect">
            <a:avLst/>
          </a:prstGeom>
          <a:ln w="12700">
            <a:miter lim="400000"/>
          </a:ln>
        </p:spPr>
      </p:pic>
      <p:sp>
        <p:nvSpPr>
          <p:cNvPr id="577" name="Circle"/>
          <p:cNvSpPr/>
          <p:nvPr/>
        </p:nvSpPr>
        <p:spPr>
          <a:xfrm>
            <a:off x="2899172" y="4036219"/>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78" name="Circle"/>
          <p:cNvSpPr/>
          <p:nvPr/>
        </p:nvSpPr>
        <p:spPr>
          <a:xfrm>
            <a:off x="3810000" y="5331023"/>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79" name="Circle"/>
          <p:cNvSpPr/>
          <p:nvPr/>
        </p:nvSpPr>
        <p:spPr>
          <a:xfrm>
            <a:off x="5712023" y="6322219"/>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80" name="Circle"/>
          <p:cNvSpPr/>
          <p:nvPr/>
        </p:nvSpPr>
        <p:spPr>
          <a:xfrm>
            <a:off x="7319367" y="6098976"/>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81" name="Circle"/>
          <p:cNvSpPr/>
          <p:nvPr/>
        </p:nvSpPr>
        <p:spPr>
          <a:xfrm>
            <a:off x="8078390" y="4652367"/>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82" name="Circle"/>
          <p:cNvSpPr/>
          <p:nvPr/>
        </p:nvSpPr>
        <p:spPr>
          <a:xfrm>
            <a:off x="7087195" y="3580805"/>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83" name="Circle"/>
          <p:cNvSpPr/>
          <p:nvPr/>
        </p:nvSpPr>
        <p:spPr>
          <a:xfrm>
            <a:off x="4497586" y="3277195"/>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584" name="INPUT: Convex polyhedron C given as the convex hull of a set of points"/>
          <p:cNvSpPr txBox="1"/>
          <p:nvPr/>
        </p:nvSpPr>
        <p:spPr>
          <a:xfrm>
            <a:off x="2283024" y="1750219"/>
            <a:ext cx="7483078" cy="10244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spAutoFit/>
          </a:bodyPr>
          <a:lstStyle/>
          <a:p>
            <a:pPr marL="40638" marR="40638" defTabSz="910796">
              <a:spcBef>
                <a:spcPts val="1828"/>
              </a:spcBef>
              <a:buClr>
                <a:srgbClr val="FFFFFF"/>
              </a:buClr>
              <a:buFont typeface="Arial"/>
              <a:defRPr sz="2400">
                <a:solidFill>
                  <a:srgbClr val="FFFFFF"/>
                </a:solidFill>
                <a:uFill>
                  <a:solidFill>
                    <a:srgbClr val="FFFFFF"/>
                  </a:solidFill>
                </a:uFill>
                <a:latin typeface="+mn-lt"/>
                <a:ea typeface="+mn-ea"/>
                <a:cs typeface="+mn-cs"/>
                <a:sym typeface="Arial"/>
              </a:defRPr>
            </a:pPr>
            <a:r>
              <a:rPr sz="3094"/>
              <a:t>INPUT: Convex polyhedron </a:t>
            </a:r>
            <a:r>
              <a:rPr sz="3094" i="1"/>
              <a:t>C</a:t>
            </a:r>
            <a:r>
              <a:rPr sz="3094"/>
              <a:t> given as the convex hull of a set of points</a:t>
            </a:r>
          </a:p>
        </p:txBody>
      </p:sp>
    </p:spTree>
    <p:extLst>
      <p:ext uri="{BB962C8B-B14F-4D97-AF65-F5344CB8AC3E}">
        <p14:creationId xmlns:p14="http://schemas.microsoft.com/office/powerpoint/2010/main" val="2515884532"/>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588" name="Initialize the simplex set Q with up to d+1 points from C (in d dimensions)"/>
          <p:cNvSpPr txBox="1">
            <a:spLocks noGrp="1"/>
          </p:cNvSpPr>
          <p:nvPr>
            <p:ph type="body" sz="quarter" idx="1"/>
          </p:nvPr>
        </p:nvSpPr>
        <p:spPr>
          <a:xfrm>
            <a:off x="1979414" y="1446610"/>
            <a:ext cx="8233172" cy="759023"/>
          </a:xfrm>
          <a:prstGeom prst="rect">
            <a:avLst/>
          </a:prstGeom>
        </p:spPr>
        <p:txBody>
          <a:bodyPr/>
          <a:lstStyle/>
          <a:p>
            <a:pPr marL="301325" indent="-272751">
              <a:buClr>
                <a:srgbClr val="FFA900"/>
              </a:buClr>
              <a:buFont typeface="Arial"/>
              <a:buAutoNum type="arabicPeriod"/>
            </a:pPr>
            <a:r>
              <a:rPr sz="1969" dirty="0">
                <a:solidFill>
                  <a:schemeClr val="bg1"/>
                </a:solidFill>
              </a:rPr>
              <a:t>Initialize the simplex set </a:t>
            </a:r>
            <a:r>
              <a:rPr sz="1969" i="1" dirty="0">
                <a:solidFill>
                  <a:schemeClr val="bg1"/>
                </a:solidFill>
              </a:rPr>
              <a:t>Q</a:t>
            </a:r>
            <a:r>
              <a:rPr sz="1969" dirty="0">
                <a:solidFill>
                  <a:schemeClr val="bg1"/>
                </a:solidFill>
              </a:rPr>
              <a:t> with up to </a:t>
            </a:r>
            <a:r>
              <a:rPr sz="1969" i="1" dirty="0">
                <a:solidFill>
                  <a:schemeClr val="bg1"/>
                </a:solidFill>
              </a:rPr>
              <a:t>d</a:t>
            </a:r>
            <a:r>
              <a:rPr sz="1969" dirty="0">
                <a:solidFill>
                  <a:schemeClr val="bg1"/>
                </a:solidFill>
              </a:rPr>
              <a:t>+1 points from </a:t>
            </a:r>
            <a:r>
              <a:rPr sz="1969" i="1" dirty="0">
                <a:solidFill>
                  <a:schemeClr val="bg1"/>
                </a:solidFill>
              </a:rPr>
              <a:t>C</a:t>
            </a:r>
            <a:r>
              <a:rPr sz="1969" dirty="0">
                <a:solidFill>
                  <a:schemeClr val="bg1"/>
                </a:solidFill>
              </a:rPr>
              <a:t> (in </a:t>
            </a:r>
            <a:r>
              <a:rPr sz="1969" i="1" dirty="0">
                <a:solidFill>
                  <a:schemeClr val="bg1"/>
                </a:solidFill>
              </a:rPr>
              <a:t>d</a:t>
            </a:r>
            <a:r>
              <a:rPr sz="1969" dirty="0">
                <a:solidFill>
                  <a:schemeClr val="bg1"/>
                </a:solidFill>
              </a:rPr>
              <a:t> dimensions)</a:t>
            </a:r>
          </a:p>
        </p:txBody>
      </p:sp>
      <p:sp>
        <p:nvSpPr>
          <p:cNvPr id="589" name="Shape"/>
          <p:cNvSpPr/>
          <p:nvPr/>
        </p:nvSpPr>
        <p:spPr>
          <a:xfrm>
            <a:off x="2970609" y="3348633"/>
            <a:ext cx="5179219" cy="3045023"/>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8424" y="19980"/>
                </a:lnTo>
                <a:lnTo>
                  <a:pt x="11753" y="21600"/>
                </a:lnTo>
                <a:lnTo>
                  <a:pt x="3812" y="14580"/>
                </a:lnTo>
                <a:lnTo>
                  <a:pt x="0" y="5400"/>
                </a:lnTo>
                <a:lnTo>
                  <a:pt x="6671" y="0"/>
                </a:lnTo>
                <a:lnTo>
                  <a:pt x="17471" y="2160"/>
                </a:lnTo>
                <a:lnTo>
                  <a:pt x="21600" y="972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592" name="Group"/>
          <p:cNvGrpSpPr/>
          <p:nvPr/>
        </p:nvGrpSpPr>
        <p:grpSpPr>
          <a:xfrm>
            <a:off x="3886994" y="6098977"/>
            <a:ext cx="303610" cy="303609"/>
            <a:chOff x="0" y="0"/>
            <a:chExt cx="431800" cy="431800"/>
          </a:xfrm>
        </p:grpSpPr>
        <p:sp>
          <p:nvSpPr>
            <p:cNvPr id="590" name="Line"/>
            <p:cNvSpPr/>
            <p:nvPr/>
          </p:nvSpPr>
          <p:spPr>
            <a:xfrm>
              <a:off x="220697" y="0"/>
              <a:ext cx="2259" cy="431800"/>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sp>
          <p:nvSpPr>
            <p:cNvPr id="591" name="Line"/>
            <p:cNvSpPr/>
            <p:nvPr/>
          </p:nvSpPr>
          <p:spPr>
            <a:xfrm flipV="1">
              <a:off x="0" y="211384"/>
              <a:ext cx="431800" cy="2259"/>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grpSp>
      <p:sp>
        <p:nvSpPr>
          <p:cNvPr id="593" name="GJK example 2(10)"/>
          <p:cNvSpPr txBox="1">
            <a:spLocks noGrp="1"/>
          </p:cNvSpPr>
          <p:nvPr>
            <p:ph type="title"/>
          </p:nvPr>
        </p:nvSpPr>
        <p:spPr>
          <a:xfrm>
            <a:off x="1979414" y="244475"/>
            <a:ext cx="6402586" cy="1203326"/>
          </a:xfrm>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rPr dirty="0"/>
              <a:t>GJK </a:t>
            </a:r>
            <a:r>
              <a:rPr dirty="0" smtClean="0"/>
              <a:t>example</a:t>
            </a:r>
            <a:endParaRPr dirty="0"/>
          </a:p>
        </p:txBody>
      </p:sp>
      <p:sp>
        <p:nvSpPr>
          <p:cNvPr id="594" name="Circle"/>
          <p:cNvSpPr/>
          <p:nvPr/>
        </p:nvSpPr>
        <p:spPr>
          <a:xfrm>
            <a:off x="8078390" y="4652367"/>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597" name="Group"/>
          <p:cNvGrpSpPr/>
          <p:nvPr/>
        </p:nvGrpSpPr>
        <p:grpSpPr>
          <a:xfrm>
            <a:off x="8230195" y="4420195"/>
            <a:ext cx="636588" cy="687586"/>
            <a:chOff x="0" y="0"/>
            <a:chExt cx="905368" cy="977900"/>
          </a:xfrm>
        </p:grpSpPr>
        <p:sp>
          <p:nvSpPr>
            <p:cNvPr id="595" name="Rectangle"/>
            <p:cNvSpPr/>
            <p:nvPr/>
          </p:nvSpPr>
          <p:spPr>
            <a:xfrm>
              <a:off x="0" y="0"/>
              <a:ext cx="905369" cy="977900"/>
            </a:xfrm>
            <a:prstGeom prst="rect">
              <a:avLst/>
            </a:prstGeom>
            <a:solidFill>
              <a:srgbClr val="BFBFBF">
                <a:alpha val="50000"/>
              </a:srgbClr>
            </a:solidFill>
            <a:ln w="12700" cap="flat">
              <a:noFill/>
              <a:miter lim="400000"/>
            </a:ln>
            <a:effectLst/>
          </p:spPr>
          <p:txBody>
            <a:bodyPr wrap="square" lIns="0" tIns="0" rIns="0" bIns="0" numCol="1" anchor="t">
              <a:noAutofit/>
            </a:bodyPr>
            <a:lstStyle/>
            <a:p>
              <a:pPr defTabSz="455398">
                <a:defRPr sz="1600"/>
              </a:pPr>
              <a:endParaRPr sz="1125"/>
            </a:p>
          </p:txBody>
        </p:sp>
        <p:pic>
          <p:nvPicPr>
            <p:cNvPr id="596" name="image.pdf" descr="image.pdf"/>
            <p:cNvPicPr>
              <a:picLocks/>
            </p:cNvPicPr>
            <p:nvPr/>
          </p:nvPicPr>
          <p:blipFill>
            <a:blip r:embed="rId3">
              <a:alphaModFix amt="50000"/>
              <a:extLst/>
            </a:blip>
            <a:stretch>
              <a:fillRect/>
            </a:stretch>
          </p:blipFill>
          <p:spPr>
            <a:xfrm>
              <a:off x="0" y="0"/>
              <a:ext cx="905369" cy="977900"/>
            </a:xfrm>
            <a:prstGeom prst="rect">
              <a:avLst/>
            </a:prstGeom>
            <a:ln w="12700" cap="flat">
              <a:noFill/>
              <a:miter lim="400000"/>
            </a:ln>
            <a:effectLst/>
          </p:spPr>
        </p:pic>
      </p:grpSp>
      <p:grpSp>
        <p:nvGrpSpPr>
          <p:cNvPr id="600" name="Group"/>
          <p:cNvGrpSpPr/>
          <p:nvPr/>
        </p:nvGrpSpPr>
        <p:grpSpPr>
          <a:xfrm>
            <a:off x="2059782" y="2644775"/>
            <a:ext cx="2930526" cy="784226"/>
            <a:chOff x="0" y="0"/>
            <a:chExt cx="4167858" cy="1115342"/>
          </a:xfrm>
        </p:grpSpPr>
        <p:sp>
          <p:nvSpPr>
            <p:cNvPr id="598" name="Rectangle"/>
            <p:cNvSpPr/>
            <p:nvPr/>
          </p:nvSpPr>
          <p:spPr>
            <a:xfrm>
              <a:off x="0" y="0"/>
              <a:ext cx="4167859" cy="1115343"/>
            </a:xfrm>
            <a:prstGeom prst="rect">
              <a:avLst/>
            </a:prstGeom>
            <a:solidFill>
              <a:srgbClr val="BFBFBF">
                <a:alpha val="50000"/>
              </a:srgbClr>
            </a:solidFill>
            <a:ln w="12700" cap="flat">
              <a:noFill/>
              <a:miter lim="400000"/>
            </a:ln>
            <a:effectLst/>
          </p:spPr>
          <p:txBody>
            <a:bodyPr wrap="square" lIns="0" tIns="0" rIns="0" bIns="0" numCol="1" anchor="t">
              <a:noAutofit/>
            </a:bodyPr>
            <a:lstStyle/>
            <a:p>
              <a:pPr defTabSz="455398">
                <a:defRPr sz="1600"/>
              </a:pPr>
              <a:endParaRPr sz="1125"/>
            </a:p>
          </p:txBody>
        </p:sp>
        <p:pic>
          <p:nvPicPr>
            <p:cNvPr id="599" name="image.pdf" descr="image.pdf"/>
            <p:cNvPicPr>
              <a:picLocks/>
            </p:cNvPicPr>
            <p:nvPr/>
          </p:nvPicPr>
          <p:blipFill>
            <a:blip r:embed="rId4">
              <a:alphaModFix amt="50000"/>
              <a:extLst/>
            </a:blip>
            <a:stretch>
              <a:fillRect/>
            </a:stretch>
          </p:blipFill>
          <p:spPr>
            <a:xfrm>
              <a:off x="0" y="0"/>
              <a:ext cx="4167859" cy="1115343"/>
            </a:xfrm>
            <a:prstGeom prst="rect">
              <a:avLst/>
            </a:prstGeom>
            <a:ln w="12700" cap="flat">
              <a:noFill/>
              <a:miter lim="400000"/>
            </a:ln>
            <a:effectLst/>
          </p:spPr>
        </p:pic>
      </p:grpSp>
      <p:pic>
        <p:nvPicPr>
          <p:cNvPr id="601" name="image.pdf" descr="image.pdf"/>
          <p:cNvPicPr>
            <a:picLocks/>
          </p:cNvPicPr>
          <p:nvPr/>
        </p:nvPicPr>
        <p:blipFill>
          <a:blip r:embed="rId5">
            <a:extLst/>
          </a:blip>
          <a:stretch>
            <a:fillRect/>
          </a:stretch>
        </p:blipFill>
        <p:spPr>
          <a:xfrm>
            <a:off x="5378450" y="4471988"/>
            <a:ext cx="488950" cy="539750"/>
          </a:xfrm>
          <a:prstGeom prst="rect">
            <a:avLst/>
          </a:prstGeom>
          <a:ln w="12700">
            <a:miter lim="400000"/>
          </a:ln>
        </p:spPr>
      </p:pic>
      <p:sp>
        <p:nvSpPr>
          <p:cNvPr id="602" name="Circle"/>
          <p:cNvSpPr/>
          <p:nvPr/>
        </p:nvSpPr>
        <p:spPr>
          <a:xfrm>
            <a:off x="2868613" y="4036219"/>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605" name="Group"/>
          <p:cNvGrpSpPr/>
          <p:nvPr/>
        </p:nvGrpSpPr>
        <p:grpSpPr>
          <a:xfrm>
            <a:off x="2283023" y="3732609"/>
            <a:ext cx="588963" cy="687586"/>
            <a:chOff x="0" y="0"/>
            <a:chExt cx="837635" cy="977900"/>
          </a:xfrm>
        </p:grpSpPr>
        <p:sp>
          <p:nvSpPr>
            <p:cNvPr id="603" name="Rectangle"/>
            <p:cNvSpPr/>
            <p:nvPr/>
          </p:nvSpPr>
          <p:spPr>
            <a:xfrm>
              <a:off x="0" y="0"/>
              <a:ext cx="837636" cy="977900"/>
            </a:xfrm>
            <a:prstGeom prst="rect">
              <a:avLst/>
            </a:prstGeom>
            <a:solidFill>
              <a:srgbClr val="BFBFBF">
                <a:alpha val="50000"/>
              </a:srgbClr>
            </a:solidFill>
            <a:ln w="12700" cap="flat">
              <a:noFill/>
              <a:miter lim="400000"/>
            </a:ln>
            <a:effectLst/>
          </p:spPr>
          <p:txBody>
            <a:bodyPr wrap="square" lIns="0" tIns="0" rIns="0" bIns="0" numCol="1" anchor="t">
              <a:noAutofit/>
            </a:bodyPr>
            <a:lstStyle/>
            <a:p>
              <a:pPr defTabSz="455398">
                <a:defRPr sz="1600"/>
              </a:pPr>
              <a:endParaRPr sz="1125"/>
            </a:p>
          </p:txBody>
        </p:sp>
        <p:pic>
          <p:nvPicPr>
            <p:cNvPr id="604" name="image.pdf" descr="image.pdf"/>
            <p:cNvPicPr>
              <a:picLocks/>
            </p:cNvPicPr>
            <p:nvPr/>
          </p:nvPicPr>
          <p:blipFill>
            <a:blip r:embed="rId6">
              <a:alphaModFix amt="50000"/>
              <a:extLst/>
            </a:blip>
            <a:stretch>
              <a:fillRect/>
            </a:stretch>
          </p:blipFill>
          <p:spPr>
            <a:xfrm>
              <a:off x="0" y="0"/>
              <a:ext cx="837636" cy="977900"/>
            </a:xfrm>
            <a:prstGeom prst="rect">
              <a:avLst/>
            </a:prstGeom>
            <a:ln w="12700" cap="flat">
              <a:noFill/>
              <a:miter lim="400000"/>
            </a:ln>
            <a:effectLst/>
          </p:spPr>
        </p:pic>
      </p:grpSp>
      <p:sp>
        <p:nvSpPr>
          <p:cNvPr id="606" name="Circle"/>
          <p:cNvSpPr/>
          <p:nvPr/>
        </p:nvSpPr>
        <p:spPr>
          <a:xfrm>
            <a:off x="5712023" y="6322219"/>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609" name="Group"/>
          <p:cNvGrpSpPr/>
          <p:nvPr/>
        </p:nvGrpSpPr>
        <p:grpSpPr>
          <a:xfrm>
            <a:off x="5560219" y="5634633"/>
            <a:ext cx="638175" cy="687586"/>
            <a:chOff x="0" y="0"/>
            <a:chExt cx="907626" cy="977900"/>
          </a:xfrm>
        </p:grpSpPr>
        <p:sp>
          <p:nvSpPr>
            <p:cNvPr id="607" name="Rectangle"/>
            <p:cNvSpPr/>
            <p:nvPr/>
          </p:nvSpPr>
          <p:spPr>
            <a:xfrm>
              <a:off x="0" y="0"/>
              <a:ext cx="907627" cy="977900"/>
            </a:xfrm>
            <a:prstGeom prst="rect">
              <a:avLst/>
            </a:prstGeom>
            <a:solidFill>
              <a:srgbClr val="BFBFBF">
                <a:alpha val="50000"/>
              </a:srgbClr>
            </a:solidFill>
            <a:ln w="12700" cap="flat">
              <a:noFill/>
              <a:miter lim="400000"/>
            </a:ln>
            <a:effectLst/>
          </p:spPr>
          <p:txBody>
            <a:bodyPr wrap="square" lIns="0" tIns="0" rIns="0" bIns="0" numCol="1" anchor="t">
              <a:noAutofit/>
            </a:bodyPr>
            <a:lstStyle/>
            <a:p>
              <a:pPr defTabSz="455398">
                <a:defRPr sz="1600"/>
              </a:pPr>
              <a:endParaRPr sz="1125"/>
            </a:p>
          </p:txBody>
        </p:sp>
        <p:pic>
          <p:nvPicPr>
            <p:cNvPr id="608" name="image.pdf" descr="image.pdf"/>
            <p:cNvPicPr>
              <a:picLocks/>
            </p:cNvPicPr>
            <p:nvPr/>
          </p:nvPicPr>
          <p:blipFill>
            <a:blip r:embed="rId7">
              <a:alphaModFix amt="50000"/>
              <a:extLst/>
            </a:blip>
            <a:stretch>
              <a:fillRect/>
            </a:stretch>
          </p:blipFill>
          <p:spPr>
            <a:xfrm>
              <a:off x="0" y="0"/>
              <a:ext cx="907627" cy="977900"/>
            </a:xfrm>
            <a:prstGeom prst="rect">
              <a:avLst/>
            </a:prstGeom>
            <a:ln w="12700" cap="flat">
              <a:noFill/>
              <a:miter lim="400000"/>
            </a:ln>
            <a:effectLst/>
          </p:spPr>
        </p:pic>
      </p:grpSp>
    </p:spTree>
    <p:extLst>
      <p:ext uri="{BB962C8B-B14F-4D97-AF65-F5344CB8AC3E}">
        <p14:creationId xmlns:p14="http://schemas.microsoft.com/office/powerpoint/2010/main" val="2414341659"/>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613" name="Shape"/>
          <p:cNvSpPr/>
          <p:nvPr/>
        </p:nvSpPr>
        <p:spPr>
          <a:xfrm>
            <a:off x="2970609" y="3348633"/>
            <a:ext cx="5179219" cy="3045023"/>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8424" y="19980"/>
                </a:lnTo>
                <a:lnTo>
                  <a:pt x="11753" y="21600"/>
                </a:lnTo>
                <a:lnTo>
                  <a:pt x="3812" y="14580"/>
                </a:lnTo>
                <a:lnTo>
                  <a:pt x="0" y="5400"/>
                </a:lnTo>
                <a:lnTo>
                  <a:pt x="6671" y="0"/>
                </a:lnTo>
                <a:lnTo>
                  <a:pt x="17471" y="2160"/>
                </a:lnTo>
                <a:lnTo>
                  <a:pt x="21600" y="972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614" name="Triangle"/>
          <p:cNvSpPr/>
          <p:nvPr/>
        </p:nvSpPr>
        <p:spPr>
          <a:xfrm>
            <a:off x="2970609" y="4116586"/>
            <a:ext cx="5179219" cy="22860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5760"/>
                </a:lnTo>
                <a:lnTo>
                  <a:pt x="11753" y="21600"/>
                </a:lnTo>
                <a:lnTo>
                  <a:pt x="0" y="0"/>
                </a:lnTo>
                <a:close/>
              </a:path>
            </a:pathLst>
          </a:custGeom>
          <a:solidFill>
            <a:srgbClr val="E7B913"/>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617" name="Group"/>
          <p:cNvGrpSpPr/>
          <p:nvPr/>
        </p:nvGrpSpPr>
        <p:grpSpPr>
          <a:xfrm>
            <a:off x="3886994" y="6098977"/>
            <a:ext cx="303610" cy="303609"/>
            <a:chOff x="0" y="0"/>
            <a:chExt cx="431800" cy="431800"/>
          </a:xfrm>
        </p:grpSpPr>
        <p:sp>
          <p:nvSpPr>
            <p:cNvPr id="615" name="Line"/>
            <p:cNvSpPr/>
            <p:nvPr/>
          </p:nvSpPr>
          <p:spPr>
            <a:xfrm>
              <a:off x="220697" y="0"/>
              <a:ext cx="2259" cy="431800"/>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sp>
          <p:nvSpPr>
            <p:cNvPr id="616" name="Line"/>
            <p:cNvSpPr/>
            <p:nvPr/>
          </p:nvSpPr>
          <p:spPr>
            <a:xfrm flipV="1">
              <a:off x="0" y="211384"/>
              <a:ext cx="431800" cy="2259"/>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grpSp>
      <p:sp>
        <p:nvSpPr>
          <p:cNvPr id="618" name="GJK example 3(10)"/>
          <p:cNvSpPr txBox="1">
            <a:spLocks noGrp="1"/>
          </p:cNvSpPr>
          <p:nvPr>
            <p:ph type="title"/>
          </p:nvPr>
        </p:nvSpPr>
        <p:spPr>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GJK example 3(10)</a:t>
            </a:r>
          </a:p>
        </p:txBody>
      </p:sp>
      <p:pic>
        <p:nvPicPr>
          <p:cNvPr id="619" name="image.pdf" descr="image.pdf"/>
          <p:cNvPicPr>
            <a:picLocks/>
          </p:cNvPicPr>
          <p:nvPr/>
        </p:nvPicPr>
        <p:blipFill>
          <a:blip r:embed="rId3">
            <a:extLst/>
          </a:blip>
          <a:stretch>
            <a:fillRect/>
          </a:stretch>
        </p:blipFill>
        <p:spPr>
          <a:xfrm>
            <a:off x="2033190" y="2617192"/>
            <a:ext cx="2932113" cy="784226"/>
          </a:xfrm>
          <a:prstGeom prst="rect">
            <a:avLst/>
          </a:prstGeom>
          <a:ln w="12700">
            <a:miter lim="400000"/>
          </a:ln>
        </p:spPr>
      </p:pic>
      <p:sp>
        <p:nvSpPr>
          <p:cNvPr id="620" name="Circle"/>
          <p:cNvSpPr/>
          <p:nvPr/>
        </p:nvSpPr>
        <p:spPr>
          <a:xfrm>
            <a:off x="8078390" y="4652367"/>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621" name="Circle"/>
          <p:cNvSpPr/>
          <p:nvPr/>
        </p:nvSpPr>
        <p:spPr>
          <a:xfrm>
            <a:off x="2899172" y="4036219"/>
            <a:ext cx="151805" cy="151805"/>
          </a:xfrm>
          <a:prstGeom prst="ellipse">
            <a:avLst/>
          </a:prstGeom>
          <a:solidFill>
            <a:srgbClr val="FFFFFF"/>
          </a:solidFill>
          <a:ln>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622" name="image.pdf" descr="image.pdf"/>
          <p:cNvPicPr>
            <a:picLocks/>
          </p:cNvPicPr>
          <p:nvPr/>
        </p:nvPicPr>
        <p:blipFill>
          <a:blip r:embed="rId4">
            <a:extLst/>
          </a:blip>
          <a:stretch>
            <a:fillRect/>
          </a:stretch>
        </p:blipFill>
        <p:spPr>
          <a:xfrm>
            <a:off x="2283024" y="3732609"/>
            <a:ext cx="587375" cy="687586"/>
          </a:xfrm>
          <a:prstGeom prst="rect">
            <a:avLst/>
          </a:prstGeom>
          <a:ln w="12700">
            <a:miter lim="400000"/>
          </a:ln>
        </p:spPr>
      </p:pic>
      <p:pic>
        <p:nvPicPr>
          <p:cNvPr id="623" name="image.pdf" descr="image.pdf"/>
          <p:cNvPicPr>
            <a:picLocks/>
          </p:cNvPicPr>
          <p:nvPr/>
        </p:nvPicPr>
        <p:blipFill>
          <a:blip r:embed="rId5">
            <a:extLst/>
          </a:blip>
          <a:stretch>
            <a:fillRect/>
          </a:stretch>
        </p:blipFill>
        <p:spPr>
          <a:xfrm>
            <a:off x="8230195" y="4420195"/>
            <a:ext cx="636588" cy="687586"/>
          </a:xfrm>
          <a:prstGeom prst="rect">
            <a:avLst/>
          </a:prstGeom>
          <a:ln w="12700">
            <a:miter lim="400000"/>
          </a:ln>
        </p:spPr>
      </p:pic>
      <p:sp>
        <p:nvSpPr>
          <p:cNvPr id="624" name="Circle"/>
          <p:cNvSpPr/>
          <p:nvPr/>
        </p:nvSpPr>
        <p:spPr>
          <a:xfrm>
            <a:off x="5712023" y="6322219"/>
            <a:ext cx="151805" cy="151805"/>
          </a:xfrm>
          <a:prstGeom prst="ellipse">
            <a:avLst/>
          </a:prstGeom>
          <a:solidFill>
            <a:srgbClr val="FFFFFF"/>
          </a:solidFill>
          <a:ln>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625" name="image.pdf" descr="image.pdf"/>
          <p:cNvPicPr>
            <a:picLocks/>
          </p:cNvPicPr>
          <p:nvPr/>
        </p:nvPicPr>
        <p:blipFill>
          <a:blip r:embed="rId6">
            <a:extLst/>
          </a:blip>
          <a:stretch>
            <a:fillRect/>
          </a:stretch>
        </p:blipFill>
        <p:spPr>
          <a:xfrm>
            <a:off x="5560219" y="5634633"/>
            <a:ext cx="631825" cy="687586"/>
          </a:xfrm>
          <a:prstGeom prst="rect">
            <a:avLst/>
          </a:prstGeom>
          <a:ln w="12700">
            <a:miter lim="400000"/>
          </a:ln>
        </p:spPr>
      </p:pic>
      <p:sp>
        <p:nvSpPr>
          <p:cNvPr id="626" name="Line"/>
          <p:cNvSpPr/>
          <p:nvPr/>
        </p:nvSpPr>
        <p:spPr>
          <a:xfrm flipV="1">
            <a:off x="4042172" y="5482828"/>
            <a:ext cx="607219" cy="759023"/>
          </a:xfrm>
          <a:prstGeom prst="line">
            <a:avLst/>
          </a:prstGeom>
          <a:ln w="28575" cap="rnd">
            <a:solidFill>
              <a:srgbClr val="FFFFFF"/>
            </a:solidFill>
            <a:prstDash val="sysDot"/>
          </a:ln>
        </p:spPr>
        <p:txBody>
          <a:bodyPr lIns="35719" tIns="35719" rIns="35719" bIns="35719" anchor="ctr"/>
          <a:lstStyle/>
          <a:p>
            <a:endParaRPr sz="1266"/>
          </a:p>
        </p:txBody>
      </p:sp>
      <p:sp>
        <p:nvSpPr>
          <p:cNvPr id="627" name="Circle"/>
          <p:cNvSpPr/>
          <p:nvPr/>
        </p:nvSpPr>
        <p:spPr>
          <a:xfrm>
            <a:off x="4569023" y="5411390"/>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630" name="Group"/>
          <p:cNvGrpSpPr/>
          <p:nvPr/>
        </p:nvGrpSpPr>
        <p:grpSpPr>
          <a:xfrm>
            <a:off x="4720828" y="4973637"/>
            <a:ext cx="488950" cy="490539"/>
            <a:chOff x="0" y="0"/>
            <a:chExt cx="695395" cy="697653"/>
          </a:xfrm>
        </p:grpSpPr>
        <p:sp>
          <p:nvSpPr>
            <p:cNvPr id="628" name="Square"/>
            <p:cNvSpPr/>
            <p:nvPr/>
          </p:nvSpPr>
          <p:spPr>
            <a:xfrm>
              <a:off x="0" y="0"/>
              <a:ext cx="695396" cy="697654"/>
            </a:xfrm>
            <a:prstGeom prst="rect">
              <a:avLst/>
            </a:prstGeom>
            <a:solidFill>
              <a:srgbClr val="BFBFBF">
                <a:alpha val="50000"/>
              </a:srgbClr>
            </a:solidFill>
            <a:ln w="12700" cap="flat">
              <a:noFill/>
              <a:miter lim="400000"/>
            </a:ln>
            <a:effectLst/>
          </p:spPr>
          <p:txBody>
            <a:bodyPr wrap="square" lIns="0" tIns="0" rIns="0" bIns="0" numCol="1" anchor="t">
              <a:noAutofit/>
            </a:bodyPr>
            <a:lstStyle/>
            <a:p>
              <a:pPr defTabSz="455398">
                <a:defRPr sz="1600"/>
              </a:pPr>
              <a:endParaRPr sz="1125"/>
            </a:p>
          </p:txBody>
        </p:sp>
        <p:pic>
          <p:nvPicPr>
            <p:cNvPr id="629" name="image.pdf" descr="image.pdf"/>
            <p:cNvPicPr>
              <a:picLocks/>
            </p:cNvPicPr>
            <p:nvPr/>
          </p:nvPicPr>
          <p:blipFill>
            <a:blip r:embed="rId7">
              <a:alphaModFix amt="50000"/>
              <a:extLst/>
            </a:blip>
            <a:stretch>
              <a:fillRect/>
            </a:stretch>
          </p:blipFill>
          <p:spPr>
            <a:xfrm>
              <a:off x="0" y="0"/>
              <a:ext cx="695396" cy="697654"/>
            </a:xfrm>
            <a:prstGeom prst="rect">
              <a:avLst/>
            </a:prstGeom>
            <a:ln w="12700" cap="flat">
              <a:noFill/>
              <a:miter lim="400000"/>
            </a:ln>
            <a:effectLst/>
          </p:spPr>
        </p:pic>
      </p:grpSp>
      <p:grpSp>
        <p:nvGrpSpPr>
          <p:cNvPr id="633" name="Group"/>
          <p:cNvGrpSpPr/>
          <p:nvPr/>
        </p:nvGrpSpPr>
        <p:grpSpPr>
          <a:xfrm>
            <a:off x="1979414" y="1446609"/>
            <a:ext cx="8233172" cy="455414"/>
            <a:chOff x="0" y="0"/>
            <a:chExt cx="11709400" cy="647700"/>
          </a:xfrm>
        </p:grpSpPr>
        <p:sp>
          <p:nvSpPr>
            <p:cNvPr id="631" name="Rectangle"/>
            <p:cNvSpPr/>
            <p:nvPr/>
          </p:nvSpPr>
          <p:spPr>
            <a:xfrm>
              <a:off x="0" y="0"/>
              <a:ext cx="11709400" cy="647700"/>
            </a:xfrm>
            <a:prstGeom prst="rect">
              <a:avLst/>
            </a:prstGeom>
            <a:noFill/>
            <a:ln w="28575" cap="flat">
              <a:solidFill>
                <a:srgbClr val="BFBFBF"/>
              </a:solidFill>
              <a:prstDash val="solid"/>
              <a:miter lim="400000"/>
            </a:ln>
            <a:effectLst/>
          </p:spPr>
          <p:txBody>
            <a:bodyPr wrap="square" lIns="35719" tIns="35719" rIns="35719" bIns="35719" numCol="1" anchor="ctr">
              <a:noAutofit/>
            </a:bodyP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632" name="Compute point P of minimum norm in CH(Q)"/>
            <p:cNvSpPr txBox="1"/>
            <p:nvPr/>
          </p:nvSpPr>
          <p:spPr>
            <a:xfrm>
              <a:off x="0" y="0"/>
              <a:ext cx="11709400" cy="53357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t">
              <a:spAutoFit/>
            </a:bodyPr>
            <a:lstStyle/>
            <a:p>
              <a:pPr marL="528619" marR="40638" indent="-500045" defTabSz="910796">
                <a:spcBef>
                  <a:spcPts val="422"/>
                </a:spcBef>
                <a:buClr>
                  <a:srgbClr val="FFA900"/>
                </a:buClr>
                <a:buSzPct val="100000"/>
                <a:buFont typeface="Arial"/>
                <a:buAutoNum type="arabicPeriod" startAt="2"/>
                <a:defRPr sz="2400">
                  <a:solidFill>
                    <a:srgbClr val="FFFFFF"/>
                  </a:solidFill>
                  <a:uFill>
                    <a:solidFill>
                      <a:srgbClr val="FFFFFF"/>
                    </a:solidFill>
                  </a:uFill>
                  <a:latin typeface="+mn-lt"/>
                  <a:ea typeface="+mn-ea"/>
                  <a:cs typeface="+mn-cs"/>
                  <a:sym typeface="Arial"/>
                </a:defRPr>
              </a:pPr>
              <a:r>
                <a:rPr sz="1969"/>
                <a:t>Compute point </a:t>
              </a:r>
              <a:r>
                <a:rPr sz="1969" i="1"/>
                <a:t>P</a:t>
              </a:r>
              <a:r>
                <a:rPr sz="1969"/>
                <a:t> of minimum norm in CH(</a:t>
              </a:r>
              <a:r>
                <a:rPr sz="1969" i="1"/>
                <a:t>Q</a:t>
              </a:r>
              <a:r>
                <a:rPr sz="1969"/>
                <a:t>)</a:t>
              </a:r>
            </a:p>
          </p:txBody>
        </p:sp>
      </p:grpSp>
    </p:spTree>
    <p:extLst>
      <p:ext uri="{BB962C8B-B14F-4D97-AF65-F5344CB8AC3E}">
        <p14:creationId xmlns:p14="http://schemas.microsoft.com/office/powerpoint/2010/main" val="2018737008"/>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637" name="GJK example 4(10)"/>
          <p:cNvSpPr txBox="1">
            <a:spLocks noGrp="1"/>
          </p:cNvSpPr>
          <p:nvPr>
            <p:ph type="title"/>
          </p:nvPr>
        </p:nvSpPr>
        <p:spPr>
          <a:xfrm>
            <a:off x="1979414" y="244475"/>
            <a:ext cx="6402586" cy="1203326"/>
          </a:xfrm>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GJK example 4(10)</a:t>
            </a:r>
          </a:p>
        </p:txBody>
      </p:sp>
      <p:sp>
        <p:nvSpPr>
          <p:cNvPr id="638" name="Shape"/>
          <p:cNvSpPr/>
          <p:nvPr/>
        </p:nvSpPr>
        <p:spPr>
          <a:xfrm>
            <a:off x="2970609" y="3348633"/>
            <a:ext cx="5179219" cy="3045023"/>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8424" y="19980"/>
                </a:lnTo>
                <a:lnTo>
                  <a:pt x="11753" y="21600"/>
                </a:lnTo>
                <a:lnTo>
                  <a:pt x="3812" y="14580"/>
                </a:lnTo>
                <a:lnTo>
                  <a:pt x="0" y="5400"/>
                </a:lnTo>
                <a:lnTo>
                  <a:pt x="6671" y="0"/>
                </a:lnTo>
                <a:lnTo>
                  <a:pt x="17471" y="2160"/>
                </a:lnTo>
                <a:lnTo>
                  <a:pt x="21600" y="972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641" name="Group"/>
          <p:cNvGrpSpPr/>
          <p:nvPr/>
        </p:nvGrpSpPr>
        <p:grpSpPr>
          <a:xfrm>
            <a:off x="3886994" y="6098977"/>
            <a:ext cx="303610" cy="303609"/>
            <a:chOff x="0" y="0"/>
            <a:chExt cx="431800" cy="431800"/>
          </a:xfrm>
        </p:grpSpPr>
        <p:sp>
          <p:nvSpPr>
            <p:cNvPr id="639" name="Line"/>
            <p:cNvSpPr/>
            <p:nvPr/>
          </p:nvSpPr>
          <p:spPr>
            <a:xfrm>
              <a:off x="220697" y="0"/>
              <a:ext cx="2259" cy="431800"/>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sp>
          <p:nvSpPr>
            <p:cNvPr id="640" name="Line"/>
            <p:cNvSpPr/>
            <p:nvPr/>
          </p:nvSpPr>
          <p:spPr>
            <a:xfrm flipV="1">
              <a:off x="0" y="211384"/>
              <a:ext cx="431800" cy="2259"/>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grpSp>
      <p:grpSp>
        <p:nvGrpSpPr>
          <p:cNvPr id="644" name="Group"/>
          <p:cNvGrpSpPr/>
          <p:nvPr/>
        </p:nvGrpSpPr>
        <p:grpSpPr>
          <a:xfrm>
            <a:off x="2059782" y="2644775"/>
            <a:ext cx="2295525" cy="784226"/>
            <a:chOff x="0" y="0"/>
            <a:chExt cx="3264746" cy="1115342"/>
          </a:xfrm>
        </p:grpSpPr>
        <p:sp>
          <p:nvSpPr>
            <p:cNvPr id="642" name="Rectangle"/>
            <p:cNvSpPr/>
            <p:nvPr/>
          </p:nvSpPr>
          <p:spPr>
            <a:xfrm>
              <a:off x="0" y="0"/>
              <a:ext cx="3264747" cy="1115343"/>
            </a:xfrm>
            <a:prstGeom prst="rect">
              <a:avLst/>
            </a:prstGeom>
            <a:solidFill>
              <a:srgbClr val="BFBFBF">
                <a:alpha val="50000"/>
              </a:srgbClr>
            </a:solidFill>
            <a:ln w="12700" cap="flat">
              <a:noFill/>
              <a:miter lim="400000"/>
            </a:ln>
            <a:effectLst/>
          </p:spPr>
          <p:txBody>
            <a:bodyPr wrap="square" lIns="0" tIns="0" rIns="0" bIns="0" numCol="1" anchor="t">
              <a:noAutofit/>
            </a:bodyPr>
            <a:lstStyle/>
            <a:p>
              <a:pPr defTabSz="455398">
                <a:defRPr sz="1600"/>
              </a:pPr>
              <a:endParaRPr sz="1125"/>
            </a:p>
          </p:txBody>
        </p:sp>
        <p:pic>
          <p:nvPicPr>
            <p:cNvPr id="643" name="image.pdf" descr="image.pdf"/>
            <p:cNvPicPr>
              <a:picLocks/>
            </p:cNvPicPr>
            <p:nvPr/>
          </p:nvPicPr>
          <p:blipFill>
            <a:blip r:embed="rId3">
              <a:alphaModFix amt="50000"/>
              <a:extLst/>
            </a:blip>
            <a:stretch>
              <a:fillRect/>
            </a:stretch>
          </p:blipFill>
          <p:spPr>
            <a:xfrm>
              <a:off x="0" y="0"/>
              <a:ext cx="3264747" cy="1115343"/>
            </a:xfrm>
            <a:prstGeom prst="rect">
              <a:avLst/>
            </a:prstGeom>
            <a:ln w="12700" cap="flat">
              <a:noFill/>
              <a:miter lim="400000"/>
            </a:ln>
            <a:effectLst/>
          </p:spPr>
        </p:pic>
      </p:grpSp>
      <p:sp>
        <p:nvSpPr>
          <p:cNvPr id="645" name="Circle"/>
          <p:cNvSpPr/>
          <p:nvPr/>
        </p:nvSpPr>
        <p:spPr>
          <a:xfrm>
            <a:off x="8078390" y="4652367"/>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646" name="image.pdf" descr="image.pdf"/>
          <p:cNvPicPr>
            <a:picLocks/>
          </p:cNvPicPr>
          <p:nvPr/>
        </p:nvPicPr>
        <p:blipFill>
          <a:blip r:embed="rId4">
            <a:extLst/>
          </a:blip>
          <a:stretch>
            <a:fillRect/>
          </a:stretch>
        </p:blipFill>
        <p:spPr>
          <a:xfrm>
            <a:off x="2283024" y="3732609"/>
            <a:ext cx="587375" cy="687586"/>
          </a:xfrm>
          <a:prstGeom prst="rect">
            <a:avLst/>
          </a:prstGeom>
          <a:ln w="12700">
            <a:miter lim="400000"/>
          </a:ln>
        </p:spPr>
      </p:pic>
      <p:pic>
        <p:nvPicPr>
          <p:cNvPr id="647" name="image.pdf" descr="image.pdf"/>
          <p:cNvPicPr>
            <a:picLocks/>
          </p:cNvPicPr>
          <p:nvPr/>
        </p:nvPicPr>
        <p:blipFill>
          <a:blip r:embed="rId5">
            <a:extLst/>
          </a:blip>
          <a:stretch>
            <a:fillRect/>
          </a:stretch>
        </p:blipFill>
        <p:spPr>
          <a:xfrm>
            <a:off x="8230195" y="4420195"/>
            <a:ext cx="636588" cy="687586"/>
          </a:xfrm>
          <a:prstGeom prst="rect">
            <a:avLst/>
          </a:prstGeom>
          <a:ln w="12700">
            <a:miter lim="400000"/>
          </a:ln>
        </p:spPr>
      </p:pic>
      <p:sp>
        <p:nvSpPr>
          <p:cNvPr id="648" name="Line"/>
          <p:cNvSpPr/>
          <p:nvPr/>
        </p:nvSpPr>
        <p:spPr>
          <a:xfrm flipV="1">
            <a:off x="4042172" y="5482828"/>
            <a:ext cx="607219" cy="759023"/>
          </a:xfrm>
          <a:prstGeom prst="line">
            <a:avLst/>
          </a:prstGeom>
          <a:ln w="28575" cap="rnd">
            <a:solidFill>
              <a:srgbClr val="FFFFFF"/>
            </a:solidFill>
            <a:prstDash val="sysDot"/>
          </a:ln>
        </p:spPr>
        <p:txBody>
          <a:bodyPr lIns="35719" tIns="35719" rIns="35719" bIns="35719" anchor="ctr"/>
          <a:lstStyle/>
          <a:p>
            <a:endParaRPr sz="1266"/>
          </a:p>
        </p:txBody>
      </p:sp>
      <p:pic>
        <p:nvPicPr>
          <p:cNvPr id="649" name="image.pdf" descr="image.pdf"/>
          <p:cNvPicPr>
            <a:picLocks/>
          </p:cNvPicPr>
          <p:nvPr/>
        </p:nvPicPr>
        <p:blipFill>
          <a:blip r:embed="rId6">
            <a:extLst/>
          </a:blip>
          <a:stretch>
            <a:fillRect/>
          </a:stretch>
        </p:blipFill>
        <p:spPr>
          <a:xfrm>
            <a:off x="4720828" y="4973637"/>
            <a:ext cx="488950" cy="490539"/>
          </a:xfrm>
          <a:prstGeom prst="rect">
            <a:avLst/>
          </a:prstGeom>
          <a:ln w="12700">
            <a:miter lim="400000"/>
          </a:ln>
        </p:spPr>
      </p:pic>
      <p:sp>
        <p:nvSpPr>
          <p:cNvPr id="650" name="Line"/>
          <p:cNvSpPr/>
          <p:nvPr/>
        </p:nvSpPr>
        <p:spPr>
          <a:xfrm>
            <a:off x="2970610" y="4116586"/>
            <a:ext cx="2821781" cy="2286000"/>
          </a:xfrm>
          <a:prstGeom prst="line">
            <a:avLst/>
          </a:prstGeom>
          <a:ln w="57150">
            <a:solidFill>
              <a:srgbClr val="E7B913"/>
            </a:solidFill>
          </a:ln>
        </p:spPr>
        <p:txBody>
          <a:bodyPr lIns="35719" tIns="35719" rIns="35719" bIns="35719" anchor="ctr"/>
          <a:lstStyle/>
          <a:p>
            <a:endParaRPr sz="1266"/>
          </a:p>
        </p:txBody>
      </p:sp>
      <p:sp>
        <p:nvSpPr>
          <p:cNvPr id="651" name="Circle"/>
          <p:cNvSpPr/>
          <p:nvPr/>
        </p:nvSpPr>
        <p:spPr>
          <a:xfrm>
            <a:off x="2899172" y="4036219"/>
            <a:ext cx="151805" cy="151805"/>
          </a:xfrm>
          <a:prstGeom prst="ellipse">
            <a:avLst/>
          </a:prstGeom>
          <a:solidFill>
            <a:srgbClr val="FFFFFF"/>
          </a:solidFill>
          <a:ln>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652" name="Circle"/>
          <p:cNvSpPr/>
          <p:nvPr/>
        </p:nvSpPr>
        <p:spPr>
          <a:xfrm>
            <a:off x="5712023" y="6322219"/>
            <a:ext cx="151805" cy="151805"/>
          </a:xfrm>
          <a:prstGeom prst="ellipse">
            <a:avLst/>
          </a:prstGeom>
          <a:solidFill>
            <a:srgbClr val="FFFFFF"/>
          </a:solidFill>
          <a:ln>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653" name="Circle"/>
          <p:cNvSpPr/>
          <p:nvPr/>
        </p:nvSpPr>
        <p:spPr>
          <a:xfrm>
            <a:off x="4569023" y="5411390"/>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654" name="If P is the origin, exit; return 0…"/>
          <p:cNvSpPr txBox="1">
            <a:spLocks noGrp="1"/>
          </p:cNvSpPr>
          <p:nvPr>
            <p:ph type="body" sz="quarter" idx="1"/>
          </p:nvPr>
        </p:nvSpPr>
        <p:spPr>
          <a:xfrm>
            <a:off x="1979414" y="1446609"/>
            <a:ext cx="8233172" cy="839391"/>
          </a:xfrm>
          <a:prstGeom prst="rect">
            <a:avLst/>
          </a:prstGeom>
        </p:spPr>
        <p:txBody>
          <a:bodyPr>
            <a:normAutofit lnSpcReduction="10000"/>
          </a:bodyPr>
          <a:lstStyle/>
          <a:p>
            <a:pPr marL="301325" indent="-272751">
              <a:buClr>
                <a:srgbClr val="FFA900"/>
              </a:buClr>
              <a:buFont typeface="Arial"/>
              <a:buAutoNum type="arabicPeriod" startAt="3"/>
            </a:pPr>
            <a:r>
              <a:rPr sz="1969" dirty="0">
                <a:solidFill>
                  <a:schemeClr val="bg1"/>
                </a:solidFill>
              </a:rPr>
              <a:t>If </a:t>
            </a:r>
            <a:r>
              <a:rPr sz="1969" i="1" dirty="0">
                <a:solidFill>
                  <a:schemeClr val="bg1"/>
                </a:solidFill>
              </a:rPr>
              <a:t>P</a:t>
            </a:r>
            <a:r>
              <a:rPr sz="1969" dirty="0">
                <a:solidFill>
                  <a:schemeClr val="bg1"/>
                </a:solidFill>
              </a:rPr>
              <a:t> is the origin, exit; return 0</a:t>
            </a:r>
          </a:p>
          <a:p>
            <a:pPr marL="301325" indent="-272751">
              <a:buClr>
                <a:srgbClr val="FFA900"/>
              </a:buClr>
              <a:buFont typeface="Arial"/>
              <a:buAutoNum type="arabicPeriod" startAt="3"/>
            </a:pPr>
            <a:r>
              <a:rPr sz="1969" dirty="0">
                <a:solidFill>
                  <a:schemeClr val="bg1"/>
                </a:solidFill>
              </a:rPr>
              <a:t>Reduce </a:t>
            </a:r>
            <a:r>
              <a:rPr sz="1969" i="1" dirty="0">
                <a:solidFill>
                  <a:schemeClr val="bg1"/>
                </a:solidFill>
              </a:rPr>
              <a:t>Q</a:t>
            </a:r>
            <a:r>
              <a:rPr sz="1969" dirty="0">
                <a:solidFill>
                  <a:schemeClr val="bg1"/>
                </a:solidFill>
              </a:rPr>
              <a:t> to the smallest subset </a:t>
            </a:r>
            <a:r>
              <a:rPr sz="1969" i="1" dirty="0">
                <a:solidFill>
                  <a:schemeClr val="bg1"/>
                </a:solidFill>
              </a:rPr>
              <a:t>Q</a:t>
            </a:r>
            <a:r>
              <a:rPr sz="1969" dirty="0">
                <a:solidFill>
                  <a:schemeClr val="bg1"/>
                </a:solidFill>
              </a:rPr>
              <a:t>’ of </a:t>
            </a:r>
            <a:r>
              <a:rPr sz="1969" i="1" dirty="0">
                <a:solidFill>
                  <a:schemeClr val="bg1"/>
                </a:solidFill>
              </a:rPr>
              <a:t>Q</a:t>
            </a:r>
            <a:r>
              <a:rPr sz="1969" dirty="0">
                <a:solidFill>
                  <a:schemeClr val="bg1"/>
                </a:solidFill>
              </a:rPr>
              <a:t>, such that </a:t>
            </a:r>
            <a:r>
              <a:rPr sz="1969" i="1" dirty="0">
                <a:solidFill>
                  <a:schemeClr val="bg1"/>
                </a:solidFill>
              </a:rPr>
              <a:t>P</a:t>
            </a:r>
            <a:r>
              <a:rPr sz="1969" dirty="0">
                <a:solidFill>
                  <a:schemeClr val="bg1"/>
                </a:solidFill>
              </a:rPr>
              <a:t> in CH(</a:t>
            </a:r>
            <a:r>
              <a:rPr sz="1969" i="1" dirty="0">
                <a:solidFill>
                  <a:schemeClr val="bg1"/>
                </a:solidFill>
              </a:rPr>
              <a:t>Q</a:t>
            </a:r>
            <a:r>
              <a:rPr sz="1969" dirty="0">
                <a:solidFill>
                  <a:schemeClr val="bg1"/>
                </a:solidFill>
              </a:rPr>
              <a:t>’)</a:t>
            </a:r>
          </a:p>
        </p:txBody>
      </p:sp>
      <p:pic>
        <p:nvPicPr>
          <p:cNvPr id="655" name="image.pdf" descr="image.pdf"/>
          <p:cNvPicPr>
            <a:picLocks/>
          </p:cNvPicPr>
          <p:nvPr/>
        </p:nvPicPr>
        <p:blipFill>
          <a:blip r:embed="rId7">
            <a:extLst/>
          </a:blip>
          <a:stretch>
            <a:fillRect/>
          </a:stretch>
        </p:blipFill>
        <p:spPr>
          <a:xfrm>
            <a:off x="5560219" y="5634633"/>
            <a:ext cx="631825" cy="687586"/>
          </a:xfrm>
          <a:prstGeom prst="rect">
            <a:avLst/>
          </a:prstGeom>
          <a:ln w="12700">
            <a:miter lim="400000"/>
          </a:ln>
        </p:spPr>
      </p:pic>
    </p:spTree>
    <p:extLst>
      <p:ext uri="{BB962C8B-B14F-4D97-AF65-F5344CB8AC3E}">
        <p14:creationId xmlns:p14="http://schemas.microsoft.com/office/powerpoint/2010/main" val="3539361408"/>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659" name="Shape"/>
          <p:cNvSpPr/>
          <p:nvPr/>
        </p:nvSpPr>
        <p:spPr>
          <a:xfrm>
            <a:off x="2970609" y="3348633"/>
            <a:ext cx="5179219" cy="3045023"/>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8424" y="19980"/>
                </a:lnTo>
                <a:lnTo>
                  <a:pt x="11753" y="21600"/>
                </a:lnTo>
                <a:lnTo>
                  <a:pt x="3812" y="14580"/>
                </a:lnTo>
                <a:lnTo>
                  <a:pt x="0" y="5400"/>
                </a:lnTo>
                <a:lnTo>
                  <a:pt x="6671" y="0"/>
                </a:lnTo>
                <a:lnTo>
                  <a:pt x="17471" y="2160"/>
                </a:lnTo>
                <a:lnTo>
                  <a:pt x="21600" y="972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662" name="Group"/>
          <p:cNvGrpSpPr/>
          <p:nvPr/>
        </p:nvGrpSpPr>
        <p:grpSpPr>
          <a:xfrm>
            <a:off x="3886994" y="6098977"/>
            <a:ext cx="303610" cy="303609"/>
            <a:chOff x="0" y="0"/>
            <a:chExt cx="431800" cy="431800"/>
          </a:xfrm>
        </p:grpSpPr>
        <p:sp>
          <p:nvSpPr>
            <p:cNvPr id="660" name="Line"/>
            <p:cNvSpPr/>
            <p:nvPr/>
          </p:nvSpPr>
          <p:spPr>
            <a:xfrm>
              <a:off x="220697" y="0"/>
              <a:ext cx="2259" cy="431800"/>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sp>
          <p:nvSpPr>
            <p:cNvPr id="661" name="Line"/>
            <p:cNvSpPr/>
            <p:nvPr/>
          </p:nvSpPr>
          <p:spPr>
            <a:xfrm flipV="1">
              <a:off x="0" y="211384"/>
              <a:ext cx="431800" cy="2259"/>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grpSp>
      <p:sp>
        <p:nvSpPr>
          <p:cNvPr id="663" name="GJK example 5(10)"/>
          <p:cNvSpPr txBox="1">
            <a:spLocks noGrp="1"/>
          </p:cNvSpPr>
          <p:nvPr>
            <p:ph type="title"/>
          </p:nvPr>
        </p:nvSpPr>
        <p:spPr>
          <a:xfrm>
            <a:off x="1979414" y="244475"/>
            <a:ext cx="6402586" cy="1203326"/>
          </a:xfrm>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GJK example 5(10)</a:t>
            </a:r>
          </a:p>
        </p:txBody>
      </p:sp>
      <p:pic>
        <p:nvPicPr>
          <p:cNvPr id="664" name="image.pdf" descr="image.pdf"/>
          <p:cNvPicPr>
            <a:picLocks/>
          </p:cNvPicPr>
          <p:nvPr/>
        </p:nvPicPr>
        <p:blipFill>
          <a:blip r:embed="rId3">
            <a:extLst/>
          </a:blip>
          <a:stretch>
            <a:fillRect/>
          </a:stretch>
        </p:blipFill>
        <p:spPr>
          <a:xfrm>
            <a:off x="2085975" y="2644775"/>
            <a:ext cx="2295526" cy="784226"/>
          </a:xfrm>
          <a:prstGeom prst="rect">
            <a:avLst/>
          </a:prstGeom>
          <a:ln w="12700">
            <a:miter lim="400000"/>
          </a:ln>
        </p:spPr>
      </p:pic>
      <p:pic>
        <p:nvPicPr>
          <p:cNvPr id="665" name="image.pdf" descr="image.pdf"/>
          <p:cNvPicPr>
            <a:picLocks/>
          </p:cNvPicPr>
          <p:nvPr/>
        </p:nvPicPr>
        <p:blipFill>
          <a:blip r:embed="rId4">
            <a:extLst/>
          </a:blip>
          <a:stretch>
            <a:fillRect/>
          </a:stretch>
        </p:blipFill>
        <p:spPr>
          <a:xfrm>
            <a:off x="2283024" y="3732609"/>
            <a:ext cx="587375" cy="687586"/>
          </a:xfrm>
          <a:prstGeom prst="rect">
            <a:avLst/>
          </a:prstGeom>
          <a:ln w="12700">
            <a:miter lim="400000"/>
          </a:ln>
        </p:spPr>
      </p:pic>
      <p:pic>
        <p:nvPicPr>
          <p:cNvPr id="666" name="image.pdf" descr="image.pdf"/>
          <p:cNvPicPr>
            <a:picLocks/>
          </p:cNvPicPr>
          <p:nvPr/>
        </p:nvPicPr>
        <p:blipFill>
          <a:blip r:embed="rId5">
            <a:extLst/>
          </a:blip>
          <a:stretch>
            <a:fillRect/>
          </a:stretch>
        </p:blipFill>
        <p:spPr>
          <a:xfrm>
            <a:off x="5560219" y="5634633"/>
            <a:ext cx="631825" cy="687586"/>
          </a:xfrm>
          <a:prstGeom prst="rect">
            <a:avLst/>
          </a:prstGeom>
          <a:ln w="12700">
            <a:miter lim="400000"/>
          </a:ln>
        </p:spPr>
      </p:pic>
      <p:pic>
        <p:nvPicPr>
          <p:cNvPr id="667" name="image.pdf" descr="image.pdf"/>
          <p:cNvPicPr>
            <a:picLocks/>
          </p:cNvPicPr>
          <p:nvPr/>
        </p:nvPicPr>
        <p:blipFill>
          <a:blip r:embed="rId6">
            <a:extLst/>
          </a:blip>
          <a:stretch>
            <a:fillRect/>
          </a:stretch>
        </p:blipFill>
        <p:spPr>
          <a:xfrm>
            <a:off x="4720828" y="4973637"/>
            <a:ext cx="488950" cy="490539"/>
          </a:xfrm>
          <a:prstGeom prst="rect">
            <a:avLst/>
          </a:prstGeom>
          <a:ln w="12700">
            <a:miter lim="400000"/>
          </a:ln>
        </p:spPr>
      </p:pic>
      <p:sp>
        <p:nvSpPr>
          <p:cNvPr id="668" name="Line"/>
          <p:cNvSpPr/>
          <p:nvPr/>
        </p:nvSpPr>
        <p:spPr>
          <a:xfrm>
            <a:off x="2970610" y="4116586"/>
            <a:ext cx="2821781" cy="2286000"/>
          </a:xfrm>
          <a:prstGeom prst="line">
            <a:avLst/>
          </a:prstGeom>
          <a:ln w="57150">
            <a:solidFill>
              <a:srgbClr val="E7B913"/>
            </a:solidFill>
          </a:ln>
        </p:spPr>
        <p:txBody>
          <a:bodyPr lIns="35719" tIns="35719" rIns="35719" bIns="35719" anchor="ctr"/>
          <a:lstStyle/>
          <a:p>
            <a:endParaRPr sz="1266"/>
          </a:p>
        </p:txBody>
      </p:sp>
      <p:sp>
        <p:nvSpPr>
          <p:cNvPr id="669" name="Circle"/>
          <p:cNvSpPr/>
          <p:nvPr/>
        </p:nvSpPr>
        <p:spPr>
          <a:xfrm>
            <a:off x="2899172" y="4036219"/>
            <a:ext cx="151805" cy="151805"/>
          </a:xfrm>
          <a:prstGeom prst="ellipse">
            <a:avLst/>
          </a:prstGeom>
          <a:solidFill>
            <a:srgbClr val="FFFFFF"/>
          </a:solidFill>
          <a:ln>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670" name="Circle"/>
          <p:cNvSpPr/>
          <p:nvPr/>
        </p:nvSpPr>
        <p:spPr>
          <a:xfrm>
            <a:off x="5712023" y="6322219"/>
            <a:ext cx="151805" cy="151805"/>
          </a:xfrm>
          <a:prstGeom prst="ellipse">
            <a:avLst/>
          </a:prstGeom>
          <a:solidFill>
            <a:srgbClr val="FFFFFF"/>
          </a:solidFill>
          <a:ln>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671" name="Circle"/>
          <p:cNvSpPr/>
          <p:nvPr/>
        </p:nvSpPr>
        <p:spPr>
          <a:xfrm>
            <a:off x="4569023" y="5411390"/>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672" name="Line"/>
          <p:cNvSpPr/>
          <p:nvPr/>
        </p:nvSpPr>
        <p:spPr>
          <a:xfrm flipV="1">
            <a:off x="4042172" y="5563195"/>
            <a:ext cx="535781" cy="687586"/>
          </a:xfrm>
          <a:prstGeom prst="line">
            <a:avLst/>
          </a:prstGeom>
          <a:ln w="28575" cap="rnd">
            <a:solidFill>
              <a:srgbClr val="FFFB00"/>
            </a:solidFill>
            <a:prstDash val="sysDot"/>
            <a:tailEnd type="triangle"/>
          </a:ln>
        </p:spPr>
        <p:txBody>
          <a:bodyPr lIns="35719" tIns="35719" rIns="35719" bIns="35719" anchor="ctr"/>
          <a:lstStyle/>
          <a:p>
            <a:endParaRPr sz="1266"/>
          </a:p>
        </p:txBody>
      </p:sp>
      <p:sp>
        <p:nvSpPr>
          <p:cNvPr id="673" name="Line"/>
          <p:cNvSpPr/>
          <p:nvPr/>
        </p:nvSpPr>
        <p:spPr>
          <a:xfrm>
            <a:off x="3658195" y="5259586"/>
            <a:ext cx="455414" cy="383977"/>
          </a:xfrm>
          <a:prstGeom prst="line">
            <a:avLst/>
          </a:prstGeom>
          <a:ln w="28575" cap="rnd">
            <a:solidFill>
              <a:srgbClr val="FFFB00"/>
            </a:solidFill>
            <a:prstDash val="sysDot"/>
          </a:ln>
        </p:spPr>
        <p:txBody>
          <a:bodyPr lIns="35719" tIns="35719" rIns="35719" bIns="35719" anchor="ctr"/>
          <a:lstStyle/>
          <a:p>
            <a:endParaRPr sz="1266"/>
          </a:p>
        </p:txBody>
      </p:sp>
      <p:sp>
        <p:nvSpPr>
          <p:cNvPr id="674" name="Let V=SC(–P) be a supporting point in direction –P"/>
          <p:cNvSpPr txBox="1">
            <a:spLocks noGrp="1"/>
          </p:cNvSpPr>
          <p:nvPr>
            <p:ph type="body" sz="quarter" idx="1"/>
          </p:nvPr>
        </p:nvSpPr>
        <p:spPr>
          <a:xfrm>
            <a:off x="1979414" y="1446609"/>
            <a:ext cx="8233172" cy="455414"/>
          </a:xfrm>
          <a:prstGeom prst="rect">
            <a:avLst/>
          </a:prstGeom>
        </p:spPr>
        <p:txBody>
          <a:bodyPr/>
          <a:lstStyle/>
          <a:p>
            <a:pPr marL="301325" indent="-272751">
              <a:buClr>
                <a:srgbClr val="FFA900"/>
              </a:buClr>
              <a:buFont typeface="Arial"/>
              <a:buAutoNum type="arabicPeriod" startAt="5"/>
            </a:pPr>
            <a:r>
              <a:rPr sz="1969" dirty="0">
                <a:solidFill>
                  <a:schemeClr val="bg1"/>
                </a:solidFill>
              </a:rPr>
              <a:t>Let </a:t>
            </a:r>
            <a:r>
              <a:rPr sz="1969" i="1" dirty="0">
                <a:solidFill>
                  <a:schemeClr val="bg1"/>
                </a:solidFill>
              </a:rPr>
              <a:t>V</a:t>
            </a:r>
            <a:r>
              <a:rPr sz="1969" dirty="0">
                <a:solidFill>
                  <a:schemeClr val="bg1"/>
                </a:solidFill>
              </a:rPr>
              <a:t>=</a:t>
            </a:r>
            <a:r>
              <a:rPr sz="1969" i="1" dirty="0">
                <a:solidFill>
                  <a:schemeClr val="bg1"/>
                </a:solidFill>
              </a:rPr>
              <a:t>S</a:t>
            </a:r>
            <a:r>
              <a:rPr sz="1969" i="1" baseline="-19571" dirty="0">
                <a:solidFill>
                  <a:schemeClr val="bg1"/>
                </a:solidFill>
              </a:rPr>
              <a:t>C</a:t>
            </a:r>
            <a:r>
              <a:rPr sz="1969" dirty="0">
                <a:solidFill>
                  <a:schemeClr val="bg1"/>
                </a:solidFill>
              </a:rPr>
              <a:t>(–</a:t>
            </a:r>
            <a:r>
              <a:rPr sz="1969" i="1" dirty="0">
                <a:solidFill>
                  <a:schemeClr val="bg1"/>
                </a:solidFill>
              </a:rPr>
              <a:t>P</a:t>
            </a:r>
            <a:r>
              <a:rPr sz="1969" dirty="0">
                <a:solidFill>
                  <a:schemeClr val="bg1"/>
                </a:solidFill>
              </a:rPr>
              <a:t>) be a supporting point in direction –</a:t>
            </a:r>
            <a:r>
              <a:rPr sz="1969" i="1" dirty="0">
                <a:solidFill>
                  <a:schemeClr val="bg1"/>
                </a:solidFill>
              </a:rPr>
              <a:t>P</a:t>
            </a:r>
          </a:p>
        </p:txBody>
      </p:sp>
      <p:sp>
        <p:nvSpPr>
          <p:cNvPr id="675" name="Circle"/>
          <p:cNvSpPr/>
          <p:nvPr/>
        </p:nvSpPr>
        <p:spPr>
          <a:xfrm>
            <a:off x="3810000" y="5331023"/>
            <a:ext cx="151805" cy="151805"/>
          </a:xfrm>
          <a:prstGeom prst="ellipse">
            <a:avLst/>
          </a:prstGeom>
          <a:solidFill>
            <a:srgbClr val="FFFB00"/>
          </a:solidFill>
          <a:ln>
            <a:solidFill>
              <a:srgbClr val="FFFB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678" name="Group"/>
          <p:cNvGrpSpPr/>
          <p:nvPr/>
        </p:nvGrpSpPr>
        <p:grpSpPr>
          <a:xfrm>
            <a:off x="1776412" y="5411391"/>
            <a:ext cx="2100263" cy="687586"/>
            <a:chOff x="0" y="0"/>
            <a:chExt cx="2987040" cy="977900"/>
          </a:xfrm>
        </p:grpSpPr>
        <p:sp>
          <p:nvSpPr>
            <p:cNvPr id="676" name="Rectangle"/>
            <p:cNvSpPr/>
            <p:nvPr/>
          </p:nvSpPr>
          <p:spPr>
            <a:xfrm>
              <a:off x="0" y="0"/>
              <a:ext cx="2987041" cy="977900"/>
            </a:xfrm>
            <a:prstGeom prst="rect">
              <a:avLst/>
            </a:prstGeom>
            <a:solidFill>
              <a:srgbClr val="BFBFBF">
                <a:alpha val="50000"/>
              </a:srgbClr>
            </a:solidFill>
            <a:ln w="12700" cap="flat">
              <a:noFill/>
              <a:miter lim="400000"/>
            </a:ln>
            <a:effectLst/>
          </p:spPr>
          <p:txBody>
            <a:bodyPr wrap="square" lIns="0" tIns="0" rIns="0" bIns="0" numCol="1" anchor="t">
              <a:noAutofit/>
            </a:bodyPr>
            <a:lstStyle/>
            <a:p>
              <a:pPr defTabSz="455398">
                <a:defRPr sz="1600"/>
              </a:pPr>
              <a:endParaRPr sz="1125"/>
            </a:p>
          </p:txBody>
        </p:sp>
        <p:pic>
          <p:nvPicPr>
            <p:cNvPr id="677" name="image.pdf" descr="image.pdf"/>
            <p:cNvPicPr>
              <a:picLocks/>
            </p:cNvPicPr>
            <p:nvPr/>
          </p:nvPicPr>
          <p:blipFill>
            <a:blip r:embed="rId7">
              <a:alphaModFix amt="50000"/>
              <a:extLst/>
            </a:blip>
            <a:stretch>
              <a:fillRect/>
            </a:stretch>
          </p:blipFill>
          <p:spPr>
            <a:xfrm>
              <a:off x="0" y="0"/>
              <a:ext cx="2987041" cy="977900"/>
            </a:xfrm>
            <a:prstGeom prst="rect">
              <a:avLst/>
            </a:prstGeom>
            <a:ln w="12700" cap="flat">
              <a:noFill/>
              <a:miter lim="400000"/>
            </a:ln>
            <a:effectLst/>
          </p:spPr>
        </p:pic>
      </p:grpSp>
    </p:spTree>
    <p:extLst>
      <p:ext uri="{BB962C8B-B14F-4D97-AF65-F5344CB8AC3E}">
        <p14:creationId xmlns:p14="http://schemas.microsoft.com/office/powerpoint/2010/main" val="58220122"/>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682" name="Shape"/>
          <p:cNvSpPr/>
          <p:nvPr/>
        </p:nvSpPr>
        <p:spPr>
          <a:xfrm>
            <a:off x="2970609" y="3348633"/>
            <a:ext cx="5179219" cy="3045023"/>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8424" y="19980"/>
                </a:lnTo>
                <a:lnTo>
                  <a:pt x="11753" y="21600"/>
                </a:lnTo>
                <a:lnTo>
                  <a:pt x="3812" y="14580"/>
                </a:lnTo>
                <a:lnTo>
                  <a:pt x="0" y="5400"/>
                </a:lnTo>
                <a:lnTo>
                  <a:pt x="6671" y="0"/>
                </a:lnTo>
                <a:lnTo>
                  <a:pt x="17471" y="2160"/>
                </a:lnTo>
                <a:lnTo>
                  <a:pt x="21600" y="972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685" name="Group"/>
          <p:cNvGrpSpPr/>
          <p:nvPr/>
        </p:nvGrpSpPr>
        <p:grpSpPr>
          <a:xfrm>
            <a:off x="3886994" y="6098977"/>
            <a:ext cx="303610" cy="303609"/>
            <a:chOff x="0" y="0"/>
            <a:chExt cx="431800" cy="431800"/>
          </a:xfrm>
        </p:grpSpPr>
        <p:sp>
          <p:nvSpPr>
            <p:cNvPr id="683" name="Line"/>
            <p:cNvSpPr/>
            <p:nvPr/>
          </p:nvSpPr>
          <p:spPr>
            <a:xfrm>
              <a:off x="220697" y="0"/>
              <a:ext cx="2259" cy="431800"/>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sp>
          <p:nvSpPr>
            <p:cNvPr id="684" name="Line"/>
            <p:cNvSpPr/>
            <p:nvPr/>
          </p:nvSpPr>
          <p:spPr>
            <a:xfrm flipV="1">
              <a:off x="0" y="211384"/>
              <a:ext cx="431800" cy="2259"/>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grpSp>
      <p:sp>
        <p:nvSpPr>
          <p:cNvPr id="686" name="GJK example 6(10)"/>
          <p:cNvSpPr txBox="1">
            <a:spLocks noGrp="1"/>
          </p:cNvSpPr>
          <p:nvPr>
            <p:ph type="title"/>
          </p:nvPr>
        </p:nvSpPr>
        <p:spPr>
          <a:xfrm>
            <a:off x="1979414" y="244475"/>
            <a:ext cx="6402586" cy="1203326"/>
          </a:xfrm>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GJK example 6(10)</a:t>
            </a:r>
          </a:p>
        </p:txBody>
      </p:sp>
      <p:sp>
        <p:nvSpPr>
          <p:cNvPr id="687" name="Circle"/>
          <p:cNvSpPr/>
          <p:nvPr/>
        </p:nvSpPr>
        <p:spPr>
          <a:xfrm>
            <a:off x="2899172" y="4036219"/>
            <a:ext cx="151805" cy="151805"/>
          </a:xfrm>
          <a:prstGeom prst="ellipse">
            <a:avLst/>
          </a:prstGeom>
          <a:solidFill>
            <a:srgbClr val="FFFFFF"/>
          </a:solidFill>
          <a:ln>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688" name="image.pdf" descr="image.pdf"/>
          <p:cNvPicPr>
            <a:picLocks/>
          </p:cNvPicPr>
          <p:nvPr/>
        </p:nvPicPr>
        <p:blipFill>
          <a:blip r:embed="rId2">
            <a:extLst/>
          </a:blip>
          <a:stretch>
            <a:fillRect/>
          </a:stretch>
        </p:blipFill>
        <p:spPr>
          <a:xfrm>
            <a:off x="2283024" y="3732609"/>
            <a:ext cx="587375" cy="687586"/>
          </a:xfrm>
          <a:prstGeom prst="rect">
            <a:avLst/>
          </a:prstGeom>
          <a:ln w="12700">
            <a:miter lim="400000"/>
          </a:ln>
        </p:spPr>
      </p:pic>
      <p:grpSp>
        <p:nvGrpSpPr>
          <p:cNvPr id="691" name="Group"/>
          <p:cNvGrpSpPr/>
          <p:nvPr/>
        </p:nvGrpSpPr>
        <p:grpSpPr>
          <a:xfrm>
            <a:off x="2114550" y="2644775"/>
            <a:ext cx="2736851" cy="784226"/>
            <a:chOff x="0" y="0"/>
            <a:chExt cx="3892408" cy="1115342"/>
          </a:xfrm>
        </p:grpSpPr>
        <p:sp>
          <p:nvSpPr>
            <p:cNvPr id="689" name="Rectangle"/>
            <p:cNvSpPr/>
            <p:nvPr/>
          </p:nvSpPr>
          <p:spPr>
            <a:xfrm>
              <a:off x="0" y="0"/>
              <a:ext cx="3892409" cy="1115343"/>
            </a:xfrm>
            <a:prstGeom prst="rect">
              <a:avLst/>
            </a:prstGeom>
            <a:solidFill>
              <a:srgbClr val="BFBFBF">
                <a:alpha val="50000"/>
              </a:srgbClr>
            </a:solidFill>
            <a:ln w="12700" cap="flat">
              <a:noFill/>
              <a:miter lim="400000"/>
            </a:ln>
            <a:effectLst/>
          </p:spPr>
          <p:txBody>
            <a:bodyPr wrap="square" lIns="0" tIns="0" rIns="0" bIns="0" numCol="1" anchor="t">
              <a:noAutofit/>
            </a:bodyPr>
            <a:lstStyle/>
            <a:p>
              <a:pPr defTabSz="455398">
                <a:defRPr sz="1600"/>
              </a:pPr>
              <a:endParaRPr sz="1125"/>
            </a:p>
          </p:txBody>
        </p:sp>
        <p:pic>
          <p:nvPicPr>
            <p:cNvPr id="690" name="image.pdf" descr="image.pdf"/>
            <p:cNvPicPr>
              <a:picLocks/>
            </p:cNvPicPr>
            <p:nvPr/>
          </p:nvPicPr>
          <p:blipFill>
            <a:blip r:embed="rId3">
              <a:alphaModFix amt="50000"/>
              <a:extLst/>
            </a:blip>
            <a:stretch>
              <a:fillRect/>
            </a:stretch>
          </p:blipFill>
          <p:spPr>
            <a:xfrm>
              <a:off x="0" y="0"/>
              <a:ext cx="3892409" cy="1115343"/>
            </a:xfrm>
            <a:prstGeom prst="rect">
              <a:avLst/>
            </a:prstGeom>
            <a:ln w="12700" cap="flat">
              <a:noFill/>
              <a:miter lim="400000"/>
            </a:ln>
            <a:effectLst/>
          </p:spPr>
        </p:pic>
      </p:grpSp>
      <p:sp>
        <p:nvSpPr>
          <p:cNvPr id="692" name="Circle"/>
          <p:cNvSpPr/>
          <p:nvPr/>
        </p:nvSpPr>
        <p:spPr>
          <a:xfrm>
            <a:off x="5712023" y="6322219"/>
            <a:ext cx="151805" cy="151805"/>
          </a:xfrm>
          <a:prstGeom prst="ellipse">
            <a:avLst/>
          </a:prstGeom>
          <a:solidFill>
            <a:srgbClr val="FFFFFF"/>
          </a:solidFill>
          <a:ln>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693" name="image.pdf" descr="image.pdf"/>
          <p:cNvPicPr>
            <a:picLocks/>
          </p:cNvPicPr>
          <p:nvPr/>
        </p:nvPicPr>
        <p:blipFill>
          <a:blip r:embed="rId4">
            <a:extLst/>
          </a:blip>
          <a:stretch>
            <a:fillRect/>
          </a:stretch>
        </p:blipFill>
        <p:spPr>
          <a:xfrm>
            <a:off x="5560219" y="5634633"/>
            <a:ext cx="631825" cy="687586"/>
          </a:xfrm>
          <a:prstGeom prst="rect">
            <a:avLst/>
          </a:prstGeom>
          <a:ln w="12700">
            <a:miter lim="400000"/>
          </a:ln>
        </p:spPr>
      </p:pic>
      <p:sp>
        <p:nvSpPr>
          <p:cNvPr id="694" name="Circle"/>
          <p:cNvSpPr/>
          <p:nvPr/>
        </p:nvSpPr>
        <p:spPr>
          <a:xfrm>
            <a:off x="3810000" y="5331023"/>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695" name="image.pdf" descr="image.pdf"/>
          <p:cNvPicPr>
            <a:picLocks/>
          </p:cNvPicPr>
          <p:nvPr/>
        </p:nvPicPr>
        <p:blipFill>
          <a:blip r:embed="rId5">
            <a:extLst/>
          </a:blip>
          <a:stretch>
            <a:fillRect/>
          </a:stretch>
        </p:blipFill>
        <p:spPr>
          <a:xfrm>
            <a:off x="3373438" y="5356225"/>
            <a:ext cx="488950" cy="488951"/>
          </a:xfrm>
          <a:prstGeom prst="rect">
            <a:avLst/>
          </a:prstGeom>
          <a:ln w="12700">
            <a:miter lim="400000"/>
          </a:ln>
        </p:spPr>
      </p:pic>
      <p:sp>
        <p:nvSpPr>
          <p:cNvPr id="696" name="If V no more extreme in direction –P than P itself, exit; return ||P||…"/>
          <p:cNvSpPr txBox="1">
            <a:spLocks noGrp="1"/>
          </p:cNvSpPr>
          <p:nvPr>
            <p:ph type="body" sz="quarter" idx="1"/>
          </p:nvPr>
        </p:nvSpPr>
        <p:spPr>
          <a:xfrm>
            <a:off x="1979414" y="1446609"/>
            <a:ext cx="8233172" cy="839391"/>
          </a:xfrm>
          <a:prstGeom prst="rect">
            <a:avLst/>
          </a:prstGeom>
        </p:spPr>
        <p:txBody>
          <a:bodyPr>
            <a:normAutofit lnSpcReduction="10000"/>
          </a:bodyPr>
          <a:lstStyle/>
          <a:p>
            <a:pPr marL="301325" indent="-272751">
              <a:buClr>
                <a:srgbClr val="FFA900"/>
              </a:buClr>
              <a:buFont typeface="Arial"/>
              <a:buAutoNum type="arabicPeriod" startAt="6"/>
            </a:pPr>
            <a:r>
              <a:rPr sz="1969" dirty="0">
                <a:solidFill>
                  <a:schemeClr val="bg1"/>
                </a:solidFill>
              </a:rPr>
              <a:t>If </a:t>
            </a:r>
            <a:r>
              <a:rPr sz="1969" i="1" dirty="0">
                <a:solidFill>
                  <a:schemeClr val="bg1"/>
                </a:solidFill>
              </a:rPr>
              <a:t>V</a:t>
            </a:r>
            <a:r>
              <a:rPr sz="1969" dirty="0">
                <a:solidFill>
                  <a:schemeClr val="bg1"/>
                </a:solidFill>
              </a:rPr>
              <a:t> no more extreme in direction –</a:t>
            </a:r>
            <a:r>
              <a:rPr sz="1969" i="1" dirty="0">
                <a:solidFill>
                  <a:schemeClr val="bg1"/>
                </a:solidFill>
              </a:rPr>
              <a:t>P</a:t>
            </a:r>
            <a:r>
              <a:rPr sz="1969" dirty="0">
                <a:solidFill>
                  <a:schemeClr val="bg1"/>
                </a:solidFill>
              </a:rPr>
              <a:t> than </a:t>
            </a:r>
            <a:r>
              <a:rPr sz="1969" i="1" dirty="0">
                <a:solidFill>
                  <a:schemeClr val="bg1"/>
                </a:solidFill>
              </a:rPr>
              <a:t>P</a:t>
            </a:r>
            <a:r>
              <a:rPr sz="1969" dirty="0">
                <a:solidFill>
                  <a:schemeClr val="bg1"/>
                </a:solidFill>
              </a:rPr>
              <a:t> itself, exit; return ||</a:t>
            </a:r>
            <a:r>
              <a:rPr sz="1969" i="1" dirty="0">
                <a:solidFill>
                  <a:schemeClr val="bg1"/>
                </a:solidFill>
              </a:rPr>
              <a:t>P</a:t>
            </a:r>
            <a:r>
              <a:rPr sz="1969" dirty="0">
                <a:solidFill>
                  <a:schemeClr val="bg1"/>
                </a:solidFill>
              </a:rPr>
              <a:t>||</a:t>
            </a:r>
          </a:p>
          <a:p>
            <a:pPr marL="301325" indent="-272751">
              <a:buClr>
                <a:srgbClr val="FFA900"/>
              </a:buClr>
              <a:buFont typeface="Arial"/>
              <a:buAutoNum type="arabicPeriod" startAt="6"/>
            </a:pPr>
            <a:r>
              <a:rPr sz="1969" dirty="0">
                <a:solidFill>
                  <a:schemeClr val="bg1"/>
                </a:solidFill>
              </a:rPr>
              <a:t>Add </a:t>
            </a:r>
            <a:r>
              <a:rPr sz="1969" i="1" dirty="0">
                <a:solidFill>
                  <a:schemeClr val="bg1"/>
                </a:solidFill>
              </a:rPr>
              <a:t>V</a:t>
            </a:r>
            <a:r>
              <a:rPr sz="1969" dirty="0">
                <a:solidFill>
                  <a:schemeClr val="bg1"/>
                </a:solidFill>
              </a:rPr>
              <a:t> to </a:t>
            </a:r>
            <a:r>
              <a:rPr sz="1969" i="1" dirty="0">
                <a:solidFill>
                  <a:schemeClr val="bg1"/>
                </a:solidFill>
              </a:rPr>
              <a:t>Q</a:t>
            </a:r>
            <a:r>
              <a:rPr sz="1969" dirty="0">
                <a:solidFill>
                  <a:schemeClr val="bg1"/>
                </a:solidFill>
              </a:rPr>
              <a:t>. Go to step 2</a:t>
            </a:r>
          </a:p>
        </p:txBody>
      </p:sp>
    </p:spTree>
    <p:extLst>
      <p:ext uri="{BB962C8B-B14F-4D97-AF65-F5344CB8AC3E}">
        <p14:creationId xmlns:p14="http://schemas.microsoft.com/office/powerpoint/2010/main" val="1144771375"/>
      </p:ext>
    </p:extLst>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698" name="Shape"/>
          <p:cNvSpPr/>
          <p:nvPr/>
        </p:nvSpPr>
        <p:spPr>
          <a:xfrm>
            <a:off x="2970609" y="3348633"/>
            <a:ext cx="5179219" cy="3045023"/>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8424" y="19980"/>
                </a:lnTo>
                <a:lnTo>
                  <a:pt x="11753" y="21600"/>
                </a:lnTo>
                <a:lnTo>
                  <a:pt x="3812" y="14580"/>
                </a:lnTo>
                <a:lnTo>
                  <a:pt x="0" y="5400"/>
                </a:lnTo>
                <a:lnTo>
                  <a:pt x="6671" y="0"/>
                </a:lnTo>
                <a:lnTo>
                  <a:pt x="17471" y="2160"/>
                </a:lnTo>
                <a:lnTo>
                  <a:pt x="21600" y="972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701" name="Group"/>
          <p:cNvGrpSpPr/>
          <p:nvPr/>
        </p:nvGrpSpPr>
        <p:grpSpPr>
          <a:xfrm>
            <a:off x="3886994" y="6098977"/>
            <a:ext cx="303610" cy="303609"/>
            <a:chOff x="0" y="0"/>
            <a:chExt cx="431800" cy="431800"/>
          </a:xfrm>
        </p:grpSpPr>
        <p:sp>
          <p:nvSpPr>
            <p:cNvPr id="699" name="Line"/>
            <p:cNvSpPr/>
            <p:nvPr/>
          </p:nvSpPr>
          <p:spPr>
            <a:xfrm>
              <a:off x="220697" y="0"/>
              <a:ext cx="2259" cy="431800"/>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sp>
          <p:nvSpPr>
            <p:cNvPr id="700" name="Line"/>
            <p:cNvSpPr/>
            <p:nvPr/>
          </p:nvSpPr>
          <p:spPr>
            <a:xfrm flipV="1">
              <a:off x="0" y="211384"/>
              <a:ext cx="431800" cy="2259"/>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grpSp>
      <p:sp>
        <p:nvSpPr>
          <p:cNvPr id="702" name="GJK example 7(10)"/>
          <p:cNvSpPr txBox="1">
            <a:spLocks noGrp="1"/>
          </p:cNvSpPr>
          <p:nvPr>
            <p:ph type="title"/>
          </p:nvPr>
        </p:nvSpPr>
        <p:spPr>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GJK example 7(10)</a:t>
            </a:r>
          </a:p>
        </p:txBody>
      </p:sp>
      <p:pic>
        <p:nvPicPr>
          <p:cNvPr id="703" name="image.pdf" descr="image.pdf"/>
          <p:cNvPicPr>
            <a:picLocks/>
          </p:cNvPicPr>
          <p:nvPr/>
        </p:nvPicPr>
        <p:blipFill>
          <a:blip r:embed="rId2">
            <a:extLst/>
          </a:blip>
          <a:stretch>
            <a:fillRect/>
          </a:stretch>
        </p:blipFill>
        <p:spPr>
          <a:xfrm>
            <a:off x="2114550" y="2644775"/>
            <a:ext cx="2736851" cy="784226"/>
          </a:xfrm>
          <a:prstGeom prst="rect">
            <a:avLst/>
          </a:prstGeom>
          <a:ln w="12700">
            <a:miter lim="400000"/>
          </a:ln>
        </p:spPr>
      </p:pic>
      <p:pic>
        <p:nvPicPr>
          <p:cNvPr id="704" name="image.pdf" descr="image.pdf"/>
          <p:cNvPicPr>
            <a:picLocks/>
          </p:cNvPicPr>
          <p:nvPr/>
        </p:nvPicPr>
        <p:blipFill>
          <a:blip r:embed="rId3">
            <a:extLst/>
          </a:blip>
          <a:stretch>
            <a:fillRect/>
          </a:stretch>
        </p:blipFill>
        <p:spPr>
          <a:xfrm>
            <a:off x="2283024" y="3732609"/>
            <a:ext cx="587375" cy="687586"/>
          </a:xfrm>
          <a:prstGeom prst="rect">
            <a:avLst/>
          </a:prstGeom>
          <a:ln w="12700">
            <a:miter lim="400000"/>
          </a:ln>
        </p:spPr>
      </p:pic>
      <p:pic>
        <p:nvPicPr>
          <p:cNvPr id="705" name="image.pdf" descr="image.pdf"/>
          <p:cNvPicPr>
            <a:picLocks/>
          </p:cNvPicPr>
          <p:nvPr/>
        </p:nvPicPr>
        <p:blipFill>
          <a:blip r:embed="rId4">
            <a:extLst/>
          </a:blip>
          <a:stretch>
            <a:fillRect/>
          </a:stretch>
        </p:blipFill>
        <p:spPr>
          <a:xfrm>
            <a:off x="5560219" y="5634633"/>
            <a:ext cx="631825" cy="687586"/>
          </a:xfrm>
          <a:prstGeom prst="rect">
            <a:avLst/>
          </a:prstGeom>
          <a:ln w="12700">
            <a:miter lim="400000"/>
          </a:ln>
        </p:spPr>
      </p:pic>
      <p:pic>
        <p:nvPicPr>
          <p:cNvPr id="706" name="image.pdf" descr="image.pdf"/>
          <p:cNvPicPr>
            <a:picLocks/>
          </p:cNvPicPr>
          <p:nvPr/>
        </p:nvPicPr>
        <p:blipFill>
          <a:blip r:embed="rId5">
            <a:extLst/>
          </a:blip>
          <a:stretch>
            <a:fillRect/>
          </a:stretch>
        </p:blipFill>
        <p:spPr>
          <a:xfrm>
            <a:off x="3373438" y="5356225"/>
            <a:ext cx="488950" cy="488951"/>
          </a:xfrm>
          <a:prstGeom prst="rect">
            <a:avLst/>
          </a:prstGeom>
          <a:ln w="12700">
            <a:miter lim="400000"/>
          </a:ln>
        </p:spPr>
      </p:pic>
      <p:sp>
        <p:nvSpPr>
          <p:cNvPr id="707" name="Triangle"/>
          <p:cNvSpPr/>
          <p:nvPr/>
        </p:nvSpPr>
        <p:spPr>
          <a:xfrm>
            <a:off x="2970610" y="4116586"/>
            <a:ext cx="2821781" cy="22860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lnTo>
                  <a:pt x="7005" y="12240"/>
                </a:lnTo>
                <a:lnTo>
                  <a:pt x="0" y="0"/>
                </a:lnTo>
                <a:close/>
              </a:path>
            </a:pathLst>
          </a:custGeom>
          <a:solidFill>
            <a:srgbClr val="E7B913"/>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08" name="Circle"/>
          <p:cNvSpPr/>
          <p:nvPr/>
        </p:nvSpPr>
        <p:spPr>
          <a:xfrm>
            <a:off x="2899172" y="4036219"/>
            <a:ext cx="151805" cy="151805"/>
          </a:xfrm>
          <a:prstGeom prst="ellipse">
            <a:avLst/>
          </a:prstGeom>
          <a:solidFill>
            <a:srgbClr val="FFFFFF"/>
          </a:solidFill>
          <a:ln>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09" name="Circle"/>
          <p:cNvSpPr/>
          <p:nvPr/>
        </p:nvSpPr>
        <p:spPr>
          <a:xfrm>
            <a:off x="5712023" y="6322219"/>
            <a:ext cx="151805" cy="151805"/>
          </a:xfrm>
          <a:prstGeom prst="ellipse">
            <a:avLst/>
          </a:prstGeom>
          <a:solidFill>
            <a:srgbClr val="FFFFFF"/>
          </a:solidFill>
          <a:ln>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10" name="Circle"/>
          <p:cNvSpPr/>
          <p:nvPr/>
        </p:nvSpPr>
        <p:spPr>
          <a:xfrm>
            <a:off x="3810000" y="5331023"/>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11" name="Line"/>
          <p:cNvSpPr/>
          <p:nvPr/>
        </p:nvSpPr>
        <p:spPr>
          <a:xfrm flipV="1">
            <a:off x="4042172" y="5634633"/>
            <a:ext cx="303609" cy="607219"/>
          </a:xfrm>
          <a:prstGeom prst="line">
            <a:avLst/>
          </a:prstGeom>
          <a:ln w="28575" cap="rnd">
            <a:solidFill>
              <a:srgbClr val="FFFFFF"/>
            </a:solidFill>
            <a:prstDash val="sysDot"/>
          </a:ln>
        </p:spPr>
        <p:txBody>
          <a:bodyPr lIns="35719" tIns="35719" rIns="35719" bIns="35719" anchor="ctr"/>
          <a:lstStyle/>
          <a:p>
            <a:endParaRPr sz="1266"/>
          </a:p>
        </p:txBody>
      </p:sp>
      <p:sp>
        <p:nvSpPr>
          <p:cNvPr id="712" name="Circle"/>
          <p:cNvSpPr/>
          <p:nvPr/>
        </p:nvSpPr>
        <p:spPr>
          <a:xfrm>
            <a:off x="4265414" y="5563195"/>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715" name="Group"/>
          <p:cNvGrpSpPr/>
          <p:nvPr/>
        </p:nvGrpSpPr>
        <p:grpSpPr>
          <a:xfrm>
            <a:off x="4387850" y="5259586"/>
            <a:ext cx="488950" cy="490538"/>
            <a:chOff x="0" y="0"/>
            <a:chExt cx="695395" cy="697653"/>
          </a:xfrm>
        </p:grpSpPr>
        <p:sp>
          <p:nvSpPr>
            <p:cNvPr id="713" name="Square"/>
            <p:cNvSpPr/>
            <p:nvPr/>
          </p:nvSpPr>
          <p:spPr>
            <a:xfrm>
              <a:off x="0" y="0"/>
              <a:ext cx="695396" cy="697654"/>
            </a:xfrm>
            <a:prstGeom prst="rect">
              <a:avLst/>
            </a:prstGeom>
            <a:solidFill>
              <a:srgbClr val="BFBFBF">
                <a:alpha val="50000"/>
              </a:srgbClr>
            </a:solidFill>
            <a:ln w="12700" cap="flat">
              <a:noFill/>
              <a:miter lim="400000"/>
            </a:ln>
            <a:effectLst/>
          </p:spPr>
          <p:txBody>
            <a:bodyPr wrap="square" lIns="0" tIns="0" rIns="0" bIns="0" numCol="1" anchor="t">
              <a:noAutofit/>
            </a:bodyPr>
            <a:lstStyle/>
            <a:p>
              <a:pPr defTabSz="455398">
                <a:defRPr sz="1600"/>
              </a:pPr>
              <a:endParaRPr sz="1125"/>
            </a:p>
          </p:txBody>
        </p:sp>
        <p:pic>
          <p:nvPicPr>
            <p:cNvPr id="714" name="image.pdf" descr="image.pdf"/>
            <p:cNvPicPr>
              <a:picLocks/>
            </p:cNvPicPr>
            <p:nvPr/>
          </p:nvPicPr>
          <p:blipFill>
            <a:blip r:embed="rId6">
              <a:alphaModFix amt="50000"/>
              <a:extLst/>
            </a:blip>
            <a:stretch>
              <a:fillRect/>
            </a:stretch>
          </p:blipFill>
          <p:spPr>
            <a:xfrm>
              <a:off x="0" y="0"/>
              <a:ext cx="695396" cy="697654"/>
            </a:xfrm>
            <a:prstGeom prst="rect">
              <a:avLst/>
            </a:prstGeom>
            <a:ln w="12700" cap="flat">
              <a:noFill/>
              <a:miter lim="400000"/>
            </a:ln>
            <a:effectLst/>
          </p:spPr>
        </p:pic>
      </p:grpSp>
      <p:grpSp>
        <p:nvGrpSpPr>
          <p:cNvPr id="718" name="Group"/>
          <p:cNvGrpSpPr/>
          <p:nvPr/>
        </p:nvGrpSpPr>
        <p:grpSpPr>
          <a:xfrm>
            <a:off x="1979414" y="1446609"/>
            <a:ext cx="8233172" cy="455414"/>
            <a:chOff x="0" y="0"/>
            <a:chExt cx="11709400" cy="647700"/>
          </a:xfrm>
        </p:grpSpPr>
        <p:sp>
          <p:nvSpPr>
            <p:cNvPr id="716" name="Rectangle"/>
            <p:cNvSpPr/>
            <p:nvPr/>
          </p:nvSpPr>
          <p:spPr>
            <a:xfrm>
              <a:off x="0" y="0"/>
              <a:ext cx="11709400" cy="647700"/>
            </a:xfrm>
            <a:prstGeom prst="rect">
              <a:avLst/>
            </a:prstGeom>
            <a:noFill/>
            <a:ln w="28575" cap="flat">
              <a:solidFill>
                <a:srgbClr val="BFBFBF"/>
              </a:solidFill>
              <a:prstDash val="solid"/>
              <a:miter lim="400000"/>
            </a:ln>
            <a:effectLst/>
          </p:spPr>
          <p:txBody>
            <a:bodyPr wrap="square" lIns="35719" tIns="35719" rIns="35719" bIns="35719" numCol="1" anchor="ctr">
              <a:noAutofit/>
            </a:bodyP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17" name="Compute point P of minimum norm in CH(Q)"/>
            <p:cNvSpPr txBox="1"/>
            <p:nvPr/>
          </p:nvSpPr>
          <p:spPr>
            <a:xfrm>
              <a:off x="0" y="0"/>
              <a:ext cx="11709400" cy="53357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t">
              <a:spAutoFit/>
            </a:bodyPr>
            <a:lstStyle/>
            <a:p>
              <a:pPr marL="528619" marR="40638" indent="-500045" defTabSz="910796">
                <a:spcBef>
                  <a:spcPts val="422"/>
                </a:spcBef>
                <a:buClr>
                  <a:srgbClr val="FFA900"/>
                </a:buClr>
                <a:buSzPct val="100000"/>
                <a:buFont typeface="Arial"/>
                <a:buAutoNum type="arabicPeriod" startAt="2"/>
                <a:defRPr sz="2400">
                  <a:solidFill>
                    <a:srgbClr val="FFFFFF"/>
                  </a:solidFill>
                  <a:uFill>
                    <a:solidFill>
                      <a:srgbClr val="FFFFFF"/>
                    </a:solidFill>
                  </a:uFill>
                  <a:latin typeface="+mn-lt"/>
                  <a:ea typeface="+mn-ea"/>
                  <a:cs typeface="+mn-cs"/>
                  <a:sym typeface="Arial"/>
                </a:defRPr>
              </a:pPr>
              <a:r>
                <a:rPr sz="1969"/>
                <a:t>Compute point </a:t>
              </a:r>
              <a:r>
                <a:rPr sz="1969" i="1"/>
                <a:t>P</a:t>
              </a:r>
              <a:r>
                <a:rPr sz="1969"/>
                <a:t> of minimum norm in CH(</a:t>
              </a:r>
              <a:r>
                <a:rPr sz="1969" i="1"/>
                <a:t>Q</a:t>
              </a:r>
              <a:r>
                <a:rPr sz="1969"/>
                <a:t>)</a:t>
              </a:r>
            </a:p>
          </p:txBody>
        </p:sp>
      </p:grpSp>
    </p:spTree>
    <p:extLst>
      <p:ext uri="{BB962C8B-B14F-4D97-AF65-F5344CB8AC3E}">
        <p14:creationId xmlns:p14="http://schemas.microsoft.com/office/powerpoint/2010/main" val="3505085263"/>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720" name="GJK example 8(10)"/>
          <p:cNvSpPr txBox="1">
            <a:spLocks noGrp="1"/>
          </p:cNvSpPr>
          <p:nvPr>
            <p:ph type="title"/>
          </p:nvPr>
        </p:nvSpPr>
        <p:spPr>
          <a:xfrm>
            <a:off x="1979414" y="244475"/>
            <a:ext cx="6402586" cy="1203326"/>
          </a:xfrm>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GJK example 8(10)</a:t>
            </a:r>
          </a:p>
        </p:txBody>
      </p:sp>
      <p:sp>
        <p:nvSpPr>
          <p:cNvPr id="721" name="Shape"/>
          <p:cNvSpPr/>
          <p:nvPr/>
        </p:nvSpPr>
        <p:spPr>
          <a:xfrm>
            <a:off x="2970609" y="3348633"/>
            <a:ext cx="5179219" cy="3045023"/>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8424" y="19980"/>
                </a:lnTo>
                <a:lnTo>
                  <a:pt x="11753" y="21600"/>
                </a:lnTo>
                <a:lnTo>
                  <a:pt x="3812" y="14580"/>
                </a:lnTo>
                <a:lnTo>
                  <a:pt x="0" y="5400"/>
                </a:lnTo>
                <a:lnTo>
                  <a:pt x="6671" y="0"/>
                </a:lnTo>
                <a:lnTo>
                  <a:pt x="17471" y="2160"/>
                </a:lnTo>
                <a:lnTo>
                  <a:pt x="21600" y="972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grpSp>
        <p:nvGrpSpPr>
          <p:cNvPr id="724" name="Group"/>
          <p:cNvGrpSpPr/>
          <p:nvPr/>
        </p:nvGrpSpPr>
        <p:grpSpPr>
          <a:xfrm>
            <a:off x="3886994" y="6098977"/>
            <a:ext cx="303610" cy="303609"/>
            <a:chOff x="0" y="0"/>
            <a:chExt cx="431800" cy="431800"/>
          </a:xfrm>
        </p:grpSpPr>
        <p:sp>
          <p:nvSpPr>
            <p:cNvPr id="722" name="Line"/>
            <p:cNvSpPr/>
            <p:nvPr/>
          </p:nvSpPr>
          <p:spPr>
            <a:xfrm>
              <a:off x="220697" y="0"/>
              <a:ext cx="2259" cy="431800"/>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sp>
          <p:nvSpPr>
            <p:cNvPr id="723" name="Line"/>
            <p:cNvSpPr/>
            <p:nvPr/>
          </p:nvSpPr>
          <p:spPr>
            <a:xfrm flipV="1">
              <a:off x="0" y="211384"/>
              <a:ext cx="431800" cy="2259"/>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grpSp>
      <p:grpSp>
        <p:nvGrpSpPr>
          <p:cNvPr id="727" name="Group"/>
          <p:cNvGrpSpPr/>
          <p:nvPr/>
        </p:nvGrpSpPr>
        <p:grpSpPr>
          <a:xfrm>
            <a:off x="2135187" y="2644775"/>
            <a:ext cx="2149476" cy="784226"/>
            <a:chOff x="0" y="0"/>
            <a:chExt cx="3057031" cy="1115342"/>
          </a:xfrm>
        </p:grpSpPr>
        <p:sp>
          <p:nvSpPr>
            <p:cNvPr id="725" name="Rectangle"/>
            <p:cNvSpPr/>
            <p:nvPr/>
          </p:nvSpPr>
          <p:spPr>
            <a:xfrm>
              <a:off x="0" y="0"/>
              <a:ext cx="3057032" cy="1115343"/>
            </a:xfrm>
            <a:prstGeom prst="rect">
              <a:avLst/>
            </a:prstGeom>
            <a:solidFill>
              <a:srgbClr val="BFBFBF">
                <a:alpha val="50000"/>
              </a:srgbClr>
            </a:solidFill>
            <a:ln w="12700" cap="flat">
              <a:noFill/>
              <a:miter lim="400000"/>
            </a:ln>
            <a:effectLst/>
          </p:spPr>
          <p:txBody>
            <a:bodyPr wrap="square" lIns="0" tIns="0" rIns="0" bIns="0" numCol="1" anchor="t">
              <a:noAutofit/>
            </a:bodyPr>
            <a:lstStyle/>
            <a:p>
              <a:pPr defTabSz="455398">
                <a:defRPr sz="1600"/>
              </a:pPr>
              <a:endParaRPr sz="1125"/>
            </a:p>
          </p:txBody>
        </p:sp>
        <p:pic>
          <p:nvPicPr>
            <p:cNvPr id="726" name="image.pdf" descr="image.pdf"/>
            <p:cNvPicPr>
              <a:picLocks/>
            </p:cNvPicPr>
            <p:nvPr/>
          </p:nvPicPr>
          <p:blipFill>
            <a:blip r:embed="rId2">
              <a:alphaModFix amt="50000"/>
              <a:extLst/>
            </a:blip>
            <a:stretch>
              <a:fillRect/>
            </a:stretch>
          </p:blipFill>
          <p:spPr>
            <a:xfrm>
              <a:off x="0" y="0"/>
              <a:ext cx="3057032" cy="1115343"/>
            </a:xfrm>
            <a:prstGeom prst="rect">
              <a:avLst/>
            </a:prstGeom>
            <a:ln w="12700" cap="flat">
              <a:noFill/>
              <a:miter lim="400000"/>
            </a:ln>
            <a:effectLst/>
          </p:spPr>
        </p:pic>
      </p:grpSp>
      <p:pic>
        <p:nvPicPr>
          <p:cNvPr id="728" name="image.pdf" descr="image.pdf"/>
          <p:cNvPicPr>
            <a:picLocks/>
          </p:cNvPicPr>
          <p:nvPr/>
        </p:nvPicPr>
        <p:blipFill>
          <a:blip r:embed="rId3">
            <a:extLst/>
          </a:blip>
          <a:stretch>
            <a:fillRect/>
          </a:stretch>
        </p:blipFill>
        <p:spPr>
          <a:xfrm>
            <a:off x="5560219" y="5634633"/>
            <a:ext cx="631825" cy="687586"/>
          </a:xfrm>
          <a:prstGeom prst="rect">
            <a:avLst/>
          </a:prstGeom>
          <a:ln w="12700">
            <a:miter lim="400000"/>
          </a:ln>
        </p:spPr>
      </p:pic>
      <p:pic>
        <p:nvPicPr>
          <p:cNvPr id="729" name="image.pdf" descr="image.pdf"/>
          <p:cNvPicPr>
            <a:picLocks/>
          </p:cNvPicPr>
          <p:nvPr/>
        </p:nvPicPr>
        <p:blipFill>
          <a:blip r:embed="rId4">
            <a:extLst/>
          </a:blip>
          <a:stretch>
            <a:fillRect/>
          </a:stretch>
        </p:blipFill>
        <p:spPr>
          <a:xfrm>
            <a:off x="3373438" y="5356225"/>
            <a:ext cx="488950" cy="488951"/>
          </a:xfrm>
          <a:prstGeom prst="rect">
            <a:avLst/>
          </a:prstGeom>
          <a:ln w="12700">
            <a:miter lim="400000"/>
          </a:ln>
        </p:spPr>
      </p:pic>
      <p:sp>
        <p:nvSpPr>
          <p:cNvPr id="730" name="Line"/>
          <p:cNvSpPr/>
          <p:nvPr/>
        </p:nvSpPr>
        <p:spPr>
          <a:xfrm flipV="1">
            <a:off x="4042172" y="5634633"/>
            <a:ext cx="303609" cy="607219"/>
          </a:xfrm>
          <a:prstGeom prst="line">
            <a:avLst/>
          </a:prstGeom>
          <a:ln w="28575" cap="rnd">
            <a:solidFill>
              <a:srgbClr val="FFFFFF"/>
            </a:solidFill>
            <a:prstDash val="sysDot"/>
          </a:ln>
        </p:spPr>
        <p:txBody>
          <a:bodyPr lIns="35719" tIns="35719" rIns="35719" bIns="35719" anchor="ctr"/>
          <a:lstStyle/>
          <a:p>
            <a:endParaRPr sz="1266"/>
          </a:p>
        </p:txBody>
      </p:sp>
      <p:pic>
        <p:nvPicPr>
          <p:cNvPr id="731" name="image.pdf" descr="image.pdf"/>
          <p:cNvPicPr>
            <a:picLocks/>
          </p:cNvPicPr>
          <p:nvPr/>
        </p:nvPicPr>
        <p:blipFill>
          <a:blip r:embed="rId5">
            <a:extLst/>
          </a:blip>
          <a:stretch>
            <a:fillRect/>
          </a:stretch>
        </p:blipFill>
        <p:spPr>
          <a:xfrm>
            <a:off x="4387850" y="5259586"/>
            <a:ext cx="488950" cy="490538"/>
          </a:xfrm>
          <a:prstGeom prst="rect">
            <a:avLst/>
          </a:prstGeom>
          <a:ln w="12700">
            <a:miter lim="400000"/>
          </a:ln>
        </p:spPr>
      </p:pic>
      <p:sp>
        <p:nvSpPr>
          <p:cNvPr id="732" name="Line"/>
          <p:cNvSpPr/>
          <p:nvPr/>
        </p:nvSpPr>
        <p:spPr>
          <a:xfrm>
            <a:off x="3890367" y="5411391"/>
            <a:ext cx="1902023" cy="991195"/>
          </a:xfrm>
          <a:prstGeom prst="line">
            <a:avLst/>
          </a:prstGeom>
          <a:ln w="57150">
            <a:solidFill>
              <a:srgbClr val="E7B913"/>
            </a:solidFill>
          </a:ln>
        </p:spPr>
        <p:txBody>
          <a:bodyPr lIns="35719" tIns="35719" rIns="35719" bIns="35719" anchor="ctr"/>
          <a:lstStyle/>
          <a:p>
            <a:endParaRPr sz="1266"/>
          </a:p>
        </p:txBody>
      </p:sp>
      <p:sp>
        <p:nvSpPr>
          <p:cNvPr id="733" name="Circle"/>
          <p:cNvSpPr/>
          <p:nvPr/>
        </p:nvSpPr>
        <p:spPr>
          <a:xfrm>
            <a:off x="5712023" y="6322219"/>
            <a:ext cx="151805" cy="151805"/>
          </a:xfrm>
          <a:prstGeom prst="ellipse">
            <a:avLst/>
          </a:prstGeom>
          <a:solidFill>
            <a:srgbClr val="FFFFFF"/>
          </a:solidFill>
          <a:ln>
            <a:solidFill>
              <a:srgbClr val="FFFFFF"/>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34" name="Circle"/>
          <p:cNvSpPr/>
          <p:nvPr/>
        </p:nvSpPr>
        <p:spPr>
          <a:xfrm>
            <a:off x="3810000" y="5331023"/>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35" name="Circle"/>
          <p:cNvSpPr/>
          <p:nvPr/>
        </p:nvSpPr>
        <p:spPr>
          <a:xfrm>
            <a:off x="4265414" y="5563195"/>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36" name="If P is the origin, exit; return 0…"/>
          <p:cNvSpPr txBox="1">
            <a:spLocks noGrp="1"/>
          </p:cNvSpPr>
          <p:nvPr>
            <p:ph type="body" sz="quarter" idx="1"/>
          </p:nvPr>
        </p:nvSpPr>
        <p:spPr>
          <a:xfrm>
            <a:off x="1979414" y="1446609"/>
            <a:ext cx="8233172" cy="839391"/>
          </a:xfrm>
          <a:prstGeom prst="rect">
            <a:avLst/>
          </a:prstGeom>
        </p:spPr>
        <p:txBody>
          <a:bodyPr>
            <a:normAutofit lnSpcReduction="10000"/>
          </a:bodyPr>
          <a:lstStyle/>
          <a:p>
            <a:pPr marL="301325" indent="-272751">
              <a:buClr>
                <a:srgbClr val="FFA900"/>
              </a:buClr>
              <a:buFont typeface="Arial"/>
              <a:buAutoNum type="arabicPeriod" startAt="3"/>
            </a:pPr>
            <a:r>
              <a:rPr sz="1969" dirty="0">
                <a:solidFill>
                  <a:schemeClr val="bg1"/>
                </a:solidFill>
              </a:rPr>
              <a:t>If </a:t>
            </a:r>
            <a:r>
              <a:rPr sz="1969" i="1" dirty="0">
                <a:solidFill>
                  <a:schemeClr val="bg1"/>
                </a:solidFill>
              </a:rPr>
              <a:t>P</a:t>
            </a:r>
            <a:r>
              <a:rPr sz="1969" dirty="0">
                <a:solidFill>
                  <a:schemeClr val="bg1"/>
                </a:solidFill>
              </a:rPr>
              <a:t> is the origin, exit; return 0</a:t>
            </a:r>
          </a:p>
          <a:p>
            <a:pPr marL="301325" indent="-272751">
              <a:buClr>
                <a:srgbClr val="FFA900"/>
              </a:buClr>
              <a:buFont typeface="Arial"/>
              <a:buAutoNum type="arabicPeriod" startAt="3"/>
            </a:pPr>
            <a:r>
              <a:rPr sz="1969" dirty="0">
                <a:solidFill>
                  <a:schemeClr val="bg1"/>
                </a:solidFill>
              </a:rPr>
              <a:t>Reduce </a:t>
            </a:r>
            <a:r>
              <a:rPr sz="1969" i="1" dirty="0">
                <a:solidFill>
                  <a:schemeClr val="bg1"/>
                </a:solidFill>
              </a:rPr>
              <a:t>Q</a:t>
            </a:r>
            <a:r>
              <a:rPr sz="1969" dirty="0">
                <a:solidFill>
                  <a:schemeClr val="bg1"/>
                </a:solidFill>
              </a:rPr>
              <a:t> to the smallest subset </a:t>
            </a:r>
            <a:r>
              <a:rPr sz="1969" i="1" dirty="0">
                <a:solidFill>
                  <a:schemeClr val="bg1"/>
                </a:solidFill>
              </a:rPr>
              <a:t>Q</a:t>
            </a:r>
            <a:r>
              <a:rPr sz="1969" dirty="0">
                <a:solidFill>
                  <a:schemeClr val="bg1"/>
                </a:solidFill>
              </a:rPr>
              <a:t>’ of </a:t>
            </a:r>
            <a:r>
              <a:rPr sz="1969" i="1" dirty="0">
                <a:solidFill>
                  <a:schemeClr val="bg1"/>
                </a:solidFill>
              </a:rPr>
              <a:t>Q</a:t>
            </a:r>
            <a:r>
              <a:rPr sz="1969" dirty="0">
                <a:solidFill>
                  <a:schemeClr val="bg1"/>
                </a:solidFill>
              </a:rPr>
              <a:t>, such that </a:t>
            </a:r>
            <a:r>
              <a:rPr sz="1969" i="1" dirty="0">
                <a:solidFill>
                  <a:schemeClr val="bg1"/>
                </a:solidFill>
              </a:rPr>
              <a:t>P</a:t>
            </a:r>
            <a:r>
              <a:rPr sz="1969" dirty="0">
                <a:solidFill>
                  <a:schemeClr val="bg1"/>
                </a:solidFill>
              </a:rPr>
              <a:t> in CH(</a:t>
            </a:r>
            <a:r>
              <a:rPr sz="1969" i="1" dirty="0">
                <a:solidFill>
                  <a:schemeClr val="bg1"/>
                </a:solidFill>
              </a:rPr>
              <a:t>Q</a:t>
            </a:r>
            <a:r>
              <a:rPr sz="1969" dirty="0">
                <a:solidFill>
                  <a:schemeClr val="bg1"/>
                </a:solidFill>
              </a:rPr>
              <a:t>’)</a:t>
            </a:r>
          </a:p>
        </p:txBody>
      </p:sp>
    </p:spTree>
    <p:extLst>
      <p:ext uri="{BB962C8B-B14F-4D97-AF65-F5344CB8AC3E}">
        <p14:creationId xmlns:p14="http://schemas.microsoft.com/office/powerpoint/2010/main" val="4042590930"/>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738" name="Shape"/>
          <p:cNvSpPr/>
          <p:nvPr/>
        </p:nvSpPr>
        <p:spPr>
          <a:xfrm>
            <a:off x="2970609" y="3348633"/>
            <a:ext cx="5179219" cy="3045023"/>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8424" y="19980"/>
                </a:lnTo>
                <a:lnTo>
                  <a:pt x="11753" y="21600"/>
                </a:lnTo>
                <a:lnTo>
                  <a:pt x="3812" y="14580"/>
                </a:lnTo>
                <a:lnTo>
                  <a:pt x="0" y="5400"/>
                </a:lnTo>
                <a:lnTo>
                  <a:pt x="6671" y="0"/>
                </a:lnTo>
                <a:lnTo>
                  <a:pt x="17471" y="2160"/>
                </a:lnTo>
                <a:lnTo>
                  <a:pt x="21600" y="972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39" name="GJK example 9(10)"/>
          <p:cNvSpPr txBox="1">
            <a:spLocks noGrp="1"/>
          </p:cNvSpPr>
          <p:nvPr>
            <p:ph type="title"/>
          </p:nvPr>
        </p:nvSpPr>
        <p:spPr>
          <a:xfrm>
            <a:off x="1979414" y="244475"/>
            <a:ext cx="6402586" cy="1203326"/>
          </a:xfrm>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GJK example 9(10)</a:t>
            </a:r>
          </a:p>
        </p:txBody>
      </p:sp>
      <p:grpSp>
        <p:nvGrpSpPr>
          <p:cNvPr id="742" name="Group"/>
          <p:cNvGrpSpPr/>
          <p:nvPr/>
        </p:nvGrpSpPr>
        <p:grpSpPr>
          <a:xfrm>
            <a:off x="8056561" y="5778382"/>
            <a:ext cx="3076575" cy="687586"/>
            <a:chOff x="0" y="0"/>
            <a:chExt cx="4375573" cy="977900"/>
          </a:xfrm>
        </p:grpSpPr>
        <p:sp>
          <p:nvSpPr>
            <p:cNvPr id="740" name="Rectangle"/>
            <p:cNvSpPr/>
            <p:nvPr/>
          </p:nvSpPr>
          <p:spPr>
            <a:xfrm>
              <a:off x="0" y="0"/>
              <a:ext cx="4375574" cy="977900"/>
            </a:xfrm>
            <a:prstGeom prst="rect">
              <a:avLst/>
            </a:prstGeom>
            <a:solidFill>
              <a:srgbClr val="BFBFBF">
                <a:alpha val="50000"/>
              </a:srgbClr>
            </a:solidFill>
            <a:ln w="12700" cap="flat">
              <a:noFill/>
              <a:miter lim="400000"/>
            </a:ln>
            <a:effectLst/>
          </p:spPr>
          <p:txBody>
            <a:bodyPr wrap="square" lIns="0" tIns="0" rIns="0" bIns="0" numCol="1" anchor="t">
              <a:noAutofit/>
            </a:bodyPr>
            <a:lstStyle/>
            <a:p>
              <a:pPr defTabSz="455398">
                <a:defRPr sz="1600"/>
              </a:pPr>
              <a:endParaRPr sz="1125"/>
            </a:p>
          </p:txBody>
        </p:sp>
        <p:pic>
          <p:nvPicPr>
            <p:cNvPr id="741" name="image.pdf" descr="image.pdf"/>
            <p:cNvPicPr>
              <a:picLocks/>
            </p:cNvPicPr>
            <p:nvPr/>
          </p:nvPicPr>
          <p:blipFill>
            <a:blip r:embed="rId3">
              <a:alphaModFix amt="50000"/>
              <a:extLst/>
            </a:blip>
            <a:stretch>
              <a:fillRect/>
            </a:stretch>
          </p:blipFill>
          <p:spPr>
            <a:xfrm>
              <a:off x="0" y="0"/>
              <a:ext cx="4375574" cy="977900"/>
            </a:xfrm>
            <a:prstGeom prst="rect">
              <a:avLst/>
            </a:prstGeom>
            <a:ln w="12700" cap="flat">
              <a:noFill/>
              <a:miter lim="400000"/>
            </a:ln>
            <a:effectLst/>
          </p:spPr>
        </p:pic>
      </p:grpSp>
      <p:grpSp>
        <p:nvGrpSpPr>
          <p:cNvPr id="745" name="Group"/>
          <p:cNvGrpSpPr/>
          <p:nvPr/>
        </p:nvGrpSpPr>
        <p:grpSpPr>
          <a:xfrm>
            <a:off x="3886994" y="6098977"/>
            <a:ext cx="303610" cy="303609"/>
            <a:chOff x="0" y="0"/>
            <a:chExt cx="431800" cy="431800"/>
          </a:xfrm>
        </p:grpSpPr>
        <p:sp>
          <p:nvSpPr>
            <p:cNvPr id="743" name="Line"/>
            <p:cNvSpPr/>
            <p:nvPr/>
          </p:nvSpPr>
          <p:spPr>
            <a:xfrm>
              <a:off x="220697" y="0"/>
              <a:ext cx="2259" cy="431800"/>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sp>
          <p:nvSpPr>
            <p:cNvPr id="744" name="Line"/>
            <p:cNvSpPr/>
            <p:nvPr/>
          </p:nvSpPr>
          <p:spPr>
            <a:xfrm flipV="1">
              <a:off x="0" y="211384"/>
              <a:ext cx="431800" cy="2259"/>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grpSp>
      <p:pic>
        <p:nvPicPr>
          <p:cNvPr id="746" name="image.pdf" descr="image.pdf"/>
          <p:cNvPicPr>
            <a:picLocks/>
          </p:cNvPicPr>
          <p:nvPr/>
        </p:nvPicPr>
        <p:blipFill>
          <a:blip r:embed="rId4">
            <a:extLst/>
          </a:blip>
          <a:stretch>
            <a:fillRect/>
          </a:stretch>
        </p:blipFill>
        <p:spPr>
          <a:xfrm>
            <a:off x="2135187" y="2644775"/>
            <a:ext cx="2149476" cy="784226"/>
          </a:xfrm>
          <a:prstGeom prst="rect">
            <a:avLst/>
          </a:prstGeom>
          <a:ln w="12700">
            <a:miter lim="400000"/>
          </a:ln>
        </p:spPr>
      </p:pic>
      <p:pic>
        <p:nvPicPr>
          <p:cNvPr id="747" name="image.pdf" descr="image.pdf"/>
          <p:cNvPicPr>
            <a:picLocks/>
          </p:cNvPicPr>
          <p:nvPr/>
        </p:nvPicPr>
        <p:blipFill>
          <a:blip r:embed="rId5">
            <a:extLst/>
          </a:blip>
          <a:stretch>
            <a:fillRect/>
          </a:stretch>
        </p:blipFill>
        <p:spPr>
          <a:xfrm>
            <a:off x="3373438" y="5356225"/>
            <a:ext cx="488950" cy="488951"/>
          </a:xfrm>
          <a:prstGeom prst="rect">
            <a:avLst/>
          </a:prstGeom>
          <a:ln w="12700">
            <a:miter lim="400000"/>
          </a:ln>
        </p:spPr>
      </p:pic>
      <p:sp>
        <p:nvSpPr>
          <p:cNvPr id="748" name="Line"/>
          <p:cNvSpPr/>
          <p:nvPr/>
        </p:nvSpPr>
        <p:spPr>
          <a:xfrm flipV="1">
            <a:off x="4042172" y="5795367"/>
            <a:ext cx="232172" cy="455414"/>
          </a:xfrm>
          <a:prstGeom prst="line">
            <a:avLst/>
          </a:prstGeom>
          <a:ln w="28575" cap="rnd">
            <a:solidFill>
              <a:srgbClr val="FFFB00"/>
            </a:solidFill>
            <a:prstDash val="sysDot"/>
            <a:tailEnd type="triangle"/>
          </a:ln>
        </p:spPr>
        <p:txBody>
          <a:bodyPr lIns="35719" tIns="35719" rIns="35719" bIns="35719" anchor="ctr"/>
          <a:lstStyle/>
          <a:p>
            <a:endParaRPr sz="1266"/>
          </a:p>
        </p:txBody>
      </p:sp>
      <p:pic>
        <p:nvPicPr>
          <p:cNvPr id="749" name="image.pdf" descr="image.pdf"/>
          <p:cNvPicPr>
            <a:picLocks/>
          </p:cNvPicPr>
          <p:nvPr/>
        </p:nvPicPr>
        <p:blipFill>
          <a:blip r:embed="rId6">
            <a:extLst/>
          </a:blip>
          <a:stretch>
            <a:fillRect/>
          </a:stretch>
        </p:blipFill>
        <p:spPr>
          <a:xfrm>
            <a:off x="4387850" y="5259586"/>
            <a:ext cx="488950" cy="490538"/>
          </a:xfrm>
          <a:prstGeom prst="rect">
            <a:avLst/>
          </a:prstGeom>
          <a:ln w="12700">
            <a:miter lim="400000"/>
          </a:ln>
        </p:spPr>
      </p:pic>
      <p:sp>
        <p:nvSpPr>
          <p:cNvPr id="750" name="Line"/>
          <p:cNvSpPr/>
          <p:nvPr/>
        </p:nvSpPr>
        <p:spPr>
          <a:xfrm>
            <a:off x="3890367" y="5411391"/>
            <a:ext cx="1902023" cy="991195"/>
          </a:xfrm>
          <a:prstGeom prst="line">
            <a:avLst/>
          </a:prstGeom>
          <a:ln w="57150">
            <a:solidFill>
              <a:srgbClr val="E7B913"/>
            </a:solidFill>
          </a:ln>
        </p:spPr>
        <p:txBody>
          <a:bodyPr lIns="35719" tIns="35719" rIns="35719" bIns="35719" anchor="ctr"/>
          <a:lstStyle/>
          <a:p>
            <a:endParaRPr sz="1266"/>
          </a:p>
        </p:txBody>
      </p:sp>
      <p:sp>
        <p:nvSpPr>
          <p:cNvPr id="751" name="Circle"/>
          <p:cNvSpPr/>
          <p:nvPr/>
        </p:nvSpPr>
        <p:spPr>
          <a:xfrm>
            <a:off x="5712023" y="6322219"/>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52" name="Circle"/>
          <p:cNvSpPr/>
          <p:nvPr/>
        </p:nvSpPr>
        <p:spPr>
          <a:xfrm>
            <a:off x="3810000" y="5331023"/>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53" name="Circle"/>
          <p:cNvSpPr/>
          <p:nvPr/>
        </p:nvSpPr>
        <p:spPr>
          <a:xfrm>
            <a:off x="4265414" y="5563195"/>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54" name="Line"/>
          <p:cNvSpPr/>
          <p:nvPr/>
        </p:nvSpPr>
        <p:spPr>
          <a:xfrm>
            <a:off x="5488781" y="6250781"/>
            <a:ext cx="759023" cy="383977"/>
          </a:xfrm>
          <a:prstGeom prst="line">
            <a:avLst/>
          </a:prstGeom>
          <a:ln w="28575" cap="rnd">
            <a:solidFill>
              <a:srgbClr val="FFFB00"/>
            </a:solidFill>
            <a:prstDash val="sysDot"/>
          </a:ln>
        </p:spPr>
        <p:txBody>
          <a:bodyPr lIns="35719" tIns="35719" rIns="35719" bIns="35719" anchor="ctr"/>
          <a:lstStyle/>
          <a:p>
            <a:endParaRPr sz="1266"/>
          </a:p>
        </p:txBody>
      </p:sp>
      <p:sp>
        <p:nvSpPr>
          <p:cNvPr id="755" name="Let V=SC(–P) be a supporting point in direction –P"/>
          <p:cNvSpPr txBox="1">
            <a:spLocks noGrp="1"/>
          </p:cNvSpPr>
          <p:nvPr>
            <p:ph type="body" sz="quarter" idx="1"/>
          </p:nvPr>
        </p:nvSpPr>
        <p:spPr>
          <a:xfrm>
            <a:off x="1979414" y="1446609"/>
            <a:ext cx="8233172" cy="455414"/>
          </a:xfrm>
          <a:prstGeom prst="rect">
            <a:avLst/>
          </a:prstGeom>
        </p:spPr>
        <p:txBody>
          <a:bodyPr/>
          <a:lstStyle/>
          <a:p>
            <a:pPr marL="301325" indent="-272751">
              <a:buClr>
                <a:srgbClr val="FFA900"/>
              </a:buClr>
              <a:buFont typeface="Arial"/>
              <a:buAutoNum type="arabicPeriod" startAt="5"/>
            </a:pPr>
            <a:r>
              <a:rPr sz="1969" dirty="0">
                <a:solidFill>
                  <a:schemeClr val="bg1"/>
                </a:solidFill>
              </a:rPr>
              <a:t>Let </a:t>
            </a:r>
            <a:r>
              <a:rPr sz="1969" i="1" dirty="0">
                <a:solidFill>
                  <a:schemeClr val="bg1"/>
                </a:solidFill>
              </a:rPr>
              <a:t>V</a:t>
            </a:r>
            <a:r>
              <a:rPr sz="1969" dirty="0">
                <a:solidFill>
                  <a:schemeClr val="bg1"/>
                </a:solidFill>
              </a:rPr>
              <a:t>=</a:t>
            </a:r>
            <a:r>
              <a:rPr sz="1969" i="1" dirty="0">
                <a:solidFill>
                  <a:schemeClr val="bg1"/>
                </a:solidFill>
              </a:rPr>
              <a:t>S</a:t>
            </a:r>
            <a:r>
              <a:rPr sz="1969" i="1" baseline="-19571" dirty="0">
                <a:solidFill>
                  <a:schemeClr val="bg1"/>
                </a:solidFill>
              </a:rPr>
              <a:t>C</a:t>
            </a:r>
            <a:r>
              <a:rPr sz="1969" dirty="0">
                <a:solidFill>
                  <a:schemeClr val="bg1"/>
                </a:solidFill>
              </a:rPr>
              <a:t>(–</a:t>
            </a:r>
            <a:r>
              <a:rPr sz="1969" i="1" dirty="0">
                <a:solidFill>
                  <a:schemeClr val="bg1"/>
                </a:solidFill>
              </a:rPr>
              <a:t>P</a:t>
            </a:r>
            <a:r>
              <a:rPr sz="1969" dirty="0">
                <a:solidFill>
                  <a:schemeClr val="bg1"/>
                </a:solidFill>
              </a:rPr>
              <a:t>) be a supporting point in direction –</a:t>
            </a:r>
            <a:r>
              <a:rPr sz="1969" i="1" dirty="0">
                <a:solidFill>
                  <a:schemeClr val="bg1"/>
                </a:solidFill>
              </a:rPr>
              <a:t>P</a:t>
            </a:r>
          </a:p>
        </p:txBody>
      </p:sp>
    </p:spTree>
    <p:extLst>
      <p:ext uri="{BB962C8B-B14F-4D97-AF65-F5344CB8AC3E}">
        <p14:creationId xmlns:p14="http://schemas.microsoft.com/office/powerpoint/2010/main" val="2686295377"/>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759" name="Shape"/>
          <p:cNvSpPr/>
          <p:nvPr/>
        </p:nvSpPr>
        <p:spPr>
          <a:xfrm>
            <a:off x="2970609" y="3348633"/>
            <a:ext cx="5179219" cy="3045023"/>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8424" y="19980"/>
                </a:lnTo>
                <a:lnTo>
                  <a:pt x="11753" y="21600"/>
                </a:lnTo>
                <a:lnTo>
                  <a:pt x="3812" y="14580"/>
                </a:lnTo>
                <a:lnTo>
                  <a:pt x="0" y="5400"/>
                </a:lnTo>
                <a:lnTo>
                  <a:pt x="6671" y="0"/>
                </a:lnTo>
                <a:lnTo>
                  <a:pt x="17471" y="2160"/>
                </a:lnTo>
                <a:lnTo>
                  <a:pt x="21600" y="972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60" name="GJK example 10(10)"/>
          <p:cNvSpPr txBox="1">
            <a:spLocks noGrp="1"/>
          </p:cNvSpPr>
          <p:nvPr>
            <p:ph type="title"/>
          </p:nvPr>
        </p:nvSpPr>
        <p:spPr>
          <a:xfrm>
            <a:off x="1979414" y="244475"/>
            <a:ext cx="6402586" cy="1203326"/>
          </a:xfrm>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GJK example 10(10)</a:t>
            </a:r>
          </a:p>
        </p:txBody>
      </p:sp>
      <p:grpSp>
        <p:nvGrpSpPr>
          <p:cNvPr id="763" name="Group"/>
          <p:cNvGrpSpPr/>
          <p:nvPr/>
        </p:nvGrpSpPr>
        <p:grpSpPr>
          <a:xfrm>
            <a:off x="3886994" y="6098977"/>
            <a:ext cx="303610" cy="303609"/>
            <a:chOff x="0" y="0"/>
            <a:chExt cx="431800" cy="431800"/>
          </a:xfrm>
        </p:grpSpPr>
        <p:sp>
          <p:nvSpPr>
            <p:cNvPr id="761" name="Line"/>
            <p:cNvSpPr/>
            <p:nvPr/>
          </p:nvSpPr>
          <p:spPr>
            <a:xfrm>
              <a:off x="220697" y="0"/>
              <a:ext cx="2259" cy="431800"/>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sp>
          <p:nvSpPr>
            <p:cNvPr id="762" name="Line"/>
            <p:cNvSpPr/>
            <p:nvPr/>
          </p:nvSpPr>
          <p:spPr>
            <a:xfrm flipV="1">
              <a:off x="0" y="211384"/>
              <a:ext cx="431800" cy="2259"/>
            </a:xfrm>
            <a:prstGeom prst="line">
              <a:avLst/>
            </a:prstGeom>
            <a:noFill/>
            <a:ln w="28575" cap="flat">
              <a:solidFill>
                <a:srgbClr val="000000"/>
              </a:solidFill>
              <a:prstDash val="solid"/>
              <a:round/>
            </a:ln>
            <a:effectLst/>
          </p:spPr>
          <p:txBody>
            <a:bodyPr wrap="square" lIns="35719" tIns="35719" rIns="35719" bIns="35719" numCol="1" anchor="ctr">
              <a:noAutofit/>
            </a:bodyPr>
            <a:lstStyle/>
            <a:p>
              <a:endParaRPr sz="1266"/>
            </a:p>
          </p:txBody>
        </p:sp>
      </p:grpSp>
      <p:pic>
        <p:nvPicPr>
          <p:cNvPr id="764" name="image.pdf" descr="image.pdf"/>
          <p:cNvPicPr>
            <a:picLocks/>
          </p:cNvPicPr>
          <p:nvPr/>
        </p:nvPicPr>
        <p:blipFill>
          <a:blip r:embed="rId3">
            <a:extLst/>
          </a:blip>
          <a:stretch>
            <a:fillRect/>
          </a:stretch>
        </p:blipFill>
        <p:spPr>
          <a:xfrm>
            <a:off x="3373438" y="5356225"/>
            <a:ext cx="488950" cy="488951"/>
          </a:xfrm>
          <a:prstGeom prst="rect">
            <a:avLst/>
          </a:prstGeom>
          <a:ln w="12700">
            <a:miter lim="400000"/>
          </a:ln>
        </p:spPr>
      </p:pic>
      <p:pic>
        <p:nvPicPr>
          <p:cNvPr id="765" name="image.pdf" descr="image.pdf"/>
          <p:cNvPicPr>
            <a:picLocks/>
          </p:cNvPicPr>
          <p:nvPr/>
        </p:nvPicPr>
        <p:blipFill>
          <a:blip r:embed="rId4">
            <a:extLst/>
          </a:blip>
          <a:stretch>
            <a:fillRect/>
          </a:stretch>
        </p:blipFill>
        <p:spPr>
          <a:xfrm>
            <a:off x="4387850" y="5259586"/>
            <a:ext cx="488950" cy="490538"/>
          </a:xfrm>
          <a:prstGeom prst="rect">
            <a:avLst/>
          </a:prstGeom>
          <a:ln w="12700">
            <a:miter lim="400000"/>
          </a:ln>
        </p:spPr>
      </p:pic>
      <p:sp>
        <p:nvSpPr>
          <p:cNvPr id="766" name="Line"/>
          <p:cNvSpPr/>
          <p:nvPr/>
        </p:nvSpPr>
        <p:spPr>
          <a:xfrm>
            <a:off x="3890367" y="5411391"/>
            <a:ext cx="1902023" cy="991195"/>
          </a:xfrm>
          <a:prstGeom prst="line">
            <a:avLst/>
          </a:prstGeom>
          <a:ln w="57150">
            <a:solidFill>
              <a:srgbClr val="E7B913"/>
            </a:solidFill>
          </a:ln>
        </p:spPr>
        <p:txBody>
          <a:bodyPr lIns="35719" tIns="35719" rIns="35719" bIns="35719" anchor="ctr"/>
          <a:lstStyle/>
          <a:p>
            <a:endParaRPr sz="1266"/>
          </a:p>
        </p:txBody>
      </p:sp>
      <p:sp>
        <p:nvSpPr>
          <p:cNvPr id="767" name="Circle"/>
          <p:cNvSpPr/>
          <p:nvPr/>
        </p:nvSpPr>
        <p:spPr>
          <a:xfrm>
            <a:off x="5712023" y="6322219"/>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68" name="Circle"/>
          <p:cNvSpPr/>
          <p:nvPr/>
        </p:nvSpPr>
        <p:spPr>
          <a:xfrm>
            <a:off x="3810000" y="5331023"/>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69" name="Circle"/>
          <p:cNvSpPr/>
          <p:nvPr/>
        </p:nvSpPr>
        <p:spPr>
          <a:xfrm>
            <a:off x="4265414" y="5563195"/>
            <a:ext cx="151805" cy="151805"/>
          </a:xfrm>
          <a:prstGeom prst="ellipse">
            <a:avLst/>
          </a:prstGeom>
          <a:solidFill>
            <a:srgbClr val="FF26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70" name="DONE!"/>
          <p:cNvSpPr txBox="1"/>
          <p:nvPr/>
        </p:nvSpPr>
        <p:spPr>
          <a:xfrm>
            <a:off x="4649391" y="3580805"/>
            <a:ext cx="2759273" cy="9809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spAutoFit/>
          </a:bodyPr>
          <a:lstStyle>
            <a:lvl1pPr marL="57799" marR="57799" defTabSz="1295400">
              <a:spcBef>
                <a:spcPts val="4900"/>
              </a:spcBef>
              <a:buClr>
                <a:srgbClr val="FFFB00"/>
              </a:buClr>
              <a:buFont typeface="Arial"/>
              <a:defRPr sz="8400" b="1">
                <a:solidFill>
                  <a:srgbClr val="FFFB00"/>
                </a:solidFill>
                <a:effectLst>
                  <a:outerShdw blurRad="12700" dist="38100" dir="2700000" rotWithShape="0">
                    <a:srgbClr val="000000"/>
                  </a:outerShdw>
                </a:effectLst>
                <a:uFill>
                  <a:solidFill>
                    <a:srgbClr val="FFFB00"/>
                  </a:solidFill>
                </a:uFill>
                <a:latin typeface="+mn-lt"/>
                <a:ea typeface="+mn-ea"/>
                <a:cs typeface="+mn-cs"/>
                <a:sym typeface="Arial"/>
              </a:defRPr>
            </a:lvl1pPr>
          </a:lstStyle>
          <a:p>
            <a:r>
              <a:rPr sz="5906"/>
              <a:t>DONE!</a:t>
            </a:r>
          </a:p>
        </p:txBody>
      </p:sp>
      <p:pic>
        <p:nvPicPr>
          <p:cNvPr id="771" name="image.pdf" descr="image.pdf"/>
          <p:cNvPicPr>
            <a:picLocks/>
          </p:cNvPicPr>
          <p:nvPr/>
        </p:nvPicPr>
        <p:blipFill>
          <a:blip r:embed="rId5">
            <a:extLst/>
          </a:blip>
          <a:stretch>
            <a:fillRect/>
          </a:stretch>
        </p:blipFill>
        <p:spPr>
          <a:xfrm>
            <a:off x="2135187" y="2644775"/>
            <a:ext cx="2149476" cy="784226"/>
          </a:xfrm>
          <a:prstGeom prst="rect">
            <a:avLst/>
          </a:prstGeom>
          <a:ln w="12700">
            <a:miter lim="400000"/>
          </a:ln>
        </p:spPr>
      </p:pic>
      <p:sp>
        <p:nvSpPr>
          <p:cNvPr id="772" name="If V no more extreme in direction –P than P itself, exit; return ||P||"/>
          <p:cNvSpPr txBox="1">
            <a:spLocks noGrp="1"/>
          </p:cNvSpPr>
          <p:nvPr>
            <p:ph type="body" sz="quarter" idx="1"/>
          </p:nvPr>
        </p:nvSpPr>
        <p:spPr>
          <a:xfrm>
            <a:off x="1979414" y="1446609"/>
            <a:ext cx="8233172" cy="455414"/>
          </a:xfrm>
          <a:prstGeom prst="rect">
            <a:avLst/>
          </a:prstGeom>
        </p:spPr>
        <p:txBody>
          <a:bodyPr/>
          <a:lstStyle/>
          <a:p>
            <a:pPr marL="301325" indent="-272751">
              <a:buClr>
                <a:srgbClr val="FFA900"/>
              </a:buClr>
              <a:buFont typeface="Arial"/>
              <a:buAutoNum type="arabicPeriod" startAt="6"/>
            </a:pPr>
            <a:r>
              <a:rPr sz="1969" dirty="0">
                <a:solidFill>
                  <a:schemeClr val="bg1"/>
                </a:solidFill>
              </a:rPr>
              <a:t>If </a:t>
            </a:r>
            <a:r>
              <a:rPr sz="1969" i="1" dirty="0">
                <a:solidFill>
                  <a:schemeClr val="bg1"/>
                </a:solidFill>
              </a:rPr>
              <a:t>V</a:t>
            </a:r>
            <a:r>
              <a:rPr sz="1969" dirty="0">
                <a:solidFill>
                  <a:schemeClr val="bg1"/>
                </a:solidFill>
              </a:rPr>
              <a:t> no more extreme in direction –</a:t>
            </a:r>
            <a:r>
              <a:rPr sz="1969" i="1" dirty="0">
                <a:solidFill>
                  <a:schemeClr val="bg1"/>
                </a:solidFill>
              </a:rPr>
              <a:t>P</a:t>
            </a:r>
            <a:r>
              <a:rPr sz="1969" dirty="0">
                <a:solidFill>
                  <a:schemeClr val="bg1"/>
                </a:solidFill>
              </a:rPr>
              <a:t> than </a:t>
            </a:r>
            <a:r>
              <a:rPr sz="1969" i="1" dirty="0">
                <a:solidFill>
                  <a:schemeClr val="bg1"/>
                </a:solidFill>
              </a:rPr>
              <a:t>P</a:t>
            </a:r>
            <a:r>
              <a:rPr sz="1969" dirty="0">
                <a:solidFill>
                  <a:schemeClr val="bg1"/>
                </a:solidFill>
              </a:rPr>
              <a:t> itself, exit; return ||</a:t>
            </a:r>
            <a:r>
              <a:rPr sz="1969" i="1" dirty="0">
                <a:solidFill>
                  <a:schemeClr val="bg1"/>
                </a:solidFill>
              </a:rPr>
              <a:t>P</a:t>
            </a:r>
            <a:r>
              <a:rPr sz="1969" dirty="0">
                <a:solidFill>
                  <a:schemeClr val="bg1"/>
                </a:solidFill>
              </a:rPr>
              <a:t>||</a:t>
            </a:r>
          </a:p>
        </p:txBody>
      </p:sp>
      <p:pic>
        <p:nvPicPr>
          <p:cNvPr id="773" name="image.pdf" descr="image.pdf"/>
          <p:cNvPicPr>
            <a:picLocks/>
          </p:cNvPicPr>
          <p:nvPr/>
        </p:nvPicPr>
        <p:blipFill>
          <a:blip r:embed="rId6">
            <a:extLst/>
          </a:blip>
          <a:stretch>
            <a:fillRect/>
          </a:stretch>
        </p:blipFill>
        <p:spPr>
          <a:xfrm>
            <a:off x="5591175" y="5634633"/>
            <a:ext cx="631826" cy="687586"/>
          </a:xfrm>
          <a:prstGeom prst="rect">
            <a:avLst/>
          </a:prstGeom>
          <a:ln w="12700">
            <a:miter lim="400000"/>
          </a:ln>
        </p:spPr>
      </p:pic>
    </p:spTree>
    <p:extLst>
      <p:ext uri="{BB962C8B-B14F-4D97-AF65-F5344CB8AC3E}">
        <p14:creationId xmlns:p14="http://schemas.microsoft.com/office/powerpoint/2010/main" val="931821145"/>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777" name="Distance subalgorithm 1(2)"/>
          <p:cNvSpPr txBox="1">
            <a:spLocks noGrp="1"/>
          </p:cNvSpPr>
          <p:nvPr>
            <p:ph type="title"/>
          </p:nvPr>
        </p:nvSpPr>
        <p:spPr>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Distance subalgorithm 1(2)</a:t>
            </a:r>
          </a:p>
        </p:txBody>
      </p:sp>
      <p:sp>
        <p:nvSpPr>
          <p:cNvPr id="778" name="Approach #1: Solve algebraically…"/>
          <p:cNvSpPr txBox="1">
            <a:spLocks noGrp="1"/>
          </p:cNvSpPr>
          <p:nvPr>
            <p:ph type="body" idx="1"/>
          </p:nvPr>
        </p:nvSpPr>
        <p:spPr>
          <a:prstGeom prst="rect">
            <a:avLst/>
          </a:prstGeom>
        </p:spPr>
        <p:txBody>
          <a:bodyPr>
            <a:normAutofit fontScale="92500" lnSpcReduction="20000"/>
          </a:bodyPr>
          <a:lstStyle/>
          <a:p>
            <a:pPr>
              <a:buClr>
                <a:srgbClr val="FFA900"/>
              </a:buClr>
              <a:buFont typeface="Arial"/>
            </a:pPr>
            <a:r>
              <a:t>Approach #1: Solve algebraically</a:t>
            </a:r>
          </a:p>
          <a:p>
            <a:pPr lvl="1">
              <a:buClr>
                <a:srgbClr val="FFFFFF"/>
              </a:buClr>
              <a:buFont typeface="Arial"/>
            </a:pPr>
            <a:r>
              <a:t>Used in original GJK paper</a:t>
            </a:r>
          </a:p>
          <a:p>
            <a:pPr lvl="1">
              <a:buClr>
                <a:srgbClr val="FFFFFF"/>
              </a:buClr>
              <a:buFont typeface="Arial"/>
            </a:pPr>
            <a:r>
              <a:t>Johnson’s distance subalgorithm</a:t>
            </a:r>
          </a:p>
          <a:p>
            <a:pPr lvl="2">
              <a:buClr>
                <a:srgbClr val="FFFFFF"/>
              </a:buClr>
              <a:buFont typeface="Arial"/>
            </a:pPr>
            <a:r>
              <a:t>Searches all simplex subsets</a:t>
            </a:r>
          </a:p>
          <a:p>
            <a:pPr lvl="2">
              <a:buClr>
                <a:srgbClr val="FFFFFF"/>
              </a:buClr>
              <a:buFont typeface="Arial"/>
            </a:pPr>
            <a:r>
              <a:t>Solves system of linear equations for each subset</a:t>
            </a:r>
          </a:p>
          <a:p>
            <a:pPr lvl="2">
              <a:buClr>
                <a:srgbClr val="FFFFFF"/>
              </a:buClr>
              <a:buFont typeface="Arial"/>
            </a:pPr>
            <a:r>
              <a:t>Recursive formulation</a:t>
            </a:r>
          </a:p>
          <a:p>
            <a:pPr lvl="2">
              <a:buClr>
                <a:srgbClr val="FFFFFF"/>
              </a:buClr>
              <a:buFont typeface="Arial"/>
            </a:pPr>
            <a:r>
              <a:t>From era when math operations were expensive</a:t>
            </a:r>
          </a:p>
          <a:p>
            <a:pPr lvl="2">
              <a:buClr>
                <a:srgbClr val="FFFFFF"/>
              </a:buClr>
              <a:buFont typeface="Arial"/>
            </a:pPr>
            <a:r>
              <a:t>Robustness problems</a:t>
            </a:r>
          </a:p>
          <a:p>
            <a:pPr lvl="1">
              <a:buClr>
                <a:srgbClr val="FFFFFF"/>
              </a:buClr>
              <a:buFont typeface="Arial"/>
            </a:pPr>
            <a:r>
              <a:t>See e.g. Gino van den Bergen’s book</a:t>
            </a:r>
          </a:p>
        </p:txBody>
      </p:sp>
    </p:spTree>
    <p:extLst>
      <p:ext uri="{BB962C8B-B14F-4D97-AF65-F5344CB8AC3E}">
        <p14:creationId xmlns:p14="http://schemas.microsoft.com/office/powerpoint/2010/main" val="3173504411"/>
      </p:ext>
    </p:extLst>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780" name="Distance subalgorithm 2(2)"/>
          <p:cNvSpPr txBox="1">
            <a:spLocks noGrp="1"/>
          </p:cNvSpPr>
          <p:nvPr>
            <p:ph type="title"/>
          </p:nvPr>
        </p:nvSpPr>
        <p:spPr>
          <a:prstGeom prst="rect">
            <a:avLst/>
          </a:prstGeom>
          <a:effectLst>
            <a:outerShdw blurRad="63500" dist="38100" dir="2700000" rotWithShape="0">
              <a:srgbClr val="868686">
                <a:alpha val="75000"/>
              </a:srgbClr>
            </a:outerShdw>
          </a:effectLst>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Distance subalgorithm 2(2)</a:t>
            </a:r>
          </a:p>
        </p:txBody>
      </p:sp>
      <p:sp>
        <p:nvSpPr>
          <p:cNvPr id="781" name="Approach #2: Solve geometrically…"/>
          <p:cNvSpPr txBox="1">
            <a:spLocks noGrp="1"/>
          </p:cNvSpPr>
          <p:nvPr>
            <p:ph type="body" idx="1"/>
          </p:nvPr>
        </p:nvSpPr>
        <p:spPr>
          <a:xfrm>
            <a:off x="1979414" y="1598414"/>
            <a:ext cx="8384977" cy="5259586"/>
          </a:xfrm>
          <a:prstGeom prst="rect">
            <a:avLst/>
          </a:prstGeom>
        </p:spPr>
        <p:txBody>
          <a:bodyPr/>
          <a:lstStyle/>
          <a:p>
            <a:pPr>
              <a:buClr>
                <a:srgbClr val="FFA900"/>
              </a:buClr>
              <a:buFont typeface="Arial"/>
            </a:pPr>
            <a:r>
              <a:rPr dirty="0">
                <a:solidFill>
                  <a:schemeClr val="bg1"/>
                </a:solidFill>
              </a:rPr>
              <a:t>Approach #2: Solve geometrically</a:t>
            </a:r>
          </a:p>
          <a:p>
            <a:pPr lvl="1">
              <a:buClr>
                <a:srgbClr val="FFFFFF"/>
              </a:buClr>
              <a:buFont typeface="Arial"/>
            </a:pPr>
            <a:r>
              <a:rPr dirty="0">
                <a:solidFill>
                  <a:schemeClr val="bg1"/>
                </a:solidFill>
              </a:rPr>
              <a:t>Mathematically equivalent</a:t>
            </a:r>
          </a:p>
          <a:p>
            <a:pPr lvl="2">
              <a:buClr>
                <a:srgbClr val="FFFFFF"/>
              </a:buClr>
              <a:buFont typeface="Arial"/>
            </a:pPr>
            <a:r>
              <a:rPr dirty="0">
                <a:solidFill>
                  <a:schemeClr val="bg1"/>
                </a:solidFill>
              </a:rPr>
              <a:t>But more intuitive</a:t>
            </a:r>
          </a:p>
          <a:p>
            <a:pPr lvl="2">
              <a:buClr>
                <a:srgbClr val="FFFFFF"/>
              </a:buClr>
              <a:buFont typeface="Arial"/>
            </a:pPr>
            <a:r>
              <a:rPr dirty="0">
                <a:solidFill>
                  <a:schemeClr val="bg1"/>
                </a:solidFill>
              </a:rPr>
              <a:t>Therefore easier to make robust</a:t>
            </a:r>
          </a:p>
          <a:p>
            <a:pPr lvl="1">
              <a:buClr>
                <a:srgbClr val="FFFFFF"/>
              </a:buClr>
              <a:buFont typeface="Arial"/>
            </a:pPr>
            <a:r>
              <a:rPr dirty="0">
                <a:solidFill>
                  <a:schemeClr val="bg1"/>
                </a:solidFill>
              </a:rPr>
              <a:t>Use straightforward primitives:</a:t>
            </a:r>
          </a:p>
          <a:p>
            <a:pPr lvl="2">
              <a:buClr>
                <a:srgbClr val="FFFFFF"/>
              </a:buClr>
              <a:buFont typeface="Courier New"/>
              <a:defRPr b="1">
                <a:latin typeface="Courier New"/>
                <a:ea typeface="Courier New"/>
                <a:cs typeface="Courier New"/>
                <a:sym typeface="Courier New"/>
              </a:defRPr>
            </a:pPr>
            <a:r>
              <a:rPr dirty="0" err="1">
                <a:solidFill>
                  <a:schemeClr val="bg1"/>
                </a:solidFill>
              </a:rPr>
              <a:t>ClosestPointOnEdgeToPoint</a:t>
            </a:r>
            <a:r>
              <a:rPr dirty="0">
                <a:solidFill>
                  <a:schemeClr val="bg1"/>
                </a:solidFill>
              </a:rPr>
              <a:t>()</a:t>
            </a:r>
          </a:p>
          <a:p>
            <a:pPr lvl="2">
              <a:buClr>
                <a:srgbClr val="FFFFFF"/>
              </a:buClr>
              <a:buFont typeface="Courier New"/>
              <a:defRPr b="1">
                <a:latin typeface="Courier New"/>
                <a:ea typeface="Courier New"/>
                <a:cs typeface="Courier New"/>
                <a:sym typeface="Courier New"/>
              </a:defRPr>
            </a:pPr>
            <a:r>
              <a:rPr dirty="0" err="1">
                <a:solidFill>
                  <a:schemeClr val="bg1"/>
                </a:solidFill>
              </a:rPr>
              <a:t>ClosestPointOnTriangleToPoint</a:t>
            </a:r>
            <a:r>
              <a:rPr dirty="0">
                <a:solidFill>
                  <a:schemeClr val="bg1"/>
                </a:solidFill>
              </a:rPr>
              <a:t>()</a:t>
            </a:r>
          </a:p>
          <a:p>
            <a:pPr lvl="2">
              <a:buClr>
                <a:srgbClr val="FFFFFF"/>
              </a:buClr>
              <a:buFont typeface="Courier New"/>
              <a:defRPr b="1">
                <a:latin typeface="Courier New"/>
                <a:ea typeface="Courier New"/>
                <a:cs typeface="Courier New"/>
                <a:sym typeface="Courier New"/>
              </a:defRPr>
            </a:pPr>
            <a:r>
              <a:rPr dirty="0" err="1">
                <a:solidFill>
                  <a:schemeClr val="bg1"/>
                </a:solidFill>
              </a:rPr>
              <a:t>ClosestPointOnTetrahedronToPoint</a:t>
            </a:r>
            <a:r>
              <a:rPr dirty="0">
                <a:solidFill>
                  <a:schemeClr val="bg1"/>
                </a:solidFill>
              </a:rPr>
              <a:t>()</a:t>
            </a:r>
          </a:p>
          <a:p>
            <a:pPr lvl="1">
              <a:buClr>
                <a:srgbClr val="FFFFFF"/>
              </a:buClr>
              <a:buFont typeface="Arial"/>
            </a:pPr>
            <a:r>
              <a:rPr dirty="0">
                <a:solidFill>
                  <a:schemeClr val="bg1"/>
                </a:solidFill>
              </a:rPr>
              <a:t>Second function outlined here</a:t>
            </a:r>
          </a:p>
          <a:p>
            <a:pPr lvl="2">
              <a:buClr>
                <a:srgbClr val="FFFFFF"/>
              </a:buClr>
              <a:buFont typeface="Arial"/>
            </a:pPr>
            <a:r>
              <a:rPr dirty="0">
                <a:solidFill>
                  <a:schemeClr val="bg1"/>
                </a:solidFill>
              </a:rPr>
              <a:t>The approach generalizes</a:t>
            </a:r>
          </a:p>
        </p:txBody>
      </p:sp>
    </p:spTree>
    <p:extLst>
      <p:ext uri="{BB962C8B-B14F-4D97-AF65-F5344CB8AC3E}">
        <p14:creationId xmlns:p14="http://schemas.microsoft.com/office/powerpoint/2010/main" val="2447961083"/>
      </p:ext>
    </p:extLst>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783" name="Line"/>
          <p:cNvSpPr/>
          <p:nvPr/>
        </p:nvSpPr>
        <p:spPr>
          <a:xfrm flipH="1" flipV="1">
            <a:off x="3506391" y="3661172"/>
            <a:ext cx="759023" cy="1062633"/>
          </a:xfrm>
          <a:prstGeom prst="line">
            <a:avLst/>
          </a:prstGeom>
          <a:ln w="38100" cap="rnd">
            <a:solidFill>
              <a:srgbClr val="000000"/>
            </a:solidFill>
            <a:prstDash val="sysDot"/>
          </a:ln>
        </p:spPr>
        <p:txBody>
          <a:bodyPr lIns="35719" tIns="35719" rIns="35719" bIns="35719" anchor="ctr"/>
          <a:lstStyle/>
          <a:p>
            <a:endParaRPr sz="1266"/>
          </a:p>
        </p:txBody>
      </p:sp>
      <p:sp>
        <p:nvSpPr>
          <p:cNvPr id="784" name="Triangle"/>
          <p:cNvSpPr/>
          <p:nvPr/>
        </p:nvSpPr>
        <p:spPr>
          <a:xfrm>
            <a:off x="3122414" y="3405188"/>
            <a:ext cx="5715000" cy="2134196"/>
          </a:xfrm>
          <a:custGeom>
            <a:avLst/>
            <a:gdLst/>
            <a:ahLst/>
            <a:cxnLst>
              <a:cxn ang="0">
                <a:pos x="wd2" y="hd2"/>
              </a:cxn>
              <a:cxn ang="5400000">
                <a:pos x="wd2" y="hd2"/>
              </a:cxn>
              <a:cxn ang="10800000">
                <a:pos x="wd2" y="hd2"/>
              </a:cxn>
              <a:cxn ang="16200000">
                <a:pos x="wd2" y="hd2"/>
              </a:cxn>
            </a:cxnLst>
            <a:rect l="0" t="0" r="r" b="b"/>
            <a:pathLst>
              <a:path w="21600" h="21600" extrusionOk="0">
                <a:moveTo>
                  <a:pt x="11520" y="0"/>
                </a:moveTo>
                <a:lnTo>
                  <a:pt x="0" y="21600"/>
                </a:lnTo>
                <a:lnTo>
                  <a:pt x="21600" y="19286"/>
                </a:lnTo>
                <a:lnTo>
                  <a:pt x="11520" y="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85" name="Closest point on triangle"/>
          <p:cNvSpPr txBox="1">
            <a:spLocks noGrp="1"/>
          </p:cNvSpPr>
          <p:nvPr>
            <p:ph type="title"/>
          </p:nvPr>
        </p:nvSpPr>
        <p:spPr>
          <a:prstGeom prst="rect">
            <a:avLst/>
          </a:prstGeom>
        </p:spPr>
        <p:txBody>
          <a:bodyPr/>
          <a:lstStyle>
            <a:lvl1pPr>
              <a:defRPr>
                <a:solidFill>
                  <a:srgbClr val="EEEEEE"/>
                </a:solidFill>
                <a:effectLst>
                  <a:outerShdw blurRad="12700" dist="25400" dir="2700000" rotWithShape="0">
                    <a:srgbClr val="000000"/>
                  </a:outerShdw>
                </a:effectLst>
                <a:uFill>
                  <a:solidFill>
                    <a:srgbClr val="EEEEEE"/>
                  </a:solidFill>
                </a:uFill>
              </a:defRPr>
            </a:lvl1pPr>
          </a:lstStyle>
          <a:p>
            <a:r>
              <a:t>Closest point on triangle</a:t>
            </a:r>
          </a:p>
        </p:txBody>
      </p:sp>
      <p:sp>
        <p:nvSpPr>
          <p:cNvPr id="786" name="Circle"/>
          <p:cNvSpPr/>
          <p:nvPr/>
        </p:nvSpPr>
        <p:spPr>
          <a:xfrm>
            <a:off x="6096000" y="33289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87" name="Circle"/>
          <p:cNvSpPr/>
          <p:nvPr/>
        </p:nvSpPr>
        <p:spPr>
          <a:xfrm>
            <a:off x="3050976" y="54625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88" name="Circle"/>
          <p:cNvSpPr/>
          <p:nvPr/>
        </p:nvSpPr>
        <p:spPr>
          <a:xfrm>
            <a:off x="8765976" y="52339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789" name="image.pdf" descr="image.pdf"/>
          <p:cNvPicPr>
            <a:picLocks/>
          </p:cNvPicPr>
          <p:nvPr/>
        </p:nvPicPr>
        <p:blipFill>
          <a:blip r:embed="rId2">
            <a:extLst/>
          </a:blip>
          <a:stretch>
            <a:fillRect/>
          </a:stretch>
        </p:blipFill>
        <p:spPr>
          <a:xfrm>
            <a:off x="2490787" y="5233988"/>
            <a:ext cx="557213" cy="557213"/>
          </a:xfrm>
          <a:prstGeom prst="rect">
            <a:avLst/>
          </a:prstGeom>
          <a:ln w="12700">
            <a:miter lim="400000"/>
          </a:ln>
        </p:spPr>
      </p:pic>
      <p:pic>
        <p:nvPicPr>
          <p:cNvPr id="790" name="image.pdf" descr="image.pdf"/>
          <p:cNvPicPr>
            <a:picLocks/>
          </p:cNvPicPr>
          <p:nvPr/>
        </p:nvPicPr>
        <p:blipFill>
          <a:blip r:embed="rId3">
            <a:extLst/>
          </a:blip>
          <a:stretch>
            <a:fillRect/>
          </a:stretch>
        </p:blipFill>
        <p:spPr>
          <a:xfrm>
            <a:off x="8917782" y="5005387"/>
            <a:ext cx="557213" cy="612776"/>
          </a:xfrm>
          <a:prstGeom prst="rect">
            <a:avLst/>
          </a:prstGeom>
          <a:ln w="12700">
            <a:miter lim="400000"/>
          </a:ln>
        </p:spPr>
      </p:pic>
      <p:pic>
        <p:nvPicPr>
          <p:cNvPr id="791" name="image.pdf" descr="image.pdf"/>
          <p:cNvPicPr>
            <a:picLocks/>
          </p:cNvPicPr>
          <p:nvPr/>
        </p:nvPicPr>
        <p:blipFill>
          <a:blip r:embed="rId4">
            <a:extLst/>
          </a:blip>
          <a:stretch>
            <a:fillRect/>
          </a:stretch>
        </p:blipFill>
        <p:spPr>
          <a:xfrm>
            <a:off x="6328172" y="2973586"/>
            <a:ext cx="557213" cy="557213"/>
          </a:xfrm>
          <a:prstGeom prst="rect">
            <a:avLst/>
          </a:prstGeom>
          <a:ln w="12700">
            <a:miter lim="400000"/>
          </a:ln>
        </p:spPr>
      </p:pic>
      <p:sp>
        <p:nvSpPr>
          <p:cNvPr id="792" name="ClosestPointOnTriangleToPoint()…"/>
          <p:cNvSpPr txBox="1"/>
          <p:nvPr/>
        </p:nvSpPr>
        <p:spPr>
          <a:xfrm>
            <a:off x="1979414" y="1598414"/>
            <a:ext cx="8393906" cy="10364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spAutoFit/>
          </a:bodyPr>
          <a:lstStyle/>
          <a:p>
            <a:pPr marL="269667" marR="40638" indent="-241093" defTabSz="910796">
              <a:spcBef>
                <a:spcPts val="703"/>
              </a:spcBef>
              <a:buClr>
                <a:srgbClr val="FFA900"/>
              </a:buClr>
              <a:buSzPct val="100000"/>
              <a:buFont typeface="Arial"/>
              <a:buChar char="•"/>
              <a:defRPr sz="4400">
                <a:solidFill>
                  <a:srgbClr val="FFFFFF"/>
                </a:solidFill>
                <a:uFill>
                  <a:solidFill>
                    <a:srgbClr val="FFFFFF"/>
                  </a:solidFill>
                </a:uFill>
                <a:latin typeface="+mn-lt"/>
                <a:ea typeface="+mn-ea"/>
                <a:cs typeface="+mn-cs"/>
                <a:sym typeface="Arial"/>
              </a:defRPr>
            </a:pPr>
            <a:r>
              <a:rPr sz="3094"/>
              <a:t>ClosestPointOnTriangleToPoint()</a:t>
            </a:r>
          </a:p>
          <a:p>
            <a:pPr marL="550942" marR="40638" indent="-200911" defTabSz="910796">
              <a:spcBef>
                <a:spcPts val="633"/>
              </a:spcBef>
              <a:buClr>
                <a:srgbClr val="FFA900"/>
              </a:buClr>
              <a:buSzPct val="100000"/>
              <a:buFont typeface="Arial"/>
              <a:buChar char="–"/>
              <a:defRPr sz="3800">
                <a:solidFill>
                  <a:srgbClr val="FFFFFF"/>
                </a:solidFill>
                <a:uFill>
                  <a:solidFill>
                    <a:srgbClr val="FFFFFF"/>
                  </a:solidFill>
                </a:uFill>
                <a:latin typeface="+mn-lt"/>
                <a:ea typeface="+mn-ea"/>
                <a:cs typeface="+mn-cs"/>
                <a:sym typeface="Arial"/>
              </a:defRPr>
            </a:pPr>
            <a:r>
              <a:rPr sz="2672"/>
              <a:t>Finds point on triangle closest to a given point</a:t>
            </a:r>
          </a:p>
        </p:txBody>
      </p:sp>
      <p:sp>
        <p:nvSpPr>
          <p:cNvPr id="793" name="Circle"/>
          <p:cNvSpPr/>
          <p:nvPr/>
        </p:nvSpPr>
        <p:spPr>
          <a:xfrm>
            <a:off x="3452812" y="3609975"/>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794" name="image.pdf" descr="image.pdf"/>
          <p:cNvPicPr>
            <a:picLocks/>
          </p:cNvPicPr>
          <p:nvPr/>
        </p:nvPicPr>
        <p:blipFill>
          <a:blip r:embed="rId5">
            <a:extLst/>
          </a:blip>
          <a:stretch>
            <a:fillRect/>
          </a:stretch>
        </p:blipFill>
        <p:spPr>
          <a:xfrm>
            <a:off x="3050977" y="3252787"/>
            <a:ext cx="557213" cy="557213"/>
          </a:xfrm>
          <a:prstGeom prst="rect">
            <a:avLst/>
          </a:prstGeom>
          <a:ln w="12700">
            <a:miter lim="400000"/>
          </a:ln>
        </p:spPr>
      </p:pic>
      <p:sp>
        <p:nvSpPr>
          <p:cNvPr id="795" name="Circle"/>
          <p:cNvSpPr/>
          <p:nvPr/>
        </p:nvSpPr>
        <p:spPr>
          <a:xfrm>
            <a:off x="4193976" y="4652367"/>
            <a:ext cx="151805" cy="151805"/>
          </a:xfrm>
          <a:prstGeom prst="ellipse">
            <a:avLst/>
          </a:prstGeom>
          <a:solidFill>
            <a:srgbClr val="FFFB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796" name="image.pdf" descr="image.pdf"/>
          <p:cNvPicPr>
            <a:picLocks/>
          </p:cNvPicPr>
          <p:nvPr/>
        </p:nvPicPr>
        <p:blipFill>
          <a:blip r:embed="rId6">
            <a:extLst/>
          </a:blip>
          <a:stretch>
            <a:fillRect/>
          </a:stretch>
        </p:blipFill>
        <p:spPr>
          <a:xfrm>
            <a:off x="4345782" y="4491633"/>
            <a:ext cx="557213" cy="668338"/>
          </a:xfrm>
          <a:prstGeom prst="rect">
            <a:avLst/>
          </a:prstGeom>
          <a:ln w="12700">
            <a:miter lim="400000"/>
          </a:ln>
        </p:spPr>
      </p:pic>
    </p:spTree>
    <p:extLst>
      <p:ext uri="{BB962C8B-B14F-4D97-AF65-F5344CB8AC3E}">
        <p14:creationId xmlns:p14="http://schemas.microsoft.com/office/powerpoint/2010/main" val="3276180845"/>
      </p:ext>
    </p:extLst>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798" name="Shape"/>
          <p:cNvSpPr/>
          <p:nvPr/>
        </p:nvSpPr>
        <p:spPr>
          <a:xfrm>
            <a:off x="2131219" y="4491633"/>
            <a:ext cx="991195" cy="1982391"/>
          </a:xfrm>
          <a:custGeom>
            <a:avLst/>
            <a:gdLst/>
            <a:ahLst/>
            <a:cxnLst>
              <a:cxn ang="0">
                <a:pos x="wd2" y="hd2"/>
              </a:cxn>
              <a:cxn ang="5400000">
                <a:pos x="wd2" y="hd2"/>
              </a:cxn>
              <a:cxn ang="10800000">
                <a:pos x="wd2" y="hd2"/>
              </a:cxn>
              <a:cxn ang="16200000">
                <a:pos x="wd2" y="hd2"/>
              </a:cxn>
            </a:cxnLst>
            <a:rect l="0" t="0" r="r" b="b"/>
            <a:pathLst>
              <a:path w="21600" h="21600" extrusionOk="0">
                <a:moveTo>
                  <a:pt x="4985" y="0"/>
                </a:moveTo>
                <a:lnTo>
                  <a:pt x="21600" y="11631"/>
                </a:lnTo>
                <a:lnTo>
                  <a:pt x="21600" y="21600"/>
                </a:lnTo>
                <a:lnTo>
                  <a:pt x="6646" y="18277"/>
                </a:lnTo>
                <a:lnTo>
                  <a:pt x="0" y="5815"/>
                </a:lnTo>
                <a:lnTo>
                  <a:pt x="4985" y="0"/>
                </a:lnTo>
                <a:close/>
              </a:path>
            </a:pathLst>
          </a:custGeom>
          <a:solidFill>
            <a:srgbClr val="929292">
              <a:alpha val="50000"/>
            </a:srgbClr>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799" name="Shape"/>
          <p:cNvSpPr/>
          <p:nvPr/>
        </p:nvSpPr>
        <p:spPr>
          <a:xfrm>
            <a:off x="8837414" y="4420196"/>
            <a:ext cx="839391" cy="1902023"/>
          </a:xfrm>
          <a:custGeom>
            <a:avLst/>
            <a:gdLst/>
            <a:ahLst/>
            <a:cxnLst>
              <a:cxn ang="0">
                <a:pos x="wd2" y="hd2"/>
              </a:cxn>
              <a:cxn ang="5400000">
                <a:pos x="wd2" y="hd2"/>
              </a:cxn>
              <a:cxn ang="10800000">
                <a:pos x="wd2" y="hd2"/>
              </a:cxn>
              <a:cxn ang="16200000">
                <a:pos x="wd2" y="hd2"/>
              </a:cxn>
            </a:cxnLst>
            <a:rect l="0" t="0" r="r" b="b"/>
            <a:pathLst>
              <a:path w="21600" h="21600" extrusionOk="0">
                <a:moveTo>
                  <a:pt x="17673" y="0"/>
                </a:moveTo>
                <a:lnTo>
                  <a:pt x="0" y="10368"/>
                </a:lnTo>
                <a:lnTo>
                  <a:pt x="1964" y="21600"/>
                </a:lnTo>
                <a:lnTo>
                  <a:pt x="11782" y="16416"/>
                </a:lnTo>
                <a:lnTo>
                  <a:pt x="21600" y="5184"/>
                </a:lnTo>
                <a:lnTo>
                  <a:pt x="17673" y="0"/>
                </a:lnTo>
                <a:close/>
              </a:path>
            </a:pathLst>
          </a:custGeom>
          <a:solidFill>
            <a:srgbClr val="929292">
              <a:alpha val="50000"/>
            </a:srgbClr>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00" name="Shape"/>
          <p:cNvSpPr/>
          <p:nvPr/>
        </p:nvSpPr>
        <p:spPr>
          <a:xfrm>
            <a:off x="5408414" y="2366367"/>
            <a:ext cx="1446609" cy="106263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1368" y="21600"/>
                </a:lnTo>
                <a:lnTo>
                  <a:pt x="21600" y="3086"/>
                </a:lnTo>
                <a:lnTo>
                  <a:pt x="10232" y="6171"/>
                </a:lnTo>
                <a:lnTo>
                  <a:pt x="0" y="0"/>
                </a:lnTo>
                <a:close/>
              </a:path>
            </a:pathLst>
          </a:custGeom>
          <a:solidFill>
            <a:srgbClr val="929292">
              <a:alpha val="50000"/>
            </a:srgbClr>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01" name="Shape"/>
          <p:cNvSpPr/>
          <p:nvPr/>
        </p:nvSpPr>
        <p:spPr>
          <a:xfrm>
            <a:off x="3122414" y="5331024"/>
            <a:ext cx="5748338" cy="1165225"/>
          </a:xfrm>
          <a:custGeom>
            <a:avLst/>
            <a:gdLst/>
            <a:ahLst/>
            <a:cxnLst>
              <a:cxn ang="0">
                <a:pos x="wd2" y="hd2"/>
              </a:cxn>
              <a:cxn ang="5400000">
                <a:pos x="wd2" y="hd2"/>
              </a:cxn>
              <a:cxn ang="10800000">
                <a:pos x="wd2" y="hd2"/>
              </a:cxn>
              <a:cxn ang="16200000">
                <a:pos x="wd2" y="hd2"/>
              </a:cxn>
            </a:cxnLst>
            <a:rect l="0" t="0" r="r" b="b"/>
            <a:pathLst>
              <a:path w="21600" h="21600" extrusionOk="0">
                <a:moveTo>
                  <a:pt x="21475" y="0"/>
                </a:moveTo>
                <a:lnTo>
                  <a:pt x="0" y="4238"/>
                </a:lnTo>
                <a:lnTo>
                  <a:pt x="155" y="21600"/>
                </a:lnTo>
                <a:lnTo>
                  <a:pt x="4211" y="17539"/>
                </a:lnTo>
                <a:lnTo>
                  <a:pt x="17335" y="13449"/>
                </a:lnTo>
                <a:lnTo>
                  <a:pt x="21600" y="17745"/>
                </a:lnTo>
                <a:lnTo>
                  <a:pt x="21475" y="0"/>
                </a:lnTo>
                <a:close/>
              </a:path>
            </a:pathLst>
          </a:custGeom>
          <a:solidFill>
            <a:srgbClr val="BFBFBF">
              <a:alpha val="50000"/>
            </a:srgbClr>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02" name="Shape"/>
          <p:cNvSpPr/>
          <p:nvPr/>
        </p:nvSpPr>
        <p:spPr>
          <a:xfrm>
            <a:off x="6176367" y="2518172"/>
            <a:ext cx="3348633" cy="2821781"/>
          </a:xfrm>
          <a:custGeom>
            <a:avLst/>
            <a:gdLst/>
            <a:ahLst/>
            <a:cxnLst>
              <a:cxn ang="0">
                <a:pos x="wd2" y="hd2"/>
              </a:cxn>
              <a:cxn ang="5400000">
                <a:pos x="wd2" y="hd2"/>
              </a:cxn>
              <a:cxn ang="10800000">
                <a:pos x="wd2" y="hd2"/>
              </a:cxn>
              <a:cxn ang="16200000">
                <a:pos x="wd2" y="hd2"/>
              </a:cxn>
            </a:cxnLst>
            <a:rect l="0" t="0" r="r" b="b"/>
            <a:pathLst>
              <a:path w="21600" h="21600" extrusionOk="0">
                <a:moveTo>
                  <a:pt x="4418" y="0"/>
                </a:moveTo>
                <a:lnTo>
                  <a:pt x="0" y="7005"/>
                </a:lnTo>
                <a:lnTo>
                  <a:pt x="17182" y="21600"/>
                </a:lnTo>
                <a:lnTo>
                  <a:pt x="21600" y="14595"/>
                </a:lnTo>
                <a:lnTo>
                  <a:pt x="16405" y="12138"/>
                </a:lnTo>
                <a:lnTo>
                  <a:pt x="8376" y="5461"/>
                </a:lnTo>
                <a:lnTo>
                  <a:pt x="4418" y="0"/>
                </a:lnTo>
                <a:close/>
              </a:path>
            </a:pathLst>
          </a:custGeom>
          <a:solidFill>
            <a:srgbClr val="BFBFBF">
              <a:alpha val="50000"/>
            </a:srgbClr>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03" name="Shape"/>
          <p:cNvSpPr/>
          <p:nvPr/>
        </p:nvSpPr>
        <p:spPr>
          <a:xfrm>
            <a:off x="2363390" y="2366367"/>
            <a:ext cx="3812977" cy="3196828"/>
          </a:xfrm>
          <a:custGeom>
            <a:avLst/>
            <a:gdLst/>
            <a:ahLst/>
            <a:cxnLst>
              <a:cxn ang="0">
                <a:pos x="wd2" y="hd2"/>
              </a:cxn>
              <a:cxn ang="5400000">
                <a:pos x="wd2" y="hd2"/>
              </a:cxn>
              <a:cxn ang="10800000">
                <a:pos x="wd2" y="hd2"/>
              </a:cxn>
              <a:cxn ang="16200000">
                <a:pos x="wd2" y="hd2"/>
              </a:cxn>
            </a:cxnLst>
            <a:rect l="0" t="0" r="r" b="b"/>
            <a:pathLst>
              <a:path w="21600" h="21600" extrusionOk="0">
                <a:moveTo>
                  <a:pt x="17280" y="0"/>
                </a:moveTo>
                <a:lnTo>
                  <a:pt x="21600" y="7200"/>
                </a:lnTo>
                <a:lnTo>
                  <a:pt x="4320" y="21600"/>
                </a:lnTo>
                <a:lnTo>
                  <a:pt x="0" y="14400"/>
                </a:lnTo>
                <a:lnTo>
                  <a:pt x="4320" y="13371"/>
                </a:lnTo>
                <a:lnTo>
                  <a:pt x="13671" y="5625"/>
                </a:lnTo>
                <a:lnTo>
                  <a:pt x="17280" y="0"/>
                </a:lnTo>
                <a:close/>
              </a:path>
            </a:pathLst>
          </a:custGeom>
          <a:solidFill>
            <a:srgbClr val="BFBFBF">
              <a:alpha val="50000"/>
            </a:srgbClr>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04" name="Triangle"/>
          <p:cNvSpPr/>
          <p:nvPr/>
        </p:nvSpPr>
        <p:spPr>
          <a:xfrm>
            <a:off x="3122414" y="3405188"/>
            <a:ext cx="5715000" cy="2134196"/>
          </a:xfrm>
          <a:custGeom>
            <a:avLst/>
            <a:gdLst/>
            <a:ahLst/>
            <a:cxnLst>
              <a:cxn ang="0">
                <a:pos x="wd2" y="hd2"/>
              </a:cxn>
              <a:cxn ang="5400000">
                <a:pos x="wd2" y="hd2"/>
              </a:cxn>
              <a:cxn ang="10800000">
                <a:pos x="wd2" y="hd2"/>
              </a:cxn>
              <a:cxn ang="16200000">
                <a:pos x="wd2" y="hd2"/>
              </a:cxn>
            </a:cxnLst>
            <a:rect l="0" t="0" r="r" b="b"/>
            <a:pathLst>
              <a:path w="21600" h="21600" extrusionOk="0">
                <a:moveTo>
                  <a:pt x="11520" y="0"/>
                </a:moveTo>
                <a:lnTo>
                  <a:pt x="0" y="21600"/>
                </a:lnTo>
                <a:lnTo>
                  <a:pt x="21600" y="19286"/>
                </a:lnTo>
                <a:lnTo>
                  <a:pt x="11520" y="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05" name="Closest point on triangle"/>
          <p:cNvSpPr txBox="1">
            <a:spLocks noGrp="1"/>
          </p:cNvSpPr>
          <p:nvPr>
            <p:ph type="title"/>
          </p:nvPr>
        </p:nvSpPr>
        <p:spPr>
          <a:prstGeom prst="rect">
            <a:avLst/>
          </a:prstGeom>
        </p:spPr>
        <p:txBody>
          <a:bodyPr/>
          <a:lstStyle>
            <a:lvl1pPr>
              <a:defRPr sz="5800">
                <a:solidFill>
                  <a:srgbClr val="EEEEEE"/>
                </a:solidFill>
                <a:effectLst>
                  <a:outerShdw blurRad="12700" dist="25400" dir="2700000" rotWithShape="0">
                    <a:srgbClr val="000000"/>
                  </a:outerShdw>
                </a:effectLst>
                <a:uFill>
                  <a:solidFill>
                    <a:srgbClr val="EEEEEE"/>
                  </a:solidFill>
                </a:uFill>
              </a:defRPr>
            </a:lvl1pPr>
          </a:lstStyle>
          <a:p>
            <a:r>
              <a:t>Closest point on triangle</a:t>
            </a:r>
          </a:p>
        </p:txBody>
      </p:sp>
      <p:sp>
        <p:nvSpPr>
          <p:cNvPr id="806" name="Circle"/>
          <p:cNvSpPr/>
          <p:nvPr/>
        </p:nvSpPr>
        <p:spPr>
          <a:xfrm>
            <a:off x="6096000" y="33289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07" name="Circle"/>
          <p:cNvSpPr/>
          <p:nvPr/>
        </p:nvSpPr>
        <p:spPr>
          <a:xfrm>
            <a:off x="3050976" y="54625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08" name="Circle"/>
          <p:cNvSpPr/>
          <p:nvPr/>
        </p:nvSpPr>
        <p:spPr>
          <a:xfrm>
            <a:off x="8765976" y="52339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809" name="image.pdf" descr="image.pdf"/>
          <p:cNvPicPr>
            <a:picLocks/>
          </p:cNvPicPr>
          <p:nvPr/>
        </p:nvPicPr>
        <p:blipFill>
          <a:blip r:embed="rId3">
            <a:extLst/>
          </a:blip>
          <a:stretch>
            <a:fillRect/>
          </a:stretch>
        </p:blipFill>
        <p:spPr>
          <a:xfrm>
            <a:off x="2899172" y="4875610"/>
            <a:ext cx="557213" cy="557213"/>
          </a:xfrm>
          <a:prstGeom prst="rect">
            <a:avLst/>
          </a:prstGeom>
          <a:ln w="12700">
            <a:miter lim="400000"/>
          </a:ln>
        </p:spPr>
      </p:pic>
      <p:pic>
        <p:nvPicPr>
          <p:cNvPr id="810" name="image.pdf" descr="image.pdf"/>
          <p:cNvPicPr>
            <a:picLocks/>
          </p:cNvPicPr>
          <p:nvPr/>
        </p:nvPicPr>
        <p:blipFill>
          <a:blip r:embed="rId4">
            <a:extLst/>
          </a:blip>
          <a:stretch>
            <a:fillRect/>
          </a:stretch>
        </p:blipFill>
        <p:spPr>
          <a:xfrm>
            <a:off x="8533805" y="4652367"/>
            <a:ext cx="557213" cy="612776"/>
          </a:xfrm>
          <a:prstGeom prst="rect">
            <a:avLst/>
          </a:prstGeom>
          <a:ln w="12700">
            <a:miter lim="400000"/>
          </a:ln>
        </p:spPr>
      </p:pic>
      <p:sp>
        <p:nvSpPr>
          <p:cNvPr id="811" name="Line"/>
          <p:cNvSpPr/>
          <p:nvPr/>
        </p:nvSpPr>
        <p:spPr>
          <a:xfrm flipH="1" flipV="1">
            <a:off x="3122414" y="5527477"/>
            <a:ext cx="35719" cy="875109"/>
          </a:xfrm>
          <a:prstGeom prst="line">
            <a:avLst/>
          </a:prstGeom>
          <a:ln w="38100" cap="rnd">
            <a:solidFill>
              <a:srgbClr val="000000"/>
            </a:solidFill>
            <a:prstDash val="sysDot"/>
          </a:ln>
        </p:spPr>
        <p:txBody>
          <a:bodyPr lIns="35719" tIns="35719" rIns="35719" bIns="35719" anchor="ctr"/>
          <a:lstStyle/>
          <a:p>
            <a:endParaRPr sz="1266"/>
          </a:p>
        </p:txBody>
      </p:sp>
      <p:sp>
        <p:nvSpPr>
          <p:cNvPr id="812" name="Line"/>
          <p:cNvSpPr/>
          <p:nvPr/>
        </p:nvSpPr>
        <p:spPr>
          <a:xfrm flipH="1" flipV="1">
            <a:off x="5408414" y="2366367"/>
            <a:ext cx="759023" cy="1062633"/>
          </a:xfrm>
          <a:prstGeom prst="line">
            <a:avLst/>
          </a:prstGeom>
          <a:ln w="38100" cap="rnd">
            <a:solidFill>
              <a:srgbClr val="000000"/>
            </a:solidFill>
            <a:prstDash val="sysDot"/>
          </a:ln>
        </p:spPr>
        <p:txBody>
          <a:bodyPr lIns="35719" tIns="35719" rIns="35719" bIns="35719" anchor="ctr"/>
          <a:lstStyle/>
          <a:p>
            <a:endParaRPr sz="1266"/>
          </a:p>
        </p:txBody>
      </p:sp>
      <p:sp>
        <p:nvSpPr>
          <p:cNvPr id="813" name="Line"/>
          <p:cNvSpPr/>
          <p:nvPr/>
        </p:nvSpPr>
        <p:spPr>
          <a:xfrm flipH="1" flipV="1">
            <a:off x="2363391" y="4491633"/>
            <a:ext cx="759023" cy="1062633"/>
          </a:xfrm>
          <a:prstGeom prst="line">
            <a:avLst/>
          </a:prstGeom>
          <a:ln w="38100" cap="rnd">
            <a:solidFill>
              <a:srgbClr val="000000"/>
            </a:solidFill>
            <a:prstDash val="sysDot"/>
          </a:ln>
        </p:spPr>
        <p:txBody>
          <a:bodyPr lIns="35719" tIns="35719" rIns="35719" bIns="35719" anchor="ctr"/>
          <a:lstStyle/>
          <a:p>
            <a:endParaRPr sz="1266"/>
          </a:p>
        </p:txBody>
      </p:sp>
      <p:sp>
        <p:nvSpPr>
          <p:cNvPr id="814" name="Line"/>
          <p:cNvSpPr/>
          <p:nvPr/>
        </p:nvSpPr>
        <p:spPr>
          <a:xfrm flipV="1">
            <a:off x="6176367" y="2518172"/>
            <a:ext cx="687586" cy="910828"/>
          </a:xfrm>
          <a:prstGeom prst="line">
            <a:avLst/>
          </a:prstGeom>
          <a:ln w="38100" cap="rnd">
            <a:solidFill>
              <a:srgbClr val="000000"/>
            </a:solidFill>
            <a:prstDash val="sysDot"/>
          </a:ln>
        </p:spPr>
        <p:txBody>
          <a:bodyPr lIns="35719" tIns="35719" rIns="35719" bIns="35719" anchor="ctr"/>
          <a:lstStyle/>
          <a:p>
            <a:endParaRPr sz="1266"/>
          </a:p>
        </p:txBody>
      </p:sp>
      <p:sp>
        <p:nvSpPr>
          <p:cNvPr id="815" name="Line"/>
          <p:cNvSpPr/>
          <p:nvPr/>
        </p:nvSpPr>
        <p:spPr>
          <a:xfrm flipV="1">
            <a:off x="8837414" y="4420195"/>
            <a:ext cx="687586" cy="910828"/>
          </a:xfrm>
          <a:prstGeom prst="line">
            <a:avLst/>
          </a:prstGeom>
          <a:ln w="38100" cap="rnd">
            <a:solidFill>
              <a:srgbClr val="000000"/>
            </a:solidFill>
            <a:prstDash val="sysDot"/>
          </a:ln>
        </p:spPr>
        <p:txBody>
          <a:bodyPr lIns="35719" tIns="35719" rIns="35719" bIns="35719" anchor="ctr"/>
          <a:lstStyle/>
          <a:p>
            <a:endParaRPr sz="1266"/>
          </a:p>
        </p:txBody>
      </p:sp>
      <p:sp>
        <p:nvSpPr>
          <p:cNvPr id="816" name="Line"/>
          <p:cNvSpPr/>
          <p:nvPr/>
        </p:nvSpPr>
        <p:spPr>
          <a:xfrm flipH="1" flipV="1">
            <a:off x="8837414" y="5295305"/>
            <a:ext cx="35719" cy="875109"/>
          </a:xfrm>
          <a:prstGeom prst="line">
            <a:avLst/>
          </a:prstGeom>
          <a:ln w="38100" cap="rnd">
            <a:solidFill>
              <a:srgbClr val="000000"/>
            </a:solidFill>
            <a:prstDash val="sysDot"/>
          </a:ln>
        </p:spPr>
        <p:txBody>
          <a:bodyPr lIns="35719" tIns="35719" rIns="35719" bIns="35719" anchor="ctr"/>
          <a:lstStyle/>
          <a:p>
            <a:endParaRPr sz="1266"/>
          </a:p>
        </p:txBody>
      </p:sp>
      <p:pic>
        <p:nvPicPr>
          <p:cNvPr id="817" name="image.pdf" descr="image.pdf"/>
          <p:cNvPicPr>
            <a:picLocks/>
          </p:cNvPicPr>
          <p:nvPr/>
        </p:nvPicPr>
        <p:blipFill>
          <a:blip r:embed="rId5">
            <a:extLst/>
          </a:blip>
          <a:stretch>
            <a:fillRect/>
          </a:stretch>
        </p:blipFill>
        <p:spPr>
          <a:xfrm>
            <a:off x="6328172" y="2973586"/>
            <a:ext cx="557213" cy="557213"/>
          </a:xfrm>
          <a:prstGeom prst="rect">
            <a:avLst/>
          </a:prstGeom>
          <a:ln w="12700">
            <a:miter lim="400000"/>
          </a:ln>
        </p:spPr>
      </p:pic>
      <p:pic>
        <p:nvPicPr>
          <p:cNvPr id="818" name="image.pdf" descr="image.pdf"/>
          <p:cNvPicPr>
            <a:picLocks/>
          </p:cNvPicPr>
          <p:nvPr/>
        </p:nvPicPr>
        <p:blipFill>
          <a:blip r:embed="rId6">
            <a:extLst/>
          </a:blip>
          <a:stretch>
            <a:fillRect/>
          </a:stretch>
        </p:blipFill>
        <p:spPr>
          <a:xfrm>
            <a:off x="5712024" y="4268391"/>
            <a:ext cx="557213" cy="557213"/>
          </a:xfrm>
          <a:prstGeom prst="rect">
            <a:avLst/>
          </a:prstGeom>
          <a:ln w="12700">
            <a:miter lim="400000"/>
          </a:ln>
        </p:spPr>
      </p:pic>
      <p:pic>
        <p:nvPicPr>
          <p:cNvPr id="819" name="image.pdf" descr="image.pdf"/>
          <p:cNvPicPr>
            <a:picLocks/>
          </p:cNvPicPr>
          <p:nvPr/>
        </p:nvPicPr>
        <p:blipFill>
          <a:blip r:embed="rId7">
            <a:extLst/>
          </a:blip>
          <a:stretch>
            <a:fillRect/>
          </a:stretch>
        </p:blipFill>
        <p:spPr>
          <a:xfrm>
            <a:off x="5884862" y="2268537"/>
            <a:ext cx="668339" cy="779463"/>
          </a:xfrm>
          <a:prstGeom prst="rect">
            <a:avLst/>
          </a:prstGeom>
          <a:ln w="12700">
            <a:miter lim="400000"/>
          </a:ln>
        </p:spPr>
      </p:pic>
      <p:pic>
        <p:nvPicPr>
          <p:cNvPr id="820" name="image.pdf" descr="image.pdf"/>
          <p:cNvPicPr>
            <a:picLocks/>
          </p:cNvPicPr>
          <p:nvPr/>
        </p:nvPicPr>
        <p:blipFill>
          <a:blip r:embed="rId8">
            <a:extLst/>
          </a:blip>
          <a:stretch>
            <a:fillRect/>
          </a:stretch>
        </p:blipFill>
        <p:spPr>
          <a:xfrm>
            <a:off x="2175867" y="5331024"/>
            <a:ext cx="723305" cy="779463"/>
          </a:xfrm>
          <a:prstGeom prst="rect">
            <a:avLst/>
          </a:prstGeom>
          <a:ln w="12700">
            <a:miter lim="400000"/>
          </a:ln>
        </p:spPr>
      </p:pic>
      <p:pic>
        <p:nvPicPr>
          <p:cNvPr id="821" name="image.pdf" descr="image.pdf"/>
          <p:cNvPicPr>
            <a:picLocks/>
          </p:cNvPicPr>
          <p:nvPr/>
        </p:nvPicPr>
        <p:blipFill>
          <a:blip r:embed="rId9">
            <a:extLst/>
          </a:blip>
          <a:stretch>
            <a:fillRect/>
          </a:stretch>
        </p:blipFill>
        <p:spPr>
          <a:xfrm>
            <a:off x="9009063" y="5107781"/>
            <a:ext cx="668338" cy="779463"/>
          </a:xfrm>
          <a:prstGeom prst="rect">
            <a:avLst/>
          </a:prstGeom>
          <a:ln w="12700">
            <a:miter lim="400000"/>
          </a:ln>
        </p:spPr>
      </p:pic>
      <p:pic>
        <p:nvPicPr>
          <p:cNvPr id="822" name="image.pdf" descr="image.pdf"/>
          <p:cNvPicPr>
            <a:picLocks/>
          </p:cNvPicPr>
          <p:nvPr/>
        </p:nvPicPr>
        <p:blipFill>
          <a:blip r:embed="rId10">
            <a:extLst/>
          </a:blip>
          <a:stretch>
            <a:fillRect/>
          </a:stretch>
        </p:blipFill>
        <p:spPr>
          <a:xfrm>
            <a:off x="3798888" y="3487737"/>
            <a:ext cx="1001713" cy="779463"/>
          </a:xfrm>
          <a:prstGeom prst="rect">
            <a:avLst/>
          </a:prstGeom>
          <a:ln w="12700">
            <a:miter lim="400000"/>
          </a:ln>
        </p:spPr>
      </p:pic>
      <p:pic>
        <p:nvPicPr>
          <p:cNvPr id="823" name="image.pdf" descr="image.pdf"/>
          <p:cNvPicPr>
            <a:picLocks/>
          </p:cNvPicPr>
          <p:nvPr/>
        </p:nvPicPr>
        <p:blipFill>
          <a:blip r:embed="rId11">
            <a:extLst/>
          </a:blip>
          <a:stretch>
            <a:fillRect/>
          </a:stretch>
        </p:blipFill>
        <p:spPr>
          <a:xfrm>
            <a:off x="7542609" y="3580805"/>
            <a:ext cx="1001713" cy="779463"/>
          </a:xfrm>
          <a:prstGeom prst="rect">
            <a:avLst/>
          </a:prstGeom>
          <a:ln w="12700">
            <a:miter lim="400000"/>
          </a:ln>
        </p:spPr>
      </p:pic>
      <p:pic>
        <p:nvPicPr>
          <p:cNvPr id="824" name="image.pdf" descr="image.pdf"/>
          <p:cNvPicPr>
            <a:picLocks/>
          </p:cNvPicPr>
          <p:nvPr/>
        </p:nvPicPr>
        <p:blipFill>
          <a:blip r:embed="rId12">
            <a:extLst/>
          </a:blip>
          <a:stretch>
            <a:fillRect/>
          </a:stretch>
        </p:blipFill>
        <p:spPr>
          <a:xfrm>
            <a:off x="5640586" y="5563195"/>
            <a:ext cx="946150" cy="779463"/>
          </a:xfrm>
          <a:prstGeom prst="rect">
            <a:avLst/>
          </a:prstGeom>
          <a:ln w="12700">
            <a:miter lim="400000"/>
          </a:ln>
        </p:spPr>
      </p:pic>
      <p:sp>
        <p:nvSpPr>
          <p:cNvPr id="825" name="Separate cases based on which feature Voronoi region point lies in"/>
          <p:cNvSpPr txBox="1"/>
          <p:nvPr/>
        </p:nvSpPr>
        <p:spPr>
          <a:xfrm>
            <a:off x="1979414" y="1598414"/>
            <a:ext cx="8393906" cy="894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spAutoFit/>
          </a:bodyPr>
          <a:lstStyle>
            <a:lvl1pPr marL="383539" marR="57799" indent="-342899" defTabSz="1295400">
              <a:spcBef>
                <a:spcPts val="900"/>
              </a:spcBef>
              <a:buClr>
                <a:srgbClr val="FFA900"/>
              </a:buClr>
              <a:buSzPct val="100000"/>
              <a:buFont typeface="Arial"/>
              <a:buChar char="•"/>
              <a:defRPr sz="3800">
                <a:solidFill>
                  <a:srgbClr val="FFFFFF"/>
                </a:solidFill>
                <a:uFill>
                  <a:solidFill>
                    <a:srgbClr val="FFFFFF"/>
                  </a:solidFill>
                </a:uFill>
                <a:latin typeface="+mn-lt"/>
                <a:ea typeface="+mn-ea"/>
                <a:cs typeface="+mn-cs"/>
                <a:sym typeface="Arial"/>
              </a:defRPr>
            </a:lvl1pPr>
          </a:lstStyle>
          <a:p>
            <a:r>
              <a:rPr sz="2672"/>
              <a:t>Separate cases based on which feature Voronoi region point lies in</a:t>
            </a:r>
          </a:p>
        </p:txBody>
      </p:sp>
    </p:spTree>
    <p:extLst>
      <p:ext uri="{BB962C8B-B14F-4D97-AF65-F5344CB8AC3E}">
        <p14:creationId xmlns:p14="http://schemas.microsoft.com/office/powerpoint/2010/main" val="2279795542"/>
      </p:ext>
    </p:extLst>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829" name="Shape"/>
          <p:cNvSpPr/>
          <p:nvPr/>
        </p:nvSpPr>
        <p:spPr>
          <a:xfrm>
            <a:off x="5033368" y="1830586"/>
            <a:ext cx="2134196" cy="159841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1571" y="21600"/>
                </a:lnTo>
                <a:lnTo>
                  <a:pt x="21600" y="3086"/>
                </a:lnTo>
                <a:lnTo>
                  <a:pt x="16971" y="5143"/>
                </a:lnTo>
                <a:lnTo>
                  <a:pt x="5400" y="3086"/>
                </a:lnTo>
                <a:lnTo>
                  <a:pt x="0" y="0"/>
                </a:lnTo>
                <a:close/>
              </a:path>
            </a:pathLst>
          </a:custGeom>
          <a:solidFill>
            <a:srgbClr val="BFBFBF">
              <a:alpha val="50000"/>
            </a:srgbClr>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30" name="Triangle"/>
          <p:cNvSpPr/>
          <p:nvPr/>
        </p:nvSpPr>
        <p:spPr>
          <a:xfrm>
            <a:off x="3122414" y="3405188"/>
            <a:ext cx="5715000" cy="2134196"/>
          </a:xfrm>
          <a:custGeom>
            <a:avLst/>
            <a:gdLst/>
            <a:ahLst/>
            <a:cxnLst>
              <a:cxn ang="0">
                <a:pos x="wd2" y="hd2"/>
              </a:cxn>
              <a:cxn ang="5400000">
                <a:pos x="wd2" y="hd2"/>
              </a:cxn>
              <a:cxn ang="10800000">
                <a:pos x="wd2" y="hd2"/>
              </a:cxn>
              <a:cxn ang="16200000">
                <a:pos x="wd2" y="hd2"/>
              </a:cxn>
            </a:cxnLst>
            <a:rect l="0" t="0" r="r" b="b"/>
            <a:pathLst>
              <a:path w="21600" h="21600" extrusionOk="0">
                <a:moveTo>
                  <a:pt x="11520" y="0"/>
                </a:moveTo>
                <a:lnTo>
                  <a:pt x="0" y="21600"/>
                </a:lnTo>
                <a:lnTo>
                  <a:pt x="21600" y="19286"/>
                </a:lnTo>
                <a:lnTo>
                  <a:pt x="11520" y="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31" name="Closest point on triangle"/>
          <p:cNvSpPr txBox="1">
            <a:spLocks noGrp="1"/>
          </p:cNvSpPr>
          <p:nvPr>
            <p:ph type="title"/>
          </p:nvPr>
        </p:nvSpPr>
        <p:spPr>
          <a:prstGeom prst="rect">
            <a:avLst/>
          </a:prstGeom>
        </p:spPr>
        <p:txBody>
          <a:bodyPr/>
          <a:lstStyle>
            <a:lvl1pPr>
              <a:defRPr sz="5800">
                <a:solidFill>
                  <a:srgbClr val="EEEEEE"/>
                </a:solidFill>
                <a:effectLst>
                  <a:outerShdw blurRad="12700" dist="25400" dir="2700000" rotWithShape="0">
                    <a:srgbClr val="000000"/>
                  </a:outerShdw>
                </a:effectLst>
                <a:uFill>
                  <a:solidFill>
                    <a:srgbClr val="EEEEEE"/>
                  </a:solidFill>
                </a:uFill>
              </a:defRPr>
            </a:lvl1pPr>
          </a:lstStyle>
          <a:p>
            <a:r>
              <a:t>Closest point on triangle</a:t>
            </a:r>
          </a:p>
        </p:txBody>
      </p:sp>
      <p:sp>
        <p:nvSpPr>
          <p:cNvPr id="832" name="Circle"/>
          <p:cNvSpPr/>
          <p:nvPr/>
        </p:nvSpPr>
        <p:spPr>
          <a:xfrm>
            <a:off x="6096000" y="33289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33" name="Circle"/>
          <p:cNvSpPr/>
          <p:nvPr/>
        </p:nvSpPr>
        <p:spPr>
          <a:xfrm>
            <a:off x="3050976" y="54625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34" name="Circle"/>
          <p:cNvSpPr/>
          <p:nvPr/>
        </p:nvSpPr>
        <p:spPr>
          <a:xfrm>
            <a:off x="8765976" y="52339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835" name="image.pdf" descr="image.pdf"/>
          <p:cNvPicPr>
            <a:picLocks/>
          </p:cNvPicPr>
          <p:nvPr/>
        </p:nvPicPr>
        <p:blipFill>
          <a:blip r:embed="rId3">
            <a:extLst/>
          </a:blip>
          <a:stretch>
            <a:fillRect/>
          </a:stretch>
        </p:blipFill>
        <p:spPr>
          <a:xfrm>
            <a:off x="6328172" y="2973586"/>
            <a:ext cx="557213" cy="557213"/>
          </a:xfrm>
          <a:prstGeom prst="rect">
            <a:avLst/>
          </a:prstGeom>
          <a:ln w="12700">
            <a:miter lim="400000"/>
          </a:ln>
        </p:spPr>
      </p:pic>
      <p:pic>
        <p:nvPicPr>
          <p:cNvPr id="836" name="image.pdf" descr="image.pdf"/>
          <p:cNvPicPr>
            <a:picLocks/>
          </p:cNvPicPr>
          <p:nvPr/>
        </p:nvPicPr>
        <p:blipFill>
          <a:blip r:embed="rId4">
            <a:extLst/>
          </a:blip>
          <a:stretch>
            <a:fillRect/>
          </a:stretch>
        </p:blipFill>
        <p:spPr>
          <a:xfrm>
            <a:off x="2490787" y="5233988"/>
            <a:ext cx="557213" cy="557213"/>
          </a:xfrm>
          <a:prstGeom prst="rect">
            <a:avLst/>
          </a:prstGeom>
          <a:ln w="12700">
            <a:miter lim="400000"/>
          </a:ln>
        </p:spPr>
      </p:pic>
      <p:pic>
        <p:nvPicPr>
          <p:cNvPr id="837" name="image.pdf" descr="image.pdf"/>
          <p:cNvPicPr>
            <a:picLocks/>
          </p:cNvPicPr>
          <p:nvPr/>
        </p:nvPicPr>
        <p:blipFill>
          <a:blip r:embed="rId5">
            <a:extLst/>
          </a:blip>
          <a:stretch>
            <a:fillRect/>
          </a:stretch>
        </p:blipFill>
        <p:spPr>
          <a:xfrm>
            <a:off x="8917782" y="5005387"/>
            <a:ext cx="557213" cy="612776"/>
          </a:xfrm>
          <a:prstGeom prst="rect">
            <a:avLst/>
          </a:prstGeom>
          <a:ln w="12700">
            <a:miter lim="400000"/>
          </a:ln>
        </p:spPr>
      </p:pic>
      <p:sp>
        <p:nvSpPr>
          <p:cNvPr id="838" name="Line"/>
          <p:cNvSpPr/>
          <p:nvPr/>
        </p:nvSpPr>
        <p:spPr>
          <a:xfrm flipH="1" flipV="1">
            <a:off x="5033367" y="1830586"/>
            <a:ext cx="1143000" cy="1598414"/>
          </a:xfrm>
          <a:prstGeom prst="line">
            <a:avLst/>
          </a:prstGeom>
          <a:ln w="38100" cap="rnd">
            <a:solidFill>
              <a:srgbClr val="000000"/>
            </a:solidFill>
            <a:prstDash val="sysDot"/>
          </a:ln>
        </p:spPr>
        <p:txBody>
          <a:bodyPr lIns="35719" tIns="35719" rIns="35719" bIns="35719" anchor="ctr"/>
          <a:lstStyle/>
          <a:p>
            <a:endParaRPr sz="1266"/>
          </a:p>
        </p:txBody>
      </p:sp>
      <p:pic>
        <p:nvPicPr>
          <p:cNvPr id="839" name="image.pdf" descr="image.pdf"/>
          <p:cNvPicPr>
            <a:picLocks/>
          </p:cNvPicPr>
          <p:nvPr/>
        </p:nvPicPr>
        <p:blipFill>
          <a:blip r:embed="rId6">
            <a:extLst/>
          </a:blip>
          <a:stretch>
            <a:fillRect/>
          </a:stretch>
        </p:blipFill>
        <p:spPr>
          <a:xfrm>
            <a:off x="2059781" y="1982391"/>
            <a:ext cx="2674938" cy="1225550"/>
          </a:xfrm>
          <a:prstGeom prst="rect">
            <a:avLst/>
          </a:prstGeom>
          <a:ln w="12700">
            <a:miter lim="400000"/>
          </a:ln>
        </p:spPr>
      </p:pic>
      <p:pic>
        <p:nvPicPr>
          <p:cNvPr id="840" name="image.pdf" descr="image.pdf"/>
          <p:cNvPicPr>
            <a:picLocks/>
          </p:cNvPicPr>
          <p:nvPr/>
        </p:nvPicPr>
        <p:blipFill>
          <a:blip r:embed="rId7">
            <a:extLst/>
          </a:blip>
          <a:stretch>
            <a:fillRect/>
          </a:stretch>
        </p:blipFill>
        <p:spPr>
          <a:xfrm>
            <a:off x="6092825" y="1957388"/>
            <a:ext cx="612776" cy="557213"/>
          </a:xfrm>
          <a:prstGeom prst="rect">
            <a:avLst/>
          </a:prstGeom>
          <a:ln w="12700">
            <a:miter lim="400000"/>
          </a:ln>
        </p:spPr>
      </p:pic>
      <p:sp>
        <p:nvSpPr>
          <p:cNvPr id="841" name="Circle"/>
          <p:cNvSpPr/>
          <p:nvPr/>
        </p:nvSpPr>
        <p:spPr>
          <a:xfrm>
            <a:off x="5944195" y="2205633"/>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42" name="Line"/>
          <p:cNvSpPr/>
          <p:nvPr/>
        </p:nvSpPr>
        <p:spPr>
          <a:xfrm>
            <a:off x="4649391" y="2589609"/>
            <a:ext cx="1678781" cy="232172"/>
          </a:xfrm>
          <a:prstGeom prst="line">
            <a:avLst/>
          </a:prstGeom>
          <a:ln w="57150">
            <a:solidFill>
              <a:srgbClr val="FFFFFF"/>
            </a:solidFill>
            <a:tailEnd type="triangle"/>
          </a:ln>
        </p:spPr>
        <p:txBody>
          <a:bodyPr lIns="35719" tIns="35719" rIns="35719" bIns="35719" anchor="ctr"/>
          <a:lstStyle/>
          <a:p>
            <a:endParaRPr sz="1266"/>
          </a:p>
        </p:txBody>
      </p:sp>
      <p:sp>
        <p:nvSpPr>
          <p:cNvPr id="843" name="Line"/>
          <p:cNvSpPr/>
          <p:nvPr/>
        </p:nvSpPr>
        <p:spPr>
          <a:xfrm flipV="1">
            <a:off x="6176367" y="2053828"/>
            <a:ext cx="991195" cy="1375172"/>
          </a:xfrm>
          <a:prstGeom prst="line">
            <a:avLst/>
          </a:prstGeom>
          <a:ln w="38100" cap="rnd">
            <a:solidFill>
              <a:srgbClr val="000000"/>
            </a:solidFill>
            <a:prstDash val="sysDot"/>
          </a:ln>
        </p:spPr>
        <p:txBody>
          <a:bodyPr lIns="35719" tIns="35719" rIns="35719" bIns="35719" anchor="ctr"/>
          <a:lstStyle/>
          <a:p>
            <a:endParaRPr sz="1266"/>
          </a:p>
        </p:txBody>
      </p:sp>
      <p:pic>
        <p:nvPicPr>
          <p:cNvPr id="844" name="image.pdf" descr="image.pdf"/>
          <p:cNvPicPr>
            <a:picLocks/>
          </p:cNvPicPr>
          <p:nvPr/>
        </p:nvPicPr>
        <p:blipFill>
          <a:blip r:embed="rId8">
            <a:extLst/>
          </a:blip>
          <a:stretch>
            <a:fillRect/>
          </a:stretch>
        </p:blipFill>
        <p:spPr>
          <a:xfrm>
            <a:off x="5408414" y="1354137"/>
            <a:ext cx="668338" cy="779463"/>
          </a:xfrm>
          <a:prstGeom prst="rect">
            <a:avLst/>
          </a:prstGeom>
          <a:ln w="12700">
            <a:miter lim="400000"/>
          </a:ln>
        </p:spPr>
      </p:pic>
    </p:spTree>
    <p:extLst>
      <p:ext uri="{BB962C8B-B14F-4D97-AF65-F5344CB8AC3E}">
        <p14:creationId xmlns:p14="http://schemas.microsoft.com/office/powerpoint/2010/main" val="3534050945"/>
      </p:ext>
    </p:extLst>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848" name="Shape"/>
          <p:cNvSpPr/>
          <p:nvPr/>
        </p:nvSpPr>
        <p:spPr>
          <a:xfrm>
            <a:off x="1979414" y="1830586"/>
            <a:ext cx="4188023" cy="3732609"/>
          </a:xfrm>
          <a:custGeom>
            <a:avLst/>
            <a:gdLst/>
            <a:ahLst/>
            <a:cxnLst>
              <a:cxn ang="0">
                <a:pos x="wd2" y="hd2"/>
              </a:cxn>
              <a:cxn ang="5400000">
                <a:pos x="wd2" y="hd2"/>
              </a:cxn>
              <a:cxn ang="10800000">
                <a:pos x="wd2" y="hd2"/>
              </a:cxn>
              <a:cxn ang="16200000">
                <a:pos x="wd2" y="hd2"/>
              </a:cxn>
            </a:cxnLst>
            <a:rect l="0" t="0" r="r" b="b"/>
            <a:pathLst>
              <a:path w="21600" h="21600" extrusionOk="0">
                <a:moveTo>
                  <a:pt x="0" y="12343"/>
                </a:moveTo>
                <a:lnTo>
                  <a:pt x="5891" y="21600"/>
                </a:lnTo>
                <a:lnTo>
                  <a:pt x="21600" y="9257"/>
                </a:lnTo>
                <a:lnTo>
                  <a:pt x="15709" y="0"/>
                </a:lnTo>
                <a:lnTo>
                  <a:pt x="13745" y="4408"/>
                </a:lnTo>
                <a:lnTo>
                  <a:pt x="3927" y="11461"/>
                </a:lnTo>
                <a:lnTo>
                  <a:pt x="0" y="12343"/>
                </a:lnTo>
                <a:close/>
              </a:path>
            </a:pathLst>
          </a:custGeom>
          <a:solidFill>
            <a:srgbClr val="BFBFBF">
              <a:alpha val="50000"/>
            </a:srgbClr>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49" name="Triangle"/>
          <p:cNvSpPr/>
          <p:nvPr/>
        </p:nvSpPr>
        <p:spPr>
          <a:xfrm>
            <a:off x="3122414" y="3405188"/>
            <a:ext cx="5715000" cy="2134196"/>
          </a:xfrm>
          <a:custGeom>
            <a:avLst/>
            <a:gdLst/>
            <a:ahLst/>
            <a:cxnLst>
              <a:cxn ang="0">
                <a:pos x="wd2" y="hd2"/>
              </a:cxn>
              <a:cxn ang="5400000">
                <a:pos x="wd2" y="hd2"/>
              </a:cxn>
              <a:cxn ang="10800000">
                <a:pos x="wd2" y="hd2"/>
              </a:cxn>
              <a:cxn ang="16200000">
                <a:pos x="wd2" y="hd2"/>
              </a:cxn>
            </a:cxnLst>
            <a:rect l="0" t="0" r="r" b="b"/>
            <a:pathLst>
              <a:path w="21600" h="21600" extrusionOk="0">
                <a:moveTo>
                  <a:pt x="11520" y="0"/>
                </a:moveTo>
                <a:lnTo>
                  <a:pt x="0" y="21600"/>
                </a:lnTo>
                <a:lnTo>
                  <a:pt x="21600" y="19286"/>
                </a:lnTo>
                <a:lnTo>
                  <a:pt x="11520" y="0"/>
                </a:lnTo>
                <a:close/>
              </a:path>
            </a:pathLst>
          </a:custGeom>
          <a:solidFill>
            <a:srgbClr val="9C9E00"/>
          </a:solidFill>
          <a:ln w="57150">
            <a:solidFill>
              <a:srgbClr val="000000"/>
            </a:solidFill>
          </a:ln>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50" name="Closest point on triangle"/>
          <p:cNvSpPr txBox="1">
            <a:spLocks noGrp="1"/>
          </p:cNvSpPr>
          <p:nvPr>
            <p:ph type="title"/>
          </p:nvPr>
        </p:nvSpPr>
        <p:spPr>
          <a:prstGeom prst="rect">
            <a:avLst/>
          </a:prstGeom>
        </p:spPr>
        <p:txBody>
          <a:bodyPr/>
          <a:lstStyle>
            <a:lvl1pPr>
              <a:defRPr sz="5800">
                <a:solidFill>
                  <a:srgbClr val="EEEEEE"/>
                </a:solidFill>
                <a:effectLst>
                  <a:outerShdw blurRad="12700" dist="25400" dir="2700000" rotWithShape="0">
                    <a:srgbClr val="000000"/>
                  </a:outerShdw>
                </a:effectLst>
                <a:uFill>
                  <a:solidFill>
                    <a:srgbClr val="EEEEEE"/>
                  </a:solidFill>
                </a:uFill>
              </a:defRPr>
            </a:lvl1pPr>
          </a:lstStyle>
          <a:p>
            <a:r>
              <a:t>Closest point on triangle</a:t>
            </a:r>
          </a:p>
        </p:txBody>
      </p:sp>
      <p:sp>
        <p:nvSpPr>
          <p:cNvPr id="851" name="Circle"/>
          <p:cNvSpPr/>
          <p:nvPr/>
        </p:nvSpPr>
        <p:spPr>
          <a:xfrm>
            <a:off x="6096000" y="33289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52" name="Circle"/>
          <p:cNvSpPr/>
          <p:nvPr/>
        </p:nvSpPr>
        <p:spPr>
          <a:xfrm>
            <a:off x="3050976" y="54625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53" name="Circle"/>
          <p:cNvSpPr/>
          <p:nvPr/>
        </p:nvSpPr>
        <p:spPr>
          <a:xfrm>
            <a:off x="8765976" y="5233988"/>
            <a:ext cx="151805" cy="151805"/>
          </a:xfrm>
          <a:prstGeom prst="ellipse">
            <a:avLst/>
          </a:prstGeom>
          <a:solidFill>
            <a:srgbClr val="000000"/>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pic>
        <p:nvPicPr>
          <p:cNvPr id="854" name="image.pdf" descr="image.pdf"/>
          <p:cNvPicPr>
            <a:picLocks/>
          </p:cNvPicPr>
          <p:nvPr/>
        </p:nvPicPr>
        <p:blipFill>
          <a:blip r:embed="rId3">
            <a:extLst/>
          </a:blip>
          <a:stretch>
            <a:fillRect/>
          </a:stretch>
        </p:blipFill>
        <p:spPr>
          <a:xfrm>
            <a:off x="2490787" y="5233988"/>
            <a:ext cx="557213" cy="557213"/>
          </a:xfrm>
          <a:prstGeom prst="rect">
            <a:avLst/>
          </a:prstGeom>
          <a:ln w="12700">
            <a:miter lim="400000"/>
          </a:ln>
        </p:spPr>
      </p:pic>
      <p:pic>
        <p:nvPicPr>
          <p:cNvPr id="855" name="image.pdf" descr="image.pdf"/>
          <p:cNvPicPr>
            <a:picLocks/>
          </p:cNvPicPr>
          <p:nvPr/>
        </p:nvPicPr>
        <p:blipFill>
          <a:blip r:embed="rId4">
            <a:extLst/>
          </a:blip>
          <a:stretch>
            <a:fillRect/>
          </a:stretch>
        </p:blipFill>
        <p:spPr>
          <a:xfrm>
            <a:off x="8917782" y="5005387"/>
            <a:ext cx="557213" cy="612776"/>
          </a:xfrm>
          <a:prstGeom prst="rect">
            <a:avLst/>
          </a:prstGeom>
          <a:ln w="12700">
            <a:miter lim="400000"/>
          </a:ln>
        </p:spPr>
      </p:pic>
      <p:sp>
        <p:nvSpPr>
          <p:cNvPr id="856" name="Line"/>
          <p:cNvSpPr/>
          <p:nvPr/>
        </p:nvSpPr>
        <p:spPr>
          <a:xfrm flipH="1" flipV="1">
            <a:off x="1979414" y="3964781"/>
            <a:ext cx="1143000" cy="1598414"/>
          </a:xfrm>
          <a:prstGeom prst="line">
            <a:avLst/>
          </a:prstGeom>
          <a:ln w="38100" cap="rnd">
            <a:solidFill>
              <a:srgbClr val="000000"/>
            </a:solidFill>
            <a:prstDash val="sysDot"/>
          </a:ln>
        </p:spPr>
        <p:txBody>
          <a:bodyPr lIns="35719" tIns="35719" rIns="35719" bIns="35719" anchor="ctr"/>
          <a:lstStyle/>
          <a:p>
            <a:endParaRPr sz="1266"/>
          </a:p>
        </p:txBody>
      </p:sp>
      <p:sp>
        <p:nvSpPr>
          <p:cNvPr id="857" name="Line"/>
          <p:cNvSpPr/>
          <p:nvPr/>
        </p:nvSpPr>
        <p:spPr>
          <a:xfrm flipH="1" flipV="1">
            <a:off x="5033367" y="1830586"/>
            <a:ext cx="1143000" cy="1598414"/>
          </a:xfrm>
          <a:prstGeom prst="line">
            <a:avLst/>
          </a:prstGeom>
          <a:ln w="38100" cap="rnd">
            <a:solidFill>
              <a:srgbClr val="000000"/>
            </a:solidFill>
            <a:prstDash val="sysDot"/>
          </a:ln>
        </p:spPr>
        <p:txBody>
          <a:bodyPr lIns="35719" tIns="35719" rIns="35719" bIns="35719" anchor="ctr"/>
          <a:lstStyle/>
          <a:p>
            <a:endParaRPr sz="1266"/>
          </a:p>
        </p:txBody>
      </p:sp>
      <p:pic>
        <p:nvPicPr>
          <p:cNvPr id="858" name="image.pdf" descr="image.pdf"/>
          <p:cNvPicPr>
            <a:picLocks/>
          </p:cNvPicPr>
          <p:nvPr/>
        </p:nvPicPr>
        <p:blipFill>
          <a:blip r:embed="rId5">
            <a:extLst/>
          </a:blip>
          <a:stretch>
            <a:fillRect/>
          </a:stretch>
        </p:blipFill>
        <p:spPr>
          <a:xfrm>
            <a:off x="5480050" y="1750219"/>
            <a:ext cx="4959351" cy="1949451"/>
          </a:xfrm>
          <a:prstGeom prst="rect">
            <a:avLst/>
          </a:prstGeom>
          <a:ln w="12700">
            <a:miter lim="400000"/>
          </a:ln>
        </p:spPr>
      </p:pic>
      <p:pic>
        <p:nvPicPr>
          <p:cNvPr id="859" name="image.pdf" descr="image.pdf"/>
          <p:cNvPicPr>
            <a:picLocks/>
          </p:cNvPicPr>
          <p:nvPr/>
        </p:nvPicPr>
        <p:blipFill>
          <a:blip r:embed="rId6">
            <a:extLst/>
          </a:blip>
          <a:stretch>
            <a:fillRect/>
          </a:stretch>
        </p:blipFill>
        <p:spPr>
          <a:xfrm>
            <a:off x="4042172" y="3125391"/>
            <a:ext cx="612776" cy="557213"/>
          </a:xfrm>
          <a:prstGeom prst="rect">
            <a:avLst/>
          </a:prstGeom>
          <a:ln w="12700">
            <a:miter lim="400000"/>
          </a:ln>
        </p:spPr>
      </p:pic>
      <p:sp>
        <p:nvSpPr>
          <p:cNvPr id="860" name="Circle"/>
          <p:cNvSpPr/>
          <p:nvPr/>
        </p:nvSpPr>
        <p:spPr>
          <a:xfrm>
            <a:off x="4569023" y="3376613"/>
            <a:ext cx="151805" cy="151805"/>
          </a:xfrm>
          <a:prstGeom prst="ellipse">
            <a:avLst/>
          </a:prstGeom>
          <a:solidFill>
            <a:srgbClr val="FFFFFF"/>
          </a:solidFill>
        </p:spPr>
        <p:txBody>
          <a:bodyPr lIns="35719" tIns="35719" rIns="35719" bIns="35719" anchor="ctr"/>
          <a:lstStyle/>
          <a:p>
            <a:pPr marL="40638" marR="40638" defTabSz="910796">
              <a:defRPr sz="2400">
                <a:solidFill>
                  <a:srgbClr val="FFFFFF"/>
                </a:solidFill>
                <a:uFill>
                  <a:solidFill>
                    <a:srgbClr val="FFFFFF"/>
                  </a:solidFill>
                </a:uFill>
                <a:latin typeface="+mn-lt"/>
                <a:ea typeface="+mn-ea"/>
                <a:cs typeface="+mn-cs"/>
                <a:sym typeface="Arial"/>
              </a:defRPr>
            </a:pPr>
            <a:endParaRPr sz="1687"/>
          </a:p>
        </p:txBody>
      </p:sp>
      <p:sp>
        <p:nvSpPr>
          <p:cNvPr id="861" name="Line"/>
          <p:cNvSpPr/>
          <p:nvPr/>
        </p:nvSpPr>
        <p:spPr>
          <a:xfrm flipH="1">
            <a:off x="4649391" y="2437805"/>
            <a:ext cx="1598414" cy="607219"/>
          </a:xfrm>
          <a:prstGeom prst="line">
            <a:avLst/>
          </a:prstGeom>
          <a:ln w="57150">
            <a:solidFill>
              <a:srgbClr val="FFFFFF"/>
            </a:solidFill>
            <a:tailEnd type="triangle"/>
          </a:ln>
        </p:spPr>
        <p:txBody>
          <a:bodyPr lIns="35719" tIns="35719" rIns="35719" bIns="35719" anchor="ctr"/>
          <a:lstStyle/>
          <a:p>
            <a:endParaRPr sz="1266"/>
          </a:p>
        </p:txBody>
      </p:sp>
      <p:pic>
        <p:nvPicPr>
          <p:cNvPr id="862" name="image.pdf" descr="image.pdf"/>
          <p:cNvPicPr>
            <a:picLocks/>
          </p:cNvPicPr>
          <p:nvPr/>
        </p:nvPicPr>
        <p:blipFill>
          <a:blip r:embed="rId7">
            <a:extLst/>
          </a:blip>
          <a:stretch>
            <a:fillRect/>
          </a:stretch>
        </p:blipFill>
        <p:spPr>
          <a:xfrm>
            <a:off x="6328172" y="2973586"/>
            <a:ext cx="557213" cy="557213"/>
          </a:xfrm>
          <a:prstGeom prst="rect">
            <a:avLst/>
          </a:prstGeom>
          <a:ln w="12700">
            <a:miter lim="400000"/>
          </a:ln>
        </p:spPr>
      </p:pic>
      <p:pic>
        <p:nvPicPr>
          <p:cNvPr id="863" name="image.pdf" descr="image.pdf"/>
          <p:cNvPicPr>
            <a:picLocks/>
          </p:cNvPicPr>
          <p:nvPr/>
        </p:nvPicPr>
        <p:blipFill>
          <a:blip r:embed="rId8">
            <a:extLst/>
          </a:blip>
          <a:stretch>
            <a:fillRect/>
          </a:stretch>
        </p:blipFill>
        <p:spPr>
          <a:xfrm>
            <a:off x="2667000" y="3277195"/>
            <a:ext cx="1001713" cy="779463"/>
          </a:xfrm>
          <a:prstGeom prst="rect">
            <a:avLst/>
          </a:prstGeom>
          <a:ln w="12700">
            <a:miter lim="400000"/>
          </a:ln>
        </p:spPr>
      </p:pic>
    </p:spTree>
    <p:extLst>
      <p:ext uri="{BB962C8B-B14F-4D97-AF65-F5344CB8AC3E}">
        <p14:creationId xmlns:p14="http://schemas.microsoft.com/office/powerpoint/2010/main" val="2682355054"/>
      </p:ext>
    </p:extLst>
  </p:cSld>
  <p:clrMapOvr>
    <a:masterClrMapping/>
  </p:clrMapOvr>
  <p:transition spd="med"/>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200744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solidFill>
                  <a:srgbClr val="000000"/>
                </a:solidFill>
              </a:rPr>
              <a:t>Appendix</a:t>
            </a:r>
            <a:endParaRPr sz="3733"/>
          </a:p>
        </p:txBody>
      </p:sp>
      <p:sp>
        <p:nvSpPr>
          <p:cNvPr id="3" name="object 3"/>
          <p:cNvSpPr txBox="1"/>
          <p:nvPr/>
        </p:nvSpPr>
        <p:spPr>
          <a:xfrm>
            <a:off x="633665" y="1568468"/>
            <a:ext cx="10459720" cy="866562"/>
          </a:xfrm>
          <a:prstGeom prst="rect">
            <a:avLst/>
          </a:prstGeom>
        </p:spPr>
        <p:txBody>
          <a:bodyPr vert="horz" wrap="square" lIns="0" tIns="16933" rIns="0" bIns="0" rtlCol="0">
            <a:spAutoFit/>
          </a:bodyPr>
          <a:lstStyle/>
          <a:p>
            <a:pPr marL="505447" marR="6773" indent="-488514">
              <a:lnSpc>
                <a:spcPct val="114599"/>
              </a:lnSpc>
              <a:spcBef>
                <a:spcPts val="133"/>
              </a:spcBef>
              <a:buChar char="●"/>
              <a:tabLst>
                <a:tab pos="505447" algn="l"/>
                <a:tab pos="506294" algn="l"/>
              </a:tabLst>
            </a:pPr>
            <a:r>
              <a:rPr sz="2400" spc="-7" dirty="0">
                <a:solidFill>
                  <a:srgbClr val="595959"/>
                </a:solidFill>
                <a:latin typeface="Arial"/>
                <a:cs typeface="Arial"/>
              </a:rPr>
              <a:t>The appendix is </a:t>
            </a:r>
            <a:r>
              <a:rPr sz="2400" dirty="0">
                <a:solidFill>
                  <a:srgbClr val="595959"/>
                </a:solidFill>
                <a:latin typeface="Arial"/>
                <a:cs typeface="Arial"/>
              </a:rPr>
              <a:t>meant </a:t>
            </a:r>
            <a:r>
              <a:rPr sz="2400" spc="-7" dirty="0">
                <a:solidFill>
                  <a:srgbClr val="595959"/>
                </a:solidFill>
                <a:latin typeface="Arial"/>
                <a:cs typeface="Arial"/>
              </a:rPr>
              <a:t>to </a:t>
            </a:r>
            <a:r>
              <a:rPr sz="2400" dirty="0">
                <a:solidFill>
                  <a:srgbClr val="595959"/>
                </a:solidFill>
                <a:latin typeface="Arial"/>
                <a:cs typeface="Arial"/>
              </a:rPr>
              <a:t>cover </a:t>
            </a:r>
            <a:r>
              <a:rPr sz="2400" spc="-7" dirty="0">
                <a:solidFill>
                  <a:srgbClr val="595959"/>
                </a:solidFill>
                <a:latin typeface="Arial"/>
                <a:cs typeface="Arial"/>
              </a:rPr>
              <a:t>other </a:t>
            </a:r>
            <a:r>
              <a:rPr sz="2400" dirty="0">
                <a:solidFill>
                  <a:srgbClr val="595959"/>
                </a:solidFill>
                <a:latin typeface="Arial"/>
                <a:cs typeface="Arial"/>
              </a:rPr>
              <a:t>common </a:t>
            </a:r>
            <a:r>
              <a:rPr sz="2400" spc="-7" dirty="0">
                <a:solidFill>
                  <a:srgbClr val="595959"/>
                </a:solidFill>
                <a:latin typeface="Arial"/>
                <a:cs typeface="Arial"/>
              </a:rPr>
              <a:t>geometric intersection and  utility tests and their</a:t>
            </a:r>
            <a:r>
              <a:rPr sz="2400" spc="-13" dirty="0">
                <a:solidFill>
                  <a:srgbClr val="595959"/>
                </a:solidFill>
                <a:latin typeface="Arial"/>
                <a:cs typeface="Arial"/>
              </a:rPr>
              <a:t> </a:t>
            </a:r>
            <a:r>
              <a:rPr sz="2400" spc="-7" dirty="0">
                <a:solidFill>
                  <a:srgbClr val="595959"/>
                </a:solidFill>
                <a:latin typeface="Arial"/>
                <a:cs typeface="Arial"/>
              </a:rPr>
              <a:t>derivations.</a:t>
            </a:r>
            <a:endParaRPr sz="2400">
              <a:latin typeface="Arial"/>
              <a:cs typeface="Arial"/>
            </a:endParaRPr>
          </a:p>
        </p:txBody>
      </p:sp>
    </p:spTree>
    <p:extLst>
      <p:ext uri="{BB962C8B-B14F-4D97-AF65-F5344CB8AC3E}">
        <p14:creationId xmlns:p14="http://schemas.microsoft.com/office/powerpoint/2010/main" val="37683341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Title"/>
          <p:cNvSpPr txBox="1">
            <a:spLocks noGrp="1"/>
          </p:cNvSpPr>
          <p:nvPr>
            <p:ph type="title"/>
          </p:nvPr>
        </p:nvSpPr>
        <p:spPr>
          <a:prstGeom prst="rect">
            <a:avLst/>
          </a:prstGeom>
        </p:spPr>
        <p:txBody>
          <a:bodyPr/>
          <a:lstStyle/>
          <a:p>
            <a:endParaRPr/>
          </a:p>
        </p:txBody>
      </p:sp>
      <p:sp>
        <p:nvSpPr>
          <p:cNvPr id="470" name="Body"/>
          <p:cNvSpPr txBox="1">
            <a:spLocks noGrp="1"/>
          </p:cNvSpPr>
          <p:nvPr>
            <p:ph type="body" idx="1"/>
          </p:nvPr>
        </p:nvSpPr>
        <p:spPr>
          <a:prstGeom prst="rect">
            <a:avLst/>
          </a:prstGeom>
        </p:spPr>
        <p:txBody>
          <a:bodyPr/>
          <a:lstStyle/>
          <a:p>
            <a:endParaRPr/>
          </a:p>
        </p:txBody>
      </p:sp>
      <p:pic>
        <p:nvPicPr>
          <p:cNvPr id="471" name="Screen shot 2011-02-23 at 7.01.48 PM.png" descr="Screen shot 2011-02-23 at 7.01.48 PM.png"/>
          <p:cNvPicPr>
            <a:picLocks noChangeAspect="1"/>
          </p:cNvPicPr>
          <p:nvPr/>
        </p:nvPicPr>
        <p:blipFill>
          <a:blip r:embed="rId2">
            <a:extLst/>
          </a:blip>
          <a:stretch>
            <a:fillRect/>
          </a:stretch>
        </p:blipFill>
        <p:spPr>
          <a:xfrm>
            <a:off x="1510605" y="-11304"/>
            <a:ext cx="12376547" cy="6867911"/>
          </a:xfrm>
          <a:prstGeom prst="rect">
            <a:avLst/>
          </a:prstGeom>
          <a:ln w="12700">
            <a:miter lim="400000"/>
          </a:ln>
        </p:spPr>
      </p:pic>
      <p:grpSp>
        <p:nvGrpSpPr>
          <p:cNvPr id="474" name="Group"/>
          <p:cNvGrpSpPr/>
          <p:nvPr/>
        </p:nvGrpSpPr>
        <p:grpSpPr>
          <a:xfrm>
            <a:off x="1852392" y="2826394"/>
            <a:ext cx="8342335" cy="540098"/>
            <a:chOff x="-28254" y="-18840"/>
            <a:chExt cx="11864654" cy="768140"/>
          </a:xfrm>
        </p:grpSpPr>
        <p:sp>
          <p:nvSpPr>
            <p:cNvPr id="472" name="Rectangle"/>
            <p:cNvSpPr/>
            <p:nvPr/>
          </p:nvSpPr>
          <p:spPr>
            <a:xfrm>
              <a:off x="0" y="63500"/>
              <a:ext cx="11836400" cy="685800"/>
            </a:xfrm>
            <a:prstGeom prst="rect">
              <a:avLst/>
            </a:prstGeom>
            <a:solidFill>
              <a:srgbClr val="FFFFFF"/>
            </a:solidFill>
            <a:ln w="12700" cap="flat">
              <a:noFill/>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73" name="http://www.realtimerendering.com/intersections.html"/>
            <p:cNvSpPr txBox="1"/>
            <p:nvPr/>
          </p:nvSpPr>
          <p:spPr>
            <a:xfrm>
              <a:off x="-28254" y="-18840"/>
              <a:ext cx="11838684" cy="74887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numCol="1" anchor="ctr">
              <a:spAutoFit/>
            </a:bodyPr>
            <a:lstStyle>
              <a:lvl1pPr algn="ctr" defTabSz="584200">
                <a:defRPr sz="4200" u="sng">
                  <a:latin typeface="+mj-lt"/>
                  <a:ea typeface="+mj-ea"/>
                  <a:cs typeface="+mj-cs"/>
                  <a:sym typeface="Baskerville"/>
                  <a:hlinkClick r:id="rId3"/>
                </a:defRPr>
              </a:lvl1pPr>
            </a:lstStyle>
            <a:p>
              <a:pPr>
                <a:defRPr u="none"/>
              </a:pPr>
              <a:r>
                <a:rPr sz="2953" dirty="0"/>
                <a:t>http://www.realtimerendering.com/intersections.html</a:t>
              </a:r>
            </a:p>
          </p:txBody>
        </p:sp>
      </p:grpSp>
    </p:spTree>
    <p:extLst>
      <p:ext uri="{BB962C8B-B14F-4D97-AF65-F5344CB8AC3E}">
        <p14:creationId xmlns:p14="http://schemas.microsoft.com/office/powerpoint/2010/main" val="49626474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4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 grpId="0" animBg="1" advAuto="0"/>
      <p:bldP spid="474" grpId="0" animBg="1" advAuto="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135120" cy="591551"/>
          </a:xfrm>
          <a:prstGeom prst="rect">
            <a:avLst/>
          </a:prstGeom>
        </p:spPr>
        <p:txBody>
          <a:bodyPr vert="horz" wrap="square" lIns="0" tIns="16933" rIns="0" bIns="0" rtlCol="0" anchor="ctr">
            <a:spAutoFit/>
          </a:bodyPr>
          <a:lstStyle/>
          <a:p>
            <a:pPr marL="16933">
              <a:lnSpc>
                <a:spcPct val="100000"/>
              </a:lnSpc>
              <a:spcBef>
                <a:spcPts val="133"/>
              </a:spcBef>
            </a:pPr>
            <a:r>
              <a:rPr sz="3733" spc="-13" dirty="0">
                <a:solidFill>
                  <a:srgbClr val="000000"/>
                </a:solidFill>
              </a:rPr>
              <a:t>Point-Line</a:t>
            </a:r>
            <a:r>
              <a:rPr sz="3733" spc="-113" dirty="0">
                <a:solidFill>
                  <a:srgbClr val="000000"/>
                </a:solidFill>
              </a:rPr>
              <a:t> </a:t>
            </a:r>
            <a:r>
              <a:rPr sz="3733" spc="-7" dirty="0">
                <a:solidFill>
                  <a:srgbClr val="000000"/>
                </a:solidFill>
              </a:rPr>
              <a:t>Distance</a:t>
            </a:r>
            <a:endParaRPr sz="3733"/>
          </a:p>
        </p:txBody>
      </p:sp>
      <p:sp>
        <p:nvSpPr>
          <p:cNvPr id="3" name="object 3"/>
          <p:cNvSpPr txBox="1"/>
          <p:nvPr/>
        </p:nvSpPr>
        <p:spPr>
          <a:xfrm>
            <a:off x="633666" y="1621807"/>
            <a:ext cx="7814733" cy="386430"/>
          </a:xfrm>
          <a:prstGeom prst="rect">
            <a:avLst/>
          </a:prstGeom>
        </p:spPr>
        <p:txBody>
          <a:bodyPr vert="horz" wrap="square" lIns="0" tIns="16933" rIns="0" bIns="0" rtlCol="0">
            <a:spAutoFit/>
          </a:bodyPr>
          <a:lstStyle/>
          <a:p>
            <a:pPr marL="505447" indent="-488514">
              <a:spcBef>
                <a:spcPts val="133"/>
              </a:spcBef>
              <a:buChar char="●"/>
              <a:tabLst>
                <a:tab pos="505447" algn="l"/>
                <a:tab pos="506294" algn="l"/>
              </a:tabLst>
            </a:pPr>
            <a:r>
              <a:rPr sz="2400" spc="-7" dirty="0">
                <a:solidFill>
                  <a:srgbClr val="595959"/>
                </a:solidFill>
                <a:latin typeface="Arial"/>
                <a:cs typeface="Arial"/>
              </a:rPr>
              <a:t>Given </a:t>
            </a:r>
            <a:r>
              <a:rPr sz="2400" dirty="0">
                <a:solidFill>
                  <a:srgbClr val="595959"/>
                </a:solidFill>
                <a:latin typeface="Arial"/>
                <a:cs typeface="Arial"/>
              </a:rPr>
              <a:t>a </a:t>
            </a:r>
            <a:r>
              <a:rPr sz="2400" spc="-7" dirty="0">
                <a:solidFill>
                  <a:srgbClr val="595959"/>
                </a:solidFill>
                <a:latin typeface="Arial"/>
                <a:cs typeface="Arial"/>
              </a:rPr>
              <a:t>point, P, and two points on the line, </a:t>
            </a:r>
            <a:r>
              <a:rPr sz="2400" spc="40" dirty="0">
                <a:solidFill>
                  <a:srgbClr val="595959"/>
                </a:solidFill>
                <a:latin typeface="Arial"/>
                <a:cs typeface="Arial"/>
              </a:rPr>
              <a:t>L</a:t>
            </a:r>
            <a:r>
              <a:rPr sz="2400" spc="59" baseline="-32407" dirty="0">
                <a:solidFill>
                  <a:srgbClr val="595959"/>
                </a:solidFill>
                <a:latin typeface="Arial"/>
                <a:cs typeface="Arial"/>
              </a:rPr>
              <a:t>0 </a:t>
            </a:r>
            <a:r>
              <a:rPr sz="2400" spc="-7" dirty="0">
                <a:solidFill>
                  <a:srgbClr val="595959"/>
                </a:solidFill>
                <a:latin typeface="Arial"/>
                <a:cs typeface="Arial"/>
              </a:rPr>
              <a:t>and</a:t>
            </a:r>
            <a:r>
              <a:rPr sz="2400" spc="-387" dirty="0">
                <a:solidFill>
                  <a:srgbClr val="595959"/>
                </a:solidFill>
                <a:latin typeface="Arial"/>
                <a:cs typeface="Arial"/>
              </a:rPr>
              <a:t> </a:t>
            </a:r>
            <a:r>
              <a:rPr sz="2400" dirty="0">
                <a:solidFill>
                  <a:srgbClr val="595959"/>
                </a:solidFill>
                <a:latin typeface="Arial"/>
                <a:cs typeface="Arial"/>
              </a:rPr>
              <a:t>L</a:t>
            </a:r>
            <a:r>
              <a:rPr sz="2400" baseline="-32407" dirty="0">
                <a:solidFill>
                  <a:srgbClr val="595959"/>
                </a:solidFill>
                <a:latin typeface="Arial"/>
                <a:cs typeface="Arial"/>
              </a:rPr>
              <a:t>1</a:t>
            </a:r>
            <a:r>
              <a:rPr sz="2400" dirty="0">
                <a:solidFill>
                  <a:srgbClr val="595959"/>
                </a:solidFill>
                <a:latin typeface="Arial"/>
                <a:cs typeface="Arial"/>
              </a:rPr>
              <a:t>:</a:t>
            </a:r>
            <a:endParaRPr sz="2400">
              <a:latin typeface="Arial"/>
              <a:cs typeface="Arial"/>
            </a:endParaRPr>
          </a:p>
        </p:txBody>
      </p:sp>
      <p:sp>
        <p:nvSpPr>
          <p:cNvPr id="4" name="object 4"/>
          <p:cNvSpPr txBox="1"/>
          <p:nvPr/>
        </p:nvSpPr>
        <p:spPr>
          <a:xfrm>
            <a:off x="633665" y="3625868"/>
            <a:ext cx="10373360" cy="1205181"/>
          </a:xfrm>
          <a:prstGeom prst="rect">
            <a:avLst/>
          </a:prstGeom>
        </p:spPr>
        <p:txBody>
          <a:bodyPr vert="horz" wrap="square" lIns="0" tIns="16933" rIns="0" bIns="0" rtlCol="0">
            <a:spAutoFit/>
          </a:bodyPr>
          <a:lstStyle/>
          <a:p>
            <a:pPr marL="505447" marR="6773" indent="-488514">
              <a:lnSpc>
                <a:spcPct val="114599"/>
              </a:lnSpc>
              <a:spcBef>
                <a:spcPts val="133"/>
              </a:spcBef>
              <a:buChar char="●"/>
              <a:tabLst>
                <a:tab pos="505447" algn="l"/>
                <a:tab pos="506294" algn="l"/>
              </a:tabLst>
            </a:pPr>
            <a:r>
              <a:rPr sz="2400" spc="-7" dirty="0">
                <a:solidFill>
                  <a:srgbClr val="595959"/>
                </a:solidFill>
                <a:latin typeface="Arial"/>
                <a:cs typeface="Arial"/>
              </a:rPr>
              <a:t>This works because the </a:t>
            </a:r>
            <a:r>
              <a:rPr sz="2400" dirty="0">
                <a:solidFill>
                  <a:srgbClr val="595959"/>
                </a:solidFill>
                <a:latin typeface="Arial"/>
                <a:cs typeface="Arial"/>
              </a:rPr>
              <a:t>cross </a:t>
            </a:r>
            <a:r>
              <a:rPr sz="2400" spc="-7" dirty="0">
                <a:solidFill>
                  <a:srgbClr val="595959"/>
                </a:solidFill>
                <a:latin typeface="Arial"/>
                <a:cs typeface="Arial"/>
              </a:rPr>
              <a:t>product’s </a:t>
            </a:r>
            <a:r>
              <a:rPr sz="2400" dirty="0">
                <a:solidFill>
                  <a:srgbClr val="595959"/>
                </a:solidFill>
                <a:latin typeface="Arial"/>
                <a:cs typeface="Arial"/>
              </a:rPr>
              <a:t>magnitude </a:t>
            </a:r>
            <a:r>
              <a:rPr sz="2400" spc="-7" dirty="0">
                <a:solidFill>
                  <a:srgbClr val="595959"/>
                </a:solidFill>
                <a:latin typeface="Arial"/>
                <a:cs typeface="Arial"/>
              </a:rPr>
              <a:t>depends on the angle  between the two</a:t>
            </a:r>
            <a:r>
              <a:rPr sz="2400" spc="-13" dirty="0">
                <a:solidFill>
                  <a:srgbClr val="595959"/>
                </a:solidFill>
                <a:latin typeface="Arial"/>
                <a:cs typeface="Arial"/>
              </a:rPr>
              <a:t> </a:t>
            </a:r>
            <a:r>
              <a:rPr sz="2400" dirty="0">
                <a:solidFill>
                  <a:srgbClr val="595959"/>
                </a:solidFill>
                <a:latin typeface="Arial"/>
                <a:cs typeface="Arial"/>
              </a:rPr>
              <a:t>vectors.</a:t>
            </a:r>
            <a:endParaRPr sz="2400">
              <a:latin typeface="Arial"/>
              <a:cs typeface="Arial"/>
            </a:endParaRPr>
          </a:p>
          <a:p>
            <a:pPr marL="1115031" lvl="1" indent="-447875">
              <a:spcBef>
                <a:spcPts val="440"/>
              </a:spcBef>
              <a:buChar char="○"/>
              <a:tabLst>
                <a:tab pos="1115031" algn="l"/>
                <a:tab pos="1115879" algn="l"/>
              </a:tabLst>
            </a:pPr>
            <a:r>
              <a:rPr sz="1867" dirty="0">
                <a:solidFill>
                  <a:srgbClr val="595959"/>
                </a:solidFill>
                <a:latin typeface="Arial"/>
                <a:cs typeface="Arial"/>
              </a:rPr>
              <a:t>A </a:t>
            </a:r>
            <a:r>
              <a:rPr sz="1867" spc="-7" dirty="0">
                <a:solidFill>
                  <a:srgbClr val="595959"/>
                </a:solidFill>
                <a:latin typeface="Arial"/>
                <a:cs typeface="Arial"/>
              </a:rPr>
              <a:t>point on the line will </a:t>
            </a:r>
            <a:r>
              <a:rPr sz="1867" dirty="0">
                <a:solidFill>
                  <a:srgbClr val="595959"/>
                </a:solidFill>
                <a:latin typeface="Arial"/>
                <a:cs typeface="Arial"/>
              </a:rPr>
              <a:t>yield a cross </a:t>
            </a:r>
            <a:r>
              <a:rPr sz="1867" spc="-7" dirty="0">
                <a:solidFill>
                  <a:srgbClr val="595959"/>
                </a:solidFill>
                <a:latin typeface="Arial"/>
                <a:cs typeface="Arial"/>
              </a:rPr>
              <a:t>product of </a:t>
            </a:r>
            <a:r>
              <a:rPr sz="1867" dirty="0">
                <a:solidFill>
                  <a:srgbClr val="595959"/>
                </a:solidFill>
                <a:latin typeface="Arial"/>
                <a:cs typeface="Arial"/>
              </a:rPr>
              <a:t>zero magnitude </a:t>
            </a:r>
            <a:r>
              <a:rPr sz="1867" spc="-7" dirty="0">
                <a:solidFill>
                  <a:srgbClr val="595959"/>
                </a:solidFill>
                <a:latin typeface="Arial"/>
                <a:cs typeface="Arial"/>
              </a:rPr>
              <a:t>for the</a:t>
            </a:r>
            <a:r>
              <a:rPr sz="1867" spc="-87" dirty="0">
                <a:solidFill>
                  <a:srgbClr val="595959"/>
                </a:solidFill>
                <a:latin typeface="Arial"/>
                <a:cs typeface="Arial"/>
              </a:rPr>
              <a:t> </a:t>
            </a:r>
            <a:r>
              <a:rPr sz="1867" spc="-7" dirty="0">
                <a:solidFill>
                  <a:srgbClr val="595959"/>
                </a:solidFill>
                <a:latin typeface="Arial"/>
                <a:cs typeface="Arial"/>
              </a:rPr>
              <a:t>numerator.</a:t>
            </a:r>
            <a:endParaRPr sz="1867">
              <a:latin typeface="Arial"/>
              <a:cs typeface="Arial"/>
            </a:endParaRPr>
          </a:p>
        </p:txBody>
      </p:sp>
      <p:sp>
        <p:nvSpPr>
          <p:cNvPr id="5" name="object 5"/>
          <p:cNvSpPr/>
          <p:nvPr/>
        </p:nvSpPr>
        <p:spPr>
          <a:xfrm>
            <a:off x="4292601" y="2400301"/>
            <a:ext cx="3606799" cy="1041399"/>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9597457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450927" cy="591551"/>
          </a:xfrm>
          <a:prstGeom prst="rect">
            <a:avLst/>
          </a:prstGeom>
        </p:spPr>
        <p:txBody>
          <a:bodyPr vert="horz" wrap="square" lIns="0" tIns="16933" rIns="0" bIns="0" rtlCol="0" anchor="ctr">
            <a:spAutoFit/>
          </a:bodyPr>
          <a:lstStyle/>
          <a:p>
            <a:pPr marL="16933">
              <a:lnSpc>
                <a:spcPct val="100000"/>
              </a:lnSpc>
              <a:spcBef>
                <a:spcPts val="133"/>
              </a:spcBef>
            </a:pPr>
            <a:r>
              <a:rPr sz="3733" spc="-13" dirty="0">
                <a:solidFill>
                  <a:srgbClr val="000000"/>
                </a:solidFill>
              </a:rPr>
              <a:t>Point-Plane</a:t>
            </a:r>
            <a:r>
              <a:rPr sz="3733" spc="-113" dirty="0">
                <a:solidFill>
                  <a:srgbClr val="000000"/>
                </a:solidFill>
              </a:rPr>
              <a:t> </a:t>
            </a:r>
            <a:r>
              <a:rPr sz="3733" spc="-7" dirty="0">
                <a:solidFill>
                  <a:srgbClr val="000000"/>
                </a:solidFill>
              </a:rPr>
              <a:t>Distance</a:t>
            </a:r>
            <a:endParaRPr sz="3733"/>
          </a:p>
        </p:txBody>
      </p:sp>
      <p:sp>
        <p:nvSpPr>
          <p:cNvPr id="3" name="object 3"/>
          <p:cNvSpPr txBox="1"/>
          <p:nvPr/>
        </p:nvSpPr>
        <p:spPr>
          <a:xfrm>
            <a:off x="633666" y="1621807"/>
            <a:ext cx="8853593" cy="386430"/>
          </a:xfrm>
          <a:prstGeom prst="rect">
            <a:avLst/>
          </a:prstGeom>
        </p:spPr>
        <p:txBody>
          <a:bodyPr vert="horz" wrap="square" lIns="0" tIns="16933" rIns="0" bIns="0" rtlCol="0">
            <a:spAutoFit/>
          </a:bodyPr>
          <a:lstStyle/>
          <a:p>
            <a:pPr marL="505447" indent="-488514">
              <a:spcBef>
                <a:spcPts val="133"/>
              </a:spcBef>
              <a:buChar char="●"/>
              <a:tabLst>
                <a:tab pos="505447" algn="l"/>
                <a:tab pos="506294" algn="l"/>
              </a:tabLst>
            </a:pPr>
            <a:r>
              <a:rPr sz="2400" spc="-7" dirty="0">
                <a:solidFill>
                  <a:srgbClr val="595959"/>
                </a:solidFill>
                <a:latin typeface="Arial"/>
                <a:cs typeface="Arial"/>
              </a:rPr>
              <a:t>Given </a:t>
            </a:r>
            <a:r>
              <a:rPr sz="2400" dirty="0">
                <a:solidFill>
                  <a:srgbClr val="595959"/>
                </a:solidFill>
                <a:latin typeface="Arial"/>
                <a:cs typeface="Arial"/>
              </a:rPr>
              <a:t>a </a:t>
            </a:r>
            <a:r>
              <a:rPr sz="2400" spc="-7" dirty="0">
                <a:solidFill>
                  <a:srgbClr val="595959"/>
                </a:solidFill>
                <a:latin typeface="Arial"/>
                <a:cs typeface="Arial"/>
              </a:rPr>
              <a:t>point </a:t>
            </a:r>
            <a:r>
              <a:rPr sz="2400" b="1" dirty="0">
                <a:solidFill>
                  <a:srgbClr val="595959"/>
                </a:solidFill>
                <a:latin typeface="Arial"/>
                <a:cs typeface="Arial"/>
              </a:rPr>
              <a:t>p </a:t>
            </a:r>
            <a:r>
              <a:rPr sz="2400" spc="-7" dirty="0">
                <a:solidFill>
                  <a:srgbClr val="595959"/>
                </a:solidFill>
                <a:latin typeface="Arial"/>
                <a:cs typeface="Arial"/>
              </a:rPr>
              <a:t>and </a:t>
            </a:r>
            <a:r>
              <a:rPr sz="2400" dirty="0">
                <a:solidFill>
                  <a:srgbClr val="595959"/>
                </a:solidFill>
                <a:latin typeface="Arial"/>
                <a:cs typeface="Arial"/>
              </a:rPr>
              <a:t>a </a:t>
            </a:r>
            <a:r>
              <a:rPr sz="2400" spc="-7" dirty="0">
                <a:solidFill>
                  <a:srgbClr val="595959"/>
                </a:solidFill>
                <a:latin typeface="Arial"/>
                <a:cs typeface="Arial"/>
              </a:rPr>
              <a:t>plane defined by point </a:t>
            </a:r>
            <a:r>
              <a:rPr sz="2400" b="1" dirty="0">
                <a:solidFill>
                  <a:srgbClr val="595959"/>
                </a:solidFill>
                <a:latin typeface="Arial"/>
                <a:cs typeface="Arial"/>
              </a:rPr>
              <a:t>p</a:t>
            </a:r>
            <a:r>
              <a:rPr sz="2400" baseline="-32407" dirty="0">
                <a:solidFill>
                  <a:srgbClr val="595959"/>
                </a:solidFill>
                <a:latin typeface="Arial"/>
                <a:cs typeface="Arial"/>
              </a:rPr>
              <a:t>0 </a:t>
            </a:r>
            <a:r>
              <a:rPr sz="2400" spc="-7" dirty="0">
                <a:solidFill>
                  <a:srgbClr val="595959"/>
                </a:solidFill>
                <a:latin typeface="Arial"/>
                <a:cs typeface="Arial"/>
              </a:rPr>
              <a:t>and normal</a:t>
            </a:r>
            <a:r>
              <a:rPr sz="2400" spc="-247" dirty="0">
                <a:solidFill>
                  <a:srgbClr val="595959"/>
                </a:solidFill>
                <a:latin typeface="Arial"/>
                <a:cs typeface="Arial"/>
              </a:rPr>
              <a:t> </a:t>
            </a:r>
            <a:r>
              <a:rPr sz="2400" b="1" dirty="0">
                <a:solidFill>
                  <a:srgbClr val="595959"/>
                </a:solidFill>
                <a:latin typeface="Arial"/>
                <a:cs typeface="Arial"/>
              </a:rPr>
              <a:t>n</a:t>
            </a:r>
            <a:r>
              <a:rPr sz="2400" dirty="0">
                <a:solidFill>
                  <a:srgbClr val="595959"/>
                </a:solidFill>
                <a:latin typeface="Arial"/>
                <a:cs typeface="Arial"/>
              </a:rPr>
              <a:t>:</a:t>
            </a:r>
            <a:endParaRPr sz="2400">
              <a:latin typeface="Arial"/>
              <a:cs typeface="Arial"/>
            </a:endParaRPr>
          </a:p>
        </p:txBody>
      </p:sp>
      <p:sp>
        <p:nvSpPr>
          <p:cNvPr id="4" name="object 4"/>
          <p:cNvSpPr txBox="1"/>
          <p:nvPr/>
        </p:nvSpPr>
        <p:spPr>
          <a:xfrm>
            <a:off x="633665" y="2940069"/>
            <a:ext cx="10845800" cy="1287190"/>
          </a:xfrm>
          <a:prstGeom prst="rect">
            <a:avLst/>
          </a:prstGeom>
        </p:spPr>
        <p:txBody>
          <a:bodyPr vert="horz" wrap="square" lIns="0" tIns="16933" rIns="0" bIns="0" rtlCol="0">
            <a:spAutoFit/>
          </a:bodyPr>
          <a:lstStyle/>
          <a:p>
            <a:pPr marL="505447" marR="6773" indent="-488514">
              <a:lnSpc>
                <a:spcPct val="114599"/>
              </a:lnSpc>
              <a:spcBef>
                <a:spcPts val="133"/>
              </a:spcBef>
              <a:buChar char="●"/>
              <a:tabLst>
                <a:tab pos="505447" algn="l"/>
                <a:tab pos="506294" algn="l"/>
              </a:tabLst>
            </a:pPr>
            <a:r>
              <a:rPr sz="2400" spc="-7" dirty="0">
                <a:solidFill>
                  <a:srgbClr val="595959"/>
                </a:solidFill>
                <a:latin typeface="Arial"/>
                <a:cs typeface="Arial"/>
              </a:rPr>
              <a:t>Take </a:t>
            </a:r>
            <a:r>
              <a:rPr sz="2400" dirty="0">
                <a:solidFill>
                  <a:srgbClr val="595959"/>
                </a:solidFill>
                <a:latin typeface="Arial"/>
                <a:cs typeface="Arial"/>
              </a:rPr>
              <a:t>a vector </a:t>
            </a:r>
            <a:r>
              <a:rPr sz="2400" spc="-7" dirty="0">
                <a:solidFill>
                  <a:srgbClr val="595959"/>
                </a:solidFill>
                <a:latin typeface="Arial"/>
                <a:cs typeface="Arial"/>
              </a:rPr>
              <a:t>from the point on the plane to the point in </a:t>
            </a:r>
            <a:r>
              <a:rPr sz="2400" dirty="0">
                <a:solidFill>
                  <a:srgbClr val="595959"/>
                </a:solidFill>
                <a:latin typeface="Arial"/>
                <a:cs typeface="Arial"/>
              </a:rPr>
              <a:t>space, </a:t>
            </a:r>
            <a:r>
              <a:rPr sz="2400" spc="-7" dirty="0">
                <a:solidFill>
                  <a:srgbClr val="595959"/>
                </a:solidFill>
                <a:latin typeface="Arial"/>
                <a:cs typeface="Arial"/>
              </a:rPr>
              <a:t>and project it  onto the plane’s normal. The </a:t>
            </a:r>
            <a:r>
              <a:rPr sz="2400" dirty="0">
                <a:solidFill>
                  <a:srgbClr val="595959"/>
                </a:solidFill>
                <a:latin typeface="Arial"/>
                <a:cs typeface="Arial"/>
              </a:rPr>
              <a:t>magnitude </a:t>
            </a:r>
            <a:r>
              <a:rPr sz="2400" spc="-7" dirty="0">
                <a:solidFill>
                  <a:srgbClr val="595959"/>
                </a:solidFill>
                <a:latin typeface="Arial"/>
                <a:cs typeface="Arial"/>
              </a:rPr>
              <a:t>of the project </a:t>
            </a:r>
            <a:r>
              <a:rPr sz="2400" dirty="0">
                <a:solidFill>
                  <a:srgbClr val="595959"/>
                </a:solidFill>
                <a:latin typeface="Arial"/>
                <a:cs typeface="Arial"/>
              </a:rPr>
              <a:t>vector </a:t>
            </a:r>
            <a:r>
              <a:rPr sz="2400" spc="-7" dirty="0">
                <a:solidFill>
                  <a:srgbClr val="595959"/>
                </a:solidFill>
                <a:latin typeface="Arial"/>
                <a:cs typeface="Arial"/>
              </a:rPr>
              <a:t>is the</a:t>
            </a:r>
            <a:r>
              <a:rPr sz="2400" spc="-80" dirty="0">
                <a:solidFill>
                  <a:srgbClr val="595959"/>
                </a:solidFill>
                <a:latin typeface="Arial"/>
                <a:cs typeface="Arial"/>
              </a:rPr>
              <a:t> </a:t>
            </a:r>
            <a:r>
              <a:rPr sz="2400" spc="-7" dirty="0">
                <a:solidFill>
                  <a:srgbClr val="595959"/>
                </a:solidFill>
                <a:latin typeface="Arial"/>
                <a:cs typeface="Arial"/>
              </a:rPr>
              <a:t>distance.</a:t>
            </a:r>
            <a:endParaRPr sz="2400">
              <a:latin typeface="Arial"/>
              <a:cs typeface="Arial"/>
            </a:endParaRPr>
          </a:p>
          <a:p>
            <a:pPr marL="505447" indent="-488514">
              <a:spcBef>
                <a:spcPts val="420"/>
              </a:spcBef>
              <a:buChar char="●"/>
              <a:tabLst>
                <a:tab pos="505447" algn="l"/>
                <a:tab pos="506294" algn="l"/>
              </a:tabLst>
            </a:pPr>
            <a:r>
              <a:rPr sz="2400" spc="-7" dirty="0">
                <a:solidFill>
                  <a:srgbClr val="595959"/>
                </a:solidFill>
                <a:latin typeface="Arial"/>
                <a:cs typeface="Arial"/>
              </a:rPr>
              <a:t>This </a:t>
            </a:r>
            <a:r>
              <a:rPr sz="2400" dirty="0">
                <a:solidFill>
                  <a:srgbClr val="595959"/>
                </a:solidFill>
                <a:latin typeface="Arial"/>
                <a:cs typeface="Arial"/>
              </a:rPr>
              <a:t>can </a:t>
            </a:r>
            <a:r>
              <a:rPr sz="2400" spc="-7" dirty="0">
                <a:solidFill>
                  <a:srgbClr val="595959"/>
                </a:solidFill>
                <a:latin typeface="Arial"/>
                <a:cs typeface="Arial"/>
              </a:rPr>
              <a:t>be </a:t>
            </a:r>
            <a:r>
              <a:rPr sz="2400" dirty="0">
                <a:solidFill>
                  <a:srgbClr val="595959"/>
                </a:solidFill>
                <a:latin typeface="Arial"/>
                <a:cs typeface="Arial"/>
              </a:rPr>
              <a:t>simplified</a:t>
            </a:r>
            <a:r>
              <a:rPr sz="2400" spc="-20" dirty="0">
                <a:solidFill>
                  <a:srgbClr val="595959"/>
                </a:solidFill>
                <a:latin typeface="Arial"/>
                <a:cs typeface="Arial"/>
              </a:rPr>
              <a:t> </a:t>
            </a:r>
            <a:r>
              <a:rPr sz="2400" spc="-7" dirty="0">
                <a:solidFill>
                  <a:srgbClr val="595959"/>
                </a:solidFill>
                <a:latin typeface="Arial"/>
                <a:cs typeface="Arial"/>
              </a:rPr>
              <a:t>to:</a:t>
            </a:r>
            <a:endParaRPr sz="2400">
              <a:latin typeface="Arial"/>
              <a:cs typeface="Arial"/>
            </a:endParaRPr>
          </a:p>
        </p:txBody>
      </p:sp>
      <p:sp>
        <p:nvSpPr>
          <p:cNvPr id="5" name="object 5"/>
          <p:cNvSpPr/>
          <p:nvPr/>
        </p:nvSpPr>
        <p:spPr>
          <a:xfrm>
            <a:off x="4929334" y="2322634"/>
            <a:ext cx="2333343" cy="359765"/>
          </a:xfrm>
          <a:prstGeom prst="rect">
            <a:avLst/>
          </a:prstGeom>
          <a:blipFill>
            <a:blip r:embed="rId2" cstate="print"/>
            <a:stretch>
              <a:fillRect/>
            </a:stretch>
          </a:blipFill>
        </p:spPr>
        <p:txBody>
          <a:bodyPr wrap="square" lIns="0" tIns="0" rIns="0" bIns="0" rtlCol="0"/>
          <a:lstStyle/>
          <a:p>
            <a:endParaRPr sz="2400"/>
          </a:p>
        </p:txBody>
      </p:sp>
      <p:sp>
        <p:nvSpPr>
          <p:cNvPr id="6" name="object 6"/>
          <p:cNvSpPr/>
          <p:nvPr/>
        </p:nvSpPr>
        <p:spPr>
          <a:xfrm>
            <a:off x="4857983" y="4621134"/>
            <a:ext cx="2476040" cy="359765"/>
          </a:xfrm>
          <a:prstGeom prst="rect">
            <a:avLst/>
          </a:prstGeom>
          <a:blipFill>
            <a:blip r:embed="rId3"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36428182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3959013"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solidFill>
                  <a:srgbClr val="000000"/>
                </a:solidFill>
              </a:rPr>
              <a:t>Line-Line</a:t>
            </a:r>
            <a:r>
              <a:rPr sz="3733" spc="-113" dirty="0">
                <a:solidFill>
                  <a:srgbClr val="000000"/>
                </a:solidFill>
              </a:rPr>
              <a:t> </a:t>
            </a:r>
            <a:r>
              <a:rPr sz="3733" spc="-7" dirty="0">
                <a:solidFill>
                  <a:srgbClr val="000000"/>
                </a:solidFill>
              </a:rPr>
              <a:t>Distance</a:t>
            </a:r>
            <a:endParaRPr sz="3733"/>
          </a:p>
        </p:txBody>
      </p:sp>
      <p:sp>
        <p:nvSpPr>
          <p:cNvPr id="3" name="object 3"/>
          <p:cNvSpPr txBox="1"/>
          <p:nvPr/>
        </p:nvSpPr>
        <p:spPr>
          <a:xfrm>
            <a:off x="633666" y="1568467"/>
            <a:ext cx="10670540" cy="860918"/>
          </a:xfrm>
          <a:prstGeom prst="rect">
            <a:avLst/>
          </a:prstGeom>
        </p:spPr>
        <p:txBody>
          <a:bodyPr vert="horz" wrap="square" lIns="0" tIns="70272" rIns="0" bIns="0" rtlCol="0">
            <a:spAutoFit/>
          </a:bodyPr>
          <a:lstStyle/>
          <a:p>
            <a:pPr marL="505447" indent="-488514">
              <a:spcBef>
                <a:spcPts val="552"/>
              </a:spcBef>
              <a:buChar char="●"/>
              <a:tabLst>
                <a:tab pos="505447" algn="l"/>
                <a:tab pos="506294" algn="l"/>
              </a:tabLst>
            </a:pPr>
            <a:r>
              <a:rPr sz="2400" spc="-7" dirty="0">
                <a:solidFill>
                  <a:srgbClr val="595959"/>
                </a:solidFill>
                <a:latin typeface="Arial"/>
                <a:cs typeface="Arial"/>
              </a:rPr>
              <a:t>Given points </a:t>
            </a:r>
            <a:r>
              <a:rPr sz="2400" b="1" dirty="0">
                <a:solidFill>
                  <a:srgbClr val="595959"/>
                </a:solidFill>
                <a:latin typeface="Arial"/>
                <a:cs typeface="Arial"/>
              </a:rPr>
              <a:t>p</a:t>
            </a:r>
            <a:r>
              <a:rPr sz="2400" baseline="-32407" dirty="0">
                <a:solidFill>
                  <a:srgbClr val="595959"/>
                </a:solidFill>
                <a:latin typeface="Arial"/>
                <a:cs typeface="Arial"/>
              </a:rPr>
              <a:t>0 </a:t>
            </a:r>
            <a:r>
              <a:rPr sz="2400" spc="-7" dirty="0">
                <a:solidFill>
                  <a:srgbClr val="595959"/>
                </a:solidFill>
                <a:latin typeface="Arial"/>
                <a:cs typeface="Arial"/>
              </a:rPr>
              <a:t>and </a:t>
            </a:r>
            <a:r>
              <a:rPr sz="2400" b="1" dirty="0">
                <a:solidFill>
                  <a:srgbClr val="595959"/>
                </a:solidFill>
                <a:latin typeface="Arial"/>
                <a:cs typeface="Arial"/>
              </a:rPr>
              <a:t>p</a:t>
            </a:r>
            <a:r>
              <a:rPr sz="2400" baseline="-32407" dirty="0">
                <a:solidFill>
                  <a:srgbClr val="595959"/>
                </a:solidFill>
                <a:latin typeface="Arial"/>
                <a:cs typeface="Arial"/>
              </a:rPr>
              <a:t>1 </a:t>
            </a:r>
            <a:r>
              <a:rPr sz="2400" spc="-7" dirty="0">
                <a:solidFill>
                  <a:srgbClr val="595959"/>
                </a:solidFill>
                <a:latin typeface="Arial"/>
                <a:cs typeface="Arial"/>
              </a:rPr>
              <a:t>on </a:t>
            </a:r>
            <a:r>
              <a:rPr sz="2400" dirty="0">
                <a:solidFill>
                  <a:srgbClr val="595959"/>
                </a:solidFill>
                <a:latin typeface="Arial"/>
                <a:cs typeface="Arial"/>
              </a:rPr>
              <a:t>respective </a:t>
            </a:r>
            <a:r>
              <a:rPr sz="2400" spc="-7" dirty="0">
                <a:solidFill>
                  <a:srgbClr val="595959"/>
                </a:solidFill>
                <a:latin typeface="Arial"/>
                <a:cs typeface="Arial"/>
              </a:rPr>
              <a:t>lines with unit direction </a:t>
            </a:r>
            <a:r>
              <a:rPr sz="2400" dirty="0">
                <a:solidFill>
                  <a:srgbClr val="595959"/>
                </a:solidFill>
                <a:latin typeface="Arial"/>
                <a:cs typeface="Arial"/>
              </a:rPr>
              <a:t>vectors </a:t>
            </a:r>
            <a:r>
              <a:rPr sz="2400" b="1" dirty="0">
                <a:solidFill>
                  <a:srgbClr val="595959"/>
                </a:solidFill>
                <a:latin typeface="Arial"/>
                <a:cs typeface="Arial"/>
              </a:rPr>
              <a:t>u</a:t>
            </a:r>
            <a:r>
              <a:rPr sz="2400" baseline="-32407" dirty="0">
                <a:solidFill>
                  <a:srgbClr val="595959"/>
                </a:solidFill>
                <a:latin typeface="Arial"/>
                <a:cs typeface="Arial"/>
              </a:rPr>
              <a:t>0</a:t>
            </a:r>
            <a:r>
              <a:rPr sz="2400" spc="279" baseline="-32407" dirty="0">
                <a:solidFill>
                  <a:srgbClr val="595959"/>
                </a:solidFill>
                <a:latin typeface="Arial"/>
                <a:cs typeface="Arial"/>
              </a:rPr>
              <a:t> </a:t>
            </a:r>
            <a:r>
              <a:rPr sz="2400" spc="-7" dirty="0">
                <a:solidFill>
                  <a:srgbClr val="595959"/>
                </a:solidFill>
                <a:latin typeface="Arial"/>
                <a:cs typeface="Arial"/>
              </a:rPr>
              <a:t>and</a:t>
            </a:r>
            <a:endParaRPr sz="2400">
              <a:latin typeface="Arial"/>
              <a:cs typeface="Arial"/>
            </a:endParaRPr>
          </a:p>
          <a:p>
            <a:pPr marL="505447">
              <a:spcBef>
                <a:spcPts val="420"/>
              </a:spcBef>
            </a:pPr>
            <a:r>
              <a:rPr sz="2400" b="1" dirty="0">
                <a:solidFill>
                  <a:srgbClr val="595959"/>
                </a:solidFill>
                <a:latin typeface="Arial"/>
                <a:cs typeface="Arial"/>
              </a:rPr>
              <a:t>u</a:t>
            </a:r>
            <a:r>
              <a:rPr sz="2400" baseline="-32407" dirty="0">
                <a:solidFill>
                  <a:srgbClr val="595959"/>
                </a:solidFill>
                <a:latin typeface="Arial"/>
                <a:cs typeface="Arial"/>
              </a:rPr>
              <a:t>1</a:t>
            </a:r>
            <a:r>
              <a:rPr sz="2400" dirty="0">
                <a:solidFill>
                  <a:srgbClr val="595959"/>
                </a:solidFill>
                <a:latin typeface="Arial"/>
                <a:cs typeface="Arial"/>
              </a:rPr>
              <a:t>:</a:t>
            </a:r>
            <a:endParaRPr sz="2400">
              <a:latin typeface="Arial"/>
              <a:cs typeface="Arial"/>
            </a:endParaRPr>
          </a:p>
        </p:txBody>
      </p:sp>
      <p:sp>
        <p:nvSpPr>
          <p:cNvPr id="4" name="object 4"/>
          <p:cNvSpPr txBox="1"/>
          <p:nvPr/>
        </p:nvSpPr>
        <p:spPr>
          <a:xfrm>
            <a:off x="633666" y="4098307"/>
            <a:ext cx="6529493" cy="386430"/>
          </a:xfrm>
          <a:prstGeom prst="rect">
            <a:avLst/>
          </a:prstGeom>
        </p:spPr>
        <p:txBody>
          <a:bodyPr vert="horz" wrap="square" lIns="0" tIns="16933" rIns="0" bIns="0" rtlCol="0">
            <a:spAutoFit/>
          </a:bodyPr>
          <a:lstStyle/>
          <a:p>
            <a:pPr marL="505447" indent="-488514">
              <a:spcBef>
                <a:spcPts val="133"/>
              </a:spcBef>
              <a:buChar char="●"/>
              <a:tabLst>
                <a:tab pos="505447" algn="l"/>
                <a:tab pos="506294" algn="l"/>
              </a:tabLst>
            </a:pPr>
            <a:r>
              <a:rPr sz="2400" spc="-7" dirty="0">
                <a:solidFill>
                  <a:srgbClr val="595959"/>
                </a:solidFill>
                <a:latin typeface="Arial"/>
                <a:cs typeface="Arial"/>
              </a:rPr>
              <a:t>If the distance is 0, the lines are</a:t>
            </a:r>
            <a:r>
              <a:rPr sz="2400" spc="-87" dirty="0">
                <a:solidFill>
                  <a:srgbClr val="595959"/>
                </a:solidFill>
                <a:latin typeface="Arial"/>
                <a:cs typeface="Arial"/>
              </a:rPr>
              <a:t> </a:t>
            </a:r>
            <a:r>
              <a:rPr sz="2400" spc="-7" dirty="0">
                <a:solidFill>
                  <a:srgbClr val="595959"/>
                </a:solidFill>
                <a:latin typeface="Arial"/>
                <a:cs typeface="Arial"/>
              </a:rPr>
              <a:t>intersecting.</a:t>
            </a:r>
            <a:endParaRPr sz="2400">
              <a:latin typeface="Arial"/>
              <a:cs typeface="Arial"/>
            </a:endParaRPr>
          </a:p>
        </p:txBody>
      </p:sp>
      <p:sp>
        <p:nvSpPr>
          <p:cNvPr id="5" name="object 5"/>
          <p:cNvSpPr/>
          <p:nvPr/>
        </p:nvSpPr>
        <p:spPr>
          <a:xfrm>
            <a:off x="4102101" y="2705101"/>
            <a:ext cx="3987799" cy="1041399"/>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4069173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7405"/>
            <a:ext cx="4824305"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solidFill>
                  <a:srgbClr val="000000"/>
                </a:solidFill>
              </a:rPr>
              <a:t>Ray-Plane</a:t>
            </a:r>
            <a:r>
              <a:rPr sz="3733" spc="-113" dirty="0">
                <a:solidFill>
                  <a:srgbClr val="000000"/>
                </a:solidFill>
              </a:rPr>
              <a:t> </a:t>
            </a:r>
            <a:r>
              <a:rPr sz="3733" spc="-7" dirty="0">
                <a:solidFill>
                  <a:srgbClr val="000000"/>
                </a:solidFill>
              </a:rPr>
              <a:t>Intersection</a:t>
            </a:r>
            <a:endParaRPr sz="3733"/>
          </a:p>
        </p:txBody>
      </p:sp>
      <p:sp>
        <p:nvSpPr>
          <p:cNvPr id="3" name="object 3"/>
          <p:cNvSpPr txBox="1"/>
          <p:nvPr/>
        </p:nvSpPr>
        <p:spPr>
          <a:xfrm>
            <a:off x="633665" y="1568467"/>
            <a:ext cx="10685779" cy="860918"/>
          </a:xfrm>
          <a:prstGeom prst="rect">
            <a:avLst/>
          </a:prstGeom>
        </p:spPr>
        <p:txBody>
          <a:bodyPr vert="horz" wrap="square" lIns="0" tIns="70272" rIns="0" bIns="0" rtlCol="0">
            <a:spAutoFit/>
          </a:bodyPr>
          <a:lstStyle/>
          <a:p>
            <a:pPr marL="505447" indent="-488514">
              <a:spcBef>
                <a:spcPts val="552"/>
              </a:spcBef>
              <a:buChar char="●"/>
              <a:tabLst>
                <a:tab pos="505447" algn="l"/>
                <a:tab pos="506294" algn="l"/>
              </a:tabLst>
            </a:pPr>
            <a:r>
              <a:rPr sz="2400" spc="-7" dirty="0">
                <a:solidFill>
                  <a:srgbClr val="595959"/>
                </a:solidFill>
                <a:latin typeface="Arial"/>
                <a:cs typeface="Arial"/>
              </a:rPr>
              <a:t>Given </a:t>
            </a:r>
            <a:r>
              <a:rPr sz="2400" dirty="0">
                <a:solidFill>
                  <a:srgbClr val="595959"/>
                </a:solidFill>
                <a:latin typeface="Arial"/>
                <a:cs typeface="Arial"/>
              </a:rPr>
              <a:t>a ray </a:t>
            </a:r>
            <a:r>
              <a:rPr sz="2400" spc="-7" dirty="0">
                <a:solidFill>
                  <a:srgbClr val="595959"/>
                </a:solidFill>
                <a:latin typeface="Arial"/>
                <a:cs typeface="Arial"/>
              </a:rPr>
              <a:t>defined by point </a:t>
            </a:r>
            <a:r>
              <a:rPr sz="2400" b="1" dirty="0">
                <a:solidFill>
                  <a:srgbClr val="595959"/>
                </a:solidFill>
                <a:latin typeface="Arial"/>
                <a:cs typeface="Arial"/>
              </a:rPr>
              <a:t>p</a:t>
            </a:r>
            <a:r>
              <a:rPr sz="2400" baseline="-32407" dirty="0">
                <a:solidFill>
                  <a:srgbClr val="595959"/>
                </a:solidFill>
                <a:latin typeface="Arial"/>
                <a:cs typeface="Arial"/>
              </a:rPr>
              <a:t>r </a:t>
            </a:r>
            <a:r>
              <a:rPr sz="2400" spc="-7" dirty="0">
                <a:solidFill>
                  <a:srgbClr val="595959"/>
                </a:solidFill>
                <a:latin typeface="Arial"/>
                <a:cs typeface="Arial"/>
              </a:rPr>
              <a:t>and direction </a:t>
            </a:r>
            <a:r>
              <a:rPr sz="2400" b="1" dirty="0">
                <a:solidFill>
                  <a:srgbClr val="595959"/>
                </a:solidFill>
                <a:latin typeface="Arial"/>
                <a:cs typeface="Arial"/>
              </a:rPr>
              <a:t>r</a:t>
            </a:r>
            <a:r>
              <a:rPr sz="2400" dirty="0">
                <a:solidFill>
                  <a:srgbClr val="595959"/>
                </a:solidFill>
                <a:latin typeface="Arial"/>
                <a:cs typeface="Arial"/>
              </a:rPr>
              <a:t>, </a:t>
            </a:r>
            <a:r>
              <a:rPr sz="2400" spc="-7" dirty="0">
                <a:solidFill>
                  <a:srgbClr val="595959"/>
                </a:solidFill>
                <a:latin typeface="Arial"/>
                <a:cs typeface="Arial"/>
              </a:rPr>
              <a:t>and </a:t>
            </a:r>
            <a:r>
              <a:rPr sz="2400" dirty="0">
                <a:solidFill>
                  <a:srgbClr val="595959"/>
                </a:solidFill>
                <a:latin typeface="Arial"/>
                <a:cs typeface="Arial"/>
              </a:rPr>
              <a:t>a </a:t>
            </a:r>
            <a:r>
              <a:rPr sz="2400" spc="-7" dirty="0">
                <a:solidFill>
                  <a:srgbClr val="595959"/>
                </a:solidFill>
                <a:latin typeface="Arial"/>
                <a:cs typeface="Arial"/>
              </a:rPr>
              <a:t>plane defined by</a:t>
            </a:r>
            <a:r>
              <a:rPr sz="2400" spc="-267" dirty="0">
                <a:solidFill>
                  <a:srgbClr val="595959"/>
                </a:solidFill>
                <a:latin typeface="Arial"/>
                <a:cs typeface="Arial"/>
              </a:rPr>
              <a:t> </a:t>
            </a:r>
            <a:r>
              <a:rPr sz="2400" spc="-7" dirty="0">
                <a:solidFill>
                  <a:srgbClr val="595959"/>
                </a:solidFill>
                <a:latin typeface="Arial"/>
                <a:cs typeface="Arial"/>
              </a:rPr>
              <a:t>point</a:t>
            </a:r>
            <a:endParaRPr sz="2400">
              <a:latin typeface="Arial"/>
              <a:cs typeface="Arial"/>
            </a:endParaRPr>
          </a:p>
          <a:p>
            <a:pPr marL="505447">
              <a:spcBef>
                <a:spcPts val="420"/>
              </a:spcBef>
            </a:pPr>
            <a:r>
              <a:rPr sz="2400" b="1" dirty="0">
                <a:solidFill>
                  <a:srgbClr val="595959"/>
                </a:solidFill>
                <a:latin typeface="Arial"/>
                <a:cs typeface="Arial"/>
              </a:rPr>
              <a:t>p</a:t>
            </a:r>
            <a:r>
              <a:rPr sz="2400" baseline="-32407" dirty="0">
                <a:solidFill>
                  <a:srgbClr val="595959"/>
                </a:solidFill>
                <a:latin typeface="Arial"/>
                <a:cs typeface="Arial"/>
              </a:rPr>
              <a:t>0 </a:t>
            </a:r>
            <a:r>
              <a:rPr sz="2400" spc="-7" dirty="0">
                <a:solidFill>
                  <a:srgbClr val="595959"/>
                </a:solidFill>
                <a:latin typeface="Arial"/>
                <a:cs typeface="Arial"/>
              </a:rPr>
              <a:t>and normal </a:t>
            </a:r>
            <a:r>
              <a:rPr sz="2400" b="1" dirty="0">
                <a:solidFill>
                  <a:srgbClr val="595959"/>
                </a:solidFill>
                <a:latin typeface="Arial"/>
                <a:cs typeface="Arial"/>
              </a:rPr>
              <a:t>n</a:t>
            </a:r>
            <a:r>
              <a:rPr sz="2400" dirty="0">
                <a:solidFill>
                  <a:srgbClr val="595959"/>
                </a:solidFill>
                <a:latin typeface="Arial"/>
                <a:cs typeface="Arial"/>
              </a:rPr>
              <a:t>, </a:t>
            </a:r>
            <a:r>
              <a:rPr sz="2400" spc="-7" dirty="0">
                <a:solidFill>
                  <a:srgbClr val="595959"/>
                </a:solidFill>
                <a:latin typeface="Arial"/>
                <a:cs typeface="Arial"/>
              </a:rPr>
              <a:t>we </a:t>
            </a:r>
            <a:r>
              <a:rPr sz="2400" dirty="0">
                <a:solidFill>
                  <a:srgbClr val="595959"/>
                </a:solidFill>
                <a:latin typeface="Arial"/>
                <a:cs typeface="Arial"/>
              </a:rPr>
              <a:t>can </a:t>
            </a:r>
            <a:r>
              <a:rPr sz="2400" spc="-7" dirty="0">
                <a:solidFill>
                  <a:srgbClr val="595959"/>
                </a:solidFill>
                <a:latin typeface="Arial"/>
                <a:cs typeface="Arial"/>
              </a:rPr>
              <a:t>find the point of</a:t>
            </a:r>
            <a:r>
              <a:rPr sz="2400" spc="-253" dirty="0">
                <a:solidFill>
                  <a:srgbClr val="595959"/>
                </a:solidFill>
                <a:latin typeface="Arial"/>
                <a:cs typeface="Arial"/>
              </a:rPr>
              <a:t> </a:t>
            </a:r>
            <a:r>
              <a:rPr sz="2400" spc="-7" dirty="0">
                <a:solidFill>
                  <a:srgbClr val="595959"/>
                </a:solidFill>
                <a:latin typeface="Arial"/>
                <a:cs typeface="Arial"/>
              </a:rPr>
              <a:t>intersection:</a:t>
            </a:r>
            <a:endParaRPr sz="2400">
              <a:latin typeface="Arial"/>
              <a:cs typeface="Arial"/>
            </a:endParaRPr>
          </a:p>
        </p:txBody>
      </p:sp>
      <p:sp>
        <p:nvSpPr>
          <p:cNvPr id="4" name="object 4"/>
          <p:cNvSpPr txBox="1"/>
          <p:nvPr/>
        </p:nvSpPr>
        <p:spPr>
          <a:xfrm>
            <a:off x="633666" y="4044969"/>
            <a:ext cx="10527453" cy="1287190"/>
          </a:xfrm>
          <a:prstGeom prst="rect">
            <a:avLst/>
          </a:prstGeom>
        </p:spPr>
        <p:txBody>
          <a:bodyPr vert="horz" wrap="square" lIns="0" tIns="16933" rIns="0" bIns="0" rtlCol="0">
            <a:spAutoFit/>
          </a:bodyPr>
          <a:lstStyle/>
          <a:p>
            <a:pPr marL="505447" marR="94824" indent="-488514">
              <a:lnSpc>
                <a:spcPct val="114599"/>
              </a:lnSpc>
              <a:spcBef>
                <a:spcPts val="133"/>
              </a:spcBef>
              <a:buChar char="●"/>
              <a:tabLst>
                <a:tab pos="505447" algn="l"/>
                <a:tab pos="506294" algn="l"/>
              </a:tabLst>
            </a:pPr>
            <a:r>
              <a:rPr sz="2400" spc="-7" dirty="0">
                <a:solidFill>
                  <a:srgbClr val="595959"/>
                </a:solidFill>
                <a:latin typeface="Arial"/>
                <a:cs typeface="Arial"/>
              </a:rPr>
              <a:t>Basically use point-to-plane distance and dot product’s </a:t>
            </a:r>
            <a:r>
              <a:rPr sz="2400" dirty="0">
                <a:solidFill>
                  <a:srgbClr val="595959"/>
                </a:solidFill>
                <a:latin typeface="Arial"/>
                <a:cs typeface="Arial"/>
              </a:rPr>
              <a:t>cosine </a:t>
            </a:r>
            <a:r>
              <a:rPr sz="2400" spc="-7" dirty="0">
                <a:solidFill>
                  <a:srgbClr val="595959"/>
                </a:solidFill>
                <a:latin typeface="Arial"/>
                <a:cs typeface="Arial"/>
              </a:rPr>
              <a:t>equation to  derive the</a:t>
            </a:r>
            <a:r>
              <a:rPr sz="2400" spc="-13" dirty="0">
                <a:solidFill>
                  <a:srgbClr val="595959"/>
                </a:solidFill>
                <a:latin typeface="Arial"/>
                <a:cs typeface="Arial"/>
              </a:rPr>
              <a:t> </a:t>
            </a:r>
            <a:r>
              <a:rPr sz="2400" spc="-7" dirty="0">
                <a:solidFill>
                  <a:srgbClr val="595959"/>
                </a:solidFill>
                <a:latin typeface="Arial"/>
                <a:cs typeface="Arial"/>
              </a:rPr>
              <a:t>equation.</a:t>
            </a:r>
            <a:endParaRPr sz="2400">
              <a:latin typeface="Arial"/>
              <a:cs typeface="Arial"/>
            </a:endParaRPr>
          </a:p>
          <a:p>
            <a:pPr marL="505447" indent="-488514">
              <a:spcBef>
                <a:spcPts val="420"/>
              </a:spcBef>
              <a:buChar char="●"/>
              <a:tabLst>
                <a:tab pos="505447" algn="l"/>
                <a:tab pos="506294" algn="l"/>
              </a:tabLst>
            </a:pPr>
            <a:r>
              <a:rPr sz="2400" spc="-7" dirty="0">
                <a:solidFill>
                  <a:srgbClr val="595959"/>
                </a:solidFill>
                <a:latin typeface="Arial"/>
                <a:cs typeface="Arial"/>
              </a:rPr>
              <a:t>If the </a:t>
            </a:r>
            <a:r>
              <a:rPr sz="2400" dirty="0">
                <a:solidFill>
                  <a:srgbClr val="595959"/>
                </a:solidFill>
                <a:latin typeface="Arial"/>
                <a:cs typeface="Arial"/>
              </a:rPr>
              <a:t>scalar </a:t>
            </a:r>
            <a:r>
              <a:rPr sz="2400" spc="-7" dirty="0">
                <a:solidFill>
                  <a:srgbClr val="595959"/>
                </a:solidFill>
                <a:latin typeface="Arial"/>
                <a:cs typeface="Arial"/>
              </a:rPr>
              <a:t>we </a:t>
            </a:r>
            <a:r>
              <a:rPr sz="2400" dirty="0">
                <a:solidFill>
                  <a:srgbClr val="595959"/>
                </a:solidFill>
                <a:latin typeface="Arial"/>
                <a:cs typeface="Arial"/>
              </a:rPr>
              <a:t>scale </a:t>
            </a:r>
            <a:r>
              <a:rPr sz="2400" b="1" dirty="0">
                <a:solidFill>
                  <a:srgbClr val="595959"/>
                </a:solidFill>
                <a:latin typeface="Arial"/>
                <a:cs typeface="Arial"/>
              </a:rPr>
              <a:t>r </a:t>
            </a:r>
            <a:r>
              <a:rPr sz="2400" spc="-7" dirty="0">
                <a:solidFill>
                  <a:srgbClr val="595959"/>
                </a:solidFill>
                <a:latin typeface="Arial"/>
                <a:cs typeface="Arial"/>
              </a:rPr>
              <a:t>by is negative, the </a:t>
            </a:r>
            <a:r>
              <a:rPr sz="2400" dirty="0">
                <a:solidFill>
                  <a:srgbClr val="595959"/>
                </a:solidFill>
                <a:latin typeface="Arial"/>
                <a:cs typeface="Arial"/>
              </a:rPr>
              <a:t>ray </a:t>
            </a:r>
            <a:r>
              <a:rPr sz="2400" spc="-7" dirty="0">
                <a:solidFill>
                  <a:srgbClr val="595959"/>
                </a:solidFill>
                <a:latin typeface="Arial"/>
                <a:cs typeface="Arial"/>
              </a:rPr>
              <a:t>does not intersect the</a:t>
            </a:r>
            <a:r>
              <a:rPr sz="2400" spc="-60" dirty="0">
                <a:solidFill>
                  <a:srgbClr val="595959"/>
                </a:solidFill>
                <a:latin typeface="Arial"/>
                <a:cs typeface="Arial"/>
              </a:rPr>
              <a:t> </a:t>
            </a:r>
            <a:r>
              <a:rPr sz="2400" spc="-7" dirty="0">
                <a:solidFill>
                  <a:srgbClr val="595959"/>
                </a:solidFill>
                <a:latin typeface="Arial"/>
                <a:cs typeface="Arial"/>
              </a:rPr>
              <a:t>plane.</a:t>
            </a:r>
            <a:endParaRPr sz="2400">
              <a:latin typeface="Arial"/>
              <a:cs typeface="Arial"/>
            </a:endParaRPr>
          </a:p>
        </p:txBody>
      </p:sp>
      <p:sp>
        <p:nvSpPr>
          <p:cNvPr id="5" name="object 5"/>
          <p:cNvSpPr/>
          <p:nvPr/>
        </p:nvSpPr>
        <p:spPr>
          <a:xfrm>
            <a:off x="3803649" y="2654301"/>
            <a:ext cx="4584699" cy="939799"/>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33237000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5323839"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solidFill>
                  <a:srgbClr val="000000"/>
                </a:solidFill>
              </a:rPr>
              <a:t>Ray-Triangle</a:t>
            </a:r>
            <a:r>
              <a:rPr sz="3733" spc="-113" dirty="0">
                <a:solidFill>
                  <a:srgbClr val="000000"/>
                </a:solidFill>
              </a:rPr>
              <a:t> </a:t>
            </a:r>
            <a:r>
              <a:rPr sz="3733" spc="-7" dirty="0">
                <a:solidFill>
                  <a:srgbClr val="000000"/>
                </a:solidFill>
              </a:rPr>
              <a:t>Intersection</a:t>
            </a:r>
            <a:endParaRPr sz="3733"/>
          </a:p>
        </p:txBody>
      </p:sp>
      <p:sp>
        <p:nvSpPr>
          <p:cNvPr id="3" name="object 3"/>
          <p:cNvSpPr txBox="1">
            <a:spLocks noGrp="1"/>
          </p:cNvSpPr>
          <p:nvPr>
            <p:ph type="body" idx="1"/>
          </p:nvPr>
        </p:nvSpPr>
        <p:spPr>
          <a:xfrm>
            <a:off x="1117600" y="2434167"/>
            <a:ext cx="14020800" cy="2114083"/>
          </a:xfrm>
          <a:prstGeom prst="rect">
            <a:avLst/>
          </a:prstGeom>
        </p:spPr>
        <p:txBody>
          <a:bodyPr vert="horz" wrap="square" lIns="0" tIns="16933" rIns="0" bIns="0" rtlCol="0">
            <a:spAutoFit/>
          </a:bodyPr>
          <a:lstStyle/>
          <a:p>
            <a:pPr marL="552860" marR="643451" indent="-488514">
              <a:lnSpc>
                <a:spcPct val="114599"/>
              </a:lnSpc>
              <a:spcBef>
                <a:spcPts val="133"/>
              </a:spcBef>
              <a:buChar char="●"/>
              <a:tabLst>
                <a:tab pos="553706" algn="l"/>
                <a:tab pos="554553" algn="l"/>
              </a:tabLst>
            </a:pPr>
            <a:r>
              <a:rPr spc="-7" dirty="0"/>
              <a:t>Use </a:t>
            </a:r>
            <a:r>
              <a:rPr dirty="0"/>
              <a:t>ray-plane </a:t>
            </a:r>
            <a:r>
              <a:rPr spc="-7" dirty="0"/>
              <a:t>intersection to find the intersection point with the plane the  triangle lies</a:t>
            </a:r>
            <a:r>
              <a:rPr spc="-13" dirty="0"/>
              <a:t> </a:t>
            </a:r>
            <a:r>
              <a:rPr spc="-7" dirty="0"/>
              <a:t>on.</a:t>
            </a:r>
          </a:p>
          <a:p>
            <a:pPr marL="552860" indent="-488514">
              <a:lnSpc>
                <a:spcPct val="100000"/>
              </a:lnSpc>
              <a:spcBef>
                <a:spcPts val="420"/>
              </a:spcBef>
              <a:buChar char="●"/>
              <a:tabLst>
                <a:tab pos="553706" algn="l"/>
                <a:tab pos="554553" algn="l"/>
              </a:tabLst>
            </a:pPr>
            <a:r>
              <a:rPr spc="-7" dirty="0"/>
              <a:t>Then, </a:t>
            </a:r>
            <a:r>
              <a:rPr dirty="0"/>
              <a:t>calculate </a:t>
            </a:r>
            <a:r>
              <a:rPr spc="-7" dirty="0"/>
              <a:t>the barycentric </a:t>
            </a:r>
            <a:r>
              <a:rPr dirty="0"/>
              <a:t>coordinates </a:t>
            </a:r>
            <a:r>
              <a:rPr spc="-7" dirty="0"/>
              <a:t>of the point in the</a:t>
            </a:r>
            <a:r>
              <a:rPr spc="-60" dirty="0"/>
              <a:t> </a:t>
            </a:r>
            <a:r>
              <a:rPr spc="-7" dirty="0"/>
              <a:t>triangle.</a:t>
            </a:r>
          </a:p>
          <a:p>
            <a:pPr marL="552860" marR="6773" indent="-488514">
              <a:lnSpc>
                <a:spcPct val="114599"/>
              </a:lnSpc>
              <a:buChar char="●"/>
              <a:tabLst>
                <a:tab pos="553706" algn="l"/>
                <a:tab pos="554553" algn="l"/>
              </a:tabLst>
            </a:pPr>
            <a:r>
              <a:rPr spc="-7" dirty="0"/>
              <a:t>If the point lies in the triangle, there is an intersection between the </a:t>
            </a:r>
            <a:r>
              <a:rPr dirty="0"/>
              <a:t>ray </a:t>
            </a:r>
            <a:r>
              <a:rPr spc="-7" dirty="0"/>
              <a:t>and the  triangle.</a:t>
            </a:r>
          </a:p>
        </p:txBody>
      </p:sp>
    </p:spTree>
    <p:extLst>
      <p:ext uri="{BB962C8B-B14F-4D97-AF65-F5344CB8AC3E}">
        <p14:creationId xmlns:p14="http://schemas.microsoft.com/office/powerpoint/2010/main" val="1590820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2002</Words>
  <Application>Microsoft Office PowerPoint</Application>
  <PresentationFormat>Widescreen</PresentationFormat>
  <Paragraphs>256</Paragraphs>
  <Slides>55</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55</vt:i4>
      </vt:variant>
    </vt:vector>
  </HeadingPairs>
  <TitlesOfParts>
    <vt:vector size="64" baseType="lpstr">
      <vt:lpstr>Arial</vt:lpstr>
      <vt:lpstr>Baskerville</vt:lpstr>
      <vt:lpstr>Calibri</vt:lpstr>
      <vt:lpstr>Calibri Light</vt:lpstr>
      <vt:lpstr>Cambria</vt:lpstr>
      <vt:lpstr>Courier New</vt:lpstr>
      <vt:lpstr>Helvetica</vt:lpstr>
      <vt:lpstr>Times New Roman</vt:lpstr>
      <vt:lpstr>Office Theme</vt:lpstr>
      <vt:lpstr>Game Architecture Collision Detection</vt:lpstr>
      <vt:lpstr>What is collision detection?</vt:lpstr>
      <vt:lpstr>What is collision detection?</vt:lpstr>
      <vt:lpstr>What is collision detection?</vt:lpstr>
      <vt:lpstr>Intersection Testing</vt:lpstr>
      <vt:lpstr>Case Reduction</vt:lpstr>
      <vt:lpstr>Case Reduction</vt:lpstr>
      <vt:lpstr>Case Reduction</vt:lpstr>
      <vt:lpstr>Geometric Intersection</vt:lpstr>
      <vt:lpstr>PowerPoint Presentation</vt:lpstr>
      <vt:lpstr>Capsule</vt:lpstr>
      <vt:lpstr>PowerPoint Presentation</vt:lpstr>
      <vt:lpstr>Line-Line Distance</vt:lpstr>
      <vt:lpstr>Segment-Segment Collision</vt:lpstr>
      <vt:lpstr>Shapes: AABB</vt:lpstr>
      <vt:lpstr>Shapes: OOBB</vt:lpstr>
      <vt:lpstr>Separating Axis Theorem For two convex shapes, if an axis exists on which the projections of both shapes  do not overlap, the objects are not intersecting.</vt:lpstr>
      <vt:lpstr>Two objects do not collide</vt:lpstr>
      <vt:lpstr>AABB Collision</vt:lpstr>
      <vt:lpstr>Projection for OOBB </vt:lpstr>
      <vt:lpstr>Projection for OOBB</vt:lpstr>
      <vt:lpstr>Separating Axis Theorem</vt:lpstr>
      <vt:lpstr>Separating Axis Theorem</vt:lpstr>
      <vt:lpstr>Gilbert-Johnson-Keerthi Distance Algorithm (GJK)</vt:lpstr>
      <vt:lpstr>Minkowski Sum</vt:lpstr>
      <vt:lpstr>At a High Level</vt:lpstr>
      <vt:lpstr>Gilbert-Johnson-Keerthi Distance Algorithm (GJK)</vt:lpstr>
      <vt:lpstr>PowerPoint Presentation</vt:lpstr>
      <vt:lpstr>PowerPoint Presentation</vt:lpstr>
      <vt:lpstr>PowerPoint Presentation</vt:lpstr>
      <vt:lpstr>PowerPoint Presentation</vt:lpstr>
      <vt:lpstr>The GJK algorithm</vt:lpstr>
      <vt:lpstr>GJK example</vt:lpstr>
      <vt:lpstr>GJK example</vt:lpstr>
      <vt:lpstr>GJK example 3(10)</vt:lpstr>
      <vt:lpstr>GJK example 4(10)</vt:lpstr>
      <vt:lpstr>GJK example 5(10)</vt:lpstr>
      <vt:lpstr>GJK example 6(10)</vt:lpstr>
      <vt:lpstr>GJK example 7(10)</vt:lpstr>
      <vt:lpstr>GJK example 8(10)</vt:lpstr>
      <vt:lpstr>GJK example 9(10)</vt:lpstr>
      <vt:lpstr>GJK example 10(10)</vt:lpstr>
      <vt:lpstr>Distance subalgorithm 1(2)</vt:lpstr>
      <vt:lpstr>Distance subalgorithm 2(2)</vt:lpstr>
      <vt:lpstr>Closest point on triangle</vt:lpstr>
      <vt:lpstr>Closest point on triangle</vt:lpstr>
      <vt:lpstr>Closest point on triangle</vt:lpstr>
      <vt:lpstr>Closest point on triangle</vt:lpstr>
      <vt:lpstr>Appendix</vt:lpstr>
      <vt:lpstr>PowerPoint Presentation</vt:lpstr>
      <vt:lpstr>Point-Line Distance</vt:lpstr>
      <vt:lpstr>Point-Plane Distance</vt:lpstr>
      <vt:lpstr>Line-Line Distance</vt:lpstr>
      <vt:lpstr>Ray-Plane Intersection</vt:lpstr>
      <vt:lpstr>Ray-Triangle Intersection</vt:lpstr>
    </vt:vector>
  </TitlesOfParts>
  <Company>Rensselaer Polytechnic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Architecture Collision Detection</dc:title>
  <dc:creator>Chang, Benjamin Chia-Ming</dc:creator>
  <cp:lastModifiedBy>Chang, Benjamin Chia-Ming</cp:lastModifiedBy>
  <cp:revision>13</cp:revision>
  <dcterms:created xsi:type="dcterms:W3CDTF">2019-03-11T05:46:05Z</dcterms:created>
  <dcterms:modified xsi:type="dcterms:W3CDTF">2019-03-11T07:58:39Z</dcterms:modified>
</cp:coreProperties>
</file>