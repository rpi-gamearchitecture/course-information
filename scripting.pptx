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2" r:id="rId36"/>
    <p:sldId id="290" r:id="rId37"/>
    <p:sldId id="291" r:id="rId38"/>
    <p:sldId id="293" r:id="rId39"/>
    <p:sldId id="294" r:id="rId4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askerville"/>
      </a:defRPr>
    </a:lvl1pPr>
    <a:lvl2pPr marL="0" marR="0" indent="34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askerville"/>
      </a:defRPr>
    </a:lvl2pPr>
    <a:lvl3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askerville"/>
      </a:defRPr>
    </a:lvl3pPr>
    <a:lvl4pPr marL="0" marR="0" indent="1028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askerville"/>
      </a:defRPr>
    </a:lvl4pPr>
    <a:lvl5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askerville"/>
      </a:defRPr>
    </a:lvl5pPr>
    <a:lvl6pPr marL="0" marR="0" indent="1714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askerville"/>
      </a:defRPr>
    </a:lvl6pPr>
    <a:lvl7pPr marL="0" marR="0" indent="2057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askerville"/>
      </a:defRPr>
    </a:lvl7pPr>
    <a:lvl8pPr marL="0" marR="0" indent="2400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askerville"/>
      </a:defRPr>
    </a:lvl8pPr>
    <a:lvl9pPr marL="0" marR="0" indent="2743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Baskervill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4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" name="Shape 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1" name="Shape 29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t>Engine able to work with script structures -&gt; A dynamic type system, engine-side? Ouch.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32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/>
            </a:lvl1pPr>
            <a:lvl2pPr marL="0" indent="0" algn="ctr">
              <a:spcBef>
                <a:spcPts val="0"/>
              </a:spcBef>
              <a:buSzTx/>
              <a:buNone/>
              <a:defRPr sz="3600"/>
            </a:lvl2pPr>
            <a:lvl3pPr marL="0" indent="0" algn="ctr">
              <a:spcBef>
                <a:spcPts val="0"/>
              </a:spcBef>
              <a:buSzTx/>
              <a:buNone/>
              <a:defRPr sz="3600"/>
            </a:lvl3pPr>
            <a:lvl4pPr marL="0" indent="0" algn="ctr">
              <a:spcBef>
                <a:spcPts val="0"/>
              </a:spcBef>
              <a:buSzTx/>
              <a:buNone/>
              <a:defRPr sz="3600"/>
            </a:lvl4pPr>
            <a:lvl5pPr marL="0" indent="0" algn="ctr">
              <a:spcBef>
                <a:spcPts val="0"/>
              </a:spcBef>
              <a:buSzTx/>
              <a:buNone/>
              <a:defRPr sz="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sz="3600"/>
            </a:lvl1pPr>
            <a:lvl2pPr>
              <a:spcBef>
                <a:spcPts val="1200"/>
              </a:spcBef>
              <a:defRPr sz="3600"/>
            </a:lvl2pPr>
            <a:lvl3pPr>
              <a:spcBef>
                <a:spcPts val="1200"/>
              </a:spcBef>
              <a:defRPr sz="3600"/>
            </a:lvl3pPr>
            <a:lvl4pPr>
              <a:spcBef>
                <a:spcPts val="1200"/>
              </a:spcBef>
              <a:defRPr sz="3600"/>
            </a:lvl4pPr>
            <a:lvl5pPr>
              <a:spcBef>
                <a:spcPts val="1200"/>
              </a:spcBef>
              <a:defRPr sz="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t>Title Text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r>
              <a:t>Title Text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0" baseline="0">
          <a:ln>
            <a:noFill/>
          </a:ln>
          <a:solidFill>
            <a:srgbClr val="000000"/>
          </a:solidFill>
          <a:uFillTx/>
          <a:latin typeface="Gill Sans"/>
          <a:ea typeface="Gill Sans"/>
          <a:cs typeface="Gill Sans"/>
          <a:sym typeface="Gill Sans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00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Baskerville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00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Baskerville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00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Baskerville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00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Baskerville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00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Baskerville"/>
        </a:defRPr>
      </a:lvl5pPr>
      <a:lvl6pPr marL="30226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00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Baskerville"/>
        </a:defRPr>
      </a:lvl6pPr>
      <a:lvl7pPr marL="33782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00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Baskerville"/>
        </a:defRPr>
      </a:lvl7pPr>
      <a:lvl8pPr marL="37338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00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Baskerville"/>
        </a:defRPr>
      </a:lvl8pPr>
      <a:lvl9pPr marL="40894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00000"/>
        <a:buFontTx/>
        <a:buChar char="•"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Baskervill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8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a.org/manual/5.1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ts val="8100"/>
              </a:lnSpc>
              <a:spcBef>
                <a:spcPts val="100"/>
              </a:spcBef>
              <a:defRPr spc="-233"/>
            </a:lvl1pPr>
          </a:lstStyle>
          <a:p>
            <a:r>
              <a:t>Game Architecture</a:t>
            </a:r>
          </a:p>
        </p:txBody>
      </p:sp>
      <p:sp>
        <p:nvSpPr>
          <p:cNvPr id="72" name="3/8/18: Scripting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3/8/18: Scripting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Today’s Agenda</a:t>
            </a:r>
          </a:p>
        </p:txBody>
      </p:sp>
      <p:sp>
        <p:nvSpPr>
          <p:cNvPr id="75" name="What is scripting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300"/>
            </a:pPr>
            <a:r>
              <a:t>What is scripting?</a:t>
            </a:r>
          </a:p>
          <a:p>
            <a:pPr>
              <a:defRPr sz="3300"/>
            </a:pPr>
            <a:r>
              <a:t>Wait… why are we doing this?</a:t>
            </a:r>
          </a:p>
          <a:p>
            <a:pPr>
              <a:defRPr sz="3300"/>
            </a:pPr>
            <a:r>
              <a:t>Some things to consider</a:t>
            </a:r>
          </a:p>
          <a:p>
            <a:pPr>
              <a:defRPr sz="3300"/>
            </a:pPr>
            <a:r>
              <a:t>Parser &amp; generator concepts</a:t>
            </a:r>
          </a:p>
          <a:p>
            <a:pPr>
              <a:defRPr sz="3300"/>
            </a:pPr>
            <a:r>
              <a:t>Big topic: just enough to whet your appetite</a:t>
            </a:r>
          </a:p>
          <a:p>
            <a:pPr>
              <a:defRPr sz="3300"/>
            </a:pPr>
            <a:r>
              <a:t>Virtual machines</a:t>
            </a:r>
          </a:p>
          <a:p>
            <a:pPr>
              <a:defRPr sz="3300"/>
            </a:pPr>
            <a:r>
              <a:t>Integrating scripting with an engine</a:t>
            </a:r>
          </a:p>
          <a:p>
            <a:pPr>
              <a:defRPr sz="3300"/>
            </a:pPr>
            <a:r>
              <a:t>Visual script</a:t>
            </a:r>
          </a:p>
          <a:p>
            <a:pPr>
              <a:defRPr sz="3300"/>
            </a:pPr>
            <a:r>
              <a:t>Case study: Lua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1" build="p" bldLvl="5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7200" spc="-257"/>
            </a:pPr>
            <a:r>
              <a:t>What is S</a:t>
            </a:r>
            <a:r>
              <a:rPr spc="0"/>
              <a:t>cripting?</a:t>
            </a:r>
          </a:p>
        </p:txBody>
      </p:sp>
      <p:sp>
        <p:nvSpPr>
          <p:cNvPr id="78" name="Way of expressing (a portion of) game logic: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6594862"/>
          </a:xfrm>
          <a:prstGeom prst="rect">
            <a:avLst/>
          </a:prstGeom>
        </p:spPr>
        <p:txBody>
          <a:bodyPr numCol="2" spcCol="523240"/>
          <a:lstStyle/>
          <a:p>
            <a:pPr>
              <a:defRPr sz="3100"/>
            </a:pPr>
            <a:r>
              <a:t>Way of expressing (a portion of) game logic:</a:t>
            </a:r>
          </a:p>
          <a:p>
            <a:pPr lvl="1">
              <a:defRPr sz="3100"/>
            </a:pPr>
            <a:r>
              <a:t>AI</a:t>
            </a:r>
          </a:p>
          <a:p>
            <a:pPr lvl="1">
              <a:defRPr sz="3100"/>
            </a:pPr>
            <a:r>
              <a:t>Level mechanics</a:t>
            </a:r>
          </a:p>
          <a:p>
            <a:pPr lvl="1">
              <a:defRPr sz="3100"/>
            </a:pPr>
            <a:r>
              <a:t>UI behavior</a:t>
            </a:r>
          </a:p>
          <a:p>
            <a:pPr lvl="1">
              <a:defRPr sz="3100"/>
            </a:pPr>
            <a:r>
              <a:t>Weapons</a:t>
            </a:r>
          </a:p>
          <a:p>
            <a:pPr lvl="1">
              <a:defRPr sz="3100"/>
            </a:pPr>
            <a:r>
              <a:t>Etc.</a:t>
            </a:r>
          </a:p>
          <a:p>
            <a:pPr>
              <a:defRPr sz="3100"/>
            </a:pPr>
            <a:r>
              <a:t>Often:</a:t>
            </a:r>
          </a:p>
          <a:p>
            <a:pPr lvl="1">
              <a:defRPr sz="3100"/>
            </a:pPr>
            <a:r>
              <a:t>Higher level than engine language</a:t>
            </a:r>
          </a:p>
          <a:p>
            <a:pPr lvl="1">
              <a:defRPr sz="3100"/>
            </a:pPr>
            <a:r>
              <a:t>Allows faster iteration than core engine code</a:t>
            </a:r>
          </a:p>
          <a:p>
            <a:pPr lvl="1">
              <a:defRPr sz="3100"/>
            </a:pPr>
            <a:r>
              <a:t>Not performance critical</a:t>
            </a:r>
          </a:p>
          <a:p>
            <a:pPr lvl="1">
              <a:defRPr sz="3100"/>
            </a:pPr>
            <a:r>
              <a:t>More than half of ‘game code’ is script</a:t>
            </a:r>
          </a:p>
          <a:p>
            <a:pPr>
              <a:defRPr sz="3100"/>
            </a:pPr>
            <a:r>
              <a:t>Implementation:</a:t>
            </a:r>
          </a:p>
          <a:p>
            <a:pPr>
              <a:defRPr sz="3100"/>
            </a:pPr>
            <a:r>
              <a:t>‘Type-y’ language (e.g. Lua)</a:t>
            </a:r>
          </a:p>
          <a:p>
            <a:pPr>
              <a:defRPr sz="3100"/>
            </a:pPr>
            <a:r>
              <a:t>Visual programming (e.g. Unreal Blueprint)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1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Wait… why are we doing this?</a:t>
            </a:r>
          </a:p>
        </p:txBody>
      </p:sp>
      <p:sp>
        <p:nvSpPr>
          <p:cNvPr id="81" name="Efficiency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600"/>
            </a:pPr>
            <a:r>
              <a:t>Efficiency?</a:t>
            </a:r>
          </a:p>
          <a:p>
            <a:pPr lvl="1">
              <a:defRPr sz="2600"/>
            </a:pPr>
            <a:r>
              <a:t>Drops barriers for gameplay developers</a:t>
            </a:r>
          </a:p>
          <a:p>
            <a:pPr lvl="1">
              <a:defRPr sz="2600"/>
            </a:pPr>
            <a:r>
              <a:t>Updates on-the-fly without reloading the game</a:t>
            </a:r>
          </a:p>
          <a:p>
            <a:pPr lvl="1">
              <a:defRPr sz="2600"/>
            </a:pPr>
            <a:r>
              <a:t>High level / domain specific script can do more with less</a:t>
            </a:r>
          </a:p>
          <a:p>
            <a:pPr lvl="1">
              <a:defRPr sz="2600"/>
            </a:pPr>
            <a:r>
              <a:t>Memory; script can be easily loaded and unloaded</a:t>
            </a:r>
          </a:p>
          <a:p>
            <a:pPr>
              <a:defRPr sz="2600"/>
            </a:pPr>
            <a:r>
              <a:t>Flexibility?</a:t>
            </a:r>
          </a:p>
          <a:p>
            <a:pPr lvl="1">
              <a:defRPr sz="2600"/>
            </a:pPr>
            <a:r>
              <a:t>Player generated content</a:t>
            </a:r>
          </a:p>
          <a:p>
            <a:pPr lvl="1">
              <a:defRPr sz="2600"/>
            </a:pPr>
            <a:r>
              <a:t>Post-ship functional updates without 1st party approval</a:t>
            </a:r>
          </a:p>
          <a:p>
            <a:pPr>
              <a:defRPr sz="2600"/>
            </a:pPr>
            <a:r>
              <a:t>Robustness?</a:t>
            </a:r>
          </a:p>
          <a:p>
            <a:pPr lvl="1">
              <a:defRPr sz="2600"/>
            </a:pPr>
            <a:r>
              <a:t>Constrained script environment avoids OOM errors, NULL pointers, etc.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1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bject 2"/>
          <p:cNvSpPr txBox="1">
            <a:spLocks noGrp="1"/>
          </p:cNvSpPr>
          <p:nvPr>
            <p:ph type="title"/>
          </p:nvPr>
        </p:nvSpPr>
        <p:spPr>
          <a:xfrm>
            <a:off x="1270000" y="130626"/>
            <a:ext cx="10464800" cy="6734513"/>
          </a:xfrm>
          <a:prstGeom prst="rect">
            <a:avLst/>
          </a:prstGeom>
        </p:spPr>
        <p:txBody>
          <a:bodyPr/>
          <a:lstStyle/>
          <a:p>
            <a:pPr indent="604519">
              <a:lnSpc>
                <a:spcPct val="90000"/>
              </a:lnSpc>
              <a:spcBef>
                <a:spcPts val="600"/>
              </a:spcBef>
              <a:defRPr sz="7200" spc="-400"/>
            </a:pPr>
            <a:r>
              <a:t>So </a:t>
            </a:r>
            <a:r>
              <a:rPr spc="0"/>
              <a:t>a </a:t>
            </a:r>
            <a:r>
              <a:t>good engine </a:t>
            </a:r>
            <a:r>
              <a:rPr spc="0"/>
              <a:t>must </a:t>
            </a:r>
            <a:r>
              <a:t>have </a:t>
            </a:r>
            <a:r>
              <a:rPr spc="0"/>
              <a:t>a scripting</a:t>
            </a:r>
            <a:r>
              <a:t> </a:t>
            </a:r>
            <a:r>
              <a:rPr spc="0"/>
              <a:t>system?</a:t>
            </a:r>
          </a:p>
          <a:p>
            <a:pPr indent="12700">
              <a:lnSpc>
                <a:spcPct val="70000"/>
              </a:lnSpc>
              <a:defRPr sz="28800" spc="-400">
                <a:solidFill>
                  <a:srgbClr val="FF2600"/>
                </a:solidFill>
              </a:defRPr>
            </a:pPr>
            <a:r>
              <a:t>NO</a:t>
            </a:r>
          </a:p>
        </p:txBody>
      </p:sp>
      <p:sp>
        <p:nvSpPr>
          <p:cNvPr id="84" name="A scripting system is complexity. Avoid it unless you really need it.…"/>
          <p:cNvSpPr txBox="1">
            <a:spLocks noGrp="1"/>
          </p:cNvSpPr>
          <p:nvPr>
            <p:ph type="body" sz="half" idx="1"/>
          </p:nvPr>
        </p:nvSpPr>
        <p:spPr>
          <a:xfrm>
            <a:off x="1270000" y="5463146"/>
            <a:ext cx="10464800" cy="3236923"/>
          </a:xfrm>
          <a:prstGeom prst="rect">
            <a:avLst/>
          </a:prstGeom>
        </p:spPr>
        <p:txBody>
          <a:bodyPr/>
          <a:lstStyle/>
          <a:p>
            <a:r>
              <a:t>A scripting system is complexity. Avoid it unless you really need it.</a:t>
            </a:r>
          </a:p>
          <a:p>
            <a:r>
              <a:t>Small teams and small games often don’t need it.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1" build="p" bldLvl="5" animBg="1" advAuto="0"/>
      <p:bldP spid="84" grpId="2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7200" spc="-257"/>
            </a:pPr>
            <a:r>
              <a:t>Some things to </a:t>
            </a:r>
            <a:r>
              <a:rPr spc="0"/>
              <a:t>consider</a:t>
            </a:r>
          </a:p>
        </p:txBody>
      </p:sp>
      <p:sp>
        <p:nvSpPr>
          <p:cNvPr id="87" name="Coroutines &amp; cooperative multithread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4100"/>
            </a:pPr>
            <a:r>
              <a:t>Coroutines &amp; cooperative multithreading</a:t>
            </a:r>
          </a:p>
          <a:p>
            <a:pPr>
              <a:defRPr sz="4100"/>
            </a:pPr>
            <a:r>
              <a:t>Events vs polling</a:t>
            </a:r>
          </a:p>
          <a:p>
            <a:pPr>
              <a:defRPr sz="4100"/>
            </a:pPr>
            <a:r>
              <a:t>Safety</a:t>
            </a:r>
          </a:p>
          <a:p>
            <a:pPr>
              <a:defRPr sz="4100"/>
            </a:pPr>
            <a:r>
              <a:t>Role of script in the engine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1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6400" spc="-228"/>
            </a:lvl1pPr>
          </a:lstStyle>
          <a:p>
            <a:r>
              <a:t>Coroutines &amp; Cooperative  Multithreading</a:t>
            </a:r>
          </a:p>
        </p:txBody>
      </p:sp>
      <p:sp>
        <p:nvSpPr>
          <p:cNvPr id="90" name="object 4"/>
          <p:cNvSpPr txBox="1"/>
          <p:nvPr/>
        </p:nvSpPr>
        <p:spPr>
          <a:xfrm>
            <a:off x="568804" y="2908757"/>
            <a:ext cx="11867192" cy="5434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100"/>
              </a:spcBef>
              <a:defRPr sz="3600" spc="-10"/>
            </a:pPr>
            <a:r>
              <a:t>For example, </a:t>
            </a:r>
            <a:r>
              <a:rPr spc="0"/>
              <a:t>some </a:t>
            </a:r>
            <a:r>
              <a:t>AI</a:t>
            </a:r>
            <a:r>
              <a:rPr spc="-69"/>
              <a:t> </a:t>
            </a:r>
            <a:r>
              <a:rPr spc="0"/>
              <a:t>script:</a:t>
            </a:r>
          </a:p>
          <a:p>
            <a:pPr algn="l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0"/>
          </a:p>
          <a:p>
            <a:pPr marR="2090401" indent="12700" algn="l">
              <a:lnSpc>
                <a:spcPct val="114599"/>
              </a:lnSpc>
              <a:defRPr sz="3600" spc="-10">
                <a:solidFill>
                  <a:srgbClr val="69A84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Initially idle  </a:t>
            </a:r>
            <a:br/>
            <a:r>
              <a:rPr>
                <a:solidFill>
                  <a:srgbClr val="0000FF"/>
                </a:solidFill>
              </a:rPr>
              <a:t>self</a:t>
            </a:r>
            <a:r>
              <a:rPr>
                <a:solidFill>
                  <a:srgbClr val="595959"/>
                </a:solidFill>
              </a:rPr>
              <a:t>.behavior </a:t>
            </a:r>
            <a:r>
              <a:rPr spc="0">
                <a:solidFill>
                  <a:srgbClr val="595959"/>
                </a:solidFill>
              </a:rPr>
              <a:t>=</a:t>
            </a:r>
            <a:r>
              <a:rPr spc="-190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idle</a:t>
            </a:r>
          </a:p>
          <a:p>
            <a:pPr algn="l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solidFill>
                <a:srgbClr val="595959"/>
              </a:solidFill>
            </a:endParaRPr>
          </a:p>
          <a:p>
            <a:pPr marR="9633" indent="12700" algn="l">
              <a:lnSpc>
                <a:spcPct val="114599"/>
              </a:lnSpc>
              <a:defRPr sz="3600" spc="-10">
                <a:solidFill>
                  <a:srgbClr val="69A84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Wait until hurt  </a:t>
            </a:r>
            <a:br/>
            <a:r>
              <a:rPr>
                <a:solidFill>
                  <a:srgbClr val="0000FF"/>
                </a:solidFill>
              </a:rPr>
              <a:t>yield_until</a:t>
            </a:r>
            <a:r>
              <a:rPr>
                <a:solidFill>
                  <a:srgbClr val="595959"/>
                </a:solidFill>
              </a:rPr>
              <a:t>(</a:t>
            </a:r>
            <a:r>
              <a:rPr>
                <a:solidFill>
                  <a:srgbClr val="0000FF"/>
                </a:solidFill>
              </a:rPr>
              <a:t>self</a:t>
            </a:r>
            <a:r>
              <a:rPr>
                <a:solidFill>
                  <a:srgbClr val="595959"/>
                </a:solidFill>
              </a:rPr>
              <a:t>.health </a:t>
            </a:r>
            <a:r>
              <a:rPr spc="0">
                <a:solidFill>
                  <a:srgbClr val="595959"/>
                </a:solidFill>
              </a:rPr>
              <a:t>&lt;</a:t>
            </a:r>
            <a:r>
              <a:rPr spc="-170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1)</a:t>
            </a:r>
          </a:p>
          <a:p>
            <a:pPr algn="l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solidFill>
                <a:srgbClr val="595959"/>
              </a:solidFill>
            </a:endParaRPr>
          </a:p>
          <a:p>
            <a:pPr marR="1570209" indent="12700" algn="l">
              <a:lnSpc>
                <a:spcPct val="114599"/>
              </a:lnSpc>
              <a:defRPr sz="3600" spc="-10">
                <a:solidFill>
                  <a:srgbClr val="69A84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Go on the attack  </a:t>
            </a:r>
            <a:br/>
            <a:r>
              <a:rPr>
                <a:solidFill>
                  <a:srgbClr val="0000FF"/>
                </a:solidFill>
              </a:rPr>
              <a:t>self</a:t>
            </a:r>
            <a:r>
              <a:rPr>
                <a:solidFill>
                  <a:srgbClr val="595959"/>
                </a:solidFill>
              </a:rPr>
              <a:t>.behavior </a:t>
            </a:r>
            <a:r>
              <a:rPr spc="0">
                <a:solidFill>
                  <a:srgbClr val="595959"/>
                </a:solidFill>
              </a:rPr>
              <a:t>=</a:t>
            </a:r>
            <a:r>
              <a:rPr spc="-190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attack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Events vs. polling</a:t>
            </a:r>
          </a:p>
        </p:txBody>
      </p:sp>
      <p:sp>
        <p:nvSpPr>
          <p:cNvPr id="93" name="object 4"/>
          <p:cNvSpPr txBox="1"/>
          <p:nvPr/>
        </p:nvSpPr>
        <p:spPr>
          <a:xfrm>
            <a:off x="501897" y="2692399"/>
            <a:ext cx="12502903" cy="5432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500"/>
              </a:spcBef>
              <a:defRPr sz="3600" spc="-15">
                <a:solidFill>
                  <a:srgbClr val="212121"/>
                </a:solidFill>
              </a:defRPr>
            </a:pPr>
            <a:r>
              <a:t>With</a:t>
            </a:r>
            <a:r>
              <a:rPr spc="-30"/>
              <a:t> </a:t>
            </a:r>
            <a:r>
              <a:t>events:</a:t>
            </a:r>
            <a:br/>
            <a:endParaRPr/>
          </a:p>
          <a:p>
            <a:pPr indent="12700" algn="l">
              <a:spcBef>
                <a:spcPts val="3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on</a:t>
            </a:r>
            <a:r>
              <a:rPr>
                <a:solidFill>
                  <a:srgbClr val="595959"/>
                </a:solidFill>
              </a:rPr>
              <a:t>(health_message</a:t>
            </a:r>
            <a:r>
              <a:rPr spc="-18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msg):</a:t>
            </a:r>
          </a:p>
          <a:p>
            <a:pPr marL="866986" marR="181826" indent="-397721" algn="l">
              <a:lnSpc>
                <a:spcPct val="114599"/>
              </a:lnSpc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</a:t>
            </a:r>
            <a:r>
              <a:rPr>
                <a:solidFill>
                  <a:srgbClr val="595959"/>
                </a:solidFill>
              </a:rPr>
              <a:t>(</a:t>
            </a:r>
            <a:r>
              <a:t>self</a:t>
            </a:r>
            <a:r>
              <a:rPr>
                <a:solidFill>
                  <a:srgbClr val="595959"/>
                </a:solidFill>
              </a:rPr>
              <a:t>.health </a:t>
            </a:r>
            <a:r>
              <a:rPr spc="0">
                <a:solidFill>
                  <a:srgbClr val="595959"/>
                </a:solidFill>
              </a:rPr>
              <a:t>&gt; </a:t>
            </a:r>
            <a:r>
              <a:rPr>
                <a:solidFill>
                  <a:srgbClr val="595959"/>
                </a:solidFill>
              </a:rPr>
              <a:t>0.5 &amp;&amp; msg.health &lt;= 0.5)  </a:t>
            </a:r>
            <a:r>
              <a:t>self</a:t>
            </a:r>
            <a:r>
              <a:rPr>
                <a:solidFill>
                  <a:srgbClr val="595959"/>
                </a:solidFill>
              </a:rPr>
              <a:t>.behavior </a:t>
            </a:r>
            <a:r>
              <a:rPr spc="0">
                <a:solidFill>
                  <a:srgbClr val="595959"/>
                </a:solidFill>
              </a:rPr>
              <a:t>=</a:t>
            </a:r>
            <a:r>
              <a:rPr spc="-36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attack2</a:t>
            </a:r>
          </a:p>
          <a:p>
            <a:pPr indent="12700" algn="l">
              <a:spcBef>
                <a:spcPts val="3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on</a:t>
            </a:r>
            <a:r>
              <a:rPr>
                <a:solidFill>
                  <a:srgbClr val="595959"/>
                </a:solidFill>
              </a:rPr>
              <a:t>(player_near</a:t>
            </a:r>
            <a:r>
              <a:rPr spc="-18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msg):</a:t>
            </a:r>
          </a:p>
          <a:p>
            <a:pPr marL="866986" marR="2782786" indent="-397721" algn="l">
              <a:lnSpc>
                <a:spcPct val="114599"/>
              </a:lnSpc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</a:t>
            </a:r>
            <a:r>
              <a:rPr>
                <a:solidFill>
                  <a:srgbClr val="595959"/>
                </a:solidFill>
              </a:rPr>
              <a:t>(</a:t>
            </a:r>
            <a:r>
              <a:t>self</a:t>
            </a:r>
            <a:r>
              <a:rPr>
                <a:solidFill>
                  <a:srgbClr val="595959"/>
                </a:solidFill>
              </a:rPr>
              <a:t>.behavior == idle)  </a:t>
            </a:r>
            <a:r>
              <a:t>self</a:t>
            </a:r>
            <a:r>
              <a:rPr>
                <a:solidFill>
                  <a:srgbClr val="595959"/>
                </a:solidFill>
              </a:rPr>
              <a:t>.behavior </a:t>
            </a:r>
            <a:r>
              <a:rPr spc="0">
                <a:solidFill>
                  <a:srgbClr val="595959"/>
                </a:solidFill>
              </a:rPr>
              <a:t>=</a:t>
            </a:r>
            <a:r>
              <a:rPr spc="-164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attack1</a:t>
            </a:r>
          </a:p>
          <a:p>
            <a:pPr algn="l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solidFill>
                <a:srgbClr val="595959"/>
              </a:solidFill>
            </a:endParaRPr>
          </a:p>
          <a:p>
            <a:pPr indent="12700" algn="l">
              <a:defRPr sz="3600" spc="-15"/>
            </a:pPr>
            <a:r>
              <a:t>With</a:t>
            </a:r>
            <a:r>
              <a:rPr spc="-300"/>
              <a:t> </a:t>
            </a:r>
            <a:r>
              <a:t>polling:</a:t>
            </a:r>
            <a:br/>
            <a:endParaRPr/>
          </a:p>
          <a:p>
            <a:pPr indent="12700" algn="l">
              <a:spcBef>
                <a:spcPts val="300"/>
              </a:spcBef>
              <a:defRPr sz="2200" spc="-9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update():</a:t>
            </a:r>
          </a:p>
          <a:p>
            <a:pPr marL="866986" marR="181826" indent="-397721" algn="l">
              <a:lnSpc>
                <a:spcPct val="114599"/>
              </a:lnSpc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</a:t>
            </a:r>
            <a:r>
              <a:rPr>
                <a:solidFill>
                  <a:srgbClr val="595959"/>
                </a:solidFill>
              </a:rPr>
              <a:t>(</a:t>
            </a:r>
            <a:r>
              <a:t>self</a:t>
            </a:r>
            <a:r>
              <a:rPr>
                <a:solidFill>
                  <a:srgbClr val="595959"/>
                </a:solidFill>
              </a:rPr>
              <a:t>.behavior == idle &amp;&amp; player_near())  </a:t>
            </a:r>
            <a:r>
              <a:t>self</a:t>
            </a:r>
            <a:r>
              <a:rPr>
                <a:solidFill>
                  <a:srgbClr val="595959"/>
                </a:solidFill>
              </a:rPr>
              <a:t>.behavior </a:t>
            </a:r>
            <a:r>
              <a:rPr spc="0">
                <a:solidFill>
                  <a:srgbClr val="595959"/>
                </a:solidFill>
              </a:rPr>
              <a:t>=</a:t>
            </a:r>
            <a:r>
              <a:rPr spc="-36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attack1</a:t>
            </a:r>
          </a:p>
          <a:p>
            <a:pPr marL="866986" marR="9633" indent="-397721" algn="l">
              <a:lnSpc>
                <a:spcPct val="114599"/>
              </a:lnSpc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</a:t>
            </a:r>
            <a:r>
              <a:rPr>
                <a:solidFill>
                  <a:srgbClr val="595959"/>
                </a:solidFill>
              </a:rPr>
              <a:t>(</a:t>
            </a:r>
            <a:r>
              <a:t>self</a:t>
            </a:r>
            <a:r>
              <a:rPr>
                <a:solidFill>
                  <a:srgbClr val="595959"/>
                </a:solidFill>
              </a:rPr>
              <a:t>.health &lt;= 0.5 &amp;&amp; last_health </a:t>
            </a:r>
            <a:r>
              <a:rPr spc="0">
                <a:solidFill>
                  <a:srgbClr val="595959"/>
                </a:solidFill>
              </a:rPr>
              <a:t>&gt; </a:t>
            </a:r>
            <a:r>
              <a:rPr>
                <a:solidFill>
                  <a:srgbClr val="595959"/>
                </a:solidFill>
              </a:rPr>
              <a:t>0.5)  </a:t>
            </a:r>
            <a:r>
              <a:t>self</a:t>
            </a:r>
            <a:r>
              <a:rPr>
                <a:solidFill>
                  <a:srgbClr val="595959"/>
                </a:solidFill>
              </a:rPr>
              <a:t>.behavior </a:t>
            </a:r>
            <a:r>
              <a:rPr spc="0">
                <a:solidFill>
                  <a:srgbClr val="595959"/>
                </a:solidFill>
              </a:rPr>
              <a:t>=</a:t>
            </a:r>
            <a:r>
              <a:rPr spc="-27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attack2</a:t>
            </a:r>
          </a:p>
          <a:p>
            <a:pPr indent="469265" algn="l">
              <a:spcBef>
                <a:spcPts val="300"/>
              </a:spcBef>
              <a:defRPr sz="2200" spc="-9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last_health </a:t>
            </a:r>
            <a:r>
              <a:rPr spc="0"/>
              <a:t>=</a:t>
            </a:r>
            <a:r>
              <a:rPr spc="-18"/>
              <a:t> </a:t>
            </a:r>
            <a:r>
              <a:rPr>
                <a:solidFill>
                  <a:srgbClr val="0000FF"/>
                </a:solidFill>
              </a:rPr>
              <a:t>self</a:t>
            </a:r>
            <a:r>
              <a:t>.health</a:t>
            </a:r>
          </a:p>
        </p:txBody>
      </p:sp>
      <p:sp>
        <p:nvSpPr>
          <p:cNvPr id="94" name="http://gameprogrammingpatterns.com/observer.html"/>
          <p:cNvSpPr txBox="1"/>
          <p:nvPr/>
        </p:nvSpPr>
        <p:spPr>
          <a:xfrm>
            <a:off x="627205" y="8559799"/>
            <a:ext cx="11750390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http://gameprogrammingpatterns.com/observer.html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Safety</a:t>
            </a:r>
          </a:p>
        </p:txBody>
      </p:sp>
      <p:sp>
        <p:nvSpPr>
          <p:cNvPr id="97" name="Permit memory allocation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4500"/>
            </a:pPr>
            <a:r>
              <a:t>Permit memory allocation?</a:t>
            </a:r>
          </a:p>
          <a:p>
            <a:pPr>
              <a:defRPr sz="4500"/>
            </a:pPr>
            <a:r>
              <a:t>Permit loops?</a:t>
            </a:r>
          </a:p>
          <a:p>
            <a:pPr>
              <a:defRPr sz="4500"/>
            </a:pPr>
            <a:r>
              <a:t>Invalidating references to objects?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1" build="p" bldLvl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Role of Script in the Engine</a:t>
            </a:r>
          </a:p>
        </p:txBody>
      </p:sp>
      <p:sp>
        <p:nvSpPr>
          <p:cNvPr id="100" name="Range of responsibility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Range of responsibility:</a:t>
            </a:r>
          </a:p>
          <a:p>
            <a:r>
              <a:t>Scripts are components on  entities – extend interfaces</a:t>
            </a:r>
          </a:p>
          <a:p>
            <a:r>
              <a:t>Scripts implement game state  machine – own main loop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1" build="p" bldLvl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Parsers and Generators</a:t>
            </a:r>
          </a:p>
        </p:txBody>
      </p:sp>
      <p:sp>
        <p:nvSpPr>
          <p:cNvPr id="103" name="object 3"/>
          <p:cNvSpPr txBox="1"/>
          <p:nvPr/>
        </p:nvSpPr>
        <p:spPr>
          <a:xfrm>
            <a:off x="547162" y="2644328"/>
            <a:ext cx="841834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>
              <a:spcBef>
                <a:spcPts val="100"/>
              </a:spcBef>
            </a:pPr>
            <a:r>
              <a:t>A compiler </a:t>
            </a:r>
            <a:r>
              <a:rPr spc="-11"/>
              <a:t>for text based</a:t>
            </a:r>
            <a:r>
              <a:rPr spc="-233"/>
              <a:t> </a:t>
            </a:r>
            <a:r>
              <a:rPr spc="-11"/>
              <a:t>language...</a:t>
            </a:r>
          </a:p>
        </p:txBody>
      </p:sp>
      <p:sp>
        <p:nvSpPr>
          <p:cNvPr id="104" name="object 4"/>
          <p:cNvSpPr/>
          <p:nvPr/>
        </p:nvSpPr>
        <p:spPr>
          <a:xfrm>
            <a:off x="607655" y="5592936"/>
            <a:ext cx="1925970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2" y="21600"/>
                </a:move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close/>
              </a:path>
            </a:pathLst>
          </a:custGeom>
          <a:solidFill>
            <a:srgbClr val="DF666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05" name="object 5"/>
          <p:cNvSpPr/>
          <p:nvPr/>
        </p:nvSpPr>
        <p:spPr>
          <a:xfrm>
            <a:off x="607655" y="5592936"/>
            <a:ext cx="1925970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06" name="object 6"/>
          <p:cNvSpPr txBox="1"/>
          <p:nvPr/>
        </p:nvSpPr>
        <p:spPr>
          <a:xfrm>
            <a:off x="775311" y="5730405"/>
            <a:ext cx="1509100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>
              <a:spcBef>
                <a:spcPts val="100"/>
              </a:spcBef>
              <a:defRPr sz="2600" spc="-9"/>
            </a:pPr>
            <a:r>
              <a:t>Source</a:t>
            </a:r>
            <a:r>
              <a:rPr spc="-148"/>
              <a:t> </a:t>
            </a:r>
            <a:r>
              <a:rPr spc="0"/>
              <a:t>script</a:t>
            </a:r>
          </a:p>
        </p:txBody>
      </p:sp>
      <p:sp>
        <p:nvSpPr>
          <p:cNvPr id="107" name="object 7"/>
          <p:cNvSpPr/>
          <p:nvPr/>
        </p:nvSpPr>
        <p:spPr>
          <a:xfrm>
            <a:off x="3107525" y="5592936"/>
            <a:ext cx="1925972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2" y="21600"/>
                </a:move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close/>
              </a:path>
            </a:pathLst>
          </a:custGeom>
          <a:solidFill>
            <a:srgbClr val="6D9E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08" name="object 8"/>
          <p:cNvSpPr/>
          <p:nvPr/>
        </p:nvSpPr>
        <p:spPr>
          <a:xfrm>
            <a:off x="3107525" y="5592936"/>
            <a:ext cx="1925972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09" name="object 9"/>
          <p:cNvSpPr txBox="1"/>
          <p:nvPr/>
        </p:nvSpPr>
        <p:spPr>
          <a:xfrm>
            <a:off x="3271239" y="5914555"/>
            <a:ext cx="150910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600" spc="-9"/>
            </a:lvl1pPr>
          </a:lstStyle>
          <a:p>
            <a:r>
              <a:t>Lexer</a:t>
            </a:r>
          </a:p>
        </p:txBody>
      </p:sp>
      <p:sp>
        <p:nvSpPr>
          <p:cNvPr id="110" name="object 10"/>
          <p:cNvSpPr/>
          <p:nvPr/>
        </p:nvSpPr>
        <p:spPr>
          <a:xfrm>
            <a:off x="5607396" y="5592936"/>
            <a:ext cx="1925972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2" y="21600"/>
                </a:move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close/>
              </a:path>
            </a:pathLst>
          </a:custGeom>
          <a:solidFill>
            <a:srgbClr val="6D9E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11" name="object 11"/>
          <p:cNvSpPr/>
          <p:nvPr/>
        </p:nvSpPr>
        <p:spPr>
          <a:xfrm>
            <a:off x="5607395" y="5592936"/>
            <a:ext cx="1925972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12" name="object 12"/>
          <p:cNvSpPr txBox="1"/>
          <p:nvPr/>
        </p:nvSpPr>
        <p:spPr>
          <a:xfrm>
            <a:off x="5763696" y="5914555"/>
            <a:ext cx="157151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600" spc="-9"/>
            </a:lvl1pPr>
          </a:lstStyle>
          <a:p>
            <a:r>
              <a:t>Parser</a:t>
            </a:r>
          </a:p>
        </p:txBody>
      </p:sp>
      <p:sp>
        <p:nvSpPr>
          <p:cNvPr id="113" name="object 13"/>
          <p:cNvSpPr/>
          <p:nvPr/>
        </p:nvSpPr>
        <p:spPr>
          <a:xfrm>
            <a:off x="6869936" y="7079689"/>
            <a:ext cx="1925972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2" y="21600"/>
                </a:move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close/>
              </a:path>
            </a:pathLst>
          </a:custGeom>
          <a:solidFill>
            <a:srgbClr val="93C37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14" name="object 14"/>
          <p:cNvSpPr/>
          <p:nvPr/>
        </p:nvSpPr>
        <p:spPr>
          <a:xfrm>
            <a:off x="6869936" y="7079689"/>
            <a:ext cx="1925972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15" name="object 15"/>
          <p:cNvSpPr txBox="1"/>
          <p:nvPr/>
        </p:nvSpPr>
        <p:spPr>
          <a:xfrm>
            <a:off x="7264234" y="7395662"/>
            <a:ext cx="1137375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600" spc="-9"/>
            </a:lvl1pPr>
          </a:lstStyle>
          <a:p>
            <a:r>
              <a:t>AST</a:t>
            </a:r>
          </a:p>
        </p:txBody>
      </p:sp>
      <p:sp>
        <p:nvSpPr>
          <p:cNvPr id="116" name="object 16"/>
          <p:cNvSpPr/>
          <p:nvPr/>
        </p:nvSpPr>
        <p:spPr>
          <a:xfrm>
            <a:off x="9135247" y="7079689"/>
            <a:ext cx="1999357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66" y="21600"/>
                </a:moveTo>
                <a:lnTo>
                  <a:pt x="1934" y="21600"/>
                </a:lnTo>
                <a:lnTo>
                  <a:pt x="1182" y="21317"/>
                </a:lnTo>
                <a:lnTo>
                  <a:pt x="567" y="20546"/>
                </a:lnTo>
                <a:lnTo>
                  <a:pt x="152" y="19401"/>
                </a:lnTo>
                <a:lnTo>
                  <a:pt x="0" y="18000"/>
                </a:lnTo>
                <a:lnTo>
                  <a:pt x="0" y="3600"/>
                </a:lnTo>
                <a:lnTo>
                  <a:pt x="152" y="2199"/>
                </a:lnTo>
                <a:lnTo>
                  <a:pt x="567" y="1054"/>
                </a:lnTo>
                <a:lnTo>
                  <a:pt x="1182" y="283"/>
                </a:lnTo>
                <a:lnTo>
                  <a:pt x="1934" y="0"/>
                </a:lnTo>
                <a:lnTo>
                  <a:pt x="19666" y="0"/>
                </a:lnTo>
                <a:lnTo>
                  <a:pt x="20406" y="274"/>
                </a:lnTo>
                <a:lnTo>
                  <a:pt x="21033" y="1054"/>
                </a:lnTo>
                <a:lnTo>
                  <a:pt x="21453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8" y="19401"/>
                </a:lnTo>
                <a:lnTo>
                  <a:pt x="21033" y="20546"/>
                </a:lnTo>
                <a:lnTo>
                  <a:pt x="20418" y="21317"/>
                </a:lnTo>
                <a:lnTo>
                  <a:pt x="19666" y="21600"/>
                </a:lnTo>
                <a:close/>
              </a:path>
            </a:pathLst>
          </a:custGeom>
          <a:solidFill>
            <a:srgbClr val="93C37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17" name="object 17"/>
          <p:cNvSpPr/>
          <p:nvPr/>
        </p:nvSpPr>
        <p:spPr>
          <a:xfrm>
            <a:off x="9135247" y="7079689"/>
            <a:ext cx="1999357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52" y="2199"/>
                </a:lnTo>
                <a:lnTo>
                  <a:pt x="567" y="1054"/>
                </a:lnTo>
                <a:lnTo>
                  <a:pt x="1182" y="283"/>
                </a:lnTo>
                <a:lnTo>
                  <a:pt x="1934" y="0"/>
                </a:lnTo>
                <a:lnTo>
                  <a:pt x="19666" y="0"/>
                </a:lnTo>
                <a:lnTo>
                  <a:pt x="20406" y="274"/>
                </a:lnTo>
                <a:lnTo>
                  <a:pt x="21033" y="1054"/>
                </a:lnTo>
                <a:lnTo>
                  <a:pt x="21453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8" y="19401"/>
                </a:lnTo>
                <a:lnTo>
                  <a:pt x="21033" y="20546"/>
                </a:lnTo>
                <a:lnTo>
                  <a:pt x="20418" y="21317"/>
                </a:lnTo>
                <a:lnTo>
                  <a:pt x="19666" y="21600"/>
                </a:lnTo>
                <a:lnTo>
                  <a:pt x="1934" y="21600"/>
                </a:lnTo>
                <a:lnTo>
                  <a:pt x="1182" y="21317"/>
                </a:lnTo>
                <a:lnTo>
                  <a:pt x="567" y="20546"/>
                </a:lnTo>
                <a:lnTo>
                  <a:pt x="152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18" name="object 18"/>
          <p:cNvSpPr txBox="1"/>
          <p:nvPr/>
        </p:nvSpPr>
        <p:spPr>
          <a:xfrm>
            <a:off x="9063621" y="7192387"/>
            <a:ext cx="2142608" cy="77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R="9633" indent="12700">
              <a:lnSpc>
                <a:spcPts val="3000"/>
              </a:lnSpc>
              <a:spcBef>
                <a:spcPts val="100"/>
              </a:spcBef>
              <a:defRPr sz="2600" spc="-9"/>
            </a:pPr>
            <a:r>
              <a:t>Scope tree</a:t>
            </a:r>
            <a:r>
              <a:rPr spc="-176"/>
              <a:t> </a:t>
            </a:r>
            <a:r>
              <a:rPr spc="0"/>
              <a:t>&amp;  </a:t>
            </a:r>
            <a:r>
              <a:t>Symbol</a:t>
            </a:r>
            <a:r>
              <a:rPr spc="-176"/>
              <a:t> </a:t>
            </a:r>
            <a:r>
              <a:t>table</a:t>
            </a:r>
          </a:p>
        </p:txBody>
      </p:sp>
      <p:sp>
        <p:nvSpPr>
          <p:cNvPr id="119" name="object 19"/>
          <p:cNvSpPr/>
          <p:nvPr/>
        </p:nvSpPr>
        <p:spPr>
          <a:xfrm>
            <a:off x="3107525" y="4106148"/>
            <a:ext cx="1925972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2" y="21600"/>
                </a:move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close/>
              </a:path>
            </a:pathLst>
          </a:custGeom>
          <a:solidFill>
            <a:srgbClr val="DF666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20" name="object 20"/>
          <p:cNvSpPr/>
          <p:nvPr/>
        </p:nvSpPr>
        <p:spPr>
          <a:xfrm>
            <a:off x="3107525" y="4106148"/>
            <a:ext cx="1925972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21" name="object 21"/>
          <p:cNvSpPr txBox="1"/>
          <p:nvPr/>
        </p:nvSpPr>
        <p:spPr>
          <a:xfrm>
            <a:off x="3138812" y="4229825"/>
            <a:ext cx="1863397" cy="77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R="9633" indent="12700">
              <a:lnSpc>
                <a:spcPts val="3000"/>
              </a:lnSpc>
              <a:spcBef>
                <a:spcPts val="100"/>
              </a:spcBef>
              <a:defRPr sz="2600" spc="-9"/>
            </a:pPr>
            <a:r>
              <a:t>Keywords</a:t>
            </a:r>
            <a:r>
              <a:rPr spc="-176"/>
              <a:t> </a:t>
            </a:r>
            <a:r>
              <a:rPr spc="0"/>
              <a:t>&amp;  </a:t>
            </a:r>
            <a:r>
              <a:t>punctuators</a:t>
            </a:r>
          </a:p>
        </p:txBody>
      </p:sp>
      <p:sp>
        <p:nvSpPr>
          <p:cNvPr id="122" name="object 22"/>
          <p:cNvSpPr/>
          <p:nvPr/>
        </p:nvSpPr>
        <p:spPr>
          <a:xfrm>
            <a:off x="5607396" y="4106165"/>
            <a:ext cx="1925972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2" y="21600"/>
                </a:move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close/>
              </a:path>
            </a:pathLst>
          </a:custGeom>
          <a:solidFill>
            <a:srgbClr val="DF666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23" name="object 23"/>
          <p:cNvSpPr/>
          <p:nvPr/>
        </p:nvSpPr>
        <p:spPr>
          <a:xfrm>
            <a:off x="5607395" y="4106165"/>
            <a:ext cx="1925972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24" name="object 24"/>
          <p:cNvSpPr txBox="1"/>
          <p:nvPr/>
        </p:nvSpPr>
        <p:spPr>
          <a:xfrm>
            <a:off x="5763696" y="4433100"/>
            <a:ext cx="157151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600" spc="-9"/>
            </a:lvl1pPr>
          </a:lstStyle>
          <a:p>
            <a:r>
              <a:t>Grammar</a:t>
            </a:r>
          </a:p>
        </p:txBody>
      </p:sp>
      <p:sp>
        <p:nvSpPr>
          <p:cNvPr id="125" name="object 25"/>
          <p:cNvSpPr/>
          <p:nvPr/>
        </p:nvSpPr>
        <p:spPr>
          <a:xfrm>
            <a:off x="8039285" y="5592936"/>
            <a:ext cx="1925971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2" y="21600"/>
                </a:move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close/>
              </a:path>
            </a:pathLst>
          </a:custGeom>
          <a:solidFill>
            <a:srgbClr val="6D9E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26" name="object 26"/>
          <p:cNvSpPr/>
          <p:nvPr/>
        </p:nvSpPr>
        <p:spPr>
          <a:xfrm>
            <a:off x="8039285" y="5592936"/>
            <a:ext cx="1925971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27" name="object 27"/>
          <p:cNvSpPr txBox="1"/>
          <p:nvPr/>
        </p:nvSpPr>
        <p:spPr>
          <a:xfrm>
            <a:off x="8179745" y="5914555"/>
            <a:ext cx="1571517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600" spc="-9"/>
            </a:lvl1pPr>
          </a:lstStyle>
          <a:p>
            <a:r>
              <a:t>Translator</a:t>
            </a:r>
          </a:p>
        </p:txBody>
      </p:sp>
      <p:sp>
        <p:nvSpPr>
          <p:cNvPr id="128" name="object 28"/>
          <p:cNvSpPr/>
          <p:nvPr/>
        </p:nvSpPr>
        <p:spPr>
          <a:xfrm>
            <a:off x="10471174" y="5592936"/>
            <a:ext cx="1925971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2" y="21600"/>
                </a:move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close/>
              </a:path>
            </a:pathLst>
          </a:custGeom>
          <a:solidFill>
            <a:srgbClr val="93C37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29" name="object 29"/>
          <p:cNvSpPr/>
          <p:nvPr/>
        </p:nvSpPr>
        <p:spPr>
          <a:xfrm>
            <a:off x="10471174" y="5592936"/>
            <a:ext cx="1925971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30" name="object 30"/>
          <p:cNvSpPr txBox="1"/>
          <p:nvPr/>
        </p:nvSpPr>
        <p:spPr>
          <a:xfrm>
            <a:off x="10627482" y="5914555"/>
            <a:ext cx="1613355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600" spc="-9"/>
            </a:lvl1pPr>
          </a:lstStyle>
          <a:p>
            <a:r>
              <a:t>Bytecode</a:t>
            </a:r>
          </a:p>
        </p:txBody>
      </p:sp>
      <p:sp>
        <p:nvSpPr>
          <p:cNvPr id="131" name="object 31"/>
          <p:cNvSpPr/>
          <p:nvPr/>
        </p:nvSpPr>
        <p:spPr>
          <a:xfrm>
            <a:off x="2533624" y="5977361"/>
            <a:ext cx="573866" cy="305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851" y="21600"/>
                </a:moveTo>
                <a:lnTo>
                  <a:pt x="15851" y="16200"/>
                </a:lnTo>
                <a:lnTo>
                  <a:pt x="0" y="16200"/>
                </a:lnTo>
                <a:lnTo>
                  <a:pt x="0" y="5400"/>
                </a:lnTo>
                <a:lnTo>
                  <a:pt x="15851" y="5400"/>
                </a:lnTo>
                <a:lnTo>
                  <a:pt x="15851" y="0"/>
                </a:lnTo>
                <a:lnTo>
                  <a:pt x="21600" y="10800"/>
                </a:lnTo>
                <a:lnTo>
                  <a:pt x="15851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32" name="object 32"/>
          <p:cNvSpPr/>
          <p:nvPr/>
        </p:nvSpPr>
        <p:spPr>
          <a:xfrm>
            <a:off x="2533624" y="5977361"/>
            <a:ext cx="573866" cy="305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15851" y="5400"/>
                </a:lnTo>
                <a:lnTo>
                  <a:pt x="15851" y="0"/>
                </a:lnTo>
                <a:lnTo>
                  <a:pt x="21600" y="10800"/>
                </a:lnTo>
                <a:lnTo>
                  <a:pt x="15851" y="21600"/>
                </a:lnTo>
                <a:lnTo>
                  <a:pt x="15851" y="162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33" name="object 33"/>
          <p:cNvSpPr/>
          <p:nvPr/>
        </p:nvSpPr>
        <p:spPr>
          <a:xfrm>
            <a:off x="5033530" y="5977361"/>
            <a:ext cx="573866" cy="305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851" y="21600"/>
                </a:moveTo>
                <a:lnTo>
                  <a:pt x="15851" y="16200"/>
                </a:lnTo>
                <a:lnTo>
                  <a:pt x="0" y="16200"/>
                </a:lnTo>
                <a:lnTo>
                  <a:pt x="0" y="5400"/>
                </a:lnTo>
                <a:lnTo>
                  <a:pt x="15851" y="5400"/>
                </a:lnTo>
                <a:lnTo>
                  <a:pt x="15851" y="0"/>
                </a:lnTo>
                <a:lnTo>
                  <a:pt x="21600" y="10800"/>
                </a:lnTo>
                <a:lnTo>
                  <a:pt x="15851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34" name="object 34"/>
          <p:cNvSpPr/>
          <p:nvPr/>
        </p:nvSpPr>
        <p:spPr>
          <a:xfrm>
            <a:off x="5033530" y="5977361"/>
            <a:ext cx="573866" cy="305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15851" y="5400"/>
                </a:lnTo>
                <a:lnTo>
                  <a:pt x="15851" y="0"/>
                </a:lnTo>
                <a:lnTo>
                  <a:pt x="21600" y="10800"/>
                </a:lnTo>
                <a:lnTo>
                  <a:pt x="15851" y="21600"/>
                </a:lnTo>
                <a:lnTo>
                  <a:pt x="15851" y="162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35" name="object 35"/>
          <p:cNvSpPr/>
          <p:nvPr/>
        </p:nvSpPr>
        <p:spPr>
          <a:xfrm>
            <a:off x="7533437" y="5977361"/>
            <a:ext cx="506027" cy="305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080" y="21600"/>
                </a:moveTo>
                <a:lnTo>
                  <a:pt x="15080" y="16200"/>
                </a:lnTo>
                <a:lnTo>
                  <a:pt x="0" y="16200"/>
                </a:lnTo>
                <a:lnTo>
                  <a:pt x="0" y="5400"/>
                </a:lnTo>
                <a:lnTo>
                  <a:pt x="15080" y="5400"/>
                </a:lnTo>
                <a:lnTo>
                  <a:pt x="15080" y="0"/>
                </a:lnTo>
                <a:lnTo>
                  <a:pt x="21600" y="10800"/>
                </a:lnTo>
                <a:lnTo>
                  <a:pt x="15080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36" name="object 36"/>
          <p:cNvSpPr/>
          <p:nvPr/>
        </p:nvSpPr>
        <p:spPr>
          <a:xfrm>
            <a:off x="7533437" y="5977361"/>
            <a:ext cx="506027" cy="305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15080" y="5400"/>
                </a:lnTo>
                <a:lnTo>
                  <a:pt x="15080" y="0"/>
                </a:lnTo>
                <a:lnTo>
                  <a:pt x="21600" y="10800"/>
                </a:lnTo>
                <a:lnTo>
                  <a:pt x="15080" y="21600"/>
                </a:lnTo>
                <a:lnTo>
                  <a:pt x="15080" y="162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37" name="object 37"/>
          <p:cNvSpPr/>
          <p:nvPr/>
        </p:nvSpPr>
        <p:spPr>
          <a:xfrm>
            <a:off x="9965504" y="5977361"/>
            <a:ext cx="506028" cy="305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080" y="21600"/>
                </a:moveTo>
                <a:lnTo>
                  <a:pt x="15080" y="16200"/>
                </a:lnTo>
                <a:lnTo>
                  <a:pt x="0" y="16200"/>
                </a:lnTo>
                <a:lnTo>
                  <a:pt x="0" y="5400"/>
                </a:lnTo>
                <a:lnTo>
                  <a:pt x="15080" y="5400"/>
                </a:lnTo>
                <a:lnTo>
                  <a:pt x="15080" y="0"/>
                </a:lnTo>
                <a:lnTo>
                  <a:pt x="21600" y="10800"/>
                </a:lnTo>
                <a:lnTo>
                  <a:pt x="15080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38" name="object 38"/>
          <p:cNvSpPr/>
          <p:nvPr/>
        </p:nvSpPr>
        <p:spPr>
          <a:xfrm>
            <a:off x="9965504" y="5977361"/>
            <a:ext cx="506028" cy="305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15080" y="5400"/>
                </a:lnTo>
                <a:lnTo>
                  <a:pt x="15080" y="0"/>
                </a:lnTo>
                <a:lnTo>
                  <a:pt x="21600" y="10800"/>
                </a:lnTo>
                <a:lnTo>
                  <a:pt x="15080" y="21600"/>
                </a:lnTo>
                <a:lnTo>
                  <a:pt x="15080" y="162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grpSp>
        <p:nvGrpSpPr>
          <p:cNvPr id="141" name="object 39"/>
          <p:cNvGrpSpPr/>
          <p:nvPr/>
        </p:nvGrpSpPr>
        <p:grpSpPr>
          <a:xfrm>
            <a:off x="3945497" y="5189596"/>
            <a:ext cx="250028" cy="394241"/>
            <a:chOff x="0" y="0"/>
            <a:chExt cx="250026" cy="394239"/>
          </a:xfrm>
        </p:grpSpPr>
        <p:sp>
          <p:nvSpPr>
            <p:cNvPr id="139" name="Rectangle"/>
            <p:cNvSpPr/>
            <p:nvPr/>
          </p:nvSpPr>
          <p:spPr>
            <a:xfrm>
              <a:off x="62505" y="0"/>
              <a:ext cx="125015" cy="269227"/>
            </a:xfrm>
            <a:prstGeom prst="rect">
              <a:avLst/>
            </a:pr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  <p:sp>
          <p:nvSpPr>
            <p:cNvPr id="140" name="Triangle"/>
            <p:cNvSpPr/>
            <p:nvPr/>
          </p:nvSpPr>
          <p:spPr>
            <a:xfrm>
              <a:off x="0" y="269226"/>
              <a:ext cx="250027" cy="125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</p:grpSp>
      <p:sp>
        <p:nvSpPr>
          <p:cNvPr id="142" name="object 40"/>
          <p:cNvSpPr/>
          <p:nvPr/>
        </p:nvSpPr>
        <p:spPr>
          <a:xfrm>
            <a:off x="3945497" y="5189596"/>
            <a:ext cx="250028" cy="394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4751"/>
                </a:moveTo>
                <a:lnTo>
                  <a:pt x="5400" y="14751"/>
                </a:lnTo>
                <a:lnTo>
                  <a:pt x="5400" y="0"/>
                </a:lnTo>
                <a:lnTo>
                  <a:pt x="16200" y="0"/>
                </a:lnTo>
                <a:lnTo>
                  <a:pt x="16200" y="14751"/>
                </a:lnTo>
                <a:lnTo>
                  <a:pt x="21600" y="14751"/>
                </a:lnTo>
                <a:lnTo>
                  <a:pt x="10800" y="21600"/>
                </a:lnTo>
                <a:lnTo>
                  <a:pt x="0" y="14751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grpSp>
        <p:nvGrpSpPr>
          <p:cNvPr id="145" name="object 41"/>
          <p:cNvGrpSpPr/>
          <p:nvPr/>
        </p:nvGrpSpPr>
        <p:grpSpPr>
          <a:xfrm>
            <a:off x="6445367" y="5189613"/>
            <a:ext cx="250026" cy="394222"/>
            <a:chOff x="0" y="0"/>
            <a:chExt cx="250025" cy="394221"/>
          </a:xfrm>
        </p:grpSpPr>
        <p:sp>
          <p:nvSpPr>
            <p:cNvPr id="143" name="Rectangle"/>
            <p:cNvSpPr/>
            <p:nvPr/>
          </p:nvSpPr>
          <p:spPr>
            <a:xfrm>
              <a:off x="62505" y="0"/>
              <a:ext cx="125014" cy="269245"/>
            </a:xfrm>
            <a:prstGeom prst="rect">
              <a:avLst/>
            </a:pr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  <p:sp>
          <p:nvSpPr>
            <p:cNvPr id="144" name="Triangle"/>
            <p:cNvSpPr/>
            <p:nvPr/>
          </p:nvSpPr>
          <p:spPr>
            <a:xfrm>
              <a:off x="0" y="269244"/>
              <a:ext cx="250026" cy="124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</p:grpSp>
      <p:sp>
        <p:nvSpPr>
          <p:cNvPr id="146" name="object 42"/>
          <p:cNvSpPr/>
          <p:nvPr/>
        </p:nvSpPr>
        <p:spPr>
          <a:xfrm>
            <a:off x="6445367" y="5189613"/>
            <a:ext cx="250026" cy="394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4752"/>
                </a:moveTo>
                <a:lnTo>
                  <a:pt x="5400" y="14752"/>
                </a:lnTo>
                <a:lnTo>
                  <a:pt x="5400" y="0"/>
                </a:lnTo>
                <a:lnTo>
                  <a:pt x="16200" y="0"/>
                </a:lnTo>
                <a:lnTo>
                  <a:pt x="16200" y="14752"/>
                </a:lnTo>
                <a:lnTo>
                  <a:pt x="21600" y="14752"/>
                </a:lnTo>
                <a:lnTo>
                  <a:pt x="10800" y="21600"/>
                </a:lnTo>
                <a:lnTo>
                  <a:pt x="0" y="14752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grpSp>
        <p:nvGrpSpPr>
          <p:cNvPr id="149" name="object 43"/>
          <p:cNvGrpSpPr/>
          <p:nvPr/>
        </p:nvGrpSpPr>
        <p:grpSpPr>
          <a:xfrm>
            <a:off x="7078823" y="6667282"/>
            <a:ext cx="250026" cy="412586"/>
            <a:chOff x="0" y="0"/>
            <a:chExt cx="250025" cy="412585"/>
          </a:xfrm>
        </p:grpSpPr>
        <p:sp>
          <p:nvSpPr>
            <p:cNvPr id="147" name="Rectangle"/>
            <p:cNvSpPr/>
            <p:nvPr/>
          </p:nvSpPr>
          <p:spPr>
            <a:xfrm>
              <a:off x="62505" y="-1"/>
              <a:ext cx="125014" cy="287573"/>
            </a:xfrm>
            <a:prstGeom prst="rect">
              <a:avLst/>
            </a:pr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  <p:sp>
          <p:nvSpPr>
            <p:cNvPr id="148" name="Triangle"/>
            <p:cNvSpPr/>
            <p:nvPr/>
          </p:nvSpPr>
          <p:spPr>
            <a:xfrm>
              <a:off x="-1" y="287571"/>
              <a:ext cx="250027" cy="125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</p:grpSp>
      <p:sp>
        <p:nvSpPr>
          <p:cNvPr id="150" name="object 44"/>
          <p:cNvSpPr/>
          <p:nvPr/>
        </p:nvSpPr>
        <p:spPr>
          <a:xfrm>
            <a:off x="7078823" y="6667282"/>
            <a:ext cx="250026" cy="412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5055"/>
                </a:moveTo>
                <a:lnTo>
                  <a:pt x="5400" y="15055"/>
                </a:lnTo>
                <a:lnTo>
                  <a:pt x="5400" y="0"/>
                </a:lnTo>
                <a:lnTo>
                  <a:pt x="16200" y="0"/>
                </a:lnTo>
                <a:lnTo>
                  <a:pt x="16200" y="15055"/>
                </a:lnTo>
                <a:lnTo>
                  <a:pt x="21600" y="15055"/>
                </a:lnTo>
                <a:lnTo>
                  <a:pt x="10800" y="21600"/>
                </a:lnTo>
                <a:lnTo>
                  <a:pt x="0" y="15055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grpSp>
        <p:nvGrpSpPr>
          <p:cNvPr id="153" name="object 45"/>
          <p:cNvGrpSpPr/>
          <p:nvPr/>
        </p:nvGrpSpPr>
        <p:grpSpPr>
          <a:xfrm>
            <a:off x="8360423" y="6667282"/>
            <a:ext cx="250026" cy="412586"/>
            <a:chOff x="0" y="0"/>
            <a:chExt cx="250025" cy="412585"/>
          </a:xfrm>
        </p:grpSpPr>
        <p:sp>
          <p:nvSpPr>
            <p:cNvPr id="151" name="Triangle"/>
            <p:cNvSpPr/>
            <p:nvPr/>
          </p:nvSpPr>
          <p:spPr>
            <a:xfrm>
              <a:off x="-1" y="-1"/>
              <a:ext cx="250027" cy="125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108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  <p:sp>
          <p:nvSpPr>
            <p:cNvPr id="152" name="Rectangle"/>
            <p:cNvSpPr/>
            <p:nvPr/>
          </p:nvSpPr>
          <p:spPr>
            <a:xfrm>
              <a:off x="62505" y="125011"/>
              <a:ext cx="125014" cy="287575"/>
            </a:xfrm>
            <a:prstGeom prst="rect">
              <a:avLst/>
            </a:pr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</p:grpSp>
      <p:sp>
        <p:nvSpPr>
          <p:cNvPr id="154" name="object 46"/>
          <p:cNvSpPr/>
          <p:nvPr/>
        </p:nvSpPr>
        <p:spPr>
          <a:xfrm>
            <a:off x="8360423" y="6667282"/>
            <a:ext cx="250026" cy="412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6545"/>
                </a:moveTo>
                <a:lnTo>
                  <a:pt x="5400" y="6545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6545"/>
                </a:lnTo>
                <a:lnTo>
                  <a:pt x="21600" y="6545"/>
                </a:lnTo>
                <a:lnTo>
                  <a:pt x="10800" y="0"/>
                </a:lnTo>
                <a:lnTo>
                  <a:pt x="0" y="6545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grpSp>
        <p:nvGrpSpPr>
          <p:cNvPr id="157" name="object 47"/>
          <p:cNvGrpSpPr/>
          <p:nvPr/>
        </p:nvGrpSpPr>
        <p:grpSpPr>
          <a:xfrm>
            <a:off x="9410553" y="6667282"/>
            <a:ext cx="250026" cy="412586"/>
            <a:chOff x="0" y="0"/>
            <a:chExt cx="250025" cy="412585"/>
          </a:xfrm>
        </p:grpSpPr>
        <p:sp>
          <p:nvSpPr>
            <p:cNvPr id="155" name="Triangle"/>
            <p:cNvSpPr/>
            <p:nvPr/>
          </p:nvSpPr>
          <p:spPr>
            <a:xfrm>
              <a:off x="-1" y="-1"/>
              <a:ext cx="250027" cy="125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108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  <p:sp>
          <p:nvSpPr>
            <p:cNvPr id="156" name="Rectangle"/>
            <p:cNvSpPr/>
            <p:nvPr/>
          </p:nvSpPr>
          <p:spPr>
            <a:xfrm>
              <a:off x="62505" y="125011"/>
              <a:ext cx="125014" cy="287575"/>
            </a:xfrm>
            <a:prstGeom prst="rect">
              <a:avLst/>
            </a:pr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</p:grpSp>
      <p:sp>
        <p:nvSpPr>
          <p:cNvPr id="158" name="object 48"/>
          <p:cNvSpPr/>
          <p:nvPr/>
        </p:nvSpPr>
        <p:spPr>
          <a:xfrm>
            <a:off x="9410553" y="6667282"/>
            <a:ext cx="250026" cy="412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6545"/>
                </a:moveTo>
                <a:lnTo>
                  <a:pt x="5400" y="6545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6545"/>
                </a:lnTo>
                <a:lnTo>
                  <a:pt x="21600" y="6545"/>
                </a:lnTo>
                <a:lnTo>
                  <a:pt x="10800" y="0"/>
                </a:lnTo>
                <a:lnTo>
                  <a:pt x="0" y="6545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59" name="object 49"/>
          <p:cNvSpPr/>
          <p:nvPr/>
        </p:nvSpPr>
        <p:spPr>
          <a:xfrm>
            <a:off x="8789131" y="7475759"/>
            <a:ext cx="352746" cy="20810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60" name="object 50"/>
          <p:cNvSpPr/>
          <p:nvPr/>
        </p:nvSpPr>
        <p:spPr>
          <a:xfrm>
            <a:off x="4357478" y="7079725"/>
            <a:ext cx="1925971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2" y="21600"/>
                </a:move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close/>
              </a:path>
            </a:pathLst>
          </a:custGeom>
          <a:solidFill>
            <a:srgbClr val="93C37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61" name="object 51"/>
          <p:cNvSpPr/>
          <p:nvPr/>
        </p:nvSpPr>
        <p:spPr>
          <a:xfrm>
            <a:off x="4357478" y="7079725"/>
            <a:ext cx="1925971" cy="1074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58" y="2199"/>
                </a:lnTo>
                <a:lnTo>
                  <a:pt x="588" y="1054"/>
                </a:lnTo>
                <a:lnTo>
                  <a:pt x="1227" y="283"/>
                </a:lnTo>
                <a:lnTo>
                  <a:pt x="2008" y="0"/>
                </a:lnTo>
                <a:lnTo>
                  <a:pt x="19592" y="0"/>
                </a:lnTo>
                <a:lnTo>
                  <a:pt x="20360" y="274"/>
                </a:lnTo>
                <a:lnTo>
                  <a:pt x="21012" y="1054"/>
                </a:lnTo>
                <a:lnTo>
                  <a:pt x="2144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42" y="19401"/>
                </a:lnTo>
                <a:lnTo>
                  <a:pt x="21012" y="20546"/>
                </a:lnTo>
                <a:lnTo>
                  <a:pt x="20373" y="21317"/>
                </a:lnTo>
                <a:lnTo>
                  <a:pt x="19592" y="21600"/>
                </a:lnTo>
                <a:lnTo>
                  <a:pt x="2008" y="21600"/>
                </a:lnTo>
                <a:lnTo>
                  <a:pt x="1227" y="21317"/>
                </a:lnTo>
                <a:lnTo>
                  <a:pt x="588" y="20546"/>
                </a:lnTo>
                <a:lnTo>
                  <a:pt x="158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62" name="object 52"/>
          <p:cNvSpPr txBox="1"/>
          <p:nvPr/>
        </p:nvSpPr>
        <p:spPr>
          <a:xfrm>
            <a:off x="4513774" y="7396009"/>
            <a:ext cx="1540839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600" spc="-9"/>
            </a:lvl1pPr>
          </a:lstStyle>
          <a:p>
            <a:r>
              <a:t>Tokens</a:t>
            </a:r>
          </a:p>
        </p:txBody>
      </p:sp>
      <p:grpSp>
        <p:nvGrpSpPr>
          <p:cNvPr id="165" name="object 53"/>
          <p:cNvGrpSpPr/>
          <p:nvPr/>
        </p:nvGrpSpPr>
        <p:grpSpPr>
          <a:xfrm>
            <a:off x="4530313" y="6667282"/>
            <a:ext cx="250027" cy="412586"/>
            <a:chOff x="0" y="0"/>
            <a:chExt cx="250025" cy="412585"/>
          </a:xfrm>
        </p:grpSpPr>
        <p:sp>
          <p:nvSpPr>
            <p:cNvPr id="163" name="Rectangle"/>
            <p:cNvSpPr/>
            <p:nvPr/>
          </p:nvSpPr>
          <p:spPr>
            <a:xfrm>
              <a:off x="62505" y="-1"/>
              <a:ext cx="125014" cy="287573"/>
            </a:xfrm>
            <a:prstGeom prst="rect">
              <a:avLst/>
            </a:pr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  <p:sp>
          <p:nvSpPr>
            <p:cNvPr id="164" name="Triangle"/>
            <p:cNvSpPr/>
            <p:nvPr/>
          </p:nvSpPr>
          <p:spPr>
            <a:xfrm>
              <a:off x="-1" y="287571"/>
              <a:ext cx="250027" cy="125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</p:grpSp>
      <p:sp>
        <p:nvSpPr>
          <p:cNvPr id="166" name="object 54"/>
          <p:cNvSpPr/>
          <p:nvPr/>
        </p:nvSpPr>
        <p:spPr>
          <a:xfrm>
            <a:off x="4530313" y="6667282"/>
            <a:ext cx="250027" cy="412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5055"/>
                </a:moveTo>
                <a:lnTo>
                  <a:pt x="5400" y="15055"/>
                </a:lnTo>
                <a:lnTo>
                  <a:pt x="5400" y="0"/>
                </a:lnTo>
                <a:lnTo>
                  <a:pt x="16200" y="0"/>
                </a:lnTo>
                <a:lnTo>
                  <a:pt x="16200" y="15055"/>
                </a:lnTo>
                <a:lnTo>
                  <a:pt x="21600" y="15055"/>
                </a:lnTo>
                <a:lnTo>
                  <a:pt x="10800" y="21600"/>
                </a:lnTo>
                <a:lnTo>
                  <a:pt x="0" y="15055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grpSp>
        <p:nvGrpSpPr>
          <p:cNvPr id="169" name="object 55"/>
          <p:cNvGrpSpPr/>
          <p:nvPr/>
        </p:nvGrpSpPr>
        <p:grpSpPr>
          <a:xfrm>
            <a:off x="5804586" y="6667282"/>
            <a:ext cx="250027" cy="412586"/>
            <a:chOff x="0" y="0"/>
            <a:chExt cx="250025" cy="412585"/>
          </a:xfrm>
        </p:grpSpPr>
        <p:sp>
          <p:nvSpPr>
            <p:cNvPr id="167" name="Triangle"/>
            <p:cNvSpPr/>
            <p:nvPr/>
          </p:nvSpPr>
          <p:spPr>
            <a:xfrm>
              <a:off x="-1" y="-1"/>
              <a:ext cx="250027" cy="125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10797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  <p:sp>
          <p:nvSpPr>
            <p:cNvPr id="168" name="Rectangle"/>
            <p:cNvSpPr/>
            <p:nvPr/>
          </p:nvSpPr>
          <p:spPr>
            <a:xfrm>
              <a:off x="62505" y="125011"/>
              <a:ext cx="125014" cy="287575"/>
            </a:xfrm>
            <a:prstGeom prst="rect">
              <a:avLst/>
            </a:pr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000"/>
              </a:pPr>
              <a:endParaRPr/>
            </a:p>
          </p:txBody>
        </p:sp>
      </p:grpSp>
      <p:sp>
        <p:nvSpPr>
          <p:cNvPr id="170" name="object 56"/>
          <p:cNvSpPr/>
          <p:nvPr/>
        </p:nvSpPr>
        <p:spPr>
          <a:xfrm>
            <a:off x="5804586" y="6667282"/>
            <a:ext cx="250027" cy="412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6545"/>
                </a:moveTo>
                <a:lnTo>
                  <a:pt x="5400" y="6545"/>
                </a:lnTo>
                <a:lnTo>
                  <a:pt x="5400" y="21600"/>
                </a:lnTo>
                <a:lnTo>
                  <a:pt x="16200" y="21600"/>
                </a:lnTo>
                <a:lnTo>
                  <a:pt x="16200" y="6545"/>
                </a:lnTo>
                <a:lnTo>
                  <a:pt x="21600" y="6545"/>
                </a:lnTo>
                <a:lnTo>
                  <a:pt x="10797" y="0"/>
                </a:lnTo>
                <a:lnTo>
                  <a:pt x="0" y="6545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Lexer</a:t>
            </a:r>
          </a:p>
        </p:txBody>
      </p:sp>
      <p:sp>
        <p:nvSpPr>
          <p:cNvPr id="173" name="Our mission:…"/>
          <p:cNvSpPr txBox="1">
            <a:spLocks noGrp="1"/>
          </p:cNvSpPr>
          <p:nvPr>
            <p:ph type="body" idx="1"/>
          </p:nvPr>
        </p:nvSpPr>
        <p:spPr>
          <a:xfrm>
            <a:off x="1270000" y="2086930"/>
            <a:ext cx="10464800" cy="707834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defRPr sz="3000"/>
            </a:pPr>
            <a:r>
              <a:t>Our mission: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defRPr sz="3000"/>
            </a:pPr>
            <a:r>
              <a:t>Convert stream of characters into stream of tokens.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defRPr sz="3000"/>
            </a:pPr>
            <a:r>
              <a:t>One token per language keyword. E.g.;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if, else, while, goto, int</a:t>
            </a:r>
            <a:r>
              <a:t>, etc.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defRPr sz="3000"/>
            </a:pPr>
            <a:r>
              <a:t>One token per language punctuator. E.g.;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++, ==, (, &lt;, &gt;&gt;</a:t>
            </a:r>
            <a:r>
              <a:t>, etc.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defRPr sz="3000"/>
            </a:pPr>
            <a:r>
              <a:t>One token per constant type. E.g.; strings, floats, integers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defRPr sz="3000"/>
            </a:pPr>
            <a:r>
              <a:t>One token for some ‘identifier’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3000"/>
            </a:pPr>
            <a:r>
              <a:t>How we do it: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defRPr sz="3000"/>
            </a:pPr>
            <a:r>
              <a:t>LL(1) Recursive-Descent Lexer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defRPr sz="3000"/>
            </a:pPr>
            <a:r>
              <a:t>LL(1) = read from Left to right, visit children Left to right, 1 character lookahead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defRPr sz="3000"/>
            </a:pPr>
            <a:r>
              <a:t>Recursive = functions can call themselves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defRPr sz="3000"/>
            </a:pPr>
            <a:r>
              <a:t>Descent = top-down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1" build="p" bldLvl="5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5200" spc="-185"/>
            </a:lvl1pPr>
          </a:lstStyle>
          <a:p>
            <a:r>
              <a:t>LL(1) Recursive-Descent Lexer</a:t>
            </a:r>
          </a:p>
        </p:txBody>
      </p:sp>
      <p:sp>
        <p:nvSpPr>
          <p:cNvPr id="176" name="object 3"/>
          <p:cNvSpPr txBox="1"/>
          <p:nvPr/>
        </p:nvSpPr>
        <p:spPr>
          <a:xfrm>
            <a:off x="145965" y="3144400"/>
            <a:ext cx="13898837" cy="458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L="866986" indent="-854921" algn="l">
              <a:lnSpc>
                <a:spcPts val="2600"/>
              </a:lnSpc>
              <a:spcBef>
                <a:spcPts val="100"/>
              </a:spcBef>
              <a:defRPr sz="1900" spc="-7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char</a:t>
            </a:r>
            <a:r>
              <a:rPr>
                <a:solidFill>
                  <a:srgbClr val="595959"/>
                </a:solidFill>
              </a:rPr>
              <a:t>* lex_get_next(  </a:t>
            </a:r>
            <a:r>
              <a:t>const char</a:t>
            </a:r>
            <a:r>
              <a:rPr>
                <a:solidFill>
                  <a:srgbClr val="595959"/>
                </a:solidFill>
              </a:rPr>
              <a:t>* stream,  </a:t>
            </a:r>
            <a:r>
              <a:rPr>
                <a:solidFill>
                  <a:srgbClr val="38751C"/>
                </a:solidFill>
              </a:rPr>
              <a:t>token_t</a:t>
            </a:r>
            <a:r>
              <a:rPr>
                <a:solidFill>
                  <a:srgbClr val="595959"/>
                </a:solidFill>
              </a:rPr>
              <a:t>*</a:t>
            </a:r>
            <a:r>
              <a:rPr spc="-134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out_token,</a:t>
            </a:r>
          </a:p>
          <a:p>
            <a:pPr indent="469265" algn="l">
              <a:lnSpc>
                <a:spcPts val="2600"/>
              </a:lnSpc>
              <a:defRPr sz="1900" spc="-7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const char</a:t>
            </a:r>
            <a:r>
              <a:rPr>
                <a:solidFill>
                  <a:srgbClr val="595959"/>
                </a:solidFill>
              </a:rPr>
              <a:t>** out_text,  </a:t>
            </a:r>
            <a:r>
              <a:t>int</a:t>
            </a:r>
            <a:r>
              <a:rPr>
                <a:solidFill>
                  <a:srgbClr val="595959"/>
                </a:solidFill>
              </a:rPr>
              <a:t>*</a:t>
            </a:r>
            <a:r>
              <a:rPr spc="-23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out_len)</a:t>
            </a:r>
          </a:p>
          <a:p>
            <a:pPr indent="12700" algn="l">
              <a:lnSpc>
                <a:spcPts val="2400"/>
              </a:lnSpc>
              <a:defRPr sz="19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indent="469265" algn="l">
              <a:lnSpc>
                <a:spcPts val="2600"/>
              </a:lnSpc>
              <a:defRPr sz="1900" spc="-7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char</a:t>
            </a:r>
            <a:r>
              <a:rPr>
                <a:solidFill>
                  <a:srgbClr val="595959"/>
                </a:solidFill>
              </a:rPr>
              <a:t>* </a:t>
            </a:r>
            <a:r>
              <a:rPr spc="0">
                <a:solidFill>
                  <a:srgbClr val="595959"/>
                </a:solidFill>
              </a:rPr>
              <a:t>p =</a:t>
            </a:r>
            <a:r>
              <a:rPr spc="-23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skip_whitespace(stream);</a:t>
            </a:r>
          </a:p>
          <a:p>
            <a:pPr algn="l"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>
              <a:solidFill>
                <a:srgbClr val="595959"/>
              </a:solidFill>
            </a:endParaRPr>
          </a:p>
          <a:p>
            <a:pPr indent="469265" algn="l">
              <a:lnSpc>
                <a:spcPts val="2600"/>
              </a:lnSpc>
              <a:defRPr sz="1900" spc="-7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</a:t>
            </a:r>
            <a:r>
              <a:rPr>
                <a:solidFill>
                  <a:srgbClr val="595959"/>
                </a:solidFill>
              </a:rPr>
              <a:t>(!p) </a:t>
            </a:r>
            <a:r>
              <a:rPr spc="0">
                <a:solidFill>
                  <a:srgbClr val="595959"/>
                </a:solidFill>
              </a:rPr>
              <a:t>{ </a:t>
            </a:r>
            <a:r>
              <a:rPr>
                <a:solidFill>
                  <a:srgbClr val="595959"/>
                </a:solidFill>
              </a:rPr>
              <a:t>*out_text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p; *out_token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38751C"/>
                </a:solidFill>
              </a:rPr>
              <a:t>token_eof</a:t>
            </a:r>
            <a:r>
              <a:rPr>
                <a:solidFill>
                  <a:srgbClr val="595959"/>
                </a:solidFill>
              </a:rPr>
              <a:t>; *out_len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0;</a:t>
            </a:r>
            <a:r>
              <a:rPr spc="-47">
                <a:solidFill>
                  <a:srgbClr val="595959"/>
                </a:solidFill>
              </a:rPr>
              <a:t> </a:t>
            </a:r>
            <a:r>
              <a:rPr spc="0">
                <a:solidFill>
                  <a:srgbClr val="595959"/>
                </a:solidFill>
              </a:rPr>
              <a:t>}</a:t>
            </a:r>
          </a:p>
          <a:p>
            <a:pPr indent="469265" algn="l">
              <a:lnSpc>
                <a:spcPts val="2600"/>
              </a:lnSpc>
              <a:defRPr sz="1900" spc="-7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else if </a:t>
            </a:r>
            <a:r>
              <a:rPr>
                <a:solidFill>
                  <a:srgbClr val="595959"/>
                </a:solidFill>
              </a:rPr>
              <a:t>(strcmp(p, “if”) == 0) </a:t>
            </a:r>
            <a:r>
              <a:rPr spc="0">
                <a:solidFill>
                  <a:srgbClr val="595959"/>
                </a:solidFill>
              </a:rPr>
              <a:t>{ </a:t>
            </a:r>
            <a:r>
              <a:rPr>
                <a:solidFill>
                  <a:srgbClr val="595959"/>
                </a:solidFill>
              </a:rPr>
              <a:t>*out_text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p; *out_token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38751C"/>
                </a:solidFill>
              </a:rPr>
              <a:t>token_if</a:t>
            </a:r>
            <a:r>
              <a:rPr>
                <a:solidFill>
                  <a:srgbClr val="595959"/>
                </a:solidFill>
              </a:rPr>
              <a:t>; *out_len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2; </a:t>
            </a:r>
            <a:r>
              <a:rPr spc="0">
                <a:solidFill>
                  <a:srgbClr val="595959"/>
                </a:solidFill>
              </a:rPr>
              <a:t>}  </a:t>
            </a:r>
            <a:br>
              <a:rPr spc="0">
                <a:solidFill>
                  <a:srgbClr val="595959"/>
                </a:solidFill>
              </a:rPr>
            </a:br>
            <a:r>
              <a:t>else if </a:t>
            </a:r>
            <a:r>
              <a:rPr>
                <a:solidFill>
                  <a:srgbClr val="595959"/>
                </a:solidFill>
              </a:rPr>
              <a:t>(strcmp(p, “do”) == 0) </a:t>
            </a:r>
            <a:r>
              <a:rPr spc="0">
                <a:solidFill>
                  <a:srgbClr val="595959"/>
                </a:solidFill>
              </a:rPr>
              <a:t>{ </a:t>
            </a:r>
            <a:r>
              <a:rPr>
                <a:solidFill>
                  <a:srgbClr val="595959"/>
                </a:solidFill>
              </a:rPr>
              <a:t>*out_text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p; *out_token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38751C"/>
                </a:solidFill>
              </a:rPr>
              <a:t>token_do</a:t>
            </a:r>
            <a:r>
              <a:rPr>
                <a:solidFill>
                  <a:srgbClr val="595959"/>
                </a:solidFill>
              </a:rPr>
              <a:t>; *out_len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2; </a:t>
            </a:r>
            <a:r>
              <a:rPr spc="0">
                <a:solidFill>
                  <a:srgbClr val="595959"/>
                </a:solidFill>
              </a:rPr>
              <a:t>}  </a:t>
            </a:r>
            <a:br>
              <a:rPr spc="0">
                <a:solidFill>
                  <a:srgbClr val="595959"/>
                </a:solidFill>
              </a:rPr>
            </a:br>
            <a:r>
              <a:t>else if </a:t>
            </a:r>
            <a:r>
              <a:rPr>
                <a:solidFill>
                  <a:srgbClr val="595959"/>
                </a:solidFill>
              </a:rPr>
              <a:t>(is_digit(p)) </a:t>
            </a:r>
            <a:r>
              <a:rPr spc="0">
                <a:solidFill>
                  <a:srgbClr val="595959"/>
                </a:solidFill>
              </a:rPr>
              <a:t>{ </a:t>
            </a:r>
            <a:r>
              <a:rPr>
                <a:solidFill>
                  <a:srgbClr val="595959"/>
                </a:solidFill>
              </a:rPr>
              <a:t>*out_text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p; *out_token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38751C"/>
                </a:solidFill>
              </a:rPr>
              <a:t>token_integer</a:t>
            </a:r>
            <a:r>
              <a:rPr>
                <a:solidFill>
                  <a:srgbClr val="595959"/>
                </a:solidFill>
              </a:rPr>
              <a:t>; *out_len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xxx; </a:t>
            </a:r>
            <a:r>
              <a:rPr spc="0">
                <a:solidFill>
                  <a:srgbClr val="595959"/>
                </a:solidFill>
              </a:rPr>
              <a:t>}  </a:t>
            </a:r>
            <a:br>
              <a:rPr spc="0">
                <a:solidFill>
                  <a:srgbClr val="595959"/>
                </a:solidFill>
              </a:rPr>
            </a:br>
            <a:r>
              <a:t>else if </a:t>
            </a:r>
            <a:r>
              <a:rPr>
                <a:solidFill>
                  <a:srgbClr val="595959"/>
                </a:solidFill>
              </a:rPr>
              <a:t>(is_nondigit(p)) </a:t>
            </a:r>
            <a:r>
              <a:rPr spc="0">
                <a:solidFill>
                  <a:srgbClr val="595959"/>
                </a:solidFill>
              </a:rPr>
              <a:t>{ </a:t>
            </a:r>
            <a:r>
              <a:rPr>
                <a:solidFill>
                  <a:srgbClr val="595959"/>
                </a:solidFill>
              </a:rPr>
              <a:t>*out_text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p; *out_token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69A84F"/>
                </a:solidFill>
              </a:rPr>
              <a:t>token_ident</a:t>
            </a:r>
            <a:r>
              <a:rPr>
                <a:solidFill>
                  <a:srgbClr val="595959"/>
                </a:solidFill>
              </a:rPr>
              <a:t>; *out_len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xxx; </a:t>
            </a:r>
            <a:r>
              <a:rPr spc="0">
                <a:solidFill>
                  <a:srgbClr val="595959"/>
                </a:solidFill>
              </a:rPr>
              <a:t>}  </a:t>
            </a:r>
            <a:br>
              <a:rPr spc="0">
                <a:solidFill>
                  <a:srgbClr val="595959"/>
                </a:solidFill>
              </a:rPr>
            </a:br>
            <a:r>
              <a:t>else if </a:t>
            </a:r>
            <a:r>
              <a:rPr>
                <a:solidFill>
                  <a:srgbClr val="595959"/>
                </a:solidFill>
              </a:rPr>
              <a:t>(*p == ‘+’) </a:t>
            </a:r>
            <a:r>
              <a:rPr spc="0">
                <a:solidFill>
                  <a:srgbClr val="595959"/>
                </a:solidFill>
              </a:rPr>
              <a:t>{ </a:t>
            </a:r>
            <a:r>
              <a:rPr>
                <a:solidFill>
                  <a:srgbClr val="595959"/>
                </a:solidFill>
              </a:rPr>
              <a:t>*out_text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p; *out_token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38751C"/>
                </a:solidFill>
              </a:rPr>
              <a:t>token_plus</a:t>
            </a:r>
            <a:r>
              <a:rPr>
                <a:solidFill>
                  <a:srgbClr val="595959"/>
                </a:solidFill>
              </a:rPr>
              <a:t>; *out_len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1;</a:t>
            </a:r>
            <a:r>
              <a:rPr spc="-55">
                <a:solidFill>
                  <a:srgbClr val="595959"/>
                </a:solidFill>
              </a:rPr>
              <a:t> </a:t>
            </a:r>
            <a:r>
              <a:rPr spc="0">
                <a:solidFill>
                  <a:srgbClr val="595959"/>
                </a:solidFill>
              </a:rPr>
              <a:t>}</a:t>
            </a:r>
          </a:p>
          <a:p>
            <a:pPr algn="l"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0">
              <a:solidFill>
                <a:srgbClr val="595959"/>
              </a:solidFill>
            </a:endParaRPr>
          </a:p>
          <a:p>
            <a:pPr indent="469265" algn="l">
              <a:lnSpc>
                <a:spcPts val="2600"/>
              </a:lnSpc>
              <a:defRPr sz="1900" spc="-7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return </a:t>
            </a:r>
            <a:r>
              <a:rPr spc="0">
                <a:solidFill>
                  <a:srgbClr val="595959"/>
                </a:solidFill>
              </a:rPr>
              <a:t>p +</a:t>
            </a:r>
            <a:r>
              <a:rPr spc="-15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*out_len;</a:t>
            </a:r>
          </a:p>
          <a:p>
            <a:pPr indent="12700" algn="l">
              <a:lnSpc>
                <a:spcPts val="2600"/>
              </a:lnSpc>
              <a:defRPr sz="19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Lex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Lexer</a:t>
            </a:r>
          </a:p>
        </p:txBody>
      </p:sp>
      <p:pic>
        <p:nvPicPr>
          <p:cNvPr id="179" name="Screen Shot 2018-03-08 at 12.30.50 PM.png" descr="Screen Shot 2018-03-08 at 12.30.5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000" y="2622550"/>
            <a:ext cx="11633200" cy="6007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Parser</a:t>
            </a:r>
          </a:p>
        </p:txBody>
      </p:sp>
      <p:sp>
        <p:nvSpPr>
          <p:cNvPr id="182" name="object 3"/>
          <p:cNvSpPr txBox="1"/>
          <p:nvPr/>
        </p:nvSpPr>
        <p:spPr>
          <a:xfrm>
            <a:off x="423090" y="2041536"/>
            <a:ext cx="8915514" cy="2227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700"/>
              </a:spcBef>
              <a:defRPr sz="3600" spc="-10"/>
            </a:pPr>
            <a:r>
              <a:t>Our</a:t>
            </a:r>
            <a:r>
              <a:rPr spc="-20"/>
              <a:t> </a:t>
            </a:r>
            <a:r>
              <a:rPr spc="0"/>
              <a:t>mission:</a:t>
            </a:r>
          </a:p>
          <a:p>
            <a:pPr marL="959273" indent="-856403" algn="l">
              <a:spcBef>
                <a:spcPts val="500"/>
              </a:spcBef>
              <a:buSzPct val="100000"/>
              <a:buChar char="•"/>
              <a:tabLst>
                <a:tab pos="863600" algn="l"/>
                <a:tab pos="889000" algn="l"/>
              </a:tabLst>
              <a:defRPr sz="3600" spc="-10"/>
            </a:pPr>
            <a:r>
              <a:t>Recognize language</a:t>
            </a:r>
            <a:r>
              <a:rPr spc="-20"/>
              <a:t> </a:t>
            </a:r>
            <a:r>
              <a:t>phrases</a:t>
            </a:r>
          </a:p>
          <a:p>
            <a:pPr marL="959273" indent="-856403" algn="l">
              <a:spcBef>
                <a:spcPts val="500"/>
              </a:spcBef>
              <a:buSzPct val="100000"/>
              <a:buChar char="•"/>
              <a:tabLst>
                <a:tab pos="863600" algn="l"/>
                <a:tab pos="889000" algn="l"/>
              </a:tabLst>
              <a:defRPr sz="3600" spc="-10"/>
            </a:pPr>
            <a:r>
              <a:t>Convert </a:t>
            </a:r>
            <a:r>
              <a:rPr spc="0"/>
              <a:t>a </a:t>
            </a:r>
            <a:r>
              <a:t>list of tokens into an abstract </a:t>
            </a:r>
            <a:r>
              <a:rPr spc="0"/>
              <a:t>syntax </a:t>
            </a:r>
            <a:r>
              <a:t>tree</a:t>
            </a:r>
            <a:r>
              <a:rPr spc="-150"/>
              <a:t> </a:t>
            </a:r>
            <a:r>
              <a:rPr spc="0"/>
              <a:t>(AST)</a:t>
            </a:r>
          </a:p>
        </p:txBody>
      </p:sp>
      <p:sp>
        <p:nvSpPr>
          <p:cNvPr id="183" name="object 4"/>
          <p:cNvSpPr txBox="1"/>
          <p:nvPr/>
        </p:nvSpPr>
        <p:spPr>
          <a:xfrm>
            <a:off x="-1" y="4858811"/>
            <a:ext cx="5693125" cy="860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>
              <a:spcBef>
                <a:spcPts val="900"/>
              </a:spcBef>
              <a:defRPr sz="3500" spc="-7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x</a:t>
            </a:r>
            <a:r>
              <a:rPr u="sng">
                <a:uFill>
                  <a:solidFill>
                    <a:srgbClr val="FF0000"/>
                  </a:solidFill>
                </a:uFill>
              </a:rPr>
              <a:t>&lt;0</a:t>
            </a:r>
            <a:r>
              <a:t> then</a:t>
            </a:r>
            <a:r>
              <a:rPr spc="-116"/>
              <a:t> </a:t>
            </a:r>
            <a:r>
              <a:t>x=</a:t>
            </a:r>
            <a:r>
              <a:rPr u="sng">
                <a:uFill>
                  <a:solidFill>
                    <a:srgbClr val="FF0000"/>
                  </a:solidFill>
                </a:uFill>
              </a:rPr>
              <a:t>0</a:t>
            </a:r>
            <a:r>
              <a:t>;</a:t>
            </a:r>
          </a:p>
          <a:p>
            <a:pPr lvl="1" indent="0">
              <a:spcBef>
                <a:spcPts val="300"/>
              </a:spcBef>
              <a:tabLst>
                <a:tab pos="4254500" algn="l"/>
              </a:tabLst>
              <a:defRPr sz="1700" spc="-7">
                <a:latin typeface="Arial"/>
                <a:ea typeface="Arial"/>
                <a:cs typeface="Arial"/>
                <a:sym typeface="Arial"/>
              </a:defRPr>
            </a:pPr>
            <a:r>
              <a:t>          </a:t>
            </a:r>
            <a:r>
              <a:rPr sz="2100" spc="-8">
                <a:latin typeface="+mn-lt"/>
                <a:ea typeface="+mn-ea"/>
                <a:cs typeface="+mn-cs"/>
                <a:sym typeface="Baskerville"/>
              </a:rPr>
              <a:t>expression                     expression</a:t>
            </a:r>
          </a:p>
        </p:txBody>
      </p:sp>
      <p:sp>
        <p:nvSpPr>
          <p:cNvPr id="184" name="object 5"/>
          <p:cNvSpPr txBox="1"/>
          <p:nvPr/>
        </p:nvSpPr>
        <p:spPr>
          <a:xfrm>
            <a:off x="3760170" y="5925159"/>
            <a:ext cx="146490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 spc="-9"/>
            </a:lvl1pPr>
          </a:lstStyle>
          <a:p>
            <a:r>
              <a:t>assignment</a:t>
            </a:r>
          </a:p>
        </p:txBody>
      </p:sp>
      <p:sp>
        <p:nvSpPr>
          <p:cNvPr id="185" name="object 6"/>
          <p:cNvSpPr/>
          <p:nvPr/>
        </p:nvSpPr>
        <p:spPr>
          <a:xfrm>
            <a:off x="4073392" y="5929025"/>
            <a:ext cx="740690" cy="1"/>
          </a:xfrm>
          <a:prstGeom prst="line">
            <a:avLst/>
          </a:prstGeom>
          <a:ln w="25400">
            <a:solidFill>
              <a:srgbClr val="0000FF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86" name="object 7"/>
          <p:cNvSpPr txBox="1"/>
          <p:nvPr/>
        </p:nvSpPr>
        <p:spPr>
          <a:xfrm>
            <a:off x="3829794" y="6404610"/>
            <a:ext cx="1325657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/>
            </a:lvl1pPr>
          </a:lstStyle>
          <a:p>
            <a:r>
              <a:t>statement</a:t>
            </a:r>
          </a:p>
        </p:txBody>
      </p:sp>
      <p:sp>
        <p:nvSpPr>
          <p:cNvPr id="187" name="object 8"/>
          <p:cNvSpPr/>
          <p:nvPr/>
        </p:nvSpPr>
        <p:spPr>
          <a:xfrm>
            <a:off x="4073392" y="6470891"/>
            <a:ext cx="740690" cy="1"/>
          </a:xfrm>
          <a:prstGeom prst="line">
            <a:avLst/>
          </a:prstGeom>
          <a:ln w="25400">
            <a:solidFill>
              <a:srgbClr val="38751C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88" name="object 9"/>
          <p:cNvSpPr/>
          <p:nvPr/>
        </p:nvSpPr>
        <p:spPr>
          <a:xfrm flipV="1">
            <a:off x="799102" y="7911684"/>
            <a:ext cx="4014926" cy="8533"/>
          </a:xfrm>
          <a:prstGeom prst="line">
            <a:avLst/>
          </a:prstGeom>
          <a:ln w="25400">
            <a:solidFill>
              <a:srgbClr val="38751C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89" name="object 10"/>
          <p:cNvSpPr txBox="1"/>
          <p:nvPr/>
        </p:nvSpPr>
        <p:spPr>
          <a:xfrm>
            <a:off x="2193691" y="7922500"/>
            <a:ext cx="1325657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/>
            </a:lvl1pPr>
          </a:lstStyle>
          <a:p>
            <a:r>
              <a:t>statement</a:t>
            </a:r>
          </a:p>
        </p:txBody>
      </p:sp>
      <p:sp>
        <p:nvSpPr>
          <p:cNvPr id="190" name="object 11"/>
          <p:cNvSpPr/>
          <p:nvPr/>
        </p:nvSpPr>
        <p:spPr>
          <a:xfrm flipV="1">
            <a:off x="799102" y="7351472"/>
            <a:ext cx="4014926" cy="8533"/>
          </a:xfrm>
          <a:prstGeom prst="line">
            <a:avLst/>
          </a:prstGeom>
          <a:ln w="25400">
            <a:solidFill>
              <a:srgbClr val="3D85C6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91" name="object 12"/>
          <p:cNvSpPr txBox="1"/>
          <p:nvPr/>
        </p:nvSpPr>
        <p:spPr>
          <a:xfrm>
            <a:off x="2212224" y="7385404"/>
            <a:ext cx="146490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 spc="-9"/>
            </a:lvl1pPr>
          </a:lstStyle>
          <a:p>
            <a:r>
              <a:t>if-statement</a:t>
            </a:r>
          </a:p>
        </p:txBody>
      </p:sp>
      <p:sp>
        <p:nvSpPr>
          <p:cNvPr id="192" name="object 13"/>
          <p:cNvSpPr/>
          <p:nvPr/>
        </p:nvSpPr>
        <p:spPr>
          <a:xfrm>
            <a:off x="6034351" y="4458676"/>
            <a:ext cx="6252895" cy="401915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193" name="object 14"/>
          <p:cNvSpPr txBox="1"/>
          <p:nvPr/>
        </p:nvSpPr>
        <p:spPr>
          <a:xfrm>
            <a:off x="7585430" y="4504055"/>
            <a:ext cx="118970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/>
            </a:lvl1pPr>
          </a:lstStyle>
          <a:p>
            <a:r>
              <a:t>statement</a:t>
            </a:r>
          </a:p>
        </p:txBody>
      </p:sp>
      <p:sp>
        <p:nvSpPr>
          <p:cNvPr id="194" name="object 15"/>
          <p:cNvSpPr txBox="1"/>
          <p:nvPr/>
        </p:nvSpPr>
        <p:spPr>
          <a:xfrm>
            <a:off x="7435239" y="5217660"/>
            <a:ext cx="158977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 spc="-9"/>
            </a:lvl1pPr>
          </a:lstStyle>
          <a:p>
            <a:r>
              <a:t>if-statement</a:t>
            </a:r>
          </a:p>
        </p:txBody>
      </p:sp>
      <p:sp>
        <p:nvSpPr>
          <p:cNvPr id="195" name="object 16"/>
          <p:cNvSpPr txBox="1"/>
          <p:nvPr/>
        </p:nvSpPr>
        <p:spPr>
          <a:xfrm>
            <a:off x="6066437" y="5979291"/>
            <a:ext cx="457878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 spc="-9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if</a:t>
            </a:r>
          </a:p>
        </p:txBody>
      </p:sp>
      <p:sp>
        <p:nvSpPr>
          <p:cNvPr id="196" name="object 17"/>
          <p:cNvSpPr txBox="1"/>
          <p:nvPr/>
        </p:nvSpPr>
        <p:spPr>
          <a:xfrm>
            <a:off x="6675486" y="5925159"/>
            <a:ext cx="141981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 spc="-9"/>
            </a:lvl1pPr>
          </a:lstStyle>
          <a:p>
            <a:r>
              <a:t>expression</a:t>
            </a:r>
          </a:p>
        </p:txBody>
      </p:sp>
      <p:sp>
        <p:nvSpPr>
          <p:cNvPr id="197" name="object 18"/>
          <p:cNvSpPr txBox="1"/>
          <p:nvPr/>
        </p:nvSpPr>
        <p:spPr>
          <a:xfrm>
            <a:off x="8253362" y="5979291"/>
            <a:ext cx="70224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 spc="-9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then</a:t>
            </a:r>
          </a:p>
        </p:txBody>
      </p:sp>
      <p:sp>
        <p:nvSpPr>
          <p:cNvPr id="198" name="object 19"/>
          <p:cNvSpPr txBox="1"/>
          <p:nvPr/>
        </p:nvSpPr>
        <p:spPr>
          <a:xfrm>
            <a:off x="9338603" y="5925159"/>
            <a:ext cx="146490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/>
            </a:lvl1pPr>
          </a:lstStyle>
          <a:p>
            <a:r>
              <a:t>statement</a:t>
            </a:r>
          </a:p>
        </p:txBody>
      </p:sp>
      <p:sp>
        <p:nvSpPr>
          <p:cNvPr id="199" name="object 20"/>
          <p:cNvSpPr txBox="1"/>
          <p:nvPr/>
        </p:nvSpPr>
        <p:spPr>
          <a:xfrm>
            <a:off x="9338603" y="6633211"/>
            <a:ext cx="146490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 spc="-9"/>
            </a:lvl1pPr>
          </a:lstStyle>
          <a:p>
            <a:r>
              <a:t>assignment</a:t>
            </a:r>
          </a:p>
        </p:txBody>
      </p:sp>
      <p:sp>
        <p:nvSpPr>
          <p:cNvPr id="200" name="object 21"/>
          <p:cNvSpPr txBox="1"/>
          <p:nvPr/>
        </p:nvSpPr>
        <p:spPr>
          <a:xfrm>
            <a:off x="8960704" y="7426831"/>
            <a:ext cx="144498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x</a:t>
            </a:r>
          </a:p>
        </p:txBody>
      </p:sp>
      <p:sp>
        <p:nvSpPr>
          <p:cNvPr id="201" name="object 22"/>
          <p:cNvSpPr txBox="1"/>
          <p:nvPr/>
        </p:nvSpPr>
        <p:spPr>
          <a:xfrm>
            <a:off x="9677511" y="7426831"/>
            <a:ext cx="16346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=</a:t>
            </a:r>
          </a:p>
        </p:txBody>
      </p:sp>
      <p:sp>
        <p:nvSpPr>
          <p:cNvPr id="202" name="object 23"/>
          <p:cNvSpPr txBox="1"/>
          <p:nvPr/>
        </p:nvSpPr>
        <p:spPr>
          <a:xfrm>
            <a:off x="10156239" y="7385404"/>
            <a:ext cx="145167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 spc="-9"/>
            </a:lvl1pPr>
          </a:lstStyle>
          <a:p>
            <a:r>
              <a:t>expression</a:t>
            </a:r>
          </a:p>
        </p:txBody>
      </p:sp>
      <p:sp>
        <p:nvSpPr>
          <p:cNvPr id="203" name="object 24"/>
          <p:cNvSpPr txBox="1"/>
          <p:nvPr/>
        </p:nvSpPr>
        <p:spPr>
          <a:xfrm>
            <a:off x="11929519" y="7426831"/>
            <a:ext cx="9663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;</a:t>
            </a:r>
          </a:p>
        </p:txBody>
      </p:sp>
      <p:sp>
        <p:nvSpPr>
          <p:cNvPr id="204" name="object 25"/>
          <p:cNvSpPr txBox="1"/>
          <p:nvPr/>
        </p:nvSpPr>
        <p:spPr>
          <a:xfrm>
            <a:off x="10803507" y="8060421"/>
            <a:ext cx="15714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0</a:t>
            </a:r>
          </a:p>
        </p:txBody>
      </p:sp>
      <p:sp>
        <p:nvSpPr>
          <p:cNvPr id="205" name="object 26"/>
          <p:cNvSpPr txBox="1"/>
          <p:nvPr/>
        </p:nvSpPr>
        <p:spPr>
          <a:xfrm>
            <a:off x="6603237" y="6621347"/>
            <a:ext cx="14449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x</a:t>
            </a:r>
          </a:p>
        </p:txBody>
      </p:sp>
      <p:sp>
        <p:nvSpPr>
          <p:cNvPr id="206" name="object 27"/>
          <p:cNvSpPr txBox="1"/>
          <p:nvPr/>
        </p:nvSpPr>
        <p:spPr>
          <a:xfrm>
            <a:off x="7271777" y="6621347"/>
            <a:ext cx="16346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&lt;</a:t>
            </a:r>
          </a:p>
        </p:txBody>
      </p:sp>
      <p:sp>
        <p:nvSpPr>
          <p:cNvPr id="207" name="object 28"/>
          <p:cNvSpPr txBox="1"/>
          <p:nvPr/>
        </p:nvSpPr>
        <p:spPr>
          <a:xfrm>
            <a:off x="7988461" y="6621347"/>
            <a:ext cx="15714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2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object 2"/>
          <p:cNvSpPr txBox="1">
            <a:spLocks noGrp="1"/>
          </p:cNvSpPr>
          <p:nvPr>
            <p:ph type="title"/>
          </p:nvPr>
        </p:nvSpPr>
        <p:spPr>
          <a:xfrm>
            <a:off x="912123" y="254000"/>
            <a:ext cx="11180554" cy="2438400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LL(k) Recursive-Descent Parser</a:t>
            </a:r>
          </a:p>
        </p:txBody>
      </p:sp>
      <p:sp>
        <p:nvSpPr>
          <p:cNvPr id="210" name="object 3"/>
          <p:cNvSpPr txBox="1"/>
          <p:nvPr/>
        </p:nvSpPr>
        <p:spPr>
          <a:xfrm>
            <a:off x="395927" y="2920115"/>
            <a:ext cx="6826418" cy="214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5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 </a:t>
            </a:r>
            <a:r>
              <a:rPr>
                <a:solidFill>
                  <a:srgbClr val="595959"/>
                </a:solidFill>
              </a:rPr>
              <a:t>statement()</a:t>
            </a:r>
          </a:p>
          <a:p>
            <a:pPr indent="12700" algn="l">
              <a:spcBef>
                <a:spcPts val="300"/>
              </a:spcBef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indent="469265" algn="l">
              <a:spcBef>
                <a:spcPts val="300"/>
              </a:spcBef>
              <a:defRPr sz="2200" spc="-9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ast_emit(node_statement);</a:t>
            </a:r>
          </a:p>
          <a:p>
            <a:pPr marR="9633" indent="469265" algn="l">
              <a:lnSpc>
                <a:spcPct val="114599"/>
              </a:lnSpc>
              <a:defRPr sz="2200" spc="-9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parse_match(</a:t>
            </a:r>
            <a:r>
              <a:rPr>
                <a:solidFill>
                  <a:srgbClr val="38751C"/>
                </a:solidFill>
              </a:rPr>
              <a:t>token_if</a:t>
            </a:r>
            <a:r>
              <a:t>) if_statement();  else</a:t>
            </a:r>
            <a:r>
              <a:rPr spc="-18"/>
              <a:t> </a:t>
            </a:r>
            <a:r>
              <a:t>assignment();</a:t>
            </a:r>
          </a:p>
          <a:p>
            <a:pPr indent="12700" algn="l">
              <a:spcBef>
                <a:spcPts val="300"/>
              </a:spcBef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211" name="object 4"/>
          <p:cNvSpPr txBox="1"/>
          <p:nvPr/>
        </p:nvSpPr>
        <p:spPr>
          <a:xfrm>
            <a:off x="395927" y="5859442"/>
            <a:ext cx="5647339" cy="25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5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</a:t>
            </a:r>
            <a:r>
              <a:rPr spc="-18"/>
              <a:t> </a:t>
            </a:r>
            <a:r>
              <a:rPr>
                <a:solidFill>
                  <a:srgbClr val="595959"/>
                </a:solidFill>
              </a:rPr>
              <a:t>if_statement()</a:t>
            </a:r>
          </a:p>
          <a:p>
            <a:pPr indent="12700" algn="l">
              <a:spcBef>
                <a:spcPts val="300"/>
              </a:spcBef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R="9633" indent="469265" algn="l">
              <a:lnSpc>
                <a:spcPct val="114599"/>
              </a:lnSpc>
              <a:defRPr sz="2200" spc="-9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ast_emit(node_if_statement);  expression();  parse_ensure(</a:t>
            </a:r>
            <a:r>
              <a:rPr>
                <a:solidFill>
                  <a:srgbClr val="38751C"/>
                </a:solidFill>
              </a:rPr>
              <a:t>token_then</a:t>
            </a:r>
            <a:r>
              <a:t>);  statement();</a:t>
            </a:r>
          </a:p>
          <a:p>
            <a:pPr indent="12700" algn="l">
              <a:spcBef>
                <a:spcPts val="300"/>
              </a:spcBef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212" name="object 5"/>
          <p:cNvSpPr txBox="1"/>
          <p:nvPr/>
        </p:nvSpPr>
        <p:spPr>
          <a:xfrm>
            <a:off x="6976595" y="2920115"/>
            <a:ext cx="602820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>
              <a:spcBef>
                <a:spcPts val="1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 </a:t>
            </a:r>
            <a:r>
              <a:rPr>
                <a:solidFill>
                  <a:srgbClr val="595959"/>
                </a:solidFill>
              </a:rPr>
              <a:t>expression() </a:t>
            </a:r>
            <a:r>
              <a:rPr spc="0">
                <a:solidFill>
                  <a:srgbClr val="595959"/>
                </a:solidFill>
              </a:rPr>
              <a:t>{ </a:t>
            </a:r>
            <a:r>
              <a:rPr>
                <a:solidFill>
                  <a:srgbClr val="BF9000"/>
                </a:solidFill>
              </a:rPr>
              <a:t>/* stuff */</a:t>
            </a:r>
            <a:r>
              <a:rPr spc="-128">
                <a:solidFill>
                  <a:srgbClr val="BF9000"/>
                </a:solidFill>
              </a:rPr>
              <a:t> </a:t>
            </a:r>
            <a:r>
              <a:rPr spc="0">
                <a:solidFill>
                  <a:srgbClr val="595959"/>
                </a:solidFill>
              </a:rPr>
              <a:t>}</a:t>
            </a:r>
          </a:p>
        </p:txBody>
      </p:sp>
      <p:sp>
        <p:nvSpPr>
          <p:cNvPr id="213" name="object 6"/>
          <p:cNvSpPr txBox="1"/>
          <p:nvPr/>
        </p:nvSpPr>
        <p:spPr>
          <a:xfrm>
            <a:off x="7222344" y="5626100"/>
            <a:ext cx="6028205" cy="25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5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 </a:t>
            </a:r>
            <a:r>
              <a:rPr>
                <a:solidFill>
                  <a:srgbClr val="595959"/>
                </a:solidFill>
              </a:rPr>
              <a:t>assignment()</a:t>
            </a:r>
          </a:p>
          <a:p>
            <a:pPr indent="12700" algn="l">
              <a:spcBef>
                <a:spcPts val="300"/>
              </a:spcBef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R="9633" indent="469265" algn="l">
              <a:lnSpc>
                <a:spcPct val="114599"/>
              </a:lnSpc>
              <a:defRPr sz="2200" spc="-9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ast_emit(node_assignment);  parse_ensure(</a:t>
            </a:r>
            <a:r>
              <a:rPr>
                <a:solidFill>
                  <a:srgbClr val="38751C"/>
                </a:solidFill>
              </a:rPr>
              <a:t>token_identifier</a:t>
            </a:r>
            <a:r>
              <a:t>);  parse_ensure(</a:t>
            </a:r>
            <a:r>
              <a:rPr>
                <a:solidFill>
                  <a:srgbClr val="38751C"/>
                </a:solidFill>
              </a:rPr>
              <a:t>token_equal</a:t>
            </a:r>
            <a:r>
              <a:t>);  expression();</a:t>
            </a:r>
          </a:p>
          <a:p>
            <a:pPr indent="12700" algn="l">
              <a:spcBef>
                <a:spcPts val="300"/>
              </a:spcBef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Translation</a:t>
            </a:r>
          </a:p>
        </p:txBody>
      </p:sp>
      <p:sp>
        <p:nvSpPr>
          <p:cNvPr id="216" name="Our mission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r>
              <a:t>Our mission:</a:t>
            </a:r>
          </a:p>
          <a:p>
            <a:pPr lvl="1">
              <a:lnSpc>
                <a:spcPct val="120000"/>
              </a:lnSpc>
            </a:pPr>
            <a:r>
              <a:t>Convert AST into bytecode for virtual machine</a:t>
            </a:r>
          </a:p>
          <a:p>
            <a:pPr>
              <a:lnSpc>
                <a:spcPct val="120000"/>
              </a:lnSpc>
            </a:pPr>
            <a:r>
              <a:t>Implementation:</a:t>
            </a:r>
          </a:p>
          <a:p>
            <a:pPr lvl="1">
              <a:lnSpc>
                <a:spcPct val="120000"/>
              </a:lnSpc>
            </a:pPr>
            <a:r>
              <a:t>Repeated AST walks</a:t>
            </a:r>
          </a:p>
          <a:p>
            <a:pPr lvl="1">
              <a:lnSpc>
                <a:spcPct val="120000"/>
              </a:lnSpc>
            </a:pPr>
            <a:r>
              <a:t>Build scope tree</a:t>
            </a:r>
          </a:p>
          <a:p>
            <a:pPr lvl="1">
              <a:lnSpc>
                <a:spcPct val="120000"/>
              </a:lnSpc>
            </a:pPr>
            <a:r>
              <a:t>Gather symbols and resolve</a:t>
            </a:r>
          </a:p>
          <a:p>
            <a:pPr lvl="1">
              <a:lnSpc>
                <a:spcPct val="120000"/>
              </a:lnSpc>
            </a:pPr>
            <a:r>
              <a:t>Emit bytecode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1" build="p" bldLvl="5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Walking the AST</a:t>
            </a:r>
          </a:p>
        </p:txBody>
      </p:sp>
      <p:sp>
        <p:nvSpPr>
          <p:cNvPr id="219" name="Usually depth first traversa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r>
              <a:t>Usually depth first traversal</a:t>
            </a:r>
          </a:p>
          <a:p>
            <a:pPr lvl="1">
              <a:lnSpc>
                <a:spcPct val="120000"/>
              </a:lnSpc>
            </a:pPr>
            <a:r>
              <a:t>Sometimes looking for node of a particular type (e.g. all assignment nodes)</a:t>
            </a:r>
          </a:p>
          <a:p>
            <a:pPr lvl="1">
              <a:lnSpc>
                <a:spcPct val="120000"/>
              </a:lnSpc>
            </a:pPr>
            <a:r>
              <a:t>Sometimes looking at structure of subtrees</a:t>
            </a:r>
          </a:p>
          <a:p>
            <a:pPr>
              <a:lnSpc>
                <a:spcPct val="120000"/>
              </a:lnSpc>
            </a:pPr>
            <a:r>
              <a:t>As each node is visited, can perform action:</a:t>
            </a:r>
          </a:p>
          <a:p>
            <a:pPr lvl="1">
              <a:lnSpc>
                <a:spcPct val="120000"/>
              </a:lnSpc>
            </a:pPr>
            <a:r>
              <a:t>On the way down</a:t>
            </a:r>
          </a:p>
          <a:p>
            <a:pPr lvl="1">
              <a:lnSpc>
                <a:spcPct val="120000"/>
              </a:lnSpc>
            </a:pPr>
            <a:r>
              <a:t>On the way up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1" build="p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Symbol tables</a:t>
            </a:r>
          </a:p>
        </p:txBody>
      </p:sp>
      <p:sp>
        <p:nvSpPr>
          <p:cNvPr id="222" name="Walk AST looking for identifier declara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Walk AST looking for identifier declarations</a:t>
            </a:r>
          </a:p>
          <a:p>
            <a:r>
              <a:t>Create entry in a table for each unique declaration</a:t>
            </a:r>
          </a:p>
          <a:p>
            <a:pPr lvl="1"/>
            <a:r>
              <a:t>Variable symbols</a:t>
            </a:r>
          </a:p>
          <a:p>
            <a:pPr lvl="1"/>
            <a:r>
              <a:t>Function symbols</a:t>
            </a:r>
          </a:p>
          <a:p>
            <a:pPr lvl="1"/>
            <a:r>
              <a:t>Struct/class symbols</a:t>
            </a:r>
          </a:p>
          <a:p>
            <a:pPr lvl="1"/>
            <a:r>
              <a:t>Enum symbols</a:t>
            </a:r>
          </a:p>
          <a:p>
            <a:pPr lvl="1"/>
            <a:r>
              <a:t>Built-in symbols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1" build="p" bldLvl="5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Scope trees</a:t>
            </a:r>
          </a:p>
        </p:txBody>
      </p:sp>
      <p:sp>
        <p:nvSpPr>
          <p:cNvPr id="225" name="Walk AST looking for constructs that introduce scope…"/>
          <p:cNvSpPr txBox="1">
            <a:spLocks noGrp="1"/>
          </p:cNvSpPr>
          <p:nvPr>
            <p:ph type="body" idx="1"/>
          </p:nvPr>
        </p:nvSpPr>
        <p:spPr>
          <a:xfrm>
            <a:off x="1040846" y="2768600"/>
            <a:ext cx="10923108" cy="6137467"/>
          </a:xfrm>
          <a:prstGeom prst="rect">
            <a:avLst/>
          </a:prstGeom>
        </p:spPr>
        <p:txBody>
          <a:bodyPr/>
          <a:lstStyle/>
          <a:p>
            <a:r>
              <a:t>Walk AST looking for constructs that introduce scope</a:t>
            </a:r>
          </a:p>
          <a:p>
            <a:pPr lvl="1"/>
            <a:r>
              <a:t>Global scope</a:t>
            </a:r>
          </a:p>
          <a:p>
            <a:pPr lvl="1"/>
            <a:r>
              <a:t>Namespace scope</a:t>
            </a:r>
          </a:p>
          <a:p>
            <a:pPr lvl="1"/>
            <a:r>
              <a:t>Class scope</a:t>
            </a:r>
          </a:p>
          <a:p>
            <a:pPr lvl="1"/>
            <a:r>
              <a:t>Function scope</a:t>
            </a:r>
          </a:p>
          <a:p>
            <a:pPr lvl="1"/>
            <a:r>
              <a:t>Local scope</a:t>
            </a:r>
          </a:p>
          <a:p>
            <a:r>
              <a:t>Create a tree of scopes</a:t>
            </a:r>
          </a:p>
          <a:p>
            <a:r>
              <a:t>Resolve symbol by searching up in the scope tree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Scope Tree Example</a:t>
            </a:r>
          </a:p>
        </p:txBody>
      </p:sp>
      <p:sp>
        <p:nvSpPr>
          <p:cNvPr id="228" name="object 3"/>
          <p:cNvSpPr txBox="1"/>
          <p:nvPr/>
        </p:nvSpPr>
        <p:spPr>
          <a:xfrm>
            <a:off x="547162" y="2501899"/>
            <a:ext cx="226559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>
              <a:spcBef>
                <a:spcPts val="100"/>
              </a:spcBef>
              <a:defRPr sz="26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</a:t>
            </a:r>
            <a:r>
              <a:rPr spc="0">
                <a:solidFill>
                  <a:srgbClr val="595959"/>
                </a:solidFill>
              </a:rPr>
              <a:t>i =</a:t>
            </a:r>
            <a:r>
              <a:rPr spc="-74">
                <a:solidFill>
                  <a:srgbClr val="595959"/>
                </a:solidFill>
              </a:rPr>
              <a:t> </a:t>
            </a:r>
            <a:r>
              <a:rPr>
                <a:solidFill>
                  <a:srgbClr val="595959"/>
                </a:solidFill>
              </a:rPr>
              <a:t>42;</a:t>
            </a:r>
          </a:p>
        </p:txBody>
      </p:sp>
      <p:sp>
        <p:nvSpPr>
          <p:cNvPr id="229" name="object 4"/>
          <p:cNvSpPr txBox="1"/>
          <p:nvPr/>
        </p:nvSpPr>
        <p:spPr>
          <a:xfrm>
            <a:off x="547162" y="3563326"/>
            <a:ext cx="5072703" cy="2719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lnSpc>
                <a:spcPts val="3000"/>
              </a:lnSpc>
              <a:spcBef>
                <a:spcPts val="100"/>
              </a:spcBef>
              <a:defRPr sz="26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</a:t>
            </a:r>
            <a:r>
              <a:rPr spc="0">
                <a:solidFill>
                  <a:srgbClr val="595959"/>
                </a:solidFill>
              </a:rPr>
              <a:t>f(</a:t>
            </a:r>
            <a:r>
              <a:rPr spc="0"/>
              <a:t>int </a:t>
            </a:r>
            <a:r>
              <a:rPr>
                <a:solidFill>
                  <a:srgbClr val="595959"/>
                </a:solidFill>
              </a:rPr>
              <a:t>x, </a:t>
            </a:r>
            <a:r>
              <a:t>int</a:t>
            </a:r>
            <a:r>
              <a:rPr spc="390"/>
              <a:t> </a:t>
            </a:r>
            <a:r>
              <a:rPr>
                <a:solidFill>
                  <a:srgbClr val="595959"/>
                </a:solidFill>
              </a:rPr>
              <a:t>y)</a:t>
            </a:r>
          </a:p>
          <a:p>
            <a:pPr indent="12700" algn="l">
              <a:lnSpc>
                <a:spcPts val="3000"/>
              </a:lnSpc>
              <a:defRPr sz="26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indent="469265" algn="l">
              <a:lnSpc>
                <a:spcPts val="3000"/>
              </a:lnSpc>
              <a:defRPr sz="26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</a:t>
            </a:r>
            <a:r>
              <a:rPr spc="92"/>
              <a:t> </a:t>
            </a:r>
            <a:r>
              <a:rPr>
                <a:solidFill>
                  <a:srgbClr val="595959"/>
                </a:solidFill>
              </a:rPr>
              <a:t>i;</a:t>
            </a:r>
          </a:p>
          <a:p>
            <a:pPr indent="469265" algn="l">
              <a:lnSpc>
                <a:spcPts val="3000"/>
              </a:lnSpc>
              <a:defRPr sz="26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 </a:t>
            </a:r>
            <a:r>
              <a:rPr spc="-9">
                <a:solidFill>
                  <a:srgbClr val="0000FF"/>
                </a:solidFill>
              </a:rPr>
              <a:t>int </a:t>
            </a:r>
            <a:r>
              <a:t>z = </a:t>
            </a:r>
            <a:r>
              <a:rPr spc="-9"/>
              <a:t>x+y; </a:t>
            </a:r>
            <a:r>
              <a:t>i = </a:t>
            </a:r>
            <a:r>
              <a:rPr spc="-9"/>
              <a:t>z;</a:t>
            </a:r>
            <a:r>
              <a:rPr spc="-27"/>
              <a:t> </a:t>
            </a:r>
            <a:r>
              <a:t>}</a:t>
            </a:r>
          </a:p>
          <a:p>
            <a:pPr marR="9633" indent="469265" algn="l">
              <a:lnSpc>
                <a:spcPts val="3000"/>
              </a:lnSpc>
              <a:defRPr sz="26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 </a:t>
            </a:r>
            <a:r>
              <a:rPr spc="-9">
                <a:solidFill>
                  <a:srgbClr val="0000FF"/>
                </a:solidFill>
              </a:rPr>
              <a:t>int </a:t>
            </a:r>
            <a:r>
              <a:t>z = </a:t>
            </a:r>
            <a:r>
              <a:rPr spc="-9"/>
              <a:t>i+1; </a:t>
            </a:r>
            <a:r>
              <a:t>i = </a:t>
            </a:r>
            <a:r>
              <a:rPr spc="-9"/>
              <a:t>z; </a:t>
            </a:r>
            <a:r>
              <a:t>}  </a:t>
            </a:r>
            <a:r>
              <a:rPr spc="-9">
                <a:solidFill>
                  <a:srgbClr val="0000FF"/>
                </a:solidFill>
              </a:rPr>
              <a:t>return</a:t>
            </a:r>
            <a:r>
              <a:rPr spc="176">
                <a:solidFill>
                  <a:srgbClr val="0000FF"/>
                </a:solidFill>
              </a:rPr>
              <a:t> </a:t>
            </a:r>
            <a:r>
              <a:rPr spc="-9"/>
              <a:t>i;</a:t>
            </a:r>
          </a:p>
          <a:p>
            <a:pPr indent="12700" algn="l">
              <a:lnSpc>
                <a:spcPts val="3000"/>
              </a:lnSpc>
              <a:defRPr sz="26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230" name="object 5"/>
          <p:cNvSpPr txBox="1"/>
          <p:nvPr/>
        </p:nvSpPr>
        <p:spPr>
          <a:xfrm>
            <a:off x="547162" y="6839714"/>
            <a:ext cx="3661821" cy="1563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lnSpc>
                <a:spcPts val="3000"/>
              </a:lnSpc>
              <a:spcBef>
                <a:spcPts val="100"/>
              </a:spcBef>
              <a:defRPr sz="26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</a:t>
            </a:r>
            <a:r>
              <a:rPr spc="102"/>
              <a:t> </a:t>
            </a:r>
            <a:r>
              <a:rPr>
                <a:solidFill>
                  <a:srgbClr val="595959"/>
                </a:solidFill>
              </a:rPr>
              <a:t>g()</a:t>
            </a:r>
          </a:p>
          <a:p>
            <a:pPr indent="12700" algn="l">
              <a:lnSpc>
                <a:spcPts val="3000"/>
              </a:lnSpc>
              <a:defRPr sz="26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indent="469265" algn="l">
              <a:lnSpc>
                <a:spcPts val="3000"/>
              </a:lnSpc>
              <a:defRPr sz="2600" spc="-9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f(i,</a:t>
            </a:r>
            <a:r>
              <a:rPr spc="-167"/>
              <a:t> </a:t>
            </a:r>
            <a:r>
              <a:t>2);</a:t>
            </a:r>
          </a:p>
          <a:p>
            <a:pPr indent="12700" algn="l">
              <a:lnSpc>
                <a:spcPts val="3000"/>
              </a:lnSpc>
              <a:defRPr sz="26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231" name="object 6"/>
          <p:cNvSpPr/>
          <p:nvPr/>
        </p:nvSpPr>
        <p:spPr>
          <a:xfrm>
            <a:off x="7444819" y="3043337"/>
            <a:ext cx="2898341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26" y="21600"/>
                </a:moveTo>
                <a:lnTo>
                  <a:pt x="874" y="21600"/>
                </a:lnTo>
                <a:lnTo>
                  <a:pt x="534" y="21317"/>
                </a:lnTo>
                <a:lnTo>
                  <a:pt x="256" y="20546"/>
                </a:lnTo>
                <a:lnTo>
                  <a:pt x="69" y="19401"/>
                </a:lnTo>
                <a:lnTo>
                  <a:pt x="0" y="18000"/>
                </a:lnTo>
                <a:lnTo>
                  <a:pt x="0" y="3600"/>
                </a:lnTo>
                <a:lnTo>
                  <a:pt x="69" y="2199"/>
                </a:lnTo>
                <a:lnTo>
                  <a:pt x="256" y="1054"/>
                </a:lnTo>
                <a:lnTo>
                  <a:pt x="534" y="283"/>
                </a:lnTo>
                <a:lnTo>
                  <a:pt x="874" y="0"/>
                </a:lnTo>
                <a:lnTo>
                  <a:pt x="20726" y="0"/>
                </a:lnTo>
                <a:lnTo>
                  <a:pt x="21211" y="605"/>
                </a:lnTo>
                <a:lnTo>
                  <a:pt x="21534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31" y="19401"/>
                </a:lnTo>
                <a:lnTo>
                  <a:pt x="21344" y="20546"/>
                </a:lnTo>
                <a:lnTo>
                  <a:pt x="21066" y="21317"/>
                </a:lnTo>
                <a:lnTo>
                  <a:pt x="20726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32" name="object 7"/>
          <p:cNvSpPr/>
          <p:nvPr/>
        </p:nvSpPr>
        <p:spPr>
          <a:xfrm>
            <a:off x="7444819" y="3043337"/>
            <a:ext cx="2898341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69" y="2199"/>
                </a:lnTo>
                <a:lnTo>
                  <a:pt x="256" y="1054"/>
                </a:lnTo>
                <a:lnTo>
                  <a:pt x="534" y="283"/>
                </a:lnTo>
                <a:lnTo>
                  <a:pt x="874" y="0"/>
                </a:lnTo>
                <a:lnTo>
                  <a:pt x="20726" y="0"/>
                </a:lnTo>
                <a:lnTo>
                  <a:pt x="21211" y="605"/>
                </a:lnTo>
                <a:lnTo>
                  <a:pt x="21534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31" y="19401"/>
                </a:lnTo>
                <a:lnTo>
                  <a:pt x="21344" y="20546"/>
                </a:lnTo>
                <a:lnTo>
                  <a:pt x="21066" y="21317"/>
                </a:lnTo>
                <a:lnTo>
                  <a:pt x="20726" y="21600"/>
                </a:lnTo>
                <a:lnTo>
                  <a:pt x="874" y="21600"/>
                </a:lnTo>
                <a:lnTo>
                  <a:pt x="534" y="21317"/>
                </a:lnTo>
                <a:lnTo>
                  <a:pt x="256" y="20546"/>
                </a:lnTo>
                <a:lnTo>
                  <a:pt x="69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33" name="object 8"/>
          <p:cNvSpPr txBox="1"/>
          <p:nvPr/>
        </p:nvSpPr>
        <p:spPr>
          <a:xfrm>
            <a:off x="7249073" y="2996755"/>
            <a:ext cx="3289835" cy="672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>
              <a:lnSpc>
                <a:spcPts val="2600"/>
              </a:lnSpc>
              <a:spcBef>
                <a:spcPts val="100"/>
              </a:spcBef>
              <a:defRPr sz="2100" spc="-8"/>
            </a:pPr>
            <a:r>
              <a:t>GlobalScope</a:t>
            </a:r>
          </a:p>
          <a:p>
            <a:pPr indent="12700">
              <a:lnSpc>
                <a:spcPts val="2600"/>
              </a:lnSpc>
              <a:defRPr sz="2100"/>
            </a:pPr>
            <a:r>
              <a:t>symbols = </a:t>
            </a:r>
            <a:r>
              <a:rPr spc="-8"/>
              <a:t>[int, </a:t>
            </a:r>
            <a:r>
              <a:t>void, </a:t>
            </a:r>
            <a:r>
              <a:rPr spc="-8"/>
              <a:t>i, f,</a:t>
            </a:r>
            <a:r>
              <a:rPr spc="-175"/>
              <a:t> </a:t>
            </a:r>
            <a:r>
              <a:rPr spc="-8"/>
              <a:t>g]</a:t>
            </a:r>
          </a:p>
        </p:txBody>
      </p:sp>
      <p:sp>
        <p:nvSpPr>
          <p:cNvPr id="234" name="object 9"/>
          <p:cNvSpPr/>
          <p:nvPr/>
        </p:nvSpPr>
        <p:spPr>
          <a:xfrm>
            <a:off x="6670777" y="4204579"/>
            <a:ext cx="1866663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43" y="21600"/>
                </a:move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lnTo>
                  <a:pt x="107" y="2199"/>
                </a:lnTo>
                <a:lnTo>
                  <a:pt x="397" y="1054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35" name="object 10"/>
          <p:cNvSpPr/>
          <p:nvPr/>
        </p:nvSpPr>
        <p:spPr>
          <a:xfrm>
            <a:off x="6670777" y="4204579"/>
            <a:ext cx="1866663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07" y="2199"/>
                </a:lnTo>
                <a:lnTo>
                  <a:pt x="397" y="1054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36" name="object 11"/>
          <p:cNvSpPr txBox="1"/>
          <p:nvPr/>
        </p:nvSpPr>
        <p:spPr>
          <a:xfrm>
            <a:off x="6442515" y="4218540"/>
            <a:ext cx="2310489" cy="67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R="9633" indent="12700">
              <a:lnSpc>
                <a:spcPts val="2600"/>
              </a:lnSpc>
              <a:spcBef>
                <a:spcPts val="100"/>
              </a:spcBef>
              <a:defRPr sz="2200" spc="-9"/>
            </a:pPr>
            <a:r>
              <a:t>FunctionScope  </a:t>
            </a:r>
            <a:r>
              <a:rPr spc="0"/>
              <a:t>symbols = </a:t>
            </a:r>
            <a:r>
              <a:t>[x,</a:t>
            </a:r>
            <a:r>
              <a:rPr spc="-201"/>
              <a:t> </a:t>
            </a:r>
            <a:r>
              <a:rPr spc="0"/>
              <a:t>y]</a:t>
            </a:r>
          </a:p>
        </p:txBody>
      </p:sp>
      <p:sp>
        <p:nvSpPr>
          <p:cNvPr id="237" name="object 12"/>
          <p:cNvSpPr/>
          <p:nvPr/>
        </p:nvSpPr>
        <p:spPr>
          <a:xfrm>
            <a:off x="8998737" y="4204579"/>
            <a:ext cx="1866664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43" y="21600"/>
                </a:move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lnTo>
                  <a:pt x="107" y="2199"/>
                </a:lnTo>
                <a:lnTo>
                  <a:pt x="397" y="1054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38" name="object 13"/>
          <p:cNvSpPr/>
          <p:nvPr/>
        </p:nvSpPr>
        <p:spPr>
          <a:xfrm>
            <a:off x="8998737" y="4204579"/>
            <a:ext cx="1866664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07" y="2199"/>
                </a:lnTo>
                <a:lnTo>
                  <a:pt x="397" y="1054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39" name="object 14"/>
          <p:cNvSpPr txBox="1"/>
          <p:nvPr/>
        </p:nvSpPr>
        <p:spPr>
          <a:xfrm>
            <a:off x="8819914" y="4183517"/>
            <a:ext cx="2265598" cy="67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R="9633" indent="12700">
              <a:lnSpc>
                <a:spcPts val="2600"/>
              </a:lnSpc>
              <a:spcBef>
                <a:spcPts val="100"/>
              </a:spcBef>
              <a:defRPr sz="2200" spc="-9"/>
            </a:pPr>
            <a:r>
              <a:t>FunctionScope  </a:t>
            </a:r>
            <a:r>
              <a:rPr spc="0"/>
              <a:t>symbols =</a:t>
            </a:r>
            <a:r>
              <a:rPr spc="-73"/>
              <a:t> </a:t>
            </a:r>
            <a:r>
              <a:t>[]</a:t>
            </a:r>
          </a:p>
        </p:txBody>
      </p:sp>
      <p:sp>
        <p:nvSpPr>
          <p:cNvPr id="240" name="object 15"/>
          <p:cNvSpPr/>
          <p:nvPr/>
        </p:nvSpPr>
        <p:spPr>
          <a:xfrm>
            <a:off x="6670777" y="5365822"/>
            <a:ext cx="1866663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43" y="21600"/>
                </a:move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lnTo>
                  <a:pt x="107" y="2199"/>
                </a:lnTo>
                <a:lnTo>
                  <a:pt x="398" y="1054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41" name="object 16"/>
          <p:cNvSpPr/>
          <p:nvPr/>
        </p:nvSpPr>
        <p:spPr>
          <a:xfrm>
            <a:off x="6670777" y="5365822"/>
            <a:ext cx="1866663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07" y="2199"/>
                </a:lnTo>
                <a:lnTo>
                  <a:pt x="397" y="1055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42" name="object 17"/>
          <p:cNvSpPr txBox="1"/>
          <p:nvPr/>
        </p:nvSpPr>
        <p:spPr>
          <a:xfrm>
            <a:off x="6630165" y="5315422"/>
            <a:ext cx="1872827" cy="67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R="9633" indent="12700">
              <a:lnSpc>
                <a:spcPts val="2600"/>
              </a:lnSpc>
              <a:spcBef>
                <a:spcPts val="100"/>
              </a:spcBef>
              <a:defRPr sz="2200" spc="-9"/>
            </a:pPr>
            <a:r>
              <a:t>LocalScope  </a:t>
            </a:r>
            <a:r>
              <a:rPr spc="0"/>
              <a:t>symbols =</a:t>
            </a:r>
            <a:r>
              <a:rPr spc="-201"/>
              <a:t> </a:t>
            </a:r>
            <a:r>
              <a:t>[i]</a:t>
            </a:r>
          </a:p>
        </p:txBody>
      </p:sp>
      <p:sp>
        <p:nvSpPr>
          <p:cNvPr id="243" name="object 18"/>
          <p:cNvSpPr/>
          <p:nvPr/>
        </p:nvSpPr>
        <p:spPr>
          <a:xfrm>
            <a:off x="8998737" y="5365822"/>
            <a:ext cx="1866664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43" y="21600"/>
                </a:move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lnTo>
                  <a:pt x="107" y="2199"/>
                </a:lnTo>
                <a:lnTo>
                  <a:pt x="398" y="1054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44" name="object 19"/>
          <p:cNvSpPr/>
          <p:nvPr/>
        </p:nvSpPr>
        <p:spPr>
          <a:xfrm>
            <a:off x="8998737" y="5365822"/>
            <a:ext cx="1866664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07" y="2199"/>
                </a:lnTo>
                <a:lnTo>
                  <a:pt x="397" y="1055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45" name="object 20"/>
          <p:cNvSpPr txBox="1"/>
          <p:nvPr/>
        </p:nvSpPr>
        <p:spPr>
          <a:xfrm>
            <a:off x="9004358" y="5341756"/>
            <a:ext cx="1900147" cy="67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R="9633" indent="12700">
              <a:lnSpc>
                <a:spcPts val="2600"/>
              </a:lnSpc>
              <a:spcBef>
                <a:spcPts val="100"/>
              </a:spcBef>
              <a:defRPr sz="2200" spc="-9"/>
            </a:pPr>
            <a:r>
              <a:t>LocalScope  </a:t>
            </a:r>
            <a:r>
              <a:rPr spc="0"/>
              <a:t>symbols =</a:t>
            </a:r>
            <a:r>
              <a:rPr spc="-201"/>
              <a:t> </a:t>
            </a:r>
            <a:r>
              <a:t>[]</a:t>
            </a:r>
          </a:p>
        </p:txBody>
      </p:sp>
      <p:sp>
        <p:nvSpPr>
          <p:cNvPr id="246" name="object 21"/>
          <p:cNvSpPr/>
          <p:nvPr/>
        </p:nvSpPr>
        <p:spPr>
          <a:xfrm>
            <a:off x="5569055" y="6527064"/>
            <a:ext cx="1866663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43" y="21600"/>
                </a:move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lnTo>
                  <a:pt x="107" y="2199"/>
                </a:lnTo>
                <a:lnTo>
                  <a:pt x="398" y="1054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47" name="object 22"/>
          <p:cNvSpPr/>
          <p:nvPr/>
        </p:nvSpPr>
        <p:spPr>
          <a:xfrm>
            <a:off x="5569053" y="6527064"/>
            <a:ext cx="1866663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07" y="2199"/>
                </a:lnTo>
                <a:lnTo>
                  <a:pt x="397" y="1055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48" name="object 23"/>
          <p:cNvSpPr txBox="1"/>
          <p:nvPr/>
        </p:nvSpPr>
        <p:spPr>
          <a:xfrm>
            <a:off x="5570660" y="6501888"/>
            <a:ext cx="1900147" cy="675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R="9633" indent="12700">
              <a:lnSpc>
                <a:spcPts val="2600"/>
              </a:lnSpc>
              <a:spcBef>
                <a:spcPts val="100"/>
              </a:spcBef>
              <a:defRPr sz="2200" spc="-9"/>
            </a:pPr>
            <a:r>
              <a:t>LocalScope  </a:t>
            </a:r>
            <a:r>
              <a:rPr spc="0"/>
              <a:t>symbols =</a:t>
            </a:r>
            <a:r>
              <a:rPr spc="-201"/>
              <a:t> </a:t>
            </a:r>
            <a:r>
              <a:t>[z]</a:t>
            </a:r>
          </a:p>
        </p:txBody>
      </p:sp>
      <p:sp>
        <p:nvSpPr>
          <p:cNvPr id="249" name="object 24"/>
          <p:cNvSpPr/>
          <p:nvPr/>
        </p:nvSpPr>
        <p:spPr>
          <a:xfrm>
            <a:off x="7711842" y="6527064"/>
            <a:ext cx="1866663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43" y="21600"/>
                </a:move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lnTo>
                  <a:pt x="107" y="2199"/>
                </a:lnTo>
                <a:lnTo>
                  <a:pt x="398" y="1054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close/>
              </a:path>
            </a:pathLst>
          </a:custGeom>
          <a:solidFill>
            <a:srgbClr val="E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50" name="object 25"/>
          <p:cNvSpPr/>
          <p:nvPr/>
        </p:nvSpPr>
        <p:spPr>
          <a:xfrm>
            <a:off x="7711842" y="6527064"/>
            <a:ext cx="1866663" cy="70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600"/>
                </a:moveTo>
                <a:lnTo>
                  <a:pt x="107" y="2199"/>
                </a:lnTo>
                <a:lnTo>
                  <a:pt x="397" y="1055"/>
                </a:lnTo>
                <a:lnTo>
                  <a:pt x="829" y="283"/>
                </a:lnTo>
                <a:lnTo>
                  <a:pt x="1357" y="0"/>
                </a:lnTo>
                <a:lnTo>
                  <a:pt x="20243" y="0"/>
                </a:lnTo>
                <a:lnTo>
                  <a:pt x="20996" y="605"/>
                </a:lnTo>
                <a:lnTo>
                  <a:pt x="2149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493" y="19401"/>
                </a:lnTo>
                <a:lnTo>
                  <a:pt x="21203" y="20545"/>
                </a:lnTo>
                <a:lnTo>
                  <a:pt x="20771" y="21317"/>
                </a:lnTo>
                <a:lnTo>
                  <a:pt x="20243" y="21600"/>
                </a:lnTo>
                <a:lnTo>
                  <a:pt x="1357" y="21600"/>
                </a:lnTo>
                <a:lnTo>
                  <a:pt x="829" y="21317"/>
                </a:lnTo>
                <a:lnTo>
                  <a:pt x="397" y="20545"/>
                </a:lnTo>
                <a:lnTo>
                  <a:pt x="107" y="19401"/>
                </a:lnTo>
                <a:lnTo>
                  <a:pt x="0" y="18000"/>
                </a:lnTo>
                <a:lnTo>
                  <a:pt x="0" y="360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51" name="object 26"/>
          <p:cNvSpPr txBox="1"/>
          <p:nvPr/>
        </p:nvSpPr>
        <p:spPr>
          <a:xfrm>
            <a:off x="7684709" y="6520714"/>
            <a:ext cx="1900147" cy="67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R="9633" indent="12700">
              <a:lnSpc>
                <a:spcPts val="2600"/>
              </a:lnSpc>
              <a:spcBef>
                <a:spcPts val="100"/>
              </a:spcBef>
              <a:defRPr sz="2200" spc="-9"/>
            </a:pPr>
            <a:r>
              <a:t>LocalScope  </a:t>
            </a:r>
            <a:r>
              <a:rPr spc="0"/>
              <a:t>symbols =</a:t>
            </a:r>
            <a:r>
              <a:rPr spc="-201"/>
              <a:t> </a:t>
            </a:r>
            <a:r>
              <a:t>[z]</a:t>
            </a:r>
          </a:p>
        </p:txBody>
      </p:sp>
      <p:sp>
        <p:nvSpPr>
          <p:cNvPr id="252" name="object 27"/>
          <p:cNvSpPr/>
          <p:nvPr/>
        </p:nvSpPr>
        <p:spPr>
          <a:xfrm flipH="1">
            <a:off x="7680765" y="3746909"/>
            <a:ext cx="1213226" cy="430624"/>
          </a:xfrm>
          <a:prstGeom prst="line">
            <a:avLst/>
          </a:pr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53" name="object 28"/>
          <p:cNvSpPr/>
          <p:nvPr/>
        </p:nvSpPr>
        <p:spPr>
          <a:xfrm>
            <a:off x="7622846" y="4156448"/>
            <a:ext cx="65423" cy="42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332"/>
                </a:lnTo>
                <a:lnTo>
                  <a:pt x="16658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54" name="object 29"/>
          <p:cNvSpPr/>
          <p:nvPr/>
        </p:nvSpPr>
        <p:spPr>
          <a:xfrm>
            <a:off x="7622846" y="4156448"/>
            <a:ext cx="65423" cy="42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58" y="0"/>
                </a:moveTo>
                <a:lnTo>
                  <a:pt x="0" y="21332"/>
                </a:lnTo>
                <a:lnTo>
                  <a:pt x="21600" y="21600"/>
                </a:lnTo>
                <a:lnTo>
                  <a:pt x="16658" y="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55" name="object 30"/>
          <p:cNvSpPr/>
          <p:nvPr/>
        </p:nvSpPr>
        <p:spPr>
          <a:xfrm>
            <a:off x="8893990" y="3746909"/>
            <a:ext cx="963697" cy="425017"/>
          </a:xfrm>
          <a:prstGeom prst="line">
            <a:avLst/>
          </a:pr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56" name="object 31"/>
          <p:cNvSpPr/>
          <p:nvPr/>
        </p:nvSpPr>
        <p:spPr>
          <a:xfrm>
            <a:off x="9848656" y="4151452"/>
            <a:ext cx="65281" cy="452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19534"/>
                </a:lnTo>
                <a:lnTo>
                  <a:pt x="5976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57" name="object 32"/>
          <p:cNvSpPr/>
          <p:nvPr/>
        </p:nvSpPr>
        <p:spPr>
          <a:xfrm>
            <a:off x="9848656" y="4151452"/>
            <a:ext cx="65281" cy="452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534"/>
                </a:moveTo>
                <a:lnTo>
                  <a:pt x="21600" y="21600"/>
                </a:lnTo>
                <a:lnTo>
                  <a:pt x="5976" y="0"/>
                </a:lnTo>
                <a:lnTo>
                  <a:pt x="0" y="19534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58" name="object 33"/>
          <p:cNvSpPr/>
          <p:nvPr/>
        </p:nvSpPr>
        <p:spPr>
          <a:xfrm>
            <a:off x="9932069" y="4908151"/>
            <a:ext cx="1" cy="376534"/>
          </a:xfrm>
          <a:prstGeom prst="line">
            <a:avLst/>
          </a:pr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59" name="object 34"/>
          <p:cNvSpPr/>
          <p:nvPr/>
        </p:nvSpPr>
        <p:spPr>
          <a:xfrm>
            <a:off x="9909704" y="5284684"/>
            <a:ext cx="44728" cy="614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60" name="object 35"/>
          <p:cNvSpPr/>
          <p:nvPr/>
        </p:nvSpPr>
        <p:spPr>
          <a:xfrm>
            <a:off x="9909702" y="5284684"/>
            <a:ext cx="44729" cy="614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61" name="object 36"/>
          <p:cNvSpPr/>
          <p:nvPr/>
        </p:nvSpPr>
        <p:spPr>
          <a:xfrm>
            <a:off x="7604109" y="4908151"/>
            <a:ext cx="1" cy="376534"/>
          </a:xfrm>
          <a:prstGeom prst="line">
            <a:avLst/>
          </a:pr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62" name="object 37"/>
          <p:cNvSpPr/>
          <p:nvPr/>
        </p:nvSpPr>
        <p:spPr>
          <a:xfrm>
            <a:off x="7581744" y="5284684"/>
            <a:ext cx="44728" cy="614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63" name="object 38"/>
          <p:cNvSpPr/>
          <p:nvPr/>
        </p:nvSpPr>
        <p:spPr>
          <a:xfrm>
            <a:off x="7581744" y="5284684"/>
            <a:ext cx="44728" cy="614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64" name="object 39"/>
          <p:cNvSpPr/>
          <p:nvPr/>
        </p:nvSpPr>
        <p:spPr>
          <a:xfrm flipH="1">
            <a:off x="6577514" y="6069394"/>
            <a:ext cx="1026594" cy="426632"/>
          </a:xfrm>
          <a:prstGeom prst="line">
            <a:avLst/>
          </a:pr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65" name="object 40"/>
          <p:cNvSpPr/>
          <p:nvPr/>
        </p:nvSpPr>
        <p:spPr>
          <a:xfrm>
            <a:off x="6520733" y="6475366"/>
            <a:ext cx="65352" cy="44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5924" y="0"/>
                </a:lnTo>
                <a:lnTo>
                  <a:pt x="21600" y="20176"/>
                </a:lnTo>
                <a:lnTo>
                  <a:pt x="0" y="21600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66" name="object 41"/>
          <p:cNvSpPr/>
          <p:nvPr/>
        </p:nvSpPr>
        <p:spPr>
          <a:xfrm>
            <a:off x="6520732" y="6475366"/>
            <a:ext cx="65352" cy="44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24" y="0"/>
                </a:moveTo>
                <a:lnTo>
                  <a:pt x="0" y="21600"/>
                </a:lnTo>
                <a:lnTo>
                  <a:pt x="21600" y="20176"/>
                </a:lnTo>
                <a:lnTo>
                  <a:pt x="15924" y="0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67" name="object 42"/>
          <p:cNvSpPr/>
          <p:nvPr/>
        </p:nvSpPr>
        <p:spPr>
          <a:xfrm>
            <a:off x="7604109" y="6069394"/>
            <a:ext cx="966647" cy="425102"/>
          </a:xfrm>
          <a:prstGeom prst="line">
            <a:avLst/>
          </a:pr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68" name="object 43"/>
          <p:cNvSpPr/>
          <p:nvPr/>
        </p:nvSpPr>
        <p:spPr>
          <a:xfrm>
            <a:off x="8561758" y="6474015"/>
            <a:ext cx="65281" cy="45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19562"/>
                </a:lnTo>
                <a:lnTo>
                  <a:pt x="5964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269" name="object 44"/>
          <p:cNvSpPr/>
          <p:nvPr/>
        </p:nvSpPr>
        <p:spPr>
          <a:xfrm>
            <a:off x="8561758" y="6474015"/>
            <a:ext cx="65281" cy="45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562"/>
                </a:moveTo>
                <a:lnTo>
                  <a:pt x="21600" y="21600"/>
                </a:lnTo>
                <a:lnTo>
                  <a:pt x="5964" y="0"/>
                </a:lnTo>
                <a:lnTo>
                  <a:pt x="0" y="19562"/>
                </a:lnTo>
                <a:close/>
              </a:path>
            </a:pathLst>
          </a:custGeom>
          <a:ln w="12700">
            <a:solidFill>
              <a:srgbClr val="595959"/>
            </a:solidFill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Generating Bytecode</a:t>
            </a:r>
          </a:p>
        </p:txBody>
      </p:sp>
      <p:sp>
        <p:nvSpPr>
          <p:cNvPr id="272" name="Walk the AST and generate a stream of virtual machine instruc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Walk the AST and generate a stream of virtual machine instructions</a:t>
            </a:r>
          </a:p>
          <a:p>
            <a:r>
              <a:t>Use scope tree and symbol table to reserve virtual stack/registers</a:t>
            </a:r>
          </a:p>
          <a:p>
            <a:r>
              <a:t>Heavily dependent on virtual machine architecture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" grpId="1" build="p" bldLvl="5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7200" spc="-257"/>
            </a:pPr>
            <a:r>
              <a:t>Virtual </a:t>
            </a:r>
            <a:r>
              <a:rPr spc="0"/>
              <a:t>Machines</a:t>
            </a:r>
          </a:p>
        </p:txBody>
      </p:sp>
      <p:sp>
        <p:nvSpPr>
          <p:cNvPr id="275" name="A virtual CPU with a made up instruction set that  runs our script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r>
              <a:t>A virtual CPU with a made up instruction set that  runs our script.</a:t>
            </a:r>
          </a:p>
          <a:p>
            <a:pPr lvl="1">
              <a:lnSpc>
                <a:spcPct val="120000"/>
              </a:lnSpc>
            </a:pPr>
            <a:r>
              <a:t>Easy to target (vs real CPU).</a:t>
            </a:r>
          </a:p>
          <a:p>
            <a:pPr lvl="1">
              <a:lnSpc>
                <a:spcPct val="120000"/>
              </a:lnSpc>
            </a:pPr>
            <a:r>
              <a:t>Fast enough (pack instructions tight).</a:t>
            </a:r>
          </a:p>
          <a:p>
            <a:pPr>
              <a:lnSpc>
                <a:spcPct val="120000"/>
              </a:lnSpc>
            </a:pPr>
            <a:r>
              <a:t>Two flavors:</a:t>
            </a:r>
          </a:p>
          <a:p>
            <a:pPr lvl="1">
              <a:lnSpc>
                <a:spcPct val="120000"/>
              </a:lnSpc>
            </a:pPr>
            <a:r>
              <a:t>Stack based</a:t>
            </a:r>
          </a:p>
          <a:p>
            <a:pPr lvl="1">
              <a:lnSpc>
                <a:spcPct val="120000"/>
              </a:lnSpc>
            </a:pPr>
            <a:r>
              <a:t>Register based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1" build="p" bldLvl="5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Stack Based</a:t>
            </a:r>
          </a:p>
        </p:txBody>
      </p:sp>
      <p:sp>
        <p:nvSpPr>
          <p:cNvPr id="278" name="object 6"/>
          <p:cNvSpPr txBox="1"/>
          <p:nvPr/>
        </p:nvSpPr>
        <p:spPr>
          <a:xfrm>
            <a:off x="2994345" y="3923921"/>
            <a:ext cx="3906586" cy="1265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R="9633" indent="12700" algn="l">
              <a:lnSpc>
                <a:spcPct val="116100"/>
              </a:lnSpc>
              <a:spcBef>
                <a:spcPts val="100"/>
              </a:spcBef>
              <a:defRPr sz="26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iconst</a:t>
            </a:r>
            <a:br/>
            <a:r>
              <a:t>iconst</a:t>
            </a:r>
            <a:br/>
            <a:r>
              <a:t>iadd</a:t>
            </a:r>
          </a:p>
        </p:txBody>
      </p:sp>
      <p:sp>
        <p:nvSpPr>
          <p:cNvPr id="279" name="object 7"/>
          <p:cNvSpPr txBox="1"/>
          <p:nvPr/>
        </p:nvSpPr>
        <p:spPr>
          <a:xfrm>
            <a:off x="2874362" y="5715101"/>
            <a:ext cx="126893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indent="12700">
              <a:spcBef>
                <a:spcPts val="100"/>
              </a:spcBef>
              <a:defRPr sz="26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print</a:t>
            </a:r>
          </a:p>
        </p:txBody>
      </p:sp>
      <p:sp>
        <p:nvSpPr>
          <p:cNvPr id="280" name="object 8"/>
          <p:cNvSpPr txBox="1"/>
          <p:nvPr/>
        </p:nvSpPr>
        <p:spPr>
          <a:xfrm>
            <a:off x="4421352" y="3923921"/>
            <a:ext cx="5709086" cy="2172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marR="213134" indent="12700" algn="l">
              <a:lnSpc>
                <a:spcPct val="116100"/>
              </a:lnSpc>
              <a:spcBef>
                <a:spcPts val="100"/>
              </a:spcBef>
              <a:defRPr sz="26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 </a:t>
            </a:r>
            <a:r>
              <a:rPr>
                <a:solidFill>
                  <a:srgbClr val="69A84F"/>
                </a:solidFill>
              </a:rPr>
              <a:t>; </a:t>
            </a:r>
            <a:r>
              <a:rPr spc="-9">
                <a:solidFill>
                  <a:srgbClr val="69A84F"/>
                </a:solidFill>
              </a:rPr>
              <a:t>Push integer </a:t>
            </a:r>
            <a:r>
              <a:rPr>
                <a:solidFill>
                  <a:srgbClr val="69A84F"/>
                </a:solidFill>
              </a:rPr>
              <a:t>1 </a:t>
            </a:r>
            <a:r>
              <a:rPr spc="-9">
                <a:solidFill>
                  <a:srgbClr val="69A84F"/>
                </a:solidFill>
              </a:rPr>
              <a:t>on</a:t>
            </a:r>
            <a:r>
              <a:rPr spc="-1058">
                <a:solidFill>
                  <a:srgbClr val="69A84F"/>
                </a:solidFill>
              </a:rPr>
              <a:t> </a:t>
            </a:r>
            <a:r>
              <a:rPr spc="-9">
                <a:solidFill>
                  <a:srgbClr val="69A84F"/>
                </a:solidFill>
              </a:rPr>
              <a:t>stack </a:t>
            </a:r>
            <a:r>
              <a:rPr spc="-9"/>
              <a:t> </a:t>
            </a:r>
            <a:br>
              <a:rPr spc="-9"/>
            </a:br>
            <a:r>
              <a:t>2 </a:t>
            </a:r>
            <a:r>
              <a:rPr>
                <a:solidFill>
                  <a:srgbClr val="69A84F"/>
                </a:solidFill>
              </a:rPr>
              <a:t>; </a:t>
            </a:r>
            <a:r>
              <a:rPr spc="-9">
                <a:solidFill>
                  <a:srgbClr val="69A84F"/>
                </a:solidFill>
              </a:rPr>
              <a:t>Push integer </a:t>
            </a:r>
            <a:r>
              <a:rPr>
                <a:solidFill>
                  <a:srgbClr val="69A84F"/>
                </a:solidFill>
              </a:rPr>
              <a:t>2 </a:t>
            </a:r>
            <a:r>
              <a:rPr spc="-9">
                <a:solidFill>
                  <a:srgbClr val="69A84F"/>
                </a:solidFill>
              </a:rPr>
              <a:t>on</a:t>
            </a:r>
            <a:r>
              <a:rPr spc="-1058">
                <a:solidFill>
                  <a:srgbClr val="69A84F"/>
                </a:solidFill>
              </a:rPr>
              <a:t> </a:t>
            </a:r>
            <a:r>
              <a:rPr spc="-9">
                <a:solidFill>
                  <a:srgbClr val="69A84F"/>
                </a:solidFill>
              </a:rPr>
              <a:t>stack</a:t>
            </a:r>
          </a:p>
          <a:p>
            <a:pPr indent="166370" algn="l">
              <a:spcBef>
                <a:spcPts val="300"/>
              </a:spcBef>
              <a:defRPr sz="2600">
                <a:solidFill>
                  <a:srgbClr val="69A84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; </a:t>
            </a:r>
            <a:r>
              <a:rPr spc="-9"/>
              <a:t>Pop </a:t>
            </a:r>
            <a:r>
              <a:t>&amp; </a:t>
            </a:r>
            <a:r>
              <a:rPr spc="-9"/>
              <a:t>add from</a:t>
            </a:r>
            <a:r>
              <a:rPr spc="-185"/>
              <a:t> </a:t>
            </a:r>
            <a:r>
              <a:rPr spc="-9"/>
              <a:t>stack</a:t>
            </a:r>
          </a:p>
          <a:p>
            <a:pPr indent="166370" algn="l">
              <a:spcBef>
                <a:spcPts val="300"/>
              </a:spcBef>
              <a:defRPr sz="2600">
                <a:solidFill>
                  <a:srgbClr val="69A84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; </a:t>
            </a:r>
            <a:r>
              <a:rPr spc="-9"/>
              <a:t>Push result on</a:t>
            </a:r>
            <a:r>
              <a:rPr spc="-176"/>
              <a:t> </a:t>
            </a:r>
            <a:r>
              <a:rPr spc="-9"/>
              <a:t>stack</a:t>
            </a:r>
          </a:p>
          <a:p>
            <a:pPr indent="166370" algn="l">
              <a:spcBef>
                <a:spcPts val="300"/>
              </a:spcBef>
              <a:defRPr sz="2600">
                <a:solidFill>
                  <a:srgbClr val="69A84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; </a:t>
            </a:r>
            <a:r>
              <a:rPr spc="-9"/>
              <a:t>Pop </a:t>
            </a:r>
            <a:r>
              <a:t>&amp; </a:t>
            </a:r>
            <a:r>
              <a:rPr spc="-9"/>
              <a:t>print top of</a:t>
            </a:r>
            <a:r>
              <a:rPr spc="-176"/>
              <a:t> </a:t>
            </a:r>
            <a:r>
              <a:rPr spc="-9"/>
              <a:t>stack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gister Bas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Register Based</a:t>
            </a:r>
          </a:p>
        </p:txBody>
      </p:sp>
      <p:graphicFrame>
        <p:nvGraphicFramePr>
          <p:cNvPr id="283" name="object 4"/>
          <p:cNvGraphicFramePr/>
          <p:nvPr/>
        </p:nvGraphicFramePr>
        <p:xfrm>
          <a:off x="2443719" y="4033200"/>
          <a:ext cx="8117357" cy="2221906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3234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2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9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27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5506">
                <a:tc>
                  <a:txBody>
                    <a:bodyPr/>
                    <a:lstStyle/>
                    <a:p>
                      <a:pPr indent="354965" algn="l" defTabSz="914400">
                        <a:spcBef>
                          <a:spcPts val="1800"/>
                        </a:spcBef>
                        <a:tabLst>
                          <a:tab pos="914400" algn="l"/>
                        </a:tabLst>
                        <a:defRPr sz="3000" spc="-1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t>iload </a:t>
                      </a:r>
                      <a:r>
                        <a:rPr>
                          <a:solidFill>
                            <a:srgbClr val="595959"/>
                          </a:solidFill>
                        </a:rPr>
                        <a:t>r1,</a:t>
                      </a:r>
                      <a:r>
                        <a:rPr spc="75">
                          <a:solidFill>
                            <a:srgbClr val="595959"/>
                          </a:solidFill>
                        </a:rPr>
                        <a:t> </a:t>
                      </a:r>
                      <a:r>
                        <a:rPr spc="0">
                          <a:solidFill>
                            <a:srgbClr val="595959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84290" defTabSz="914400">
                        <a:spcBef>
                          <a:spcPts val="1800"/>
                        </a:spcBef>
                        <a:tabLst>
                          <a:tab pos="914400" algn="l"/>
                        </a:tabLst>
                      </a:pPr>
                      <a:r>
                        <a:rPr sz="300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1905" defTabSz="914400">
                        <a:spcBef>
                          <a:spcPts val="1800"/>
                        </a:spcBef>
                        <a:tabLst>
                          <a:tab pos="914400" algn="l"/>
                        </a:tabLst>
                        <a:defRPr sz="3000" spc="-1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t>Put</a:t>
                      </a:r>
                      <a:r>
                        <a:rPr spc="-150"/>
                        <a:t> </a:t>
                      </a:r>
                      <a:r>
                        <a:t>int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1800"/>
                        </a:spcBef>
                        <a:tabLst>
                          <a:tab pos="914400" algn="l"/>
                        </a:tabLst>
                      </a:pPr>
                      <a:r>
                        <a:rPr sz="300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spcBef>
                          <a:spcPts val="1800"/>
                        </a:spcBef>
                        <a:tabLst>
                          <a:tab pos="914400" algn="l"/>
                        </a:tabLst>
                      </a:pPr>
                      <a:r>
                        <a:rPr sz="3000" spc="-1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39736" defTabSz="914400">
                        <a:spcBef>
                          <a:spcPts val="1800"/>
                        </a:spcBef>
                        <a:tabLst>
                          <a:tab pos="914400" algn="l"/>
                        </a:tabLst>
                      </a:pPr>
                      <a:r>
                        <a:rPr sz="3000" spc="-1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506">
                <a:tc>
                  <a:txBody>
                    <a:bodyPr/>
                    <a:lstStyle/>
                    <a:p>
                      <a:pPr indent="354965" algn="l"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  <a:defRPr sz="3000" spc="-1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t>iload </a:t>
                      </a:r>
                      <a:r>
                        <a:rPr>
                          <a:solidFill>
                            <a:srgbClr val="595959"/>
                          </a:solidFill>
                        </a:rPr>
                        <a:t>r2,</a:t>
                      </a:r>
                      <a:r>
                        <a:rPr spc="75">
                          <a:solidFill>
                            <a:srgbClr val="595959"/>
                          </a:solidFill>
                        </a:rPr>
                        <a:t> </a:t>
                      </a:r>
                      <a:r>
                        <a:rPr spc="0">
                          <a:solidFill>
                            <a:srgbClr val="595959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84290"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</a:pPr>
                      <a:r>
                        <a:rPr sz="300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1905"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  <a:defRPr sz="3000" spc="-1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t>Put</a:t>
                      </a:r>
                      <a:r>
                        <a:rPr spc="-150"/>
                        <a:t> </a:t>
                      </a:r>
                      <a:r>
                        <a:t>int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</a:pPr>
                      <a:r>
                        <a:rPr sz="300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</a:pPr>
                      <a:r>
                        <a:rPr sz="3000" spc="-1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39736"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</a:pPr>
                      <a:r>
                        <a:rPr sz="3000" spc="-1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r2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506">
                <a:tc>
                  <a:txBody>
                    <a:bodyPr/>
                    <a:lstStyle/>
                    <a:p>
                      <a:pPr indent="354965" algn="l"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  <a:defRPr sz="3000" spc="-1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t>iadd </a:t>
                      </a:r>
                      <a:r>
                        <a:rPr>
                          <a:solidFill>
                            <a:srgbClr val="595959"/>
                          </a:solidFill>
                        </a:rPr>
                        <a:t>r3,</a:t>
                      </a:r>
                      <a:r>
                        <a:rPr spc="0">
                          <a:solidFill>
                            <a:srgbClr val="595959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595959"/>
                          </a:solidFill>
                        </a:rPr>
                        <a:t>r1,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</a:pPr>
                      <a:r>
                        <a:rPr sz="3000" spc="-10">
                          <a:solidFill>
                            <a:srgbClr val="59595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r2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84290"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</a:pPr>
                      <a:r>
                        <a:rPr sz="300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1905"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  <a:defRPr sz="3000" spc="-1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t>r3 </a:t>
                      </a:r>
                      <a:r>
                        <a:rPr spc="0"/>
                        <a:t>=</a:t>
                      </a:r>
                      <a:r>
                        <a:rPr spc="-182"/>
                        <a:t> </a:t>
                      </a:r>
                      <a:r>
                        <a:t>r1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</a:pPr>
                      <a:r>
                        <a:rPr sz="300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</a:pPr>
                      <a:r>
                        <a:rPr sz="3000" spc="-1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r2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506">
                <a:tc>
                  <a:txBody>
                    <a:bodyPr/>
                    <a:lstStyle/>
                    <a:p>
                      <a:pPr indent="12700" algn="l">
                        <a:spcBef>
                          <a:spcPts val="100"/>
                        </a:spcBef>
                        <a:defRPr sz="3000" spc="-1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t> </a:t>
                      </a:r>
                      <a:r>
                        <a:rPr sz="1800" spc="-6"/>
                        <a:t> </a:t>
                      </a:r>
                      <a:r>
                        <a:t>print</a:t>
                      </a:r>
                      <a:r>
                        <a:rPr spc="10"/>
                        <a:t> </a:t>
                      </a:r>
                      <a:r>
                        <a:rPr>
                          <a:solidFill>
                            <a:srgbClr val="595959"/>
                          </a:solidFill>
                        </a:rPr>
                        <a:t>r3 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  <a:defRPr sz="3000" spc="-10">
                          <a:solidFill>
                            <a:srgbClr val="59595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84290"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</a:pPr>
                      <a:r>
                        <a:rPr sz="300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indent="12700">
                        <a:spcBef>
                          <a:spcPts val="100"/>
                        </a:spcBef>
                        <a:defRPr sz="300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r>
                        <a:rPr spc="-10"/>
                        <a:t>Print</a:t>
                      </a:r>
                      <a:r>
                        <a:rPr spc="-214"/>
                        <a:t> </a:t>
                      </a:r>
                      <a:r>
                        <a:rPr spc="-10"/>
                        <a:t>r3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  <a:defRPr sz="300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3000"/>
                        </a:lnSpc>
                        <a:tabLst>
                          <a:tab pos="914400" algn="l"/>
                        </a:tabLst>
                        <a:defRPr sz="3000" spc="-10">
                          <a:solidFill>
                            <a:srgbClr val="69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object 2"/>
          <p:cNvSpPr txBox="1"/>
          <p:nvPr/>
        </p:nvSpPr>
        <p:spPr>
          <a:xfrm>
            <a:off x="3994017" y="2142736"/>
            <a:ext cx="7188766" cy="7610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5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switch </a:t>
            </a:r>
            <a:r>
              <a:rPr>
                <a:solidFill>
                  <a:srgbClr val="595959"/>
                </a:solidFill>
              </a:rPr>
              <a:t>(*bytecode++)</a:t>
            </a:r>
          </a:p>
          <a:p>
            <a:pPr indent="12700" algn="l">
              <a:spcBef>
                <a:spcPts val="300"/>
              </a:spcBef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L="866986" marR="2782786" indent="-854921" algn="l">
              <a:lnSpc>
                <a:spcPct val="114599"/>
              </a:lnSpc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case </a:t>
            </a:r>
            <a:r>
              <a:rPr>
                <a:solidFill>
                  <a:srgbClr val="BF9000"/>
                </a:solidFill>
              </a:rPr>
              <a:t>opcode_iload</a:t>
            </a:r>
            <a:r>
              <a:rPr>
                <a:solidFill>
                  <a:srgbClr val="595959"/>
                </a:solidFill>
              </a:rPr>
              <a:t>:  stack.push_int_from_mem(bytecode);  bytecode +=</a:t>
            </a:r>
            <a:r>
              <a:rPr spc="-27">
                <a:solidFill>
                  <a:srgbClr val="595959"/>
                </a:solidFill>
              </a:rPr>
              <a:t> </a:t>
            </a:r>
            <a:r>
              <a:t>sizeof</a:t>
            </a:r>
            <a:r>
              <a:rPr>
                <a:solidFill>
                  <a:srgbClr val="595959"/>
                </a:solidFill>
              </a:rPr>
              <a:t>(int);</a:t>
            </a:r>
          </a:p>
          <a:p>
            <a:pPr indent="469265" algn="l">
              <a:spcBef>
                <a:spcPts val="3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break</a:t>
            </a:r>
            <a:r>
              <a:rPr>
                <a:solidFill>
                  <a:srgbClr val="595959"/>
                </a:solidFill>
              </a:rPr>
              <a:t>;</a:t>
            </a:r>
          </a:p>
          <a:p>
            <a:pPr indent="12700" algn="l">
              <a:spcBef>
                <a:spcPts val="3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case </a:t>
            </a:r>
            <a:r>
              <a:rPr>
                <a:solidFill>
                  <a:srgbClr val="BF9000"/>
                </a:solidFill>
              </a:rPr>
              <a:t>opcode_iadd</a:t>
            </a:r>
            <a:r>
              <a:rPr>
                <a:solidFill>
                  <a:srgbClr val="595959"/>
                </a:solidFill>
              </a:rPr>
              <a:t>:</a:t>
            </a:r>
          </a:p>
          <a:p>
            <a:pPr marR="9633" indent="469265" algn="l">
              <a:lnSpc>
                <a:spcPct val="114599"/>
              </a:lnSpc>
              <a:defRPr sz="2200" spc="-9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stack.push_int(stack.pop_int() </a:t>
            </a:r>
            <a:r>
              <a:rPr spc="0"/>
              <a:t>+ </a:t>
            </a:r>
            <a:r>
              <a:t>stack.pop_int());  </a:t>
            </a:r>
            <a:br/>
            <a:r>
              <a:rPr>
                <a:solidFill>
                  <a:srgbClr val="0000FF"/>
                </a:solidFill>
              </a:rPr>
              <a:t>break</a:t>
            </a:r>
            <a:r>
              <a:t>;</a:t>
            </a:r>
          </a:p>
          <a:p>
            <a:pPr indent="12700" algn="l">
              <a:spcBef>
                <a:spcPts val="3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case </a:t>
            </a:r>
            <a:r>
              <a:rPr>
                <a:solidFill>
                  <a:srgbClr val="BF9000"/>
                </a:solidFill>
              </a:rPr>
              <a:t>opcode_print</a:t>
            </a:r>
            <a:r>
              <a:rPr>
                <a:solidFill>
                  <a:srgbClr val="595959"/>
                </a:solidFill>
              </a:rPr>
              <a:t>:</a:t>
            </a:r>
          </a:p>
          <a:p>
            <a:pPr indent="469265" algn="l">
              <a:spcBef>
                <a:spcPts val="3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switch </a:t>
            </a:r>
            <a:r>
              <a:rPr>
                <a:solidFill>
                  <a:srgbClr val="595959"/>
                </a:solidFill>
              </a:rPr>
              <a:t>(stack.top().type())</a:t>
            </a:r>
          </a:p>
          <a:p>
            <a:pPr indent="469265" algn="l">
              <a:spcBef>
                <a:spcPts val="300"/>
              </a:spcBef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indent="469265" algn="l">
              <a:spcBef>
                <a:spcPts val="300"/>
              </a:spcBef>
              <a:defRPr sz="2200" spc="-9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case </a:t>
            </a:r>
            <a:r>
              <a:rPr>
                <a:solidFill>
                  <a:srgbClr val="BF9000"/>
                </a:solidFill>
              </a:rPr>
              <a:t>type_int</a:t>
            </a:r>
            <a:r>
              <a:rPr>
                <a:solidFill>
                  <a:srgbClr val="595959"/>
                </a:solidFill>
              </a:rPr>
              <a:t>:</a:t>
            </a:r>
          </a:p>
          <a:p>
            <a:pPr marR="1742400" indent="926464" algn="l">
              <a:lnSpc>
                <a:spcPct val="114599"/>
              </a:lnSpc>
              <a:defRPr sz="2200" spc="-9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vm_printf(“%d\n”, stack.pop_int());  </a:t>
            </a:r>
            <a:br/>
            <a:r>
              <a:rPr>
                <a:solidFill>
                  <a:srgbClr val="0000FF"/>
                </a:solidFill>
              </a:rPr>
              <a:t>break</a:t>
            </a:r>
            <a:r>
              <a:t>;</a:t>
            </a:r>
          </a:p>
          <a:p>
            <a:pPr indent="469265" algn="l">
              <a:spcBef>
                <a:spcPts val="300"/>
              </a:spcBef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indent="12700" algn="l">
              <a:spcBef>
                <a:spcPts val="300"/>
              </a:spcBef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286" name="object 3"/>
          <p:cNvSpPr txBox="1">
            <a:spLocks noGrp="1"/>
          </p:cNvSpPr>
          <p:nvPr>
            <p:ph type="title"/>
          </p:nvPr>
        </p:nvSpPr>
        <p:spPr>
          <a:xfrm>
            <a:off x="1269999" y="254000"/>
            <a:ext cx="11636103" cy="2438400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rPr dirty="0"/>
              <a:t>The Big Switch of </a:t>
            </a:r>
            <a:r>
              <a:rPr dirty="0" err="1"/>
              <a:t>Doooooom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7200" spc="-257"/>
            </a:pPr>
            <a:r>
              <a:t>Integrating </a:t>
            </a:r>
            <a:r>
              <a:rPr spc="0"/>
              <a:t>scripting </a:t>
            </a:r>
            <a:r>
              <a:t>with an engine</a:t>
            </a:r>
          </a:p>
        </p:txBody>
      </p:sp>
      <p:sp>
        <p:nvSpPr>
          <p:cNvPr id="289" name="Our engine/script binding must allow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r>
              <a:t>Our engine/script binding must allow:</a:t>
            </a:r>
          </a:p>
          <a:p>
            <a:pPr lvl="1">
              <a:lnSpc>
                <a:spcPct val="120000"/>
              </a:lnSpc>
            </a:pPr>
            <a:r>
              <a:t>Engine to invoke script functions</a:t>
            </a:r>
          </a:p>
          <a:p>
            <a:pPr lvl="1">
              <a:lnSpc>
                <a:spcPct val="120000"/>
              </a:lnSpc>
            </a:pPr>
            <a:r>
              <a:t>Script to invoke engine functions</a:t>
            </a:r>
          </a:p>
          <a:p>
            <a:pPr lvl="1">
              <a:lnSpc>
                <a:spcPct val="120000"/>
              </a:lnSpc>
            </a:pPr>
            <a:r>
              <a:t>Script to use engine defined structures</a:t>
            </a:r>
          </a:p>
          <a:p>
            <a:pPr>
              <a:lnSpc>
                <a:spcPct val="120000"/>
              </a:lnSpc>
            </a:pPr>
            <a:r>
              <a:t>And nice to have:</a:t>
            </a:r>
          </a:p>
          <a:p>
            <a:pPr lvl="1">
              <a:lnSpc>
                <a:spcPct val="120000"/>
              </a:lnSpc>
            </a:pPr>
            <a:r>
              <a:t>Engine able to work with script structures</a:t>
            </a:r>
          </a:p>
          <a:p>
            <a:pPr lvl="1">
              <a:lnSpc>
                <a:spcPct val="120000"/>
              </a:lnSpc>
            </a:pPr>
            <a:r>
              <a:t>Script is able to be updated on-the-fly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1" build="p" bldLvl="5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6400" spc="-228"/>
            </a:lvl1pPr>
          </a:lstStyle>
          <a:p>
            <a:r>
              <a:t>Engine to Invoke Script Functions</a:t>
            </a:r>
          </a:p>
        </p:txBody>
      </p:sp>
      <p:sp>
        <p:nvSpPr>
          <p:cNvPr id="294" name="object 4"/>
          <p:cNvSpPr txBox="1"/>
          <p:nvPr/>
        </p:nvSpPr>
        <p:spPr>
          <a:xfrm>
            <a:off x="3624965" y="2692399"/>
            <a:ext cx="5833072" cy="1447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500"/>
              </a:spcBef>
              <a:defRPr sz="2400" spc="-10"/>
            </a:pPr>
            <a:r>
              <a:t>In</a:t>
            </a:r>
            <a:r>
              <a:rPr spc="-20"/>
              <a:t> </a:t>
            </a:r>
            <a:r>
              <a:rPr spc="0"/>
              <a:t>script:</a:t>
            </a:r>
            <a:br>
              <a:rPr spc="0"/>
            </a:br>
            <a:endParaRPr spc="0"/>
          </a:p>
          <a:p>
            <a:pPr marL="485986" marR="9633" indent="-473921" algn="l">
              <a:lnSpc>
                <a:spcPct val="114599"/>
              </a:lnSpc>
              <a:defRPr sz="2400" spc="-1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script_add(x, y):</a:t>
            </a:r>
            <a:br/>
            <a:r>
              <a:rPr>
                <a:solidFill>
                  <a:srgbClr val="0000FF"/>
                </a:solidFill>
              </a:rPr>
              <a:t>return </a:t>
            </a:r>
            <a:r>
              <a:rPr spc="0"/>
              <a:t>x +</a:t>
            </a:r>
            <a:r>
              <a:rPr spc="-200"/>
              <a:t> </a:t>
            </a:r>
            <a:r>
              <a:t>y;</a:t>
            </a:r>
          </a:p>
        </p:txBody>
      </p:sp>
      <p:sp>
        <p:nvSpPr>
          <p:cNvPr id="295" name="object 5"/>
          <p:cNvSpPr txBox="1"/>
          <p:nvPr/>
        </p:nvSpPr>
        <p:spPr>
          <a:xfrm>
            <a:off x="3624965" y="4744607"/>
            <a:ext cx="6936978" cy="463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500"/>
              </a:spcBef>
              <a:defRPr sz="2400" spc="-10"/>
            </a:pPr>
            <a:r>
              <a:t>In</a:t>
            </a:r>
            <a:r>
              <a:rPr spc="-20"/>
              <a:t> </a:t>
            </a:r>
            <a:r>
              <a:t>engine:</a:t>
            </a:r>
            <a:br/>
            <a:endParaRPr/>
          </a:p>
          <a:p>
            <a:pPr indent="12700" algn="l">
              <a:spcBef>
                <a:spcPts val="300"/>
              </a:spcBef>
              <a:defRPr sz="2400" spc="-1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</a:t>
            </a:r>
            <a:r>
              <a:rPr>
                <a:solidFill>
                  <a:srgbClr val="595959"/>
                </a:solidFill>
              </a:rPr>
              <a:t>engine_add(</a:t>
            </a:r>
            <a:r>
              <a:t>int </a:t>
            </a:r>
            <a:r>
              <a:rPr>
                <a:solidFill>
                  <a:srgbClr val="595959"/>
                </a:solidFill>
              </a:rPr>
              <a:t>x, </a:t>
            </a:r>
            <a:r>
              <a:t>int</a:t>
            </a:r>
            <a:r>
              <a:rPr spc="0"/>
              <a:t> </a:t>
            </a:r>
            <a:r>
              <a:rPr>
                <a:solidFill>
                  <a:srgbClr val="595959"/>
                </a:solidFill>
              </a:rPr>
              <a:t>y)</a:t>
            </a:r>
          </a:p>
          <a:p>
            <a:pPr indent="12700" algn="l">
              <a:spcBef>
                <a:spcPts val="300"/>
              </a:spcBef>
              <a:defRPr sz="24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R="9633" indent="469265" algn="l">
              <a:lnSpc>
                <a:spcPct val="114599"/>
              </a:lnSpc>
              <a:defRPr sz="2400" spc="-10">
                <a:solidFill>
                  <a:srgbClr val="B35E0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vm_func_t </a:t>
            </a:r>
            <a:r>
              <a:rPr>
                <a:solidFill>
                  <a:srgbClr val="595959"/>
                </a:solidFill>
              </a:rPr>
              <a:t>func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vm_getfunc(“</a:t>
            </a:r>
            <a:r>
              <a:rPr>
                <a:solidFill>
                  <a:srgbClr val="741A46"/>
                </a:solidFill>
              </a:rPr>
              <a:t>script_add</a:t>
            </a:r>
            <a:r>
              <a:rPr>
                <a:solidFill>
                  <a:srgbClr val="595959"/>
                </a:solidFill>
              </a:rPr>
              <a:t>”);  </a:t>
            </a:r>
            <a:r>
              <a:t>vm_call_t </a:t>
            </a:r>
            <a:r>
              <a:rPr>
                <a:solidFill>
                  <a:srgbClr val="595959"/>
                </a:solidFill>
              </a:rPr>
              <a:t>call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vm_new_call(func);  call.push_arg_int(x);  call.push_arg_int(y);</a:t>
            </a:r>
          </a:p>
          <a:p>
            <a:pPr indent="469265" algn="l">
              <a:spcBef>
                <a:spcPts val="300"/>
              </a:spcBef>
              <a:defRPr sz="2400" spc="-1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vm_run(call);</a:t>
            </a:r>
          </a:p>
          <a:p>
            <a:pPr indent="469265" algn="l">
              <a:spcBef>
                <a:spcPts val="300"/>
              </a:spcBef>
              <a:defRPr sz="2400" spc="-1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return</a:t>
            </a:r>
            <a:r>
              <a:rPr spc="-20"/>
              <a:t> </a:t>
            </a:r>
            <a:r>
              <a:rPr>
                <a:solidFill>
                  <a:srgbClr val="595959"/>
                </a:solidFill>
              </a:rPr>
              <a:t>call.pop_return_int();</a:t>
            </a:r>
          </a:p>
          <a:p>
            <a:pPr indent="12700" algn="l">
              <a:spcBef>
                <a:spcPts val="300"/>
              </a:spcBef>
              <a:defRPr sz="24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Script to Invoke Engine Functions</a:t>
            </a:r>
          </a:p>
        </p:txBody>
      </p:sp>
      <p:sp>
        <p:nvSpPr>
          <p:cNvPr id="298" name="object 4"/>
          <p:cNvSpPr txBox="1">
            <a:spLocks noGrp="1"/>
          </p:cNvSpPr>
          <p:nvPr>
            <p:ph type="body" idx="1"/>
          </p:nvPr>
        </p:nvSpPr>
        <p:spPr>
          <a:xfrm>
            <a:off x="1270000" y="2692400"/>
            <a:ext cx="10464800" cy="6985000"/>
          </a:xfrm>
          <a:prstGeom prst="rect">
            <a:avLst/>
          </a:prstGeom>
        </p:spPr>
        <p:txBody>
          <a:bodyPr/>
          <a:lstStyle/>
          <a:p>
            <a:pPr marL="0" indent="12700">
              <a:lnSpc>
                <a:spcPct val="80000"/>
              </a:lnSpc>
              <a:buSzTx/>
              <a:buNone/>
              <a:defRPr sz="2200" spc="-1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</a:t>
            </a:r>
            <a:r>
              <a:rPr>
                <a:solidFill>
                  <a:srgbClr val="595959"/>
                </a:solidFill>
              </a:rPr>
              <a:t>engine_add(</a:t>
            </a:r>
            <a:r>
              <a:t>int </a:t>
            </a:r>
            <a:r>
              <a:rPr>
                <a:solidFill>
                  <a:srgbClr val="595959"/>
                </a:solidFill>
              </a:rPr>
              <a:t>x, </a:t>
            </a:r>
            <a:r>
              <a:t>int </a:t>
            </a:r>
            <a:r>
              <a:rPr>
                <a:solidFill>
                  <a:srgbClr val="595959"/>
                </a:solidFill>
              </a:rPr>
              <a:t>y)</a:t>
            </a:r>
          </a:p>
          <a:p>
            <a:pPr marL="0" indent="12700">
              <a:lnSpc>
                <a:spcPct val="80000"/>
              </a:lnSpc>
              <a:buSzTx/>
              <a:buNone/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L="0" indent="12700">
              <a:lnSpc>
                <a:spcPct val="80000"/>
              </a:lnSpc>
              <a:buSzTx/>
              <a:buNone/>
              <a:defRPr sz="2200" spc="-1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</a:t>
            </a:r>
            <a:r>
              <a:rPr spc="0">
                <a:solidFill>
                  <a:srgbClr val="595959"/>
                </a:solidFill>
              </a:rPr>
              <a:t>x +</a:t>
            </a:r>
            <a:r>
              <a:rPr>
                <a:solidFill>
                  <a:srgbClr val="595959"/>
                </a:solidFill>
              </a:rPr>
              <a:t> y;</a:t>
            </a:r>
          </a:p>
          <a:p>
            <a:pPr marL="0" indent="12700">
              <a:lnSpc>
                <a:spcPct val="80000"/>
              </a:lnSpc>
              <a:buSzTx/>
              <a:buNone/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marL="0" indent="12700">
              <a:lnSpc>
                <a:spcPct val="80000"/>
              </a:lnSpc>
              <a:buSzTx/>
              <a:buNone/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  <a:p>
            <a:pPr marL="0" indent="12700">
              <a:lnSpc>
                <a:spcPct val="80000"/>
              </a:lnSpc>
              <a:buSzTx/>
              <a:buNone/>
              <a:defRPr sz="2200" spc="-1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 </a:t>
            </a:r>
            <a:r>
              <a:rPr>
                <a:solidFill>
                  <a:srgbClr val="595959"/>
                </a:solidFill>
              </a:rPr>
              <a:t>vm_init()</a:t>
            </a:r>
          </a:p>
          <a:p>
            <a:pPr marL="0" indent="12700">
              <a:lnSpc>
                <a:spcPct val="80000"/>
              </a:lnSpc>
              <a:buSzTx/>
              <a:buNone/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L="0" indent="12700">
              <a:lnSpc>
                <a:spcPct val="80000"/>
              </a:lnSpc>
              <a:buSzTx/>
              <a:buNone/>
              <a:defRPr sz="2200" spc="-183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vm_register_func(engine_add_wrapper);</a:t>
            </a:r>
          </a:p>
          <a:p>
            <a:pPr marL="0" indent="12700">
              <a:lnSpc>
                <a:spcPct val="80000"/>
              </a:lnSpc>
              <a:buSzTx/>
              <a:buNone/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marL="0" indent="12700">
              <a:lnSpc>
                <a:spcPct val="80000"/>
              </a:lnSpc>
              <a:buSzTx/>
              <a:buNone/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  <a:p>
            <a:pPr marL="0" indent="12700">
              <a:lnSpc>
                <a:spcPct val="80000"/>
              </a:lnSpc>
              <a:buSzTx/>
              <a:buNone/>
              <a:defRPr sz="2200" spc="-1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 </a:t>
            </a:r>
            <a:r>
              <a:rPr>
                <a:solidFill>
                  <a:srgbClr val="595959"/>
                </a:solidFill>
              </a:rPr>
              <a:t>engine_add_wrapper(</a:t>
            </a:r>
            <a:r>
              <a:rPr>
                <a:solidFill>
                  <a:srgbClr val="B35E05"/>
                </a:solidFill>
              </a:rPr>
              <a:t>vm_call_t</a:t>
            </a:r>
            <a:r>
              <a:rPr>
                <a:solidFill>
                  <a:srgbClr val="595959"/>
                </a:solidFill>
              </a:rPr>
              <a:t>* call)</a:t>
            </a:r>
          </a:p>
          <a:p>
            <a:pPr marL="0" indent="12700">
              <a:lnSpc>
                <a:spcPct val="80000"/>
              </a:lnSpc>
              <a:buSzTx/>
              <a:buNone/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L="866986" marR="1918208" indent="-854286">
              <a:lnSpc>
                <a:spcPct val="80000"/>
              </a:lnSpc>
              <a:spcBef>
                <a:spcPts val="1300"/>
              </a:spcBef>
              <a:buSzTx/>
              <a:buNone/>
              <a:defRPr sz="2200" spc="-1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</a:t>
            </a:r>
            <a:r>
              <a:rPr>
                <a:solidFill>
                  <a:srgbClr val="595959"/>
                </a:solidFill>
              </a:rPr>
              <a:t>result </a:t>
            </a:r>
            <a:r>
              <a:rPr spc="0">
                <a:solidFill>
                  <a:srgbClr val="595959"/>
                </a:solidFill>
              </a:rPr>
              <a:t>= </a:t>
            </a:r>
            <a:r>
              <a:rPr>
                <a:solidFill>
                  <a:srgbClr val="595959"/>
                </a:solidFill>
              </a:rPr>
              <a:t>engine_add(  </a:t>
            </a:r>
          </a:p>
          <a:p>
            <a:pPr marL="866986" marR="1918208" lvl="1" indent="-409786">
              <a:lnSpc>
                <a:spcPct val="80000"/>
              </a:lnSpc>
              <a:spcBef>
                <a:spcPts val="1300"/>
              </a:spcBef>
              <a:buSzTx/>
              <a:buNone/>
              <a:defRPr sz="2200" spc="-1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595959"/>
                </a:solidFill>
              </a:rPr>
              <a:t>     call-&gt;pop_arg_int(),</a:t>
            </a:r>
          </a:p>
          <a:p>
            <a:pPr marL="866986" marR="1918208" indent="-854286">
              <a:lnSpc>
                <a:spcPct val="80000"/>
              </a:lnSpc>
              <a:spcBef>
                <a:spcPts val="1300"/>
              </a:spcBef>
              <a:buSzTx/>
              <a:buNone/>
              <a:defRPr sz="2200" spc="-183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solidFill>
                  <a:srgbClr val="595959"/>
                </a:solidFill>
              </a:rPr>
              <a:t>        call-&gt;pop_arg_int());</a:t>
            </a:r>
          </a:p>
          <a:p>
            <a:pPr marL="0" indent="12700">
              <a:lnSpc>
                <a:spcPct val="80000"/>
              </a:lnSpc>
              <a:buSzTx/>
              <a:buNone/>
              <a:defRPr sz="2200" spc="-183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call-&gt;push_return_int(result);</a:t>
            </a:r>
          </a:p>
          <a:p>
            <a:pPr marL="0" indent="12700">
              <a:lnSpc>
                <a:spcPct val="80000"/>
              </a:lnSpc>
              <a:buSzTx/>
              <a:buNone/>
              <a:defRPr sz="22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Script to Use Engine-Defined Structures</a:t>
            </a:r>
          </a:p>
        </p:txBody>
      </p:sp>
      <p:sp>
        <p:nvSpPr>
          <p:cNvPr id="301" name="object 4"/>
          <p:cNvSpPr txBox="1"/>
          <p:nvPr/>
        </p:nvSpPr>
        <p:spPr>
          <a:xfrm>
            <a:off x="3954851" y="3193514"/>
            <a:ext cx="5732852" cy="204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500"/>
              </a:spcBef>
              <a:defRPr sz="2500" spc="-1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struct</a:t>
            </a:r>
            <a:r>
              <a:rPr spc="-52"/>
              <a:t> </a:t>
            </a:r>
            <a:r>
              <a:rPr>
                <a:solidFill>
                  <a:srgbClr val="595959"/>
                </a:solidFill>
              </a:rPr>
              <a:t>foo</a:t>
            </a:r>
          </a:p>
          <a:p>
            <a:pPr indent="12700" algn="l">
              <a:spcBef>
                <a:spcPts val="300"/>
              </a:spcBef>
              <a:defRPr sz="25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R="9633" indent="469265" algn="l">
              <a:lnSpc>
                <a:spcPct val="114599"/>
              </a:lnSpc>
              <a:defRPr sz="2500" spc="-1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</a:t>
            </a:r>
            <a:r>
              <a:rPr>
                <a:solidFill>
                  <a:srgbClr val="595959"/>
                </a:solidFill>
              </a:rPr>
              <a:t>x;  </a:t>
            </a:r>
          </a:p>
          <a:p>
            <a:pPr marR="9633" indent="469265" algn="l">
              <a:lnSpc>
                <a:spcPct val="114599"/>
              </a:lnSpc>
              <a:defRPr sz="2500" spc="-1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float</a:t>
            </a:r>
            <a:r>
              <a:rPr spc="-187"/>
              <a:t> </a:t>
            </a:r>
            <a:r>
              <a:rPr>
                <a:solidFill>
                  <a:srgbClr val="595959"/>
                </a:solidFill>
              </a:rPr>
              <a:t>y;</a:t>
            </a:r>
          </a:p>
          <a:p>
            <a:pPr indent="12700" algn="l">
              <a:spcBef>
                <a:spcPts val="300"/>
              </a:spcBef>
              <a:defRPr sz="2500" spc="-1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};</a:t>
            </a:r>
          </a:p>
        </p:txBody>
      </p:sp>
      <p:sp>
        <p:nvSpPr>
          <p:cNvPr id="302" name="object 5"/>
          <p:cNvSpPr txBox="1"/>
          <p:nvPr/>
        </p:nvSpPr>
        <p:spPr>
          <a:xfrm>
            <a:off x="3954851" y="5626099"/>
            <a:ext cx="6873116" cy="2889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indent="12700" algn="l">
              <a:spcBef>
                <a:spcPts val="500"/>
              </a:spcBef>
              <a:defRPr sz="2500" spc="-1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void </a:t>
            </a:r>
            <a:r>
              <a:rPr>
                <a:solidFill>
                  <a:srgbClr val="595959"/>
                </a:solidFill>
              </a:rPr>
              <a:t>vm_init()</a:t>
            </a:r>
          </a:p>
          <a:p>
            <a:pPr indent="12700" algn="l">
              <a:spcBef>
                <a:spcPts val="300"/>
              </a:spcBef>
              <a:defRPr sz="25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marR="9633" indent="469265" algn="l">
              <a:lnSpc>
                <a:spcPct val="114599"/>
              </a:lnSpc>
              <a:defRPr sz="2500" spc="-10">
                <a:solidFill>
                  <a:srgbClr val="B35E0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vm_struct_t </a:t>
            </a:r>
            <a:r>
              <a:rPr spc="0">
                <a:solidFill>
                  <a:srgbClr val="595959"/>
                </a:solidFill>
              </a:rPr>
              <a:t>s = </a:t>
            </a:r>
            <a:r>
              <a:rPr>
                <a:solidFill>
                  <a:srgbClr val="595959"/>
                </a:solidFill>
              </a:rPr>
              <a:t>vm_new_struct(“foo”);  s.add_field(“x”, </a:t>
            </a:r>
            <a:r>
              <a:t>type_int</a:t>
            </a:r>
            <a:r>
              <a:rPr>
                <a:solidFill>
                  <a:srgbClr val="595959"/>
                </a:solidFill>
              </a:rPr>
              <a:t>);  s.add_field(“y”,</a:t>
            </a:r>
            <a:r>
              <a:rPr spc="-20">
                <a:solidFill>
                  <a:srgbClr val="595959"/>
                </a:solidFill>
              </a:rPr>
              <a:t> </a:t>
            </a:r>
            <a:r>
              <a:t>type_float</a:t>
            </a:r>
            <a:r>
              <a:rPr>
                <a:solidFill>
                  <a:srgbClr val="595959"/>
                </a:solidFill>
              </a:rPr>
              <a:t>);</a:t>
            </a:r>
          </a:p>
          <a:p>
            <a:pPr indent="12700" algn="l">
              <a:spcBef>
                <a:spcPts val="300"/>
              </a:spcBef>
              <a:defRPr sz="2500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7200" spc="-257"/>
            </a:pPr>
            <a:r>
              <a:t>Final Thoughts on </a:t>
            </a:r>
            <a:r>
              <a:rPr spc="0"/>
              <a:t>Script/Engine</a:t>
            </a:r>
            <a:r>
              <a:t> Integration</a:t>
            </a:r>
          </a:p>
        </p:txBody>
      </p:sp>
      <p:sp>
        <p:nvSpPr>
          <p:cNvPr id="305" name="Binding script to engine is lots of boilerplate code…"/>
          <p:cNvSpPr txBox="1">
            <a:spLocks noGrp="1"/>
          </p:cNvSpPr>
          <p:nvPr>
            <p:ph type="body" idx="1"/>
          </p:nvPr>
        </p:nvSpPr>
        <p:spPr>
          <a:xfrm>
            <a:off x="1270000" y="2768600"/>
            <a:ext cx="10464800" cy="6501949"/>
          </a:xfrm>
          <a:prstGeom prst="rect">
            <a:avLst/>
          </a:prstGeom>
        </p:spPr>
        <p:txBody>
          <a:bodyPr/>
          <a:lstStyle/>
          <a:p>
            <a:r>
              <a:t>Binding script to engine is lots of boilerplate code</a:t>
            </a:r>
          </a:p>
          <a:p>
            <a:r>
              <a:t>Some engines have custom header file preprocessors</a:t>
            </a:r>
          </a:p>
          <a:p>
            <a:pPr lvl="1"/>
            <a:r>
              <a:t>Generate script binding boilerplate automagically</a:t>
            </a:r>
          </a:p>
          <a:p>
            <a:r>
              <a:t>Some engines use a mix of C preprocessor macros and typing</a:t>
            </a:r>
          </a:p>
          <a:p>
            <a:r>
              <a:t>Some engines just do it all by hand</a:t>
            </a:r>
          </a:p>
          <a:p>
            <a:r>
              <a:t>Depends on size of engine, extent of script usage, etc.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" grpId="1" build="p" bldLvl="5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Case Study: Lua</a:t>
            </a:r>
          </a:p>
        </p:txBody>
      </p:sp>
      <p:sp>
        <p:nvSpPr>
          <p:cNvPr id="308" name="Handwritten recursive descent parse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Handwritten recursive descent parser</a:t>
            </a:r>
          </a:p>
          <a:p>
            <a:r>
              <a:t>No AST, just emit bytecode during parse</a:t>
            </a:r>
          </a:p>
          <a:p>
            <a:r>
              <a:t>Register based VM</a:t>
            </a:r>
          </a:p>
          <a:p>
            <a:r>
              <a:t>Instruction width is 32 bits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" grpId="1" build="p" bldLvl="5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Lua 5 Instruction Set</a:t>
            </a:r>
          </a:p>
        </p:txBody>
      </p:sp>
      <p:sp>
        <p:nvSpPr>
          <p:cNvPr id="311" name="object 3"/>
          <p:cNvSpPr/>
          <p:nvPr/>
        </p:nvSpPr>
        <p:spPr>
          <a:xfrm>
            <a:off x="1344544" y="3032713"/>
            <a:ext cx="3055125" cy="17441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12" name="object 4"/>
          <p:cNvSpPr/>
          <p:nvPr/>
        </p:nvSpPr>
        <p:spPr>
          <a:xfrm>
            <a:off x="1344368" y="3304069"/>
            <a:ext cx="3026393" cy="17399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13" name="object 5"/>
          <p:cNvSpPr/>
          <p:nvPr/>
        </p:nvSpPr>
        <p:spPr>
          <a:xfrm>
            <a:off x="1344368" y="3574579"/>
            <a:ext cx="3332059" cy="17441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14" name="object 6"/>
          <p:cNvSpPr/>
          <p:nvPr/>
        </p:nvSpPr>
        <p:spPr>
          <a:xfrm>
            <a:off x="1344368" y="3844876"/>
            <a:ext cx="3882541" cy="1750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15" name="object 7"/>
          <p:cNvSpPr/>
          <p:nvPr/>
        </p:nvSpPr>
        <p:spPr>
          <a:xfrm>
            <a:off x="1336325" y="4116444"/>
            <a:ext cx="3400994" cy="17441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16" name="object 8"/>
          <p:cNvSpPr/>
          <p:nvPr/>
        </p:nvSpPr>
        <p:spPr>
          <a:xfrm>
            <a:off x="1336325" y="4387379"/>
            <a:ext cx="3937090" cy="174413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17" name="object 9"/>
          <p:cNvSpPr/>
          <p:nvPr/>
        </p:nvSpPr>
        <p:spPr>
          <a:xfrm>
            <a:off x="1336325" y="4658312"/>
            <a:ext cx="3740203" cy="174414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18" name="object 10"/>
          <p:cNvSpPr/>
          <p:nvPr/>
        </p:nvSpPr>
        <p:spPr>
          <a:xfrm>
            <a:off x="1334242" y="4929244"/>
            <a:ext cx="4428802" cy="174414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19" name="object 11"/>
          <p:cNvSpPr/>
          <p:nvPr/>
        </p:nvSpPr>
        <p:spPr>
          <a:xfrm>
            <a:off x="1334242" y="5200177"/>
            <a:ext cx="3892707" cy="174414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20" name="object 12"/>
          <p:cNvSpPr/>
          <p:nvPr/>
        </p:nvSpPr>
        <p:spPr>
          <a:xfrm>
            <a:off x="1334242" y="5471109"/>
            <a:ext cx="4234353" cy="174414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21" name="object 13"/>
          <p:cNvSpPr/>
          <p:nvPr/>
        </p:nvSpPr>
        <p:spPr>
          <a:xfrm>
            <a:off x="1344368" y="5742042"/>
            <a:ext cx="2441490" cy="140127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22" name="object 14"/>
          <p:cNvSpPr/>
          <p:nvPr/>
        </p:nvSpPr>
        <p:spPr>
          <a:xfrm>
            <a:off x="1334242" y="6012339"/>
            <a:ext cx="3349808" cy="175049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23" name="object 15"/>
          <p:cNvSpPr/>
          <p:nvPr/>
        </p:nvSpPr>
        <p:spPr>
          <a:xfrm>
            <a:off x="1330752" y="6284329"/>
            <a:ext cx="1846143" cy="173993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 b="1"/>
            </a:pPr>
            <a:endParaRPr/>
          </a:p>
        </p:txBody>
      </p:sp>
      <p:sp>
        <p:nvSpPr>
          <p:cNvPr id="324" name="object 16"/>
          <p:cNvSpPr/>
          <p:nvPr/>
        </p:nvSpPr>
        <p:spPr>
          <a:xfrm>
            <a:off x="1334242" y="6554841"/>
            <a:ext cx="2055634" cy="174414"/>
          </a:xfrm>
          <a:prstGeom prst="rect">
            <a:avLst/>
          </a:prstGeom>
          <a:blipFill>
            <a:blip r:embed="rId15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25" name="object 17"/>
          <p:cNvSpPr/>
          <p:nvPr/>
        </p:nvSpPr>
        <p:spPr>
          <a:xfrm>
            <a:off x="1344544" y="6825774"/>
            <a:ext cx="2290893" cy="174413"/>
          </a:xfrm>
          <a:prstGeom prst="rect">
            <a:avLst/>
          </a:prstGeom>
          <a:blipFill>
            <a:blip r:embed="rId16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26" name="object 18"/>
          <p:cNvSpPr/>
          <p:nvPr/>
        </p:nvSpPr>
        <p:spPr>
          <a:xfrm>
            <a:off x="1344368" y="7103263"/>
            <a:ext cx="1703198" cy="167857"/>
          </a:xfrm>
          <a:prstGeom prst="rect">
            <a:avLst/>
          </a:prstGeom>
          <a:blipFill>
            <a:blip r:embed="rId17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27" name="object 19"/>
          <p:cNvSpPr/>
          <p:nvPr/>
        </p:nvSpPr>
        <p:spPr>
          <a:xfrm>
            <a:off x="1344544" y="7365093"/>
            <a:ext cx="2926177" cy="176958"/>
          </a:xfrm>
          <a:prstGeom prst="rect">
            <a:avLst/>
          </a:prstGeom>
          <a:blipFill>
            <a:blip r:embed="rId18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28" name="object 20"/>
          <p:cNvSpPr/>
          <p:nvPr/>
        </p:nvSpPr>
        <p:spPr>
          <a:xfrm>
            <a:off x="1344368" y="7645128"/>
            <a:ext cx="2421468" cy="167858"/>
          </a:xfrm>
          <a:prstGeom prst="rect">
            <a:avLst/>
          </a:prstGeom>
          <a:blipFill>
            <a:blip r:embed="rId19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29" name="object 21"/>
          <p:cNvSpPr/>
          <p:nvPr/>
        </p:nvSpPr>
        <p:spPr>
          <a:xfrm>
            <a:off x="1344227" y="7916062"/>
            <a:ext cx="2229842" cy="167857"/>
          </a:xfrm>
          <a:prstGeom prst="rect">
            <a:avLst/>
          </a:prstGeom>
          <a:blipFill>
            <a:blip r:embed="rId20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30" name="object 22"/>
          <p:cNvSpPr/>
          <p:nvPr/>
        </p:nvSpPr>
        <p:spPr>
          <a:xfrm>
            <a:off x="7011801" y="3032713"/>
            <a:ext cx="2092623" cy="174414"/>
          </a:xfrm>
          <a:prstGeom prst="rect">
            <a:avLst/>
          </a:prstGeom>
          <a:blipFill>
            <a:blip r:embed="rId21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31" name="object 23"/>
          <p:cNvSpPr/>
          <p:nvPr/>
        </p:nvSpPr>
        <p:spPr>
          <a:xfrm>
            <a:off x="7011801" y="3303646"/>
            <a:ext cx="1642604" cy="174413"/>
          </a:xfrm>
          <a:prstGeom prst="rect">
            <a:avLst/>
          </a:prstGeom>
          <a:blipFill>
            <a:blip r:embed="rId2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32" name="object 24"/>
          <p:cNvSpPr/>
          <p:nvPr/>
        </p:nvSpPr>
        <p:spPr>
          <a:xfrm>
            <a:off x="7004182" y="3573943"/>
            <a:ext cx="3333596" cy="175048"/>
          </a:xfrm>
          <a:prstGeom prst="rect">
            <a:avLst/>
          </a:prstGeom>
          <a:blipFill>
            <a:blip r:embed="rId23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33" name="object 25"/>
          <p:cNvSpPr/>
          <p:nvPr/>
        </p:nvSpPr>
        <p:spPr>
          <a:xfrm>
            <a:off x="6995413" y="3845512"/>
            <a:ext cx="1968709" cy="174414"/>
          </a:xfrm>
          <a:prstGeom prst="rect">
            <a:avLst/>
          </a:prstGeom>
          <a:blipFill>
            <a:blip r:embed="rId24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34" name="object 26"/>
          <p:cNvSpPr/>
          <p:nvPr/>
        </p:nvSpPr>
        <p:spPr>
          <a:xfrm>
            <a:off x="7011801" y="4116444"/>
            <a:ext cx="1255874" cy="174415"/>
          </a:xfrm>
          <a:prstGeom prst="rect">
            <a:avLst/>
          </a:prstGeom>
          <a:blipFill>
            <a:blip r:embed="rId25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35" name="object 27"/>
          <p:cNvSpPr/>
          <p:nvPr/>
        </p:nvSpPr>
        <p:spPr>
          <a:xfrm>
            <a:off x="7011801" y="4387379"/>
            <a:ext cx="1310061" cy="140126"/>
          </a:xfrm>
          <a:prstGeom prst="rect">
            <a:avLst/>
          </a:prstGeom>
          <a:blipFill>
            <a:blip r:embed="rId26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36" name="object 28"/>
          <p:cNvSpPr/>
          <p:nvPr/>
        </p:nvSpPr>
        <p:spPr>
          <a:xfrm>
            <a:off x="7011801" y="4658312"/>
            <a:ext cx="2238114" cy="174414"/>
          </a:xfrm>
          <a:prstGeom prst="rect">
            <a:avLst/>
          </a:prstGeom>
          <a:blipFill>
            <a:blip r:embed="rId27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37" name="object 29"/>
          <p:cNvSpPr/>
          <p:nvPr/>
        </p:nvSpPr>
        <p:spPr>
          <a:xfrm>
            <a:off x="6996209" y="4929244"/>
            <a:ext cx="3295375" cy="174414"/>
          </a:xfrm>
          <a:prstGeom prst="rect">
            <a:avLst/>
          </a:prstGeom>
          <a:blipFill>
            <a:blip r:embed="rId28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38" name="object 30"/>
          <p:cNvSpPr/>
          <p:nvPr/>
        </p:nvSpPr>
        <p:spPr>
          <a:xfrm>
            <a:off x="6996209" y="5200177"/>
            <a:ext cx="4897780" cy="174414"/>
          </a:xfrm>
          <a:prstGeom prst="rect">
            <a:avLst/>
          </a:prstGeom>
          <a:blipFill>
            <a:blip r:embed="rId29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39" name="object 31"/>
          <p:cNvSpPr/>
          <p:nvPr/>
        </p:nvSpPr>
        <p:spPr>
          <a:xfrm>
            <a:off x="7004182" y="5471109"/>
            <a:ext cx="1476854" cy="140127"/>
          </a:xfrm>
          <a:prstGeom prst="rect">
            <a:avLst/>
          </a:prstGeom>
          <a:blipFill>
            <a:blip r:embed="rId30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40" name="object 32"/>
          <p:cNvSpPr/>
          <p:nvPr/>
        </p:nvSpPr>
        <p:spPr>
          <a:xfrm>
            <a:off x="6996209" y="5741406"/>
            <a:ext cx="2178333" cy="140764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41" name="object 33"/>
          <p:cNvSpPr/>
          <p:nvPr/>
        </p:nvSpPr>
        <p:spPr>
          <a:xfrm>
            <a:off x="7011801" y="6012339"/>
            <a:ext cx="2701556" cy="140764"/>
          </a:xfrm>
          <a:prstGeom prst="rect">
            <a:avLst/>
          </a:prstGeom>
          <a:blipFill>
            <a:blip r:embed="rId3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42" name="object 34"/>
          <p:cNvSpPr/>
          <p:nvPr/>
        </p:nvSpPr>
        <p:spPr>
          <a:xfrm>
            <a:off x="7011879" y="6283272"/>
            <a:ext cx="2878263" cy="175050"/>
          </a:xfrm>
          <a:prstGeom prst="rect">
            <a:avLst/>
          </a:prstGeom>
          <a:blipFill>
            <a:blip r:embed="rId33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43" name="object 35"/>
          <p:cNvSpPr/>
          <p:nvPr/>
        </p:nvSpPr>
        <p:spPr>
          <a:xfrm>
            <a:off x="7011879" y="6554204"/>
            <a:ext cx="3566474" cy="175050"/>
          </a:xfrm>
          <a:prstGeom prst="rect">
            <a:avLst/>
          </a:prstGeom>
          <a:blipFill>
            <a:blip r:embed="rId34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44" name="object 36"/>
          <p:cNvSpPr/>
          <p:nvPr/>
        </p:nvSpPr>
        <p:spPr>
          <a:xfrm>
            <a:off x="6996209" y="6825137"/>
            <a:ext cx="2920011" cy="175050"/>
          </a:xfrm>
          <a:prstGeom prst="rect">
            <a:avLst/>
          </a:prstGeom>
          <a:blipFill>
            <a:blip r:embed="rId35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45" name="object 37"/>
          <p:cNvSpPr/>
          <p:nvPr/>
        </p:nvSpPr>
        <p:spPr>
          <a:xfrm>
            <a:off x="7001674" y="7096069"/>
            <a:ext cx="3881166" cy="175050"/>
          </a:xfrm>
          <a:prstGeom prst="rect">
            <a:avLst/>
          </a:prstGeom>
          <a:blipFill>
            <a:blip r:embed="rId36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46" name="object 38"/>
          <p:cNvSpPr/>
          <p:nvPr/>
        </p:nvSpPr>
        <p:spPr>
          <a:xfrm>
            <a:off x="7004182" y="7367003"/>
            <a:ext cx="4227431" cy="175049"/>
          </a:xfrm>
          <a:prstGeom prst="rect">
            <a:avLst/>
          </a:prstGeom>
          <a:blipFill>
            <a:blip r:embed="rId37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47" name="object 39"/>
          <p:cNvSpPr/>
          <p:nvPr/>
        </p:nvSpPr>
        <p:spPr>
          <a:xfrm>
            <a:off x="7004183" y="7637936"/>
            <a:ext cx="3998587" cy="175050"/>
          </a:xfrm>
          <a:prstGeom prst="rect">
            <a:avLst/>
          </a:prstGeom>
          <a:blipFill>
            <a:blip r:embed="rId38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  <p:sp>
        <p:nvSpPr>
          <p:cNvPr id="348" name="object 40"/>
          <p:cNvSpPr/>
          <p:nvPr/>
        </p:nvSpPr>
        <p:spPr>
          <a:xfrm>
            <a:off x="6998044" y="7908868"/>
            <a:ext cx="4378396" cy="175049"/>
          </a:xfrm>
          <a:prstGeom prst="rect">
            <a:avLst/>
          </a:prstGeom>
          <a:blipFill>
            <a:blip r:embed="rId39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7200" spc="-257"/>
            </a:lvl1pPr>
          </a:lstStyle>
          <a:p>
            <a:r>
              <a:t>Lua Likes Tables</a:t>
            </a:r>
          </a:p>
        </p:txBody>
      </p:sp>
      <p:sp>
        <p:nvSpPr>
          <p:cNvPr id="351" name="In Lua, lots of things are tables (associative arrays)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 Lua, lots of things are tables (associative arrays):</a:t>
            </a:r>
          </a:p>
          <a:p>
            <a:pPr lvl="1"/>
            <a:r>
              <a:t>Vectors</a:t>
            </a:r>
          </a:p>
          <a:p>
            <a:pPr lvl="1"/>
            <a:r>
              <a:t>Maps</a:t>
            </a:r>
          </a:p>
          <a:p>
            <a:pPr lvl="1"/>
            <a:r>
              <a:t>Objects</a:t>
            </a:r>
          </a:p>
          <a:p>
            <a:pPr lvl="1"/>
            <a:r>
              <a:t>Modules…</a:t>
            </a:r>
          </a:p>
          <a:p>
            <a:r>
              <a:t>For example:</a:t>
            </a:r>
          </a:p>
          <a:p>
            <a:pPr marL="0" indent="317500">
              <a:lnSpc>
                <a:spcPct val="110000"/>
              </a:lnSpc>
              <a:buSz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Point = { x=5, y=10 }  </a:t>
            </a:r>
            <a:br/>
            <a:r>
              <a:t>print(Point[“x”], Point[“y”])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" grpId="1" build="p" bldLvl="5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Lua</a:t>
            </a:r>
            <a:r>
              <a:rPr lang="en-US" dirty="0" smtClean="0"/>
              <a:t> Reference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https://www.lua.org/manual/5.1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081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Lua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80637" y="3775227"/>
            <a:ext cx="102657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Baskerville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69999" y="2692400"/>
            <a:ext cx="1144016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update (component,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frame_params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frame_params_get_input_left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frame_params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then		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entity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component_get_entity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(component)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entity_translate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(entity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-0.1, 0.0, 0.0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end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frame_params_get_input_right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frame_params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entity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component_get_entity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(component)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entity_translate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(entity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0.1, 0.0,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0.0)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algn="l"/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0454" y="7007675"/>
            <a:ext cx="6045141" cy="1764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 smtClean="0"/>
              <a:t>Gets keyboard input, moves and entity left and right. 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 smtClean="0"/>
              <a:t>Use IJKL to keys to move.  (right now just J and L)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800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 smtClean="0"/>
              <a:t>Ignore the fact that the cube is sinking into the floor, we can deal with that later, just translate it up or translate the floor down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Baskerville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697" y="6008914"/>
            <a:ext cx="5120361" cy="30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751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60696" y="3030119"/>
            <a:ext cx="1005985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ga_lua_component</a:t>
            </a:r>
            <a:r>
              <a:rPr lang="en-US" sz="1800" dirty="0">
                <a:latin typeface="Consolas" panose="020B0609020204030204" pitchFamily="49" charset="0"/>
              </a:rPr>
              <a:t>::update(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ga_frame_params</a:t>
            </a:r>
            <a:r>
              <a:rPr lang="en-US" sz="1800" dirty="0">
                <a:latin typeface="Consolas" panose="020B0609020204030204" pitchFamily="49" charset="0"/>
              </a:rPr>
              <a:t>*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params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sz="1800" dirty="0" smtClean="0">
                <a:latin typeface="Consolas" panose="020B0609020204030204" pitchFamily="49" charset="0"/>
              </a:rPr>
              <a:t>{</a:t>
            </a:r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 smtClean="0">
                <a:latin typeface="Consolas" panose="020B0609020204030204" pitchFamily="49" charset="0"/>
              </a:rPr>
              <a:t>	</a:t>
            </a:r>
            <a:r>
              <a:rPr lang="en-US" sz="1800" dirty="0" err="1" smtClean="0">
                <a:latin typeface="Consolas" panose="020B0609020204030204" pitchFamily="49" charset="0"/>
              </a:rPr>
              <a:t>lua_getglobal</a:t>
            </a:r>
            <a:r>
              <a:rPr lang="en-US" sz="1800" dirty="0">
                <a:latin typeface="Consolas" panose="020B0609020204030204" pitchFamily="49" charset="0"/>
              </a:rPr>
              <a:t>(_</a:t>
            </a:r>
            <a:r>
              <a:rPr lang="en-US" sz="1800" dirty="0" err="1">
                <a:latin typeface="Consolas" panose="020B0609020204030204" pitchFamily="49" charset="0"/>
              </a:rPr>
              <a:t>lua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"update</a:t>
            </a:r>
            <a:r>
              <a:rPr lang="en-US" sz="18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smtClean="0"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 smtClean="0">
                <a:latin typeface="Consolas" panose="020B0609020204030204" pitchFamily="49" charset="0"/>
              </a:rPr>
              <a:t>	</a:t>
            </a:r>
            <a:r>
              <a:rPr lang="en-US" sz="1800" dirty="0" err="1" smtClean="0">
                <a:latin typeface="Consolas" panose="020B0609020204030204" pitchFamily="49" charset="0"/>
              </a:rPr>
              <a:t>lua_pushlightuserdata</a:t>
            </a:r>
            <a:r>
              <a:rPr lang="en-US" sz="1800" dirty="0" smtClean="0">
                <a:latin typeface="Consolas" panose="020B0609020204030204" pitchFamily="49" charset="0"/>
              </a:rPr>
              <a:t>(_</a:t>
            </a:r>
            <a:r>
              <a:rPr lang="en-US" sz="1800" dirty="0" err="1" smtClean="0">
                <a:latin typeface="Consolas" panose="020B0609020204030204" pitchFamily="49" charset="0"/>
              </a:rPr>
              <a:t>lua</a:t>
            </a:r>
            <a:r>
              <a:rPr lang="en-US" sz="1800" dirty="0" smtClean="0">
                <a:latin typeface="Consolas" panose="020B0609020204030204" pitchFamily="49" charset="0"/>
              </a:rPr>
              <a:t>, </a:t>
            </a:r>
            <a:r>
              <a:rPr lang="en-US" sz="18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smtClean="0"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 smtClean="0">
                <a:latin typeface="Consolas" panose="020B0609020204030204" pitchFamily="49" charset="0"/>
              </a:rPr>
              <a:t>	</a:t>
            </a:r>
            <a:r>
              <a:rPr lang="en-US" sz="1800" dirty="0" err="1" smtClean="0">
                <a:latin typeface="Consolas" panose="020B0609020204030204" pitchFamily="49" charset="0"/>
              </a:rPr>
              <a:t>lua_pushlightuserdata</a:t>
            </a:r>
            <a:r>
              <a:rPr lang="en-US" sz="1800" dirty="0">
                <a:latin typeface="Consolas" panose="020B0609020204030204" pitchFamily="49" charset="0"/>
              </a:rPr>
              <a:t>(_</a:t>
            </a:r>
            <a:r>
              <a:rPr lang="en-US" sz="1800" dirty="0" err="1">
                <a:latin typeface="Consolas" panose="020B0609020204030204" pitchFamily="49" charset="0"/>
              </a:rPr>
              <a:t>lua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params</a:t>
            </a:r>
            <a:r>
              <a:rPr lang="en-US" sz="1800" dirty="0" smtClean="0">
                <a:latin typeface="Consolas" panose="020B0609020204030204" pitchFamily="49" charset="0"/>
              </a:rPr>
              <a:t>);</a:t>
            </a:r>
          </a:p>
          <a:p>
            <a:pPr algn="l"/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8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status = </a:t>
            </a:r>
            <a:r>
              <a:rPr lang="en-US" sz="1800" dirty="0" err="1">
                <a:solidFill>
                  <a:srgbClr val="6F008A"/>
                </a:solidFill>
                <a:latin typeface="Consolas" panose="020B0609020204030204" pitchFamily="49" charset="0"/>
              </a:rPr>
              <a:t>lua_pcall</a:t>
            </a:r>
            <a:r>
              <a:rPr lang="en-US" sz="1800" dirty="0">
                <a:latin typeface="Consolas" panose="020B0609020204030204" pitchFamily="49" charset="0"/>
              </a:rPr>
              <a:t>(_</a:t>
            </a:r>
            <a:r>
              <a:rPr lang="en-US" sz="1800" dirty="0" err="1">
                <a:latin typeface="Consolas" panose="020B0609020204030204" pitchFamily="49" charset="0"/>
              </a:rPr>
              <a:t>lua</a:t>
            </a:r>
            <a:r>
              <a:rPr lang="en-US" sz="1800" dirty="0">
                <a:latin typeface="Consolas" panose="020B0609020204030204" pitchFamily="49" charset="0"/>
              </a:rPr>
              <a:t>, 2, 0, 0</a:t>
            </a:r>
            <a:r>
              <a:rPr lang="en-US" sz="1800" dirty="0" smtClean="0"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 smtClean="0">
                <a:latin typeface="Consolas" panose="020B0609020204030204" pitchFamily="49" charset="0"/>
              </a:rPr>
              <a:t>}</a:t>
            </a: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860697" y="1180557"/>
            <a:ext cx="11823338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 smtClean="0"/>
              <a:t>To call the </a:t>
            </a:r>
            <a:r>
              <a:rPr lang="en-US" sz="3200" dirty="0" err="1" smtClean="0"/>
              <a:t>lua</a:t>
            </a:r>
            <a:r>
              <a:rPr lang="en-US" sz="3200" dirty="0" smtClean="0"/>
              <a:t> function, we push the function and its arguments onto the </a:t>
            </a:r>
            <a:r>
              <a:rPr lang="en-US" sz="3200" dirty="0" err="1" smtClean="0"/>
              <a:t>lua</a:t>
            </a:r>
            <a:r>
              <a:rPr lang="en-US" sz="3200" dirty="0" smtClean="0"/>
              <a:t> call stack.  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860696" y="5885161"/>
            <a:ext cx="11692710" cy="34265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 err="1" smtClean="0"/>
              <a:t>lua_getglobal</a:t>
            </a:r>
            <a:r>
              <a:rPr lang="en-US" sz="2400" dirty="0" smtClean="0"/>
              <a:t>() finds a </a:t>
            </a:r>
            <a:r>
              <a:rPr lang="en-US" sz="2400" dirty="0" err="1" smtClean="0"/>
              <a:t>lua</a:t>
            </a:r>
            <a:r>
              <a:rPr lang="en-US" sz="2400" dirty="0" smtClean="0"/>
              <a:t> function by name and pushes it onto the stack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 err="1" smtClean="0"/>
              <a:t>lua_pushlightuserdata</a:t>
            </a:r>
            <a:r>
              <a:rPr lang="en-US" sz="2400" dirty="0" smtClean="0"/>
              <a:t>() pushes a pointer to some data onto the stack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400" dirty="0"/>
          </a:p>
          <a:p>
            <a:pPr algn="l"/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lua_pcall</a:t>
            </a:r>
            <a:r>
              <a:rPr lang="en-US" sz="2400" dirty="0"/>
              <a:t> (</a:t>
            </a:r>
            <a:r>
              <a:rPr lang="en-US" sz="2400" dirty="0" err="1"/>
              <a:t>lua_State</a:t>
            </a:r>
            <a:r>
              <a:rPr lang="en-US" sz="2400" dirty="0"/>
              <a:t> *L,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nargs</a:t>
            </a:r>
            <a:r>
              <a:rPr lang="en-US" sz="2400" dirty="0"/>
              <a:t>,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nresults</a:t>
            </a:r>
            <a:r>
              <a:rPr lang="en-US" sz="2400" dirty="0"/>
              <a:t>,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errfunc</a:t>
            </a:r>
            <a:r>
              <a:rPr lang="en-US" sz="2400" dirty="0" smtClean="0"/>
              <a:t>);</a:t>
            </a:r>
          </a:p>
          <a:p>
            <a:pPr algn="l"/>
            <a:r>
              <a:rPr lang="en-US" sz="2400" dirty="0" smtClean="0"/>
              <a:t>Calls the function in protected mode.  </a:t>
            </a:r>
            <a:r>
              <a:rPr lang="en-US" sz="2400" dirty="0" err="1" smtClean="0"/>
              <a:t>Errfunc</a:t>
            </a:r>
            <a:r>
              <a:rPr lang="en-US" sz="2400" dirty="0" smtClean="0"/>
              <a:t> is a call stack index to an error handler function.</a:t>
            </a:r>
            <a:endParaRPr lang="en-US" sz="2400" dirty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400" dirty="0" smtClean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400" dirty="0" smtClean="0"/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Baskerville"/>
            </a:endParaRPr>
          </a:p>
        </p:txBody>
      </p:sp>
    </p:spTree>
    <p:extLst>
      <p:ext uri="{BB962C8B-B14F-4D97-AF65-F5344CB8AC3E}">
        <p14:creationId xmlns:p14="http://schemas.microsoft.com/office/powerpoint/2010/main" val="32479886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0249" y="6073952"/>
            <a:ext cx="1196702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ga_lua_component</a:t>
            </a:r>
            <a:r>
              <a:rPr lang="en-US" sz="2000" dirty="0">
                <a:latin typeface="Consolas" panose="020B0609020204030204" pitchFamily="49" charset="0"/>
              </a:rPr>
              <a:t>::</a:t>
            </a:r>
            <a:r>
              <a:rPr lang="en-US" sz="2000" dirty="0" err="1">
                <a:latin typeface="Consolas" panose="020B0609020204030204" pitchFamily="49" charset="0"/>
              </a:rPr>
              <a:t>lua_frame_params_get_input_left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lua_State</a:t>
            </a:r>
            <a:r>
              <a:rPr lang="en-US" sz="2000" dirty="0">
                <a:latin typeface="Consolas" panose="020B0609020204030204" pitchFamily="49" charset="0"/>
              </a:rPr>
              <a:t>*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state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lvl="1" algn="l"/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arg_count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</a:rPr>
              <a:t>lua_gettop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state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pPr lvl="1" algn="l"/>
            <a:r>
              <a:rPr lang="en-US" sz="2000" dirty="0" err="1" smtClean="0">
                <a:solidFill>
                  <a:srgbClr val="2B91AF"/>
                </a:solidFill>
                <a:latin typeface="Consolas" panose="020B0609020204030204" pitchFamily="49" charset="0"/>
              </a:rPr>
              <a:t>ga_frame_params</a:t>
            </a:r>
            <a:r>
              <a:rPr lang="en-US" sz="2000" dirty="0">
                <a:latin typeface="Consolas" panose="020B0609020204030204" pitchFamily="49" charset="0"/>
              </a:rPr>
              <a:t>* </a:t>
            </a:r>
            <a:r>
              <a:rPr lang="en-US" sz="2000" dirty="0" err="1">
                <a:latin typeface="Consolas" panose="020B0609020204030204" pitchFamily="49" charset="0"/>
              </a:rPr>
              <a:t>params</a:t>
            </a:r>
            <a:r>
              <a:rPr lang="en-US" sz="2000" dirty="0">
                <a:latin typeface="Consolas" panose="020B0609020204030204" pitchFamily="49" charset="0"/>
              </a:rPr>
              <a:t> = (</a:t>
            </a:r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ga_frame_params</a:t>
            </a:r>
            <a:r>
              <a:rPr lang="en-US" sz="2000" dirty="0">
                <a:latin typeface="Consolas" panose="020B0609020204030204" pitchFamily="49" charset="0"/>
              </a:rPr>
              <a:t>*)</a:t>
            </a:r>
            <a:r>
              <a:rPr lang="en-US" sz="2000" dirty="0" err="1">
                <a:latin typeface="Consolas" panose="020B0609020204030204" pitchFamily="49" charset="0"/>
              </a:rPr>
              <a:t>lua_touserdata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state</a:t>
            </a:r>
            <a:r>
              <a:rPr lang="en-US" sz="2000" dirty="0">
                <a:latin typeface="Consolas" panose="020B0609020204030204" pitchFamily="49" charset="0"/>
              </a:rPr>
              <a:t>, 1);</a:t>
            </a:r>
          </a:p>
          <a:p>
            <a:pPr lvl="1" algn="l"/>
            <a:r>
              <a:rPr lang="en-US" sz="2000" dirty="0" err="1">
                <a:latin typeface="Consolas" panose="020B0609020204030204" pitchFamily="49" charset="0"/>
              </a:rPr>
              <a:t>lua_pushboolean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state</a:t>
            </a:r>
            <a:r>
              <a:rPr lang="en-US" sz="2000" dirty="0">
                <a:latin typeface="Consolas" panose="020B0609020204030204" pitchFamily="49" charset="0"/>
              </a:rPr>
              <a:t>, (</a:t>
            </a:r>
            <a:r>
              <a:rPr lang="en-US" sz="2000" dirty="0" err="1">
                <a:latin typeface="Consolas" panose="020B0609020204030204" pitchFamily="49" charset="0"/>
              </a:rPr>
              <a:t>params</a:t>
            </a:r>
            <a:r>
              <a:rPr lang="en-US" sz="2000" dirty="0">
                <a:latin typeface="Consolas" panose="020B0609020204030204" pitchFamily="49" charset="0"/>
              </a:rPr>
              <a:t>-&gt;_</a:t>
            </a:r>
            <a:r>
              <a:rPr lang="en-US" sz="2000" dirty="0" err="1">
                <a:latin typeface="Consolas" panose="020B0609020204030204" pitchFamily="49" charset="0"/>
              </a:rPr>
              <a:t>button_mask</a:t>
            </a:r>
            <a:r>
              <a:rPr lang="en-US" sz="2000" dirty="0">
                <a:latin typeface="Consolas" panose="020B0609020204030204" pitchFamily="49" charset="0"/>
              </a:rPr>
              <a:t> &amp; </a:t>
            </a:r>
            <a:r>
              <a:rPr lang="en-US" sz="2000" dirty="0" err="1">
                <a:solidFill>
                  <a:srgbClr val="2F4F4F"/>
                </a:solidFill>
                <a:latin typeface="Consolas" panose="020B0609020204030204" pitchFamily="49" charset="0"/>
              </a:rPr>
              <a:t>k_button_j</a:t>
            </a:r>
            <a:r>
              <a:rPr lang="en-US" sz="2000" dirty="0">
                <a:latin typeface="Consolas" panose="020B0609020204030204" pitchFamily="49" charset="0"/>
              </a:rPr>
              <a:t>) != 0);</a:t>
            </a:r>
          </a:p>
          <a:p>
            <a:pPr algn="l"/>
            <a:r>
              <a:rPr lang="en-US" sz="2000" dirty="0" smtClean="0"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12501" y="2367154"/>
            <a:ext cx="119147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 err="1">
                <a:solidFill>
                  <a:srgbClr val="6F008A"/>
                </a:solidFill>
                <a:latin typeface="Consolas" panose="020B0609020204030204" pitchFamily="49" charset="0"/>
              </a:rPr>
              <a:t>lua_register</a:t>
            </a:r>
            <a:r>
              <a:rPr lang="en-US" sz="2000" dirty="0">
                <a:latin typeface="Consolas" panose="020B0609020204030204" pitchFamily="49" charset="0"/>
              </a:rPr>
              <a:t>(_</a:t>
            </a:r>
            <a:r>
              <a:rPr lang="en-US" sz="2000" dirty="0" err="1">
                <a:latin typeface="Consolas" panose="020B0609020204030204" pitchFamily="49" charset="0"/>
              </a:rPr>
              <a:t>lua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frame_params_get_input_left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lua_frame_params_get_input_left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501" y="1465968"/>
            <a:ext cx="7210307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 smtClean="0"/>
              <a:t>binding a </a:t>
            </a:r>
            <a:r>
              <a:rPr lang="en-US" sz="3200" dirty="0" err="1" smtClean="0"/>
              <a:t>lua</a:t>
            </a:r>
            <a:r>
              <a:rPr lang="en-US" sz="3200" dirty="0" smtClean="0"/>
              <a:t> function to a C++ function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Baskerville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4024" y="4436656"/>
            <a:ext cx="7444346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 err="1" smtClean="0"/>
              <a:t>lua_touserdata</a:t>
            </a:r>
            <a:r>
              <a:rPr lang="en-US" sz="2400" dirty="0" smtClean="0"/>
              <a:t>() gets data from the </a:t>
            </a:r>
            <a:r>
              <a:rPr lang="en-US" sz="2400" dirty="0" err="1" smtClean="0"/>
              <a:t>lua</a:t>
            </a:r>
            <a:r>
              <a:rPr lang="en-US" sz="2400" dirty="0" smtClean="0"/>
              <a:t> stack by index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Baskerville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 smtClean="0"/>
              <a:t>To return data back to </a:t>
            </a:r>
            <a:r>
              <a:rPr lang="en-US" sz="2400" dirty="0" err="1" smtClean="0"/>
              <a:t>lua</a:t>
            </a:r>
            <a:r>
              <a:rPr lang="en-US" sz="2400" dirty="0" smtClean="0"/>
              <a:t>, push it onto the stack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Baskerville"/>
            </a:endParaRPr>
          </a:p>
        </p:txBody>
      </p:sp>
    </p:spTree>
    <p:extLst>
      <p:ext uri="{BB962C8B-B14F-4D97-AF65-F5344CB8AC3E}">
        <p14:creationId xmlns:p14="http://schemas.microsoft.com/office/powerpoint/2010/main" val="42642198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9257" y="1723648"/>
            <a:ext cx="1144451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ga_lua_component</a:t>
            </a:r>
            <a:r>
              <a:rPr lang="en-US" sz="2200" dirty="0">
                <a:latin typeface="Consolas" panose="020B0609020204030204" pitchFamily="49" charset="0"/>
              </a:rPr>
              <a:t>::</a:t>
            </a:r>
            <a:r>
              <a:rPr lang="en-US" sz="2200" dirty="0" err="1">
                <a:latin typeface="Consolas" panose="020B0609020204030204" pitchFamily="49" charset="0"/>
              </a:rPr>
              <a:t>lua_entity_translate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lua_State</a:t>
            </a:r>
            <a:r>
              <a:rPr lang="en-US" sz="2200" dirty="0">
                <a:latin typeface="Consolas" panose="020B0609020204030204" pitchFamily="49" charset="0"/>
              </a:rPr>
              <a:t>*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state</a:t>
            </a:r>
            <a:r>
              <a:rPr lang="en-US" sz="2200" dirty="0"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sz="2200" dirty="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sz="2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22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 smtClean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arg_count</a:t>
            </a:r>
            <a:r>
              <a:rPr lang="en-US" sz="2200" dirty="0">
                <a:latin typeface="Consolas" panose="020B0609020204030204" pitchFamily="49" charset="0"/>
              </a:rPr>
              <a:t> = </a:t>
            </a:r>
            <a:r>
              <a:rPr lang="en-US" sz="2200" dirty="0" err="1">
                <a:latin typeface="Consolas" panose="020B0609020204030204" pitchFamily="49" charset="0"/>
              </a:rPr>
              <a:t>lua_gettop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state</a:t>
            </a:r>
            <a:r>
              <a:rPr lang="en-US" sz="2200" dirty="0">
                <a:latin typeface="Consolas" panose="020B0609020204030204" pitchFamily="49" charset="0"/>
              </a:rPr>
              <a:t>);</a:t>
            </a:r>
          </a:p>
          <a:p>
            <a:pPr algn="l"/>
            <a:endParaRPr lang="en-US" sz="2200" dirty="0" smtClean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2200" dirty="0" smtClean="0">
                <a:solidFill>
                  <a:srgbClr val="2B91AF"/>
                </a:solidFill>
                <a:latin typeface="Consolas" panose="020B0609020204030204" pitchFamily="49" charset="0"/>
              </a:rPr>
              <a:t>	</a:t>
            </a:r>
            <a:r>
              <a:rPr lang="en-US" sz="2200" dirty="0" err="1" smtClean="0">
                <a:solidFill>
                  <a:srgbClr val="2B91AF"/>
                </a:solidFill>
                <a:latin typeface="Consolas" panose="020B0609020204030204" pitchFamily="49" charset="0"/>
              </a:rPr>
              <a:t>ga_entity</a:t>
            </a:r>
            <a:r>
              <a:rPr lang="en-US" sz="2200" dirty="0">
                <a:latin typeface="Consolas" panose="020B0609020204030204" pitchFamily="49" charset="0"/>
              </a:rPr>
              <a:t>* </a:t>
            </a:r>
            <a:r>
              <a:rPr lang="en-US" sz="2200" dirty="0" err="1">
                <a:latin typeface="Consolas" panose="020B0609020204030204" pitchFamily="49" charset="0"/>
              </a:rPr>
              <a:t>ent</a:t>
            </a:r>
            <a:r>
              <a:rPr lang="en-US" sz="2200" dirty="0">
                <a:latin typeface="Consolas" panose="020B0609020204030204" pitchFamily="49" charset="0"/>
              </a:rPr>
              <a:t> = (</a:t>
            </a:r>
            <a:r>
              <a:rPr lang="en-US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ga_entity</a:t>
            </a:r>
            <a:r>
              <a:rPr lang="en-US" sz="2200" dirty="0">
                <a:latin typeface="Consolas" panose="020B0609020204030204" pitchFamily="49" charset="0"/>
              </a:rPr>
              <a:t>*)</a:t>
            </a:r>
            <a:r>
              <a:rPr lang="en-US" sz="2200" dirty="0" err="1">
                <a:latin typeface="Consolas" panose="020B0609020204030204" pitchFamily="49" charset="0"/>
              </a:rPr>
              <a:t>lua_touserdata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state</a:t>
            </a:r>
            <a:r>
              <a:rPr lang="en-US" sz="2200" dirty="0">
                <a:latin typeface="Consolas" panose="020B0609020204030204" pitchFamily="49" charset="0"/>
              </a:rPr>
              <a:t>, 1);</a:t>
            </a:r>
          </a:p>
          <a:p>
            <a:pPr algn="l"/>
            <a:endParaRPr lang="en-US" sz="2200" dirty="0">
              <a:latin typeface="Consolas" panose="020B0609020204030204" pitchFamily="49" charset="0"/>
            </a:endParaRPr>
          </a:p>
          <a:p>
            <a:pPr algn="l"/>
            <a:r>
              <a:rPr lang="en-US" sz="2200" dirty="0" smtClean="0">
                <a:solidFill>
                  <a:srgbClr val="2B91AF"/>
                </a:solidFill>
                <a:latin typeface="Consolas" panose="020B0609020204030204" pitchFamily="49" charset="0"/>
              </a:rPr>
              <a:t>	ga_vec3f</a:t>
            </a:r>
            <a:r>
              <a:rPr lang="en-US" sz="2200" dirty="0" smtClean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vec</a:t>
            </a:r>
            <a:r>
              <a:rPr lang="en-US" sz="2200" dirty="0"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2200" dirty="0" smtClean="0">
                <a:latin typeface="Consolas" panose="020B0609020204030204" pitchFamily="49" charset="0"/>
              </a:rPr>
              <a:t>	</a:t>
            </a:r>
            <a:r>
              <a:rPr lang="en-US" sz="2200" dirty="0" err="1" smtClean="0">
                <a:latin typeface="Consolas" panose="020B0609020204030204" pitchFamily="49" charset="0"/>
              </a:rPr>
              <a:t>vec.x</a:t>
            </a:r>
            <a:r>
              <a:rPr lang="en-US" sz="2200" dirty="0" smtClean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= (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200" dirty="0">
                <a:latin typeface="Consolas" panose="020B0609020204030204" pitchFamily="49" charset="0"/>
              </a:rPr>
              <a:t>)</a:t>
            </a:r>
            <a:r>
              <a:rPr lang="en-US" sz="2200" dirty="0" err="1">
                <a:solidFill>
                  <a:srgbClr val="6F008A"/>
                </a:solidFill>
                <a:latin typeface="Consolas" panose="020B0609020204030204" pitchFamily="49" charset="0"/>
              </a:rPr>
              <a:t>lua_tonumber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state</a:t>
            </a:r>
            <a:r>
              <a:rPr lang="en-US" sz="2200" dirty="0">
                <a:latin typeface="Consolas" panose="020B0609020204030204" pitchFamily="49" charset="0"/>
              </a:rPr>
              <a:t>, 2);</a:t>
            </a:r>
          </a:p>
          <a:p>
            <a:pPr algn="l"/>
            <a:r>
              <a:rPr lang="en-US" sz="2200" dirty="0" smtClean="0">
                <a:latin typeface="Consolas" panose="020B0609020204030204" pitchFamily="49" charset="0"/>
              </a:rPr>
              <a:t>	</a:t>
            </a:r>
            <a:r>
              <a:rPr lang="en-US" sz="2200" dirty="0" err="1" smtClean="0">
                <a:latin typeface="Consolas" panose="020B0609020204030204" pitchFamily="49" charset="0"/>
              </a:rPr>
              <a:t>vec.y</a:t>
            </a:r>
            <a:r>
              <a:rPr lang="en-US" sz="2200" dirty="0" smtClean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= (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200" dirty="0">
                <a:latin typeface="Consolas" panose="020B0609020204030204" pitchFamily="49" charset="0"/>
              </a:rPr>
              <a:t>)</a:t>
            </a:r>
            <a:r>
              <a:rPr lang="en-US" sz="2200" dirty="0" err="1">
                <a:solidFill>
                  <a:srgbClr val="6F008A"/>
                </a:solidFill>
                <a:latin typeface="Consolas" panose="020B0609020204030204" pitchFamily="49" charset="0"/>
              </a:rPr>
              <a:t>lua_tonumber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state</a:t>
            </a:r>
            <a:r>
              <a:rPr lang="en-US" sz="2200" dirty="0">
                <a:latin typeface="Consolas" panose="020B0609020204030204" pitchFamily="49" charset="0"/>
              </a:rPr>
              <a:t>, 3);</a:t>
            </a:r>
          </a:p>
          <a:p>
            <a:pPr algn="l"/>
            <a:r>
              <a:rPr lang="en-US" sz="2200" dirty="0" smtClean="0">
                <a:latin typeface="Consolas" panose="020B0609020204030204" pitchFamily="49" charset="0"/>
              </a:rPr>
              <a:t>	</a:t>
            </a:r>
            <a:r>
              <a:rPr lang="en-US" sz="2200" dirty="0" err="1" smtClean="0">
                <a:latin typeface="Consolas" panose="020B0609020204030204" pitchFamily="49" charset="0"/>
              </a:rPr>
              <a:t>vec.z</a:t>
            </a:r>
            <a:r>
              <a:rPr lang="en-US" sz="2200" dirty="0" smtClean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= (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2200" dirty="0">
                <a:latin typeface="Consolas" panose="020B0609020204030204" pitchFamily="49" charset="0"/>
              </a:rPr>
              <a:t>)</a:t>
            </a:r>
            <a:r>
              <a:rPr lang="en-US" sz="2200" dirty="0" err="1">
                <a:solidFill>
                  <a:srgbClr val="6F008A"/>
                </a:solidFill>
                <a:latin typeface="Consolas" panose="020B0609020204030204" pitchFamily="49" charset="0"/>
              </a:rPr>
              <a:t>lua_tonumber</a:t>
            </a:r>
            <a:r>
              <a:rPr lang="en-US" sz="2200" dirty="0"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state</a:t>
            </a:r>
            <a:r>
              <a:rPr lang="en-US" sz="2200" dirty="0">
                <a:latin typeface="Consolas" panose="020B0609020204030204" pitchFamily="49" charset="0"/>
              </a:rPr>
              <a:t>, 4);</a:t>
            </a:r>
          </a:p>
          <a:p>
            <a:pPr algn="l"/>
            <a:endParaRPr lang="en-US" sz="2200" dirty="0">
              <a:latin typeface="Consolas" panose="020B0609020204030204" pitchFamily="49" charset="0"/>
            </a:endParaRPr>
          </a:p>
          <a:p>
            <a:pPr algn="l"/>
            <a:r>
              <a:rPr lang="en-US" sz="2200" dirty="0" smtClean="0">
                <a:latin typeface="Consolas" panose="020B0609020204030204" pitchFamily="49" charset="0"/>
              </a:rPr>
              <a:t>	</a:t>
            </a:r>
            <a:r>
              <a:rPr lang="en-US" sz="2200" dirty="0" err="1" smtClean="0">
                <a:latin typeface="Consolas" panose="020B0609020204030204" pitchFamily="49" charset="0"/>
              </a:rPr>
              <a:t>ent</a:t>
            </a:r>
            <a:r>
              <a:rPr lang="en-US" sz="2200" dirty="0" smtClean="0">
                <a:latin typeface="Consolas" panose="020B0609020204030204" pitchFamily="49" charset="0"/>
              </a:rPr>
              <a:t>-</a:t>
            </a:r>
            <a:r>
              <a:rPr lang="en-US" sz="2200" dirty="0">
                <a:latin typeface="Consolas" panose="020B0609020204030204" pitchFamily="49" charset="0"/>
              </a:rPr>
              <a:t>&gt;translate(</a:t>
            </a:r>
            <a:r>
              <a:rPr lang="en-US" sz="2200" dirty="0" err="1">
                <a:latin typeface="Consolas" panose="020B0609020204030204" pitchFamily="49" charset="0"/>
              </a:rPr>
              <a:t>vec</a:t>
            </a:r>
            <a:r>
              <a:rPr lang="en-US" sz="2200" dirty="0">
                <a:latin typeface="Consolas" panose="020B0609020204030204" pitchFamily="49" charset="0"/>
              </a:rPr>
              <a:t>);</a:t>
            </a:r>
          </a:p>
          <a:p>
            <a:pPr algn="l"/>
            <a:endParaRPr lang="en-US" sz="2200" dirty="0">
              <a:latin typeface="Consolas" panose="020B0609020204030204" pitchFamily="49" charset="0"/>
            </a:endParaRPr>
          </a:p>
          <a:p>
            <a:pPr algn="l"/>
            <a:r>
              <a:rPr lang="en-US" sz="2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200" dirty="0" smtClean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0;</a:t>
            </a:r>
          </a:p>
          <a:p>
            <a:pPr algn="l"/>
            <a:r>
              <a:rPr lang="en-US" sz="2200" dirty="0"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769257" y="8002290"/>
            <a:ext cx="8178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entity_translate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(entity, 0.1, 0.0, 0.0)</a:t>
            </a:r>
          </a:p>
        </p:txBody>
      </p:sp>
    </p:spTree>
    <p:extLst>
      <p:ext uri="{BB962C8B-B14F-4D97-AF65-F5344CB8AC3E}">
        <p14:creationId xmlns:p14="http://schemas.microsoft.com/office/powerpoint/2010/main" val="22547203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Baskerville"/>
        <a:ea typeface="Baskerville"/>
        <a:cs typeface="Baskerville"/>
      </a:majorFont>
      <a:minorFont>
        <a:latin typeface="Baskerville"/>
        <a:ea typeface="Baskerville"/>
        <a:cs typeface="Baskervill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Baskerville"/>
        <a:ea typeface="Baskerville"/>
        <a:cs typeface="Baskerville"/>
      </a:majorFont>
      <a:minorFont>
        <a:latin typeface="Baskerville"/>
        <a:ea typeface="Baskerville"/>
        <a:cs typeface="Baskervill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1531</Words>
  <Application>Microsoft Office PowerPoint</Application>
  <PresentationFormat>Custom</PresentationFormat>
  <Paragraphs>385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Baskerville</vt:lpstr>
      <vt:lpstr>Consolas</vt:lpstr>
      <vt:lpstr>Courier New</vt:lpstr>
      <vt:lpstr>Gill Sans</vt:lpstr>
      <vt:lpstr>Lucida Grande</vt:lpstr>
      <vt:lpstr>Times New Roman</vt:lpstr>
      <vt:lpstr>White</vt:lpstr>
      <vt:lpstr>Game Architecture</vt:lpstr>
      <vt:lpstr>Today’s Agenda</vt:lpstr>
      <vt:lpstr>What is Scripting?</vt:lpstr>
      <vt:lpstr>Wait… why are we doing this?</vt:lpstr>
      <vt:lpstr>So a good engine must have a scripting system? NO</vt:lpstr>
      <vt:lpstr>Some things to consider</vt:lpstr>
      <vt:lpstr>Coroutines &amp; Cooperative  Multithreading</vt:lpstr>
      <vt:lpstr>Events vs. polling</vt:lpstr>
      <vt:lpstr>Safety</vt:lpstr>
      <vt:lpstr>Role of Script in the Engine</vt:lpstr>
      <vt:lpstr>Parsers and Generators</vt:lpstr>
      <vt:lpstr>Lexer</vt:lpstr>
      <vt:lpstr>LL(1) Recursive-Descent Lexer</vt:lpstr>
      <vt:lpstr>Lexer</vt:lpstr>
      <vt:lpstr>Parser</vt:lpstr>
      <vt:lpstr>LL(k) Recursive-Descent Parser</vt:lpstr>
      <vt:lpstr>Translation</vt:lpstr>
      <vt:lpstr>Walking the AST</vt:lpstr>
      <vt:lpstr>Symbol tables</vt:lpstr>
      <vt:lpstr>Scope trees</vt:lpstr>
      <vt:lpstr>Scope Tree Example</vt:lpstr>
      <vt:lpstr>Generating Bytecode</vt:lpstr>
      <vt:lpstr>Virtual Machines</vt:lpstr>
      <vt:lpstr>Stack Based</vt:lpstr>
      <vt:lpstr>Register Based</vt:lpstr>
      <vt:lpstr>The Big Switch of Doooooom</vt:lpstr>
      <vt:lpstr>Integrating scripting with an engine</vt:lpstr>
      <vt:lpstr>Engine to Invoke Script Functions</vt:lpstr>
      <vt:lpstr>Script to Invoke Engine Functions</vt:lpstr>
      <vt:lpstr>Script to Use Engine-Defined Structures</vt:lpstr>
      <vt:lpstr>Final Thoughts on Script/Engine Integration</vt:lpstr>
      <vt:lpstr>Case Study: Lua</vt:lpstr>
      <vt:lpstr>Lua 5 Instruction Set</vt:lpstr>
      <vt:lpstr>Lua Likes Tables</vt:lpstr>
      <vt:lpstr>Lua Reference</vt:lpstr>
      <vt:lpstr>Lua example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Architecture</dc:title>
  <dc:creator>Chang, Benjamin Chia-Ming</dc:creator>
  <cp:lastModifiedBy>Chang, Benjamin Chia-Ming</cp:lastModifiedBy>
  <cp:revision>15</cp:revision>
  <dcterms:modified xsi:type="dcterms:W3CDTF">2019-04-15T16:19:55Z</dcterms:modified>
</cp:coreProperties>
</file>