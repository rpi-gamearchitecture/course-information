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 id="2147483679" r:id="rId2"/>
  </p:sldMasterIdLst>
  <p:notesMasterIdLst>
    <p:notesMasterId r:id="rId63"/>
  </p:notesMasterIdLst>
  <p:sldIdLst>
    <p:sldId id="256" r:id="rId3"/>
    <p:sldId id="257" r:id="rId4"/>
    <p:sldId id="258" r:id="rId5"/>
    <p:sldId id="259" r:id="rId6"/>
    <p:sldId id="260" r:id="rId7"/>
    <p:sldId id="261" r:id="rId8"/>
    <p:sldId id="262" r:id="rId9"/>
    <p:sldId id="263" r:id="rId10"/>
    <p:sldId id="265" r:id="rId11"/>
    <p:sldId id="266" r:id="rId12"/>
    <p:sldId id="267" r:id="rId13"/>
    <p:sldId id="317" r:id="rId14"/>
    <p:sldId id="269" r:id="rId15"/>
    <p:sldId id="318" r:id="rId16"/>
    <p:sldId id="316" r:id="rId17"/>
    <p:sldId id="319" r:id="rId18"/>
    <p:sldId id="320" r:id="rId19"/>
    <p:sldId id="321" r:id="rId20"/>
    <p:sldId id="322" r:id="rId21"/>
    <p:sldId id="275" r:id="rId22"/>
    <p:sldId id="276" r:id="rId23"/>
    <p:sldId id="277" r:id="rId24"/>
    <p:sldId id="278" r:id="rId25"/>
    <p:sldId id="279" r:id="rId26"/>
    <p:sldId id="280" r:id="rId27"/>
    <p:sldId id="281" r:id="rId28"/>
    <p:sldId id="282" r:id="rId29"/>
    <p:sldId id="283" r:id="rId30"/>
    <p:sldId id="324" r:id="rId31"/>
    <p:sldId id="285" r:id="rId32"/>
    <p:sldId id="286" r:id="rId33"/>
    <p:sldId id="287" r:id="rId34"/>
    <p:sldId id="288" r:id="rId35"/>
    <p:sldId id="289" r:id="rId36"/>
    <p:sldId id="290" r:id="rId37"/>
    <p:sldId id="291" r:id="rId38"/>
    <p:sldId id="292" r:id="rId39"/>
    <p:sldId id="293" r:id="rId40"/>
    <p:sldId id="326" r:id="rId41"/>
    <p:sldId id="294" r:id="rId42"/>
    <p:sldId id="327" r:id="rId43"/>
    <p:sldId id="296" r:id="rId44"/>
    <p:sldId id="297" r:id="rId45"/>
    <p:sldId id="298" r:id="rId46"/>
    <p:sldId id="299" r:id="rId47"/>
    <p:sldId id="300" r:id="rId48"/>
    <p:sldId id="328"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57" autoAdjust="0"/>
    <p:restoredTop sz="70267" autoAdjust="0"/>
  </p:normalViewPr>
  <p:slideViewPr>
    <p:cSldViewPr>
      <p:cViewPr varScale="1">
        <p:scale>
          <a:sx n="82" d="100"/>
          <a:sy n="82" d="100"/>
        </p:scale>
        <p:origin x="159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2A8D5427-5335-42A9-B6BF-6F9EA937D73F}" type="datetimeFigureOut">
              <a:rPr lang="en-US" smtClean="0"/>
              <a:t>3/14/2019</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0180A0B4-09B1-48FF-B9D9-4B6B7049BEBA}" type="slidenum">
              <a:rPr lang="en-US" smtClean="0"/>
              <a:t>‹#›</a:t>
            </a:fld>
            <a:endParaRPr lang="en-US"/>
          </a:p>
        </p:txBody>
      </p:sp>
    </p:spTree>
    <p:extLst>
      <p:ext uri="{BB962C8B-B14F-4D97-AF65-F5344CB8AC3E}">
        <p14:creationId xmlns:p14="http://schemas.microsoft.com/office/powerpoint/2010/main" val="2300197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n.wikipedia.org/wiki/Slope"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en.wikipedia.org/wiki/Euler's_method" TargetMode="External"/><Relationship Id="rId4" Type="http://schemas.openxmlformats.org/officeDocument/2006/relationships/hyperlink" Target="http://en.wikipedia.org/wiki/Weighted_averag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6</a:t>
            </a:fld>
            <a:endParaRPr lang="en-US"/>
          </a:p>
        </p:txBody>
      </p:sp>
    </p:spTree>
    <p:extLst>
      <p:ext uri="{BB962C8B-B14F-4D97-AF65-F5344CB8AC3E}">
        <p14:creationId xmlns:p14="http://schemas.microsoft.com/office/powerpoint/2010/main" val="2159178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rare cases, we can solve the ODE analytically, meaning that a simple, closed-form (tractable, can be evaluated in a finite number of operations) function can be found that describes the body’s position for *all possible values* of time. An example is the vertical motion of a projectile under the influence of a constant acceleration due to gravity</a:t>
            </a:r>
          </a:p>
          <a:p>
            <a:r>
              <a:rPr lang="en-US" dirty="0" smtClean="0"/>
              <a:t>this is almost never possible in games, because they’re interactive. We cannot predict how the forces in a game will behave over time</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10</a:t>
            </a:fld>
            <a:endParaRPr lang="en-US"/>
          </a:p>
        </p:txBody>
      </p:sp>
    </p:spTree>
    <p:extLst>
      <p:ext uri="{BB962C8B-B14F-4D97-AF65-F5344CB8AC3E}">
        <p14:creationId xmlns:p14="http://schemas.microsoft.com/office/powerpoint/2010/main" val="2709744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Shape 256"/>
          <p:cNvSpPr>
            <a:spLocks noGrp="1" noRot="1" noChangeAspect="1"/>
          </p:cNvSpPr>
          <p:nvPr>
            <p:ph type="sldImg"/>
          </p:nvPr>
        </p:nvSpPr>
        <p:spPr>
          <a:prstGeom prst="rect">
            <a:avLst/>
          </a:prstGeom>
        </p:spPr>
        <p:txBody>
          <a:bodyPr/>
          <a:lstStyle/>
          <a:p>
            <a:endParaRPr/>
          </a:p>
        </p:txBody>
      </p:sp>
      <p:sp>
        <p:nvSpPr>
          <p:cNvPr id="257" name="Shape 257"/>
          <p:cNvSpPr>
            <a:spLocks noGrp="1"/>
          </p:cNvSpPr>
          <p:nvPr>
            <p:ph type="body" sz="quarter" idx="1"/>
          </p:nvPr>
        </p:nvSpPr>
        <p:spPr>
          <a:prstGeom prst="rect">
            <a:avLst/>
          </a:prstGeom>
        </p:spPr>
        <p:txBody>
          <a:bodyPr/>
          <a:lstStyle/>
          <a:p>
            <a:r>
              <a:t>big step size, yes, but error will still accumulate</a:t>
            </a:r>
          </a:p>
        </p:txBody>
      </p:sp>
    </p:spTree>
    <p:extLst>
      <p:ext uri="{BB962C8B-B14F-4D97-AF65-F5344CB8AC3E}">
        <p14:creationId xmlns:p14="http://schemas.microsoft.com/office/powerpoint/2010/main" val="1595469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Shape 279"/>
          <p:cNvSpPr>
            <a:spLocks noGrp="1" noRot="1" noChangeAspect="1"/>
          </p:cNvSpPr>
          <p:nvPr>
            <p:ph type="sldImg"/>
          </p:nvPr>
        </p:nvSpPr>
        <p:spPr>
          <a:prstGeom prst="rect">
            <a:avLst/>
          </a:prstGeom>
        </p:spPr>
        <p:txBody>
          <a:bodyPr/>
          <a:lstStyle/>
          <a:p>
            <a:endParaRPr/>
          </a:p>
        </p:txBody>
      </p:sp>
      <p:sp>
        <p:nvSpPr>
          <p:cNvPr id="280" name="Shape 280"/>
          <p:cNvSpPr>
            <a:spLocks noGrp="1"/>
          </p:cNvSpPr>
          <p:nvPr>
            <p:ph type="body" sz="quarter" idx="1"/>
          </p:nvPr>
        </p:nvSpPr>
        <p:spPr>
          <a:prstGeom prst="rect">
            <a:avLst/>
          </a:prstGeom>
        </p:spPr>
        <p:txBody>
          <a:bodyPr/>
          <a:lstStyle/>
          <a:p>
            <a:pPr>
              <a:defRPr sz="1800"/>
            </a:pPr>
            <a:r>
              <a:rPr dirty="0"/>
              <a:t>Thus, the next value (</a:t>
            </a:r>
            <a:r>
              <a:rPr dirty="0" err="1"/>
              <a:t>r_n</a:t>
            </a:r>
            <a:r>
              <a:rPr dirty="0"/>
              <a:t> + 1) is determined by the present value (</a:t>
            </a:r>
            <a:r>
              <a:rPr dirty="0" err="1"/>
              <a:t>r_n</a:t>
            </a:r>
            <a:r>
              <a:rPr dirty="0"/>
              <a:t>) plus the product of the size of the interval (</a:t>
            </a:r>
            <a:r>
              <a:rPr dirty="0" err="1"/>
              <a:t>dt</a:t>
            </a:r>
            <a:r>
              <a:rPr dirty="0"/>
              <a:t>) and an estimated </a:t>
            </a:r>
            <a:r>
              <a:rPr u="sng" dirty="0">
                <a:hlinkClick r:id="rId3"/>
              </a:rPr>
              <a:t>slope</a:t>
            </a:r>
            <a:r>
              <a:rPr dirty="0"/>
              <a:t>. The slope is a </a:t>
            </a:r>
            <a:r>
              <a:rPr u="sng" dirty="0">
                <a:hlinkClick r:id="rId4"/>
              </a:rPr>
              <a:t>weighted average</a:t>
            </a:r>
            <a:r>
              <a:rPr dirty="0"/>
              <a:t> of slopes:</a:t>
            </a:r>
          </a:p>
          <a:p>
            <a:pPr>
              <a:defRPr sz="1800"/>
            </a:pPr>
            <a:r>
              <a:rPr dirty="0"/>
              <a:t>k1 is the slope at the beginning of the interval;</a:t>
            </a:r>
          </a:p>
          <a:p>
            <a:pPr>
              <a:defRPr sz="1800"/>
            </a:pPr>
            <a:r>
              <a:rPr dirty="0"/>
              <a:t>k2 is the slope at the midpoint of the interval, using slope k1 to determine the value of y at the point </a:t>
            </a:r>
            <a:r>
              <a:rPr dirty="0" err="1"/>
              <a:t>tn</a:t>
            </a:r>
            <a:r>
              <a:rPr dirty="0"/>
              <a:t> + h / 2 using </a:t>
            </a:r>
            <a:r>
              <a:rPr u="sng" dirty="0">
                <a:hlinkClick r:id="rId5"/>
              </a:rPr>
              <a:t>Euler's method</a:t>
            </a:r>
            <a:r>
              <a:rPr dirty="0"/>
              <a:t>;</a:t>
            </a:r>
          </a:p>
          <a:p>
            <a:pPr>
              <a:defRPr sz="1800"/>
            </a:pPr>
            <a:r>
              <a:rPr dirty="0"/>
              <a:t>k3 is again the slope at the midpoint, but now using the slope k2 to determine the y-value;</a:t>
            </a:r>
          </a:p>
          <a:p>
            <a:pPr>
              <a:defRPr sz="1800"/>
            </a:pPr>
            <a:r>
              <a:rPr dirty="0"/>
              <a:t>k4 is the slope at the end of the interval, with its y-value determined using k3.</a:t>
            </a:r>
          </a:p>
          <a:p>
            <a:pPr>
              <a:defRPr sz="1800"/>
            </a:pPr>
            <a:r>
              <a:rPr dirty="0"/>
              <a:t>In averaging the four slopes, greater weight is given to the slopes at the midpoint</a:t>
            </a:r>
          </a:p>
          <a:p>
            <a:pPr>
              <a:defRPr sz="1800"/>
            </a:pPr>
            <a:r>
              <a:rPr dirty="0"/>
              <a:t>the error scales as the fifth power of the </a:t>
            </a:r>
            <a:r>
              <a:rPr dirty="0" err="1"/>
              <a:t>timestep</a:t>
            </a:r>
            <a:endParaRPr dirty="0"/>
          </a:p>
        </p:txBody>
      </p:sp>
    </p:spTree>
    <p:extLst>
      <p:ext uri="{BB962C8B-B14F-4D97-AF65-F5344CB8AC3E}">
        <p14:creationId xmlns:p14="http://schemas.microsoft.com/office/powerpoint/2010/main" val="3095569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Shape 299"/>
          <p:cNvSpPr>
            <a:spLocks noGrp="1" noRot="1" noChangeAspect="1"/>
          </p:cNvSpPr>
          <p:nvPr>
            <p:ph type="sldImg"/>
          </p:nvPr>
        </p:nvSpPr>
        <p:spPr>
          <a:prstGeom prst="rect">
            <a:avLst/>
          </a:prstGeom>
        </p:spPr>
        <p:txBody>
          <a:bodyPr/>
          <a:lstStyle/>
          <a:p>
            <a:endParaRPr/>
          </a:p>
        </p:txBody>
      </p:sp>
      <p:sp>
        <p:nvSpPr>
          <p:cNvPr id="300" name="Shape 300"/>
          <p:cNvSpPr>
            <a:spLocks noGrp="1"/>
          </p:cNvSpPr>
          <p:nvPr>
            <p:ph type="body" sz="quarter" idx="1"/>
          </p:nvPr>
        </p:nvSpPr>
        <p:spPr>
          <a:prstGeom prst="rect">
            <a:avLst/>
          </a:prstGeom>
        </p:spPr>
        <p:txBody>
          <a:bodyPr/>
          <a:lstStyle/>
          <a:p>
            <a:r>
              <a:t>a force applied to a body’s CM produces purely linear motion</a:t>
            </a:r>
          </a:p>
        </p:txBody>
      </p:sp>
    </p:spTree>
    <p:extLst>
      <p:ext uri="{BB962C8B-B14F-4D97-AF65-F5344CB8AC3E}">
        <p14:creationId xmlns:p14="http://schemas.microsoft.com/office/powerpoint/2010/main" val="807028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Shape 315"/>
          <p:cNvSpPr>
            <a:spLocks noGrp="1" noRot="1" noChangeAspect="1"/>
          </p:cNvSpPr>
          <p:nvPr>
            <p:ph type="sldImg"/>
          </p:nvPr>
        </p:nvSpPr>
        <p:spPr>
          <a:prstGeom prst="rect">
            <a:avLst/>
          </a:prstGeom>
        </p:spPr>
        <p:txBody>
          <a:bodyPr/>
          <a:lstStyle/>
          <a:p>
            <a:endParaRPr/>
          </a:p>
        </p:txBody>
      </p:sp>
      <p:sp>
        <p:nvSpPr>
          <p:cNvPr id="316" name="Shape 316"/>
          <p:cNvSpPr>
            <a:spLocks noGrp="1"/>
          </p:cNvSpPr>
          <p:nvPr>
            <p:ph type="body" sz="quarter" idx="1"/>
          </p:nvPr>
        </p:nvSpPr>
        <p:spPr>
          <a:prstGeom prst="rect">
            <a:avLst/>
          </a:prstGeom>
        </p:spPr>
        <p:txBody>
          <a:bodyPr/>
          <a:lstStyle/>
          <a:p>
            <a:r>
              <a:t>are we considering the force twice?</a:t>
            </a:r>
          </a:p>
        </p:txBody>
      </p:sp>
    </p:spTree>
    <p:extLst>
      <p:ext uri="{BB962C8B-B14F-4D97-AF65-F5344CB8AC3E}">
        <p14:creationId xmlns:p14="http://schemas.microsoft.com/office/powerpoint/2010/main" val="3650753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Shape 359"/>
          <p:cNvSpPr>
            <a:spLocks noGrp="1" noRot="1" noChangeAspect="1"/>
          </p:cNvSpPr>
          <p:nvPr>
            <p:ph type="sldImg"/>
          </p:nvPr>
        </p:nvSpPr>
        <p:spPr>
          <a:prstGeom prst="rect">
            <a:avLst/>
          </a:prstGeom>
        </p:spPr>
        <p:txBody>
          <a:bodyPr/>
          <a:lstStyle/>
          <a:p>
            <a:endParaRPr/>
          </a:p>
        </p:txBody>
      </p:sp>
      <p:sp>
        <p:nvSpPr>
          <p:cNvPr id="360" name="Shape 360"/>
          <p:cNvSpPr>
            <a:spLocks noGrp="1"/>
          </p:cNvSpPr>
          <p:nvPr>
            <p:ph type="body" sz="quarter" idx="1"/>
          </p:nvPr>
        </p:nvSpPr>
        <p:spPr>
          <a:prstGeom prst="rect">
            <a:avLst/>
          </a:prstGeom>
        </p:spPr>
        <p:txBody>
          <a:bodyPr/>
          <a:lstStyle/>
          <a:p>
            <a:r>
              <a:rPr dirty="0"/>
              <a:t>Suppose that a force F acts on the block at the center of mass for some period of time, say, ten seconds. Since the force acts at the center of mass, no torque is exerted on the body. After ten seconds, the body will have acquired some linear velocity v. The body will not have acquired any angular velocity; thus the kinetic energy of the block will be 1 M|v|2</a:t>
            </a:r>
          </a:p>
          <a:p>
            <a:r>
              <a:rPr dirty="0"/>
              <a:t>Block 2, after ten seconds, the body will again have linear velocity v. However, after ten seconds, the body will have picked up some angular velocity ω, since the force F, acting off center, now exerts a torque on the body.</a:t>
            </a:r>
          </a:p>
          <a:p>
            <a:r>
              <a:rPr dirty="0"/>
              <a:t>if identical forces pushed the block in both cases, how can the energy of the block be different? Hint: Energy, or work, is the integral of force over distance.</a:t>
            </a:r>
          </a:p>
        </p:txBody>
      </p:sp>
    </p:spTree>
    <p:extLst>
      <p:ext uri="{BB962C8B-B14F-4D97-AF65-F5344CB8AC3E}">
        <p14:creationId xmlns:p14="http://schemas.microsoft.com/office/powerpoint/2010/main" val="46197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Why L? You’ll see why in a bit. Difficult to compute angular velocity from angular acceleration</a:t>
            </a:r>
          </a:p>
          <a:p>
            <a:r>
              <a:rPr lang="en-US" dirty="0" smtClean="0"/>
              <a:t>Compute </a:t>
            </a:r>
            <a:r>
              <a:rPr lang="en-US" dirty="0" err="1" smtClean="0"/>
              <a:t>ang.</a:t>
            </a:r>
            <a:r>
              <a:rPr lang="en-US" dirty="0" smtClean="0"/>
              <a:t> momentum by integrating torque</a:t>
            </a:r>
          </a:p>
          <a:p>
            <a:r>
              <a:rPr lang="en-US" dirty="0" smtClean="0"/>
              <a:t>Compute </a:t>
            </a:r>
            <a:r>
              <a:rPr lang="en-US" dirty="0" err="1" smtClean="0"/>
              <a:t>ang.</a:t>
            </a:r>
            <a:r>
              <a:rPr lang="en-US" dirty="0" smtClean="0"/>
              <a:t> velocity from momentum</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20</a:t>
            </a:fld>
            <a:endParaRPr lang="en-US"/>
          </a:p>
        </p:txBody>
      </p:sp>
    </p:spTree>
    <p:extLst>
      <p:ext uri="{BB962C8B-B14F-4D97-AF65-F5344CB8AC3E}">
        <p14:creationId xmlns:p14="http://schemas.microsoft.com/office/powerpoint/2010/main" val="2960334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W(t) : angular velocity  a(t) = angular acceleration</a:t>
            </a:r>
            <a:r>
              <a:rPr lang="en-US" baseline="0" dirty="0" smtClean="0"/>
              <a:t> at t</a:t>
            </a:r>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21</a:t>
            </a:fld>
            <a:endParaRPr lang="en-US"/>
          </a:p>
        </p:txBody>
      </p:sp>
    </p:spTree>
    <p:extLst>
      <p:ext uri="{BB962C8B-B14F-4D97-AF65-F5344CB8AC3E}">
        <p14:creationId xmlns:p14="http://schemas.microsoft.com/office/powerpoint/2010/main" val="1980537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23</a:t>
            </a:fld>
            <a:endParaRPr lang="en-US"/>
          </a:p>
        </p:txBody>
      </p:sp>
    </p:spTree>
    <p:extLst>
      <p:ext uri="{BB962C8B-B14F-4D97-AF65-F5344CB8AC3E}">
        <p14:creationId xmlns:p14="http://schemas.microsoft.com/office/powerpoint/2010/main" val="2152580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Torque =</a:t>
            </a:r>
            <a:r>
              <a:rPr lang="en-US" baseline="0" dirty="0" smtClean="0"/>
              <a:t> Inertia * angular acceleration at (t) </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24</a:t>
            </a:fld>
            <a:endParaRPr lang="en-US"/>
          </a:p>
        </p:txBody>
      </p:sp>
    </p:spTree>
    <p:extLst>
      <p:ext uri="{BB962C8B-B14F-4D97-AF65-F5344CB8AC3E}">
        <p14:creationId xmlns:p14="http://schemas.microsoft.com/office/powerpoint/2010/main" val="2230769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rectangular block of constant unit density, with center of mass at (0,0,0)</a:t>
            </a:r>
          </a:p>
          <a:p>
            <a:r>
              <a:rPr lang="en-US" dirty="0" smtClean="0"/>
              <a:t>To calculate the inertia tensor, we must treat the sums in the equation as integrals over the volume of the block. Let us assume that the block has constant unit density. This means that the density function ρ(x, y, z) is always one. Since the block has volume x0y0z0, the mass M of the block is M = x0y0z0</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28</a:t>
            </a:fld>
            <a:endParaRPr lang="en-US"/>
          </a:p>
        </p:txBody>
      </p:sp>
    </p:spTree>
    <p:extLst>
      <p:ext uri="{BB962C8B-B14F-4D97-AF65-F5344CB8AC3E}">
        <p14:creationId xmlns:p14="http://schemas.microsoft.com/office/powerpoint/2010/main" val="4240178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Angular</a:t>
            </a:r>
            <a:r>
              <a:rPr lang="en-US" baseline="0" dirty="0" smtClean="0"/>
              <a:t> velocity equals 2d angular velocity * unit vector axis of rotation</a:t>
            </a:r>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34</a:t>
            </a:fld>
            <a:endParaRPr lang="en-US"/>
          </a:p>
        </p:txBody>
      </p:sp>
    </p:spTree>
    <p:extLst>
      <p:ext uri="{BB962C8B-B14F-4D97-AF65-F5344CB8AC3E}">
        <p14:creationId xmlns:p14="http://schemas.microsoft.com/office/powerpoint/2010/main" val="2531708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Linear momentum</a:t>
            </a:r>
            <a:r>
              <a:rPr lang="en-US" baseline="0" dirty="0" smtClean="0"/>
              <a:t> = velocity * mass </a:t>
            </a:r>
          </a:p>
          <a:p>
            <a:r>
              <a:rPr lang="en-US" baseline="0" dirty="0" smtClean="0"/>
              <a:t>Angular momentum = velocity * inertia</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36</a:t>
            </a:fld>
            <a:endParaRPr lang="en-US"/>
          </a:p>
        </p:txBody>
      </p:sp>
    </p:spTree>
    <p:extLst>
      <p:ext uri="{BB962C8B-B14F-4D97-AF65-F5344CB8AC3E}">
        <p14:creationId xmlns:p14="http://schemas.microsoft.com/office/powerpoint/2010/main" val="3667116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37</a:t>
            </a:fld>
            <a:endParaRPr lang="en-US"/>
          </a:p>
        </p:txBody>
      </p:sp>
    </p:spTree>
    <p:extLst>
      <p:ext uri="{BB962C8B-B14F-4D97-AF65-F5344CB8AC3E}">
        <p14:creationId xmlns:p14="http://schemas.microsoft.com/office/powerpoint/2010/main" val="318908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(I)-1</a:t>
            </a:r>
            <a:r>
              <a:rPr lang="en-US" baseline="0" dirty="0" smtClean="0"/>
              <a:t> because * torque is like a=F/m in linear</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38</a:t>
            </a:fld>
            <a:endParaRPr lang="en-US"/>
          </a:p>
        </p:txBody>
      </p:sp>
    </p:spTree>
    <p:extLst>
      <p:ext uri="{BB962C8B-B14F-4D97-AF65-F5344CB8AC3E}">
        <p14:creationId xmlns:p14="http://schemas.microsoft.com/office/powerpoint/2010/main" val="3522150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 is the current orientation</a:t>
            </a:r>
          </a:p>
          <a:p>
            <a:r>
              <a:rPr lang="en-US" dirty="0" smtClean="0"/>
              <a:t>W</a:t>
            </a:r>
            <a:r>
              <a:rPr lang="en-US" baseline="0" dirty="0" smtClean="0"/>
              <a:t> is the angular velocity</a:t>
            </a:r>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40</a:t>
            </a:fld>
            <a:endParaRPr lang="en-US"/>
          </a:p>
        </p:txBody>
      </p:sp>
    </p:spTree>
    <p:extLst>
      <p:ext uri="{BB962C8B-B14F-4D97-AF65-F5344CB8AC3E}">
        <p14:creationId xmlns:p14="http://schemas.microsoft.com/office/powerpoint/2010/main" val="1768477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Torque is the derivative</a:t>
            </a:r>
            <a:r>
              <a:rPr lang="en-US" baseline="0" dirty="0" smtClean="0"/>
              <a:t> of angular momentum</a:t>
            </a:r>
          </a:p>
          <a:p>
            <a:r>
              <a:rPr lang="en-US" baseline="0" dirty="0" smtClean="0"/>
              <a:t>Velocity = angular </a:t>
            </a:r>
            <a:r>
              <a:rPr lang="en-US" baseline="0" dirty="0" err="1" smtClean="0"/>
              <a:t>momemtum</a:t>
            </a:r>
            <a:r>
              <a:rPr lang="en-US" baseline="0" dirty="0" smtClean="0"/>
              <a:t> / inertia</a:t>
            </a:r>
          </a:p>
          <a:p>
            <a:endParaRPr lang="en-US" dirty="0" smtClean="0"/>
          </a:p>
          <a:p>
            <a:r>
              <a:rPr lang="en-US" dirty="0" smtClean="0"/>
              <a:t>Explicit</a:t>
            </a:r>
            <a:r>
              <a:rPr lang="en-US" baseline="0" dirty="0" smtClean="0"/>
              <a:t> </a:t>
            </a:r>
            <a:r>
              <a:rPr lang="en-US" baseline="0" dirty="0" err="1" smtClean="0"/>
              <a:t>euler</a:t>
            </a:r>
            <a:r>
              <a:rPr lang="en-US" baseline="0" dirty="0" smtClean="0"/>
              <a:t>:</a:t>
            </a:r>
          </a:p>
          <a:p>
            <a:r>
              <a:rPr lang="en-US" baseline="0" dirty="0" smtClean="0"/>
              <a:t>Momentum(t2) = Momentum (t1) + torque(t1) *</a:t>
            </a:r>
            <a:r>
              <a:rPr lang="en-US" baseline="0" dirty="0" err="1" smtClean="0"/>
              <a:t>deltaTime</a:t>
            </a:r>
            <a:endParaRPr lang="en-US" baseline="0" dirty="0" smtClean="0"/>
          </a:p>
          <a:p>
            <a:r>
              <a:rPr lang="en-US" baseline="0" dirty="0" smtClean="0"/>
              <a:t>Velocity(t2) = quaternion ( momentum(t2)/inertia  , 0]</a:t>
            </a:r>
          </a:p>
          <a:p>
            <a:r>
              <a:rPr lang="en-US" baseline="0" dirty="0" smtClean="0"/>
              <a:t>Orientation(t2) = orientation(t1) + ½ velocity(t1) * orientation(t1) * </a:t>
            </a:r>
            <a:r>
              <a:rPr lang="en-US" baseline="0" dirty="0" err="1" smtClean="0"/>
              <a:t>deltaTime</a:t>
            </a:r>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0180A0B4-09B1-48FF-B9D9-4B6B7049BEBA}" type="slidenum">
              <a:rPr lang="en-US" smtClean="0"/>
              <a:t>41</a:t>
            </a:fld>
            <a:endParaRPr lang="en-US"/>
          </a:p>
        </p:txBody>
      </p:sp>
    </p:spTree>
    <p:extLst>
      <p:ext uri="{BB962C8B-B14F-4D97-AF65-F5344CB8AC3E}">
        <p14:creationId xmlns:p14="http://schemas.microsoft.com/office/powerpoint/2010/main" val="3125868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Impulse is the integral of a force with respect to time, like a bat hitting a baseball</a:t>
            </a:r>
          </a:p>
          <a:p>
            <a:r>
              <a:rPr lang="en-US" dirty="0" smtClean="0"/>
              <a:t>kinetic energy arising from linear motion</a:t>
            </a:r>
          </a:p>
          <a:p>
            <a:r>
              <a:rPr lang="en-US" dirty="0" smtClean="0"/>
              <a:t>or in terms of the linear momentum and velocity vectors</a:t>
            </a:r>
          </a:p>
          <a:p>
            <a:r>
              <a:rPr lang="en-US" dirty="0" smtClean="0"/>
              <a:t>analogously, the KE arising from a body’s rotational motion...</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44</a:t>
            </a:fld>
            <a:endParaRPr lang="en-US"/>
          </a:p>
        </p:txBody>
      </p:sp>
    </p:spTree>
    <p:extLst>
      <p:ext uri="{BB962C8B-B14F-4D97-AF65-F5344CB8AC3E}">
        <p14:creationId xmlns:p14="http://schemas.microsoft.com/office/powerpoint/2010/main" val="4098072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P-hat is the change</a:t>
            </a:r>
            <a:r>
              <a:rPr lang="en-US" baseline="0" dirty="0" smtClean="0"/>
              <a:t> in momentum</a:t>
            </a:r>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46</a:t>
            </a:fld>
            <a:endParaRPr lang="en-US"/>
          </a:p>
        </p:txBody>
      </p:sp>
    </p:spTree>
    <p:extLst>
      <p:ext uri="{BB962C8B-B14F-4D97-AF65-F5344CB8AC3E}">
        <p14:creationId xmlns:p14="http://schemas.microsoft.com/office/powerpoint/2010/main" val="3184132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Shape 596"/>
          <p:cNvSpPr>
            <a:spLocks noGrp="1" noRot="1" noChangeAspect="1"/>
          </p:cNvSpPr>
          <p:nvPr>
            <p:ph type="sldImg"/>
          </p:nvPr>
        </p:nvSpPr>
        <p:spPr>
          <a:prstGeom prst="rect">
            <a:avLst/>
          </a:prstGeom>
        </p:spPr>
        <p:txBody>
          <a:bodyPr/>
          <a:lstStyle/>
          <a:p>
            <a:endParaRPr/>
          </a:p>
        </p:txBody>
      </p:sp>
      <p:sp>
        <p:nvSpPr>
          <p:cNvPr id="597" name="Shape 597"/>
          <p:cNvSpPr>
            <a:spLocks noGrp="1"/>
          </p:cNvSpPr>
          <p:nvPr>
            <p:ph type="body" sz="quarter" idx="1"/>
          </p:nvPr>
        </p:nvSpPr>
        <p:spPr>
          <a:prstGeom prst="rect">
            <a:avLst/>
          </a:prstGeom>
        </p:spPr>
        <p:txBody>
          <a:bodyPr/>
          <a:lstStyle/>
          <a:p>
            <a:r>
              <a:rPr dirty="0"/>
              <a:t>if the surface normal points to body 1, then it gets p-hat and body 2 gets an impulse of -p-hat</a:t>
            </a:r>
          </a:p>
          <a:p>
            <a:r>
              <a:rPr dirty="0"/>
              <a:t>the coefficient of restitution provides the key relationship between the relative velocities of the bodies before and after collision</a:t>
            </a:r>
          </a:p>
          <a:p>
            <a:r>
              <a:rPr dirty="0"/>
              <a:t>solving these equations under the (temporary) assumption that bodies cannot rotate...</a:t>
            </a:r>
          </a:p>
        </p:txBody>
      </p:sp>
    </p:spTree>
    <p:extLst>
      <p:ext uri="{BB962C8B-B14F-4D97-AF65-F5344CB8AC3E}">
        <p14:creationId xmlns:p14="http://schemas.microsoft.com/office/powerpoint/2010/main" val="9136495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body 2 is immovable, 1/m_2 = 0, bring m_1 to numerator, v_2 is zero</a:t>
            </a:r>
          </a:p>
          <a:p>
            <a:r>
              <a:rPr lang="en-US" dirty="0" smtClean="0"/>
              <a:t>see Hecker article #3 to take rotations into account</a:t>
            </a:r>
          </a:p>
          <a:p>
            <a:r>
              <a:rPr lang="en-US" dirty="0" smtClean="0"/>
              <a:t>PUT m1 in 2nd EQ</a:t>
            </a:r>
          </a:p>
          <a:p>
            <a:endParaRPr lang="en-US" dirty="0"/>
          </a:p>
        </p:txBody>
      </p:sp>
      <p:sp>
        <p:nvSpPr>
          <p:cNvPr id="4" name="Slide Number Placeholder 3"/>
          <p:cNvSpPr>
            <a:spLocks noGrp="1"/>
          </p:cNvSpPr>
          <p:nvPr>
            <p:ph type="sldNum" sz="quarter" idx="10"/>
          </p:nvPr>
        </p:nvSpPr>
        <p:spPr/>
        <p:txBody>
          <a:bodyPr/>
          <a:lstStyle/>
          <a:p>
            <a:fld id="{0180A0B4-09B1-48FF-B9D9-4B6B7049BEBA}" type="slidenum">
              <a:rPr lang="en-US" smtClean="0"/>
              <a:t>48</a:t>
            </a:fld>
            <a:endParaRPr lang="en-US"/>
          </a:p>
        </p:txBody>
      </p:sp>
    </p:spTree>
    <p:extLst>
      <p:ext uri="{BB962C8B-B14F-4D97-AF65-F5344CB8AC3E}">
        <p14:creationId xmlns:p14="http://schemas.microsoft.com/office/powerpoint/2010/main" val="3376537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0362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56478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46410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3/14/2019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3516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3/14/2019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58394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3/14/2019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30865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3/14/2019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2077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50942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9334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19898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212722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60906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37968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333691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3/14/2019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32072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3/14/2019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95372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3/14/2019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922342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3/14/2019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06034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520857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934354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697516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353655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84725" y="503825"/>
            <a:ext cx="8374549" cy="430887"/>
          </a:xfrm>
          <a:prstGeom prst="rect">
            <a:avLst/>
          </a:prstGeom>
        </p:spPr>
        <p:txBody>
          <a:bodyPr/>
          <a:lstStyle>
            <a:lvl1pPr>
              <a:defRPr>
                <a:latin typeface="+mn-lt"/>
                <a:ea typeface="+mn-ea"/>
                <a:cs typeface="+mn-cs"/>
                <a:sym typeface="Baskerville"/>
              </a:defRPr>
            </a:lvl1pPr>
          </a:lstStyle>
          <a:p>
            <a:r>
              <a:t>Title Text</a:t>
            </a:r>
          </a:p>
        </p:txBody>
      </p:sp>
      <p:sp>
        <p:nvSpPr>
          <p:cNvPr id="12" name="Body Level One…"/>
          <p:cNvSpPr txBox="1">
            <a:spLocks noGrp="1"/>
          </p:cNvSpPr>
          <p:nvPr>
            <p:ph type="body" idx="1"/>
          </p:nvPr>
        </p:nvSpPr>
        <p:spPr>
          <a:xfrm>
            <a:off x="892969" y="1460004"/>
            <a:ext cx="7358063" cy="2051844"/>
          </a:xfrm>
          <a:prstGeom prst="rect">
            <a:avLst/>
          </a:prstGeom>
        </p:spPr>
        <p:txBody>
          <a:bodyPr/>
          <a:lstStyle>
            <a:lvl1pPr>
              <a:spcBef>
                <a:spcPts val="1266"/>
              </a:spcBef>
            </a:lvl1pPr>
            <a:lvl2pPr>
              <a:spcBef>
                <a:spcPts val="1266"/>
              </a:spcBef>
            </a:lvl2pPr>
            <a:lvl3pPr>
              <a:spcBef>
                <a:spcPts val="1266"/>
              </a:spcBef>
            </a:lvl3pPr>
            <a:lvl4pPr>
              <a:spcBef>
                <a:spcPts val="1266"/>
              </a:spcBef>
            </a:lvl4pPr>
            <a:lvl5pPr>
              <a:spcBef>
                <a:spcPts val="1266"/>
              </a:spcBef>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xfrm>
            <a:off x="6583680" y="4783455"/>
            <a:ext cx="2103120" cy="276999"/>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3465479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3/14/2019</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64180229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3/14/2019</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2221917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slideLayout" Target="../slideLayouts/slideLayout18.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30.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8.png"/><Relationship Id="rId1" Type="http://schemas.openxmlformats.org/officeDocument/2006/relationships/slideLayout" Target="../slideLayouts/slideLayout1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8.xml"/><Relationship Id="rId1" Type="http://schemas.openxmlformats.org/officeDocument/2006/relationships/slideLayout" Target="../slideLayouts/slideLayout2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7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73.png"/><Relationship Id="rId4" Type="http://schemas.openxmlformats.org/officeDocument/2006/relationships/image" Target="../media/image72.png"/></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3.xml"/><Relationship Id="rId4" Type="http://schemas.openxmlformats.org/officeDocument/2006/relationships/image" Target="../media/image76.png"/></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78.png"/></Relationships>
</file>

<file path=ppt/slides/_rels/slide4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21.xml"/><Relationship Id="rId1" Type="http://schemas.openxmlformats.org/officeDocument/2006/relationships/slideLayout" Target="../slideLayouts/slideLayout23.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9" Type="http://schemas.openxmlformats.org/officeDocument/2006/relationships/image" Target="../media/image85.png"/></Relationships>
</file>

<file path=ppt/slides/_rels/slide4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8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hyperlink" Target="http://bulletphysics.org/wordpress/" TargetMode="External"/><Relationship Id="rId2" Type="http://schemas.openxmlformats.org/officeDocument/2006/relationships/hyperlink" Target="http://chrishecker.com/Rigid_body_dynamics" TargetMode="External"/><Relationship Id="rId1" Type="http://schemas.openxmlformats.org/officeDocument/2006/relationships/slideLayout" Target="../slideLayouts/slideLayout13.xml"/><Relationship Id="rId5" Type="http://schemas.openxmlformats.org/officeDocument/2006/relationships/hyperlink" Target="http://gafferongames.com/game-physics/" TargetMode="External"/><Relationship Id="rId4" Type="http://schemas.openxmlformats.org/officeDocument/2006/relationships/hyperlink" Target="https://developer.nvidia.com/physx-source-github"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algn="ctr">
              <a:lnSpc>
                <a:spcPts val="4305"/>
              </a:lnSpc>
              <a:spcBef>
                <a:spcPts val="100"/>
              </a:spcBef>
            </a:pPr>
            <a:r>
              <a:rPr spc="-10" dirty="0"/>
              <a:t>Game</a:t>
            </a:r>
            <a:r>
              <a:rPr spc="-20" dirty="0"/>
              <a:t> </a:t>
            </a:r>
            <a:r>
              <a:rPr spc="-5" dirty="0"/>
              <a:t>Architecture</a:t>
            </a:r>
          </a:p>
          <a:p>
            <a:pPr algn="ctr">
              <a:lnSpc>
                <a:spcPts val="6225"/>
              </a:lnSpc>
            </a:pPr>
            <a:r>
              <a:rPr sz="5200" spc="-5" dirty="0"/>
              <a:t>Rigid </a:t>
            </a:r>
            <a:r>
              <a:rPr sz="5200" spc="-15" dirty="0"/>
              <a:t>Body</a:t>
            </a:r>
            <a:r>
              <a:rPr sz="5200" spc="-100" dirty="0"/>
              <a:t> </a:t>
            </a:r>
            <a:r>
              <a:rPr sz="5200" spc="-5" dirty="0"/>
              <a:t>Dynamics</a:t>
            </a:r>
            <a:endParaRPr sz="5200"/>
          </a:p>
        </p:txBody>
      </p:sp>
      <p:sp>
        <p:nvSpPr>
          <p:cNvPr id="3" name="object 3"/>
          <p:cNvSpPr txBox="1"/>
          <p:nvPr/>
        </p:nvSpPr>
        <p:spPr>
          <a:xfrm>
            <a:off x="2918958" y="2892926"/>
            <a:ext cx="3298825" cy="452120"/>
          </a:xfrm>
          <a:prstGeom prst="rect">
            <a:avLst/>
          </a:prstGeom>
        </p:spPr>
        <p:txBody>
          <a:bodyPr vert="horz" wrap="square" lIns="0" tIns="12700" rIns="0" bIns="0" rtlCol="0">
            <a:spAutoFit/>
          </a:bodyPr>
          <a:lstStyle/>
          <a:p>
            <a:pPr marL="12700">
              <a:lnSpc>
                <a:spcPct val="100000"/>
              </a:lnSpc>
              <a:spcBef>
                <a:spcPts val="100"/>
              </a:spcBef>
            </a:pPr>
            <a:r>
              <a:rPr sz="2800" spc="-5" dirty="0">
                <a:solidFill>
                  <a:srgbClr val="595959"/>
                </a:solidFill>
                <a:latin typeface="Arial"/>
                <a:cs typeface="Arial"/>
              </a:rPr>
              <a:t>Giving things</a:t>
            </a:r>
            <a:r>
              <a:rPr sz="2800" spc="-100" dirty="0">
                <a:solidFill>
                  <a:srgbClr val="595959"/>
                </a:solidFill>
                <a:latin typeface="Arial"/>
                <a:cs typeface="Arial"/>
              </a:rPr>
              <a:t> </a:t>
            </a:r>
            <a:r>
              <a:rPr sz="2800" spc="-5" dirty="0">
                <a:solidFill>
                  <a:srgbClr val="595959"/>
                </a:solidFill>
                <a:latin typeface="Arial"/>
                <a:cs typeface="Arial"/>
              </a:rPr>
              <a:t>weight.</a:t>
            </a:r>
            <a:endParaRPr sz="28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588895" cy="452120"/>
          </a:xfrm>
          <a:prstGeom prst="rect">
            <a:avLst/>
          </a:prstGeom>
        </p:spPr>
        <p:txBody>
          <a:bodyPr vert="horz" wrap="square" lIns="0" tIns="12700" rIns="0" bIns="0" rtlCol="0">
            <a:spAutoFit/>
          </a:bodyPr>
          <a:lstStyle/>
          <a:p>
            <a:pPr marL="12700">
              <a:lnSpc>
                <a:spcPct val="100000"/>
              </a:lnSpc>
              <a:spcBef>
                <a:spcPts val="100"/>
              </a:spcBef>
            </a:pPr>
            <a:r>
              <a:rPr spc="-5" dirty="0"/>
              <a:t>Today’s</a:t>
            </a:r>
            <a:r>
              <a:rPr spc="-95" dirty="0"/>
              <a:t> </a:t>
            </a:r>
            <a:r>
              <a:rPr spc="-5" dirty="0"/>
              <a:t>Agenda</a:t>
            </a:r>
          </a:p>
        </p:txBody>
      </p:sp>
      <p:sp>
        <p:nvSpPr>
          <p:cNvPr id="3" name="object 3"/>
          <p:cNvSpPr txBox="1"/>
          <p:nvPr/>
        </p:nvSpPr>
        <p:spPr>
          <a:xfrm>
            <a:off x="475249" y="1176350"/>
            <a:ext cx="2259330" cy="1282700"/>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Reality</a:t>
            </a:r>
            <a:r>
              <a:rPr sz="1800" spc="-20" dirty="0">
                <a:solidFill>
                  <a:srgbClr val="595959"/>
                </a:solidFill>
                <a:latin typeface="Arial"/>
                <a:cs typeface="Arial"/>
              </a:rPr>
              <a:t> </a:t>
            </a:r>
            <a:r>
              <a:rPr sz="1800" dirty="0">
                <a:solidFill>
                  <a:srgbClr val="595959"/>
                </a:solidFill>
                <a:latin typeface="Arial"/>
                <a:cs typeface="Arial"/>
              </a:rPr>
              <a:t>check</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Linear</a:t>
            </a:r>
            <a:r>
              <a:rPr sz="1800" spc="-100" dirty="0">
                <a:solidFill>
                  <a:srgbClr val="595959"/>
                </a:solidFill>
                <a:latin typeface="Arial"/>
                <a:cs typeface="Arial"/>
              </a:rPr>
              <a:t> </a:t>
            </a:r>
            <a:r>
              <a:rPr sz="1800" spc="-5" dirty="0">
                <a:solidFill>
                  <a:srgbClr val="595959"/>
                </a:solidFill>
                <a:latin typeface="Arial"/>
                <a:cs typeface="Arial"/>
              </a:rPr>
              <a:t>dynamics</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Angular</a:t>
            </a:r>
            <a:r>
              <a:rPr sz="1800" spc="-105" dirty="0">
                <a:solidFill>
                  <a:srgbClr val="595959"/>
                </a:solidFill>
                <a:latin typeface="Arial"/>
                <a:cs typeface="Arial"/>
              </a:rPr>
              <a:t> </a:t>
            </a:r>
            <a:r>
              <a:rPr sz="1800" spc="-5" dirty="0">
                <a:solidFill>
                  <a:srgbClr val="595959"/>
                </a:solidFill>
                <a:latin typeface="Arial"/>
                <a:cs typeface="Arial"/>
              </a:rPr>
              <a:t>dynamics</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Collision</a:t>
            </a:r>
            <a:r>
              <a:rPr sz="1800" spc="-100" dirty="0">
                <a:solidFill>
                  <a:srgbClr val="595959"/>
                </a:solidFill>
                <a:latin typeface="Arial"/>
                <a:cs typeface="Arial"/>
              </a:rPr>
              <a:t> </a:t>
            </a:r>
            <a:r>
              <a:rPr sz="1800" dirty="0">
                <a:solidFill>
                  <a:srgbClr val="595959"/>
                </a:solidFill>
                <a:latin typeface="Arial"/>
                <a:cs typeface="Arial"/>
              </a:rPr>
              <a:t>response</a:t>
            </a:r>
            <a:endParaRPr sz="18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025140" cy="452120"/>
          </a:xfrm>
          <a:prstGeom prst="rect">
            <a:avLst/>
          </a:prstGeom>
        </p:spPr>
        <p:txBody>
          <a:bodyPr vert="horz" wrap="square" lIns="0" tIns="12700" rIns="0" bIns="0" rtlCol="0">
            <a:spAutoFit/>
          </a:bodyPr>
          <a:lstStyle/>
          <a:p>
            <a:pPr marL="12700">
              <a:lnSpc>
                <a:spcPct val="100000"/>
              </a:lnSpc>
              <a:spcBef>
                <a:spcPts val="100"/>
              </a:spcBef>
            </a:pPr>
            <a:r>
              <a:rPr spc="-5" dirty="0"/>
              <a:t>Do We Need</a:t>
            </a:r>
            <a:r>
              <a:rPr spc="-95" dirty="0"/>
              <a:t> </a:t>
            </a:r>
            <a:r>
              <a:rPr spc="-5" dirty="0"/>
              <a:t>This?</a:t>
            </a:r>
          </a:p>
        </p:txBody>
      </p:sp>
      <p:sp>
        <p:nvSpPr>
          <p:cNvPr id="3" name="object 3"/>
          <p:cNvSpPr txBox="1"/>
          <p:nvPr/>
        </p:nvSpPr>
        <p:spPr>
          <a:xfrm>
            <a:off x="475249" y="1162308"/>
            <a:ext cx="6687820" cy="2905125"/>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Using </a:t>
            </a:r>
            <a:r>
              <a:rPr sz="1800" dirty="0">
                <a:solidFill>
                  <a:srgbClr val="595959"/>
                </a:solidFill>
                <a:latin typeface="Arial"/>
                <a:cs typeface="Arial"/>
              </a:rPr>
              <a:t>a </a:t>
            </a:r>
            <a:r>
              <a:rPr sz="1800" spc="-5" dirty="0">
                <a:solidFill>
                  <a:srgbClr val="595959"/>
                </a:solidFill>
                <a:latin typeface="Arial"/>
                <a:cs typeface="Arial"/>
              </a:rPr>
              <a:t>physics </a:t>
            </a:r>
            <a:r>
              <a:rPr sz="1800" dirty="0">
                <a:solidFill>
                  <a:srgbClr val="595959"/>
                </a:solidFill>
                <a:latin typeface="Arial"/>
                <a:cs typeface="Arial"/>
              </a:rPr>
              <a:t>simulation </a:t>
            </a:r>
            <a:r>
              <a:rPr sz="1800" spc="-5" dirty="0">
                <a:solidFill>
                  <a:srgbClr val="595959"/>
                </a:solidFill>
                <a:latin typeface="Arial"/>
                <a:cs typeface="Arial"/>
              </a:rPr>
              <a:t>has pros and</a:t>
            </a:r>
            <a:r>
              <a:rPr sz="1800" spc="-35" dirty="0">
                <a:solidFill>
                  <a:srgbClr val="595959"/>
                </a:solidFill>
                <a:latin typeface="Arial"/>
                <a:cs typeface="Arial"/>
              </a:rPr>
              <a:t> </a:t>
            </a:r>
            <a:r>
              <a:rPr sz="1800" dirty="0">
                <a:solidFill>
                  <a:srgbClr val="595959"/>
                </a:solidFill>
                <a:latin typeface="Arial"/>
                <a:cs typeface="Arial"/>
              </a:rPr>
              <a:t>cons.</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Pros</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Realism</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Emergent</a:t>
            </a:r>
            <a:r>
              <a:rPr sz="1400" spc="-10" dirty="0">
                <a:solidFill>
                  <a:srgbClr val="595959"/>
                </a:solidFill>
                <a:latin typeface="Arial"/>
                <a:cs typeface="Arial"/>
              </a:rPr>
              <a:t> </a:t>
            </a:r>
            <a:r>
              <a:rPr sz="1400" spc="-5" dirty="0">
                <a:solidFill>
                  <a:srgbClr val="595959"/>
                </a:solidFill>
                <a:latin typeface="Arial"/>
                <a:cs typeface="Arial"/>
              </a:rPr>
              <a:t>gameplay</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Unpredictability and </a:t>
            </a:r>
            <a:r>
              <a:rPr sz="1400" dirty="0">
                <a:solidFill>
                  <a:srgbClr val="595959"/>
                </a:solidFill>
                <a:latin typeface="Arial"/>
                <a:cs typeface="Arial"/>
              </a:rPr>
              <a:t>“free”</a:t>
            </a:r>
            <a:r>
              <a:rPr sz="1400" spc="-10" dirty="0">
                <a:solidFill>
                  <a:srgbClr val="595959"/>
                </a:solidFill>
                <a:latin typeface="Arial"/>
                <a:cs typeface="Arial"/>
              </a:rPr>
              <a:t> </a:t>
            </a:r>
            <a:r>
              <a:rPr sz="1400" spc="-5" dirty="0">
                <a:solidFill>
                  <a:srgbClr val="595959"/>
                </a:solidFill>
                <a:latin typeface="Arial"/>
                <a:cs typeface="Arial"/>
              </a:rPr>
              <a:t>animation.</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Cons</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Limited </a:t>
            </a:r>
            <a:r>
              <a:rPr sz="1400" dirty="0">
                <a:solidFill>
                  <a:srgbClr val="595959"/>
                </a:solidFill>
                <a:latin typeface="Arial"/>
                <a:cs typeface="Arial"/>
              </a:rPr>
              <a:t>control </a:t>
            </a:r>
            <a:r>
              <a:rPr sz="1400" spc="-5" dirty="0">
                <a:solidFill>
                  <a:srgbClr val="595959"/>
                </a:solidFill>
                <a:latin typeface="Arial"/>
                <a:cs typeface="Arial"/>
              </a:rPr>
              <a:t>or</a:t>
            </a:r>
            <a:r>
              <a:rPr sz="1400" spc="-15" dirty="0">
                <a:solidFill>
                  <a:srgbClr val="595959"/>
                </a:solidFill>
                <a:latin typeface="Arial"/>
                <a:cs typeface="Arial"/>
              </a:rPr>
              <a:t> </a:t>
            </a:r>
            <a:r>
              <a:rPr sz="1400" spc="-5" dirty="0">
                <a:solidFill>
                  <a:srgbClr val="595959"/>
                </a:solidFill>
                <a:latin typeface="Arial"/>
                <a:cs typeface="Arial"/>
              </a:rPr>
              <a:t>influence</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Complexity</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The decision to use physics has an impact on every</a:t>
            </a:r>
            <a:r>
              <a:rPr sz="1800" spc="-55" dirty="0">
                <a:solidFill>
                  <a:srgbClr val="595959"/>
                </a:solidFill>
                <a:latin typeface="Arial"/>
                <a:cs typeface="Arial"/>
              </a:rPr>
              <a:t> </a:t>
            </a:r>
            <a:r>
              <a:rPr sz="1800" spc="-5" dirty="0">
                <a:solidFill>
                  <a:srgbClr val="595959"/>
                </a:solidFill>
                <a:latin typeface="Arial"/>
                <a:cs typeface="Arial"/>
              </a:rPr>
              <a:t>discipline.</a:t>
            </a:r>
            <a:endParaRPr sz="1800">
              <a:latin typeface="Arial"/>
              <a:cs typeface="Arial"/>
            </a:endParaRPr>
          </a:p>
          <a:p>
            <a:pPr marL="836294" indent="-335915">
              <a:lnSpc>
                <a:spcPct val="100000"/>
              </a:lnSpc>
              <a:spcBef>
                <a:spcPts val="330"/>
              </a:spcBef>
              <a:buChar char="○"/>
              <a:tabLst>
                <a:tab pos="836294" algn="l"/>
                <a:tab pos="836930" algn="l"/>
              </a:tabLst>
            </a:pPr>
            <a:r>
              <a:rPr sz="1400" b="1" spc="-5" dirty="0">
                <a:solidFill>
                  <a:srgbClr val="595959"/>
                </a:solidFill>
                <a:latin typeface="Arial"/>
                <a:cs typeface="Arial"/>
              </a:rPr>
              <a:t>The goal is always </a:t>
            </a:r>
            <a:r>
              <a:rPr sz="1400" b="1" dirty="0">
                <a:solidFill>
                  <a:srgbClr val="595959"/>
                </a:solidFill>
                <a:latin typeface="Arial"/>
                <a:cs typeface="Arial"/>
              </a:rPr>
              <a:t>to </a:t>
            </a:r>
            <a:r>
              <a:rPr sz="1400" b="1" spc="-5" dirty="0">
                <a:solidFill>
                  <a:srgbClr val="595959"/>
                </a:solidFill>
                <a:latin typeface="Arial"/>
                <a:cs typeface="Arial"/>
              </a:rPr>
              <a:t>create an excellent</a:t>
            </a:r>
            <a:r>
              <a:rPr sz="1400" b="1" spc="-25" dirty="0">
                <a:solidFill>
                  <a:srgbClr val="595959"/>
                </a:solidFill>
                <a:latin typeface="Arial"/>
                <a:cs typeface="Arial"/>
              </a:rPr>
              <a:t> </a:t>
            </a:r>
            <a:r>
              <a:rPr sz="1400" b="1" spc="-5" dirty="0">
                <a:solidFill>
                  <a:srgbClr val="595959"/>
                </a:solidFill>
                <a:latin typeface="Arial"/>
                <a:cs typeface="Arial"/>
              </a:rPr>
              <a:t>game.</a:t>
            </a:r>
            <a:endParaRPr sz="1400">
              <a:latin typeface="Arial"/>
              <a:cs typeface="Arial"/>
            </a:endParaRPr>
          </a:p>
          <a:p>
            <a:pPr marL="836294" indent="-335915">
              <a:lnSpc>
                <a:spcPct val="100000"/>
              </a:lnSpc>
              <a:spcBef>
                <a:spcPts val="270"/>
              </a:spcBef>
              <a:buChar char="○"/>
              <a:tabLst>
                <a:tab pos="836294" algn="l"/>
                <a:tab pos="836930" algn="l"/>
              </a:tabLst>
            </a:pPr>
            <a:r>
              <a:rPr sz="1400" spc="-5" dirty="0">
                <a:solidFill>
                  <a:srgbClr val="595959"/>
                </a:solidFill>
                <a:latin typeface="Arial"/>
                <a:cs typeface="Arial"/>
              </a:rPr>
              <a:t>If </a:t>
            </a:r>
            <a:r>
              <a:rPr sz="1400" dirty="0">
                <a:solidFill>
                  <a:srgbClr val="595959"/>
                </a:solidFill>
                <a:latin typeface="Arial"/>
                <a:cs typeface="Arial"/>
              </a:rPr>
              <a:t>a </a:t>
            </a:r>
            <a:r>
              <a:rPr sz="1400" spc="-5" dirty="0">
                <a:solidFill>
                  <a:srgbClr val="595959"/>
                </a:solidFill>
                <a:latin typeface="Arial"/>
                <a:cs typeface="Arial"/>
              </a:rPr>
              <a:t>physics </a:t>
            </a:r>
            <a:r>
              <a:rPr sz="1400" dirty="0">
                <a:solidFill>
                  <a:srgbClr val="595959"/>
                </a:solidFill>
                <a:latin typeface="Arial"/>
                <a:cs typeface="Arial"/>
              </a:rPr>
              <a:t>system makes </a:t>
            </a:r>
            <a:r>
              <a:rPr sz="1400" spc="-5" dirty="0">
                <a:solidFill>
                  <a:srgbClr val="595959"/>
                </a:solidFill>
                <a:latin typeface="Arial"/>
                <a:cs typeface="Arial"/>
              </a:rPr>
              <a:t>the game </a:t>
            </a:r>
            <a:r>
              <a:rPr sz="1400" dirty="0">
                <a:solidFill>
                  <a:srgbClr val="595959"/>
                </a:solidFill>
                <a:latin typeface="Arial"/>
                <a:cs typeface="Arial"/>
              </a:rPr>
              <a:t>more </a:t>
            </a:r>
            <a:r>
              <a:rPr sz="1400" spc="-5" dirty="0">
                <a:solidFill>
                  <a:srgbClr val="595959"/>
                </a:solidFill>
                <a:latin typeface="Arial"/>
                <a:cs typeface="Arial"/>
              </a:rPr>
              <a:t>excellent, go for</a:t>
            </a:r>
            <a:r>
              <a:rPr sz="1400" spc="-50" dirty="0">
                <a:solidFill>
                  <a:srgbClr val="595959"/>
                </a:solidFill>
                <a:latin typeface="Arial"/>
                <a:cs typeface="Arial"/>
              </a:rPr>
              <a:t> </a:t>
            </a:r>
            <a:r>
              <a:rPr sz="1400" spc="-5" dirty="0">
                <a:solidFill>
                  <a:srgbClr val="595959"/>
                </a:solidFill>
                <a:latin typeface="Arial"/>
                <a:cs typeface="Arial"/>
              </a:rPr>
              <a:t>it.</a:t>
            </a:r>
            <a:endParaRPr sz="14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248410" cy="452120"/>
          </a:xfrm>
          <a:prstGeom prst="rect">
            <a:avLst/>
          </a:prstGeom>
        </p:spPr>
        <p:txBody>
          <a:bodyPr vert="horz" wrap="square" lIns="0" tIns="12700" rIns="0" bIns="0" rtlCol="0">
            <a:spAutoFit/>
          </a:bodyPr>
          <a:lstStyle/>
          <a:p>
            <a:pPr marL="12700">
              <a:lnSpc>
                <a:spcPct val="100000"/>
              </a:lnSpc>
              <a:spcBef>
                <a:spcPts val="100"/>
              </a:spcBef>
            </a:pPr>
            <a:r>
              <a:rPr spc="-5" dirty="0"/>
              <a:t>Physics</a:t>
            </a:r>
          </a:p>
        </p:txBody>
      </p:sp>
      <p:sp>
        <p:nvSpPr>
          <p:cNvPr id="3" name="object 3"/>
          <p:cNvSpPr txBox="1"/>
          <p:nvPr/>
        </p:nvSpPr>
        <p:spPr>
          <a:xfrm>
            <a:off x="475249" y="1176350"/>
            <a:ext cx="6269990" cy="220662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It’s </a:t>
            </a:r>
            <a:r>
              <a:rPr sz="1800" dirty="0">
                <a:solidFill>
                  <a:srgbClr val="595959"/>
                </a:solidFill>
                <a:latin typeface="Arial"/>
                <a:cs typeface="Arial"/>
              </a:rPr>
              <a:t>a </a:t>
            </a:r>
            <a:r>
              <a:rPr sz="1800" spc="-5" dirty="0">
                <a:solidFill>
                  <a:srgbClr val="595959"/>
                </a:solidFill>
                <a:latin typeface="Arial"/>
                <a:cs typeface="Arial"/>
              </a:rPr>
              <a:t>huge</a:t>
            </a:r>
            <a:r>
              <a:rPr sz="1800" spc="-15" dirty="0">
                <a:solidFill>
                  <a:srgbClr val="595959"/>
                </a:solidFill>
                <a:latin typeface="Arial"/>
                <a:cs typeface="Arial"/>
              </a:rPr>
              <a:t> </a:t>
            </a:r>
            <a:r>
              <a:rPr sz="1800" dirty="0">
                <a:solidFill>
                  <a:srgbClr val="595959"/>
                </a:solidFill>
                <a:latin typeface="Arial"/>
                <a:cs typeface="Arial"/>
              </a:rPr>
              <a:t>subject.</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Do what engineers do best:</a:t>
            </a:r>
            <a:r>
              <a:rPr sz="1800" spc="-15" dirty="0">
                <a:solidFill>
                  <a:srgbClr val="595959"/>
                </a:solidFill>
                <a:latin typeface="Arial"/>
                <a:cs typeface="Arial"/>
              </a:rPr>
              <a:t> </a:t>
            </a:r>
            <a:r>
              <a:rPr sz="1800" dirty="0">
                <a:solidFill>
                  <a:srgbClr val="595959"/>
                </a:solidFill>
                <a:latin typeface="Arial"/>
                <a:cs typeface="Arial"/>
              </a:rPr>
              <a:t>simplify.</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Our only focus is </a:t>
            </a:r>
            <a:r>
              <a:rPr sz="1400" dirty="0">
                <a:solidFill>
                  <a:srgbClr val="595959"/>
                </a:solidFill>
                <a:latin typeface="Arial"/>
                <a:cs typeface="Arial"/>
              </a:rPr>
              <a:t>a small </a:t>
            </a:r>
            <a:r>
              <a:rPr sz="1400" spc="-5" dirty="0">
                <a:solidFill>
                  <a:srgbClr val="595959"/>
                </a:solidFill>
                <a:latin typeface="Arial"/>
                <a:cs typeface="Arial"/>
              </a:rPr>
              <a:t>branch of physics </a:t>
            </a:r>
            <a:r>
              <a:rPr sz="1400" dirty="0">
                <a:solidFill>
                  <a:srgbClr val="595959"/>
                </a:solidFill>
                <a:latin typeface="Arial"/>
                <a:cs typeface="Arial"/>
              </a:rPr>
              <a:t>known </a:t>
            </a:r>
            <a:r>
              <a:rPr sz="1400" spc="-5" dirty="0">
                <a:solidFill>
                  <a:srgbClr val="595959"/>
                </a:solidFill>
                <a:latin typeface="Arial"/>
                <a:cs typeface="Arial"/>
              </a:rPr>
              <a:t>as</a:t>
            </a:r>
            <a:r>
              <a:rPr sz="1400" spc="-55" dirty="0">
                <a:solidFill>
                  <a:srgbClr val="595959"/>
                </a:solidFill>
                <a:latin typeface="Arial"/>
                <a:cs typeface="Arial"/>
              </a:rPr>
              <a:t> </a:t>
            </a:r>
            <a:r>
              <a:rPr sz="1400" spc="-5" dirty="0">
                <a:solidFill>
                  <a:srgbClr val="595959"/>
                </a:solidFill>
                <a:latin typeface="Arial"/>
                <a:cs typeface="Arial"/>
              </a:rPr>
              <a:t>dynamics.</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Dynamics </a:t>
            </a:r>
            <a:r>
              <a:rPr sz="1400" dirty="0">
                <a:solidFill>
                  <a:srgbClr val="595959"/>
                </a:solidFill>
                <a:latin typeface="Arial"/>
                <a:cs typeface="Arial"/>
              </a:rPr>
              <a:t>covers </a:t>
            </a:r>
            <a:r>
              <a:rPr sz="1400" spc="-5" dirty="0">
                <a:solidFill>
                  <a:srgbClr val="595959"/>
                </a:solidFill>
                <a:latin typeface="Arial"/>
                <a:cs typeface="Arial"/>
              </a:rPr>
              <a:t>how objects </a:t>
            </a:r>
            <a:r>
              <a:rPr sz="1400" dirty="0">
                <a:solidFill>
                  <a:srgbClr val="595959"/>
                </a:solidFill>
                <a:latin typeface="Arial"/>
                <a:cs typeface="Arial"/>
              </a:rPr>
              <a:t>move </a:t>
            </a:r>
            <a:r>
              <a:rPr sz="1400" spc="-5" dirty="0">
                <a:solidFill>
                  <a:srgbClr val="595959"/>
                </a:solidFill>
                <a:latin typeface="Arial"/>
                <a:cs typeface="Arial"/>
              </a:rPr>
              <a:t>over</a:t>
            </a:r>
            <a:r>
              <a:rPr sz="1400" spc="-30"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We narrow that even further to </a:t>
            </a:r>
            <a:r>
              <a:rPr sz="1400" dirty="0">
                <a:solidFill>
                  <a:srgbClr val="595959"/>
                </a:solidFill>
                <a:latin typeface="Arial"/>
                <a:cs typeface="Arial"/>
              </a:rPr>
              <a:t>rigid </a:t>
            </a:r>
            <a:r>
              <a:rPr sz="1400" spc="-5" dirty="0">
                <a:solidFill>
                  <a:srgbClr val="595959"/>
                </a:solidFill>
                <a:latin typeface="Arial"/>
                <a:cs typeface="Arial"/>
              </a:rPr>
              <a:t>body</a:t>
            </a:r>
            <a:r>
              <a:rPr sz="1400" spc="-25" dirty="0">
                <a:solidFill>
                  <a:srgbClr val="595959"/>
                </a:solidFill>
                <a:latin typeface="Arial"/>
                <a:cs typeface="Arial"/>
              </a:rPr>
              <a:t> </a:t>
            </a:r>
            <a:r>
              <a:rPr sz="1400" spc="-5" dirty="0">
                <a:solidFill>
                  <a:srgbClr val="595959"/>
                </a:solidFill>
                <a:latin typeface="Arial"/>
                <a:cs typeface="Arial"/>
              </a:rPr>
              <a:t>dynamics.</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Rigid bodies are infinitely hard, non-deformable</a:t>
            </a:r>
            <a:r>
              <a:rPr sz="1400" spc="-30" dirty="0">
                <a:solidFill>
                  <a:srgbClr val="595959"/>
                </a:solidFill>
                <a:latin typeface="Arial"/>
                <a:cs typeface="Arial"/>
              </a:rPr>
              <a:t> </a:t>
            </a:r>
            <a:r>
              <a:rPr sz="1400" dirty="0">
                <a:solidFill>
                  <a:srgbClr val="595959"/>
                </a:solidFill>
                <a:latin typeface="Arial"/>
                <a:cs typeface="Arial"/>
              </a:rPr>
              <a:t>solids.</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Their </a:t>
            </a:r>
            <a:r>
              <a:rPr sz="1400" dirty="0">
                <a:solidFill>
                  <a:srgbClr val="595959"/>
                </a:solidFill>
                <a:latin typeface="Arial"/>
                <a:cs typeface="Arial"/>
              </a:rPr>
              <a:t>shape </a:t>
            </a:r>
            <a:r>
              <a:rPr sz="1400" spc="-5" dirty="0">
                <a:solidFill>
                  <a:srgbClr val="595959"/>
                </a:solidFill>
                <a:latin typeface="Arial"/>
                <a:cs typeface="Arial"/>
              </a:rPr>
              <a:t>does not</a:t>
            </a:r>
            <a:r>
              <a:rPr sz="1400" spc="-20" dirty="0">
                <a:solidFill>
                  <a:srgbClr val="595959"/>
                </a:solidFill>
                <a:latin typeface="Arial"/>
                <a:cs typeface="Arial"/>
              </a:rPr>
              <a:t> </a:t>
            </a:r>
            <a:r>
              <a:rPr sz="1400" dirty="0">
                <a:solidFill>
                  <a:srgbClr val="595959"/>
                </a:solidFill>
                <a:latin typeface="Arial"/>
                <a:cs typeface="Arial"/>
              </a:rPr>
              <a:t>change.</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We also limit ourselves to </a:t>
            </a:r>
            <a:r>
              <a:rPr sz="1800" dirty="0">
                <a:solidFill>
                  <a:srgbClr val="595959"/>
                </a:solidFill>
                <a:latin typeface="Arial"/>
                <a:cs typeface="Arial"/>
              </a:rPr>
              <a:t>classical </a:t>
            </a:r>
            <a:r>
              <a:rPr sz="1800" spc="-5" dirty="0">
                <a:solidFill>
                  <a:srgbClr val="595959"/>
                </a:solidFill>
                <a:latin typeface="Arial"/>
                <a:cs typeface="Arial"/>
              </a:rPr>
              <a:t>Newtonian</a:t>
            </a:r>
            <a:r>
              <a:rPr sz="1800" spc="-80" dirty="0">
                <a:solidFill>
                  <a:srgbClr val="595959"/>
                </a:solidFill>
                <a:latin typeface="Arial"/>
                <a:cs typeface="Arial"/>
              </a:rPr>
              <a:t> </a:t>
            </a:r>
            <a:r>
              <a:rPr sz="1800" dirty="0">
                <a:solidFill>
                  <a:srgbClr val="595959"/>
                </a:solidFill>
                <a:latin typeface="Arial"/>
                <a:cs typeface="Arial"/>
              </a:rPr>
              <a:t>mechanics.</a:t>
            </a:r>
            <a:endParaRPr sz="18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2358475" cy="520655"/>
          </a:xfrm>
          <a:prstGeom prst="rect">
            <a:avLst/>
          </a:prstGeom>
        </p:spPr>
        <p:txBody>
          <a:bodyPr vert="horz" wrap="square" lIns="0" tIns="12700" rIns="0" bIns="0" rtlCol="0">
            <a:spAutoFit/>
          </a:bodyPr>
          <a:lstStyle/>
          <a:p>
            <a:pPr marL="12700">
              <a:lnSpc>
                <a:spcPct val="100000"/>
              </a:lnSpc>
              <a:spcBef>
                <a:spcPts val="100"/>
              </a:spcBef>
            </a:pPr>
            <a:r>
              <a:rPr spc="-5" dirty="0"/>
              <a:t>Foundations</a:t>
            </a:r>
          </a:p>
        </p:txBody>
      </p:sp>
      <p:sp>
        <p:nvSpPr>
          <p:cNvPr id="3" name="object 3"/>
          <p:cNvSpPr txBox="1"/>
          <p:nvPr/>
        </p:nvSpPr>
        <p:spPr>
          <a:xfrm>
            <a:off x="475249" y="1162308"/>
            <a:ext cx="8017509" cy="247650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Units</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Use </a:t>
            </a:r>
            <a:r>
              <a:rPr sz="1400" dirty="0">
                <a:solidFill>
                  <a:srgbClr val="595959"/>
                </a:solidFill>
                <a:latin typeface="Arial"/>
                <a:cs typeface="Arial"/>
              </a:rPr>
              <a:t>MKS. Just </a:t>
            </a:r>
            <a:r>
              <a:rPr sz="1400" spc="-5" dirty="0">
                <a:solidFill>
                  <a:srgbClr val="595959"/>
                </a:solidFill>
                <a:latin typeface="Arial"/>
                <a:cs typeface="Arial"/>
              </a:rPr>
              <a:t>do</a:t>
            </a:r>
            <a:r>
              <a:rPr sz="1400" spc="-20" dirty="0">
                <a:solidFill>
                  <a:srgbClr val="595959"/>
                </a:solidFill>
                <a:latin typeface="Arial"/>
                <a:cs typeface="Arial"/>
              </a:rPr>
              <a:t> </a:t>
            </a:r>
            <a:r>
              <a:rPr sz="1400" spc="-5" dirty="0">
                <a:solidFill>
                  <a:srgbClr val="595959"/>
                </a:solidFill>
                <a:latin typeface="Arial"/>
                <a:cs typeface="Arial"/>
              </a:rPr>
              <a:t>it™.</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Linear and angular dynamics are</a:t>
            </a:r>
            <a:r>
              <a:rPr sz="1800" spc="-15" dirty="0">
                <a:solidFill>
                  <a:srgbClr val="595959"/>
                </a:solidFill>
                <a:latin typeface="Arial"/>
                <a:cs typeface="Arial"/>
              </a:rPr>
              <a:t> </a:t>
            </a:r>
            <a:r>
              <a:rPr sz="1800" spc="-5" dirty="0">
                <a:solidFill>
                  <a:srgbClr val="595959"/>
                </a:solidFill>
                <a:latin typeface="Arial"/>
                <a:cs typeface="Arial"/>
              </a:rPr>
              <a:t>independent!</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It </a:t>
            </a:r>
            <a:r>
              <a:rPr sz="1400" dirty="0">
                <a:solidFill>
                  <a:srgbClr val="595959"/>
                </a:solidFill>
                <a:latin typeface="Arial"/>
                <a:cs typeface="Arial"/>
              </a:rPr>
              <a:t>may seem crazy, </a:t>
            </a:r>
            <a:r>
              <a:rPr sz="1400" spc="-5" dirty="0">
                <a:solidFill>
                  <a:srgbClr val="595959"/>
                </a:solidFill>
                <a:latin typeface="Arial"/>
                <a:cs typeface="Arial"/>
              </a:rPr>
              <a:t>but it’s true. We </a:t>
            </a:r>
            <a:r>
              <a:rPr sz="1400" dirty="0">
                <a:solidFill>
                  <a:srgbClr val="595959"/>
                </a:solidFill>
                <a:latin typeface="Arial"/>
                <a:cs typeface="Arial"/>
              </a:rPr>
              <a:t>can calculate </a:t>
            </a:r>
            <a:r>
              <a:rPr sz="1400" spc="-5" dirty="0">
                <a:solidFill>
                  <a:srgbClr val="595959"/>
                </a:solidFill>
                <a:latin typeface="Arial"/>
                <a:cs typeface="Arial"/>
              </a:rPr>
              <a:t>them independently.</a:t>
            </a:r>
            <a:r>
              <a:rPr sz="1400" spc="-50" dirty="0">
                <a:solidFill>
                  <a:srgbClr val="595959"/>
                </a:solidFill>
                <a:latin typeface="Arial"/>
                <a:cs typeface="Arial"/>
              </a:rPr>
              <a:t> </a:t>
            </a:r>
            <a:r>
              <a:rPr sz="1400" spc="-5" dirty="0">
                <a:solidFill>
                  <a:srgbClr val="595959"/>
                </a:solidFill>
                <a:latin typeface="Arial"/>
                <a:cs typeface="Arial"/>
              </a:rPr>
              <a:t>Phew.</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Center of</a:t>
            </a:r>
            <a:r>
              <a:rPr sz="1800" spc="-10" dirty="0">
                <a:solidFill>
                  <a:srgbClr val="595959"/>
                </a:solidFill>
                <a:latin typeface="Arial"/>
                <a:cs typeface="Arial"/>
              </a:rPr>
              <a:t> </a:t>
            </a:r>
            <a:r>
              <a:rPr sz="1800" dirty="0">
                <a:solidFill>
                  <a:srgbClr val="595959"/>
                </a:solidFill>
                <a:latin typeface="Arial"/>
                <a:cs typeface="Arial"/>
              </a:rPr>
              <a:t>mass</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Linear dynamics operates on an object as if its full </a:t>
            </a:r>
            <a:r>
              <a:rPr sz="1400" dirty="0">
                <a:solidFill>
                  <a:srgbClr val="595959"/>
                </a:solidFill>
                <a:latin typeface="Arial"/>
                <a:cs typeface="Arial"/>
              </a:rPr>
              <a:t>mass </a:t>
            </a:r>
            <a:r>
              <a:rPr sz="1400" spc="-5" dirty="0">
                <a:solidFill>
                  <a:srgbClr val="595959"/>
                </a:solidFill>
                <a:latin typeface="Arial"/>
                <a:cs typeface="Arial"/>
              </a:rPr>
              <a:t>is </a:t>
            </a:r>
            <a:r>
              <a:rPr sz="1400" dirty="0">
                <a:solidFill>
                  <a:srgbClr val="595959"/>
                </a:solidFill>
                <a:latin typeface="Arial"/>
                <a:cs typeface="Arial"/>
              </a:rPr>
              <a:t>concentrated </a:t>
            </a:r>
            <a:r>
              <a:rPr sz="1400" spc="-5" dirty="0">
                <a:solidFill>
                  <a:srgbClr val="595959"/>
                </a:solidFill>
                <a:latin typeface="Arial"/>
                <a:cs typeface="Arial"/>
              </a:rPr>
              <a:t>at </a:t>
            </a:r>
            <a:r>
              <a:rPr sz="1400" dirty="0">
                <a:solidFill>
                  <a:srgbClr val="595959"/>
                </a:solidFill>
                <a:latin typeface="Arial"/>
                <a:cs typeface="Arial"/>
              </a:rPr>
              <a:t>a single</a:t>
            </a:r>
            <a:r>
              <a:rPr sz="1400" spc="-55" dirty="0">
                <a:solidFill>
                  <a:srgbClr val="595959"/>
                </a:solidFill>
                <a:latin typeface="Arial"/>
                <a:cs typeface="Arial"/>
              </a:rPr>
              <a:t> </a:t>
            </a:r>
            <a:r>
              <a:rPr sz="1400" spc="-5" dirty="0">
                <a:solidFill>
                  <a:srgbClr val="595959"/>
                </a:solidFill>
                <a:latin typeface="Arial"/>
                <a:cs typeface="Arial"/>
              </a:rPr>
              <a:t>point.</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Center of </a:t>
            </a:r>
            <a:r>
              <a:rPr sz="1400" dirty="0">
                <a:solidFill>
                  <a:srgbClr val="595959"/>
                </a:solidFill>
                <a:latin typeface="Arial"/>
                <a:cs typeface="Arial"/>
              </a:rPr>
              <a:t>mass can </a:t>
            </a:r>
            <a:r>
              <a:rPr sz="1400" spc="-5" dirty="0">
                <a:solidFill>
                  <a:srgbClr val="595959"/>
                </a:solidFill>
                <a:latin typeface="Arial"/>
                <a:cs typeface="Arial"/>
              </a:rPr>
              <a:t>be </a:t>
            </a:r>
            <a:r>
              <a:rPr sz="1400" dirty="0">
                <a:solidFill>
                  <a:srgbClr val="595959"/>
                </a:solidFill>
                <a:latin typeface="Arial"/>
                <a:cs typeface="Arial"/>
              </a:rPr>
              <a:t>calculated </a:t>
            </a:r>
            <a:r>
              <a:rPr sz="1400" spc="-5" dirty="0">
                <a:solidFill>
                  <a:srgbClr val="595959"/>
                </a:solidFill>
                <a:latin typeface="Arial"/>
                <a:cs typeface="Arial"/>
              </a:rPr>
              <a:t>by taking </a:t>
            </a:r>
            <a:r>
              <a:rPr sz="1400" dirty="0">
                <a:solidFill>
                  <a:srgbClr val="595959"/>
                </a:solidFill>
                <a:latin typeface="Arial"/>
                <a:cs typeface="Arial"/>
              </a:rPr>
              <a:t>a </a:t>
            </a:r>
            <a:r>
              <a:rPr sz="1400" spc="-5" dirty="0">
                <a:solidFill>
                  <a:srgbClr val="595959"/>
                </a:solidFill>
                <a:latin typeface="Arial"/>
                <a:cs typeface="Arial"/>
              </a:rPr>
              <a:t>weighted average of all portions of the</a:t>
            </a:r>
            <a:r>
              <a:rPr sz="1400" spc="-65" dirty="0">
                <a:solidFill>
                  <a:srgbClr val="595959"/>
                </a:solidFill>
                <a:latin typeface="Arial"/>
                <a:cs typeface="Arial"/>
              </a:rPr>
              <a:t> </a:t>
            </a:r>
            <a:r>
              <a:rPr sz="1400" spc="-5" dirty="0">
                <a:solidFill>
                  <a:srgbClr val="595959"/>
                </a:solidFill>
                <a:latin typeface="Arial"/>
                <a:cs typeface="Arial"/>
              </a:rPr>
              <a:t>object.</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For an object of uniform density, the </a:t>
            </a:r>
            <a:r>
              <a:rPr sz="1400" dirty="0">
                <a:solidFill>
                  <a:srgbClr val="595959"/>
                </a:solidFill>
                <a:latin typeface="Arial"/>
                <a:cs typeface="Arial"/>
              </a:rPr>
              <a:t>center </a:t>
            </a:r>
            <a:r>
              <a:rPr sz="1400" spc="-5" dirty="0">
                <a:solidFill>
                  <a:srgbClr val="595959"/>
                </a:solidFill>
                <a:latin typeface="Arial"/>
                <a:cs typeface="Arial"/>
              </a:rPr>
              <a:t>of </a:t>
            </a:r>
            <a:r>
              <a:rPr sz="1400" dirty="0">
                <a:solidFill>
                  <a:srgbClr val="595959"/>
                </a:solidFill>
                <a:latin typeface="Arial"/>
                <a:cs typeface="Arial"/>
              </a:rPr>
              <a:t>mass </a:t>
            </a:r>
            <a:r>
              <a:rPr sz="1400" spc="-5" dirty="0">
                <a:solidFill>
                  <a:srgbClr val="595959"/>
                </a:solidFill>
                <a:latin typeface="Arial"/>
                <a:cs typeface="Arial"/>
              </a:rPr>
              <a:t>is </a:t>
            </a:r>
            <a:r>
              <a:rPr sz="1400" dirty="0">
                <a:solidFill>
                  <a:srgbClr val="595959"/>
                </a:solidFill>
                <a:latin typeface="Arial"/>
                <a:cs typeface="Arial"/>
              </a:rPr>
              <a:t>simply </a:t>
            </a:r>
            <a:r>
              <a:rPr sz="1400" spc="-5" dirty="0">
                <a:solidFill>
                  <a:srgbClr val="595959"/>
                </a:solidFill>
                <a:latin typeface="Arial"/>
                <a:cs typeface="Arial"/>
              </a:rPr>
              <a:t>the</a:t>
            </a:r>
            <a:r>
              <a:rPr sz="1400" spc="-40" dirty="0">
                <a:solidFill>
                  <a:srgbClr val="595959"/>
                </a:solidFill>
                <a:latin typeface="Arial"/>
                <a:cs typeface="Arial"/>
              </a:rPr>
              <a:t> </a:t>
            </a:r>
            <a:r>
              <a:rPr sz="1400" dirty="0">
                <a:solidFill>
                  <a:srgbClr val="595959"/>
                </a:solidFill>
                <a:latin typeface="Arial"/>
                <a:cs typeface="Arial"/>
              </a:rPr>
              <a:t>centroid.</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For example, </a:t>
            </a:r>
            <a:r>
              <a:rPr sz="1400" dirty="0">
                <a:solidFill>
                  <a:srgbClr val="595959"/>
                </a:solidFill>
                <a:latin typeface="Arial"/>
                <a:cs typeface="Arial"/>
              </a:rPr>
              <a:t>a </a:t>
            </a:r>
            <a:r>
              <a:rPr sz="1400" spc="-5" dirty="0">
                <a:solidFill>
                  <a:srgbClr val="595959"/>
                </a:solidFill>
                <a:latin typeface="Arial"/>
                <a:cs typeface="Arial"/>
              </a:rPr>
              <a:t>uniform density </a:t>
            </a:r>
            <a:r>
              <a:rPr sz="1400" dirty="0">
                <a:solidFill>
                  <a:srgbClr val="595959"/>
                </a:solidFill>
                <a:latin typeface="Arial"/>
                <a:cs typeface="Arial"/>
              </a:rPr>
              <a:t>sphere’s center </a:t>
            </a:r>
            <a:r>
              <a:rPr sz="1400" spc="-5" dirty="0">
                <a:solidFill>
                  <a:srgbClr val="595959"/>
                </a:solidFill>
                <a:latin typeface="Arial"/>
                <a:cs typeface="Arial"/>
              </a:rPr>
              <a:t>of </a:t>
            </a:r>
            <a:r>
              <a:rPr sz="1400" dirty="0">
                <a:solidFill>
                  <a:srgbClr val="595959"/>
                </a:solidFill>
                <a:latin typeface="Arial"/>
                <a:cs typeface="Arial"/>
              </a:rPr>
              <a:t>mass </a:t>
            </a:r>
            <a:r>
              <a:rPr sz="1400" spc="-5" dirty="0">
                <a:solidFill>
                  <a:srgbClr val="595959"/>
                </a:solidFill>
                <a:latin typeface="Arial"/>
                <a:cs typeface="Arial"/>
              </a:rPr>
              <a:t>is its exact </a:t>
            </a:r>
            <a:r>
              <a:rPr sz="1400" dirty="0">
                <a:solidFill>
                  <a:srgbClr val="595959"/>
                </a:solidFill>
                <a:latin typeface="Arial"/>
                <a:cs typeface="Arial"/>
              </a:rPr>
              <a:t>center</a:t>
            </a:r>
            <a:r>
              <a:rPr sz="1400" spc="-50" dirty="0">
                <a:solidFill>
                  <a:srgbClr val="595959"/>
                </a:solidFill>
                <a:latin typeface="Arial"/>
                <a:cs typeface="Arial"/>
              </a:rPr>
              <a:t> </a:t>
            </a:r>
            <a:r>
              <a:rPr sz="1400" spc="-5" dirty="0">
                <a:solidFill>
                  <a:srgbClr val="595959"/>
                </a:solidFill>
                <a:latin typeface="Arial"/>
                <a:cs typeface="Arial"/>
              </a:rPr>
              <a:t>point.</a:t>
            </a:r>
            <a:endParaRPr sz="14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3120475" cy="520655"/>
          </a:xfrm>
          <a:prstGeom prst="rect">
            <a:avLst/>
          </a:prstGeom>
        </p:spPr>
        <p:txBody>
          <a:bodyPr vert="horz" wrap="square" lIns="0" tIns="12700" rIns="0" bIns="0" rtlCol="0">
            <a:spAutoFit/>
          </a:bodyPr>
          <a:lstStyle/>
          <a:p>
            <a:pPr marL="12700">
              <a:lnSpc>
                <a:spcPct val="100000"/>
              </a:lnSpc>
              <a:spcBef>
                <a:spcPts val="100"/>
              </a:spcBef>
            </a:pPr>
            <a:r>
              <a:rPr spc="-5" dirty="0"/>
              <a:t>Linear</a:t>
            </a:r>
            <a:r>
              <a:rPr spc="-85" dirty="0"/>
              <a:t> </a:t>
            </a:r>
            <a:r>
              <a:rPr spc="-5" dirty="0"/>
              <a:t>Dynamics</a:t>
            </a:r>
          </a:p>
        </p:txBody>
      </p:sp>
      <p:sp>
        <p:nvSpPr>
          <p:cNvPr id="3" name="object 3"/>
          <p:cNvSpPr txBox="1"/>
          <p:nvPr/>
        </p:nvSpPr>
        <p:spPr>
          <a:xfrm>
            <a:off x="475249" y="1176350"/>
            <a:ext cx="6650990" cy="96837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Position, </a:t>
            </a:r>
            <a:r>
              <a:rPr sz="1800" dirty="0">
                <a:solidFill>
                  <a:srgbClr val="595959"/>
                </a:solidFill>
                <a:latin typeface="Arial"/>
                <a:cs typeface="Arial"/>
              </a:rPr>
              <a:t>velocity, </a:t>
            </a:r>
            <a:r>
              <a:rPr sz="1800" spc="-5" dirty="0">
                <a:solidFill>
                  <a:srgbClr val="595959"/>
                </a:solidFill>
                <a:latin typeface="Arial"/>
                <a:cs typeface="Arial"/>
              </a:rPr>
              <a:t>and</a:t>
            </a:r>
            <a:r>
              <a:rPr sz="1800" spc="-25" dirty="0">
                <a:solidFill>
                  <a:srgbClr val="595959"/>
                </a:solidFill>
                <a:latin typeface="Arial"/>
                <a:cs typeface="Arial"/>
              </a:rPr>
              <a:t> </a:t>
            </a:r>
            <a:r>
              <a:rPr sz="1800" spc="-5" dirty="0">
                <a:solidFill>
                  <a:srgbClr val="595959"/>
                </a:solidFill>
                <a:latin typeface="Arial"/>
                <a:cs typeface="Arial"/>
              </a:rPr>
              <a:t>acceleration.</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Vector </a:t>
            </a:r>
            <a:r>
              <a:rPr sz="1800" dirty="0">
                <a:solidFill>
                  <a:srgbClr val="595959"/>
                </a:solidFill>
                <a:latin typeface="Arial"/>
                <a:cs typeface="Arial"/>
              </a:rPr>
              <a:t>calculus </a:t>
            </a:r>
            <a:r>
              <a:rPr sz="1800" spc="-5" dirty="0">
                <a:solidFill>
                  <a:srgbClr val="595959"/>
                </a:solidFill>
                <a:latin typeface="Arial"/>
                <a:cs typeface="Arial"/>
              </a:rPr>
              <a:t>is just </a:t>
            </a:r>
            <a:r>
              <a:rPr sz="1800" dirty="0">
                <a:solidFill>
                  <a:srgbClr val="595959"/>
                </a:solidFill>
                <a:latin typeface="Arial"/>
                <a:cs typeface="Arial"/>
              </a:rPr>
              <a:t>scalar calculus </a:t>
            </a:r>
            <a:r>
              <a:rPr sz="1800" spc="-5" dirty="0">
                <a:solidFill>
                  <a:srgbClr val="595959"/>
                </a:solidFill>
                <a:latin typeface="Arial"/>
                <a:cs typeface="Arial"/>
              </a:rPr>
              <a:t>on each </a:t>
            </a:r>
            <a:r>
              <a:rPr sz="1800" dirty="0">
                <a:solidFill>
                  <a:srgbClr val="595959"/>
                </a:solidFill>
                <a:latin typeface="Arial"/>
                <a:cs typeface="Arial"/>
              </a:rPr>
              <a:t>vector</a:t>
            </a:r>
            <a:r>
              <a:rPr sz="1800" spc="-100" dirty="0">
                <a:solidFill>
                  <a:srgbClr val="595959"/>
                </a:solidFill>
                <a:latin typeface="Arial"/>
                <a:cs typeface="Arial"/>
              </a:rPr>
              <a:t> </a:t>
            </a:r>
            <a:r>
              <a:rPr sz="1800" spc="-5" dirty="0">
                <a:solidFill>
                  <a:srgbClr val="595959"/>
                </a:solidFill>
                <a:latin typeface="Arial"/>
                <a:cs typeface="Arial"/>
              </a:rPr>
              <a:t>element.</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Velocity, </a:t>
            </a:r>
            <a:r>
              <a:rPr sz="1800" b="1" dirty="0">
                <a:solidFill>
                  <a:srgbClr val="595959"/>
                </a:solidFill>
                <a:latin typeface="Arial"/>
                <a:cs typeface="Arial"/>
              </a:rPr>
              <a:t>v</a:t>
            </a:r>
            <a:r>
              <a:rPr sz="1800" dirty="0">
                <a:solidFill>
                  <a:srgbClr val="595959"/>
                </a:solidFill>
                <a:latin typeface="Arial"/>
                <a:cs typeface="Arial"/>
              </a:rPr>
              <a:t>, </a:t>
            </a:r>
            <a:r>
              <a:rPr sz="1800" spc="-5" dirty="0">
                <a:solidFill>
                  <a:srgbClr val="595959"/>
                </a:solidFill>
                <a:latin typeface="Arial"/>
                <a:cs typeface="Arial"/>
              </a:rPr>
              <a:t>is the derivative of position,</a:t>
            </a:r>
            <a:r>
              <a:rPr sz="1800" spc="40" dirty="0">
                <a:solidFill>
                  <a:srgbClr val="595959"/>
                </a:solidFill>
                <a:latin typeface="Arial"/>
                <a:cs typeface="Arial"/>
              </a:rPr>
              <a:t> </a:t>
            </a:r>
            <a:r>
              <a:rPr sz="1800" b="1" dirty="0">
                <a:solidFill>
                  <a:srgbClr val="595959"/>
                </a:solidFill>
                <a:latin typeface="Arial"/>
                <a:cs typeface="Arial"/>
              </a:rPr>
              <a:t>r</a:t>
            </a:r>
            <a:r>
              <a:rPr sz="1800" dirty="0">
                <a:solidFill>
                  <a:srgbClr val="595959"/>
                </a:solidFill>
                <a:latin typeface="Arial"/>
                <a:cs typeface="Arial"/>
              </a:rPr>
              <a:t>:</a:t>
            </a:r>
            <a:endParaRPr sz="1800">
              <a:latin typeface="Arial"/>
              <a:cs typeface="Arial"/>
            </a:endParaRPr>
          </a:p>
        </p:txBody>
      </p:sp>
      <p:sp>
        <p:nvSpPr>
          <p:cNvPr id="4" name="object 4"/>
          <p:cNvSpPr txBox="1"/>
          <p:nvPr/>
        </p:nvSpPr>
        <p:spPr>
          <a:xfrm>
            <a:off x="475249" y="2873705"/>
            <a:ext cx="475996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Acceleration, </a:t>
            </a:r>
            <a:r>
              <a:rPr sz="1800" b="1" dirty="0">
                <a:solidFill>
                  <a:srgbClr val="595959"/>
                </a:solidFill>
                <a:latin typeface="Arial"/>
                <a:cs typeface="Arial"/>
              </a:rPr>
              <a:t>a</a:t>
            </a:r>
            <a:r>
              <a:rPr sz="1800" dirty="0">
                <a:solidFill>
                  <a:srgbClr val="595959"/>
                </a:solidFill>
                <a:latin typeface="Arial"/>
                <a:cs typeface="Arial"/>
              </a:rPr>
              <a:t>, </a:t>
            </a:r>
            <a:r>
              <a:rPr sz="1800" spc="-5" dirty="0">
                <a:solidFill>
                  <a:srgbClr val="595959"/>
                </a:solidFill>
                <a:latin typeface="Arial"/>
                <a:cs typeface="Arial"/>
              </a:rPr>
              <a:t>is the derivative of</a:t>
            </a:r>
            <a:r>
              <a:rPr sz="1800" spc="-40" dirty="0">
                <a:solidFill>
                  <a:srgbClr val="595959"/>
                </a:solidFill>
                <a:latin typeface="Arial"/>
                <a:cs typeface="Arial"/>
              </a:rPr>
              <a:t> </a:t>
            </a:r>
            <a:r>
              <a:rPr sz="1800" dirty="0">
                <a:solidFill>
                  <a:srgbClr val="595959"/>
                </a:solidFill>
                <a:latin typeface="Arial"/>
                <a:cs typeface="Arial"/>
              </a:rPr>
              <a:t>velocity:</a:t>
            </a:r>
            <a:endParaRPr sz="1800">
              <a:latin typeface="Arial"/>
              <a:cs typeface="Arial"/>
            </a:endParaRPr>
          </a:p>
        </p:txBody>
      </p:sp>
      <p:sp>
        <p:nvSpPr>
          <p:cNvPr id="5" name="object 5"/>
          <p:cNvSpPr/>
          <p:nvPr/>
        </p:nvSpPr>
        <p:spPr>
          <a:xfrm>
            <a:off x="3926500" y="2285400"/>
            <a:ext cx="1291002" cy="57269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2971800" y="3338512"/>
            <a:ext cx="3200399" cy="600074"/>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110615" cy="452120"/>
          </a:xfrm>
          <a:prstGeom prst="rect">
            <a:avLst/>
          </a:prstGeom>
        </p:spPr>
        <p:txBody>
          <a:bodyPr vert="horz" wrap="square" lIns="0" tIns="12700" rIns="0" bIns="0" rtlCol="0">
            <a:spAutoFit/>
          </a:bodyPr>
          <a:lstStyle/>
          <a:p>
            <a:pPr marL="12700">
              <a:lnSpc>
                <a:spcPct val="100000"/>
              </a:lnSpc>
              <a:spcBef>
                <a:spcPts val="100"/>
              </a:spcBef>
            </a:pPr>
            <a:r>
              <a:rPr spc="-5" dirty="0"/>
              <a:t>Forces</a:t>
            </a:r>
          </a:p>
        </p:txBody>
      </p:sp>
      <p:sp>
        <p:nvSpPr>
          <p:cNvPr id="3" name="object 3"/>
          <p:cNvSpPr txBox="1"/>
          <p:nvPr/>
        </p:nvSpPr>
        <p:spPr>
          <a:xfrm>
            <a:off x="475249" y="1162308"/>
            <a:ext cx="7184390" cy="85725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dirty="0">
                <a:solidFill>
                  <a:srgbClr val="595959"/>
                </a:solidFill>
                <a:latin typeface="Arial"/>
                <a:cs typeface="Arial"/>
              </a:rPr>
              <a:t>A </a:t>
            </a:r>
            <a:r>
              <a:rPr sz="1800" b="1" dirty="0">
                <a:solidFill>
                  <a:srgbClr val="595959"/>
                </a:solidFill>
                <a:latin typeface="Arial"/>
                <a:cs typeface="Arial"/>
              </a:rPr>
              <a:t>force </a:t>
            </a:r>
            <a:r>
              <a:rPr sz="1800" spc="-5" dirty="0">
                <a:solidFill>
                  <a:srgbClr val="595959"/>
                </a:solidFill>
                <a:latin typeface="Arial"/>
                <a:cs typeface="Arial"/>
              </a:rPr>
              <a:t>is anything that </a:t>
            </a:r>
            <a:r>
              <a:rPr sz="1800" dirty="0">
                <a:solidFill>
                  <a:srgbClr val="595959"/>
                </a:solidFill>
                <a:latin typeface="Arial"/>
                <a:cs typeface="Arial"/>
              </a:rPr>
              <a:t>causes a mass </a:t>
            </a:r>
            <a:r>
              <a:rPr sz="1800" spc="-5" dirty="0">
                <a:solidFill>
                  <a:srgbClr val="595959"/>
                </a:solidFill>
                <a:latin typeface="Arial"/>
                <a:cs typeface="Arial"/>
              </a:rPr>
              <a:t>to accelerate or</a:t>
            </a:r>
            <a:r>
              <a:rPr sz="1800" spc="-95" dirty="0">
                <a:solidFill>
                  <a:srgbClr val="595959"/>
                </a:solidFill>
                <a:latin typeface="Arial"/>
                <a:cs typeface="Arial"/>
              </a:rPr>
              <a:t> </a:t>
            </a:r>
            <a:r>
              <a:rPr sz="1800" spc="-5" dirty="0">
                <a:solidFill>
                  <a:srgbClr val="595959"/>
                </a:solidFill>
                <a:latin typeface="Arial"/>
                <a:cs typeface="Arial"/>
              </a:rPr>
              <a:t>decelerate.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It has </a:t>
            </a:r>
            <a:r>
              <a:rPr sz="1400" dirty="0">
                <a:solidFill>
                  <a:srgbClr val="595959"/>
                </a:solidFill>
                <a:latin typeface="Arial"/>
                <a:cs typeface="Arial"/>
              </a:rPr>
              <a:t>a magnitude </a:t>
            </a:r>
            <a:r>
              <a:rPr sz="1400" spc="-5" dirty="0">
                <a:solidFill>
                  <a:srgbClr val="595959"/>
                </a:solidFill>
                <a:latin typeface="Arial"/>
                <a:cs typeface="Arial"/>
              </a:rPr>
              <a:t>and direction, </a:t>
            </a:r>
            <a:r>
              <a:rPr sz="1400" dirty="0">
                <a:solidFill>
                  <a:srgbClr val="595959"/>
                </a:solidFill>
                <a:latin typeface="Arial"/>
                <a:cs typeface="Arial"/>
              </a:rPr>
              <a:t>so </a:t>
            </a:r>
            <a:r>
              <a:rPr sz="1400" spc="-5" dirty="0">
                <a:solidFill>
                  <a:srgbClr val="595959"/>
                </a:solidFill>
                <a:latin typeface="Arial"/>
                <a:cs typeface="Arial"/>
              </a:rPr>
              <a:t>it’s </a:t>
            </a:r>
            <a:r>
              <a:rPr sz="1400" dirty="0">
                <a:solidFill>
                  <a:srgbClr val="595959"/>
                </a:solidFill>
                <a:latin typeface="Arial"/>
                <a:cs typeface="Arial"/>
              </a:rPr>
              <a:t>represented </a:t>
            </a:r>
            <a:r>
              <a:rPr sz="1400" spc="-5" dirty="0">
                <a:solidFill>
                  <a:srgbClr val="595959"/>
                </a:solidFill>
                <a:latin typeface="Arial"/>
                <a:cs typeface="Arial"/>
              </a:rPr>
              <a:t>by </a:t>
            </a:r>
            <a:r>
              <a:rPr sz="1400" dirty="0">
                <a:solidFill>
                  <a:srgbClr val="595959"/>
                </a:solidFill>
                <a:latin typeface="Arial"/>
                <a:cs typeface="Arial"/>
              </a:rPr>
              <a:t>a vector,</a:t>
            </a:r>
            <a:r>
              <a:rPr sz="1400" spc="-45" dirty="0">
                <a:solidFill>
                  <a:srgbClr val="595959"/>
                </a:solidFill>
                <a:latin typeface="Arial"/>
                <a:cs typeface="Arial"/>
              </a:rPr>
              <a:t> </a:t>
            </a:r>
            <a:r>
              <a:rPr sz="1400" b="1" i="1" spc="-5" dirty="0">
                <a:solidFill>
                  <a:srgbClr val="595959"/>
                </a:solidFill>
                <a:latin typeface="Arial"/>
                <a:cs typeface="Arial"/>
              </a:rPr>
              <a:t>F</a:t>
            </a:r>
            <a:r>
              <a:rPr sz="1400" spc="-5" dirty="0">
                <a:solidFill>
                  <a:srgbClr val="595959"/>
                </a:solidFill>
                <a:latin typeface="Arial"/>
                <a:cs typeface="Arial"/>
              </a:rPr>
              <a:t>.</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It’s the derivative of </a:t>
            </a:r>
            <a:r>
              <a:rPr sz="1400" dirty="0">
                <a:solidFill>
                  <a:srgbClr val="595959"/>
                </a:solidFill>
                <a:latin typeface="Arial"/>
                <a:cs typeface="Arial"/>
              </a:rPr>
              <a:t>momentum,</a:t>
            </a:r>
            <a:r>
              <a:rPr sz="1400" spc="10" dirty="0">
                <a:solidFill>
                  <a:srgbClr val="595959"/>
                </a:solidFill>
                <a:latin typeface="Arial"/>
                <a:cs typeface="Arial"/>
              </a:rPr>
              <a:t> </a:t>
            </a:r>
            <a:r>
              <a:rPr sz="1400" b="1" spc="-5" dirty="0">
                <a:solidFill>
                  <a:srgbClr val="595959"/>
                </a:solidFill>
                <a:latin typeface="Arial"/>
                <a:cs typeface="Arial"/>
              </a:rPr>
              <a:t>p</a:t>
            </a:r>
            <a:r>
              <a:rPr sz="1400" spc="-5" dirty="0">
                <a:solidFill>
                  <a:srgbClr val="595959"/>
                </a:solidFill>
                <a:latin typeface="Arial"/>
                <a:cs typeface="Arial"/>
              </a:rPr>
              <a:t>:</a:t>
            </a:r>
            <a:endParaRPr sz="1400">
              <a:latin typeface="Arial"/>
              <a:cs typeface="Arial"/>
            </a:endParaRPr>
          </a:p>
        </p:txBody>
      </p:sp>
      <p:sp>
        <p:nvSpPr>
          <p:cNvPr id="4" name="object 4"/>
          <p:cNvSpPr txBox="1"/>
          <p:nvPr/>
        </p:nvSpPr>
        <p:spPr>
          <a:xfrm>
            <a:off x="475249" y="3254705"/>
            <a:ext cx="7519034"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The total force applied to an object is the </a:t>
            </a:r>
            <a:r>
              <a:rPr sz="1800" dirty="0">
                <a:solidFill>
                  <a:srgbClr val="595959"/>
                </a:solidFill>
                <a:latin typeface="Arial"/>
                <a:cs typeface="Arial"/>
              </a:rPr>
              <a:t>sum </a:t>
            </a:r>
            <a:r>
              <a:rPr sz="1800" spc="-5" dirty="0">
                <a:solidFill>
                  <a:srgbClr val="595959"/>
                </a:solidFill>
                <a:latin typeface="Arial"/>
                <a:cs typeface="Arial"/>
              </a:rPr>
              <a:t>of all forces applied to</a:t>
            </a:r>
            <a:r>
              <a:rPr sz="1800" spc="-40" dirty="0">
                <a:solidFill>
                  <a:srgbClr val="595959"/>
                </a:solidFill>
                <a:latin typeface="Arial"/>
                <a:cs typeface="Arial"/>
              </a:rPr>
              <a:t> </a:t>
            </a:r>
            <a:r>
              <a:rPr sz="1800" spc="-5" dirty="0">
                <a:solidFill>
                  <a:srgbClr val="595959"/>
                </a:solidFill>
                <a:latin typeface="Arial"/>
                <a:cs typeface="Arial"/>
              </a:rPr>
              <a:t>it:</a:t>
            </a:r>
            <a:endParaRPr sz="1800">
              <a:latin typeface="Arial"/>
              <a:cs typeface="Arial"/>
            </a:endParaRPr>
          </a:p>
        </p:txBody>
      </p:sp>
      <p:sp>
        <p:nvSpPr>
          <p:cNvPr id="5" name="object 5"/>
          <p:cNvSpPr/>
          <p:nvPr/>
        </p:nvSpPr>
        <p:spPr>
          <a:xfrm>
            <a:off x="3205162" y="2276475"/>
            <a:ext cx="2733674" cy="59054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890962" y="3695700"/>
            <a:ext cx="1362074" cy="80009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21505" cy="452120"/>
          </a:xfrm>
          <a:prstGeom prst="rect">
            <a:avLst/>
          </a:prstGeom>
        </p:spPr>
        <p:txBody>
          <a:bodyPr vert="horz" wrap="square" lIns="0" tIns="12700" rIns="0" bIns="0" rtlCol="0">
            <a:spAutoFit/>
          </a:bodyPr>
          <a:lstStyle/>
          <a:p>
            <a:pPr marL="12700">
              <a:lnSpc>
                <a:spcPct val="100000"/>
              </a:lnSpc>
              <a:spcBef>
                <a:spcPts val="100"/>
              </a:spcBef>
            </a:pPr>
            <a:r>
              <a:rPr spc="-10" dirty="0"/>
              <a:t>Solving Equations </a:t>
            </a:r>
            <a:r>
              <a:rPr spc="-5" dirty="0"/>
              <a:t>of</a:t>
            </a:r>
            <a:r>
              <a:rPr spc="-75" dirty="0"/>
              <a:t> </a:t>
            </a:r>
            <a:r>
              <a:rPr dirty="0"/>
              <a:t>Motion</a:t>
            </a:r>
          </a:p>
        </p:txBody>
      </p:sp>
      <p:sp>
        <p:nvSpPr>
          <p:cNvPr id="3" name="object 3"/>
          <p:cNvSpPr txBox="1"/>
          <p:nvPr/>
        </p:nvSpPr>
        <p:spPr>
          <a:xfrm>
            <a:off x="475249" y="1216355"/>
            <a:ext cx="773874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dirty="0">
                <a:solidFill>
                  <a:srgbClr val="595959"/>
                </a:solidFill>
                <a:latin typeface="Arial"/>
                <a:cs typeface="Arial"/>
              </a:rPr>
              <a:t>A </a:t>
            </a:r>
            <a:r>
              <a:rPr sz="1800" spc="-5" dirty="0">
                <a:solidFill>
                  <a:srgbClr val="595959"/>
                </a:solidFill>
                <a:latin typeface="Arial"/>
                <a:cs typeface="Arial"/>
              </a:rPr>
              <a:t>force </a:t>
            </a:r>
            <a:r>
              <a:rPr sz="1800" dirty="0">
                <a:solidFill>
                  <a:srgbClr val="595959"/>
                </a:solidFill>
                <a:latin typeface="Arial"/>
                <a:cs typeface="Arial"/>
              </a:rPr>
              <a:t>can </a:t>
            </a:r>
            <a:r>
              <a:rPr sz="1800" spc="-5" dirty="0">
                <a:solidFill>
                  <a:srgbClr val="595959"/>
                </a:solidFill>
                <a:latin typeface="Arial"/>
                <a:cs typeface="Arial"/>
              </a:rPr>
              <a:t>be </a:t>
            </a:r>
            <a:r>
              <a:rPr sz="1800" dirty="0">
                <a:solidFill>
                  <a:srgbClr val="595959"/>
                </a:solidFill>
                <a:latin typeface="Arial"/>
                <a:cs typeface="Arial"/>
              </a:rPr>
              <a:t>constant </a:t>
            </a:r>
            <a:r>
              <a:rPr sz="1800" spc="-5" dirty="0">
                <a:solidFill>
                  <a:srgbClr val="595959"/>
                </a:solidFill>
                <a:latin typeface="Arial"/>
                <a:cs typeface="Arial"/>
              </a:rPr>
              <a:t>or it </a:t>
            </a:r>
            <a:r>
              <a:rPr sz="1800" dirty="0">
                <a:solidFill>
                  <a:srgbClr val="595959"/>
                </a:solidFill>
                <a:latin typeface="Arial"/>
                <a:cs typeface="Arial"/>
              </a:rPr>
              <a:t>can </a:t>
            </a:r>
            <a:r>
              <a:rPr sz="1800" spc="-5" dirty="0">
                <a:solidFill>
                  <a:srgbClr val="595959"/>
                </a:solidFill>
                <a:latin typeface="Arial"/>
                <a:cs typeface="Arial"/>
              </a:rPr>
              <a:t>be </a:t>
            </a:r>
            <a:r>
              <a:rPr sz="1800" dirty="0">
                <a:solidFill>
                  <a:srgbClr val="595959"/>
                </a:solidFill>
                <a:latin typeface="Arial"/>
                <a:cs typeface="Arial"/>
              </a:rPr>
              <a:t>a </a:t>
            </a:r>
            <a:r>
              <a:rPr sz="1800" spc="-5" dirty="0">
                <a:solidFill>
                  <a:srgbClr val="595959"/>
                </a:solidFill>
                <a:latin typeface="Arial"/>
                <a:cs typeface="Arial"/>
              </a:rPr>
              <a:t>function of time or other</a:t>
            </a:r>
            <a:r>
              <a:rPr sz="1800" spc="-85" dirty="0">
                <a:solidFill>
                  <a:srgbClr val="595959"/>
                </a:solidFill>
                <a:latin typeface="Arial"/>
                <a:cs typeface="Arial"/>
              </a:rPr>
              <a:t> </a:t>
            </a:r>
            <a:r>
              <a:rPr sz="1800" spc="-5" dirty="0">
                <a:solidFill>
                  <a:srgbClr val="595959"/>
                </a:solidFill>
                <a:latin typeface="Arial"/>
                <a:cs typeface="Arial"/>
              </a:rPr>
              <a:t>quantities.</a:t>
            </a:r>
            <a:endParaRPr sz="1800">
              <a:latin typeface="Arial"/>
              <a:cs typeface="Arial"/>
            </a:endParaRPr>
          </a:p>
        </p:txBody>
      </p:sp>
      <p:sp>
        <p:nvSpPr>
          <p:cNvPr id="4" name="object 4"/>
          <p:cNvSpPr txBox="1"/>
          <p:nvPr/>
        </p:nvSpPr>
        <p:spPr>
          <a:xfrm>
            <a:off x="475249" y="2245055"/>
            <a:ext cx="766445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We need to </a:t>
            </a:r>
            <a:r>
              <a:rPr sz="1800" dirty="0">
                <a:solidFill>
                  <a:srgbClr val="595959"/>
                </a:solidFill>
                <a:latin typeface="Arial"/>
                <a:cs typeface="Arial"/>
              </a:rPr>
              <a:t>solve </a:t>
            </a:r>
            <a:r>
              <a:rPr sz="1800" spc="-5" dirty="0">
                <a:solidFill>
                  <a:srgbClr val="595959"/>
                </a:solidFill>
                <a:latin typeface="Arial"/>
                <a:cs typeface="Arial"/>
              </a:rPr>
              <a:t>an equation that takes both position and its</a:t>
            </a:r>
            <a:r>
              <a:rPr sz="1800" spc="-55" dirty="0">
                <a:solidFill>
                  <a:srgbClr val="595959"/>
                </a:solidFill>
                <a:latin typeface="Arial"/>
                <a:cs typeface="Arial"/>
              </a:rPr>
              <a:t> </a:t>
            </a:r>
            <a:r>
              <a:rPr sz="1800" spc="-5" dirty="0">
                <a:solidFill>
                  <a:srgbClr val="595959"/>
                </a:solidFill>
                <a:latin typeface="Arial"/>
                <a:cs typeface="Arial"/>
              </a:rPr>
              <a:t>derivative:</a:t>
            </a:r>
            <a:endParaRPr sz="1800">
              <a:latin typeface="Arial"/>
              <a:cs typeface="Arial"/>
            </a:endParaRPr>
          </a:p>
        </p:txBody>
      </p:sp>
      <p:sp>
        <p:nvSpPr>
          <p:cNvPr id="5" name="object 5"/>
          <p:cNvSpPr txBox="1"/>
          <p:nvPr/>
        </p:nvSpPr>
        <p:spPr>
          <a:xfrm>
            <a:off x="475249" y="3273755"/>
            <a:ext cx="577532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So we need to </a:t>
            </a:r>
            <a:r>
              <a:rPr sz="1800" dirty="0">
                <a:solidFill>
                  <a:srgbClr val="595959"/>
                </a:solidFill>
                <a:latin typeface="Arial"/>
                <a:cs typeface="Arial"/>
              </a:rPr>
              <a:t>solve </a:t>
            </a:r>
            <a:r>
              <a:rPr sz="1800" spc="-5" dirty="0">
                <a:solidFill>
                  <a:srgbClr val="595959"/>
                </a:solidFill>
                <a:latin typeface="Arial"/>
                <a:cs typeface="Arial"/>
              </a:rPr>
              <a:t>an ordinary differential</a:t>
            </a:r>
            <a:r>
              <a:rPr sz="1800" spc="-80" dirty="0">
                <a:solidFill>
                  <a:srgbClr val="595959"/>
                </a:solidFill>
                <a:latin typeface="Arial"/>
                <a:cs typeface="Arial"/>
              </a:rPr>
              <a:t> </a:t>
            </a:r>
            <a:r>
              <a:rPr sz="1800" spc="-5" dirty="0">
                <a:solidFill>
                  <a:srgbClr val="595959"/>
                </a:solidFill>
                <a:latin typeface="Arial"/>
                <a:cs typeface="Arial"/>
              </a:rPr>
              <a:t>equation.</a:t>
            </a:r>
            <a:endParaRPr sz="1800">
              <a:latin typeface="Arial"/>
              <a:cs typeface="Arial"/>
            </a:endParaRPr>
          </a:p>
        </p:txBody>
      </p:sp>
      <p:sp>
        <p:nvSpPr>
          <p:cNvPr id="6" name="object 6"/>
          <p:cNvSpPr/>
          <p:nvPr/>
        </p:nvSpPr>
        <p:spPr>
          <a:xfrm>
            <a:off x="3182400" y="1752600"/>
            <a:ext cx="2779197" cy="269824"/>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405187" y="2657475"/>
            <a:ext cx="2333624" cy="59054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2282275" cy="520655"/>
          </a:xfrm>
          <a:prstGeom prst="rect">
            <a:avLst/>
          </a:prstGeom>
        </p:spPr>
        <p:txBody>
          <a:bodyPr vert="horz" wrap="square" lIns="0" tIns="12700" rIns="0" bIns="0" rtlCol="0">
            <a:spAutoFit/>
          </a:bodyPr>
          <a:lstStyle/>
          <a:p>
            <a:pPr marL="12700">
              <a:lnSpc>
                <a:spcPct val="100000"/>
              </a:lnSpc>
              <a:spcBef>
                <a:spcPts val="100"/>
              </a:spcBef>
            </a:pPr>
            <a:r>
              <a:rPr spc="-5" dirty="0"/>
              <a:t>Integration</a:t>
            </a:r>
          </a:p>
        </p:txBody>
      </p:sp>
      <p:sp>
        <p:nvSpPr>
          <p:cNvPr id="3" name="object 3"/>
          <p:cNvSpPr txBox="1"/>
          <p:nvPr/>
        </p:nvSpPr>
        <p:spPr>
          <a:xfrm>
            <a:off x="475249" y="1176350"/>
            <a:ext cx="6750050" cy="203390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Instead, we </a:t>
            </a:r>
            <a:r>
              <a:rPr sz="1800" dirty="0">
                <a:solidFill>
                  <a:srgbClr val="595959"/>
                </a:solidFill>
                <a:latin typeface="Arial"/>
                <a:cs typeface="Arial"/>
              </a:rPr>
              <a:t>can </a:t>
            </a:r>
            <a:r>
              <a:rPr sz="1800" spc="-5" dirty="0">
                <a:solidFill>
                  <a:srgbClr val="595959"/>
                </a:solidFill>
                <a:latin typeface="Arial"/>
                <a:cs typeface="Arial"/>
              </a:rPr>
              <a:t>integrate </a:t>
            </a:r>
            <a:r>
              <a:rPr sz="1800" dirty="0">
                <a:solidFill>
                  <a:srgbClr val="595959"/>
                </a:solidFill>
                <a:latin typeface="Arial"/>
                <a:cs typeface="Arial"/>
              </a:rPr>
              <a:t>velocity </a:t>
            </a:r>
            <a:r>
              <a:rPr sz="1800" spc="-5" dirty="0">
                <a:solidFill>
                  <a:srgbClr val="595959"/>
                </a:solidFill>
                <a:latin typeface="Arial"/>
                <a:cs typeface="Arial"/>
              </a:rPr>
              <a:t>over time to </a:t>
            </a:r>
            <a:r>
              <a:rPr sz="1800" dirty="0">
                <a:solidFill>
                  <a:srgbClr val="595959"/>
                </a:solidFill>
                <a:latin typeface="Arial"/>
                <a:cs typeface="Arial"/>
              </a:rPr>
              <a:t>change</a:t>
            </a:r>
            <a:r>
              <a:rPr sz="1800" spc="-85" dirty="0">
                <a:solidFill>
                  <a:srgbClr val="595959"/>
                </a:solidFill>
                <a:latin typeface="Arial"/>
                <a:cs typeface="Arial"/>
              </a:rPr>
              <a:t> </a:t>
            </a:r>
            <a:r>
              <a:rPr sz="1800" spc="-5" dirty="0">
                <a:solidFill>
                  <a:srgbClr val="595959"/>
                </a:solidFill>
                <a:latin typeface="Arial"/>
                <a:cs typeface="Arial"/>
              </a:rPr>
              <a:t>position.</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Integrating acceleration over time </a:t>
            </a:r>
            <a:r>
              <a:rPr sz="1800" dirty="0">
                <a:solidFill>
                  <a:srgbClr val="595959"/>
                </a:solidFill>
                <a:latin typeface="Arial"/>
                <a:cs typeface="Arial"/>
              </a:rPr>
              <a:t>changes</a:t>
            </a:r>
            <a:r>
              <a:rPr sz="1800" spc="-25" dirty="0">
                <a:solidFill>
                  <a:srgbClr val="595959"/>
                </a:solidFill>
                <a:latin typeface="Arial"/>
                <a:cs typeface="Arial"/>
              </a:rPr>
              <a:t> </a:t>
            </a:r>
            <a:r>
              <a:rPr sz="1800" dirty="0">
                <a:solidFill>
                  <a:srgbClr val="595959"/>
                </a:solidFill>
                <a:latin typeface="Arial"/>
                <a:cs typeface="Arial"/>
              </a:rPr>
              <a:t>velocity.</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So twice integrating acceleration over time </a:t>
            </a:r>
            <a:r>
              <a:rPr sz="1800" dirty="0">
                <a:solidFill>
                  <a:srgbClr val="595959"/>
                </a:solidFill>
                <a:latin typeface="Arial"/>
                <a:cs typeface="Arial"/>
              </a:rPr>
              <a:t>changes</a:t>
            </a:r>
            <a:r>
              <a:rPr sz="1800" spc="-55" dirty="0">
                <a:solidFill>
                  <a:srgbClr val="595959"/>
                </a:solidFill>
                <a:latin typeface="Arial"/>
                <a:cs typeface="Arial"/>
              </a:rPr>
              <a:t> </a:t>
            </a:r>
            <a:r>
              <a:rPr sz="1800" spc="-5" dirty="0">
                <a:solidFill>
                  <a:srgbClr val="595959"/>
                </a:solidFill>
                <a:latin typeface="Arial"/>
                <a:cs typeface="Arial"/>
              </a:rPr>
              <a:t>position.</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Each frame</a:t>
            </a:r>
            <a:r>
              <a:rPr sz="1800" spc="-15" dirty="0">
                <a:solidFill>
                  <a:srgbClr val="595959"/>
                </a:solidFill>
                <a:latin typeface="Arial"/>
                <a:cs typeface="Arial"/>
              </a:rPr>
              <a:t> </a:t>
            </a:r>
            <a:r>
              <a:rPr sz="1800" spc="-5" dirty="0">
                <a:solidFill>
                  <a:srgbClr val="595959"/>
                </a:solidFill>
                <a:latin typeface="Arial"/>
                <a:cs typeface="Arial"/>
              </a:rPr>
              <a:t>we…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Integrate acceleration over delta time to get</a:t>
            </a:r>
            <a:r>
              <a:rPr sz="1400" spc="-20" dirty="0">
                <a:solidFill>
                  <a:srgbClr val="595959"/>
                </a:solidFill>
                <a:latin typeface="Arial"/>
                <a:cs typeface="Arial"/>
              </a:rPr>
              <a:t> </a:t>
            </a:r>
            <a:r>
              <a:rPr sz="1400" dirty="0">
                <a:solidFill>
                  <a:srgbClr val="595959"/>
                </a:solidFill>
                <a:latin typeface="Arial"/>
                <a:cs typeface="Arial"/>
              </a:rPr>
              <a:t>velocity.</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Integrate </a:t>
            </a:r>
            <a:r>
              <a:rPr sz="1400" dirty="0">
                <a:solidFill>
                  <a:srgbClr val="595959"/>
                </a:solidFill>
                <a:latin typeface="Arial"/>
                <a:cs typeface="Arial"/>
              </a:rPr>
              <a:t>velocity </a:t>
            </a:r>
            <a:r>
              <a:rPr sz="1400" spc="-5" dirty="0">
                <a:solidFill>
                  <a:srgbClr val="595959"/>
                </a:solidFill>
                <a:latin typeface="Arial"/>
                <a:cs typeface="Arial"/>
              </a:rPr>
              <a:t>over delta time to get</a:t>
            </a:r>
            <a:r>
              <a:rPr sz="1400" spc="-20" dirty="0">
                <a:solidFill>
                  <a:srgbClr val="595959"/>
                </a:solidFill>
                <a:latin typeface="Arial"/>
                <a:cs typeface="Arial"/>
              </a:rPr>
              <a:t> </a:t>
            </a:r>
            <a:r>
              <a:rPr sz="1400" spc="-5" dirty="0">
                <a:solidFill>
                  <a:srgbClr val="595959"/>
                </a:solidFill>
                <a:latin typeface="Arial"/>
                <a:cs typeface="Arial"/>
              </a:rPr>
              <a:t>position.</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Thus the object</a:t>
            </a:r>
            <a:r>
              <a:rPr sz="1400" spc="-10" dirty="0">
                <a:solidFill>
                  <a:srgbClr val="595959"/>
                </a:solidFill>
                <a:latin typeface="Arial"/>
                <a:cs typeface="Arial"/>
              </a:rPr>
              <a:t> </a:t>
            </a:r>
            <a:r>
              <a:rPr sz="1400" dirty="0">
                <a:solidFill>
                  <a:srgbClr val="595959"/>
                </a:solidFill>
                <a:latin typeface="Arial"/>
                <a:cs typeface="Arial"/>
              </a:rPr>
              <a:t>moves.</a:t>
            </a:r>
            <a:endParaRPr sz="14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3501475" cy="520655"/>
          </a:xfrm>
          <a:prstGeom prst="rect">
            <a:avLst/>
          </a:prstGeom>
        </p:spPr>
        <p:txBody>
          <a:bodyPr vert="horz" wrap="square" lIns="0" tIns="12700" rIns="0" bIns="0" rtlCol="0">
            <a:spAutoFit/>
          </a:bodyPr>
          <a:lstStyle/>
          <a:p>
            <a:pPr marL="12700">
              <a:lnSpc>
                <a:spcPct val="100000"/>
              </a:lnSpc>
              <a:spcBef>
                <a:spcPts val="100"/>
              </a:spcBef>
            </a:pPr>
            <a:r>
              <a:rPr spc="-10" dirty="0"/>
              <a:t>Analytical</a:t>
            </a:r>
            <a:r>
              <a:rPr spc="-85" dirty="0"/>
              <a:t> </a:t>
            </a:r>
            <a:r>
              <a:rPr spc="-5" dirty="0"/>
              <a:t>Solution</a:t>
            </a:r>
          </a:p>
        </p:txBody>
      </p:sp>
      <p:sp>
        <p:nvSpPr>
          <p:cNvPr id="3" name="object 3"/>
          <p:cNvSpPr txBox="1"/>
          <p:nvPr/>
        </p:nvSpPr>
        <p:spPr>
          <a:xfrm>
            <a:off x="384725" y="1184098"/>
            <a:ext cx="3715385" cy="1711325"/>
          </a:xfrm>
          <a:prstGeom prst="rect">
            <a:avLst/>
          </a:prstGeom>
        </p:spPr>
        <p:txBody>
          <a:bodyPr vert="horz" wrap="square" lIns="0" tIns="12700" rIns="0" bIns="0" rtlCol="0">
            <a:spAutoFit/>
          </a:bodyPr>
          <a:lstStyle/>
          <a:p>
            <a:pPr marL="12700" marR="129539" algn="just">
              <a:lnSpc>
                <a:spcPct val="116100"/>
              </a:lnSpc>
              <a:spcBef>
                <a:spcPts val="100"/>
              </a:spcBef>
            </a:pPr>
            <a:r>
              <a:rPr sz="1400" spc="-5" dirty="0">
                <a:solidFill>
                  <a:srgbClr val="595959"/>
                </a:solidFill>
                <a:latin typeface="Arial"/>
                <a:cs typeface="Arial"/>
              </a:rPr>
              <a:t>We </a:t>
            </a:r>
            <a:r>
              <a:rPr sz="1400" dirty="0">
                <a:solidFill>
                  <a:srgbClr val="595959"/>
                </a:solidFill>
                <a:latin typeface="Arial"/>
                <a:cs typeface="Arial"/>
              </a:rPr>
              <a:t>can </a:t>
            </a:r>
            <a:r>
              <a:rPr sz="1400" spc="-5" dirty="0">
                <a:solidFill>
                  <a:srgbClr val="595959"/>
                </a:solidFill>
                <a:latin typeface="Arial"/>
                <a:cs typeface="Arial"/>
              </a:rPr>
              <a:t>try an analytic </a:t>
            </a:r>
            <a:r>
              <a:rPr sz="1400" dirty="0">
                <a:solidFill>
                  <a:srgbClr val="595959"/>
                </a:solidFill>
                <a:latin typeface="Arial"/>
                <a:cs typeface="Arial"/>
              </a:rPr>
              <a:t>solution, much </a:t>
            </a:r>
            <a:r>
              <a:rPr sz="1400" spc="-5" dirty="0">
                <a:solidFill>
                  <a:srgbClr val="595959"/>
                </a:solidFill>
                <a:latin typeface="Arial"/>
                <a:cs typeface="Arial"/>
              </a:rPr>
              <a:t>like the  one </a:t>
            </a:r>
            <a:r>
              <a:rPr sz="1400" dirty="0">
                <a:solidFill>
                  <a:srgbClr val="595959"/>
                </a:solidFill>
                <a:latin typeface="Arial"/>
                <a:cs typeface="Arial"/>
              </a:rPr>
              <a:t>you’ll recognize </a:t>
            </a:r>
            <a:r>
              <a:rPr sz="1400" spc="-5" dirty="0">
                <a:solidFill>
                  <a:srgbClr val="595959"/>
                </a:solidFill>
                <a:latin typeface="Arial"/>
                <a:cs typeface="Arial"/>
              </a:rPr>
              <a:t>from high </a:t>
            </a:r>
            <a:r>
              <a:rPr sz="1400" dirty="0">
                <a:solidFill>
                  <a:srgbClr val="595959"/>
                </a:solidFill>
                <a:latin typeface="Arial"/>
                <a:cs typeface="Arial"/>
              </a:rPr>
              <a:t>school</a:t>
            </a:r>
            <a:r>
              <a:rPr sz="1400" spc="-100" dirty="0">
                <a:solidFill>
                  <a:srgbClr val="595959"/>
                </a:solidFill>
                <a:latin typeface="Arial"/>
                <a:cs typeface="Arial"/>
              </a:rPr>
              <a:t> </a:t>
            </a:r>
            <a:r>
              <a:rPr sz="1400" spc="-5" dirty="0">
                <a:solidFill>
                  <a:srgbClr val="595959"/>
                </a:solidFill>
                <a:latin typeface="Arial"/>
                <a:cs typeface="Arial"/>
              </a:rPr>
              <a:t>physics  </a:t>
            </a:r>
            <a:r>
              <a:rPr sz="1400" dirty="0">
                <a:solidFill>
                  <a:srgbClr val="595959"/>
                </a:solidFill>
                <a:latin typeface="Arial"/>
                <a:cs typeface="Arial"/>
              </a:rPr>
              <a:t>class.</a:t>
            </a:r>
            <a:endParaRPr sz="1400">
              <a:latin typeface="Arial"/>
              <a:cs typeface="Arial"/>
            </a:endParaRPr>
          </a:p>
          <a:p>
            <a:pPr>
              <a:lnSpc>
                <a:spcPct val="100000"/>
              </a:lnSpc>
              <a:spcBef>
                <a:spcPts val="20"/>
              </a:spcBef>
            </a:pPr>
            <a:endParaRPr sz="1350">
              <a:latin typeface="Times New Roman"/>
              <a:cs typeface="Times New Roman"/>
            </a:endParaRPr>
          </a:p>
          <a:p>
            <a:pPr marL="12700" marR="5080">
              <a:lnSpc>
                <a:spcPct val="116100"/>
              </a:lnSpc>
            </a:pPr>
            <a:r>
              <a:rPr sz="1400" spc="-5" dirty="0">
                <a:solidFill>
                  <a:srgbClr val="595959"/>
                </a:solidFill>
                <a:latin typeface="Arial"/>
                <a:cs typeface="Arial"/>
              </a:rPr>
              <a:t>But games are interactive. Forces are going to  </a:t>
            </a:r>
            <a:r>
              <a:rPr sz="1400" dirty="0">
                <a:solidFill>
                  <a:srgbClr val="595959"/>
                </a:solidFill>
                <a:latin typeface="Arial"/>
                <a:cs typeface="Arial"/>
              </a:rPr>
              <a:t>change </a:t>
            </a:r>
            <a:r>
              <a:rPr sz="1400" spc="-5" dirty="0">
                <a:solidFill>
                  <a:srgbClr val="595959"/>
                </a:solidFill>
                <a:latin typeface="Arial"/>
                <a:cs typeface="Arial"/>
              </a:rPr>
              <a:t>over time, </a:t>
            </a:r>
            <a:r>
              <a:rPr sz="1400" dirty="0">
                <a:solidFill>
                  <a:srgbClr val="595959"/>
                </a:solidFill>
                <a:latin typeface="Arial"/>
                <a:cs typeface="Arial"/>
              </a:rPr>
              <a:t>making </a:t>
            </a:r>
            <a:r>
              <a:rPr sz="1400" spc="-5" dirty="0">
                <a:solidFill>
                  <a:srgbClr val="595959"/>
                </a:solidFill>
                <a:latin typeface="Arial"/>
                <a:cs typeface="Arial"/>
              </a:rPr>
              <a:t>predicting their  behavior</a:t>
            </a:r>
            <a:r>
              <a:rPr sz="1400" spc="-10" dirty="0">
                <a:solidFill>
                  <a:srgbClr val="595959"/>
                </a:solidFill>
                <a:latin typeface="Arial"/>
                <a:cs typeface="Arial"/>
              </a:rPr>
              <a:t> </a:t>
            </a:r>
            <a:r>
              <a:rPr sz="1400" spc="-5" dirty="0">
                <a:solidFill>
                  <a:srgbClr val="595959"/>
                </a:solidFill>
                <a:latin typeface="Arial"/>
                <a:cs typeface="Arial"/>
              </a:rPr>
              <a:t>impossible.</a:t>
            </a:r>
            <a:endParaRPr sz="1400">
              <a:latin typeface="Arial"/>
              <a:cs typeface="Arial"/>
            </a:endParaRPr>
          </a:p>
        </p:txBody>
      </p:sp>
      <p:sp>
        <p:nvSpPr>
          <p:cNvPr id="4" name="object 4"/>
          <p:cNvSpPr/>
          <p:nvPr/>
        </p:nvSpPr>
        <p:spPr>
          <a:xfrm>
            <a:off x="4453733" y="1545670"/>
            <a:ext cx="4447225" cy="2545664"/>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2703549" cy="520655"/>
          </a:xfrm>
          <a:prstGeom prst="rect">
            <a:avLst/>
          </a:prstGeom>
        </p:spPr>
        <p:txBody>
          <a:bodyPr vert="horz" wrap="square" lIns="0" tIns="12700" rIns="0" bIns="0" rtlCol="0">
            <a:spAutoFit/>
          </a:bodyPr>
          <a:lstStyle/>
          <a:p>
            <a:pPr marL="12700">
              <a:lnSpc>
                <a:spcPct val="100000"/>
              </a:lnSpc>
              <a:spcBef>
                <a:spcPts val="100"/>
              </a:spcBef>
            </a:pPr>
            <a:r>
              <a:rPr spc="-10" dirty="0"/>
              <a:t>Explicit</a:t>
            </a:r>
            <a:r>
              <a:rPr spc="-90" dirty="0"/>
              <a:t> </a:t>
            </a:r>
            <a:r>
              <a:rPr spc="-5" dirty="0"/>
              <a:t>Euler</a:t>
            </a:r>
          </a:p>
        </p:txBody>
      </p:sp>
      <p:sp>
        <p:nvSpPr>
          <p:cNvPr id="3" name="object 3"/>
          <p:cNvSpPr txBox="1"/>
          <p:nvPr/>
        </p:nvSpPr>
        <p:spPr>
          <a:xfrm>
            <a:off x="475249" y="1216355"/>
            <a:ext cx="569150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Given acceleration per </a:t>
            </a:r>
            <a:r>
              <a:rPr sz="1800" dirty="0">
                <a:solidFill>
                  <a:srgbClr val="595959"/>
                </a:solidFill>
                <a:latin typeface="Arial"/>
                <a:cs typeface="Arial"/>
              </a:rPr>
              <a:t>second, </a:t>
            </a:r>
            <a:r>
              <a:rPr sz="1800" b="1" dirty="0">
                <a:solidFill>
                  <a:srgbClr val="595959"/>
                </a:solidFill>
                <a:latin typeface="Arial"/>
                <a:cs typeface="Arial"/>
              </a:rPr>
              <a:t>a</a:t>
            </a:r>
            <a:r>
              <a:rPr sz="1800" dirty="0">
                <a:solidFill>
                  <a:srgbClr val="595959"/>
                </a:solidFill>
                <a:latin typeface="Arial"/>
                <a:cs typeface="Arial"/>
              </a:rPr>
              <a:t>, </a:t>
            </a:r>
            <a:r>
              <a:rPr sz="1800" spc="-5" dirty="0">
                <a:solidFill>
                  <a:srgbClr val="595959"/>
                </a:solidFill>
                <a:latin typeface="Arial"/>
                <a:cs typeface="Arial"/>
              </a:rPr>
              <a:t>and delta time,</a:t>
            </a:r>
            <a:r>
              <a:rPr sz="1800" spc="-45" dirty="0">
                <a:solidFill>
                  <a:srgbClr val="595959"/>
                </a:solidFill>
                <a:latin typeface="Arial"/>
                <a:cs typeface="Arial"/>
              </a:rPr>
              <a:t> </a:t>
            </a:r>
            <a:r>
              <a:rPr sz="1800" spc="5" dirty="0">
                <a:solidFill>
                  <a:srgbClr val="595959"/>
                </a:solidFill>
                <a:latin typeface="Arial"/>
                <a:cs typeface="Arial"/>
              </a:rPr>
              <a:t>∆</a:t>
            </a:r>
            <a:r>
              <a:rPr sz="1800" i="1" spc="5" dirty="0">
                <a:solidFill>
                  <a:srgbClr val="595959"/>
                </a:solidFill>
                <a:latin typeface="Arial"/>
                <a:cs typeface="Arial"/>
              </a:rPr>
              <a:t>t</a:t>
            </a:r>
            <a:r>
              <a:rPr sz="1800" spc="5" dirty="0">
                <a:solidFill>
                  <a:srgbClr val="595959"/>
                </a:solidFill>
                <a:latin typeface="Arial"/>
                <a:cs typeface="Arial"/>
              </a:rPr>
              <a:t>:</a:t>
            </a:r>
            <a:endParaRPr sz="1800">
              <a:latin typeface="Arial"/>
              <a:cs typeface="Arial"/>
            </a:endParaRPr>
          </a:p>
        </p:txBody>
      </p:sp>
      <p:sp>
        <p:nvSpPr>
          <p:cNvPr id="4" name="object 4"/>
          <p:cNvSpPr txBox="1"/>
          <p:nvPr/>
        </p:nvSpPr>
        <p:spPr>
          <a:xfrm>
            <a:off x="475249" y="3273755"/>
            <a:ext cx="261302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Simple enough,</a:t>
            </a:r>
            <a:r>
              <a:rPr sz="1800" spc="-90" dirty="0">
                <a:solidFill>
                  <a:srgbClr val="595959"/>
                </a:solidFill>
                <a:latin typeface="Arial"/>
                <a:cs typeface="Arial"/>
              </a:rPr>
              <a:t> </a:t>
            </a:r>
            <a:r>
              <a:rPr sz="1800" dirty="0">
                <a:solidFill>
                  <a:srgbClr val="595959"/>
                </a:solidFill>
                <a:latin typeface="Arial"/>
                <a:cs typeface="Arial"/>
              </a:rPr>
              <a:t>right?</a:t>
            </a:r>
            <a:endParaRPr sz="1800">
              <a:latin typeface="Arial"/>
              <a:cs typeface="Arial"/>
            </a:endParaRPr>
          </a:p>
        </p:txBody>
      </p:sp>
      <p:sp>
        <p:nvSpPr>
          <p:cNvPr id="5" name="object 5"/>
          <p:cNvSpPr/>
          <p:nvPr/>
        </p:nvSpPr>
        <p:spPr>
          <a:xfrm>
            <a:off x="3681400" y="1919975"/>
            <a:ext cx="1781174" cy="238124"/>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714750" y="2528950"/>
            <a:ext cx="1714499" cy="238124"/>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Rectangle"/>
          <p:cNvSpPr/>
          <p:nvPr/>
        </p:nvSpPr>
        <p:spPr>
          <a:xfrm>
            <a:off x="4223742" y="2377529"/>
            <a:ext cx="3489275" cy="2685604"/>
          </a:xfrm>
          <a:prstGeom prst="rect">
            <a:avLst/>
          </a:prstGeom>
          <a:solidFill>
            <a:srgbClr val="73FCD6"/>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a:defRPr sz="4000"/>
            </a:lvl1pPr>
          </a:lstStyle>
          <a:p>
            <a:r>
              <a:rPr sz="2109"/>
              <a:t>    </a:t>
            </a:r>
          </a:p>
        </p:txBody>
      </p:sp>
      <p:sp>
        <p:nvSpPr>
          <p:cNvPr id="246" name="Rectangle"/>
          <p:cNvSpPr/>
          <p:nvPr/>
        </p:nvSpPr>
        <p:spPr>
          <a:xfrm>
            <a:off x="1651992" y="2377529"/>
            <a:ext cx="2183309" cy="2685604"/>
          </a:xfrm>
          <a:prstGeom prst="rect">
            <a:avLst/>
          </a:prstGeom>
          <a:solidFill>
            <a:srgbClr val="73FCD6"/>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a:defRPr sz="4000"/>
            </a:lvl1pPr>
          </a:lstStyle>
          <a:p>
            <a:r>
              <a:rPr sz="2109"/>
              <a:t>    </a:t>
            </a:r>
          </a:p>
        </p:txBody>
      </p:sp>
      <p:sp>
        <p:nvSpPr>
          <p:cNvPr id="247" name="Euler Foiler"/>
          <p:cNvSpPr txBox="1">
            <a:spLocks noGrp="1"/>
          </p:cNvSpPr>
          <p:nvPr>
            <p:ph type="title"/>
          </p:nvPr>
        </p:nvSpPr>
        <p:spPr>
          <a:prstGeom prst="rect">
            <a:avLst/>
          </a:prstGeom>
        </p:spPr>
        <p:txBody>
          <a:bodyPr>
            <a:normAutofit fontScale="90000"/>
          </a:bodyPr>
          <a:lstStyle/>
          <a:p>
            <a:r>
              <a:t>Euler Foiler</a:t>
            </a:r>
          </a:p>
        </p:txBody>
      </p:sp>
      <p:sp>
        <p:nvSpPr>
          <p:cNvPr id="248" name="A car at rest accelerates at 10 m/s2…"/>
          <p:cNvSpPr txBox="1">
            <a:spLocks noGrp="1"/>
          </p:cNvSpPr>
          <p:nvPr>
            <p:ph type="body" idx="1"/>
          </p:nvPr>
        </p:nvSpPr>
        <p:spPr>
          <a:xfrm>
            <a:off x="1812727" y="1460004"/>
            <a:ext cx="5518547" cy="720710"/>
          </a:xfrm>
          <a:prstGeom prst="rect">
            <a:avLst/>
          </a:prstGeom>
        </p:spPr>
        <p:txBody>
          <a:bodyPr>
            <a:normAutofit fontScale="92500" lnSpcReduction="10000"/>
          </a:bodyPr>
          <a:lstStyle/>
          <a:p>
            <a:r>
              <a:t>A car at rest accelerates at 10 m/s</a:t>
            </a:r>
            <a:r>
              <a:rPr baseline="31999"/>
              <a:t>2</a:t>
            </a:r>
          </a:p>
          <a:p>
            <a:r>
              <a:t>Where will it be after 10 sec?</a:t>
            </a:r>
          </a:p>
        </p:txBody>
      </p:sp>
      <p:sp>
        <p:nvSpPr>
          <p:cNvPr id="249" name="Analytical"/>
          <p:cNvSpPr txBox="1"/>
          <p:nvPr/>
        </p:nvSpPr>
        <p:spPr>
          <a:xfrm>
            <a:off x="2232980" y="2483041"/>
            <a:ext cx="991024" cy="33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lvl1pPr>
              <a:defRPr sz="3500"/>
            </a:lvl1pPr>
          </a:lstStyle>
          <a:p>
            <a:r>
              <a:rPr sz="1846"/>
              <a:t>Analytical</a:t>
            </a:r>
          </a:p>
        </p:txBody>
      </p:sp>
      <p:sp>
        <p:nvSpPr>
          <p:cNvPr id="250" name="t=0:          position = 0             velocity = 0…"/>
          <p:cNvSpPr txBox="1"/>
          <p:nvPr/>
        </p:nvSpPr>
        <p:spPr>
          <a:xfrm>
            <a:off x="4358803" y="2777477"/>
            <a:ext cx="3117312" cy="2374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p>
            <a:pPr algn="l">
              <a:defRPr sz="2600"/>
            </a:pPr>
            <a:r>
              <a:rPr sz="1371"/>
              <a:t>t=0:          position = 0             velocity = 0</a:t>
            </a:r>
          </a:p>
          <a:p>
            <a:pPr algn="l">
              <a:defRPr sz="2600"/>
            </a:pPr>
            <a:r>
              <a:rPr sz="1371"/>
              <a:t>t=1:          position = 0             velocity = 10</a:t>
            </a:r>
          </a:p>
          <a:p>
            <a:pPr algn="l">
              <a:defRPr sz="2600"/>
            </a:pPr>
            <a:r>
              <a:rPr sz="1371"/>
              <a:t>t=2:          position = 10           velocity = 20</a:t>
            </a:r>
          </a:p>
          <a:p>
            <a:pPr algn="l">
              <a:defRPr sz="2600"/>
            </a:pPr>
            <a:r>
              <a:rPr sz="1371"/>
              <a:t>t=3:          position = 30           velocity = 30</a:t>
            </a:r>
          </a:p>
          <a:p>
            <a:pPr algn="l">
              <a:defRPr sz="2600"/>
            </a:pPr>
            <a:r>
              <a:rPr sz="1371"/>
              <a:t>t=4:          position = 60           velocity = 40</a:t>
            </a:r>
          </a:p>
          <a:p>
            <a:pPr algn="l">
              <a:defRPr sz="2600"/>
            </a:pPr>
            <a:r>
              <a:rPr sz="1371"/>
              <a:t>t=5:          position = 100         velocity = 50</a:t>
            </a:r>
          </a:p>
          <a:p>
            <a:pPr algn="l">
              <a:defRPr sz="2600"/>
            </a:pPr>
            <a:r>
              <a:rPr sz="1371"/>
              <a:t>t=6:          position = 150         velocity = 60</a:t>
            </a:r>
          </a:p>
          <a:p>
            <a:pPr algn="l">
              <a:defRPr sz="2600"/>
            </a:pPr>
            <a:r>
              <a:rPr sz="1371"/>
              <a:t>t=7:          position = 210         velocity = 70</a:t>
            </a:r>
          </a:p>
          <a:p>
            <a:pPr algn="l">
              <a:defRPr sz="2600"/>
            </a:pPr>
            <a:r>
              <a:rPr sz="1371"/>
              <a:t>t=8:          position = 280         velocity = 80</a:t>
            </a:r>
          </a:p>
          <a:p>
            <a:pPr algn="l">
              <a:defRPr sz="2600"/>
            </a:pPr>
            <a:r>
              <a:rPr sz="1371"/>
              <a:t>t=9:          position = 360         velocity = 90</a:t>
            </a:r>
          </a:p>
          <a:p>
            <a:pPr algn="l">
              <a:defRPr sz="2600"/>
            </a:pPr>
            <a:r>
              <a:rPr sz="1371"/>
              <a:t>t=10:        position = 450         velocity = 100</a:t>
            </a:r>
          </a:p>
        </p:txBody>
      </p:sp>
      <p:sp>
        <p:nvSpPr>
          <p:cNvPr id="251" name="Explicit Euler"/>
          <p:cNvSpPr txBox="1"/>
          <p:nvPr/>
        </p:nvSpPr>
        <p:spPr>
          <a:xfrm>
            <a:off x="5302316" y="2483041"/>
            <a:ext cx="1285207" cy="33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lvl1pPr>
              <a:defRPr sz="3500"/>
            </a:lvl1pPr>
          </a:lstStyle>
          <a:p>
            <a:r>
              <a:rPr sz="1846"/>
              <a:t>Explicit Euler</a:t>
            </a:r>
          </a:p>
        </p:txBody>
      </p:sp>
      <p:pic>
        <p:nvPicPr>
          <p:cNvPr id="252" name="final.pdf" descr="final.pdf"/>
          <p:cNvPicPr>
            <a:picLocks noChangeAspect="1"/>
          </p:cNvPicPr>
          <p:nvPr/>
        </p:nvPicPr>
        <p:blipFill>
          <a:blip r:embed="rId3">
            <a:extLst/>
          </a:blip>
          <a:stretch>
            <a:fillRect/>
          </a:stretch>
        </p:blipFill>
        <p:spPr>
          <a:xfrm>
            <a:off x="2053828" y="3007072"/>
            <a:ext cx="1372939" cy="508992"/>
          </a:xfrm>
          <a:prstGeom prst="rect">
            <a:avLst/>
          </a:prstGeom>
          <a:ln w="12700">
            <a:miter lim="400000"/>
          </a:ln>
        </p:spPr>
      </p:pic>
      <p:pic>
        <p:nvPicPr>
          <p:cNvPr id="253" name="final.pdf" descr="final.pdf"/>
          <p:cNvPicPr>
            <a:picLocks noChangeAspect="1"/>
          </p:cNvPicPr>
          <p:nvPr/>
        </p:nvPicPr>
        <p:blipFill>
          <a:blip r:embed="rId4">
            <a:extLst/>
          </a:blip>
          <a:stretch>
            <a:fillRect/>
          </a:stretch>
        </p:blipFill>
        <p:spPr>
          <a:xfrm>
            <a:off x="1806029" y="3716983"/>
            <a:ext cx="1881932" cy="508992"/>
          </a:xfrm>
          <a:prstGeom prst="rect">
            <a:avLst/>
          </a:prstGeom>
          <a:ln w="12700">
            <a:miter lim="400000"/>
          </a:ln>
        </p:spPr>
      </p:pic>
      <p:pic>
        <p:nvPicPr>
          <p:cNvPr id="254" name="final.pdf" descr="final.pdf"/>
          <p:cNvPicPr>
            <a:picLocks noChangeAspect="1"/>
          </p:cNvPicPr>
          <p:nvPr/>
        </p:nvPicPr>
        <p:blipFill>
          <a:blip r:embed="rId5">
            <a:extLst/>
          </a:blip>
          <a:stretch>
            <a:fillRect/>
          </a:stretch>
        </p:blipFill>
        <p:spPr>
          <a:xfrm>
            <a:off x="2348508" y="4567535"/>
            <a:ext cx="790277" cy="194221"/>
          </a:xfrm>
          <a:prstGeom prst="rect">
            <a:avLst/>
          </a:prstGeom>
          <a:ln w="12700">
            <a:miter lim="400000"/>
          </a:ln>
        </p:spPr>
      </p:pic>
      <p:pic>
        <p:nvPicPr>
          <p:cNvPr id="255" name="droppedImage.png" descr="droppedImage.png"/>
          <p:cNvPicPr>
            <a:picLocks noChangeAspect="1"/>
          </p:cNvPicPr>
          <p:nvPr/>
        </p:nvPicPr>
        <p:blipFill>
          <a:blip r:embed="rId6">
            <a:extLst/>
          </a:blip>
          <a:stretch>
            <a:fillRect/>
          </a:stretch>
        </p:blipFill>
        <p:spPr>
          <a:xfrm>
            <a:off x="6467326" y="261194"/>
            <a:ext cx="1245691" cy="1245691"/>
          </a:xfrm>
          <a:prstGeom prst="rect">
            <a:avLst/>
          </a:prstGeom>
          <a:ln w="12700">
            <a:miter lim="400000"/>
          </a:ln>
        </p:spPr>
      </p:pic>
    </p:spTree>
    <p:extLst>
      <p:ext uri="{BB962C8B-B14F-4D97-AF65-F5344CB8AC3E}">
        <p14:creationId xmlns:p14="http://schemas.microsoft.com/office/powerpoint/2010/main" val="88957017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48">
                                            <p:bg/>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24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48">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4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24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p:tmAbs val="0"/>
                                  </p:iterate>
                                  <p:childTnLst>
                                    <p:set>
                                      <p:cBhvr>
                                        <p:cTn id="27" fill="hold"/>
                                        <p:tgtEl>
                                          <p:spTgt spid="25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p:tmAbs val="0"/>
                                  </p:iterate>
                                  <p:childTnLst>
                                    <p:set>
                                      <p:cBhvr>
                                        <p:cTn id="31" fill="hold"/>
                                        <p:tgtEl>
                                          <p:spTgt spid="25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p:tmAbs val="0"/>
                                  </p:iterate>
                                  <p:childTnLst>
                                    <p:set>
                                      <p:cBhvr>
                                        <p:cTn id="35" fill="hold"/>
                                        <p:tgtEl>
                                          <p:spTgt spid="25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p:tmAbs val="0"/>
                                  </p:iterate>
                                  <p:childTnLst>
                                    <p:set>
                                      <p:cBhvr>
                                        <p:cTn id="39" fill="hold"/>
                                        <p:tgtEl>
                                          <p:spTgt spid="251"/>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iterate>
                                    <p:tmAbs val="0"/>
                                  </p:iterate>
                                  <p:childTnLst>
                                    <p:set>
                                      <p:cBhvr>
                                        <p:cTn id="42" fill="hold"/>
                                        <p:tgtEl>
                                          <p:spTgt spid="2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 grpId="0" animBg="1" advAuto="0"/>
      <p:bldP spid="246" grpId="0" animBg="1" advAuto="0"/>
      <p:bldP spid="248" grpId="0" build="p" bldLvl="5" animBg="1" advAuto="0"/>
      <p:bldP spid="249" grpId="0" animBg="1" advAuto="0"/>
      <p:bldP spid="250" grpId="0" animBg="1" advAuto="0"/>
      <p:bldP spid="251" grpId="0" animBg="1" advAuto="0"/>
      <p:bldP spid="252" grpId="0" animBg="1" advAuto="0"/>
      <p:bldP spid="253" grpId="0" animBg="1" advAuto="0"/>
      <p:bldP spid="254" grpId="0" animBg="1" advAuto="0"/>
      <p:bldP spid="255"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886710" cy="452120"/>
          </a:xfrm>
          <a:prstGeom prst="rect">
            <a:avLst/>
          </a:prstGeom>
        </p:spPr>
        <p:txBody>
          <a:bodyPr vert="horz" wrap="square" lIns="0" tIns="12700" rIns="0" bIns="0" rtlCol="0">
            <a:spAutoFit/>
          </a:bodyPr>
          <a:lstStyle/>
          <a:p>
            <a:pPr marL="12700">
              <a:lnSpc>
                <a:spcPct val="100000"/>
              </a:lnSpc>
              <a:spcBef>
                <a:spcPts val="100"/>
              </a:spcBef>
            </a:pPr>
            <a:r>
              <a:rPr spc="-5" dirty="0"/>
              <a:t>Wait, what?</a:t>
            </a:r>
            <a:r>
              <a:rPr spc="-95" dirty="0"/>
              <a:t> </a:t>
            </a:r>
            <a:r>
              <a:rPr spc="-5" dirty="0"/>
              <a:t>How?</a:t>
            </a:r>
          </a:p>
        </p:txBody>
      </p:sp>
      <p:sp>
        <p:nvSpPr>
          <p:cNvPr id="3" name="object 3"/>
          <p:cNvSpPr txBox="1"/>
          <p:nvPr/>
        </p:nvSpPr>
        <p:spPr>
          <a:xfrm>
            <a:off x="475249" y="1162308"/>
            <a:ext cx="6950709" cy="2040255"/>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We’ve discretized the </a:t>
            </a:r>
            <a:r>
              <a:rPr sz="1800" dirty="0">
                <a:solidFill>
                  <a:srgbClr val="595959"/>
                </a:solidFill>
                <a:latin typeface="Arial"/>
                <a:cs typeface="Arial"/>
              </a:rPr>
              <a:t>change </a:t>
            </a:r>
            <a:r>
              <a:rPr sz="1800" spc="-5" dirty="0">
                <a:solidFill>
                  <a:srgbClr val="595959"/>
                </a:solidFill>
                <a:latin typeface="Arial"/>
                <a:cs typeface="Arial"/>
              </a:rPr>
              <a:t>in </a:t>
            </a:r>
            <a:r>
              <a:rPr sz="1800" dirty="0">
                <a:solidFill>
                  <a:srgbClr val="595959"/>
                </a:solidFill>
                <a:latin typeface="Arial"/>
                <a:cs typeface="Arial"/>
              </a:rPr>
              <a:t>velocity </a:t>
            </a:r>
            <a:r>
              <a:rPr sz="1800" spc="-5" dirty="0">
                <a:solidFill>
                  <a:srgbClr val="595959"/>
                </a:solidFill>
                <a:latin typeface="Arial"/>
                <a:cs typeface="Arial"/>
              </a:rPr>
              <a:t>over</a:t>
            </a:r>
            <a:r>
              <a:rPr sz="1800" spc="-90" dirty="0">
                <a:solidFill>
                  <a:srgbClr val="595959"/>
                </a:solidFill>
                <a:latin typeface="Arial"/>
                <a:cs typeface="Arial"/>
              </a:rPr>
              <a:t> </a:t>
            </a:r>
            <a:r>
              <a:rPr sz="1800" spc="-5" dirty="0">
                <a:solidFill>
                  <a:srgbClr val="595959"/>
                </a:solidFill>
                <a:latin typeface="Arial"/>
                <a:cs typeface="Arial"/>
              </a:rPr>
              <a:t>time.</a:t>
            </a:r>
            <a:endParaRPr sz="1800" dirty="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At each timestep, we apply the full </a:t>
            </a:r>
            <a:r>
              <a:rPr sz="1400" dirty="0">
                <a:solidFill>
                  <a:srgbClr val="595959"/>
                </a:solidFill>
                <a:latin typeface="Arial"/>
                <a:cs typeface="Arial"/>
              </a:rPr>
              <a:t>change </a:t>
            </a:r>
            <a:r>
              <a:rPr sz="1400" spc="-5" dirty="0">
                <a:solidFill>
                  <a:srgbClr val="595959"/>
                </a:solidFill>
                <a:latin typeface="Arial"/>
                <a:cs typeface="Arial"/>
              </a:rPr>
              <a:t>in</a:t>
            </a:r>
            <a:r>
              <a:rPr sz="1400" spc="-70" dirty="0">
                <a:solidFill>
                  <a:srgbClr val="595959"/>
                </a:solidFill>
                <a:latin typeface="Arial"/>
                <a:cs typeface="Arial"/>
              </a:rPr>
              <a:t> </a:t>
            </a:r>
            <a:r>
              <a:rPr sz="1400" dirty="0">
                <a:solidFill>
                  <a:srgbClr val="595959"/>
                </a:solidFill>
                <a:latin typeface="Arial"/>
                <a:cs typeface="Arial"/>
              </a:rPr>
              <a:t>velocity.</a:t>
            </a:r>
            <a:endParaRPr sz="1400" dirty="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In the </a:t>
            </a:r>
            <a:r>
              <a:rPr sz="1800" dirty="0">
                <a:solidFill>
                  <a:srgbClr val="595959"/>
                </a:solidFill>
                <a:latin typeface="Arial"/>
                <a:cs typeface="Arial"/>
              </a:rPr>
              <a:t>real </a:t>
            </a:r>
            <a:r>
              <a:rPr sz="1800" spc="-5" dirty="0">
                <a:solidFill>
                  <a:srgbClr val="595959"/>
                </a:solidFill>
                <a:latin typeface="Arial"/>
                <a:cs typeface="Arial"/>
              </a:rPr>
              <a:t>world, the </a:t>
            </a:r>
            <a:r>
              <a:rPr sz="1800" dirty="0">
                <a:solidFill>
                  <a:srgbClr val="595959"/>
                </a:solidFill>
                <a:latin typeface="Arial"/>
                <a:cs typeface="Arial"/>
              </a:rPr>
              <a:t>velocity </a:t>
            </a:r>
            <a:r>
              <a:rPr sz="1800" spc="-5" dirty="0">
                <a:solidFill>
                  <a:srgbClr val="595959"/>
                </a:solidFill>
                <a:latin typeface="Arial"/>
                <a:cs typeface="Arial"/>
              </a:rPr>
              <a:t>was </a:t>
            </a:r>
            <a:r>
              <a:rPr sz="1800" dirty="0">
                <a:solidFill>
                  <a:srgbClr val="595959"/>
                </a:solidFill>
                <a:latin typeface="Arial"/>
                <a:cs typeface="Arial"/>
              </a:rPr>
              <a:t>changing </a:t>
            </a:r>
            <a:r>
              <a:rPr sz="1800" spc="-5" dirty="0">
                <a:solidFill>
                  <a:srgbClr val="595959"/>
                </a:solidFill>
                <a:latin typeface="Arial"/>
                <a:cs typeface="Arial"/>
              </a:rPr>
              <a:t>through the</a:t>
            </a:r>
            <a:r>
              <a:rPr sz="1800" spc="-85" dirty="0">
                <a:solidFill>
                  <a:srgbClr val="595959"/>
                </a:solidFill>
                <a:latin typeface="Arial"/>
                <a:cs typeface="Arial"/>
              </a:rPr>
              <a:t> </a:t>
            </a:r>
            <a:r>
              <a:rPr sz="1800" spc="-5" dirty="0">
                <a:solidFill>
                  <a:srgbClr val="595959"/>
                </a:solidFill>
                <a:latin typeface="Arial"/>
                <a:cs typeface="Arial"/>
              </a:rPr>
              <a:t>timestep.</a:t>
            </a:r>
            <a:endParaRPr sz="1800" dirty="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So at time 1.5, </a:t>
            </a:r>
            <a:r>
              <a:rPr sz="1400" dirty="0">
                <a:solidFill>
                  <a:srgbClr val="595959"/>
                </a:solidFill>
                <a:latin typeface="Arial"/>
                <a:cs typeface="Arial"/>
              </a:rPr>
              <a:t>velocity </a:t>
            </a:r>
            <a:r>
              <a:rPr sz="1400" spc="-5" dirty="0">
                <a:solidFill>
                  <a:srgbClr val="595959"/>
                </a:solidFill>
                <a:latin typeface="Arial"/>
                <a:cs typeface="Arial"/>
              </a:rPr>
              <a:t>was</a:t>
            </a:r>
            <a:r>
              <a:rPr sz="1400" spc="-20" dirty="0">
                <a:solidFill>
                  <a:srgbClr val="595959"/>
                </a:solidFill>
                <a:latin typeface="Arial"/>
                <a:cs typeface="Arial"/>
              </a:rPr>
              <a:t> </a:t>
            </a:r>
            <a:r>
              <a:rPr sz="1400" spc="-5" dirty="0">
                <a:solidFill>
                  <a:srgbClr val="595959"/>
                </a:solidFill>
                <a:latin typeface="Arial"/>
                <a:cs typeface="Arial"/>
              </a:rPr>
              <a:t>15.</a:t>
            </a:r>
            <a:endParaRPr sz="1400" dirty="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Our </a:t>
            </a:r>
            <a:r>
              <a:rPr sz="1400" dirty="0">
                <a:solidFill>
                  <a:srgbClr val="595959"/>
                </a:solidFill>
                <a:latin typeface="Arial"/>
                <a:cs typeface="Arial"/>
              </a:rPr>
              <a:t>calculation </a:t>
            </a:r>
            <a:r>
              <a:rPr sz="1400" spc="-5" dirty="0">
                <a:solidFill>
                  <a:srgbClr val="595959"/>
                </a:solidFill>
                <a:latin typeface="Arial"/>
                <a:cs typeface="Arial"/>
              </a:rPr>
              <a:t>assumed it was</a:t>
            </a:r>
            <a:r>
              <a:rPr sz="1400" spc="-20" dirty="0">
                <a:solidFill>
                  <a:srgbClr val="595959"/>
                </a:solidFill>
                <a:latin typeface="Arial"/>
                <a:cs typeface="Arial"/>
              </a:rPr>
              <a:t> </a:t>
            </a:r>
            <a:r>
              <a:rPr sz="1400" spc="-5" dirty="0">
                <a:solidFill>
                  <a:srgbClr val="595959"/>
                </a:solidFill>
                <a:latin typeface="Arial"/>
                <a:cs typeface="Arial"/>
              </a:rPr>
              <a:t>20.</a:t>
            </a:r>
            <a:endParaRPr sz="1400" dirty="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This leads to an overestimation of the distance the </a:t>
            </a:r>
            <a:r>
              <a:rPr sz="1800" dirty="0">
                <a:solidFill>
                  <a:srgbClr val="595959"/>
                </a:solidFill>
                <a:latin typeface="Arial"/>
                <a:cs typeface="Arial"/>
              </a:rPr>
              <a:t>car</a:t>
            </a:r>
            <a:r>
              <a:rPr sz="1800" spc="-45" dirty="0">
                <a:solidFill>
                  <a:srgbClr val="595959"/>
                </a:solidFill>
                <a:latin typeface="Arial"/>
                <a:cs typeface="Arial"/>
              </a:rPr>
              <a:t> </a:t>
            </a:r>
            <a:r>
              <a:rPr sz="1800" spc="-5" dirty="0">
                <a:solidFill>
                  <a:srgbClr val="595959"/>
                </a:solidFill>
                <a:latin typeface="Arial"/>
                <a:cs typeface="Arial"/>
              </a:rPr>
              <a:t>travels.</a:t>
            </a:r>
            <a:endParaRPr sz="1800" dirty="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One </a:t>
            </a:r>
            <a:r>
              <a:rPr sz="1800" dirty="0">
                <a:solidFill>
                  <a:srgbClr val="595959"/>
                </a:solidFill>
                <a:latin typeface="Arial"/>
                <a:cs typeface="Arial"/>
              </a:rPr>
              <a:t>second </a:t>
            </a:r>
            <a:r>
              <a:rPr sz="1800" spc="-5" dirty="0">
                <a:solidFill>
                  <a:srgbClr val="595959"/>
                </a:solidFill>
                <a:latin typeface="Arial"/>
                <a:cs typeface="Arial"/>
              </a:rPr>
              <a:t>timesteps are obviously an</a:t>
            </a:r>
            <a:r>
              <a:rPr sz="1800" spc="-30" dirty="0">
                <a:solidFill>
                  <a:srgbClr val="595959"/>
                </a:solidFill>
                <a:latin typeface="Arial"/>
                <a:cs typeface="Arial"/>
              </a:rPr>
              <a:t> </a:t>
            </a:r>
            <a:r>
              <a:rPr sz="1800" spc="-5" dirty="0">
                <a:solidFill>
                  <a:srgbClr val="595959"/>
                </a:solidFill>
                <a:latin typeface="Arial"/>
                <a:cs typeface="Arial"/>
              </a:rPr>
              <a:t>exaggeration.</a:t>
            </a:r>
            <a:endParaRPr sz="1800" dirty="0">
              <a:latin typeface="Arial"/>
              <a:cs typeface="Aria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roperties of Numerical Methods"/>
          <p:cNvSpPr txBox="1">
            <a:spLocks noGrp="1"/>
          </p:cNvSpPr>
          <p:nvPr>
            <p:ph type="title"/>
          </p:nvPr>
        </p:nvSpPr>
        <p:spPr>
          <a:prstGeom prst="rect">
            <a:avLst/>
          </a:prstGeom>
        </p:spPr>
        <p:txBody>
          <a:bodyPr>
            <a:normAutofit fontScale="90000"/>
          </a:bodyPr>
          <a:lstStyle/>
          <a:p>
            <a:r>
              <a:t>Properties of Numerical Methods</a:t>
            </a:r>
          </a:p>
        </p:txBody>
      </p:sp>
      <p:sp>
        <p:nvSpPr>
          <p:cNvPr id="260" name="A numerical solution to an ODE has three interrelated properties:…"/>
          <p:cNvSpPr txBox="1">
            <a:spLocks noGrp="1"/>
          </p:cNvSpPr>
          <p:nvPr>
            <p:ph type="body" idx="1"/>
          </p:nvPr>
        </p:nvSpPr>
        <p:spPr>
          <a:xfrm>
            <a:off x="1812727" y="1453307"/>
            <a:ext cx="5518547" cy="2962349"/>
          </a:xfrm>
          <a:prstGeom prst="rect">
            <a:avLst/>
          </a:prstGeom>
        </p:spPr>
        <p:txBody>
          <a:bodyPr/>
          <a:lstStyle/>
          <a:p>
            <a:pPr marL="425719" indent="-258302">
              <a:defRPr sz="3600"/>
            </a:pPr>
            <a:r>
              <a:rPr sz="1600" dirty="0"/>
              <a:t>A numerical solution to an ODE has three interrelated properties:</a:t>
            </a:r>
          </a:p>
          <a:p>
            <a:pPr marL="660104" lvl="1" indent="-258302">
              <a:defRPr sz="3600"/>
            </a:pPr>
            <a:r>
              <a:rPr sz="1600" dirty="0"/>
              <a:t>Convergence – as </a:t>
            </a:r>
            <a:r>
              <a:rPr sz="1600" dirty="0" err="1"/>
              <a:t>Δt</a:t>
            </a:r>
            <a:r>
              <a:rPr sz="1600" dirty="0"/>
              <a:t> approaches zero, does the approximate solution approach the real solution?</a:t>
            </a:r>
          </a:p>
          <a:p>
            <a:pPr marL="660104" lvl="1" indent="-258302">
              <a:defRPr sz="3600"/>
            </a:pPr>
            <a:r>
              <a:rPr sz="1600" dirty="0"/>
              <a:t>Order – how “bad” is the error? Typically proportional to some power of </a:t>
            </a:r>
            <a:r>
              <a:rPr sz="1600" dirty="0" err="1"/>
              <a:t>Δt</a:t>
            </a:r>
            <a:r>
              <a:rPr sz="1600" dirty="0"/>
              <a:t> (uses Taylor series expansion in a similar manner to the Jacobian Inverse IK Solver)</a:t>
            </a:r>
          </a:p>
          <a:p>
            <a:pPr marL="660104" lvl="1" indent="-258302">
              <a:defRPr sz="3600"/>
            </a:pPr>
            <a:r>
              <a:rPr sz="1600" dirty="0"/>
              <a:t>Stability – does the solution add energy to the system? Object velocities could “explode” and destabilize the system</a:t>
            </a:r>
          </a:p>
        </p:txBody>
      </p:sp>
    </p:spTree>
    <p:extLst>
      <p:ext uri="{BB962C8B-B14F-4D97-AF65-F5344CB8AC3E}">
        <p14:creationId xmlns:p14="http://schemas.microsoft.com/office/powerpoint/2010/main" val="335653139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6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60">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260">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260">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2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 grpId="0"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Fourth-Order Runge–Kutta Numerical Integration"/>
          <p:cNvSpPr txBox="1">
            <a:spLocks noGrp="1"/>
          </p:cNvSpPr>
          <p:nvPr>
            <p:ph type="title"/>
          </p:nvPr>
        </p:nvSpPr>
        <p:spPr>
          <a:xfrm>
            <a:off x="1812727" y="457261"/>
            <a:ext cx="5382754" cy="876266"/>
          </a:xfrm>
          <a:prstGeom prst="rect">
            <a:avLst/>
          </a:prstGeom>
        </p:spPr>
        <p:txBody>
          <a:bodyPr/>
          <a:lstStyle>
            <a:lvl1pPr>
              <a:defRPr sz="7200"/>
            </a:lvl1pPr>
          </a:lstStyle>
          <a:p>
            <a:r>
              <a:rPr sz="2847" dirty="0"/>
              <a:t>Fourth-Order </a:t>
            </a:r>
            <a:r>
              <a:rPr sz="2847" dirty="0" err="1"/>
              <a:t>Runge</a:t>
            </a:r>
            <a:r>
              <a:rPr sz="2847" dirty="0"/>
              <a:t>–</a:t>
            </a:r>
            <a:r>
              <a:rPr sz="2847" dirty="0" err="1"/>
              <a:t>Kutta</a:t>
            </a:r>
            <a:r>
              <a:rPr sz="2847" dirty="0"/>
              <a:t> Numerical Integration</a:t>
            </a:r>
          </a:p>
        </p:txBody>
      </p:sp>
      <p:pic>
        <p:nvPicPr>
          <p:cNvPr id="272" name="final.pdf" descr="final.pdf"/>
          <p:cNvPicPr>
            <a:picLocks noChangeAspect="1"/>
          </p:cNvPicPr>
          <p:nvPr/>
        </p:nvPicPr>
        <p:blipFill>
          <a:blip r:embed="rId3">
            <a:extLst/>
          </a:blip>
          <a:stretch>
            <a:fillRect/>
          </a:stretch>
        </p:blipFill>
        <p:spPr>
          <a:xfrm>
            <a:off x="3915668" y="1995785"/>
            <a:ext cx="1312664" cy="241102"/>
          </a:xfrm>
          <a:prstGeom prst="rect">
            <a:avLst/>
          </a:prstGeom>
          <a:ln w="12700">
            <a:miter lim="400000"/>
          </a:ln>
        </p:spPr>
      </p:pic>
      <p:pic>
        <p:nvPicPr>
          <p:cNvPr id="273" name="final.pdf" descr="final.pdf"/>
          <p:cNvPicPr>
            <a:picLocks noChangeAspect="1"/>
          </p:cNvPicPr>
          <p:nvPr/>
        </p:nvPicPr>
        <p:blipFill>
          <a:blip r:embed="rId4">
            <a:extLst/>
          </a:blip>
          <a:stretch>
            <a:fillRect/>
          </a:stretch>
        </p:blipFill>
        <p:spPr>
          <a:xfrm>
            <a:off x="3480346" y="1567160"/>
            <a:ext cx="2190006" cy="261193"/>
          </a:xfrm>
          <a:prstGeom prst="rect">
            <a:avLst/>
          </a:prstGeom>
          <a:ln w="12700">
            <a:miter lim="400000"/>
          </a:ln>
        </p:spPr>
      </p:pic>
      <p:pic>
        <p:nvPicPr>
          <p:cNvPr id="274" name="final.pdf" descr="final.pdf"/>
          <p:cNvPicPr>
            <a:picLocks noChangeAspect="1"/>
          </p:cNvPicPr>
          <p:nvPr/>
        </p:nvPicPr>
        <p:blipFill>
          <a:blip r:embed="rId5">
            <a:extLst/>
          </a:blip>
          <a:stretch>
            <a:fillRect/>
          </a:stretch>
        </p:blipFill>
        <p:spPr>
          <a:xfrm>
            <a:off x="2877592" y="4601021"/>
            <a:ext cx="3382119" cy="522387"/>
          </a:xfrm>
          <a:prstGeom prst="rect">
            <a:avLst/>
          </a:prstGeom>
          <a:ln w="12700">
            <a:miter lim="400000"/>
          </a:ln>
        </p:spPr>
      </p:pic>
      <p:pic>
        <p:nvPicPr>
          <p:cNvPr id="275" name="final.pdf" descr="final.pdf"/>
          <p:cNvPicPr>
            <a:picLocks noChangeAspect="1"/>
          </p:cNvPicPr>
          <p:nvPr/>
        </p:nvPicPr>
        <p:blipFill>
          <a:blip r:embed="rId6">
            <a:extLst/>
          </a:blip>
          <a:stretch>
            <a:fillRect/>
          </a:stretch>
        </p:blipFill>
        <p:spPr>
          <a:xfrm>
            <a:off x="3935760" y="2384227"/>
            <a:ext cx="1279178" cy="261193"/>
          </a:xfrm>
          <a:prstGeom prst="rect">
            <a:avLst/>
          </a:prstGeom>
          <a:ln w="12700">
            <a:miter lim="400000"/>
          </a:ln>
        </p:spPr>
      </p:pic>
      <p:pic>
        <p:nvPicPr>
          <p:cNvPr id="276" name="final.pdf" descr="final.pdf"/>
          <p:cNvPicPr>
            <a:picLocks noChangeAspect="1"/>
          </p:cNvPicPr>
          <p:nvPr/>
        </p:nvPicPr>
        <p:blipFill>
          <a:blip r:embed="rId7">
            <a:extLst/>
          </a:blip>
          <a:stretch>
            <a:fillRect/>
          </a:stretch>
        </p:blipFill>
        <p:spPr>
          <a:xfrm>
            <a:off x="3359795" y="4266158"/>
            <a:ext cx="2424410" cy="261193"/>
          </a:xfrm>
          <a:prstGeom prst="rect">
            <a:avLst/>
          </a:prstGeom>
          <a:ln w="12700">
            <a:miter lim="400000"/>
          </a:ln>
        </p:spPr>
      </p:pic>
      <p:pic>
        <p:nvPicPr>
          <p:cNvPr id="277" name="final.pdf" descr="final.pdf"/>
          <p:cNvPicPr>
            <a:picLocks noChangeAspect="1"/>
          </p:cNvPicPr>
          <p:nvPr/>
        </p:nvPicPr>
        <p:blipFill>
          <a:blip r:embed="rId8">
            <a:extLst/>
          </a:blip>
          <a:stretch>
            <a:fillRect/>
          </a:stretch>
        </p:blipFill>
        <p:spPr>
          <a:xfrm>
            <a:off x="3245942" y="2832943"/>
            <a:ext cx="2652117" cy="602754"/>
          </a:xfrm>
          <a:prstGeom prst="rect">
            <a:avLst/>
          </a:prstGeom>
          <a:ln w="12700">
            <a:miter lim="400000"/>
          </a:ln>
        </p:spPr>
      </p:pic>
      <p:pic>
        <p:nvPicPr>
          <p:cNvPr id="278" name="final.pdf" descr="final.pdf"/>
          <p:cNvPicPr>
            <a:picLocks noChangeAspect="1"/>
          </p:cNvPicPr>
          <p:nvPr/>
        </p:nvPicPr>
        <p:blipFill>
          <a:blip r:embed="rId9">
            <a:extLst/>
          </a:blip>
          <a:stretch>
            <a:fillRect/>
          </a:stretch>
        </p:blipFill>
        <p:spPr>
          <a:xfrm>
            <a:off x="3245942" y="3529459"/>
            <a:ext cx="2652117" cy="602754"/>
          </a:xfrm>
          <a:prstGeom prst="rect">
            <a:avLst/>
          </a:prstGeom>
          <a:ln w="12700">
            <a:miter lim="400000"/>
          </a:ln>
        </p:spPr>
      </p:pic>
    </p:spTree>
    <p:extLst>
      <p:ext uri="{BB962C8B-B14F-4D97-AF65-F5344CB8AC3E}">
        <p14:creationId xmlns:p14="http://schemas.microsoft.com/office/powerpoint/2010/main" val="230474812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 grpId="0" animBg="1" advAuto="0"/>
      <p:bldP spid="275" grpId="0" animBg="1" advAuto="0"/>
      <p:bldP spid="276" grpId="0" animBg="1" advAuto="0"/>
      <p:bldP spid="277" grpId="0" animBg="1" advAuto="0"/>
      <p:bldP spid="278"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2" name="droppedImage.png" descr="droppedImage.png"/>
          <p:cNvPicPr>
            <a:picLocks noChangeAspect="1"/>
          </p:cNvPicPr>
          <p:nvPr/>
        </p:nvPicPr>
        <p:blipFill>
          <a:blip r:embed="rId2">
            <a:extLst/>
          </a:blip>
          <a:stretch>
            <a:fillRect/>
          </a:stretch>
        </p:blipFill>
        <p:spPr>
          <a:xfrm>
            <a:off x="2469059" y="909553"/>
            <a:ext cx="4205883" cy="3316422"/>
          </a:xfrm>
          <a:prstGeom prst="rect">
            <a:avLst/>
          </a:prstGeom>
          <a:ln w="12700">
            <a:miter lim="400000"/>
          </a:ln>
        </p:spPr>
      </p:pic>
    </p:spTree>
    <p:extLst>
      <p:ext uri="{BB962C8B-B14F-4D97-AF65-F5344CB8AC3E}">
        <p14:creationId xmlns:p14="http://schemas.microsoft.com/office/powerpoint/2010/main" val="4005447799"/>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Shape"/>
          <p:cNvSpPr/>
          <p:nvPr/>
        </p:nvSpPr>
        <p:spPr>
          <a:xfrm>
            <a:off x="2462362" y="1031379"/>
            <a:ext cx="4219277" cy="3080742"/>
          </a:xfrm>
          <a:custGeom>
            <a:avLst/>
            <a:gdLst/>
            <a:ahLst/>
            <a:cxnLst>
              <a:cxn ang="0">
                <a:pos x="wd2" y="hd2"/>
              </a:cxn>
              <a:cxn ang="5400000">
                <a:pos x="wd2" y="hd2"/>
              </a:cxn>
              <a:cxn ang="10800000">
                <a:pos x="wd2" y="hd2"/>
              </a:cxn>
              <a:cxn ang="16200000">
                <a:pos x="wd2" y="hd2"/>
              </a:cxn>
            </a:cxnLst>
            <a:rect l="0" t="0" r="r" b="b"/>
            <a:pathLst>
              <a:path w="21600" h="21600" extrusionOk="0">
                <a:moveTo>
                  <a:pt x="926" y="8922"/>
                </a:moveTo>
                <a:lnTo>
                  <a:pt x="6994" y="2160"/>
                </a:lnTo>
                <a:lnTo>
                  <a:pt x="13166" y="0"/>
                </a:lnTo>
                <a:lnTo>
                  <a:pt x="18583" y="1127"/>
                </a:lnTo>
                <a:lnTo>
                  <a:pt x="21600" y="7513"/>
                </a:lnTo>
                <a:lnTo>
                  <a:pt x="20434" y="13617"/>
                </a:lnTo>
                <a:lnTo>
                  <a:pt x="17211" y="17984"/>
                </a:lnTo>
                <a:lnTo>
                  <a:pt x="8366" y="21600"/>
                </a:lnTo>
                <a:lnTo>
                  <a:pt x="1886" y="17468"/>
                </a:lnTo>
                <a:lnTo>
                  <a:pt x="0" y="13289"/>
                </a:lnTo>
                <a:lnTo>
                  <a:pt x="926" y="8922"/>
                </a:lnTo>
                <a:close/>
              </a:path>
            </a:pathLst>
          </a:custGeom>
          <a:ln w="25400">
            <a:solidFill>
              <a:srgbClr val="000000"/>
            </a:solidFill>
            <a:miter lim="400000"/>
            <a:headEnd type="stealth"/>
          </a:ln>
        </p:spPr>
        <p:txBody>
          <a:bodyPr lIns="26789" tIns="26789" rIns="26789" bIns="26789" anchor="ctr"/>
          <a:lstStyle/>
          <a:p>
            <a:pPr>
              <a:defRPr>
                <a:latin typeface="Gill Sans"/>
                <a:ea typeface="Gill Sans"/>
                <a:cs typeface="Gill Sans"/>
                <a:sym typeface="Gill Sans"/>
              </a:defRPr>
            </a:pPr>
            <a:endParaRPr sz="949"/>
          </a:p>
        </p:txBody>
      </p:sp>
      <p:grpSp>
        <p:nvGrpSpPr>
          <p:cNvPr id="293" name="Group"/>
          <p:cNvGrpSpPr/>
          <p:nvPr/>
        </p:nvGrpSpPr>
        <p:grpSpPr>
          <a:xfrm>
            <a:off x="4438055" y="2435720"/>
            <a:ext cx="598633" cy="336948"/>
            <a:chOff x="0" y="0"/>
            <a:chExt cx="1135184" cy="638953"/>
          </a:xfrm>
        </p:grpSpPr>
        <p:grpSp>
          <p:nvGrpSpPr>
            <p:cNvPr id="291" name="Group"/>
            <p:cNvGrpSpPr/>
            <p:nvPr/>
          </p:nvGrpSpPr>
          <p:grpSpPr>
            <a:xfrm>
              <a:off x="0" y="0"/>
              <a:ext cx="512320" cy="511954"/>
              <a:chOff x="0" y="0"/>
              <a:chExt cx="512319" cy="511953"/>
            </a:xfrm>
          </p:grpSpPr>
          <p:sp>
            <p:nvSpPr>
              <p:cNvPr id="288"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289"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290"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pic>
          <p:nvPicPr>
            <p:cNvPr id="292" name="final.pdf" descr="final.pdf"/>
            <p:cNvPicPr>
              <a:picLocks noChangeAspect="1"/>
            </p:cNvPicPr>
            <p:nvPr/>
          </p:nvPicPr>
          <p:blipFill>
            <a:blip r:embed="rId3">
              <a:extLst/>
            </a:blip>
            <a:stretch>
              <a:fillRect/>
            </a:stretch>
          </p:blipFill>
          <p:spPr>
            <a:xfrm>
              <a:off x="558800" y="384953"/>
              <a:ext cx="576385" cy="254001"/>
            </a:xfrm>
            <a:prstGeom prst="rect">
              <a:avLst/>
            </a:prstGeom>
            <a:ln w="12700" cap="flat">
              <a:noFill/>
              <a:miter lim="400000"/>
            </a:ln>
            <a:effectLst/>
          </p:spPr>
        </p:pic>
      </p:grpSp>
      <p:sp>
        <p:nvSpPr>
          <p:cNvPr id="294" name="Line"/>
          <p:cNvSpPr/>
          <p:nvPr/>
        </p:nvSpPr>
        <p:spPr>
          <a:xfrm flipV="1">
            <a:off x="2730252" y="1071563"/>
            <a:ext cx="3750469" cy="2960192"/>
          </a:xfrm>
          <a:prstGeom prst="line">
            <a:avLst/>
          </a:prstGeom>
          <a:ln w="25400">
            <a:solidFill>
              <a:srgbClr val="797979"/>
            </a:solidFill>
            <a:custDash>
              <a:ds d="200000" sp="200000"/>
            </a:custDash>
            <a:miter lim="400000"/>
          </a:ln>
        </p:spPr>
        <p:txBody>
          <a:bodyPr lIns="26789" tIns="26789" rIns="26789" bIns="26789" anchor="ctr"/>
          <a:lstStyle/>
          <a:p>
            <a:pPr defTabSz="241082">
              <a:defRPr sz="1200">
                <a:latin typeface="Helvetica"/>
                <a:ea typeface="Helvetica"/>
                <a:cs typeface="Helvetica"/>
                <a:sym typeface="Helvetica"/>
              </a:defRPr>
            </a:pPr>
            <a:endParaRPr sz="633"/>
          </a:p>
        </p:txBody>
      </p:sp>
      <p:sp>
        <p:nvSpPr>
          <p:cNvPr id="295" name="Line"/>
          <p:cNvSpPr/>
          <p:nvPr/>
        </p:nvSpPr>
        <p:spPr>
          <a:xfrm flipV="1">
            <a:off x="4581737" y="1746365"/>
            <a:ext cx="1038694" cy="820311"/>
          </a:xfrm>
          <a:prstGeom prst="line">
            <a:avLst/>
          </a:prstGeom>
          <a:ln w="25400">
            <a:solidFill>
              <a:srgbClr val="FF2600"/>
            </a:solidFill>
            <a:miter lim="400000"/>
            <a:tailEnd type="triangle"/>
          </a:ln>
        </p:spPr>
        <p:txBody>
          <a:bodyPr lIns="26789" tIns="26789" rIns="26789" bIns="26789" anchor="ctr"/>
          <a:lstStyle/>
          <a:p>
            <a:pPr defTabSz="241082">
              <a:defRPr sz="1200">
                <a:latin typeface="Helvetica"/>
                <a:ea typeface="Helvetica"/>
                <a:cs typeface="Helvetica"/>
                <a:sym typeface="Helvetica"/>
              </a:defRPr>
            </a:pPr>
            <a:endParaRPr sz="633"/>
          </a:p>
        </p:txBody>
      </p:sp>
      <p:grpSp>
        <p:nvGrpSpPr>
          <p:cNvPr id="298" name="Group"/>
          <p:cNvGrpSpPr/>
          <p:nvPr/>
        </p:nvGrpSpPr>
        <p:grpSpPr>
          <a:xfrm>
            <a:off x="2130538" y="3688571"/>
            <a:ext cx="1038694" cy="939239"/>
            <a:chOff x="60609" y="0"/>
            <a:chExt cx="1969670" cy="1781075"/>
          </a:xfrm>
        </p:grpSpPr>
        <p:sp>
          <p:nvSpPr>
            <p:cNvPr id="296" name="Line"/>
            <p:cNvSpPr/>
            <p:nvPr/>
          </p:nvSpPr>
          <p:spPr>
            <a:xfrm flipV="1">
              <a:off x="60609" y="0"/>
              <a:ext cx="1969671" cy="1555553"/>
            </a:xfrm>
            <a:prstGeom prst="line">
              <a:avLst/>
            </a:prstGeom>
            <a:noFill/>
            <a:ln w="25400" cap="flat">
              <a:solidFill>
                <a:srgbClr val="000000"/>
              </a:solidFill>
              <a:prstDash val="solid"/>
              <a:miter lim="400000"/>
              <a:tailEnd type="triangle" w="med" len="med"/>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pic>
          <p:nvPicPr>
            <p:cNvPr id="297" name="final.pdf" descr="final.pdf"/>
            <p:cNvPicPr>
              <a:picLocks noChangeAspect="1"/>
            </p:cNvPicPr>
            <p:nvPr/>
          </p:nvPicPr>
          <p:blipFill>
            <a:blip r:embed="rId4">
              <a:extLst/>
            </a:blip>
            <a:stretch>
              <a:fillRect/>
            </a:stretch>
          </p:blipFill>
          <p:spPr>
            <a:xfrm>
              <a:off x="639044" y="1361975"/>
              <a:ext cx="495301" cy="419101"/>
            </a:xfrm>
            <a:prstGeom prst="rect">
              <a:avLst/>
            </a:prstGeom>
            <a:ln w="12700" cap="flat">
              <a:noFill/>
              <a:miter lim="400000"/>
            </a:ln>
            <a:effectLst/>
          </p:spPr>
        </p:pic>
      </p:grpSp>
    </p:spTree>
    <p:extLst>
      <p:ext uri="{BB962C8B-B14F-4D97-AF65-F5344CB8AC3E}">
        <p14:creationId xmlns:p14="http://schemas.microsoft.com/office/powerpoint/2010/main" val="40487096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 grpId="0" animBg="1" advAuto="0"/>
      <p:bldP spid="294" grpId="0" animBg="1" advAuto="0"/>
      <p:bldP spid="295" grpId="0" animBg="1" advAuto="0"/>
      <p:bldP spid="298"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Shape"/>
          <p:cNvSpPr/>
          <p:nvPr/>
        </p:nvSpPr>
        <p:spPr>
          <a:xfrm>
            <a:off x="2462362" y="1031379"/>
            <a:ext cx="4219277" cy="3080742"/>
          </a:xfrm>
          <a:custGeom>
            <a:avLst/>
            <a:gdLst/>
            <a:ahLst/>
            <a:cxnLst>
              <a:cxn ang="0">
                <a:pos x="wd2" y="hd2"/>
              </a:cxn>
              <a:cxn ang="5400000">
                <a:pos x="wd2" y="hd2"/>
              </a:cxn>
              <a:cxn ang="10800000">
                <a:pos x="wd2" y="hd2"/>
              </a:cxn>
              <a:cxn ang="16200000">
                <a:pos x="wd2" y="hd2"/>
              </a:cxn>
            </a:cxnLst>
            <a:rect l="0" t="0" r="r" b="b"/>
            <a:pathLst>
              <a:path w="21600" h="21600" extrusionOk="0">
                <a:moveTo>
                  <a:pt x="926" y="8922"/>
                </a:moveTo>
                <a:lnTo>
                  <a:pt x="6994" y="2160"/>
                </a:lnTo>
                <a:lnTo>
                  <a:pt x="13166" y="0"/>
                </a:lnTo>
                <a:lnTo>
                  <a:pt x="18583" y="1127"/>
                </a:lnTo>
                <a:lnTo>
                  <a:pt x="21600" y="7513"/>
                </a:lnTo>
                <a:lnTo>
                  <a:pt x="20434" y="13617"/>
                </a:lnTo>
                <a:lnTo>
                  <a:pt x="17211" y="17984"/>
                </a:lnTo>
                <a:lnTo>
                  <a:pt x="8366" y="21600"/>
                </a:lnTo>
                <a:lnTo>
                  <a:pt x="1886" y="17468"/>
                </a:lnTo>
                <a:lnTo>
                  <a:pt x="0" y="13289"/>
                </a:lnTo>
                <a:lnTo>
                  <a:pt x="926" y="8922"/>
                </a:lnTo>
                <a:close/>
              </a:path>
            </a:pathLst>
          </a:custGeom>
          <a:ln w="25400">
            <a:solidFill>
              <a:srgbClr val="000000"/>
            </a:solidFill>
            <a:miter lim="400000"/>
            <a:headEnd type="stealth"/>
          </a:ln>
        </p:spPr>
        <p:txBody>
          <a:bodyPr lIns="26789" tIns="26789" rIns="26789" bIns="26789" anchor="ctr"/>
          <a:lstStyle/>
          <a:p>
            <a:pPr>
              <a:defRPr>
                <a:latin typeface="Gill Sans"/>
                <a:ea typeface="Gill Sans"/>
                <a:cs typeface="Gill Sans"/>
                <a:sym typeface="Gill Sans"/>
              </a:defRPr>
            </a:pPr>
            <a:endParaRPr sz="949"/>
          </a:p>
        </p:txBody>
      </p:sp>
      <p:grpSp>
        <p:nvGrpSpPr>
          <p:cNvPr id="306" name="Group"/>
          <p:cNvGrpSpPr/>
          <p:nvPr/>
        </p:nvGrpSpPr>
        <p:grpSpPr>
          <a:xfrm>
            <a:off x="4438055" y="2435719"/>
            <a:ext cx="270169" cy="269976"/>
            <a:chOff x="0" y="0"/>
            <a:chExt cx="512319" cy="511953"/>
          </a:xfrm>
        </p:grpSpPr>
        <p:sp>
          <p:nvSpPr>
            <p:cNvPr id="303"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304"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05"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sp>
        <p:nvSpPr>
          <p:cNvPr id="307" name="Line"/>
          <p:cNvSpPr/>
          <p:nvPr/>
        </p:nvSpPr>
        <p:spPr>
          <a:xfrm>
            <a:off x="4089044" y="2051345"/>
            <a:ext cx="1020084" cy="1038076"/>
          </a:xfrm>
          <a:custGeom>
            <a:avLst/>
            <a:gdLst/>
            <a:ahLst/>
            <a:cxnLst>
              <a:cxn ang="0">
                <a:pos x="wd2" y="hd2"/>
              </a:cxn>
              <a:cxn ang="5400000">
                <a:pos x="wd2" y="hd2"/>
              </a:cxn>
              <a:cxn ang="10800000">
                <a:pos x="wd2" y="hd2"/>
              </a:cxn>
              <a:cxn ang="16200000">
                <a:pos x="wd2" y="hd2"/>
              </a:cxn>
            </a:cxnLst>
            <a:rect l="0" t="0" r="r" b="b"/>
            <a:pathLst>
              <a:path w="20409" h="21600" extrusionOk="0">
                <a:moveTo>
                  <a:pt x="9910" y="0"/>
                </a:moveTo>
                <a:cubicBezTo>
                  <a:pt x="16265" y="0"/>
                  <a:pt x="20409" y="4794"/>
                  <a:pt x="20409" y="10573"/>
                </a:cubicBezTo>
                <a:cubicBezTo>
                  <a:pt x="20409" y="16351"/>
                  <a:pt x="16729" y="21600"/>
                  <a:pt x="9988" y="21600"/>
                </a:cubicBezTo>
                <a:cubicBezTo>
                  <a:pt x="3246" y="21600"/>
                  <a:pt x="-1191" y="14730"/>
                  <a:pt x="283" y="10828"/>
                </a:cubicBezTo>
              </a:path>
            </a:pathLst>
          </a:custGeom>
          <a:ln w="25400">
            <a:solidFill>
              <a:srgbClr val="FF2600"/>
            </a:solidFill>
            <a:miter lim="400000"/>
            <a:tailEnd type="stealth"/>
          </a:ln>
        </p:spPr>
        <p:txBody>
          <a:bodyPr lIns="26789" tIns="26789" rIns="26789" bIns="26789" anchor="ctr"/>
          <a:lstStyle/>
          <a:p>
            <a:pPr>
              <a:defRPr>
                <a:latin typeface="Gill Sans"/>
                <a:ea typeface="Gill Sans"/>
                <a:cs typeface="Gill Sans"/>
                <a:sym typeface="Gill Sans"/>
              </a:defRPr>
            </a:pPr>
            <a:endParaRPr sz="949"/>
          </a:p>
        </p:txBody>
      </p:sp>
      <p:pic>
        <p:nvPicPr>
          <p:cNvPr id="308" name="final.pdf" descr="final.pdf"/>
          <p:cNvPicPr>
            <a:picLocks noChangeAspect="1"/>
          </p:cNvPicPr>
          <p:nvPr/>
        </p:nvPicPr>
        <p:blipFill>
          <a:blip r:embed="rId3">
            <a:extLst/>
          </a:blip>
          <a:stretch>
            <a:fillRect/>
          </a:stretch>
        </p:blipFill>
        <p:spPr>
          <a:xfrm>
            <a:off x="4732735" y="2638723"/>
            <a:ext cx="303953" cy="133945"/>
          </a:xfrm>
          <a:prstGeom prst="rect">
            <a:avLst/>
          </a:prstGeom>
          <a:ln w="12700">
            <a:miter lim="400000"/>
          </a:ln>
        </p:spPr>
      </p:pic>
      <p:sp>
        <p:nvSpPr>
          <p:cNvPr id="309" name="Line"/>
          <p:cNvSpPr/>
          <p:nvPr/>
        </p:nvSpPr>
        <p:spPr>
          <a:xfrm flipV="1">
            <a:off x="1611809" y="763489"/>
            <a:ext cx="3750469" cy="2960192"/>
          </a:xfrm>
          <a:prstGeom prst="line">
            <a:avLst/>
          </a:prstGeom>
          <a:ln w="25400">
            <a:solidFill>
              <a:srgbClr val="797979"/>
            </a:solidFill>
            <a:custDash>
              <a:ds d="200000" sp="200000"/>
            </a:custDash>
            <a:miter lim="400000"/>
          </a:ln>
        </p:spPr>
        <p:txBody>
          <a:bodyPr lIns="26789" tIns="26789" rIns="26789" bIns="26789" anchor="ctr"/>
          <a:lstStyle/>
          <a:p>
            <a:pPr defTabSz="241082">
              <a:defRPr sz="1200">
                <a:latin typeface="Helvetica"/>
                <a:ea typeface="Helvetica"/>
                <a:cs typeface="Helvetica"/>
                <a:sym typeface="Helvetica"/>
              </a:defRPr>
            </a:pPr>
            <a:endParaRPr sz="633"/>
          </a:p>
        </p:txBody>
      </p:sp>
      <p:sp>
        <p:nvSpPr>
          <p:cNvPr id="310" name="Line"/>
          <p:cNvSpPr/>
          <p:nvPr/>
        </p:nvSpPr>
        <p:spPr>
          <a:xfrm flipV="1">
            <a:off x="4581737" y="1746365"/>
            <a:ext cx="1038694" cy="820311"/>
          </a:xfrm>
          <a:prstGeom prst="line">
            <a:avLst/>
          </a:prstGeom>
          <a:ln w="25400">
            <a:solidFill>
              <a:srgbClr val="FF2600"/>
            </a:solidFill>
            <a:miter lim="400000"/>
            <a:tailEnd type="triangle"/>
          </a:ln>
        </p:spPr>
        <p:txBody>
          <a:bodyPr lIns="26789" tIns="26789" rIns="26789" bIns="26789" anchor="ctr"/>
          <a:lstStyle/>
          <a:p>
            <a:pPr defTabSz="241082">
              <a:defRPr sz="1200">
                <a:latin typeface="Helvetica"/>
                <a:ea typeface="Helvetica"/>
                <a:cs typeface="Helvetica"/>
                <a:sym typeface="Helvetica"/>
              </a:defRPr>
            </a:pPr>
            <a:endParaRPr sz="633"/>
          </a:p>
        </p:txBody>
      </p:sp>
      <p:grpSp>
        <p:nvGrpSpPr>
          <p:cNvPr id="313" name="Group"/>
          <p:cNvGrpSpPr/>
          <p:nvPr/>
        </p:nvGrpSpPr>
        <p:grpSpPr>
          <a:xfrm>
            <a:off x="1467508" y="3018845"/>
            <a:ext cx="1038694" cy="952634"/>
            <a:chOff x="60609" y="0"/>
            <a:chExt cx="1969670" cy="1806475"/>
          </a:xfrm>
        </p:grpSpPr>
        <p:sp>
          <p:nvSpPr>
            <p:cNvPr id="311" name="Line"/>
            <p:cNvSpPr/>
            <p:nvPr/>
          </p:nvSpPr>
          <p:spPr>
            <a:xfrm flipV="1">
              <a:off x="60609" y="0"/>
              <a:ext cx="1969671" cy="1555553"/>
            </a:xfrm>
            <a:prstGeom prst="line">
              <a:avLst/>
            </a:prstGeom>
            <a:noFill/>
            <a:ln w="25400" cap="flat">
              <a:solidFill>
                <a:srgbClr val="000000"/>
              </a:solidFill>
              <a:prstDash val="solid"/>
              <a:miter lim="400000"/>
              <a:tailEnd type="triangle" w="med" len="med"/>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pic>
          <p:nvPicPr>
            <p:cNvPr id="312" name="final.pdf" descr="final.pdf"/>
            <p:cNvPicPr>
              <a:picLocks noChangeAspect="1"/>
            </p:cNvPicPr>
            <p:nvPr/>
          </p:nvPicPr>
          <p:blipFill>
            <a:blip r:embed="rId4">
              <a:extLst/>
            </a:blip>
            <a:stretch>
              <a:fillRect/>
            </a:stretch>
          </p:blipFill>
          <p:spPr>
            <a:xfrm>
              <a:off x="550144" y="1387375"/>
              <a:ext cx="495301" cy="419101"/>
            </a:xfrm>
            <a:prstGeom prst="rect">
              <a:avLst/>
            </a:prstGeom>
            <a:ln w="12700" cap="flat">
              <a:noFill/>
              <a:miter lim="400000"/>
            </a:ln>
            <a:effectLst/>
          </p:spPr>
        </p:pic>
      </p:grpSp>
      <p:sp>
        <p:nvSpPr>
          <p:cNvPr id="314" name="???"/>
          <p:cNvSpPr txBox="1"/>
          <p:nvPr/>
        </p:nvSpPr>
        <p:spPr>
          <a:xfrm>
            <a:off x="5655115" y="1547444"/>
            <a:ext cx="222417" cy="2001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lvl1pPr>
              <a:defRPr>
                <a:solidFill>
                  <a:srgbClr val="FF2600"/>
                </a:solidFill>
              </a:defRPr>
            </a:lvl1pPr>
          </a:lstStyle>
          <a:p>
            <a:r>
              <a:rPr sz="949"/>
              <a:t>???</a:t>
            </a:r>
          </a:p>
        </p:txBody>
      </p:sp>
    </p:spTree>
    <p:extLst>
      <p:ext uri="{BB962C8B-B14F-4D97-AF65-F5344CB8AC3E}">
        <p14:creationId xmlns:p14="http://schemas.microsoft.com/office/powerpoint/2010/main" val="12542181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3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 grpId="0" animBg="1" advAuto="0"/>
      <p:bldP spid="309" grpId="0" animBg="1" advAuto="0"/>
      <p:bldP spid="310" grpId="0" animBg="1" advAuto="0"/>
      <p:bldP spid="313" grpId="0" animBg="1" advAuto="0"/>
      <p:bldP spid="314"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Rectangle"/>
          <p:cNvSpPr/>
          <p:nvPr/>
        </p:nvSpPr>
        <p:spPr>
          <a:xfrm>
            <a:off x="2448967" y="254496"/>
            <a:ext cx="421928" cy="1794867"/>
          </a:xfrm>
          <a:prstGeom prst="rect">
            <a:avLst/>
          </a:prstGeom>
          <a:ln w="25400">
            <a:solidFill>
              <a:srgbClr val="000000"/>
            </a:solidFill>
            <a:miter lim="400000"/>
          </a:ln>
        </p:spPr>
        <p:txBody>
          <a:bodyPr lIns="26789" tIns="26789" rIns="26789" bIns="26789" anchor="ctr"/>
          <a:lstStyle/>
          <a:p>
            <a:pPr>
              <a:defRPr sz="4000"/>
            </a:pPr>
            <a:endParaRPr sz="2109"/>
          </a:p>
        </p:txBody>
      </p:sp>
      <p:grpSp>
        <p:nvGrpSpPr>
          <p:cNvPr id="322" name="Group"/>
          <p:cNvGrpSpPr/>
          <p:nvPr/>
        </p:nvGrpSpPr>
        <p:grpSpPr>
          <a:xfrm>
            <a:off x="2529334" y="1015899"/>
            <a:ext cx="270169" cy="269976"/>
            <a:chOff x="0" y="0"/>
            <a:chExt cx="512319" cy="511953"/>
          </a:xfrm>
        </p:grpSpPr>
        <p:sp>
          <p:nvSpPr>
            <p:cNvPr id="319"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320"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21"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sp>
        <p:nvSpPr>
          <p:cNvPr id="323" name="Line"/>
          <p:cNvSpPr/>
          <p:nvPr/>
        </p:nvSpPr>
        <p:spPr>
          <a:xfrm flipH="1">
            <a:off x="1410891" y="1151930"/>
            <a:ext cx="941103" cy="1"/>
          </a:xfrm>
          <a:prstGeom prst="line">
            <a:avLst/>
          </a:prstGeom>
          <a:ln w="25400">
            <a:solidFill>
              <a:srgbClr val="000000"/>
            </a:solidFill>
            <a:miter lim="400000"/>
            <a:headEnd type="stealth"/>
          </a:ln>
        </p:spPr>
        <p:txBody>
          <a:bodyPr lIns="26789" tIns="26789" rIns="26789" bIns="26789" anchor="ctr"/>
          <a:lstStyle/>
          <a:p>
            <a:pPr defTabSz="241082">
              <a:defRPr sz="1200">
                <a:latin typeface="Helvetica"/>
                <a:ea typeface="Helvetica"/>
                <a:cs typeface="Helvetica"/>
                <a:sym typeface="Helvetica"/>
              </a:defRPr>
            </a:pPr>
            <a:endParaRPr sz="633"/>
          </a:p>
        </p:txBody>
      </p:sp>
      <p:grpSp>
        <p:nvGrpSpPr>
          <p:cNvPr id="332" name="Group"/>
          <p:cNvGrpSpPr/>
          <p:nvPr/>
        </p:nvGrpSpPr>
        <p:grpSpPr>
          <a:xfrm>
            <a:off x="3382104" y="254496"/>
            <a:ext cx="3336508" cy="1794867"/>
            <a:chOff x="0" y="0"/>
            <a:chExt cx="6327006" cy="3403600"/>
          </a:xfrm>
        </p:grpSpPr>
        <p:sp>
          <p:nvSpPr>
            <p:cNvPr id="324" name="Rectangle"/>
            <p:cNvSpPr/>
            <p:nvPr/>
          </p:nvSpPr>
          <p:spPr>
            <a:xfrm>
              <a:off x="4148695" y="0"/>
              <a:ext cx="800101" cy="3403600"/>
            </a:xfrm>
            <a:prstGeom prst="rect">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grpSp>
          <p:nvGrpSpPr>
            <p:cNvPr id="328" name="Group"/>
            <p:cNvGrpSpPr/>
            <p:nvPr/>
          </p:nvGrpSpPr>
          <p:grpSpPr>
            <a:xfrm>
              <a:off x="4301095" y="1443846"/>
              <a:ext cx="512320" cy="511954"/>
              <a:chOff x="0" y="0"/>
              <a:chExt cx="512319" cy="511953"/>
            </a:xfrm>
          </p:grpSpPr>
          <p:sp>
            <p:nvSpPr>
              <p:cNvPr id="325"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326"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27"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sp>
          <p:nvSpPr>
            <p:cNvPr id="329" name="Line"/>
            <p:cNvSpPr/>
            <p:nvPr/>
          </p:nvSpPr>
          <p:spPr>
            <a:xfrm flipH="1">
              <a:off x="2167495" y="1701800"/>
              <a:ext cx="1784611" cy="1"/>
            </a:xfrm>
            <a:prstGeom prst="line">
              <a:avLst/>
            </a:prstGeom>
            <a:noFill/>
            <a:ln w="25400" cap="flat">
              <a:solidFill>
                <a:srgbClr val="000000"/>
              </a:solidFill>
              <a:prstDash val="solid"/>
              <a:miter lim="400000"/>
              <a:headEnd type="stealth" w="med" len="med"/>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30" name="Line"/>
            <p:cNvSpPr/>
            <p:nvPr/>
          </p:nvSpPr>
          <p:spPr>
            <a:xfrm flipH="1">
              <a:off x="4542395" y="1701800"/>
              <a:ext cx="1784611" cy="1"/>
            </a:xfrm>
            <a:prstGeom prst="line">
              <a:avLst/>
            </a:prstGeom>
            <a:noFill/>
            <a:ln w="25400" cap="flat">
              <a:solidFill>
                <a:srgbClr val="FF2600"/>
              </a:solidFill>
              <a:prstDash val="solid"/>
              <a:miter lim="400000"/>
              <a:headEnd type="stealth" w="med" len="med"/>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31" name="10 seconds later..."/>
            <p:cNvSpPr txBox="1"/>
            <p:nvPr/>
          </p:nvSpPr>
          <p:spPr>
            <a:xfrm>
              <a:off x="0" y="520767"/>
              <a:ext cx="2716063" cy="5332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numCol="1" anchor="ctr">
              <a:spAutoFit/>
            </a:bodyPr>
            <a:lstStyle>
              <a:lvl1pPr>
                <a:defRPr sz="2800"/>
              </a:lvl1pPr>
            </a:lstStyle>
            <a:p>
              <a:r>
                <a:rPr sz="1476"/>
                <a:t>10 seconds later...</a:t>
              </a:r>
            </a:p>
          </p:txBody>
        </p:sp>
      </p:grpSp>
      <p:grpSp>
        <p:nvGrpSpPr>
          <p:cNvPr id="356" name="Group"/>
          <p:cNvGrpSpPr/>
          <p:nvPr/>
        </p:nvGrpSpPr>
        <p:grpSpPr>
          <a:xfrm>
            <a:off x="1410891" y="2966889"/>
            <a:ext cx="5307721" cy="1794868"/>
            <a:chOff x="0" y="0"/>
            <a:chExt cx="10065010" cy="3403601"/>
          </a:xfrm>
        </p:grpSpPr>
        <p:sp>
          <p:nvSpPr>
            <p:cNvPr id="333" name="Rectangle"/>
            <p:cNvSpPr/>
            <p:nvPr/>
          </p:nvSpPr>
          <p:spPr>
            <a:xfrm>
              <a:off x="1968500" y="0"/>
              <a:ext cx="800100" cy="3403600"/>
            </a:xfrm>
            <a:prstGeom prst="rect">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grpSp>
          <p:nvGrpSpPr>
            <p:cNvPr id="337" name="Group"/>
            <p:cNvGrpSpPr/>
            <p:nvPr/>
          </p:nvGrpSpPr>
          <p:grpSpPr>
            <a:xfrm>
              <a:off x="2120900" y="1443846"/>
              <a:ext cx="512320" cy="511954"/>
              <a:chOff x="0" y="0"/>
              <a:chExt cx="512319" cy="511953"/>
            </a:xfrm>
          </p:grpSpPr>
          <p:sp>
            <p:nvSpPr>
              <p:cNvPr id="334"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335"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36"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sp>
          <p:nvSpPr>
            <p:cNvPr id="338" name="Line"/>
            <p:cNvSpPr/>
            <p:nvPr/>
          </p:nvSpPr>
          <p:spPr>
            <a:xfrm>
              <a:off x="7813053" y="1222957"/>
              <a:ext cx="965201" cy="990601"/>
            </a:xfrm>
            <a:custGeom>
              <a:avLst/>
              <a:gdLst/>
              <a:ahLst/>
              <a:cxnLst>
                <a:cxn ang="0">
                  <a:pos x="wd2" y="hd2"/>
                </a:cxn>
                <a:cxn ang="5400000">
                  <a:pos x="wd2" y="hd2"/>
                </a:cxn>
                <a:cxn ang="10800000">
                  <a:pos x="wd2" y="hd2"/>
                </a:cxn>
                <a:cxn ang="16200000">
                  <a:pos x="wd2" y="hd2"/>
                </a:cxn>
              </a:cxnLst>
              <a:rect l="0" t="0" r="r" b="b"/>
              <a:pathLst>
                <a:path w="20409" h="21600" extrusionOk="0">
                  <a:moveTo>
                    <a:pt x="9910" y="0"/>
                  </a:moveTo>
                  <a:cubicBezTo>
                    <a:pt x="16265" y="0"/>
                    <a:pt x="20409" y="4794"/>
                    <a:pt x="20409" y="10573"/>
                  </a:cubicBezTo>
                  <a:cubicBezTo>
                    <a:pt x="20409" y="16351"/>
                    <a:pt x="16729" y="21600"/>
                    <a:pt x="9988" y="21600"/>
                  </a:cubicBezTo>
                  <a:cubicBezTo>
                    <a:pt x="3246" y="21600"/>
                    <a:pt x="-1191" y="14730"/>
                    <a:pt x="283" y="10828"/>
                  </a:cubicBezTo>
                </a:path>
              </a:pathLst>
            </a:custGeom>
            <a:noFill/>
            <a:ln w="25400" cap="flat">
              <a:solidFill>
                <a:srgbClr val="FF2600"/>
              </a:solidFill>
              <a:prstDash val="solid"/>
              <a:miter lim="400000"/>
              <a:headEnd type="stealth" w="med" len="med"/>
            </a:ln>
            <a:effectLst/>
          </p:spPr>
          <p:txBody>
            <a:bodyPr wrap="square" lIns="26789" tIns="26789" rIns="26789" bIns="26789" numCol="1" anchor="ctr">
              <a:noAutofit/>
            </a:bodyPr>
            <a:lstStyle/>
            <a:p>
              <a:pPr>
                <a:defRPr>
                  <a:latin typeface="Gill Sans"/>
                  <a:ea typeface="Gill Sans"/>
                  <a:cs typeface="Gill Sans"/>
                  <a:sym typeface="Gill Sans"/>
                </a:defRPr>
              </a:pPr>
              <a:endParaRPr sz="949"/>
            </a:p>
          </p:txBody>
        </p:sp>
        <p:grpSp>
          <p:nvGrpSpPr>
            <p:cNvPr id="342" name="Group"/>
            <p:cNvGrpSpPr/>
            <p:nvPr/>
          </p:nvGrpSpPr>
          <p:grpSpPr>
            <a:xfrm>
              <a:off x="2120900" y="2840846"/>
              <a:ext cx="512320" cy="511954"/>
              <a:chOff x="0" y="0"/>
              <a:chExt cx="512319" cy="511953"/>
            </a:xfrm>
          </p:grpSpPr>
          <p:sp>
            <p:nvSpPr>
              <p:cNvPr id="339"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340"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41"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sp>
          <p:nvSpPr>
            <p:cNvPr id="343" name="Rectangle"/>
            <p:cNvSpPr/>
            <p:nvPr/>
          </p:nvSpPr>
          <p:spPr>
            <a:xfrm rot="19226420">
              <a:off x="7886700" y="0"/>
              <a:ext cx="800100" cy="3403601"/>
            </a:xfrm>
            <a:prstGeom prst="rect">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grpSp>
          <p:nvGrpSpPr>
            <p:cNvPr id="347" name="Group"/>
            <p:cNvGrpSpPr/>
            <p:nvPr/>
          </p:nvGrpSpPr>
          <p:grpSpPr>
            <a:xfrm>
              <a:off x="8039100" y="1443846"/>
              <a:ext cx="512320" cy="511954"/>
              <a:chOff x="0" y="0"/>
              <a:chExt cx="512319" cy="511953"/>
            </a:xfrm>
          </p:grpSpPr>
          <p:sp>
            <p:nvSpPr>
              <p:cNvPr id="344"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345"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46"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grpSp>
          <p:nvGrpSpPr>
            <p:cNvPr id="351" name="Group"/>
            <p:cNvGrpSpPr/>
            <p:nvPr/>
          </p:nvGrpSpPr>
          <p:grpSpPr>
            <a:xfrm>
              <a:off x="8928100" y="2510646"/>
              <a:ext cx="512320" cy="511954"/>
              <a:chOff x="0" y="0"/>
              <a:chExt cx="512319" cy="511953"/>
            </a:xfrm>
          </p:grpSpPr>
          <p:sp>
            <p:nvSpPr>
              <p:cNvPr id="348" name="Circle"/>
              <p:cNvSpPr/>
              <p:nvPr/>
            </p:nvSpPr>
            <p:spPr>
              <a:xfrm>
                <a:off x="88900" y="92853"/>
                <a:ext cx="330200" cy="330201"/>
              </a:xfrm>
              <a:prstGeom prst="ellipse">
                <a:avLst/>
              </a:prstGeom>
              <a:noFill/>
              <a:ln w="25400" cap="flat">
                <a:solidFill>
                  <a:srgbClr val="000000"/>
                </a:solidFill>
                <a:prstDash val="solid"/>
                <a:miter lim="400000"/>
              </a:ln>
              <a:effectLst/>
            </p:spPr>
            <p:txBody>
              <a:bodyPr wrap="square" lIns="26789" tIns="26789" rIns="26789" bIns="26789" numCol="1" anchor="ctr">
                <a:noAutofit/>
              </a:bodyPr>
              <a:lstStyle/>
              <a:p>
                <a:pPr>
                  <a:defRPr sz="4000"/>
                </a:pPr>
                <a:endParaRPr sz="2109"/>
              </a:p>
            </p:txBody>
          </p:sp>
          <p:sp>
            <p:nvSpPr>
              <p:cNvPr id="349" name="Line"/>
              <p:cNvSpPr/>
              <p:nvPr/>
            </p:nvSpPr>
            <p:spPr>
              <a:xfrm flipH="1">
                <a:off x="253999" y="0"/>
                <a:ext cx="2" cy="511954"/>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50" name="Line"/>
              <p:cNvSpPr/>
              <p:nvPr/>
            </p:nvSpPr>
            <p:spPr>
              <a:xfrm flipH="1">
                <a:off x="0" y="261906"/>
                <a:ext cx="512320" cy="1"/>
              </a:xfrm>
              <a:prstGeom prst="line">
                <a:avLst/>
              </a:prstGeom>
              <a:noFill/>
              <a:ln w="25400" cap="flat">
                <a:solidFill>
                  <a:srgbClr val="000000"/>
                </a:solidFill>
                <a:prstDash val="solid"/>
                <a:miter lim="400000"/>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grpSp>
        <p:sp>
          <p:nvSpPr>
            <p:cNvPr id="352" name="Line"/>
            <p:cNvSpPr/>
            <p:nvPr/>
          </p:nvSpPr>
          <p:spPr>
            <a:xfrm flipH="1">
              <a:off x="0" y="3098800"/>
              <a:ext cx="1784610" cy="1"/>
            </a:xfrm>
            <a:prstGeom prst="line">
              <a:avLst/>
            </a:prstGeom>
            <a:noFill/>
            <a:ln w="25400" cap="flat">
              <a:solidFill>
                <a:srgbClr val="000000"/>
              </a:solidFill>
              <a:prstDash val="solid"/>
              <a:miter lim="400000"/>
              <a:headEnd type="stealth" w="med" len="med"/>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53" name="Line"/>
            <p:cNvSpPr/>
            <p:nvPr/>
          </p:nvSpPr>
          <p:spPr>
            <a:xfrm flipH="1">
              <a:off x="6692900" y="2768600"/>
              <a:ext cx="1784610" cy="1"/>
            </a:xfrm>
            <a:prstGeom prst="line">
              <a:avLst/>
            </a:prstGeom>
            <a:noFill/>
            <a:ln w="25400" cap="flat">
              <a:solidFill>
                <a:srgbClr val="000000"/>
              </a:solidFill>
              <a:prstDash val="solid"/>
              <a:miter lim="400000"/>
              <a:headEnd type="stealth" w="med" len="med"/>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54" name="Line"/>
            <p:cNvSpPr/>
            <p:nvPr/>
          </p:nvSpPr>
          <p:spPr>
            <a:xfrm flipH="1">
              <a:off x="8280400" y="1701800"/>
              <a:ext cx="1784610" cy="1"/>
            </a:xfrm>
            <a:prstGeom prst="line">
              <a:avLst/>
            </a:prstGeom>
            <a:noFill/>
            <a:ln w="25400" cap="flat">
              <a:solidFill>
                <a:srgbClr val="FF2600"/>
              </a:solidFill>
              <a:prstDash val="solid"/>
              <a:miter lim="400000"/>
              <a:headEnd type="stealth" w="med" len="med"/>
            </a:ln>
            <a:effectLst/>
          </p:spPr>
          <p:txBody>
            <a:bodyPr wrap="square" lIns="26789" tIns="26789" rIns="26789" bIns="26789" numCol="1" anchor="ctr">
              <a:noAutofit/>
            </a:bodyPr>
            <a:lstStyle/>
            <a:p>
              <a:pPr defTabSz="241082">
                <a:defRPr sz="1200">
                  <a:latin typeface="Helvetica"/>
                  <a:ea typeface="Helvetica"/>
                  <a:cs typeface="Helvetica"/>
                  <a:sym typeface="Helvetica"/>
                </a:defRPr>
              </a:pPr>
              <a:endParaRPr sz="633"/>
            </a:p>
          </p:txBody>
        </p:sp>
        <p:sp>
          <p:nvSpPr>
            <p:cNvPr id="355" name="10 seconds later..."/>
            <p:cNvSpPr txBox="1"/>
            <p:nvPr/>
          </p:nvSpPr>
          <p:spPr>
            <a:xfrm>
              <a:off x="3738003" y="1130367"/>
              <a:ext cx="2716063" cy="5332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numCol="1" anchor="ctr">
              <a:spAutoFit/>
            </a:bodyPr>
            <a:lstStyle>
              <a:lvl1pPr>
                <a:defRPr sz="2800"/>
              </a:lvl1pPr>
            </a:lstStyle>
            <a:p>
              <a:r>
                <a:rPr sz="1476"/>
                <a:t>10 seconds later...</a:t>
              </a:r>
            </a:p>
          </p:txBody>
        </p:sp>
      </p:grpSp>
      <p:pic>
        <p:nvPicPr>
          <p:cNvPr id="357" name="final.pdf" descr="final.pdf"/>
          <p:cNvPicPr>
            <a:picLocks noChangeAspect="1"/>
          </p:cNvPicPr>
          <p:nvPr/>
        </p:nvPicPr>
        <p:blipFill>
          <a:blip r:embed="rId3">
            <a:extLst/>
          </a:blip>
          <a:stretch>
            <a:fillRect/>
          </a:stretch>
        </p:blipFill>
        <p:spPr>
          <a:xfrm>
            <a:off x="5523012" y="2108098"/>
            <a:ext cx="1279178" cy="430166"/>
          </a:xfrm>
          <a:prstGeom prst="rect">
            <a:avLst/>
          </a:prstGeom>
          <a:ln w="12700">
            <a:miter lim="400000"/>
          </a:ln>
        </p:spPr>
      </p:pic>
      <p:pic>
        <p:nvPicPr>
          <p:cNvPr id="358" name="final.pdf" descr="final.pdf"/>
          <p:cNvPicPr>
            <a:picLocks noChangeAspect="1"/>
          </p:cNvPicPr>
          <p:nvPr/>
        </p:nvPicPr>
        <p:blipFill>
          <a:blip r:embed="rId4">
            <a:extLst/>
          </a:blip>
          <a:stretch>
            <a:fillRect/>
          </a:stretch>
        </p:blipFill>
        <p:spPr>
          <a:xfrm>
            <a:off x="5534644" y="4661297"/>
            <a:ext cx="1990851" cy="428625"/>
          </a:xfrm>
          <a:prstGeom prst="rect">
            <a:avLst/>
          </a:prstGeom>
          <a:ln w="12700">
            <a:miter lim="400000"/>
          </a:ln>
        </p:spPr>
      </p:pic>
    </p:spTree>
    <p:extLst>
      <p:ext uri="{BB962C8B-B14F-4D97-AF65-F5344CB8AC3E}">
        <p14:creationId xmlns:p14="http://schemas.microsoft.com/office/powerpoint/2010/main" val="28220002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3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 grpId="0" animBg="1" advAuto="0"/>
      <p:bldP spid="356" grpId="0" animBg="1" advAuto="0"/>
      <p:bldP spid="357" grpId="0" animBg="1" advAuto="0"/>
      <p:bldP spid="358" grpId="0" animBg="1"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5025475" cy="520655"/>
          </a:xfrm>
          <a:prstGeom prst="rect">
            <a:avLst/>
          </a:prstGeom>
        </p:spPr>
        <p:txBody>
          <a:bodyPr vert="horz" wrap="square" lIns="0" tIns="12700" rIns="0" bIns="0" rtlCol="0">
            <a:spAutoFit/>
          </a:bodyPr>
          <a:lstStyle/>
          <a:p>
            <a:pPr marL="12700">
              <a:lnSpc>
                <a:spcPct val="100000"/>
              </a:lnSpc>
              <a:spcBef>
                <a:spcPts val="100"/>
              </a:spcBef>
            </a:pPr>
            <a:r>
              <a:rPr spc="-10" dirty="0"/>
              <a:t>Angular </a:t>
            </a:r>
            <a:r>
              <a:rPr spc="-5" dirty="0"/>
              <a:t>Dynamics in</a:t>
            </a:r>
            <a:r>
              <a:rPr spc="-80" dirty="0"/>
              <a:t> </a:t>
            </a:r>
            <a:r>
              <a:rPr spc="-5" dirty="0"/>
              <a:t>2D</a:t>
            </a:r>
          </a:p>
        </p:txBody>
      </p:sp>
      <p:sp>
        <p:nvSpPr>
          <p:cNvPr id="3" name="object 3"/>
          <p:cNvSpPr txBox="1"/>
          <p:nvPr/>
        </p:nvSpPr>
        <p:spPr>
          <a:xfrm>
            <a:off x="475249" y="1176350"/>
            <a:ext cx="6687820" cy="214820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In 2D, angular dynamics is almost identical to linear</a:t>
            </a:r>
            <a:r>
              <a:rPr sz="1800" spc="-60" dirty="0">
                <a:solidFill>
                  <a:srgbClr val="595959"/>
                </a:solidFill>
                <a:latin typeface="Arial"/>
                <a:cs typeface="Arial"/>
              </a:rPr>
              <a:t> </a:t>
            </a:r>
            <a:r>
              <a:rPr sz="1800" spc="-5" dirty="0">
                <a:solidFill>
                  <a:srgbClr val="595959"/>
                </a:solidFill>
                <a:latin typeface="Arial"/>
                <a:cs typeface="Arial"/>
              </a:rPr>
              <a:t>dynamics.</a:t>
            </a:r>
            <a:endParaRPr sz="1800" dirty="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Each angular quantity has </a:t>
            </a:r>
            <a:r>
              <a:rPr sz="1800" dirty="0">
                <a:solidFill>
                  <a:srgbClr val="595959"/>
                </a:solidFill>
                <a:latin typeface="Arial"/>
                <a:cs typeface="Arial"/>
              </a:rPr>
              <a:t>a </a:t>
            </a:r>
            <a:r>
              <a:rPr sz="1800" spc="-5" dirty="0">
                <a:solidFill>
                  <a:srgbClr val="595959"/>
                </a:solidFill>
                <a:latin typeface="Arial"/>
                <a:cs typeface="Arial"/>
              </a:rPr>
              <a:t>linear</a:t>
            </a:r>
            <a:r>
              <a:rPr sz="1800" spc="-30" dirty="0">
                <a:solidFill>
                  <a:srgbClr val="595959"/>
                </a:solidFill>
                <a:latin typeface="Arial"/>
                <a:cs typeface="Arial"/>
              </a:rPr>
              <a:t> </a:t>
            </a:r>
            <a:r>
              <a:rPr sz="1800" spc="-5" dirty="0">
                <a:solidFill>
                  <a:srgbClr val="595959"/>
                </a:solidFill>
                <a:latin typeface="Arial"/>
                <a:cs typeface="Arial"/>
              </a:rPr>
              <a:t>equivalent.</a:t>
            </a:r>
            <a:endParaRPr sz="1800" dirty="0">
              <a:latin typeface="Arial"/>
              <a:cs typeface="Arial"/>
            </a:endParaRPr>
          </a:p>
          <a:p>
            <a:pPr marL="836294" lvl="1" indent="-335915">
              <a:lnSpc>
                <a:spcPct val="100000"/>
              </a:lnSpc>
              <a:spcBef>
                <a:spcPts val="330"/>
              </a:spcBef>
              <a:buChar char="○"/>
              <a:tabLst>
                <a:tab pos="836294" algn="l"/>
                <a:tab pos="836930" algn="l"/>
              </a:tabLst>
            </a:pPr>
            <a:r>
              <a:rPr sz="1400" spc="-5" dirty="0" smtClean="0">
                <a:solidFill>
                  <a:srgbClr val="595959"/>
                </a:solidFill>
                <a:latin typeface="Arial"/>
                <a:cs typeface="Arial"/>
              </a:rPr>
              <a:t>Torque</a:t>
            </a:r>
            <a:r>
              <a:rPr lang="en-US" sz="1400" spc="-5" dirty="0" smtClean="0">
                <a:solidFill>
                  <a:srgbClr val="595959"/>
                </a:solidFill>
                <a:latin typeface="Arial"/>
                <a:cs typeface="Arial"/>
              </a:rPr>
              <a:t>: </a:t>
            </a:r>
            <a:r>
              <a:rPr sz="1400" dirty="0" smtClean="0">
                <a:solidFill>
                  <a:srgbClr val="595959"/>
                </a:solidFill>
                <a:latin typeface="Arial"/>
                <a:cs typeface="Arial"/>
              </a:rPr>
              <a:t>rotational</a:t>
            </a:r>
            <a:r>
              <a:rPr sz="1400" spc="-70" dirty="0" smtClean="0">
                <a:solidFill>
                  <a:srgbClr val="595959"/>
                </a:solidFill>
                <a:latin typeface="Arial"/>
                <a:cs typeface="Arial"/>
              </a:rPr>
              <a:t> </a:t>
            </a:r>
            <a:r>
              <a:rPr sz="1400" spc="-5" dirty="0">
                <a:solidFill>
                  <a:srgbClr val="595959"/>
                </a:solidFill>
                <a:latin typeface="Arial"/>
                <a:cs typeface="Arial"/>
              </a:rPr>
              <a:t>force.</a:t>
            </a:r>
            <a:endParaRPr sz="1400" dirty="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Angular </a:t>
            </a:r>
            <a:r>
              <a:rPr sz="1400" dirty="0">
                <a:solidFill>
                  <a:srgbClr val="595959"/>
                </a:solidFill>
                <a:latin typeface="Arial"/>
                <a:cs typeface="Arial"/>
              </a:rPr>
              <a:t>moment </a:t>
            </a:r>
            <a:r>
              <a:rPr sz="1400" b="1" dirty="0">
                <a:solidFill>
                  <a:srgbClr val="595959"/>
                </a:solidFill>
                <a:latin typeface="Arial"/>
                <a:cs typeface="Arial"/>
              </a:rPr>
              <a:t>L </a:t>
            </a:r>
            <a:r>
              <a:rPr sz="1400" dirty="0">
                <a:solidFill>
                  <a:srgbClr val="595959"/>
                </a:solidFill>
                <a:latin typeface="Arial"/>
                <a:cs typeface="Arial"/>
              </a:rPr>
              <a:t>vs. </a:t>
            </a:r>
            <a:r>
              <a:rPr sz="1400" spc="-5" dirty="0">
                <a:solidFill>
                  <a:srgbClr val="595959"/>
                </a:solidFill>
                <a:latin typeface="Arial"/>
                <a:cs typeface="Arial"/>
              </a:rPr>
              <a:t>linear </a:t>
            </a:r>
            <a:r>
              <a:rPr sz="1400" dirty="0">
                <a:solidFill>
                  <a:srgbClr val="595959"/>
                </a:solidFill>
                <a:latin typeface="Arial"/>
                <a:cs typeface="Arial"/>
              </a:rPr>
              <a:t>momentum</a:t>
            </a:r>
            <a:r>
              <a:rPr sz="1400" spc="-15" dirty="0">
                <a:solidFill>
                  <a:srgbClr val="595959"/>
                </a:solidFill>
                <a:latin typeface="Arial"/>
                <a:cs typeface="Arial"/>
              </a:rPr>
              <a:t> </a:t>
            </a:r>
            <a:r>
              <a:rPr sz="1400" b="1" spc="-5" dirty="0">
                <a:solidFill>
                  <a:srgbClr val="595959"/>
                </a:solidFill>
                <a:latin typeface="Arial"/>
                <a:cs typeface="Arial"/>
              </a:rPr>
              <a:t>p</a:t>
            </a:r>
            <a:r>
              <a:rPr sz="1400" spc="-5" dirty="0">
                <a:solidFill>
                  <a:srgbClr val="595959"/>
                </a:solidFill>
                <a:latin typeface="Arial"/>
                <a:cs typeface="Arial"/>
              </a:rPr>
              <a:t>.</a:t>
            </a:r>
            <a:endParaRPr sz="1400" dirty="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Angular acceleration </a:t>
            </a:r>
            <a:r>
              <a:rPr sz="1400" b="1" spc="50" dirty="0">
                <a:solidFill>
                  <a:srgbClr val="595959"/>
                </a:solidFill>
                <a:latin typeface="Tahoma"/>
                <a:cs typeface="Tahoma"/>
              </a:rPr>
              <a:t>a</a:t>
            </a:r>
            <a:r>
              <a:rPr sz="1400" spc="50" dirty="0">
                <a:solidFill>
                  <a:srgbClr val="595959"/>
                </a:solidFill>
                <a:latin typeface="Tahoma"/>
                <a:cs typeface="Tahoma"/>
              </a:rPr>
              <a:t> </a:t>
            </a:r>
            <a:r>
              <a:rPr sz="1400" dirty="0">
                <a:solidFill>
                  <a:srgbClr val="595959"/>
                </a:solidFill>
                <a:latin typeface="Arial"/>
                <a:cs typeface="Arial"/>
              </a:rPr>
              <a:t>vs. </a:t>
            </a:r>
            <a:r>
              <a:rPr sz="1400" spc="-5" dirty="0">
                <a:solidFill>
                  <a:srgbClr val="595959"/>
                </a:solidFill>
                <a:latin typeface="Arial"/>
                <a:cs typeface="Arial"/>
              </a:rPr>
              <a:t>linear acceleration</a:t>
            </a:r>
            <a:r>
              <a:rPr sz="1400" spc="-100" dirty="0">
                <a:solidFill>
                  <a:srgbClr val="595959"/>
                </a:solidFill>
                <a:latin typeface="Arial"/>
                <a:cs typeface="Arial"/>
              </a:rPr>
              <a:t> </a:t>
            </a:r>
            <a:r>
              <a:rPr sz="1400" b="1" spc="-5" dirty="0">
                <a:solidFill>
                  <a:srgbClr val="595959"/>
                </a:solidFill>
                <a:latin typeface="Arial"/>
                <a:cs typeface="Arial"/>
              </a:rPr>
              <a:t>a</a:t>
            </a:r>
            <a:r>
              <a:rPr sz="1400" spc="-5" dirty="0">
                <a:solidFill>
                  <a:srgbClr val="595959"/>
                </a:solidFill>
                <a:latin typeface="Arial"/>
                <a:cs typeface="Arial"/>
              </a:rPr>
              <a:t>.</a:t>
            </a:r>
            <a:endParaRPr sz="1400" dirty="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Angular </a:t>
            </a:r>
            <a:r>
              <a:rPr sz="1400" dirty="0">
                <a:solidFill>
                  <a:srgbClr val="595959"/>
                </a:solidFill>
                <a:latin typeface="Arial"/>
                <a:cs typeface="Arial"/>
              </a:rPr>
              <a:t>velocity </a:t>
            </a:r>
            <a:r>
              <a:rPr sz="1400" b="1" spc="-70" dirty="0">
                <a:solidFill>
                  <a:srgbClr val="595959"/>
                </a:solidFill>
                <a:latin typeface="Tahoma"/>
                <a:cs typeface="Tahoma"/>
              </a:rPr>
              <a:t>w</a:t>
            </a:r>
            <a:r>
              <a:rPr sz="1400" spc="-70" dirty="0">
                <a:solidFill>
                  <a:srgbClr val="595959"/>
                </a:solidFill>
                <a:latin typeface="Tahoma"/>
                <a:cs typeface="Tahoma"/>
              </a:rPr>
              <a:t> </a:t>
            </a:r>
            <a:r>
              <a:rPr sz="1400" dirty="0">
                <a:solidFill>
                  <a:srgbClr val="595959"/>
                </a:solidFill>
                <a:latin typeface="Arial"/>
                <a:cs typeface="Arial"/>
              </a:rPr>
              <a:t>vs. </a:t>
            </a:r>
            <a:r>
              <a:rPr sz="1400" spc="-5" dirty="0">
                <a:solidFill>
                  <a:srgbClr val="595959"/>
                </a:solidFill>
                <a:latin typeface="Arial"/>
                <a:cs typeface="Arial"/>
              </a:rPr>
              <a:t>linear </a:t>
            </a:r>
            <a:r>
              <a:rPr sz="1400" dirty="0">
                <a:solidFill>
                  <a:srgbClr val="595959"/>
                </a:solidFill>
                <a:latin typeface="Arial"/>
                <a:cs typeface="Arial"/>
              </a:rPr>
              <a:t>velocity</a:t>
            </a:r>
            <a:r>
              <a:rPr sz="1400" spc="5" dirty="0">
                <a:solidFill>
                  <a:srgbClr val="595959"/>
                </a:solidFill>
                <a:latin typeface="Arial"/>
                <a:cs typeface="Arial"/>
              </a:rPr>
              <a:t> </a:t>
            </a:r>
            <a:r>
              <a:rPr sz="1400" b="1" spc="-5" dirty="0">
                <a:solidFill>
                  <a:srgbClr val="595959"/>
                </a:solidFill>
                <a:latin typeface="Arial"/>
                <a:cs typeface="Arial"/>
              </a:rPr>
              <a:t>v</a:t>
            </a:r>
            <a:r>
              <a:rPr sz="1400" spc="-5" dirty="0">
                <a:solidFill>
                  <a:srgbClr val="595959"/>
                </a:solidFill>
                <a:latin typeface="Arial"/>
                <a:cs typeface="Arial"/>
              </a:rPr>
              <a:t>.</a:t>
            </a:r>
            <a:endParaRPr sz="1400" dirty="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Orientation </a:t>
            </a:r>
            <a:r>
              <a:rPr sz="1400" b="1" spc="5" dirty="0">
                <a:solidFill>
                  <a:srgbClr val="595959"/>
                </a:solidFill>
                <a:latin typeface="Tahoma"/>
                <a:cs typeface="Tahoma"/>
              </a:rPr>
              <a:t>e</a:t>
            </a:r>
            <a:r>
              <a:rPr sz="1400" spc="5" dirty="0">
                <a:solidFill>
                  <a:srgbClr val="595959"/>
                </a:solidFill>
                <a:latin typeface="Tahoma"/>
                <a:cs typeface="Tahoma"/>
              </a:rPr>
              <a:t> </a:t>
            </a:r>
            <a:r>
              <a:rPr sz="1400" dirty="0">
                <a:solidFill>
                  <a:srgbClr val="595959"/>
                </a:solidFill>
                <a:latin typeface="Arial"/>
                <a:cs typeface="Arial"/>
              </a:rPr>
              <a:t>vs. </a:t>
            </a:r>
            <a:r>
              <a:rPr sz="1400" spc="-5" dirty="0">
                <a:solidFill>
                  <a:srgbClr val="595959"/>
                </a:solidFill>
                <a:latin typeface="Arial"/>
                <a:cs typeface="Arial"/>
              </a:rPr>
              <a:t>position</a:t>
            </a:r>
            <a:r>
              <a:rPr sz="1400" spc="-50" dirty="0">
                <a:solidFill>
                  <a:srgbClr val="595959"/>
                </a:solidFill>
                <a:latin typeface="Arial"/>
                <a:cs typeface="Arial"/>
              </a:rPr>
              <a:t> </a:t>
            </a:r>
            <a:r>
              <a:rPr sz="1400" b="1" spc="-5" dirty="0">
                <a:solidFill>
                  <a:srgbClr val="595959"/>
                </a:solidFill>
                <a:latin typeface="Arial"/>
                <a:cs typeface="Arial"/>
              </a:rPr>
              <a:t>r</a:t>
            </a:r>
            <a:r>
              <a:rPr sz="1400" spc="-5" dirty="0">
                <a:solidFill>
                  <a:srgbClr val="595959"/>
                </a:solidFill>
                <a:latin typeface="Arial"/>
                <a:cs typeface="Arial"/>
              </a:rPr>
              <a:t>.</a:t>
            </a:r>
            <a:endParaRPr sz="1400" dirty="0">
              <a:latin typeface="Arial"/>
              <a:cs typeface="Arial"/>
            </a:endParaRPr>
          </a:p>
          <a:p>
            <a:pPr marL="836294" lvl="1" indent="-335915">
              <a:lnSpc>
                <a:spcPct val="100000"/>
              </a:lnSpc>
              <a:spcBef>
                <a:spcPts val="270"/>
              </a:spcBef>
              <a:buChar char="○"/>
              <a:tabLst>
                <a:tab pos="836294" algn="l"/>
                <a:tab pos="836930" algn="l"/>
              </a:tabLst>
            </a:pPr>
            <a:r>
              <a:rPr sz="1400" dirty="0">
                <a:solidFill>
                  <a:srgbClr val="595959"/>
                </a:solidFill>
                <a:latin typeface="Arial"/>
                <a:cs typeface="Arial"/>
              </a:rPr>
              <a:t>Moment </a:t>
            </a:r>
            <a:r>
              <a:rPr sz="1400" spc="-5" dirty="0">
                <a:solidFill>
                  <a:srgbClr val="595959"/>
                </a:solidFill>
                <a:latin typeface="Arial"/>
                <a:cs typeface="Arial"/>
              </a:rPr>
              <a:t>of inertia </a:t>
            </a:r>
            <a:r>
              <a:rPr sz="1400" b="1" dirty="0">
                <a:solidFill>
                  <a:srgbClr val="595959"/>
                </a:solidFill>
                <a:latin typeface="Arial"/>
                <a:cs typeface="Arial"/>
              </a:rPr>
              <a:t>I </a:t>
            </a:r>
            <a:r>
              <a:rPr sz="1400" dirty="0">
                <a:solidFill>
                  <a:srgbClr val="595959"/>
                </a:solidFill>
                <a:latin typeface="Arial"/>
                <a:cs typeface="Arial"/>
              </a:rPr>
              <a:t>vs. mass</a:t>
            </a:r>
            <a:r>
              <a:rPr sz="1400" spc="-30" dirty="0">
                <a:solidFill>
                  <a:srgbClr val="595959"/>
                </a:solidFill>
                <a:latin typeface="Arial"/>
                <a:cs typeface="Arial"/>
              </a:rPr>
              <a:t> </a:t>
            </a:r>
            <a:r>
              <a:rPr sz="1400" b="1" dirty="0">
                <a:solidFill>
                  <a:srgbClr val="595959"/>
                </a:solidFill>
                <a:latin typeface="Arial"/>
                <a:cs typeface="Arial"/>
              </a:rPr>
              <a:t>m</a:t>
            </a:r>
            <a:r>
              <a:rPr sz="1400" dirty="0">
                <a:solidFill>
                  <a:srgbClr val="595959"/>
                </a:solidFill>
                <a:latin typeface="Arial"/>
                <a:cs typeface="Arial"/>
              </a:rPr>
              <a:t>.</a:t>
            </a:r>
            <a:endParaRPr sz="1400" dirty="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832860" cy="452120"/>
          </a:xfrm>
          <a:prstGeom prst="rect">
            <a:avLst/>
          </a:prstGeom>
        </p:spPr>
        <p:txBody>
          <a:bodyPr vert="horz" wrap="square" lIns="0" tIns="12700" rIns="0" bIns="0" rtlCol="0">
            <a:spAutoFit/>
          </a:bodyPr>
          <a:lstStyle/>
          <a:p>
            <a:pPr marL="12700">
              <a:lnSpc>
                <a:spcPct val="100000"/>
              </a:lnSpc>
              <a:spcBef>
                <a:spcPts val="100"/>
              </a:spcBef>
            </a:pPr>
            <a:r>
              <a:rPr spc="-10" dirty="0"/>
              <a:t>Angular </a:t>
            </a:r>
            <a:r>
              <a:rPr spc="-5" dirty="0"/>
              <a:t>Dynamics in</a:t>
            </a:r>
            <a:r>
              <a:rPr spc="-80" dirty="0"/>
              <a:t> </a:t>
            </a:r>
            <a:r>
              <a:rPr spc="-5" dirty="0"/>
              <a:t>2D</a:t>
            </a:r>
          </a:p>
        </p:txBody>
      </p:sp>
      <p:sp>
        <p:nvSpPr>
          <p:cNvPr id="3" name="object 3"/>
          <p:cNvSpPr txBox="1"/>
          <p:nvPr/>
        </p:nvSpPr>
        <p:spPr>
          <a:xfrm>
            <a:off x="475249" y="1162308"/>
            <a:ext cx="7474584" cy="1544955"/>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Objects are treated as thin </a:t>
            </a:r>
            <a:r>
              <a:rPr sz="1800" dirty="0">
                <a:solidFill>
                  <a:srgbClr val="595959"/>
                </a:solidFill>
                <a:latin typeface="Arial"/>
                <a:cs typeface="Arial"/>
              </a:rPr>
              <a:t>sheets </a:t>
            </a:r>
            <a:r>
              <a:rPr sz="1800" spc="-5" dirty="0">
                <a:solidFill>
                  <a:srgbClr val="595959"/>
                </a:solidFill>
                <a:latin typeface="Arial"/>
                <a:cs typeface="Arial"/>
              </a:rPr>
              <a:t>lying on the </a:t>
            </a:r>
            <a:r>
              <a:rPr sz="1800" i="1" dirty="0">
                <a:solidFill>
                  <a:srgbClr val="595959"/>
                </a:solidFill>
                <a:latin typeface="Arial"/>
                <a:cs typeface="Arial"/>
              </a:rPr>
              <a:t>xy</a:t>
            </a:r>
            <a:r>
              <a:rPr sz="1800" i="1" spc="50" dirty="0">
                <a:solidFill>
                  <a:srgbClr val="595959"/>
                </a:solidFill>
                <a:latin typeface="Arial"/>
                <a:cs typeface="Arial"/>
              </a:rPr>
              <a:t> </a:t>
            </a:r>
            <a:r>
              <a:rPr sz="1800" spc="-5" dirty="0">
                <a:solidFill>
                  <a:srgbClr val="595959"/>
                </a:solidFill>
                <a:latin typeface="Arial"/>
                <a:cs typeface="Arial"/>
              </a:rPr>
              <a:t>plane.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The axis of </a:t>
            </a:r>
            <a:r>
              <a:rPr sz="1400" dirty="0">
                <a:solidFill>
                  <a:srgbClr val="595959"/>
                </a:solidFill>
                <a:latin typeface="Arial"/>
                <a:cs typeface="Arial"/>
              </a:rPr>
              <a:t>rotation </a:t>
            </a:r>
            <a:r>
              <a:rPr sz="1400" spc="-5" dirty="0">
                <a:solidFill>
                  <a:srgbClr val="595959"/>
                </a:solidFill>
                <a:latin typeface="Arial"/>
                <a:cs typeface="Arial"/>
              </a:rPr>
              <a:t>is the </a:t>
            </a:r>
            <a:r>
              <a:rPr sz="1400" i="1" dirty="0">
                <a:solidFill>
                  <a:srgbClr val="595959"/>
                </a:solidFill>
                <a:latin typeface="Arial"/>
                <a:cs typeface="Arial"/>
              </a:rPr>
              <a:t>z</a:t>
            </a:r>
            <a:r>
              <a:rPr sz="1400" i="1" spc="-5" dirty="0">
                <a:solidFill>
                  <a:srgbClr val="595959"/>
                </a:solidFill>
                <a:latin typeface="Arial"/>
                <a:cs typeface="Arial"/>
              </a:rPr>
              <a:t> </a:t>
            </a:r>
            <a:r>
              <a:rPr sz="1400" spc="-5" dirty="0">
                <a:solidFill>
                  <a:srgbClr val="595959"/>
                </a:solidFill>
                <a:latin typeface="Arial"/>
                <a:cs typeface="Arial"/>
              </a:rPr>
              <a:t>axis.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Orientation is described by </a:t>
            </a:r>
            <a:r>
              <a:rPr sz="1800" dirty="0">
                <a:solidFill>
                  <a:srgbClr val="595959"/>
                </a:solidFill>
                <a:latin typeface="Arial"/>
                <a:cs typeface="Arial"/>
              </a:rPr>
              <a:t>a scalar,</a:t>
            </a:r>
            <a:r>
              <a:rPr sz="1800" spc="30" dirty="0">
                <a:solidFill>
                  <a:srgbClr val="595959"/>
                </a:solidFill>
                <a:latin typeface="Arial"/>
                <a:cs typeface="Arial"/>
              </a:rPr>
              <a:t> </a:t>
            </a:r>
            <a:r>
              <a:rPr sz="1800" spc="5" dirty="0">
                <a:solidFill>
                  <a:srgbClr val="595959"/>
                </a:solidFill>
                <a:latin typeface="Tahoma"/>
                <a:cs typeface="Tahoma"/>
              </a:rPr>
              <a:t>e</a:t>
            </a:r>
            <a:r>
              <a:rPr sz="1800" spc="5" dirty="0">
                <a:solidFill>
                  <a:srgbClr val="595959"/>
                </a:solidFill>
                <a:latin typeface="Arial"/>
                <a:cs typeface="Arial"/>
              </a:rPr>
              <a:t>.</a:t>
            </a:r>
            <a:endParaRPr sz="1800">
              <a:latin typeface="Arial"/>
              <a:cs typeface="Arial"/>
            </a:endParaRPr>
          </a:p>
          <a:p>
            <a:pPr marL="379095" marR="5080" indent="-366395">
              <a:lnSpc>
                <a:spcPct val="114599"/>
              </a:lnSpc>
              <a:buChar char="●"/>
              <a:tabLst>
                <a:tab pos="379095" algn="l"/>
                <a:tab pos="379730" algn="l"/>
              </a:tabLst>
            </a:pPr>
            <a:r>
              <a:rPr sz="1800" spc="-5" dirty="0">
                <a:solidFill>
                  <a:srgbClr val="595959"/>
                </a:solidFill>
                <a:latin typeface="Arial"/>
                <a:cs typeface="Arial"/>
              </a:rPr>
              <a:t>Angular </a:t>
            </a:r>
            <a:r>
              <a:rPr sz="1800" dirty="0">
                <a:solidFill>
                  <a:srgbClr val="595959"/>
                </a:solidFill>
                <a:latin typeface="Arial"/>
                <a:cs typeface="Arial"/>
              </a:rPr>
              <a:t>speed </a:t>
            </a:r>
            <a:r>
              <a:rPr sz="1800" spc="-5" dirty="0">
                <a:solidFill>
                  <a:srgbClr val="595959"/>
                </a:solidFill>
                <a:latin typeface="Arial"/>
                <a:cs typeface="Arial"/>
              </a:rPr>
              <a:t>is in </a:t>
            </a:r>
            <a:r>
              <a:rPr sz="1800" dirty="0">
                <a:solidFill>
                  <a:srgbClr val="595959"/>
                </a:solidFill>
                <a:latin typeface="Arial"/>
                <a:cs typeface="Arial"/>
              </a:rPr>
              <a:t>radians </a:t>
            </a:r>
            <a:r>
              <a:rPr sz="1800" spc="-5" dirty="0">
                <a:solidFill>
                  <a:srgbClr val="595959"/>
                </a:solidFill>
                <a:latin typeface="Arial"/>
                <a:cs typeface="Arial"/>
              </a:rPr>
              <a:t>per </a:t>
            </a:r>
            <a:r>
              <a:rPr sz="1800" dirty="0">
                <a:solidFill>
                  <a:srgbClr val="595959"/>
                </a:solidFill>
                <a:latin typeface="Arial"/>
                <a:cs typeface="Arial"/>
              </a:rPr>
              <a:t>second (rad/s), </a:t>
            </a:r>
            <a:r>
              <a:rPr sz="1800" spc="-5" dirty="0">
                <a:solidFill>
                  <a:srgbClr val="595959"/>
                </a:solidFill>
                <a:latin typeface="Arial"/>
                <a:cs typeface="Arial"/>
              </a:rPr>
              <a:t>and is the derivative of  orientation with </a:t>
            </a:r>
            <a:r>
              <a:rPr sz="1800" dirty="0">
                <a:solidFill>
                  <a:srgbClr val="595959"/>
                </a:solidFill>
                <a:latin typeface="Arial"/>
                <a:cs typeface="Arial"/>
              </a:rPr>
              <a:t>respect </a:t>
            </a:r>
            <a:r>
              <a:rPr sz="1800" spc="-5" dirty="0">
                <a:solidFill>
                  <a:srgbClr val="595959"/>
                </a:solidFill>
                <a:latin typeface="Arial"/>
                <a:cs typeface="Arial"/>
              </a:rPr>
              <a:t>to</a:t>
            </a:r>
            <a:r>
              <a:rPr sz="1800" spc="-20" dirty="0">
                <a:solidFill>
                  <a:srgbClr val="595959"/>
                </a:solidFill>
                <a:latin typeface="Arial"/>
                <a:cs typeface="Arial"/>
              </a:rPr>
              <a:t> </a:t>
            </a:r>
            <a:r>
              <a:rPr sz="1800" spc="-5" dirty="0">
                <a:solidFill>
                  <a:srgbClr val="595959"/>
                </a:solidFill>
                <a:latin typeface="Arial"/>
                <a:cs typeface="Arial"/>
              </a:rPr>
              <a:t>time.</a:t>
            </a:r>
            <a:endParaRPr sz="1800">
              <a:latin typeface="Arial"/>
              <a:cs typeface="Arial"/>
            </a:endParaRPr>
          </a:p>
        </p:txBody>
      </p:sp>
      <p:sp>
        <p:nvSpPr>
          <p:cNvPr id="4" name="object 4"/>
          <p:cNvSpPr txBox="1"/>
          <p:nvPr/>
        </p:nvSpPr>
        <p:spPr>
          <a:xfrm>
            <a:off x="475249" y="3435680"/>
            <a:ext cx="716089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And angular acceleration is in </a:t>
            </a:r>
            <a:r>
              <a:rPr sz="1800" dirty="0">
                <a:solidFill>
                  <a:srgbClr val="595959"/>
                </a:solidFill>
                <a:latin typeface="Arial"/>
                <a:cs typeface="Arial"/>
              </a:rPr>
              <a:t>radians </a:t>
            </a:r>
            <a:r>
              <a:rPr sz="1800" spc="-5" dirty="0">
                <a:solidFill>
                  <a:srgbClr val="595959"/>
                </a:solidFill>
                <a:latin typeface="Arial"/>
                <a:cs typeface="Arial"/>
              </a:rPr>
              <a:t>per </a:t>
            </a:r>
            <a:r>
              <a:rPr sz="1800" dirty="0">
                <a:solidFill>
                  <a:srgbClr val="595959"/>
                </a:solidFill>
                <a:latin typeface="Arial"/>
                <a:cs typeface="Arial"/>
              </a:rPr>
              <a:t>second squared</a:t>
            </a:r>
            <a:r>
              <a:rPr sz="1800" spc="-55" dirty="0">
                <a:solidFill>
                  <a:srgbClr val="595959"/>
                </a:solidFill>
                <a:latin typeface="Arial"/>
                <a:cs typeface="Arial"/>
              </a:rPr>
              <a:t> </a:t>
            </a:r>
            <a:r>
              <a:rPr sz="1800" dirty="0">
                <a:solidFill>
                  <a:srgbClr val="595959"/>
                </a:solidFill>
                <a:latin typeface="Arial"/>
                <a:cs typeface="Arial"/>
              </a:rPr>
              <a:t>(rad/s</a:t>
            </a:r>
            <a:r>
              <a:rPr sz="1800" baseline="30092" dirty="0">
                <a:solidFill>
                  <a:srgbClr val="595959"/>
                </a:solidFill>
                <a:latin typeface="Arial"/>
                <a:cs typeface="Arial"/>
              </a:rPr>
              <a:t>2</a:t>
            </a:r>
            <a:r>
              <a:rPr sz="1800" dirty="0">
                <a:solidFill>
                  <a:srgbClr val="595959"/>
                </a:solidFill>
                <a:latin typeface="Arial"/>
                <a:cs typeface="Arial"/>
              </a:rPr>
              <a:t>).</a:t>
            </a:r>
            <a:endParaRPr sz="1800">
              <a:latin typeface="Arial"/>
              <a:cs typeface="Arial"/>
            </a:endParaRPr>
          </a:p>
        </p:txBody>
      </p:sp>
      <p:sp>
        <p:nvSpPr>
          <p:cNvPr id="5" name="object 5"/>
          <p:cNvSpPr/>
          <p:nvPr/>
        </p:nvSpPr>
        <p:spPr>
          <a:xfrm>
            <a:off x="3490912" y="2809875"/>
            <a:ext cx="2162174" cy="59054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071812" y="3876675"/>
            <a:ext cx="3000374" cy="590549"/>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4492075" cy="520655"/>
          </a:xfrm>
          <a:prstGeom prst="rect">
            <a:avLst/>
          </a:prstGeom>
        </p:spPr>
        <p:txBody>
          <a:bodyPr vert="horz" wrap="square" lIns="0" tIns="12700" rIns="0" bIns="0" rtlCol="0">
            <a:spAutoFit/>
          </a:bodyPr>
          <a:lstStyle/>
          <a:p>
            <a:pPr marL="12700">
              <a:lnSpc>
                <a:spcPct val="100000"/>
              </a:lnSpc>
              <a:spcBef>
                <a:spcPts val="100"/>
              </a:spcBef>
            </a:pPr>
            <a:r>
              <a:rPr dirty="0"/>
              <a:t>Moment </a:t>
            </a:r>
            <a:r>
              <a:rPr spc="-5" dirty="0"/>
              <a:t>of Inertia in</a:t>
            </a:r>
            <a:r>
              <a:rPr spc="-100" dirty="0"/>
              <a:t> </a:t>
            </a:r>
            <a:r>
              <a:rPr spc="-5" dirty="0"/>
              <a:t>2D</a:t>
            </a:r>
          </a:p>
        </p:txBody>
      </p:sp>
      <p:sp>
        <p:nvSpPr>
          <p:cNvPr id="3" name="object 3"/>
          <p:cNvSpPr txBox="1"/>
          <p:nvPr/>
        </p:nvSpPr>
        <p:spPr>
          <a:xfrm>
            <a:off x="475249" y="1176350"/>
            <a:ext cx="8225790" cy="1530350"/>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dirty="0">
                <a:solidFill>
                  <a:srgbClr val="595959"/>
                </a:solidFill>
                <a:latin typeface="Arial"/>
                <a:cs typeface="Arial"/>
              </a:rPr>
              <a:t>Just </a:t>
            </a:r>
            <a:r>
              <a:rPr sz="1800" spc="-5" dirty="0">
                <a:solidFill>
                  <a:srgbClr val="595959"/>
                </a:solidFill>
                <a:latin typeface="Arial"/>
                <a:cs typeface="Arial"/>
              </a:rPr>
              <a:t>as </a:t>
            </a:r>
            <a:r>
              <a:rPr sz="1800" dirty="0">
                <a:solidFill>
                  <a:srgbClr val="595959"/>
                </a:solidFill>
                <a:latin typeface="Arial"/>
                <a:cs typeface="Arial"/>
              </a:rPr>
              <a:t>mass </a:t>
            </a:r>
            <a:r>
              <a:rPr sz="1800" spc="-5" dirty="0">
                <a:solidFill>
                  <a:srgbClr val="595959"/>
                </a:solidFill>
                <a:latin typeface="Arial"/>
                <a:cs typeface="Arial"/>
              </a:rPr>
              <a:t>describes an object’s </a:t>
            </a:r>
            <a:r>
              <a:rPr sz="1800" dirty="0">
                <a:solidFill>
                  <a:srgbClr val="595959"/>
                </a:solidFill>
                <a:latin typeface="Arial"/>
                <a:cs typeface="Arial"/>
              </a:rPr>
              <a:t>resistance </a:t>
            </a:r>
            <a:r>
              <a:rPr sz="1800" spc="-5" dirty="0">
                <a:solidFill>
                  <a:srgbClr val="595959"/>
                </a:solidFill>
                <a:latin typeface="Arial"/>
                <a:cs typeface="Arial"/>
              </a:rPr>
              <a:t>to </a:t>
            </a:r>
            <a:r>
              <a:rPr sz="1800" dirty="0">
                <a:solidFill>
                  <a:srgbClr val="595959"/>
                </a:solidFill>
                <a:latin typeface="Arial"/>
                <a:cs typeface="Arial"/>
              </a:rPr>
              <a:t>change </a:t>
            </a:r>
            <a:r>
              <a:rPr sz="1800" spc="-5" dirty="0">
                <a:solidFill>
                  <a:srgbClr val="595959"/>
                </a:solidFill>
                <a:latin typeface="Arial"/>
                <a:cs typeface="Arial"/>
              </a:rPr>
              <a:t>in linear </a:t>
            </a:r>
            <a:r>
              <a:rPr sz="1800" dirty="0">
                <a:solidFill>
                  <a:srgbClr val="595959"/>
                </a:solidFill>
                <a:latin typeface="Arial"/>
                <a:cs typeface="Arial"/>
              </a:rPr>
              <a:t>velocity, </a:t>
            </a:r>
            <a:r>
              <a:rPr sz="1800" spc="-5" dirty="0">
                <a:solidFill>
                  <a:srgbClr val="595959"/>
                </a:solidFill>
                <a:latin typeface="Arial"/>
                <a:cs typeface="Arial"/>
              </a:rPr>
              <a:t>the  </a:t>
            </a:r>
            <a:r>
              <a:rPr sz="1800" b="1" spc="-5" dirty="0">
                <a:solidFill>
                  <a:srgbClr val="595959"/>
                </a:solidFill>
                <a:latin typeface="Arial"/>
                <a:cs typeface="Arial"/>
              </a:rPr>
              <a:t>moment of inertia </a:t>
            </a:r>
            <a:r>
              <a:rPr sz="1800" spc="-5" dirty="0">
                <a:solidFill>
                  <a:srgbClr val="595959"/>
                </a:solidFill>
                <a:latin typeface="Arial"/>
                <a:cs typeface="Arial"/>
              </a:rPr>
              <a:t>describes an object’s </a:t>
            </a:r>
            <a:r>
              <a:rPr sz="1800" dirty="0">
                <a:solidFill>
                  <a:srgbClr val="595959"/>
                </a:solidFill>
                <a:latin typeface="Arial"/>
                <a:cs typeface="Arial"/>
              </a:rPr>
              <a:t>resistance </a:t>
            </a:r>
            <a:r>
              <a:rPr sz="1800" spc="-5" dirty="0">
                <a:solidFill>
                  <a:srgbClr val="595959"/>
                </a:solidFill>
                <a:latin typeface="Arial"/>
                <a:cs typeface="Arial"/>
              </a:rPr>
              <a:t>to </a:t>
            </a:r>
            <a:r>
              <a:rPr sz="1800" dirty="0">
                <a:solidFill>
                  <a:srgbClr val="595959"/>
                </a:solidFill>
                <a:latin typeface="Arial"/>
                <a:cs typeface="Arial"/>
              </a:rPr>
              <a:t>change </a:t>
            </a:r>
            <a:r>
              <a:rPr sz="1800" spc="-5" dirty="0">
                <a:solidFill>
                  <a:srgbClr val="595959"/>
                </a:solidFill>
                <a:latin typeface="Arial"/>
                <a:cs typeface="Arial"/>
              </a:rPr>
              <a:t>in angular  </a:t>
            </a:r>
            <a:r>
              <a:rPr sz="1800" dirty="0">
                <a:solidFill>
                  <a:srgbClr val="595959"/>
                </a:solidFill>
                <a:latin typeface="Arial"/>
                <a:cs typeface="Arial"/>
              </a:rPr>
              <a:t>speed.</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The </a:t>
            </a:r>
            <a:r>
              <a:rPr sz="1400" dirty="0">
                <a:solidFill>
                  <a:srgbClr val="595959"/>
                </a:solidFill>
                <a:latin typeface="Arial"/>
                <a:cs typeface="Arial"/>
              </a:rPr>
              <a:t>closer mass </a:t>
            </a:r>
            <a:r>
              <a:rPr sz="1400" spc="-5" dirty="0">
                <a:solidFill>
                  <a:srgbClr val="595959"/>
                </a:solidFill>
                <a:latin typeface="Arial"/>
                <a:cs typeface="Arial"/>
              </a:rPr>
              <a:t>is to the axis of </a:t>
            </a:r>
            <a:r>
              <a:rPr sz="1400" dirty="0">
                <a:solidFill>
                  <a:srgbClr val="595959"/>
                </a:solidFill>
                <a:latin typeface="Arial"/>
                <a:cs typeface="Arial"/>
              </a:rPr>
              <a:t>rotation, </a:t>
            </a:r>
            <a:r>
              <a:rPr sz="1400" spc="-5" dirty="0">
                <a:solidFill>
                  <a:srgbClr val="595959"/>
                </a:solidFill>
                <a:latin typeface="Arial"/>
                <a:cs typeface="Arial"/>
              </a:rPr>
              <a:t>the easier the object is to </a:t>
            </a:r>
            <a:r>
              <a:rPr sz="1400" dirty="0">
                <a:solidFill>
                  <a:srgbClr val="595959"/>
                </a:solidFill>
                <a:latin typeface="Arial"/>
                <a:cs typeface="Arial"/>
              </a:rPr>
              <a:t>rotate </a:t>
            </a:r>
            <a:r>
              <a:rPr sz="1400" spc="-5" dirty="0">
                <a:solidFill>
                  <a:srgbClr val="595959"/>
                </a:solidFill>
                <a:latin typeface="Arial"/>
                <a:cs typeface="Arial"/>
              </a:rPr>
              <a:t>around that</a:t>
            </a:r>
            <a:r>
              <a:rPr sz="1400" spc="-50" dirty="0">
                <a:solidFill>
                  <a:srgbClr val="595959"/>
                </a:solidFill>
                <a:latin typeface="Arial"/>
                <a:cs typeface="Arial"/>
              </a:rPr>
              <a:t> </a:t>
            </a:r>
            <a:r>
              <a:rPr sz="1400" spc="-5" dirty="0">
                <a:solidFill>
                  <a:srgbClr val="595959"/>
                </a:solidFill>
                <a:latin typeface="Arial"/>
                <a:cs typeface="Arial"/>
              </a:rPr>
              <a:t>axis.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Calculating the </a:t>
            </a:r>
            <a:r>
              <a:rPr sz="1800" dirty="0">
                <a:solidFill>
                  <a:srgbClr val="595959"/>
                </a:solidFill>
                <a:latin typeface="Arial"/>
                <a:cs typeface="Arial"/>
              </a:rPr>
              <a:t>moment </a:t>
            </a:r>
            <a:r>
              <a:rPr sz="1800" spc="-5" dirty="0">
                <a:solidFill>
                  <a:srgbClr val="595959"/>
                </a:solidFill>
                <a:latin typeface="Arial"/>
                <a:cs typeface="Arial"/>
              </a:rPr>
              <a:t>of inertia is beyond the </a:t>
            </a:r>
            <a:r>
              <a:rPr sz="1800" dirty="0">
                <a:solidFill>
                  <a:srgbClr val="595959"/>
                </a:solidFill>
                <a:latin typeface="Arial"/>
                <a:cs typeface="Arial"/>
              </a:rPr>
              <a:t>scope </a:t>
            </a:r>
            <a:r>
              <a:rPr sz="1800" spc="-5" dirty="0">
                <a:solidFill>
                  <a:srgbClr val="595959"/>
                </a:solidFill>
                <a:latin typeface="Arial"/>
                <a:cs typeface="Arial"/>
              </a:rPr>
              <a:t>of this</a:t>
            </a:r>
            <a:r>
              <a:rPr sz="1800" spc="-40" dirty="0">
                <a:solidFill>
                  <a:srgbClr val="595959"/>
                </a:solidFill>
                <a:latin typeface="Arial"/>
                <a:cs typeface="Arial"/>
              </a:rPr>
              <a:t> </a:t>
            </a:r>
            <a:r>
              <a:rPr sz="1800" spc="-5" dirty="0">
                <a:solidFill>
                  <a:srgbClr val="595959"/>
                </a:solidFill>
                <a:latin typeface="Arial"/>
                <a:cs typeface="Arial"/>
              </a:rPr>
              <a:t>lecture.</a:t>
            </a:r>
            <a:endParaRPr sz="18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3653875" cy="520655"/>
          </a:xfrm>
          <a:prstGeom prst="rect">
            <a:avLst/>
          </a:prstGeom>
        </p:spPr>
        <p:txBody>
          <a:bodyPr vert="horz" wrap="square" lIns="0" tIns="12700" rIns="0" bIns="0" rtlCol="0">
            <a:spAutoFit/>
          </a:bodyPr>
          <a:lstStyle/>
          <a:p>
            <a:pPr marL="12700">
              <a:lnSpc>
                <a:spcPct val="100000"/>
              </a:lnSpc>
              <a:spcBef>
                <a:spcPts val="100"/>
              </a:spcBef>
            </a:pPr>
            <a:r>
              <a:rPr spc="-5" dirty="0"/>
              <a:t>Calculating</a:t>
            </a:r>
            <a:r>
              <a:rPr spc="-85" dirty="0"/>
              <a:t> </a:t>
            </a:r>
            <a:r>
              <a:rPr spc="-5" dirty="0"/>
              <a:t>Torque</a:t>
            </a:r>
          </a:p>
        </p:txBody>
      </p:sp>
      <p:sp>
        <p:nvSpPr>
          <p:cNvPr id="3" name="object 3"/>
          <p:cNvSpPr txBox="1"/>
          <p:nvPr/>
        </p:nvSpPr>
        <p:spPr>
          <a:xfrm>
            <a:off x="475249" y="1176350"/>
            <a:ext cx="6877684" cy="115760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dirty="0">
                <a:solidFill>
                  <a:srgbClr val="595959"/>
                </a:solidFill>
                <a:latin typeface="Arial"/>
                <a:cs typeface="Arial"/>
              </a:rPr>
              <a:t>Make a vector, </a:t>
            </a:r>
            <a:r>
              <a:rPr sz="1800" b="1" dirty="0">
                <a:solidFill>
                  <a:srgbClr val="595959"/>
                </a:solidFill>
                <a:latin typeface="Arial"/>
                <a:cs typeface="Arial"/>
              </a:rPr>
              <a:t>r</a:t>
            </a:r>
            <a:r>
              <a:rPr sz="1800" dirty="0">
                <a:solidFill>
                  <a:srgbClr val="595959"/>
                </a:solidFill>
                <a:latin typeface="Arial"/>
                <a:cs typeface="Arial"/>
              </a:rPr>
              <a:t>, </a:t>
            </a:r>
            <a:r>
              <a:rPr sz="1800" spc="-5" dirty="0">
                <a:solidFill>
                  <a:srgbClr val="595959"/>
                </a:solidFill>
                <a:latin typeface="Arial"/>
                <a:cs typeface="Arial"/>
              </a:rPr>
              <a:t>from the </a:t>
            </a:r>
            <a:r>
              <a:rPr sz="1800" dirty="0">
                <a:solidFill>
                  <a:srgbClr val="595959"/>
                </a:solidFill>
                <a:latin typeface="Arial"/>
                <a:cs typeface="Arial"/>
              </a:rPr>
              <a:t>center </a:t>
            </a:r>
            <a:r>
              <a:rPr sz="1800" spc="-5" dirty="0">
                <a:solidFill>
                  <a:srgbClr val="595959"/>
                </a:solidFill>
                <a:latin typeface="Arial"/>
                <a:cs typeface="Arial"/>
              </a:rPr>
              <a:t>of </a:t>
            </a:r>
            <a:r>
              <a:rPr sz="1800" dirty="0">
                <a:solidFill>
                  <a:srgbClr val="595959"/>
                </a:solidFill>
                <a:latin typeface="Arial"/>
                <a:cs typeface="Arial"/>
              </a:rPr>
              <a:t>mass </a:t>
            </a:r>
            <a:r>
              <a:rPr sz="1800" spc="-5" dirty="0">
                <a:solidFill>
                  <a:srgbClr val="595959"/>
                </a:solidFill>
                <a:latin typeface="Arial"/>
                <a:cs typeface="Arial"/>
              </a:rPr>
              <a:t>to the point of</a:t>
            </a:r>
            <a:r>
              <a:rPr sz="1800" spc="-95" dirty="0">
                <a:solidFill>
                  <a:srgbClr val="595959"/>
                </a:solidFill>
                <a:latin typeface="Arial"/>
                <a:cs typeface="Arial"/>
              </a:rPr>
              <a:t> </a:t>
            </a:r>
            <a:r>
              <a:rPr sz="1800" dirty="0">
                <a:solidFill>
                  <a:srgbClr val="595959"/>
                </a:solidFill>
                <a:latin typeface="Arial"/>
                <a:cs typeface="Arial"/>
              </a:rPr>
              <a:t>contact.</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Torque is the </a:t>
            </a:r>
            <a:r>
              <a:rPr sz="1800" dirty="0">
                <a:solidFill>
                  <a:srgbClr val="595959"/>
                </a:solidFill>
                <a:latin typeface="Arial"/>
                <a:cs typeface="Arial"/>
              </a:rPr>
              <a:t>cross </a:t>
            </a:r>
            <a:r>
              <a:rPr sz="1800" spc="-5" dirty="0">
                <a:solidFill>
                  <a:srgbClr val="595959"/>
                </a:solidFill>
                <a:latin typeface="Arial"/>
                <a:cs typeface="Arial"/>
              </a:rPr>
              <a:t>product of </a:t>
            </a:r>
            <a:r>
              <a:rPr sz="1800" b="1" dirty="0">
                <a:solidFill>
                  <a:srgbClr val="595959"/>
                </a:solidFill>
                <a:latin typeface="Arial"/>
                <a:cs typeface="Arial"/>
              </a:rPr>
              <a:t>r </a:t>
            </a:r>
            <a:r>
              <a:rPr sz="1800" spc="-5" dirty="0">
                <a:solidFill>
                  <a:srgbClr val="595959"/>
                </a:solidFill>
                <a:latin typeface="Arial"/>
                <a:cs typeface="Arial"/>
              </a:rPr>
              <a:t>and</a:t>
            </a:r>
            <a:r>
              <a:rPr sz="1800" spc="20" dirty="0">
                <a:solidFill>
                  <a:srgbClr val="595959"/>
                </a:solidFill>
                <a:latin typeface="Arial"/>
                <a:cs typeface="Arial"/>
              </a:rPr>
              <a:t> </a:t>
            </a:r>
            <a:r>
              <a:rPr sz="1800" b="1" dirty="0">
                <a:solidFill>
                  <a:srgbClr val="595959"/>
                </a:solidFill>
                <a:latin typeface="Arial"/>
                <a:cs typeface="Arial"/>
              </a:rPr>
              <a:t>F</a:t>
            </a:r>
            <a:r>
              <a:rPr sz="1800" dirty="0">
                <a:solidFill>
                  <a:srgbClr val="595959"/>
                </a:solidFill>
                <a:latin typeface="Arial"/>
                <a:cs typeface="Arial"/>
              </a:rPr>
              <a:t>.</a:t>
            </a:r>
            <a:endParaRPr sz="1800">
              <a:latin typeface="Arial"/>
              <a:cs typeface="Arial"/>
            </a:endParaRPr>
          </a:p>
          <a:p>
            <a:pPr marL="836294" marR="2598420" lvl="1" indent="-335915">
              <a:lnSpc>
                <a:spcPct val="116100"/>
              </a:lnSpc>
              <a:spcBef>
                <a:spcPts val="60"/>
              </a:spcBef>
              <a:buChar char="○"/>
              <a:tabLst>
                <a:tab pos="836294" algn="l"/>
                <a:tab pos="836930" algn="l"/>
              </a:tabLst>
            </a:pPr>
            <a:r>
              <a:rPr sz="1400" spc="-5" dirty="0">
                <a:solidFill>
                  <a:srgbClr val="595959"/>
                </a:solidFill>
                <a:latin typeface="Arial"/>
                <a:cs typeface="Arial"/>
              </a:rPr>
              <a:t>Force applied to the </a:t>
            </a:r>
            <a:r>
              <a:rPr sz="1400" dirty="0">
                <a:solidFill>
                  <a:srgbClr val="595959"/>
                </a:solidFill>
                <a:latin typeface="Arial"/>
                <a:cs typeface="Arial"/>
              </a:rPr>
              <a:t>center </a:t>
            </a:r>
            <a:r>
              <a:rPr sz="1400" spc="-5" dirty="0">
                <a:solidFill>
                  <a:srgbClr val="595959"/>
                </a:solidFill>
                <a:latin typeface="Arial"/>
                <a:cs typeface="Arial"/>
              </a:rPr>
              <a:t>of </a:t>
            </a:r>
            <a:r>
              <a:rPr sz="1400" dirty="0">
                <a:solidFill>
                  <a:srgbClr val="595959"/>
                </a:solidFill>
                <a:latin typeface="Arial"/>
                <a:cs typeface="Arial"/>
              </a:rPr>
              <a:t>mass yields</a:t>
            </a:r>
            <a:r>
              <a:rPr sz="1400" spc="-90" dirty="0">
                <a:solidFill>
                  <a:srgbClr val="595959"/>
                </a:solidFill>
                <a:latin typeface="Arial"/>
                <a:cs typeface="Arial"/>
              </a:rPr>
              <a:t> </a:t>
            </a:r>
            <a:r>
              <a:rPr sz="1400" dirty="0">
                <a:solidFill>
                  <a:srgbClr val="595959"/>
                </a:solidFill>
                <a:latin typeface="Arial"/>
                <a:cs typeface="Arial"/>
              </a:rPr>
              <a:t>a  cross </a:t>
            </a:r>
            <a:r>
              <a:rPr sz="1400" spc="-5" dirty="0">
                <a:solidFill>
                  <a:srgbClr val="595959"/>
                </a:solidFill>
                <a:latin typeface="Arial"/>
                <a:cs typeface="Arial"/>
              </a:rPr>
              <a:t>product of</a:t>
            </a:r>
            <a:r>
              <a:rPr sz="1400" spc="-20" dirty="0">
                <a:solidFill>
                  <a:srgbClr val="595959"/>
                </a:solidFill>
                <a:latin typeface="Arial"/>
                <a:cs typeface="Arial"/>
              </a:rPr>
              <a:t> </a:t>
            </a:r>
            <a:r>
              <a:rPr sz="1400" spc="-5" dirty="0">
                <a:solidFill>
                  <a:srgbClr val="595959"/>
                </a:solidFill>
                <a:latin typeface="Arial"/>
                <a:cs typeface="Arial"/>
              </a:rPr>
              <a:t>0.</a:t>
            </a:r>
            <a:endParaRPr sz="1400">
              <a:latin typeface="Arial"/>
              <a:cs typeface="Arial"/>
            </a:endParaRPr>
          </a:p>
        </p:txBody>
      </p:sp>
      <p:sp>
        <p:nvSpPr>
          <p:cNvPr id="4" name="object 4"/>
          <p:cNvSpPr txBox="1"/>
          <p:nvPr/>
        </p:nvSpPr>
        <p:spPr>
          <a:xfrm>
            <a:off x="475249" y="3014676"/>
            <a:ext cx="4479290" cy="968375"/>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Torque is </a:t>
            </a:r>
            <a:r>
              <a:rPr sz="1800" dirty="0">
                <a:solidFill>
                  <a:srgbClr val="595959"/>
                </a:solidFill>
                <a:latin typeface="Arial"/>
                <a:cs typeface="Arial"/>
              </a:rPr>
              <a:t>related </a:t>
            </a:r>
            <a:r>
              <a:rPr sz="1800" spc="-5" dirty="0">
                <a:solidFill>
                  <a:srgbClr val="595959"/>
                </a:solidFill>
                <a:latin typeface="Arial"/>
                <a:cs typeface="Arial"/>
              </a:rPr>
              <a:t>to angular acceleration  and the </a:t>
            </a:r>
            <a:r>
              <a:rPr sz="1800" dirty="0">
                <a:solidFill>
                  <a:srgbClr val="595959"/>
                </a:solidFill>
                <a:latin typeface="Arial"/>
                <a:cs typeface="Arial"/>
              </a:rPr>
              <a:t>moment </a:t>
            </a:r>
            <a:r>
              <a:rPr sz="1800" spc="-5" dirty="0">
                <a:solidFill>
                  <a:srgbClr val="595959"/>
                </a:solidFill>
                <a:latin typeface="Arial"/>
                <a:cs typeface="Arial"/>
              </a:rPr>
              <a:t>of inertia </a:t>
            </a:r>
            <a:r>
              <a:rPr sz="1800" dirty="0">
                <a:solidFill>
                  <a:srgbClr val="595959"/>
                </a:solidFill>
                <a:latin typeface="Arial"/>
                <a:cs typeface="Arial"/>
              </a:rPr>
              <a:t>similarly </a:t>
            </a:r>
            <a:r>
              <a:rPr sz="1800" spc="-5" dirty="0">
                <a:solidFill>
                  <a:srgbClr val="595959"/>
                </a:solidFill>
                <a:latin typeface="Arial"/>
                <a:cs typeface="Arial"/>
              </a:rPr>
              <a:t>to  </a:t>
            </a:r>
            <a:r>
              <a:rPr sz="1800" dirty="0">
                <a:solidFill>
                  <a:srgbClr val="595959"/>
                </a:solidFill>
                <a:latin typeface="Arial"/>
                <a:cs typeface="Arial"/>
              </a:rPr>
              <a:t>mass </a:t>
            </a:r>
            <a:r>
              <a:rPr sz="1800" spc="-5" dirty="0">
                <a:solidFill>
                  <a:srgbClr val="595959"/>
                </a:solidFill>
                <a:latin typeface="Arial"/>
                <a:cs typeface="Arial"/>
              </a:rPr>
              <a:t>and linear</a:t>
            </a:r>
            <a:r>
              <a:rPr sz="1800" spc="-25" dirty="0">
                <a:solidFill>
                  <a:srgbClr val="595959"/>
                </a:solidFill>
                <a:latin typeface="Arial"/>
                <a:cs typeface="Arial"/>
              </a:rPr>
              <a:t> </a:t>
            </a:r>
            <a:r>
              <a:rPr sz="1800" spc="-5" dirty="0">
                <a:solidFill>
                  <a:srgbClr val="595959"/>
                </a:solidFill>
                <a:latin typeface="Arial"/>
                <a:cs typeface="Arial"/>
              </a:rPr>
              <a:t>acceleration.</a:t>
            </a:r>
            <a:endParaRPr sz="1800">
              <a:latin typeface="Arial"/>
              <a:cs typeface="Arial"/>
            </a:endParaRPr>
          </a:p>
        </p:txBody>
      </p:sp>
      <p:sp>
        <p:nvSpPr>
          <p:cNvPr id="5" name="object 5"/>
          <p:cNvSpPr/>
          <p:nvPr/>
        </p:nvSpPr>
        <p:spPr>
          <a:xfrm>
            <a:off x="5055859" y="2005502"/>
            <a:ext cx="3733359" cy="2403670"/>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2335325" y="2646375"/>
            <a:ext cx="1187374" cy="207799"/>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117375" y="4093575"/>
            <a:ext cx="3111449" cy="334774"/>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5787475" cy="520655"/>
          </a:xfrm>
          <a:prstGeom prst="rect">
            <a:avLst/>
          </a:prstGeom>
        </p:spPr>
        <p:txBody>
          <a:bodyPr vert="horz" wrap="square" lIns="0" tIns="12700" rIns="0" bIns="0" rtlCol="0">
            <a:spAutoFit/>
          </a:bodyPr>
          <a:lstStyle/>
          <a:p>
            <a:pPr marL="12700">
              <a:lnSpc>
                <a:spcPct val="100000"/>
              </a:lnSpc>
              <a:spcBef>
                <a:spcPts val="100"/>
              </a:spcBef>
            </a:pPr>
            <a:r>
              <a:rPr spc="-10" dirty="0"/>
              <a:t>Solving Angular Equations </a:t>
            </a:r>
            <a:r>
              <a:rPr spc="-5" dirty="0"/>
              <a:t>in</a:t>
            </a:r>
            <a:r>
              <a:rPr spc="-70" dirty="0"/>
              <a:t> </a:t>
            </a:r>
            <a:r>
              <a:rPr spc="-5" dirty="0"/>
              <a:t>2D</a:t>
            </a:r>
          </a:p>
        </p:txBody>
      </p:sp>
      <p:sp>
        <p:nvSpPr>
          <p:cNvPr id="3" name="object 3"/>
          <p:cNvSpPr txBox="1"/>
          <p:nvPr/>
        </p:nvSpPr>
        <p:spPr>
          <a:xfrm>
            <a:off x="475249" y="1176350"/>
            <a:ext cx="7781290" cy="654050"/>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dirty="0">
                <a:solidFill>
                  <a:srgbClr val="595959"/>
                </a:solidFill>
                <a:latin typeface="Arial"/>
                <a:cs typeface="Arial"/>
              </a:rPr>
              <a:t>Just </a:t>
            </a:r>
            <a:r>
              <a:rPr sz="1800" spc="-5" dirty="0">
                <a:solidFill>
                  <a:srgbClr val="595959"/>
                </a:solidFill>
                <a:latin typeface="Arial"/>
                <a:cs typeface="Arial"/>
              </a:rPr>
              <a:t>like linear dynamics, we have </a:t>
            </a:r>
            <a:r>
              <a:rPr sz="1800" dirty="0">
                <a:solidFill>
                  <a:srgbClr val="595959"/>
                </a:solidFill>
                <a:latin typeface="Arial"/>
                <a:cs typeface="Arial"/>
              </a:rPr>
              <a:t>some </a:t>
            </a:r>
            <a:r>
              <a:rPr sz="1800" spc="-5" dirty="0">
                <a:solidFill>
                  <a:srgbClr val="595959"/>
                </a:solidFill>
                <a:latin typeface="Arial"/>
                <a:cs typeface="Arial"/>
              </a:rPr>
              <a:t>ordinary differential equations to  </a:t>
            </a:r>
            <a:r>
              <a:rPr sz="1800" dirty="0">
                <a:solidFill>
                  <a:srgbClr val="595959"/>
                </a:solidFill>
                <a:latin typeface="Arial"/>
                <a:cs typeface="Arial"/>
              </a:rPr>
              <a:t>solve:</a:t>
            </a:r>
            <a:endParaRPr sz="1800">
              <a:latin typeface="Arial"/>
              <a:cs typeface="Arial"/>
            </a:endParaRPr>
          </a:p>
        </p:txBody>
      </p:sp>
      <p:sp>
        <p:nvSpPr>
          <p:cNvPr id="4" name="object 4"/>
          <p:cNvSpPr txBox="1"/>
          <p:nvPr/>
        </p:nvSpPr>
        <p:spPr>
          <a:xfrm>
            <a:off x="475249" y="2559380"/>
            <a:ext cx="654812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And again just like linear, we </a:t>
            </a:r>
            <a:r>
              <a:rPr sz="1800" dirty="0">
                <a:solidFill>
                  <a:srgbClr val="595959"/>
                </a:solidFill>
                <a:latin typeface="Arial"/>
                <a:cs typeface="Arial"/>
              </a:rPr>
              <a:t>can solve </a:t>
            </a:r>
            <a:r>
              <a:rPr sz="1800" spc="-5" dirty="0">
                <a:solidFill>
                  <a:srgbClr val="595959"/>
                </a:solidFill>
                <a:latin typeface="Arial"/>
                <a:cs typeface="Arial"/>
              </a:rPr>
              <a:t>them with</a:t>
            </a:r>
            <a:r>
              <a:rPr sz="1800" spc="-80" dirty="0">
                <a:solidFill>
                  <a:srgbClr val="595959"/>
                </a:solidFill>
                <a:latin typeface="Arial"/>
                <a:cs typeface="Arial"/>
              </a:rPr>
              <a:t> </a:t>
            </a:r>
            <a:r>
              <a:rPr sz="1800" spc="-5" dirty="0">
                <a:solidFill>
                  <a:srgbClr val="595959"/>
                </a:solidFill>
                <a:latin typeface="Arial"/>
                <a:cs typeface="Arial"/>
              </a:rPr>
              <a:t>integration:</a:t>
            </a:r>
            <a:endParaRPr sz="1800">
              <a:latin typeface="Arial"/>
              <a:cs typeface="Arial"/>
            </a:endParaRPr>
          </a:p>
        </p:txBody>
      </p:sp>
      <p:sp>
        <p:nvSpPr>
          <p:cNvPr id="5" name="object 5"/>
          <p:cNvSpPr txBox="1"/>
          <p:nvPr/>
        </p:nvSpPr>
        <p:spPr>
          <a:xfrm>
            <a:off x="475249" y="4102430"/>
            <a:ext cx="437642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Don’t actually use explicit Euler</a:t>
            </a:r>
            <a:r>
              <a:rPr sz="1800" spc="-80" dirty="0">
                <a:solidFill>
                  <a:srgbClr val="595959"/>
                </a:solidFill>
                <a:latin typeface="Arial"/>
                <a:cs typeface="Arial"/>
              </a:rPr>
              <a:t> </a:t>
            </a:r>
            <a:r>
              <a:rPr sz="1800" spc="-5" dirty="0">
                <a:solidFill>
                  <a:srgbClr val="595959"/>
                </a:solidFill>
                <a:latin typeface="Arial"/>
                <a:cs typeface="Arial"/>
              </a:rPr>
              <a:t>though.</a:t>
            </a:r>
            <a:endParaRPr sz="1800">
              <a:latin typeface="Arial"/>
              <a:cs typeface="Arial"/>
            </a:endParaRPr>
          </a:p>
        </p:txBody>
      </p:sp>
      <p:sp>
        <p:nvSpPr>
          <p:cNvPr id="6" name="object 6"/>
          <p:cNvSpPr/>
          <p:nvPr/>
        </p:nvSpPr>
        <p:spPr>
          <a:xfrm>
            <a:off x="2794625" y="2041774"/>
            <a:ext cx="1295159" cy="269824"/>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5333575" y="2041774"/>
            <a:ext cx="1015811" cy="269824"/>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3808750" y="3004274"/>
            <a:ext cx="1526511" cy="422224"/>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3714750" y="3618413"/>
            <a:ext cx="1618824" cy="224836"/>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832860" cy="452120"/>
          </a:xfrm>
          <a:prstGeom prst="rect">
            <a:avLst/>
          </a:prstGeom>
        </p:spPr>
        <p:txBody>
          <a:bodyPr vert="horz" wrap="square" lIns="0" tIns="12700" rIns="0" bIns="0" rtlCol="0">
            <a:spAutoFit/>
          </a:bodyPr>
          <a:lstStyle/>
          <a:p>
            <a:pPr marL="12700">
              <a:lnSpc>
                <a:spcPct val="100000"/>
              </a:lnSpc>
              <a:spcBef>
                <a:spcPts val="100"/>
              </a:spcBef>
            </a:pPr>
            <a:r>
              <a:rPr spc="-10" dirty="0"/>
              <a:t>Angular </a:t>
            </a:r>
            <a:r>
              <a:rPr spc="-5" dirty="0"/>
              <a:t>Dynamics in</a:t>
            </a:r>
            <a:r>
              <a:rPr spc="-80" dirty="0"/>
              <a:t> </a:t>
            </a:r>
            <a:r>
              <a:rPr spc="-5" dirty="0"/>
              <a:t>3D</a:t>
            </a:r>
          </a:p>
        </p:txBody>
      </p:sp>
      <p:sp>
        <p:nvSpPr>
          <p:cNvPr id="3" name="object 3"/>
          <p:cNvSpPr txBox="1"/>
          <p:nvPr/>
        </p:nvSpPr>
        <p:spPr>
          <a:xfrm>
            <a:off x="475249" y="1176350"/>
            <a:ext cx="6496685" cy="159702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Ok, that 2D </a:t>
            </a:r>
            <a:r>
              <a:rPr sz="1800" dirty="0">
                <a:solidFill>
                  <a:srgbClr val="595959"/>
                </a:solidFill>
                <a:latin typeface="Arial"/>
                <a:cs typeface="Arial"/>
              </a:rPr>
              <a:t>stuff </a:t>
            </a:r>
            <a:r>
              <a:rPr sz="1800" spc="-5" dirty="0">
                <a:solidFill>
                  <a:srgbClr val="595959"/>
                </a:solidFill>
                <a:latin typeface="Arial"/>
                <a:cs typeface="Arial"/>
              </a:rPr>
              <a:t>is </a:t>
            </a:r>
            <a:r>
              <a:rPr sz="1800" dirty="0">
                <a:solidFill>
                  <a:srgbClr val="595959"/>
                </a:solidFill>
                <a:latin typeface="Arial"/>
                <a:cs typeface="Arial"/>
              </a:rPr>
              <a:t>cool </a:t>
            </a:r>
            <a:r>
              <a:rPr sz="1800" spc="-5" dirty="0">
                <a:solidFill>
                  <a:srgbClr val="595959"/>
                </a:solidFill>
                <a:latin typeface="Arial"/>
                <a:cs typeface="Arial"/>
              </a:rPr>
              <a:t>and all, but aren’t we working in</a:t>
            </a:r>
            <a:r>
              <a:rPr sz="1800" spc="-60" dirty="0">
                <a:solidFill>
                  <a:srgbClr val="595959"/>
                </a:solidFill>
                <a:latin typeface="Arial"/>
                <a:cs typeface="Arial"/>
              </a:rPr>
              <a:t> </a:t>
            </a:r>
            <a:r>
              <a:rPr sz="1800" spc="-5" dirty="0">
                <a:solidFill>
                  <a:srgbClr val="595959"/>
                </a:solidFill>
                <a:latin typeface="Arial"/>
                <a:cs typeface="Arial"/>
              </a:rPr>
              <a:t>3D?</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Yes!</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The </a:t>
            </a:r>
            <a:r>
              <a:rPr sz="1800" dirty="0">
                <a:solidFill>
                  <a:srgbClr val="595959"/>
                </a:solidFill>
                <a:latin typeface="Arial"/>
                <a:cs typeface="Arial"/>
              </a:rPr>
              <a:t>concepts </a:t>
            </a:r>
            <a:r>
              <a:rPr sz="1800" spc="-5" dirty="0">
                <a:solidFill>
                  <a:srgbClr val="595959"/>
                </a:solidFill>
                <a:latin typeface="Arial"/>
                <a:cs typeface="Arial"/>
              </a:rPr>
              <a:t>are</a:t>
            </a:r>
            <a:r>
              <a:rPr sz="1800" spc="-15" dirty="0">
                <a:solidFill>
                  <a:srgbClr val="595959"/>
                </a:solidFill>
                <a:latin typeface="Arial"/>
                <a:cs typeface="Arial"/>
              </a:rPr>
              <a:t> </a:t>
            </a:r>
            <a:r>
              <a:rPr sz="1800" dirty="0">
                <a:solidFill>
                  <a:srgbClr val="595959"/>
                </a:solidFill>
                <a:latin typeface="Arial"/>
                <a:cs typeface="Arial"/>
              </a:rPr>
              <a:t>similar.</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The </a:t>
            </a:r>
            <a:r>
              <a:rPr sz="1800" dirty="0">
                <a:solidFill>
                  <a:srgbClr val="595959"/>
                </a:solidFill>
                <a:latin typeface="Arial"/>
                <a:cs typeface="Arial"/>
              </a:rPr>
              <a:t>math </a:t>
            </a:r>
            <a:r>
              <a:rPr sz="1800" spc="-5" dirty="0">
                <a:solidFill>
                  <a:srgbClr val="595959"/>
                </a:solidFill>
                <a:latin typeface="Arial"/>
                <a:cs typeface="Arial"/>
              </a:rPr>
              <a:t>is </a:t>
            </a:r>
            <a:r>
              <a:rPr sz="1800" dirty="0">
                <a:solidFill>
                  <a:srgbClr val="595959"/>
                </a:solidFill>
                <a:latin typeface="Arial"/>
                <a:cs typeface="Arial"/>
              </a:rPr>
              <a:t>more</a:t>
            </a:r>
            <a:r>
              <a:rPr sz="1800" spc="-20" dirty="0">
                <a:solidFill>
                  <a:srgbClr val="595959"/>
                </a:solidFill>
                <a:latin typeface="Arial"/>
                <a:cs typeface="Arial"/>
              </a:rPr>
              <a:t> </a:t>
            </a:r>
            <a:r>
              <a:rPr sz="1800" dirty="0">
                <a:solidFill>
                  <a:srgbClr val="595959"/>
                </a:solidFill>
                <a:latin typeface="Arial"/>
                <a:cs typeface="Arial"/>
              </a:rPr>
              <a:t>complex.</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Brace</a:t>
            </a:r>
            <a:r>
              <a:rPr sz="1800" spc="-15" dirty="0">
                <a:solidFill>
                  <a:srgbClr val="595959"/>
                </a:solidFill>
                <a:latin typeface="Arial"/>
                <a:cs typeface="Arial"/>
              </a:rPr>
              <a:t> </a:t>
            </a:r>
            <a:r>
              <a:rPr sz="1800" dirty="0">
                <a:solidFill>
                  <a:srgbClr val="595959"/>
                </a:solidFill>
                <a:latin typeface="Arial"/>
                <a:cs typeface="Arial"/>
              </a:rPr>
              <a:t>yourselves.</a:t>
            </a:r>
            <a:endParaRPr sz="18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922905" cy="452120"/>
          </a:xfrm>
          <a:prstGeom prst="rect">
            <a:avLst/>
          </a:prstGeom>
        </p:spPr>
        <p:txBody>
          <a:bodyPr vert="horz" wrap="square" lIns="0" tIns="12700" rIns="0" bIns="0" rtlCol="0">
            <a:spAutoFit/>
          </a:bodyPr>
          <a:lstStyle/>
          <a:p>
            <a:pPr marL="12700">
              <a:lnSpc>
                <a:spcPct val="100000"/>
              </a:lnSpc>
              <a:spcBef>
                <a:spcPts val="100"/>
              </a:spcBef>
            </a:pPr>
            <a:r>
              <a:rPr spc="-5" dirty="0"/>
              <a:t>The Inertia</a:t>
            </a:r>
            <a:r>
              <a:rPr spc="-100" dirty="0"/>
              <a:t> </a:t>
            </a:r>
            <a:r>
              <a:rPr spc="-5" dirty="0"/>
              <a:t>Tensor</a:t>
            </a:r>
          </a:p>
        </p:txBody>
      </p:sp>
      <p:sp>
        <p:nvSpPr>
          <p:cNvPr id="3" name="object 3"/>
          <p:cNvSpPr txBox="1"/>
          <p:nvPr/>
        </p:nvSpPr>
        <p:spPr>
          <a:xfrm>
            <a:off x="475249" y="1176350"/>
            <a:ext cx="7298690" cy="121602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The 3D equivalent of the 2D </a:t>
            </a:r>
            <a:r>
              <a:rPr sz="1800" dirty="0">
                <a:solidFill>
                  <a:srgbClr val="595959"/>
                </a:solidFill>
                <a:latin typeface="Arial"/>
                <a:cs typeface="Arial"/>
              </a:rPr>
              <a:t>moment </a:t>
            </a:r>
            <a:r>
              <a:rPr sz="1800" spc="-5" dirty="0">
                <a:solidFill>
                  <a:srgbClr val="595959"/>
                </a:solidFill>
                <a:latin typeface="Arial"/>
                <a:cs typeface="Arial"/>
              </a:rPr>
              <a:t>of</a:t>
            </a:r>
            <a:r>
              <a:rPr sz="1800" spc="-25" dirty="0">
                <a:solidFill>
                  <a:srgbClr val="595959"/>
                </a:solidFill>
                <a:latin typeface="Arial"/>
                <a:cs typeface="Arial"/>
              </a:rPr>
              <a:t> </a:t>
            </a:r>
            <a:r>
              <a:rPr sz="1800" spc="-5" dirty="0">
                <a:solidFill>
                  <a:srgbClr val="595959"/>
                </a:solidFill>
                <a:latin typeface="Arial"/>
                <a:cs typeface="Arial"/>
              </a:rPr>
              <a:t>inertia.</a:t>
            </a:r>
            <a:endParaRPr sz="1800">
              <a:latin typeface="Arial"/>
              <a:cs typeface="Arial"/>
            </a:endParaRPr>
          </a:p>
          <a:p>
            <a:pPr marL="379095" indent="-366395">
              <a:lnSpc>
                <a:spcPct val="100000"/>
              </a:lnSpc>
              <a:spcBef>
                <a:spcPts val="315"/>
              </a:spcBef>
              <a:buChar char="●"/>
              <a:tabLst>
                <a:tab pos="379095" algn="l"/>
                <a:tab pos="379730" algn="l"/>
              </a:tabLst>
            </a:pPr>
            <a:r>
              <a:rPr sz="1800" dirty="0">
                <a:solidFill>
                  <a:srgbClr val="595959"/>
                </a:solidFill>
                <a:latin typeface="Arial"/>
                <a:cs typeface="Arial"/>
              </a:rPr>
              <a:t>A </a:t>
            </a:r>
            <a:r>
              <a:rPr sz="1800" spc="-5" dirty="0">
                <a:solidFill>
                  <a:srgbClr val="595959"/>
                </a:solidFill>
                <a:latin typeface="Arial"/>
                <a:cs typeface="Arial"/>
              </a:rPr>
              <a:t>3D body will have different distributions of </a:t>
            </a:r>
            <a:r>
              <a:rPr sz="1800" dirty="0">
                <a:solidFill>
                  <a:srgbClr val="595959"/>
                </a:solidFill>
                <a:latin typeface="Arial"/>
                <a:cs typeface="Arial"/>
              </a:rPr>
              <a:t>mass </a:t>
            </a:r>
            <a:r>
              <a:rPr sz="1800" spc="-5" dirty="0">
                <a:solidFill>
                  <a:srgbClr val="595959"/>
                </a:solidFill>
                <a:latin typeface="Arial"/>
                <a:cs typeface="Arial"/>
              </a:rPr>
              <a:t>around each</a:t>
            </a:r>
            <a:r>
              <a:rPr sz="1800" spc="-75" dirty="0">
                <a:solidFill>
                  <a:srgbClr val="595959"/>
                </a:solidFill>
                <a:latin typeface="Arial"/>
                <a:cs typeface="Arial"/>
              </a:rPr>
              <a:t> </a:t>
            </a:r>
            <a:r>
              <a:rPr sz="1800" spc="-5" dirty="0">
                <a:solidFill>
                  <a:srgbClr val="595959"/>
                </a:solidFill>
                <a:latin typeface="Arial"/>
                <a:cs typeface="Arial"/>
              </a:rPr>
              <a:t>axis.</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Therefore, it will have different </a:t>
            </a:r>
            <a:r>
              <a:rPr sz="1400" dirty="0">
                <a:solidFill>
                  <a:srgbClr val="595959"/>
                </a:solidFill>
                <a:latin typeface="Arial"/>
                <a:cs typeface="Arial"/>
              </a:rPr>
              <a:t>moments </a:t>
            </a:r>
            <a:r>
              <a:rPr sz="1400" spc="-5" dirty="0">
                <a:solidFill>
                  <a:srgbClr val="595959"/>
                </a:solidFill>
                <a:latin typeface="Arial"/>
                <a:cs typeface="Arial"/>
              </a:rPr>
              <a:t>of inertia for each</a:t>
            </a:r>
            <a:r>
              <a:rPr sz="1400" spc="-25" dirty="0">
                <a:solidFill>
                  <a:srgbClr val="595959"/>
                </a:solidFill>
                <a:latin typeface="Arial"/>
                <a:cs typeface="Arial"/>
              </a:rPr>
              <a:t> </a:t>
            </a:r>
            <a:r>
              <a:rPr sz="1400" spc="-5" dirty="0">
                <a:solidFill>
                  <a:srgbClr val="595959"/>
                </a:solidFill>
                <a:latin typeface="Arial"/>
                <a:cs typeface="Arial"/>
              </a:rPr>
              <a:t>axis.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The </a:t>
            </a:r>
            <a:r>
              <a:rPr sz="1800" b="1" spc="-5" dirty="0">
                <a:solidFill>
                  <a:srgbClr val="595959"/>
                </a:solidFill>
                <a:latin typeface="Arial"/>
                <a:cs typeface="Arial"/>
              </a:rPr>
              <a:t>inertia </a:t>
            </a:r>
            <a:r>
              <a:rPr sz="1800" b="1" dirty="0">
                <a:solidFill>
                  <a:srgbClr val="595959"/>
                </a:solidFill>
                <a:latin typeface="Arial"/>
                <a:cs typeface="Arial"/>
              </a:rPr>
              <a:t>tensor </a:t>
            </a:r>
            <a:r>
              <a:rPr sz="1800" spc="-5" dirty="0">
                <a:solidFill>
                  <a:srgbClr val="595959"/>
                </a:solidFill>
                <a:latin typeface="Arial"/>
                <a:cs typeface="Arial"/>
              </a:rPr>
              <a:t>is </a:t>
            </a:r>
            <a:r>
              <a:rPr sz="1800" dirty="0">
                <a:solidFill>
                  <a:srgbClr val="595959"/>
                </a:solidFill>
                <a:latin typeface="Arial"/>
                <a:cs typeface="Arial"/>
              </a:rPr>
              <a:t>a 3 x 3 matrix,</a:t>
            </a:r>
            <a:r>
              <a:rPr sz="1800" spc="5" dirty="0">
                <a:solidFill>
                  <a:srgbClr val="595959"/>
                </a:solidFill>
                <a:latin typeface="Arial"/>
                <a:cs typeface="Arial"/>
              </a:rPr>
              <a:t> </a:t>
            </a:r>
            <a:r>
              <a:rPr sz="1800" b="1" dirty="0">
                <a:solidFill>
                  <a:srgbClr val="595959"/>
                </a:solidFill>
                <a:latin typeface="Arial"/>
                <a:cs typeface="Arial"/>
              </a:rPr>
              <a:t>I</a:t>
            </a:r>
            <a:r>
              <a:rPr sz="1800" dirty="0">
                <a:solidFill>
                  <a:srgbClr val="595959"/>
                </a:solidFill>
                <a:latin typeface="Arial"/>
                <a:cs typeface="Arial"/>
              </a:rPr>
              <a:t>:</a:t>
            </a:r>
            <a:endParaRPr sz="1800">
              <a:latin typeface="Arial"/>
              <a:cs typeface="Arial"/>
            </a:endParaRPr>
          </a:p>
        </p:txBody>
      </p:sp>
      <p:sp>
        <p:nvSpPr>
          <p:cNvPr id="4" name="object 4"/>
          <p:cNvSpPr txBox="1"/>
          <p:nvPr/>
        </p:nvSpPr>
        <p:spPr>
          <a:xfrm>
            <a:off x="475249" y="3595701"/>
            <a:ext cx="7209155" cy="90995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The diagonal are the </a:t>
            </a:r>
            <a:r>
              <a:rPr sz="1800" dirty="0">
                <a:solidFill>
                  <a:srgbClr val="595959"/>
                </a:solidFill>
                <a:latin typeface="Arial"/>
                <a:cs typeface="Arial"/>
              </a:rPr>
              <a:t>moments </a:t>
            </a:r>
            <a:r>
              <a:rPr sz="1800" spc="-5" dirty="0">
                <a:solidFill>
                  <a:srgbClr val="595959"/>
                </a:solidFill>
                <a:latin typeface="Arial"/>
                <a:cs typeface="Arial"/>
              </a:rPr>
              <a:t>of inertia around each principal</a:t>
            </a:r>
            <a:r>
              <a:rPr sz="1800" spc="-65" dirty="0">
                <a:solidFill>
                  <a:srgbClr val="595959"/>
                </a:solidFill>
                <a:latin typeface="Arial"/>
                <a:cs typeface="Arial"/>
              </a:rPr>
              <a:t> </a:t>
            </a:r>
            <a:r>
              <a:rPr sz="1800" spc="-5" dirty="0">
                <a:solidFill>
                  <a:srgbClr val="595959"/>
                </a:solidFill>
                <a:latin typeface="Arial"/>
                <a:cs typeface="Arial"/>
              </a:rPr>
              <a:t>axis.</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The 0s are </a:t>
            </a:r>
            <a:r>
              <a:rPr sz="1800" dirty="0">
                <a:solidFill>
                  <a:srgbClr val="595959"/>
                </a:solidFill>
                <a:latin typeface="Arial"/>
                <a:cs typeface="Arial"/>
              </a:rPr>
              <a:t>known </a:t>
            </a:r>
            <a:r>
              <a:rPr sz="1800" spc="-5" dirty="0">
                <a:solidFill>
                  <a:srgbClr val="595959"/>
                </a:solidFill>
                <a:latin typeface="Arial"/>
                <a:cs typeface="Arial"/>
              </a:rPr>
              <a:t>as the products of</a:t>
            </a:r>
            <a:r>
              <a:rPr sz="1800" spc="-25" dirty="0">
                <a:solidFill>
                  <a:srgbClr val="595959"/>
                </a:solidFill>
                <a:latin typeface="Arial"/>
                <a:cs typeface="Arial"/>
              </a:rPr>
              <a:t> </a:t>
            </a:r>
            <a:r>
              <a:rPr sz="1800" spc="-5" dirty="0">
                <a:solidFill>
                  <a:srgbClr val="595959"/>
                </a:solidFill>
                <a:latin typeface="Arial"/>
                <a:cs typeface="Arial"/>
              </a:rPr>
              <a:t>inertia.</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They are </a:t>
            </a:r>
            <a:r>
              <a:rPr sz="1400" dirty="0">
                <a:solidFill>
                  <a:srgbClr val="595959"/>
                </a:solidFill>
                <a:latin typeface="Arial"/>
                <a:cs typeface="Arial"/>
              </a:rPr>
              <a:t>0 </a:t>
            </a:r>
            <a:r>
              <a:rPr sz="1400" spc="-5" dirty="0">
                <a:solidFill>
                  <a:srgbClr val="595959"/>
                </a:solidFill>
                <a:latin typeface="Arial"/>
                <a:cs typeface="Arial"/>
              </a:rPr>
              <a:t>when the body is </a:t>
            </a:r>
            <a:r>
              <a:rPr sz="1400" dirty="0">
                <a:solidFill>
                  <a:srgbClr val="595959"/>
                </a:solidFill>
                <a:latin typeface="Arial"/>
                <a:cs typeface="Arial"/>
              </a:rPr>
              <a:t>symmetrical </a:t>
            </a:r>
            <a:r>
              <a:rPr sz="1400" spc="-5" dirty="0">
                <a:solidFill>
                  <a:srgbClr val="595959"/>
                </a:solidFill>
                <a:latin typeface="Arial"/>
                <a:cs typeface="Arial"/>
              </a:rPr>
              <a:t>around each</a:t>
            </a:r>
            <a:r>
              <a:rPr sz="1400" spc="-30" dirty="0">
                <a:solidFill>
                  <a:srgbClr val="595959"/>
                </a:solidFill>
                <a:latin typeface="Arial"/>
                <a:cs typeface="Arial"/>
              </a:rPr>
              <a:t> </a:t>
            </a:r>
            <a:r>
              <a:rPr sz="1400" spc="-5" dirty="0">
                <a:solidFill>
                  <a:srgbClr val="595959"/>
                </a:solidFill>
                <a:latin typeface="Arial"/>
                <a:cs typeface="Arial"/>
              </a:rPr>
              <a:t>axis.</a:t>
            </a:r>
            <a:endParaRPr sz="1400">
              <a:latin typeface="Arial"/>
              <a:cs typeface="Arial"/>
            </a:endParaRPr>
          </a:p>
        </p:txBody>
      </p:sp>
      <p:sp>
        <p:nvSpPr>
          <p:cNvPr id="5" name="object 5"/>
          <p:cNvSpPr/>
          <p:nvPr/>
        </p:nvSpPr>
        <p:spPr>
          <a:xfrm>
            <a:off x="3733800" y="2528887"/>
            <a:ext cx="1676399" cy="100012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660900" cy="452120"/>
          </a:xfrm>
          <a:prstGeom prst="rect">
            <a:avLst/>
          </a:prstGeom>
        </p:spPr>
        <p:txBody>
          <a:bodyPr vert="horz" wrap="square" lIns="0" tIns="12700" rIns="0" bIns="0" rtlCol="0">
            <a:spAutoFit/>
          </a:bodyPr>
          <a:lstStyle/>
          <a:p>
            <a:pPr marL="12700">
              <a:lnSpc>
                <a:spcPct val="100000"/>
              </a:lnSpc>
              <a:spcBef>
                <a:spcPts val="100"/>
              </a:spcBef>
            </a:pPr>
            <a:r>
              <a:rPr spc="-5" dirty="0"/>
              <a:t>Calculating the Inertia</a:t>
            </a:r>
            <a:r>
              <a:rPr spc="-95" dirty="0"/>
              <a:t> </a:t>
            </a:r>
            <a:r>
              <a:rPr spc="-5" dirty="0"/>
              <a:t>Tensor</a:t>
            </a:r>
          </a:p>
        </p:txBody>
      </p:sp>
      <p:sp>
        <p:nvSpPr>
          <p:cNvPr id="3" name="object 3"/>
          <p:cNvSpPr txBox="1"/>
          <p:nvPr/>
        </p:nvSpPr>
        <p:spPr>
          <a:xfrm>
            <a:off x="475249" y="1216355"/>
            <a:ext cx="788162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At </a:t>
            </a:r>
            <a:r>
              <a:rPr sz="1800" dirty="0">
                <a:solidFill>
                  <a:srgbClr val="595959"/>
                </a:solidFill>
                <a:latin typeface="Arial"/>
                <a:cs typeface="Arial"/>
              </a:rPr>
              <a:t>a </a:t>
            </a:r>
            <a:r>
              <a:rPr sz="1800" spc="-5" dirty="0">
                <a:solidFill>
                  <a:srgbClr val="595959"/>
                </a:solidFill>
                <a:latin typeface="Arial"/>
                <a:cs typeface="Arial"/>
              </a:rPr>
              <a:t>given time </a:t>
            </a:r>
            <a:r>
              <a:rPr sz="1800" i="1" dirty="0">
                <a:solidFill>
                  <a:srgbClr val="595959"/>
                </a:solidFill>
                <a:latin typeface="Arial"/>
                <a:cs typeface="Arial"/>
              </a:rPr>
              <a:t>t</a:t>
            </a:r>
            <a:r>
              <a:rPr sz="1800" dirty="0">
                <a:solidFill>
                  <a:srgbClr val="595959"/>
                </a:solidFill>
                <a:latin typeface="Arial"/>
                <a:cs typeface="Arial"/>
              </a:rPr>
              <a:t>, </a:t>
            </a:r>
            <a:r>
              <a:rPr sz="1800" spc="-5" dirty="0">
                <a:solidFill>
                  <a:srgbClr val="595959"/>
                </a:solidFill>
                <a:latin typeface="Arial"/>
                <a:cs typeface="Arial"/>
              </a:rPr>
              <a:t>let </a:t>
            </a:r>
            <a:r>
              <a:rPr sz="1800" i="1" dirty="0">
                <a:solidFill>
                  <a:srgbClr val="595959"/>
                </a:solidFill>
                <a:latin typeface="Arial"/>
                <a:cs typeface="Arial"/>
              </a:rPr>
              <a:t>r ’ </a:t>
            </a:r>
            <a:r>
              <a:rPr sz="1800" spc="-5" dirty="0">
                <a:solidFill>
                  <a:srgbClr val="595959"/>
                </a:solidFill>
                <a:latin typeface="Arial"/>
                <a:cs typeface="Arial"/>
              </a:rPr>
              <a:t>be the displacement of the </a:t>
            </a:r>
            <a:r>
              <a:rPr sz="1800" spc="10" dirty="0">
                <a:solidFill>
                  <a:srgbClr val="595959"/>
                </a:solidFill>
                <a:latin typeface="Arial"/>
                <a:cs typeface="Arial"/>
              </a:rPr>
              <a:t>i</a:t>
            </a:r>
            <a:r>
              <a:rPr sz="1800" spc="15" baseline="30092" dirty="0">
                <a:solidFill>
                  <a:srgbClr val="595959"/>
                </a:solidFill>
                <a:latin typeface="Arial"/>
                <a:cs typeface="Arial"/>
              </a:rPr>
              <a:t>th </a:t>
            </a:r>
            <a:r>
              <a:rPr sz="1800" spc="-5" dirty="0">
                <a:solidFill>
                  <a:srgbClr val="595959"/>
                </a:solidFill>
                <a:latin typeface="Arial"/>
                <a:cs typeface="Arial"/>
              </a:rPr>
              <a:t>particle from </a:t>
            </a:r>
            <a:r>
              <a:rPr sz="1800" dirty="0">
                <a:solidFill>
                  <a:srgbClr val="595959"/>
                </a:solidFill>
                <a:latin typeface="Arial"/>
                <a:cs typeface="Arial"/>
              </a:rPr>
              <a:t>center</a:t>
            </a:r>
            <a:r>
              <a:rPr sz="1800" spc="-114" dirty="0">
                <a:solidFill>
                  <a:srgbClr val="595959"/>
                </a:solidFill>
                <a:latin typeface="Arial"/>
                <a:cs typeface="Arial"/>
              </a:rPr>
              <a:t> </a:t>
            </a:r>
            <a:r>
              <a:rPr sz="1800" spc="-5" dirty="0">
                <a:solidFill>
                  <a:srgbClr val="595959"/>
                </a:solidFill>
                <a:latin typeface="Arial"/>
                <a:cs typeface="Arial"/>
              </a:rPr>
              <a:t>of</a:t>
            </a:r>
            <a:endParaRPr sz="1800">
              <a:latin typeface="Arial"/>
              <a:cs typeface="Arial"/>
            </a:endParaRPr>
          </a:p>
        </p:txBody>
      </p:sp>
      <p:sp>
        <p:nvSpPr>
          <p:cNvPr id="4" name="object 4"/>
          <p:cNvSpPr txBox="1"/>
          <p:nvPr/>
        </p:nvSpPr>
        <p:spPr>
          <a:xfrm>
            <a:off x="475249" y="1378280"/>
            <a:ext cx="5038725" cy="766445"/>
          </a:xfrm>
          <a:prstGeom prst="rect">
            <a:avLst/>
          </a:prstGeom>
        </p:spPr>
        <p:txBody>
          <a:bodyPr vert="horz" wrap="square" lIns="0" tIns="12700" rIns="0" bIns="0" rtlCol="0">
            <a:spAutoFit/>
          </a:bodyPr>
          <a:lstStyle/>
          <a:p>
            <a:pPr marL="48260" algn="ctr">
              <a:lnSpc>
                <a:spcPts val="1320"/>
              </a:lnSpc>
              <a:spcBef>
                <a:spcPts val="100"/>
              </a:spcBef>
            </a:pPr>
            <a:r>
              <a:rPr sz="1200" i="1" dirty="0">
                <a:solidFill>
                  <a:srgbClr val="595959"/>
                </a:solidFill>
                <a:latin typeface="Arial"/>
                <a:cs typeface="Arial"/>
              </a:rPr>
              <a:t>i</a:t>
            </a:r>
            <a:endParaRPr sz="1200">
              <a:latin typeface="Arial"/>
              <a:cs typeface="Arial"/>
            </a:endParaRPr>
          </a:p>
          <a:p>
            <a:pPr marL="379095">
              <a:lnSpc>
                <a:spcPts val="2039"/>
              </a:lnSpc>
            </a:pPr>
            <a:r>
              <a:rPr sz="1800" dirty="0">
                <a:solidFill>
                  <a:srgbClr val="595959"/>
                </a:solidFill>
                <a:latin typeface="Arial"/>
                <a:cs typeface="Arial"/>
              </a:rPr>
              <a:t>mass </a:t>
            </a:r>
            <a:r>
              <a:rPr sz="1800" i="1" dirty="0">
                <a:solidFill>
                  <a:srgbClr val="595959"/>
                </a:solidFill>
                <a:latin typeface="Arial"/>
                <a:cs typeface="Arial"/>
              </a:rPr>
              <a:t>x</a:t>
            </a:r>
            <a:r>
              <a:rPr sz="1800" dirty="0">
                <a:solidFill>
                  <a:srgbClr val="595959"/>
                </a:solidFill>
                <a:latin typeface="Arial"/>
                <a:cs typeface="Arial"/>
              </a:rPr>
              <a:t>(</a:t>
            </a:r>
            <a:r>
              <a:rPr sz="1800" i="1" dirty="0">
                <a:solidFill>
                  <a:srgbClr val="595959"/>
                </a:solidFill>
                <a:latin typeface="Arial"/>
                <a:cs typeface="Arial"/>
              </a:rPr>
              <a:t>t</a:t>
            </a:r>
            <a:r>
              <a:rPr sz="1800" dirty="0">
                <a:solidFill>
                  <a:srgbClr val="595959"/>
                </a:solidFill>
                <a:latin typeface="Arial"/>
                <a:cs typeface="Arial"/>
              </a:rPr>
              <a:t>): </a:t>
            </a:r>
            <a:r>
              <a:rPr sz="1800" i="1" dirty="0">
                <a:solidFill>
                  <a:srgbClr val="595959"/>
                </a:solidFill>
                <a:latin typeface="Arial"/>
                <a:cs typeface="Arial"/>
              </a:rPr>
              <a:t>r</a:t>
            </a:r>
            <a:r>
              <a:rPr sz="1800" i="1" baseline="-32407" dirty="0">
                <a:solidFill>
                  <a:srgbClr val="595959"/>
                </a:solidFill>
                <a:latin typeface="Arial"/>
                <a:cs typeface="Arial"/>
              </a:rPr>
              <a:t>i</a:t>
            </a:r>
            <a:r>
              <a:rPr sz="1800" i="1" dirty="0">
                <a:solidFill>
                  <a:srgbClr val="595959"/>
                </a:solidFill>
                <a:latin typeface="Arial"/>
                <a:cs typeface="Arial"/>
              </a:rPr>
              <a:t>’ </a:t>
            </a:r>
            <a:r>
              <a:rPr sz="1800" dirty="0">
                <a:solidFill>
                  <a:srgbClr val="595959"/>
                </a:solidFill>
                <a:latin typeface="Arial"/>
                <a:cs typeface="Arial"/>
              </a:rPr>
              <a:t>= </a:t>
            </a:r>
            <a:r>
              <a:rPr sz="1800" i="1" dirty="0">
                <a:solidFill>
                  <a:srgbClr val="595959"/>
                </a:solidFill>
                <a:latin typeface="Arial"/>
                <a:cs typeface="Arial"/>
              </a:rPr>
              <a:t>r</a:t>
            </a:r>
            <a:r>
              <a:rPr sz="1800" i="1" baseline="-32407" dirty="0">
                <a:solidFill>
                  <a:srgbClr val="595959"/>
                </a:solidFill>
                <a:latin typeface="Arial"/>
                <a:cs typeface="Arial"/>
              </a:rPr>
              <a:t>i</a:t>
            </a:r>
            <a:r>
              <a:rPr sz="1800" dirty="0">
                <a:solidFill>
                  <a:srgbClr val="595959"/>
                </a:solidFill>
                <a:latin typeface="Arial"/>
                <a:cs typeface="Arial"/>
              </a:rPr>
              <a:t>(</a:t>
            </a:r>
            <a:r>
              <a:rPr sz="1800" i="1" dirty="0">
                <a:solidFill>
                  <a:srgbClr val="595959"/>
                </a:solidFill>
                <a:latin typeface="Arial"/>
                <a:cs typeface="Arial"/>
              </a:rPr>
              <a:t>t</a:t>
            </a:r>
            <a:r>
              <a:rPr sz="1800" dirty="0">
                <a:solidFill>
                  <a:srgbClr val="595959"/>
                </a:solidFill>
                <a:latin typeface="Arial"/>
                <a:cs typeface="Arial"/>
              </a:rPr>
              <a:t>) -</a:t>
            </a:r>
            <a:r>
              <a:rPr sz="1800" spc="-25" dirty="0">
                <a:solidFill>
                  <a:srgbClr val="595959"/>
                </a:solidFill>
                <a:latin typeface="Arial"/>
                <a:cs typeface="Arial"/>
              </a:rPr>
              <a:t> </a:t>
            </a:r>
            <a:r>
              <a:rPr sz="1800" i="1" dirty="0">
                <a:solidFill>
                  <a:srgbClr val="595959"/>
                </a:solidFill>
                <a:latin typeface="Arial"/>
                <a:cs typeface="Arial"/>
              </a:rPr>
              <a:t>x</a:t>
            </a:r>
            <a:r>
              <a:rPr sz="1800" dirty="0">
                <a:solidFill>
                  <a:srgbClr val="595959"/>
                </a:solidFill>
                <a:latin typeface="Arial"/>
                <a:cs typeface="Arial"/>
              </a:rPr>
              <a:t>(</a:t>
            </a:r>
            <a:r>
              <a:rPr sz="1800" i="1" dirty="0">
                <a:solidFill>
                  <a:srgbClr val="595959"/>
                </a:solidFill>
                <a:latin typeface="Arial"/>
                <a:cs typeface="Arial"/>
              </a:rPr>
              <a:t>t</a:t>
            </a:r>
            <a:r>
              <a:rPr sz="1800" dirty="0">
                <a:solidFill>
                  <a:srgbClr val="595959"/>
                </a:solidFill>
                <a:latin typeface="Arial"/>
                <a:cs typeface="Arial"/>
              </a:rPr>
              <a:t>).</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We </a:t>
            </a:r>
            <a:r>
              <a:rPr sz="1800" dirty="0">
                <a:solidFill>
                  <a:srgbClr val="595959"/>
                </a:solidFill>
                <a:latin typeface="Arial"/>
                <a:cs typeface="Arial"/>
              </a:rPr>
              <a:t>can </a:t>
            </a:r>
            <a:r>
              <a:rPr sz="1800" spc="-5" dirty="0">
                <a:solidFill>
                  <a:srgbClr val="595959"/>
                </a:solidFill>
                <a:latin typeface="Arial"/>
                <a:cs typeface="Arial"/>
              </a:rPr>
              <a:t>define the inertia tensor in terms of</a:t>
            </a:r>
            <a:r>
              <a:rPr sz="1800" dirty="0">
                <a:solidFill>
                  <a:srgbClr val="595959"/>
                </a:solidFill>
                <a:latin typeface="Arial"/>
                <a:cs typeface="Arial"/>
              </a:rPr>
              <a:t> </a:t>
            </a:r>
            <a:r>
              <a:rPr sz="1800" i="1" dirty="0">
                <a:solidFill>
                  <a:srgbClr val="595959"/>
                </a:solidFill>
                <a:latin typeface="Arial"/>
                <a:cs typeface="Arial"/>
              </a:rPr>
              <a:t>r</a:t>
            </a:r>
            <a:r>
              <a:rPr sz="1800" i="1" baseline="-32407" dirty="0">
                <a:solidFill>
                  <a:srgbClr val="595959"/>
                </a:solidFill>
                <a:latin typeface="Arial"/>
                <a:cs typeface="Arial"/>
              </a:rPr>
              <a:t>i</a:t>
            </a:r>
            <a:r>
              <a:rPr sz="1800" i="1" dirty="0">
                <a:solidFill>
                  <a:srgbClr val="595959"/>
                </a:solidFill>
                <a:latin typeface="Arial"/>
                <a:cs typeface="Arial"/>
              </a:rPr>
              <a:t>’</a:t>
            </a:r>
            <a:r>
              <a:rPr sz="1800" dirty="0">
                <a:solidFill>
                  <a:srgbClr val="595959"/>
                </a:solidFill>
                <a:latin typeface="Arial"/>
                <a:cs typeface="Arial"/>
              </a:rPr>
              <a:t>:</a:t>
            </a:r>
            <a:endParaRPr sz="1800">
              <a:latin typeface="Arial"/>
              <a:cs typeface="Arial"/>
            </a:endParaRPr>
          </a:p>
        </p:txBody>
      </p:sp>
      <p:sp>
        <p:nvSpPr>
          <p:cNvPr id="5" name="object 5"/>
          <p:cNvSpPr/>
          <p:nvPr/>
        </p:nvSpPr>
        <p:spPr>
          <a:xfrm>
            <a:off x="1609725" y="2371725"/>
            <a:ext cx="5924549" cy="100964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660900" cy="452120"/>
          </a:xfrm>
          <a:prstGeom prst="rect">
            <a:avLst/>
          </a:prstGeom>
        </p:spPr>
        <p:txBody>
          <a:bodyPr vert="horz" wrap="square" lIns="0" tIns="12700" rIns="0" bIns="0" rtlCol="0">
            <a:spAutoFit/>
          </a:bodyPr>
          <a:lstStyle/>
          <a:p>
            <a:pPr marL="12700">
              <a:lnSpc>
                <a:spcPct val="100000"/>
              </a:lnSpc>
              <a:spcBef>
                <a:spcPts val="100"/>
              </a:spcBef>
            </a:pPr>
            <a:r>
              <a:rPr spc="-5" dirty="0"/>
              <a:t>Calculating the Inertia</a:t>
            </a:r>
            <a:r>
              <a:rPr spc="-95" dirty="0"/>
              <a:t> </a:t>
            </a:r>
            <a:r>
              <a:rPr spc="-5" dirty="0"/>
              <a:t>Tensor</a:t>
            </a:r>
          </a:p>
        </p:txBody>
      </p:sp>
      <p:sp>
        <p:nvSpPr>
          <p:cNvPr id="3" name="object 3"/>
          <p:cNvSpPr txBox="1"/>
          <p:nvPr/>
        </p:nvSpPr>
        <p:spPr>
          <a:xfrm>
            <a:off x="475249" y="1176350"/>
            <a:ext cx="4379595" cy="1911350"/>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Consider </a:t>
            </a:r>
            <a:r>
              <a:rPr sz="1800" dirty="0">
                <a:solidFill>
                  <a:srgbClr val="595959"/>
                </a:solidFill>
                <a:latin typeface="Arial"/>
                <a:cs typeface="Arial"/>
              </a:rPr>
              <a:t>a rectangular </a:t>
            </a:r>
            <a:r>
              <a:rPr sz="1800" spc="-5" dirty="0">
                <a:solidFill>
                  <a:srgbClr val="595959"/>
                </a:solidFill>
                <a:latin typeface="Arial"/>
                <a:cs typeface="Arial"/>
              </a:rPr>
              <a:t>block of uniform  density with it’s </a:t>
            </a:r>
            <a:r>
              <a:rPr sz="1800" dirty="0">
                <a:solidFill>
                  <a:srgbClr val="595959"/>
                </a:solidFill>
                <a:latin typeface="Arial"/>
                <a:cs typeface="Arial"/>
              </a:rPr>
              <a:t>center </a:t>
            </a:r>
            <a:r>
              <a:rPr sz="1800" spc="-5" dirty="0">
                <a:solidFill>
                  <a:srgbClr val="595959"/>
                </a:solidFill>
                <a:latin typeface="Arial"/>
                <a:cs typeface="Arial"/>
              </a:rPr>
              <a:t>of </a:t>
            </a:r>
            <a:r>
              <a:rPr sz="1800" dirty="0">
                <a:solidFill>
                  <a:srgbClr val="595959"/>
                </a:solidFill>
                <a:latin typeface="Arial"/>
                <a:cs typeface="Arial"/>
              </a:rPr>
              <a:t>mass</a:t>
            </a:r>
            <a:r>
              <a:rPr sz="1800" spc="-40" dirty="0">
                <a:solidFill>
                  <a:srgbClr val="595959"/>
                </a:solidFill>
                <a:latin typeface="Arial"/>
                <a:cs typeface="Arial"/>
              </a:rPr>
              <a:t> </a:t>
            </a:r>
            <a:r>
              <a:rPr sz="1800" spc="-5" dirty="0">
                <a:solidFill>
                  <a:srgbClr val="595959"/>
                </a:solidFill>
                <a:latin typeface="Arial"/>
                <a:cs typeface="Arial"/>
              </a:rPr>
              <a:t>at</a:t>
            </a:r>
            <a:endParaRPr sz="1800">
              <a:latin typeface="Arial"/>
              <a:cs typeface="Arial"/>
            </a:endParaRPr>
          </a:p>
          <a:p>
            <a:pPr marL="379095">
              <a:lnSpc>
                <a:spcPct val="100000"/>
              </a:lnSpc>
              <a:spcBef>
                <a:spcPts val="315"/>
              </a:spcBef>
            </a:pPr>
            <a:r>
              <a:rPr sz="1800" spc="-5" dirty="0">
                <a:solidFill>
                  <a:srgbClr val="595959"/>
                </a:solidFill>
                <a:latin typeface="Arial"/>
                <a:cs typeface="Arial"/>
              </a:rPr>
              <a:t>its exact</a:t>
            </a:r>
            <a:r>
              <a:rPr sz="1800" spc="-10" dirty="0">
                <a:solidFill>
                  <a:srgbClr val="595959"/>
                </a:solidFill>
                <a:latin typeface="Arial"/>
                <a:cs typeface="Arial"/>
              </a:rPr>
              <a:t> </a:t>
            </a:r>
            <a:r>
              <a:rPr sz="1800" dirty="0">
                <a:solidFill>
                  <a:srgbClr val="595959"/>
                </a:solidFill>
                <a:latin typeface="Arial"/>
                <a:cs typeface="Arial"/>
              </a:rPr>
              <a:t>center.</a:t>
            </a:r>
            <a:endParaRPr sz="1800">
              <a:latin typeface="Arial"/>
              <a:cs typeface="Arial"/>
            </a:endParaRPr>
          </a:p>
          <a:p>
            <a:pPr marL="379095" marR="907415" indent="-366395">
              <a:lnSpc>
                <a:spcPct val="114599"/>
              </a:lnSpc>
              <a:buChar char="●"/>
              <a:tabLst>
                <a:tab pos="379095" algn="l"/>
                <a:tab pos="379730" algn="l"/>
              </a:tabLst>
            </a:pPr>
            <a:r>
              <a:rPr sz="1800" spc="-5" dirty="0">
                <a:solidFill>
                  <a:srgbClr val="595959"/>
                </a:solidFill>
                <a:latin typeface="Arial"/>
                <a:cs typeface="Arial"/>
              </a:rPr>
              <a:t>The </a:t>
            </a:r>
            <a:r>
              <a:rPr sz="1800" dirty="0">
                <a:solidFill>
                  <a:srgbClr val="595959"/>
                </a:solidFill>
                <a:latin typeface="Arial"/>
                <a:cs typeface="Arial"/>
              </a:rPr>
              <a:t>sums </a:t>
            </a:r>
            <a:r>
              <a:rPr sz="1800" spc="-5" dirty="0">
                <a:solidFill>
                  <a:srgbClr val="595959"/>
                </a:solidFill>
                <a:latin typeface="Arial"/>
                <a:cs typeface="Arial"/>
              </a:rPr>
              <a:t>in the previous  equation are integrals over the  </a:t>
            </a:r>
            <a:r>
              <a:rPr sz="1800" dirty="0">
                <a:solidFill>
                  <a:srgbClr val="595959"/>
                </a:solidFill>
                <a:latin typeface="Arial"/>
                <a:cs typeface="Arial"/>
              </a:rPr>
              <a:t>volume </a:t>
            </a:r>
            <a:r>
              <a:rPr sz="1800" spc="-5" dirty="0">
                <a:solidFill>
                  <a:srgbClr val="595959"/>
                </a:solidFill>
                <a:latin typeface="Arial"/>
                <a:cs typeface="Arial"/>
              </a:rPr>
              <a:t>of the</a:t>
            </a:r>
            <a:r>
              <a:rPr sz="1800" spc="-25" dirty="0">
                <a:solidFill>
                  <a:srgbClr val="595959"/>
                </a:solidFill>
                <a:latin typeface="Arial"/>
                <a:cs typeface="Arial"/>
              </a:rPr>
              <a:t> </a:t>
            </a:r>
            <a:r>
              <a:rPr sz="1800" spc="-5" dirty="0">
                <a:solidFill>
                  <a:srgbClr val="595959"/>
                </a:solidFill>
                <a:latin typeface="Arial"/>
                <a:cs typeface="Arial"/>
              </a:rPr>
              <a:t>block.</a:t>
            </a:r>
            <a:endParaRPr sz="1800">
              <a:latin typeface="Arial"/>
              <a:cs typeface="Arial"/>
            </a:endParaRPr>
          </a:p>
        </p:txBody>
      </p:sp>
      <p:sp>
        <p:nvSpPr>
          <p:cNvPr id="4" name="object 4"/>
          <p:cNvSpPr/>
          <p:nvPr/>
        </p:nvSpPr>
        <p:spPr>
          <a:xfrm>
            <a:off x="4470034" y="1723348"/>
            <a:ext cx="4109851" cy="2352021"/>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6" name="final.pdf" descr="final.pdf"/>
          <p:cNvPicPr>
            <a:picLocks noChangeAspect="1"/>
          </p:cNvPicPr>
          <p:nvPr/>
        </p:nvPicPr>
        <p:blipFill>
          <a:blip r:embed="rId2">
            <a:extLst/>
          </a:blip>
          <a:stretch>
            <a:fillRect/>
          </a:stretch>
        </p:blipFill>
        <p:spPr>
          <a:xfrm>
            <a:off x="1578322" y="569267"/>
            <a:ext cx="4138910" cy="649635"/>
          </a:xfrm>
          <a:prstGeom prst="rect">
            <a:avLst/>
          </a:prstGeom>
          <a:ln w="12700">
            <a:miter lim="400000"/>
          </a:ln>
        </p:spPr>
      </p:pic>
      <p:pic>
        <p:nvPicPr>
          <p:cNvPr id="457" name="final.pdf" descr="final.pdf"/>
          <p:cNvPicPr>
            <a:picLocks noChangeAspect="1"/>
          </p:cNvPicPr>
          <p:nvPr/>
        </p:nvPicPr>
        <p:blipFill>
          <a:blip r:embed="rId3">
            <a:extLst/>
          </a:blip>
          <a:stretch>
            <a:fillRect/>
          </a:stretch>
        </p:blipFill>
        <p:spPr>
          <a:xfrm>
            <a:off x="1886397" y="1265783"/>
            <a:ext cx="3027164" cy="649635"/>
          </a:xfrm>
          <a:prstGeom prst="rect">
            <a:avLst/>
          </a:prstGeom>
          <a:ln w="12700">
            <a:miter lim="400000"/>
          </a:ln>
        </p:spPr>
      </p:pic>
      <p:pic>
        <p:nvPicPr>
          <p:cNvPr id="458" name="final.pdf" descr="final.pdf"/>
          <p:cNvPicPr>
            <a:picLocks noChangeAspect="1"/>
          </p:cNvPicPr>
          <p:nvPr/>
        </p:nvPicPr>
        <p:blipFill>
          <a:blip r:embed="rId4">
            <a:extLst/>
          </a:blip>
          <a:stretch>
            <a:fillRect/>
          </a:stretch>
        </p:blipFill>
        <p:spPr>
          <a:xfrm>
            <a:off x="5857875" y="944315"/>
            <a:ext cx="2069455" cy="763488"/>
          </a:xfrm>
          <a:prstGeom prst="rect">
            <a:avLst/>
          </a:prstGeom>
          <a:ln w="12700">
            <a:miter lim="400000"/>
          </a:ln>
        </p:spPr>
      </p:pic>
      <p:pic>
        <p:nvPicPr>
          <p:cNvPr id="459" name="final.pdf" descr="final.pdf"/>
          <p:cNvPicPr>
            <a:picLocks noChangeAspect="1"/>
          </p:cNvPicPr>
          <p:nvPr/>
        </p:nvPicPr>
        <p:blipFill>
          <a:blip r:embed="rId5">
            <a:extLst/>
          </a:blip>
          <a:stretch>
            <a:fillRect/>
          </a:stretch>
        </p:blipFill>
        <p:spPr>
          <a:xfrm>
            <a:off x="5891361" y="1861840"/>
            <a:ext cx="1694408" cy="549176"/>
          </a:xfrm>
          <a:prstGeom prst="rect">
            <a:avLst/>
          </a:prstGeom>
          <a:ln w="12700">
            <a:miter lim="400000"/>
          </a:ln>
        </p:spPr>
      </p:pic>
      <p:pic>
        <p:nvPicPr>
          <p:cNvPr id="460" name="final.pdf" descr="final.pdf"/>
          <p:cNvPicPr>
            <a:picLocks noChangeAspect="1"/>
          </p:cNvPicPr>
          <p:nvPr/>
        </p:nvPicPr>
        <p:blipFill>
          <a:blip r:embed="rId6">
            <a:extLst/>
          </a:blip>
          <a:stretch>
            <a:fillRect/>
          </a:stretch>
        </p:blipFill>
        <p:spPr>
          <a:xfrm>
            <a:off x="5911453" y="2692301"/>
            <a:ext cx="1667619" cy="455414"/>
          </a:xfrm>
          <a:prstGeom prst="rect">
            <a:avLst/>
          </a:prstGeom>
          <a:ln w="12700">
            <a:miter lim="400000"/>
          </a:ln>
        </p:spPr>
      </p:pic>
      <p:pic>
        <p:nvPicPr>
          <p:cNvPr id="461" name="final.pdf" descr="final.pdf"/>
          <p:cNvPicPr>
            <a:picLocks noChangeAspect="1"/>
          </p:cNvPicPr>
          <p:nvPr/>
        </p:nvPicPr>
        <p:blipFill>
          <a:blip r:embed="rId7">
            <a:extLst/>
          </a:blip>
          <a:stretch>
            <a:fillRect/>
          </a:stretch>
        </p:blipFill>
        <p:spPr>
          <a:xfrm>
            <a:off x="5938242" y="3321844"/>
            <a:ext cx="1339453" cy="508992"/>
          </a:xfrm>
          <a:prstGeom prst="rect">
            <a:avLst/>
          </a:prstGeom>
          <a:ln w="12700">
            <a:miter lim="400000"/>
          </a:ln>
        </p:spPr>
      </p:pic>
      <p:pic>
        <p:nvPicPr>
          <p:cNvPr id="462" name="final.pdf" descr="final.pdf"/>
          <p:cNvPicPr>
            <a:picLocks noChangeAspect="1"/>
          </p:cNvPicPr>
          <p:nvPr/>
        </p:nvPicPr>
        <p:blipFill>
          <a:blip r:embed="rId8">
            <a:extLst/>
          </a:blip>
          <a:stretch>
            <a:fillRect/>
          </a:stretch>
        </p:blipFill>
        <p:spPr>
          <a:xfrm>
            <a:off x="5677049" y="3991570"/>
            <a:ext cx="1620738" cy="508992"/>
          </a:xfrm>
          <a:prstGeom prst="rect">
            <a:avLst/>
          </a:prstGeom>
          <a:ln w="12700">
            <a:miter lim="400000"/>
          </a:ln>
        </p:spPr>
      </p:pic>
      <p:pic>
        <p:nvPicPr>
          <p:cNvPr id="463" name="final.pdf" descr="final.pdf"/>
          <p:cNvPicPr>
            <a:picLocks noChangeAspect="1"/>
          </p:cNvPicPr>
          <p:nvPr/>
        </p:nvPicPr>
        <p:blipFill>
          <a:blip r:embed="rId9">
            <a:extLst/>
          </a:blip>
          <a:stretch>
            <a:fillRect/>
          </a:stretch>
        </p:blipFill>
        <p:spPr>
          <a:xfrm>
            <a:off x="5730627" y="4574233"/>
            <a:ext cx="1614041" cy="508992"/>
          </a:xfrm>
          <a:prstGeom prst="rect">
            <a:avLst/>
          </a:prstGeom>
          <a:ln w="12700">
            <a:miter lim="400000"/>
          </a:ln>
        </p:spPr>
      </p:pic>
      <p:grpSp>
        <p:nvGrpSpPr>
          <p:cNvPr id="466" name="Group"/>
          <p:cNvGrpSpPr/>
          <p:nvPr/>
        </p:nvGrpSpPr>
        <p:grpSpPr>
          <a:xfrm>
            <a:off x="1899791" y="2002483"/>
            <a:ext cx="2846338" cy="763488"/>
            <a:chOff x="0" y="0"/>
            <a:chExt cx="5397500" cy="1447800"/>
          </a:xfrm>
        </p:grpSpPr>
        <p:pic>
          <p:nvPicPr>
            <p:cNvPr id="464" name="final.pdf" descr="final.pdf"/>
            <p:cNvPicPr>
              <a:picLocks noChangeAspect="1"/>
            </p:cNvPicPr>
            <p:nvPr/>
          </p:nvPicPr>
          <p:blipFill>
            <a:blip r:embed="rId10">
              <a:extLst/>
            </a:blip>
            <a:stretch>
              <a:fillRect/>
            </a:stretch>
          </p:blipFill>
          <p:spPr>
            <a:xfrm>
              <a:off x="444500" y="0"/>
              <a:ext cx="4953000" cy="1447800"/>
            </a:xfrm>
            <a:prstGeom prst="rect">
              <a:avLst/>
            </a:prstGeom>
            <a:ln w="12700" cap="flat">
              <a:noFill/>
              <a:miter lim="400000"/>
            </a:ln>
            <a:effectLst/>
          </p:spPr>
        </p:pic>
        <p:pic>
          <p:nvPicPr>
            <p:cNvPr id="465" name="final.pdf" descr="final.pdf"/>
            <p:cNvPicPr>
              <a:picLocks noChangeAspect="1"/>
            </p:cNvPicPr>
            <p:nvPr/>
          </p:nvPicPr>
          <p:blipFill>
            <a:blip r:embed="rId11">
              <a:extLst/>
            </a:blip>
            <a:stretch>
              <a:fillRect/>
            </a:stretch>
          </p:blipFill>
          <p:spPr>
            <a:xfrm>
              <a:off x="0" y="622300"/>
              <a:ext cx="406400" cy="215900"/>
            </a:xfrm>
            <a:prstGeom prst="rect">
              <a:avLst/>
            </a:prstGeom>
            <a:ln w="12700" cap="flat">
              <a:noFill/>
              <a:miter lim="400000"/>
            </a:ln>
            <a:effectLst/>
          </p:spPr>
        </p:pic>
      </p:grpSp>
      <p:grpSp>
        <p:nvGrpSpPr>
          <p:cNvPr id="469" name="Group"/>
          <p:cNvGrpSpPr/>
          <p:nvPr/>
        </p:nvGrpSpPr>
        <p:grpSpPr>
          <a:xfrm>
            <a:off x="1899791" y="2859732"/>
            <a:ext cx="2457896" cy="649635"/>
            <a:chOff x="0" y="0"/>
            <a:chExt cx="4660900" cy="1231900"/>
          </a:xfrm>
        </p:grpSpPr>
        <p:pic>
          <p:nvPicPr>
            <p:cNvPr id="467" name="final.pdf" descr="final.pdf"/>
            <p:cNvPicPr>
              <a:picLocks noChangeAspect="1"/>
            </p:cNvPicPr>
            <p:nvPr/>
          </p:nvPicPr>
          <p:blipFill>
            <a:blip r:embed="rId12">
              <a:extLst/>
            </a:blip>
            <a:stretch>
              <a:fillRect/>
            </a:stretch>
          </p:blipFill>
          <p:spPr>
            <a:xfrm>
              <a:off x="444500" y="0"/>
              <a:ext cx="4216400" cy="1231900"/>
            </a:xfrm>
            <a:prstGeom prst="rect">
              <a:avLst/>
            </a:prstGeom>
            <a:ln w="12700" cap="flat">
              <a:noFill/>
              <a:miter lim="400000"/>
            </a:ln>
            <a:effectLst/>
          </p:spPr>
        </p:pic>
        <p:pic>
          <p:nvPicPr>
            <p:cNvPr id="468" name="final.pdf" descr="final.pdf"/>
            <p:cNvPicPr>
              <a:picLocks noChangeAspect="1"/>
            </p:cNvPicPr>
            <p:nvPr/>
          </p:nvPicPr>
          <p:blipFill>
            <a:blip r:embed="rId11">
              <a:extLst/>
            </a:blip>
            <a:stretch>
              <a:fillRect/>
            </a:stretch>
          </p:blipFill>
          <p:spPr>
            <a:xfrm>
              <a:off x="0" y="520700"/>
              <a:ext cx="406400" cy="215900"/>
            </a:xfrm>
            <a:prstGeom prst="rect">
              <a:avLst/>
            </a:prstGeom>
            <a:ln w="12700" cap="flat">
              <a:noFill/>
              <a:miter lim="400000"/>
            </a:ln>
            <a:effectLst/>
          </p:spPr>
        </p:pic>
      </p:grpSp>
      <p:grpSp>
        <p:nvGrpSpPr>
          <p:cNvPr id="472" name="Group"/>
          <p:cNvGrpSpPr/>
          <p:nvPr/>
        </p:nvGrpSpPr>
        <p:grpSpPr>
          <a:xfrm>
            <a:off x="1899791" y="3596432"/>
            <a:ext cx="2524869" cy="763488"/>
            <a:chOff x="0" y="0"/>
            <a:chExt cx="4787900" cy="1447800"/>
          </a:xfrm>
        </p:grpSpPr>
        <p:pic>
          <p:nvPicPr>
            <p:cNvPr id="470" name="final.pdf" descr="final.pdf"/>
            <p:cNvPicPr>
              <a:picLocks noChangeAspect="1"/>
            </p:cNvPicPr>
            <p:nvPr/>
          </p:nvPicPr>
          <p:blipFill>
            <a:blip r:embed="rId13">
              <a:extLst/>
            </a:blip>
            <a:stretch>
              <a:fillRect/>
            </a:stretch>
          </p:blipFill>
          <p:spPr>
            <a:xfrm>
              <a:off x="431800" y="0"/>
              <a:ext cx="4356100" cy="1447800"/>
            </a:xfrm>
            <a:prstGeom prst="rect">
              <a:avLst/>
            </a:prstGeom>
            <a:ln w="12700" cap="flat">
              <a:noFill/>
              <a:miter lim="400000"/>
            </a:ln>
            <a:effectLst/>
          </p:spPr>
        </p:pic>
        <p:pic>
          <p:nvPicPr>
            <p:cNvPr id="471" name="final.pdf" descr="final.pdf"/>
            <p:cNvPicPr>
              <a:picLocks noChangeAspect="1"/>
            </p:cNvPicPr>
            <p:nvPr/>
          </p:nvPicPr>
          <p:blipFill>
            <a:blip r:embed="rId11">
              <a:extLst/>
            </a:blip>
            <a:stretch>
              <a:fillRect/>
            </a:stretch>
          </p:blipFill>
          <p:spPr>
            <a:xfrm>
              <a:off x="0" y="622300"/>
              <a:ext cx="406400" cy="215900"/>
            </a:xfrm>
            <a:prstGeom prst="rect">
              <a:avLst/>
            </a:prstGeom>
            <a:ln w="12700" cap="flat">
              <a:noFill/>
              <a:miter lim="400000"/>
            </a:ln>
            <a:effectLst/>
          </p:spPr>
        </p:pic>
      </p:grpSp>
      <p:grpSp>
        <p:nvGrpSpPr>
          <p:cNvPr id="475" name="Group"/>
          <p:cNvGrpSpPr/>
          <p:nvPr/>
        </p:nvGrpSpPr>
        <p:grpSpPr>
          <a:xfrm>
            <a:off x="1899791" y="4446984"/>
            <a:ext cx="1922115" cy="649635"/>
            <a:chOff x="0" y="0"/>
            <a:chExt cx="3644900" cy="1231900"/>
          </a:xfrm>
        </p:grpSpPr>
        <p:pic>
          <p:nvPicPr>
            <p:cNvPr id="473" name="final.pdf" descr="final.pdf"/>
            <p:cNvPicPr>
              <a:picLocks noChangeAspect="1"/>
            </p:cNvPicPr>
            <p:nvPr/>
          </p:nvPicPr>
          <p:blipFill>
            <a:blip r:embed="rId14">
              <a:extLst/>
            </a:blip>
            <a:stretch>
              <a:fillRect/>
            </a:stretch>
          </p:blipFill>
          <p:spPr>
            <a:xfrm>
              <a:off x="444500" y="0"/>
              <a:ext cx="3200400" cy="1231900"/>
            </a:xfrm>
            <a:prstGeom prst="rect">
              <a:avLst/>
            </a:prstGeom>
            <a:ln w="12700" cap="flat">
              <a:noFill/>
              <a:miter lim="400000"/>
            </a:ln>
            <a:effectLst/>
          </p:spPr>
        </p:pic>
        <p:pic>
          <p:nvPicPr>
            <p:cNvPr id="474" name="final.pdf" descr="final.pdf"/>
            <p:cNvPicPr>
              <a:picLocks noChangeAspect="1"/>
            </p:cNvPicPr>
            <p:nvPr/>
          </p:nvPicPr>
          <p:blipFill>
            <a:blip r:embed="rId11">
              <a:extLst/>
            </a:blip>
            <a:stretch>
              <a:fillRect/>
            </a:stretch>
          </p:blipFill>
          <p:spPr>
            <a:xfrm>
              <a:off x="0" y="520700"/>
              <a:ext cx="406400" cy="215900"/>
            </a:xfrm>
            <a:prstGeom prst="rect">
              <a:avLst/>
            </a:prstGeom>
            <a:ln w="12700" cap="flat">
              <a:noFill/>
              <a:miter lim="400000"/>
            </a:ln>
            <a:effectLst/>
          </p:spPr>
        </p:pic>
      </p:grpSp>
    </p:spTree>
    <p:extLst>
      <p:ext uri="{BB962C8B-B14F-4D97-AF65-F5344CB8AC3E}">
        <p14:creationId xmlns:p14="http://schemas.microsoft.com/office/powerpoint/2010/main" val="17554891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4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4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4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4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4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46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46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46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4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advAuto="0"/>
      <p:bldP spid="458" grpId="0" animBg="1" advAuto="0"/>
      <p:bldP spid="459" grpId="0" animBg="1" advAuto="0"/>
      <p:bldP spid="460" grpId="0" animBg="1" advAuto="0"/>
      <p:bldP spid="461" grpId="0" animBg="1" advAuto="0"/>
      <p:bldP spid="462" grpId="0" animBg="1" advAuto="0"/>
      <p:bldP spid="463" grpId="0" animBg="1" advAuto="0"/>
      <p:bldP spid="466" grpId="0" animBg="1" advAuto="0"/>
      <p:bldP spid="469" grpId="0" animBg="1" advAuto="0"/>
      <p:bldP spid="472" grpId="0" animBg="1" advAuto="0"/>
      <p:bldP spid="475" grpId="0" animBg="1"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660900" cy="452120"/>
          </a:xfrm>
          <a:prstGeom prst="rect">
            <a:avLst/>
          </a:prstGeom>
        </p:spPr>
        <p:txBody>
          <a:bodyPr vert="horz" wrap="square" lIns="0" tIns="12700" rIns="0" bIns="0" rtlCol="0">
            <a:spAutoFit/>
          </a:bodyPr>
          <a:lstStyle/>
          <a:p>
            <a:pPr marL="12700">
              <a:lnSpc>
                <a:spcPct val="100000"/>
              </a:lnSpc>
              <a:spcBef>
                <a:spcPts val="100"/>
              </a:spcBef>
            </a:pPr>
            <a:r>
              <a:rPr spc="-5" dirty="0"/>
              <a:t>Calculating the Inertia</a:t>
            </a:r>
            <a:r>
              <a:rPr spc="-95" dirty="0"/>
              <a:t> </a:t>
            </a:r>
            <a:r>
              <a:rPr spc="-5" dirty="0"/>
              <a:t>Tensor</a:t>
            </a:r>
          </a:p>
        </p:txBody>
      </p:sp>
      <p:sp>
        <p:nvSpPr>
          <p:cNvPr id="3" name="object 3"/>
          <p:cNvSpPr/>
          <p:nvPr/>
        </p:nvSpPr>
        <p:spPr>
          <a:xfrm>
            <a:off x="2922482" y="2392007"/>
            <a:ext cx="3234709" cy="955713"/>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87735" y="1830137"/>
            <a:ext cx="5760085"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595959"/>
                </a:solidFill>
                <a:latin typeface="Arial"/>
                <a:cs typeface="Arial"/>
              </a:rPr>
              <a:t>Forget </a:t>
            </a:r>
            <a:r>
              <a:rPr sz="3600" spc="-5" dirty="0">
                <a:solidFill>
                  <a:srgbClr val="595959"/>
                </a:solidFill>
                <a:latin typeface="Arial"/>
                <a:cs typeface="Arial"/>
              </a:rPr>
              <a:t>everything </a:t>
            </a:r>
            <a:r>
              <a:rPr sz="3600" dirty="0">
                <a:solidFill>
                  <a:srgbClr val="595959"/>
                </a:solidFill>
                <a:latin typeface="Arial"/>
                <a:cs typeface="Arial"/>
              </a:rPr>
              <a:t>I </a:t>
            </a:r>
            <a:r>
              <a:rPr sz="3600" spc="-5" dirty="0">
                <a:solidFill>
                  <a:srgbClr val="595959"/>
                </a:solidFill>
                <a:latin typeface="Arial"/>
                <a:cs typeface="Arial"/>
              </a:rPr>
              <a:t>just</a:t>
            </a:r>
            <a:r>
              <a:rPr sz="3600" spc="-95" dirty="0">
                <a:solidFill>
                  <a:srgbClr val="595959"/>
                </a:solidFill>
                <a:latin typeface="Arial"/>
                <a:cs typeface="Arial"/>
              </a:rPr>
              <a:t> </a:t>
            </a:r>
            <a:r>
              <a:rPr sz="3600" dirty="0">
                <a:solidFill>
                  <a:srgbClr val="595959"/>
                </a:solidFill>
                <a:latin typeface="Arial"/>
                <a:cs typeface="Arial"/>
              </a:rPr>
              <a:t>said.</a:t>
            </a:r>
            <a:endParaRPr sz="3600">
              <a:latin typeface="Arial"/>
              <a:cs typeface="Arial"/>
            </a:endParaRPr>
          </a:p>
        </p:txBody>
      </p:sp>
      <p:sp>
        <p:nvSpPr>
          <p:cNvPr id="3" name="object 3"/>
          <p:cNvSpPr txBox="1"/>
          <p:nvPr/>
        </p:nvSpPr>
        <p:spPr>
          <a:xfrm>
            <a:off x="3026147" y="2674433"/>
            <a:ext cx="308673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595959"/>
                </a:solidFill>
                <a:latin typeface="Arial"/>
                <a:cs typeface="Arial"/>
              </a:rPr>
              <a:t>There’s an easier</a:t>
            </a:r>
            <a:r>
              <a:rPr sz="2400" spc="-90" dirty="0">
                <a:solidFill>
                  <a:srgbClr val="595959"/>
                </a:solidFill>
                <a:latin typeface="Arial"/>
                <a:cs typeface="Arial"/>
              </a:rPr>
              <a:t> </a:t>
            </a:r>
            <a:r>
              <a:rPr sz="2400" spc="-5" dirty="0">
                <a:solidFill>
                  <a:srgbClr val="595959"/>
                </a:solidFill>
                <a:latin typeface="Arial"/>
                <a:cs typeface="Arial"/>
              </a:rPr>
              <a:t>way.</a:t>
            </a:r>
            <a:endParaRPr sz="240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9402" y="4314831"/>
            <a:ext cx="124396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95959"/>
                </a:solidFill>
                <a:latin typeface="Arial"/>
                <a:cs typeface="Arial"/>
              </a:rPr>
              <a:t>Just </a:t>
            </a:r>
            <a:r>
              <a:rPr sz="1800" spc="-5" dirty="0">
                <a:solidFill>
                  <a:srgbClr val="595959"/>
                </a:solidFill>
                <a:latin typeface="Arial"/>
                <a:cs typeface="Arial"/>
              </a:rPr>
              <a:t>do</a:t>
            </a:r>
            <a:r>
              <a:rPr sz="1800" spc="-95" dirty="0">
                <a:solidFill>
                  <a:srgbClr val="595959"/>
                </a:solidFill>
                <a:latin typeface="Arial"/>
                <a:cs typeface="Arial"/>
              </a:rPr>
              <a:t> </a:t>
            </a:r>
            <a:r>
              <a:rPr sz="1800" spc="-5" dirty="0">
                <a:solidFill>
                  <a:srgbClr val="595959"/>
                </a:solidFill>
                <a:latin typeface="Arial"/>
                <a:cs typeface="Arial"/>
              </a:rPr>
              <a:t>this.</a:t>
            </a:r>
            <a:endParaRPr sz="1800">
              <a:latin typeface="Arial"/>
              <a:cs typeface="Arial"/>
            </a:endParaRPr>
          </a:p>
        </p:txBody>
      </p:sp>
      <p:sp>
        <p:nvSpPr>
          <p:cNvPr id="3" name="object 3"/>
          <p:cNvSpPr/>
          <p:nvPr/>
        </p:nvSpPr>
        <p:spPr>
          <a:xfrm>
            <a:off x="829719" y="604403"/>
            <a:ext cx="7546016" cy="364654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2739475" cy="520655"/>
          </a:xfrm>
          <a:prstGeom prst="rect">
            <a:avLst/>
          </a:prstGeom>
        </p:spPr>
        <p:txBody>
          <a:bodyPr vert="horz" wrap="square" lIns="0" tIns="12700" rIns="0" bIns="0" rtlCol="0">
            <a:spAutoFit/>
          </a:bodyPr>
          <a:lstStyle/>
          <a:p>
            <a:pPr marL="12700">
              <a:lnSpc>
                <a:spcPct val="100000"/>
              </a:lnSpc>
              <a:spcBef>
                <a:spcPts val="100"/>
              </a:spcBef>
            </a:pPr>
            <a:r>
              <a:rPr spc="-5" dirty="0"/>
              <a:t>Orientation</a:t>
            </a:r>
          </a:p>
        </p:txBody>
      </p:sp>
      <p:sp>
        <p:nvSpPr>
          <p:cNvPr id="3" name="object 3"/>
          <p:cNvSpPr txBox="1">
            <a:spLocks noGrp="1"/>
          </p:cNvSpPr>
          <p:nvPr>
            <p:ph idx="1"/>
          </p:nvPr>
        </p:nvSpPr>
        <p:spPr>
          <a:prstGeom prst="rect">
            <a:avLst/>
          </a:prstGeom>
        </p:spPr>
        <p:txBody>
          <a:bodyPr vert="horz" wrap="square" lIns="0" tIns="52704" rIns="0" bIns="0" rtlCol="0">
            <a:spAutoFit/>
          </a:bodyPr>
          <a:lstStyle/>
          <a:p>
            <a:pPr marL="379095" indent="-366395">
              <a:lnSpc>
                <a:spcPct val="100000"/>
              </a:lnSpc>
              <a:spcBef>
                <a:spcPts val="414"/>
              </a:spcBef>
              <a:buChar char="●"/>
              <a:tabLst>
                <a:tab pos="379730" algn="l"/>
                <a:tab pos="380365" algn="l"/>
              </a:tabLst>
            </a:pPr>
            <a:r>
              <a:rPr spc="-5" dirty="0"/>
              <a:t>In 2D we only needed </a:t>
            </a:r>
            <a:r>
              <a:rPr dirty="0"/>
              <a:t>a scalar</a:t>
            </a:r>
            <a:r>
              <a:rPr spc="-20" dirty="0"/>
              <a:t> </a:t>
            </a:r>
            <a:r>
              <a:rPr dirty="0"/>
              <a:t>value.</a:t>
            </a:r>
          </a:p>
          <a:p>
            <a:pPr marL="379095" indent="-366395">
              <a:lnSpc>
                <a:spcPct val="100000"/>
              </a:lnSpc>
              <a:spcBef>
                <a:spcPts val="315"/>
              </a:spcBef>
              <a:buChar char="●"/>
              <a:tabLst>
                <a:tab pos="379730" algn="l"/>
                <a:tab pos="380365" algn="l"/>
              </a:tabLst>
            </a:pPr>
            <a:r>
              <a:rPr spc="-5" dirty="0"/>
              <a:t>For 3D, we need three </a:t>
            </a:r>
            <a:r>
              <a:rPr dirty="0"/>
              <a:t>value, </a:t>
            </a:r>
            <a:r>
              <a:rPr spc="-5" dirty="0"/>
              <a:t>one for each</a:t>
            </a:r>
            <a:r>
              <a:rPr spc="-20" dirty="0"/>
              <a:t> </a:t>
            </a:r>
            <a:r>
              <a:rPr spc="-5" dirty="0"/>
              <a:t>axis.</a:t>
            </a:r>
          </a:p>
          <a:p>
            <a:pPr marL="836294" lvl="1" indent="-335915">
              <a:lnSpc>
                <a:spcPct val="100000"/>
              </a:lnSpc>
              <a:spcBef>
                <a:spcPts val="330"/>
              </a:spcBef>
              <a:buChar char="○"/>
              <a:tabLst>
                <a:tab pos="836930" algn="l"/>
                <a:tab pos="837565" algn="l"/>
              </a:tabLst>
            </a:pPr>
            <a:r>
              <a:rPr sz="1400" spc="-5" dirty="0">
                <a:solidFill>
                  <a:srgbClr val="595959"/>
                </a:solidFill>
                <a:latin typeface="Arial"/>
                <a:cs typeface="Arial"/>
              </a:rPr>
              <a:t>But we </a:t>
            </a:r>
            <a:r>
              <a:rPr sz="1400" dirty="0">
                <a:solidFill>
                  <a:srgbClr val="595959"/>
                </a:solidFill>
                <a:latin typeface="Arial"/>
                <a:cs typeface="Arial"/>
              </a:rPr>
              <a:t>know </a:t>
            </a:r>
            <a:r>
              <a:rPr sz="1400" spc="-5" dirty="0">
                <a:solidFill>
                  <a:srgbClr val="595959"/>
                </a:solidFill>
                <a:latin typeface="Arial"/>
                <a:cs typeface="Arial"/>
              </a:rPr>
              <a:t>that Euler angles are prone to issues like Gimbal</a:t>
            </a:r>
            <a:r>
              <a:rPr sz="1400" spc="-20" dirty="0">
                <a:solidFill>
                  <a:srgbClr val="595959"/>
                </a:solidFill>
                <a:latin typeface="Arial"/>
                <a:cs typeface="Arial"/>
              </a:rPr>
              <a:t> </a:t>
            </a:r>
            <a:r>
              <a:rPr sz="1400" spc="-5" dirty="0">
                <a:solidFill>
                  <a:srgbClr val="595959"/>
                </a:solidFill>
                <a:latin typeface="Arial"/>
                <a:cs typeface="Arial"/>
              </a:rPr>
              <a:t>lock.</a:t>
            </a:r>
            <a:endParaRPr sz="1400">
              <a:latin typeface="Arial"/>
              <a:cs typeface="Arial"/>
            </a:endParaRPr>
          </a:p>
          <a:p>
            <a:pPr marL="379095" indent="-366395">
              <a:lnSpc>
                <a:spcPct val="100000"/>
              </a:lnSpc>
              <a:spcBef>
                <a:spcPts val="254"/>
              </a:spcBef>
              <a:buChar char="●"/>
              <a:tabLst>
                <a:tab pos="379730" algn="l"/>
                <a:tab pos="380365" algn="l"/>
              </a:tabLst>
            </a:pPr>
            <a:r>
              <a:rPr spc="-5" dirty="0"/>
              <a:t>So, we’ll use</a:t>
            </a:r>
            <a:r>
              <a:rPr spc="-15" dirty="0"/>
              <a:t> </a:t>
            </a:r>
            <a:r>
              <a:rPr spc="-5" dirty="0"/>
              <a:t>quaternions.</a:t>
            </a:r>
          </a:p>
          <a:p>
            <a:pPr marL="836294" marR="5080" lvl="1" indent="-335915">
              <a:lnSpc>
                <a:spcPct val="116100"/>
              </a:lnSpc>
              <a:spcBef>
                <a:spcPts val="60"/>
              </a:spcBef>
              <a:buChar char="○"/>
              <a:tabLst>
                <a:tab pos="836930" algn="l"/>
                <a:tab pos="837565" algn="l"/>
              </a:tabLst>
            </a:pPr>
            <a:r>
              <a:rPr sz="1400" spc="-5" dirty="0">
                <a:solidFill>
                  <a:srgbClr val="595959"/>
                </a:solidFill>
                <a:latin typeface="Arial"/>
                <a:cs typeface="Arial"/>
              </a:rPr>
              <a:t>Recall, quaternion </a:t>
            </a:r>
            <a:r>
              <a:rPr sz="1400" dirty="0">
                <a:solidFill>
                  <a:srgbClr val="595959"/>
                </a:solidFill>
                <a:latin typeface="Arial"/>
                <a:cs typeface="Arial"/>
              </a:rPr>
              <a:t>consists </a:t>
            </a:r>
            <a:r>
              <a:rPr sz="1400" spc="-5" dirty="0">
                <a:solidFill>
                  <a:srgbClr val="595959"/>
                </a:solidFill>
                <a:latin typeface="Arial"/>
                <a:cs typeface="Arial"/>
              </a:rPr>
              <a:t>of unit axis of </a:t>
            </a:r>
            <a:r>
              <a:rPr sz="1400" dirty="0">
                <a:solidFill>
                  <a:srgbClr val="595959"/>
                </a:solidFill>
                <a:latin typeface="Arial"/>
                <a:cs typeface="Arial"/>
              </a:rPr>
              <a:t>rotation, </a:t>
            </a:r>
            <a:r>
              <a:rPr sz="1400" b="1" spc="-5" dirty="0">
                <a:solidFill>
                  <a:srgbClr val="595959"/>
                </a:solidFill>
                <a:latin typeface="Arial"/>
                <a:cs typeface="Arial"/>
              </a:rPr>
              <a:t>u</a:t>
            </a:r>
            <a:r>
              <a:rPr sz="1400" spc="-5" dirty="0">
                <a:solidFill>
                  <a:srgbClr val="595959"/>
                </a:solidFill>
                <a:latin typeface="Arial"/>
                <a:cs typeface="Arial"/>
              </a:rPr>
              <a:t>, </a:t>
            </a:r>
            <a:r>
              <a:rPr sz="1400" dirty="0">
                <a:solidFill>
                  <a:srgbClr val="595959"/>
                </a:solidFill>
                <a:latin typeface="Arial"/>
                <a:cs typeface="Arial"/>
              </a:rPr>
              <a:t>scaled </a:t>
            </a:r>
            <a:r>
              <a:rPr sz="1400" spc="-5" dirty="0">
                <a:solidFill>
                  <a:srgbClr val="595959"/>
                </a:solidFill>
                <a:latin typeface="Arial"/>
                <a:cs typeface="Arial"/>
              </a:rPr>
              <a:t>by </a:t>
            </a:r>
            <a:r>
              <a:rPr sz="1400" dirty="0">
                <a:solidFill>
                  <a:srgbClr val="595959"/>
                </a:solidFill>
                <a:latin typeface="Arial"/>
                <a:cs typeface="Arial"/>
              </a:rPr>
              <a:t>sine </a:t>
            </a:r>
            <a:r>
              <a:rPr sz="1400" spc="-5" dirty="0">
                <a:solidFill>
                  <a:srgbClr val="595959"/>
                </a:solidFill>
                <a:latin typeface="Arial"/>
                <a:cs typeface="Arial"/>
              </a:rPr>
              <a:t>of the half angle, </a:t>
            </a:r>
            <a:r>
              <a:rPr sz="1400" dirty="0">
                <a:solidFill>
                  <a:srgbClr val="595959"/>
                </a:solidFill>
                <a:latin typeface="Tahoma"/>
                <a:cs typeface="Tahoma"/>
              </a:rPr>
              <a:t>e</a:t>
            </a:r>
            <a:r>
              <a:rPr sz="1400" dirty="0">
                <a:solidFill>
                  <a:srgbClr val="595959"/>
                </a:solidFill>
                <a:latin typeface="Arial"/>
                <a:cs typeface="Arial"/>
              </a:rPr>
              <a:t>, </a:t>
            </a:r>
            <a:r>
              <a:rPr sz="1400" spc="-5" dirty="0">
                <a:solidFill>
                  <a:srgbClr val="595959"/>
                </a:solidFill>
                <a:latin typeface="Arial"/>
                <a:cs typeface="Arial"/>
              </a:rPr>
              <a:t>and </a:t>
            </a:r>
            <a:r>
              <a:rPr sz="1400" dirty="0">
                <a:solidFill>
                  <a:srgbClr val="595959"/>
                </a:solidFill>
                <a:latin typeface="Arial"/>
                <a:cs typeface="Arial"/>
              </a:rPr>
              <a:t>a  scalar </a:t>
            </a:r>
            <a:r>
              <a:rPr sz="1400" spc="-5" dirty="0">
                <a:solidFill>
                  <a:srgbClr val="595959"/>
                </a:solidFill>
                <a:latin typeface="Arial"/>
                <a:cs typeface="Arial"/>
              </a:rPr>
              <a:t>equal to </a:t>
            </a:r>
            <a:r>
              <a:rPr sz="1400" dirty="0">
                <a:solidFill>
                  <a:srgbClr val="595959"/>
                </a:solidFill>
                <a:latin typeface="Arial"/>
                <a:cs typeface="Arial"/>
              </a:rPr>
              <a:t>cosine </a:t>
            </a:r>
            <a:r>
              <a:rPr sz="1400" spc="-5" dirty="0">
                <a:solidFill>
                  <a:srgbClr val="595959"/>
                </a:solidFill>
                <a:latin typeface="Arial"/>
                <a:cs typeface="Arial"/>
              </a:rPr>
              <a:t>of the half</a:t>
            </a:r>
            <a:r>
              <a:rPr sz="1400" spc="-25" dirty="0">
                <a:solidFill>
                  <a:srgbClr val="595959"/>
                </a:solidFill>
                <a:latin typeface="Arial"/>
                <a:cs typeface="Arial"/>
              </a:rPr>
              <a:t> </a:t>
            </a:r>
            <a:r>
              <a:rPr sz="1400" spc="-5" dirty="0">
                <a:solidFill>
                  <a:srgbClr val="595959"/>
                </a:solidFill>
                <a:latin typeface="Arial"/>
                <a:cs typeface="Arial"/>
              </a:rPr>
              <a:t>angle.</a:t>
            </a:r>
            <a:endParaRPr sz="1400">
              <a:latin typeface="Arial"/>
              <a:cs typeface="Arial"/>
            </a:endParaRPr>
          </a:p>
        </p:txBody>
      </p:sp>
      <p:sp>
        <p:nvSpPr>
          <p:cNvPr id="4" name="object 4"/>
          <p:cNvSpPr/>
          <p:nvPr/>
        </p:nvSpPr>
        <p:spPr>
          <a:xfrm>
            <a:off x="2530399" y="3097950"/>
            <a:ext cx="4083200" cy="45284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3501475" cy="520655"/>
          </a:xfrm>
          <a:prstGeom prst="rect">
            <a:avLst/>
          </a:prstGeom>
        </p:spPr>
        <p:txBody>
          <a:bodyPr vert="horz" wrap="square" lIns="0" tIns="12700" rIns="0" bIns="0" rtlCol="0">
            <a:spAutoFit/>
          </a:bodyPr>
          <a:lstStyle/>
          <a:p>
            <a:pPr marL="12700">
              <a:lnSpc>
                <a:spcPct val="100000"/>
              </a:lnSpc>
              <a:spcBef>
                <a:spcPts val="100"/>
              </a:spcBef>
            </a:pPr>
            <a:r>
              <a:rPr spc="-10" dirty="0"/>
              <a:t>Angular</a:t>
            </a:r>
            <a:r>
              <a:rPr spc="-90" dirty="0"/>
              <a:t> </a:t>
            </a:r>
            <a:r>
              <a:rPr spc="-5" dirty="0"/>
              <a:t>Velocity</a:t>
            </a:r>
          </a:p>
        </p:txBody>
      </p:sp>
      <p:sp>
        <p:nvSpPr>
          <p:cNvPr id="3" name="object 3"/>
          <p:cNvSpPr txBox="1"/>
          <p:nvPr/>
        </p:nvSpPr>
        <p:spPr>
          <a:xfrm>
            <a:off x="475249" y="1176350"/>
            <a:ext cx="7875905" cy="654050"/>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We </a:t>
            </a:r>
            <a:r>
              <a:rPr sz="1800" dirty="0">
                <a:solidFill>
                  <a:srgbClr val="595959"/>
                </a:solidFill>
                <a:latin typeface="Arial"/>
                <a:cs typeface="Arial"/>
              </a:rPr>
              <a:t>can represent </a:t>
            </a:r>
            <a:r>
              <a:rPr sz="1800" spc="-5" dirty="0">
                <a:solidFill>
                  <a:srgbClr val="595959"/>
                </a:solidFill>
                <a:latin typeface="Arial"/>
                <a:cs typeface="Arial"/>
              </a:rPr>
              <a:t>angular </a:t>
            </a:r>
            <a:r>
              <a:rPr sz="1800" dirty="0">
                <a:solidFill>
                  <a:srgbClr val="595959"/>
                </a:solidFill>
                <a:latin typeface="Arial"/>
                <a:cs typeface="Arial"/>
              </a:rPr>
              <a:t>velocity </a:t>
            </a:r>
            <a:r>
              <a:rPr sz="1800" spc="-5" dirty="0">
                <a:solidFill>
                  <a:srgbClr val="595959"/>
                </a:solidFill>
                <a:latin typeface="Arial"/>
                <a:cs typeface="Arial"/>
              </a:rPr>
              <a:t>as </a:t>
            </a:r>
            <a:r>
              <a:rPr sz="1800" dirty="0">
                <a:solidFill>
                  <a:srgbClr val="595959"/>
                </a:solidFill>
                <a:latin typeface="Arial"/>
                <a:cs typeface="Arial"/>
              </a:rPr>
              <a:t>a </a:t>
            </a:r>
            <a:r>
              <a:rPr sz="1800" spc="-5" dirty="0">
                <a:solidFill>
                  <a:srgbClr val="595959"/>
                </a:solidFill>
                <a:latin typeface="Arial"/>
                <a:cs typeface="Arial"/>
              </a:rPr>
              <a:t>unit </a:t>
            </a:r>
            <a:r>
              <a:rPr sz="1800" dirty="0">
                <a:solidFill>
                  <a:srgbClr val="595959"/>
                </a:solidFill>
                <a:latin typeface="Arial"/>
                <a:cs typeface="Arial"/>
              </a:rPr>
              <a:t>vector (the </a:t>
            </a:r>
            <a:r>
              <a:rPr sz="1800" spc="-5" dirty="0">
                <a:solidFill>
                  <a:srgbClr val="595959"/>
                </a:solidFill>
                <a:latin typeface="Arial"/>
                <a:cs typeface="Arial"/>
              </a:rPr>
              <a:t>axis of </a:t>
            </a:r>
            <a:r>
              <a:rPr sz="1800" dirty="0">
                <a:solidFill>
                  <a:srgbClr val="595959"/>
                </a:solidFill>
                <a:latin typeface="Arial"/>
                <a:cs typeface="Arial"/>
              </a:rPr>
              <a:t>rotation), </a:t>
            </a:r>
            <a:r>
              <a:rPr sz="1800" b="1" dirty="0">
                <a:solidFill>
                  <a:srgbClr val="595959"/>
                </a:solidFill>
                <a:latin typeface="Arial"/>
                <a:cs typeface="Arial"/>
              </a:rPr>
              <a:t>u</a:t>
            </a:r>
            <a:r>
              <a:rPr sz="1800" dirty="0">
                <a:solidFill>
                  <a:srgbClr val="595959"/>
                </a:solidFill>
                <a:latin typeface="Arial"/>
                <a:cs typeface="Arial"/>
              </a:rPr>
              <a:t>,  scaled </a:t>
            </a:r>
            <a:r>
              <a:rPr sz="1800" spc="-5" dirty="0">
                <a:solidFill>
                  <a:srgbClr val="595959"/>
                </a:solidFill>
                <a:latin typeface="Arial"/>
                <a:cs typeface="Arial"/>
              </a:rPr>
              <a:t>by the two dimensional angular </a:t>
            </a:r>
            <a:r>
              <a:rPr sz="1800" dirty="0">
                <a:solidFill>
                  <a:srgbClr val="595959"/>
                </a:solidFill>
                <a:latin typeface="Arial"/>
                <a:cs typeface="Arial"/>
              </a:rPr>
              <a:t>velocity,</a:t>
            </a:r>
            <a:r>
              <a:rPr sz="1800" spc="15" dirty="0">
                <a:solidFill>
                  <a:srgbClr val="595959"/>
                </a:solidFill>
                <a:latin typeface="Arial"/>
                <a:cs typeface="Arial"/>
              </a:rPr>
              <a:t> </a:t>
            </a:r>
            <a:r>
              <a:rPr sz="1800" spc="-30" dirty="0">
                <a:solidFill>
                  <a:srgbClr val="595959"/>
                </a:solidFill>
                <a:latin typeface="Tahoma"/>
                <a:cs typeface="Tahoma"/>
              </a:rPr>
              <a:t>w</a:t>
            </a:r>
            <a:r>
              <a:rPr sz="1800" i="1" spc="-44" baseline="-32407" dirty="0">
                <a:solidFill>
                  <a:srgbClr val="595959"/>
                </a:solidFill>
                <a:latin typeface="Arial"/>
                <a:cs typeface="Arial"/>
              </a:rPr>
              <a:t>u</a:t>
            </a:r>
            <a:r>
              <a:rPr sz="1800" spc="-30" dirty="0">
                <a:solidFill>
                  <a:srgbClr val="595959"/>
                </a:solidFill>
                <a:latin typeface="Arial"/>
                <a:cs typeface="Arial"/>
              </a:rPr>
              <a:t>:</a:t>
            </a:r>
            <a:endParaRPr sz="1800">
              <a:latin typeface="Arial"/>
              <a:cs typeface="Arial"/>
            </a:endParaRPr>
          </a:p>
        </p:txBody>
      </p:sp>
      <p:sp>
        <p:nvSpPr>
          <p:cNvPr id="4" name="object 4"/>
          <p:cNvSpPr txBox="1"/>
          <p:nvPr/>
        </p:nvSpPr>
        <p:spPr>
          <a:xfrm>
            <a:off x="475249" y="2519375"/>
            <a:ext cx="6979920" cy="1216025"/>
          </a:xfrm>
          <a:prstGeom prst="rect">
            <a:avLst/>
          </a:prstGeom>
        </p:spPr>
        <p:txBody>
          <a:bodyPr vert="horz" wrap="square" lIns="0" tIns="52705" rIns="0" bIns="0" rtlCol="0">
            <a:spAutoFit/>
          </a:bodyPr>
          <a:lstStyle/>
          <a:p>
            <a:pPr marL="379095" indent="-366395">
              <a:lnSpc>
                <a:spcPct val="100000"/>
              </a:lnSpc>
              <a:spcBef>
                <a:spcPts val="415"/>
              </a:spcBef>
              <a:buChar char="●"/>
              <a:tabLst>
                <a:tab pos="379095" algn="l"/>
                <a:tab pos="379730" algn="l"/>
              </a:tabLst>
            </a:pPr>
            <a:r>
              <a:rPr sz="1800" spc="-5" dirty="0">
                <a:solidFill>
                  <a:srgbClr val="595959"/>
                </a:solidFill>
                <a:latin typeface="Arial"/>
                <a:cs typeface="Arial"/>
              </a:rPr>
              <a:t>In 2D if no torques acted on </a:t>
            </a:r>
            <a:r>
              <a:rPr sz="1800" dirty="0">
                <a:solidFill>
                  <a:srgbClr val="595959"/>
                </a:solidFill>
                <a:latin typeface="Arial"/>
                <a:cs typeface="Arial"/>
              </a:rPr>
              <a:t>a </a:t>
            </a:r>
            <a:r>
              <a:rPr sz="1800" spc="-5" dirty="0">
                <a:solidFill>
                  <a:srgbClr val="595959"/>
                </a:solidFill>
                <a:latin typeface="Arial"/>
                <a:cs typeface="Arial"/>
              </a:rPr>
              <a:t>body, angular </a:t>
            </a:r>
            <a:r>
              <a:rPr sz="1800" dirty="0">
                <a:solidFill>
                  <a:srgbClr val="595959"/>
                </a:solidFill>
                <a:latin typeface="Arial"/>
                <a:cs typeface="Arial"/>
              </a:rPr>
              <a:t>speed </a:t>
            </a:r>
            <a:r>
              <a:rPr sz="1800" spc="-5" dirty="0">
                <a:solidFill>
                  <a:srgbClr val="595959"/>
                </a:solidFill>
                <a:latin typeface="Arial"/>
                <a:cs typeface="Arial"/>
              </a:rPr>
              <a:t>was</a:t>
            </a:r>
            <a:r>
              <a:rPr sz="1800" spc="-65" dirty="0">
                <a:solidFill>
                  <a:srgbClr val="595959"/>
                </a:solidFill>
                <a:latin typeface="Arial"/>
                <a:cs typeface="Arial"/>
              </a:rPr>
              <a:t> </a:t>
            </a:r>
            <a:r>
              <a:rPr sz="1800" dirty="0">
                <a:solidFill>
                  <a:srgbClr val="595959"/>
                </a:solidFill>
                <a:latin typeface="Arial"/>
                <a:cs typeface="Arial"/>
              </a:rPr>
              <a:t>constant.</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In 3D, this is not</a:t>
            </a:r>
            <a:r>
              <a:rPr sz="1800" spc="-10" dirty="0">
                <a:solidFill>
                  <a:srgbClr val="595959"/>
                </a:solidFill>
                <a:latin typeface="Arial"/>
                <a:cs typeface="Arial"/>
              </a:rPr>
              <a:t> </a:t>
            </a:r>
            <a:r>
              <a:rPr sz="1800" spc="-5" dirty="0">
                <a:solidFill>
                  <a:srgbClr val="595959"/>
                </a:solidFill>
                <a:latin typeface="Arial"/>
                <a:cs typeface="Arial"/>
              </a:rPr>
              <a:t>true.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The axis of </a:t>
            </a:r>
            <a:r>
              <a:rPr sz="1400" dirty="0">
                <a:solidFill>
                  <a:srgbClr val="595959"/>
                </a:solidFill>
                <a:latin typeface="Arial"/>
                <a:cs typeface="Arial"/>
              </a:rPr>
              <a:t>rotation can change </a:t>
            </a:r>
            <a:r>
              <a:rPr sz="1400" spc="-5" dirty="0">
                <a:solidFill>
                  <a:srgbClr val="595959"/>
                </a:solidFill>
                <a:latin typeface="Arial"/>
                <a:cs typeface="Arial"/>
              </a:rPr>
              <a:t>without external</a:t>
            </a:r>
            <a:r>
              <a:rPr sz="1400" spc="-35" dirty="0">
                <a:solidFill>
                  <a:srgbClr val="595959"/>
                </a:solidFill>
                <a:latin typeface="Arial"/>
                <a:cs typeface="Arial"/>
              </a:rPr>
              <a:t> </a:t>
            </a:r>
            <a:r>
              <a:rPr sz="1400" spc="-5" dirty="0">
                <a:solidFill>
                  <a:srgbClr val="595959"/>
                </a:solidFill>
                <a:latin typeface="Arial"/>
                <a:cs typeface="Arial"/>
              </a:rPr>
              <a:t>torques.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In other words, </a:t>
            </a:r>
            <a:r>
              <a:rPr sz="1800" b="1" spc="-5" dirty="0">
                <a:solidFill>
                  <a:srgbClr val="595959"/>
                </a:solidFill>
                <a:latin typeface="Arial"/>
                <a:cs typeface="Arial"/>
              </a:rPr>
              <a:t>angular velocity is not</a:t>
            </a:r>
            <a:r>
              <a:rPr sz="1800" b="1" dirty="0">
                <a:solidFill>
                  <a:srgbClr val="595959"/>
                </a:solidFill>
                <a:latin typeface="Arial"/>
                <a:cs typeface="Arial"/>
              </a:rPr>
              <a:t> </a:t>
            </a:r>
            <a:r>
              <a:rPr sz="1800" b="1" spc="-5" dirty="0">
                <a:solidFill>
                  <a:srgbClr val="595959"/>
                </a:solidFill>
                <a:latin typeface="Arial"/>
                <a:cs typeface="Arial"/>
              </a:rPr>
              <a:t>conserved</a:t>
            </a:r>
            <a:r>
              <a:rPr sz="1800" spc="-5" dirty="0">
                <a:solidFill>
                  <a:srgbClr val="595959"/>
                </a:solidFill>
                <a:latin typeface="Arial"/>
                <a:cs typeface="Arial"/>
              </a:rPr>
              <a:t>.</a:t>
            </a:r>
            <a:endParaRPr sz="1800">
              <a:latin typeface="Arial"/>
              <a:cs typeface="Arial"/>
            </a:endParaRPr>
          </a:p>
        </p:txBody>
      </p:sp>
      <p:sp>
        <p:nvSpPr>
          <p:cNvPr id="5" name="object 5"/>
          <p:cNvSpPr/>
          <p:nvPr/>
        </p:nvSpPr>
        <p:spPr>
          <a:xfrm>
            <a:off x="3254624" y="2013674"/>
            <a:ext cx="2634761" cy="269824"/>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682628" y="1862986"/>
            <a:ext cx="1775460"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595959"/>
                </a:solidFill>
                <a:latin typeface="Arial"/>
                <a:cs typeface="Arial"/>
              </a:rPr>
              <a:t>But</a:t>
            </a:r>
            <a:r>
              <a:rPr sz="3600" spc="-95" dirty="0">
                <a:solidFill>
                  <a:srgbClr val="595959"/>
                </a:solidFill>
                <a:latin typeface="Arial"/>
                <a:cs typeface="Arial"/>
              </a:rPr>
              <a:t> </a:t>
            </a:r>
            <a:r>
              <a:rPr sz="3600" spc="-5" dirty="0">
                <a:solidFill>
                  <a:srgbClr val="595959"/>
                </a:solidFill>
                <a:latin typeface="Arial"/>
                <a:cs typeface="Arial"/>
              </a:rPr>
              <a:t>wait!</a:t>
            </a:r>
            <a:endParaRPr sz="3600">
              <a:latin typeface="Arial"/>
              <a:cs typeface="Arial"/>
            </a:endParaRPr>
          </a:p>
        </p:txBody>
      </p:sp>
      <p:sp>
        <p:nvSpPr>
          <p:cNvPr id="3" name="object 3"/>
          <p:cNvSpPr txBox="1"/>
          <p:nvPr/>
        </p:nvSpPr>
        <p:spPr>
          <a:xfrm>
            <a:off x="2086520" y="2707283"/>
            <a:ext cx="496951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595959"/>
                </a:solidFill>
                <a:latin typeface="Arial"/>
                <a:cs typeface="Arial"/>
              </a:rPr>
              <a:t>Angular </a:t>
            </a:r>
            <a:r>
              <a:rPr sz="2400" b="1" i="1" spc="-5" dirty="0">
                <a:solidFill>
                  <a:srgbClr val="595959"/>
                </a:solidFill>
                <a:latin typeface="Arial"/>
                <a:cs typeface="Arial"/>
              </a:rPr>
              <a:t>momentum </a:t>
            </a:r>
            <a:r>
              <a:rPr sz="2400" b="1" spc="-5" dirty="0">
                <a:solidFill>
                  <a:srgbClr val="595959"/>
                </a:solidFill>
                <a:latin typeface="Arial"/>
                <a:cs typeface="Arial"/>
              </a:rPr>
              <a:t>IS</a:t>
            </a:r>
            <a:r>
              <a:rPr sz="2400" b="1" spc="-80" dirty="0">
                <a:solidFill>
                  <a:srgbClr val="595959"/>
                </a:solidFill>
                <a:latin typeface="Arial"/>
                <a:cs typeface="Arial"/>
              </a:rPr>
              <a:t> </a:t>
            </a:r>
            <a:r>
              <a:rPr sz="2400" b="1" spc="-5" dirty="0">
                <a:solidFill>
                  <a:srgbClr val="595959"/>
                </a:solidFill>
                <a:latin typeface="Arial"/>
                <a:cs typeface="Arial"/>
              </a:rPr>
              <a:t>conserved.</a:t>
            </a:r>
            <a:endParaRPr sz="240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4034875" cy="520655"/>
          </a:xfrm>
          <a:prstGeom prst="rect">
            <a:avLst/>
          </a:prstGeom>
        </p:spPr>
        <p:txBody>
          <a:bodyPr vert="horz" wrap="square" lIns="0" tIns="12700" rIns="0" bIns="0" rtlCol="0">
            <a:spAutoFit/>
          </a:bodyPr>
          <a:lstStyle/>
          <a:p>
            <a:pPr marL="12700">
              <a:lnSpc>
                <a:spcPct val="100000"/>
              </a:lnSpc>
              <a:spcBef>
                <a:spcPts val="100"/>
              </a:spcBef>
            </a:pPr>
            <a:r>
              <a:rPr spc="-10" dirty="0"/>
              <a:t>Angular</a:t>
            </a:r>
            <a:r>
              <a:rPr spc="-90" dirty="0"/>
              <a:t> </a:t>
            </a:r>
            <a:r>
              <a:rPr dirty="0"/>
              <a:t>Momentum</a:t>
            </a:r>
          </a:p>
        </p:txBody>
      </p:sp>
      <p:sp>
        <p:nvSpPr>
          <p:cNvPr id="3" name="object 3"/>
          <p:cNvSpPr txBox="1"/>
          <p:nvPr/>
        </p:nvSpPr>
        <p:spPr>
          <a:xfrm>
            <a:off x="475249" y="1216355"/>
            <a:ext cx="361378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Analogous to linear</a:t>
            </a:r>
            <a:r>
              <a:rPr sz="1800" spc="-90" dirty="0">
                <a:solidFill>
                  <a:srgbClr val="595959"/>
                </a:solidFill>
                <a:latin typeface="Arial"/>
                <a:cs typeface="Arial"/>
              </a:rPr>
              <a:t> </a:t>
            </a:r>
            <a:r>
              <a:rPr sz="1800" dirty="0">
                <a:solidFill>
                  <a:srgbClr val="595959"/>
                </a:solidFill>
                <a:latin typeface="Arial"/>
                <a:cs typeface="Arial"/>
              </a:rPr>
              <a:t>momentum.</a:t>
            </a:r>
            <a:endParaRPr sz="1800">
              <a:latin typeface="Arial"/>
              <a:cs typeface="Arial"/>
            </a:endParaRPr>
          </a:p>
        </p:txBody>
      </p:sp>
      <p:sp>
        <p:nvSpPr>
          <p:cNvPr id="4" name="object 4"/>
          <p:cNvSpPr txBox="1"/>
          <p:nvPr/>
        </p:nvSpPr>
        <p:spPr>
          <a:xfrm>
            <a:off x="475249" y="2205051"/>
            <a:ext cx="8046084" cy="1157605"/>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We use angular </a:t>
            </a:r>
            <a:r>
              <a:rPr sz="1800" dirty="0">
                <a:solidFill>
                  <a:srgbClr val="595959"/>
                </a:solidFill>
                <a:latin typeface="Arial"/>
                <a:cs typeface="Arial"/>
              </a:rPr>
              <a:t>momentum </a:t>
            </a:r>
            <a:r>
              <a:rPr sz="1800" spc="-5" dirty="0">
                <a:solidFill>
                  <a:srgbClr val="595959"/>
                </a:solidFill>
                <a:latin typeface="Arial"/>
                <a:cs typeface="Arial"/>
              </a:rPr>
              <a:t>as the primary quantity in the angular dynamics  </a:t>
            </a:r>
            <a:r>
              <a:rPr sz="1800" dirty="0">
                <a:solidFill>
                  <a:srgbClr val="595959"/>
                </a:solidFill>
                <a:latin typeface="Arial"/>
                <a:cs typeface="Arial"/>
              </a:rPr>
              <a:t>simulation.</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Angular </a:t>
            </a:r>
            <a:r>
              <a:rPr sz="1400" dirty="0">
                <a:solidFill>
                  <a:srgbClr val="595959"/>
                </a:solidFill>
                <a:latin typeface="Arial"/>
                <a:cs typeface="Arial"/>
              </a:rPr>
              <a:t>velocity </a:t>
            </a:r>
            <a:r>
              <a:rPr sz="1400" spc="-5" dirty="0">
                <a:solidFill>
                  <a:srgbClr val="595959"/>
                </a:solidFill>
                <a:latin typeface="Arial"/>
                <a:cs typeface="Arial"/>
              </a:rPr>
              <a:t>is </a:t>
            </a:r>
            <a:r>
              <a:rPr sz="1400" dirty="0">
                <a:solidFill>
                  <a:srgbClr val="595959"/>
                </a:solidFill>
                <a:latin typeface="Arial"/>
                <a:cs typeface="Arial"/>
              </a:rPr>
              <a:t>calculated </a:t>
            </a:r>
            <a:r>
              <a:rPr sz="1400" spc="-5" dirty="0">
                <a:solidFill>
                  <a:srgbClr val="595959"/>
                </a:solidFill>
                <a:latin typeface="Arial"/>
                <a:cs typeface="Arial"/>
              </a:rPr>
              <a:t>after angular</a:t>
            </a:r>
            <a:r>
              <a:rPr sz="1400" spc="-25" dirty="0">
                <a:solidFill>
                  <a:srgbClr val="595959"/>
                </a:solidFill>
                <a:latin typeface="Arial"/>
                <a:cs typeface="Arial"/>
              </a:rPr>
              <a:t> </a:t>
            </a:r>
            <a:r>
              <a:rPr sz="1400" dirty="0">
                <a:solidFill>
                  <a:srgbClr val="595959"/>
                </a:solidFill>
                <a:latin typeface="Arial"/>
                <a:cs typeface="Arial"/>
              </a:rPr>
              <a:t>momentum.</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We’ll </a:t>
            </a:r>
            <a:r>
              <a:rPr sz="1400" dirty="0">
                <a:solidFill>
                  <a:srgbClr val="595959"/>
                </a:solidFill>
                <a:latin typeface="Arial"/>
                <a:cs typeface="Arial"/>
              </a:rPr>
              <a:t>see </a:t>
            </a:r>
            <a:r>
              <a:rPr sz="1400" spc="-5" dirty="0">
                <a:solidFill>
                  <a:srgbClr val="595959"/>
                </a:solidFill>
                <a:latin typeface="Arial"/>
                <a:cs typeface="Arial"/>
              </a:rPr>
              <a:t>how</a:t>
            </a:r>
            <a:r>
              <a:rPr sz="1400" spc="-15" dirty="0">
                <a:solidFill>
                  <a:srgbClr val="595959"/>
                </a:solidFill>
                <a:latin typeface="Arial"/>
                <a:cs typeface="Arial"/>
              </a:rPr>
              <a:t> </a:t>
            </a:r>
            <a:r>
              <a:rPr sz="1400" dirty="0">
                <a:solidFill>
                  <a:srgbClr val="595959"/>
                </a:solidFill>
                <a:latin typeface="Arial"/>
                <a:cs typeface="Arial"/>
              </a:rPr>
              <a:t>shortly.</a:t>
            </a:r>
            <a:endParaRPr sz="1400">
              <a:latin typeface="Arial"/>
              <a:cs typeface="Arial"/>
            </a:endParaRPr>
          </a:p>
        </p:txBody>
      </p:sp>
      <p:sp>
        <p:nvSpPr>
          <p:cNvPr id="5" name="object 5"/>
          <p:cNvSpPr/>
          <p:nvPr/>
        </p:nvSpPr>
        <p:spPr>
          <a:xfrm>
            <a:off x="3886200" y="1736300"/>
            <a:ext cx="1371599" cy="28574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3044275" cy="520655"/>
          </a:xfrm>
          <a:prstGeom prst="rect">
            <a:avLst/>
          </a:prstGeom>
        </p:spPr>
        <p:txBody>
          <a:bodyPr vert="horz" wrap="square" lIns="0" tIns="12700" rIns="0" bIns="0" rtlCol="0">
            <a:spAutoFit/>
          </a:bodyPr>
          <a:lstStyle/>
          <a:p>
            <a:pPr marL="12700">
              <a:lnSpc>
                <a:spcPct val="100000"/>
              </a:lnSpc>
              <a:spcBef>
                <a:spcPts val="100"/>
              </a:spcBef>
            </a:pPr>
            <a:r>
              <a:rPr spc="-5" dirty="0"/>
              <a:t>Torque in</a:t>
            </a:r>
            <a:r>
              <a:rPr spc="-95" dirty="0"/>
              <a:t> </a:t>
            </a:r>
            <a:r>
              <a:rPr spc="-5" dirty="0"/>
              <a:t>3D</a:t>
            </a:r>
          </a:p>
        </p:txBody>
      </p:sp>
      <p:sp>
        <p:nvSpPr>
          <p:cNvPr id="3" name="object 3"/>
          <p:cNvSpPr txBox="1"/>
          <p:nvPr/>
        </p:nvSpPr>
        <p:spPr>
          <a:xfrm>
            <a:off x="475249" y="1176350"/>
            <a:ext cx="8115934" cy="1530350"/>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Torque is </a:t>
            </a:r>
            <a:r>
              <a:rPr sz="1800" dirty="0">
                <a:solidFill>
                  <a:srgbClr val="595959"/>
                </a:solidFill>
                <a:latin typeface="Arial"/>
                <a:cs typeface="Arial"/>
              </a:rPr>
              <a:t>still </a:t>
            </a:r>
            <a:r>
              <a:rPr sz="1800" spc="-5" dirty="0">
                <a:solidFill>
                  <a:srgbClr val="595959"/>
                </a:solidFill>
                <a:latin typeface="Arial"/>
                <a:cs typeface="Arial"/>
              </a:rPr>
              <a:t>the </a:t>
            </a:r>
            <a:r>
              <a:rPr sz="1800" dirty="0">
                <a:solidFill>
                  <a:srgbClr val="595959"/>
                </a:solidFill>
                <a:latin typeface="Arial"/>
                <a:cs typeface="Arial"/>
              </a:rPr>
              <a:t>cross </a:t>
            </a:r>
            <a:r>
              <a:rPr sz="1800" spc="-5" dirty="0">
                <a:solidFill>
                  <a:srgbClr val="595959"/>
                </a:solidFill>
                <a:latin typeface="Arial"/>
                <a:cs typeface="Arial"/>
              </a:rPr>
              <a:t>product of the force and the </a:t>
            </a:r>
            <a:r>
              <a:rPr sz="1800" dirty="0">
                <a:solidFill>
                  <a:srgbClr val="595959"/>
                </a:solidFill>
                <a:latin typeface="Arial"/>
                <a:cs typeface="Arial"/>
              </a:rPr>
              <a:t>vector </a:t>
            </a:r>
            <a:r>
              <a:rPr sz="1800" spc="-5" dirty="0">
                <a:solidFill>
                  <a:srgbClr val="595959"/>
                </a:solidFill>
                <a:latin typeface="Arial"/>
                <a:cs typeface="Arial"/>
              </a:rPr>
              <a:t>from the </a:t>
            </a:r>
            <a:r>
              <a:rPr sz="1800" dirty="0">
                <a:solidFill>
                  <a:srgbClr val="595959"/>
                </a:solidFill>
                <a:latin typeface="Arial"/>
                <a:cs typeface="Arial"/>
              </a:rPr>
              <a:t>center </a:t>
            </a:r>
            <a:r>
              <a:rPr sz="1800" spc="-5" dirty="0">
                <a:solidFill>
                  <a:srgbClr val="595959"/>
                </a:solidFill>
                <a:latin typeface="Arial"/>
                <a:cs typeface="Arial"/>
              </a:rPr>
              <a:t>of  </a:t>
            </a:r>
            <a:r>
              <a:rPr sz="1800" dirty="0">
                <a:solidFill>
                  <a:srgbClr val="595959"/>
                </a:solidFill>
                <a:latin typeface="Arial"/>
                <a:cs typeface="Arial"/>
              </a:rPr>
              <a:t>mass </a:t>
            </a:r>
            <a:r>
              <a:rPr sz="1800" spc="-5" dirty="0">
                <a:solidFill>
                  <a:srgbClr val="595959"/>
                </a:solidFill>
                <a:latin typeface="Arial"/>
                <a:cs typeface="Arial"/>
              </a:rPr>
              <a:t>to point of</a:t>
            </a:r>
            <a:r>
              <a:rPr sz="1800" spc="-15" dirty="0">
                <a:solidFill>
                  <a:srgbClr val="595959"/>
                </a:solidFill>
                <a:latin typeface="Arial"/>
                <a:cs typeface="Arial"/>
              </a:rPr>
              <a:t> </a:t>
            </a:r>
            <a:r>
              <a:rPr sz="1800" dirty="0">
                <a:solidFill>
                  <a:srgbClr val="595959"/>
                </a:solidFill>
                <a:latin typeface="Arial"/>
                <a:cs typeface="Arial"/>
              </a:rPr>
              <a:t>contact.</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Hooray!</a:t>
            </a:r>
            <a:endParaRPr sz="1400">
              <a:latin typeface="Arial"/>
              <a:cs typeface="Arial"/>
            </a:endParaRPr>
          </a:p>
          <a:p>
            <a:pPr marL="379095" marR="381635" indent="-366395">
              <a:lnSpc>
                <a:spcPts val="2480"/>
              </a:lnSpc>
              <a:spcBef>
                <a:spcPts val="70"/>
              </a:spcBef>
              <a:buChar char="●"/>
              <a:tabLst>
                <a:tab pos="379095" algn="l"/>
                <a:tab pos="379730" algn="l"/>
              </a:tabLst>
            </a:pPr>
            <a:r>
              <a:rPr sz="1800" spc="-5" dirty="0">
                <a:solidFill>
                  <a:srgbClr val="595959"/>
                </a:solidFill>
                <a:latin typeface="Arial"/>
                <a:cs typeface="Arial"/>
              </a:rPr>
              <a:t>But, we write it in terms of angular </a:t>
            </a:r>
            <a:r>
              <a:rPr sz="1800" dirty="0">
                <a:solidFill>
                  <a:srgbClr val="595959"/>
                </a:solidFill>
                <a:latin typeface="Arial"/>
                <a:cs typeface="Arial"/>
              </a:rPr>
              <a:t>momentum, since </a:t>
            </a:r>
            <a:r>
              <a:rPr sz="1800" spc="-5" dirty="0">
                <a:solidFill>
                  <a:srgbClr val="595959"/>
                </a:solidFill>
                <a:latin typeface="Arial"/>
                <a:cs typeface="Arial"/>
              </a:rPr>
              <a:t>it’s our new primary  quantity.</a:t>
            </a:r>
            <a:endParaRPr sz="1800">
              <a:latin typeface="Arial"/>
              <a:cs typeface="Arial"/>
            </a:endParaRPr>
          </a:p>
        </p:txBody>
      </p:sp>
      <p:sp>
        <p:nvSpPr>
          <p:cNvPr id="4" name="object 4"/>
          <p:cNvSpPr/>
          <p:nvPr/>
        </p:nvSpPr>
        <p:spPr>
          <a:xfrm>
            <a:off x="2295525" y="2886075"/>
            <a:ext cx="4552949" cy="59054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5515315" cy="520655"/>
          </a:xfrm>
          <a:prstGeom prst="rect">
            <a:avLst/>
          </a:prstGeom>
        </p:spPr>
        <p:txBody>
          <a:bodyPr vert="horz" wrap="square" lIns="0" tIns="12700" rIns="0" bIns="0" rtlCol="0">
            <a:spAutoFit/>
          </a:bodyPr>
          <a:lstStyle/>
          <a:p>
            <a:pPr marL="12700">
              <a:lnSpc>
                <a:spcPct val="100000"/>
              </a:lnSpc>
              <a:spcBef>
                <a:spcPts val="100"/>
              </a:spcBef>
            </a:pPr>
            <a:r>
              <a:rPr spc="-10" dirty="0"/>
              <a:t>Solving Angular Equations </a:t>
            </a:r>
            <a:r>
              <a:rPr spc="-5" dirty="0"/>
              <a:t>in</a:t>
            </a:r>
            <a:r>
              <a:rPr spc="-70" dirty="0"/>
              <a:t> </a:t>
            </a:r>
            <a:r>
              <a:rPr spc="-5" dirty="0"/>
              <a:t>3D</a:t>
            </a:r>
          </a:p>
        </p:txBody>
      </p:sp>
      <p:sp>
        <p:nvSpPr>
          <p:cNvPr id="3" name="object 3"/>
          <p:cNvSpPr txBox="1"/>
          <p:nvPr/>
        </p:nvSpPr>
        <p:spPr>
          <a:xfrm>
            <a:off x="475249" y="1176350"/>
            <a:ext cx="7891145" cy="968375"/>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Intuitively, we’d </a:t>
            </a:r>
            <a:r>
              <a:rPr sz="1800" dirty="0">
                <a:solidFill>
                  <a:srgbClr val="595959"/>
                </a:solidFill>
                <a:latin typeface="Arial"/>
                <a:cs typeface="Arial"/>
              </a:rPr>
              <a:t>solve </a:t>
            </a:r>
            <a:r>
              <a:rPr sz="1800" spc="-5" dirty="0">
                <a:solidFill>
                  <a:srgbClr val="595959"/>
                </a:solidFill>
                <a:latin typeface="Arial"/>
                <a:cs typeface="Arial"/>
              </a:rPr>
              <a:t>the equations the </a:t>
            </a:r>
            <a:r>
              <a:rPr sz="1800" dirty="0">
                <a:solidFill>
                  <a:srgbClr val="595959"/>
                </a:solidFill>
                <a:latin typeface="Arial"/>
                <a:cs typeface="Arial"/>
              </a:rPr>
              <a:t>same </a:t>
            </a:r>
            <a:r>
              <a:rPr sz="1800" spc="-5" dirty="0">
                <a:solidFill>
                  <a:srgbClr val="595959"/>
                </a:solidFill>
                <a:latin typeface="Arial"/>
                <a:cs typeface="Arial"/>
              </a:rPr>
              <a:t>way we </a:t>
            </a:r>
            <a:r>
              <a:rPr sz="1800" dirty="0">
                <a:solidFill>
                  <a:srgbClr val="595959"/>
                </a:solidFill>
                <a:latin typeface="Arial"/>
                <a:cs typeface="Arial"/>
              </a:rPr>
              <a:t>solved </a:t>
            </a:r>
            <a:r>
              <a:rPr sz="1800" spc="-5" dirty="0">
                <a:solidFill>
                  <a:srgbClr val="595959"/>
                </a:solidFill>
                <a:latin typeface="Arial"/>
                <a:cs typeface="Arial"/>
              </a:rPr>
              <a:t>linear </a:t>
            </a:r>
            <a:r>
              <a:rPr sz="1800" dirty="0">
                <a:solidFill>
                  <a:srgbClr val="595959"/>
                </a:solidFill>
                <a:latin typeface="Arial"/>
                <a:cs typeface="Arial"/>
              </a:rPr>
              <a:t>motion  </a:t>
            </a:r>
            <a:r>
              <a:rPr sz="1800" spc="-5" dirty="0">
                <a:solidFill>
                  <a:srgbClr val="595959"/>
                </a:solidFill>
                <a:latin typeface="Arial"/>
                <a:cs typeface="Arial"/>
              </a:rPr>
              <a:t>and 2D angular</a:t>
            </a:r>
            <a:r>
              <a:rPr sz="1800" spc="-10" dirty="0">
                <a:solidFill>
                  <a:srgbClr val="595959"/>
                </a:solidFill>
                <a:latin typeface="Arial"/>
                <a:cs typeface="Arial"/>
              </a:rPr>
              <a:t> </a:t>
            </a:r>
            <a:r>
              <a:rPr sz="1800" dirty="0">
                <a:solidFill>
                  <a:srgbClr val="595959"/>
                </a:solidFill>
                <a:latin typeface="Arial"/>
                <a:cs typeface="Arial"/>
              </a:rPr>
              <a:t>motion.</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So, we have our ordinary differential</a:t>
            </a:r>
            <a:r>
              <a:rPr sz="1800" spc="-20" dirty="0">
                <a:solidFill>
                  <a:srgbClr val="595959"/>
                </a:solidFill>
                <a:latin typeface="Arial"/>
                <a:cs typeface="Arial"/>
              </a:rPr>
              <a:t> </a:t>
            </a:r>
            <a:r>
              <a:rPr sz="1800" spc="-5" dirty="0">
                <a:solidFill>
                  <a:srgbClr val="595959"/>
                </a:solidFill>
                <a:latin typeface="Arial"/>
                <a:cs typeface="Arial"/>
              </a:rPr>
              <a:t>equations:</a:t>
            </a:r>
            <a:endParaRPr sz="1800">
              <a:latin typeface="Arial"/>
              <a:cs typeface="Arial"/>
            </a:endParaRPr>
          </a:p>
        </p:txBody>
      </p:sp>
      <p:sp>
        <p:nvSpPr>
          <p:cNvPr id="4" name="object 4"/>
          <p:cNvSpPr txBox="1"/>
          <p:nvPr/>
        </p:nvSpPr>
        <p:spPr>
          <a:xfrm>
            <a:off x="475249" y="2873705"/>
            <a:ext cx="381889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And we </a:t>
            </a:r>
            <a:r>
              <a:rPr sz="1800" dirty="0">
                <a:solidFill>
                  <a:srgbClr val="595959"/>
                </a:solidFill>
                <a:latin typeface="Arial"/>
                <a:cs typeface="Arial"/>
              </a:rPr>
              <a:t>solve </a:t>
            </a:r>
            <a:r>
              <a:rPr sz="1800" spc="-5" dirty="0">
                <a:solidFill>
                  <a:srgbClr val="595959"/>
                </a:solidFill>
                <a:latin typeface="Arial"/>
                <a:cs typeface="Arial"/>
              </a:rPr>
              <a:t>them by</a:t>
            </a:r>
            <a:r>
              <a:rPr sz="1800" spc="-90" dirty="0">
                <a:solidFill>
                  <a:srgbClr val="595959"/>
                </a:solidFill>
                <a:latin typeface="Arial"/>
                <a:cs typeface="Arial"/>
              </a:rPr>
              <a:t> </a:t>
            </a:r>
            <a:r>
              <a:rPr sz="1800" spc="-5" dirty="0">
                <a:solidFill>
                  <a:srgbClr val="595959"/>
                </a:solidFill>
                <a:latin typeface="Arial"/>
                <a:cs typeface="Arial"/>
              </a:rPr>
              <a:t>integrating:</a:t>
            </a:r>
            <a:endParaRPr sz="1800">
              <a:latin typeface="Arial"/>
              <a:cs typeface="Arial"/>
            </a:endParaRPr>
          </a:p>
        </p:txBody>
      </p:sp>
      <p:sp>
        <p:nvSpPr>
          <p:cNvPr id="5" name="object 5"/>
          <p:cNvSpPr/>
          <p:nvPr/>
        </p:nvSpPr>
        <p:spPr>
          <a:xfrm>
            <a:off x="2888300" y="2341600"/>
            <a:ext cx="1268177" cy="26982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239900" y="2341600"/>
            <a:ext cx="1015811" cy="2698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3243950" y="3381524"/>
            <a:ext cx="2656090" cy="269824"/>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3357775" y="3935300"/>
            <a:ext cx="2428425" cy="269824"/>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5515315" cy="520655"/>
          </a:xfrm>
          <a:prstGeom prst="rect">
            <a:avLst/>
          </a:prstGeom>
        </p:spPr>
        <p:txBody>
          <a:bodyPr vert="horz" wrap="square" lIns="0" tIns="12700" rIns="0" bIns="0" rtlCol="0">
            <a:spAutoFit/>
          </a:bodyPr>
          <a:lstStyle/>
          <a:p>
            <a:pPr marL="12700">
              <a:lnSpc>
                <a:spcPct val="100000"/>
              </a:lnSpc>
              <a:spcBef>
                <a:spcPts val="100"/>
              </a:spcBef>
            </a:pPr>
            <a:r>
              <a:rPr spc="-10" dirty="0"/>
              <a:t>Solving Angular Equations </a:t>
            </a:r>
            <a:r>
              <a:rPr spc="-5" dirty="0"/>
              <a:t>in</a:t>
            </a:r>
            <a:r>
              <a:rPr spc="-70" dirty="0"/>
              <a:t> </a:t>
            </a:r>
            <a:r>
              <a:rPr spc="-5" dirty="0"/>
              <a:t>3D</a:t>
            </a:r>
          </a:p>
        </p:txBody>
      </p:sp>
      <p:sp>
        <p:nvSpPr>
          <p:cNvPr id="3" name="object 3"/>
          <p:cNvSpPr txBox="1"/>
          <p:nvPr/>
        </p:nvSpPr>
        <p:spPr>
          <a:xfrm>
            <a:off x="475249" y="1176350"/>
            <a:ext cx="7891145" cy="968375"/>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Intuitively, we’d </a:t>
            </a:r>
            <a:r>
              <a:rPr sz="1800" dirty="0">
                <a:solidFill>
                  <a:srgbClr val="595959"/>
                </a:solidFill>
                <a:latin typeface="Arial"/>
                <a:cs typeface="Arial"/>
              </a:rPr>
              <a:t>solve </a:t>
            </a:r>
            <a:r>
              <a:rPr sz="1800" spc="-5" dirty="0">
                <a:solidFill>
                  <a:srgbClr val="595959"/>
                </a:solidFill>
                <a:latin typeface="Arial"/>
                <a:cs typeface="Arial"/>
              </a:rPr>
              <a:t>the equations the </a:t>
            </a:r>
            <a:r>
              <a:rPr sz="1800" dirty="0">
                <a:solidFill>
                  <a:srgbClr val="595959"/>
                </a:solidFill>
                <a:latin typeface="Arial"/>
                <a:cs typeface="Arial"/>
              </a:rPr>
              <a:t>same </a:t>
            </a:r>
            <a:r>
              <a:rPr sz="1800" spc="-5" dirty="0">
                <a:solidFill>
                  <a:srgbClr val="595959"/>
                </a:solidFill>
                <a:latin typeface="Arial"/>
                <a:cs typeface="Arial"/>
              </a:rPr>
              <a:t>way we </a:t>
            </a:r>
            <a:r>
              <a:rPr sz="1800" dirty="0">
                <a:solidFill>
                  <a:srgbClr val="595959"/>
                </a:solidFill>
                <a:latin typeface="Arial"/>
                <a:cs typeface="Arial"/>
              </a:rPr>
              <a:t>solved </a:t>
            </a:r>
            <a:r>
              <a:rPr sz="1800" spc="-5" dirty="0">
                <a:solidFill>
                  <a:srgbClr val="595959"/>
                </a:solidFill>
                <a:latin typeface="Arial"/>
                <a:cs typeface="Arial"/>
              </a:rPr>
              <a:t>linear </a:t>
            </a:r>
            <a:r>
              <a:rPr sz="1800" dirty="0">
                <a:solidFill>
                  <a:srgbClr val="595959"/>
                </a:solidFill>
                <a:latin typeface="Arial"/>
                <a:cs typeface="Arial"/>
              </a:rPr>
              <a:t>motion  </a:t>
            </a:r>
            <a:r>
              <a:rPr sz="1800" spc="-5" dirty="0">
                <a:solidFill>
                  <a:srgbClr val="595959"/>
                </a:solidFill>
                <a:latin typeface="Arial"/>
                <a:cs typeface="Arial"/>
              </a:rPr>
              <a:t>and 2D angular</a:t>
            </a:r>
            <a:r>
              <a:rPr sz="1800" spc="-10" dirty="0">
                <a:solidFill>
                  <a:srgbClr val="595959"/>
                </a:solidFill>
                <a:latin typeface="Arial"/>
                <a:cs typeface="Arial"/>
              </a:rPr>
              <a:t> </a:t>
            </a:r>
            <a:r>
              <a:rPr sz="1800" dirty="0">
                <a:solidFill>
                  <a:srgbClr val="595959"/>
                </a:solidFill>
                <a:latin typeface="Arial"/>
                <a:cs typeface="Arial"/>
              </a:rPr>
              <a:t>motion.</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So, we have our ordinary differential</a:t>
            </a:r>
            <a:r>
              <a:rPr sz="1800" spc="-20" dirty="0">
                <a:solidFill>
                  <a:srgbClr val="595959"/>
                </a:solidFill>
                <a:latin typeface="Arial"/>
                <a:cs typeface="Arial"/>
              </a:rPr>
              <a:t> </a:t>
            </a:r>
            <a:r>
              <a:rPr sz="1800" spc="-5" dirty="0">
                <a:solidFill>
                  <a:srgbClr val="595959"/>
                </a:solidFill>
                <a:latin typeface="Arial"/>
                <a:cs typeface="Arial"/>
              </a:rPr>
              <a:t>equations:</a:t>
            </a:r>
            <a:endParaRPr sz="1800">
              <a:latin typeface="Arial"/>
              <a:cs typeface="Arial"/>
            </a:endParaRPr>
          </a:p>
        </p:txBody>
      </p:sp>
      <p:sp>
        <p:nvSpPr>
          <p:cNvPr id="4" name="object 4"/>
          <p:cNvSpPr txBox="1"/>
          <p:nvPr/>
        </p:nvSpPr>
        <p:spPr>
          <a:xfrm>
            <a:off x="475249" y="2873705"/>
            <a:ext cx="381889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And we </a:t>
            </a:r>
            <a:r>
              <a:rPr sz="1800" dirty="0">
                <a:solidFill>
                  <a:srgbClr val="595959"/>
                </a:solidFill>
                <a:latin typeface="Arial"/>
                <a:cs typeface="Arial"/>
              </a:rPr>
              <a:t>solve </a:t>
            </a:r>
            <a:r>
              <a:rPr sz="1800" spc="-5" dirty="0">
                <a:solidFill>
                  <a:srgbClr val="595959"/>
                </a:solidFill>
                <a:latin typeface="Arial"/>
                <a:cs typeface="Arial"/>
              </a:rPr>
              <a:t>them by</a:t>
            </a:r>
            <a:r>
              <a:rPr sz="1800" spc="-90" dirty="0">
                <a:solidFill>
                  <a:srgbClr val="595959"/>
                </a:solidFill>
                <a:latin typeface="Arial"/>
                <a:cs typeface="Arial"/>
              </a:rPr>
              <a:t> </a:t>
            </a:r>
            <a:r>
              <a:rPr sz="1800" spc="-5" dirty="0">
                <a:solidFill>
                  <a:srgbClr val="595959"/>
                </a:solidFill>
                <a:latin typeface="Arial"/>
                <a:cs typeface="Arial"/>
              </a:rPr>
              <a:t>integrating:</a:t>
            </a:r>
            <a:endParaRPr sz="1800">
              <a:latin typeface="Arial"/>
              <a:cs typeface="Arial"/>
            </a:endParaRPr>
          </a:p>
        </p:txBody>
      </p:sp>
      <p:sp>
        <p:nvSpPr>
          <p:cNvPr id="5" name="object 5"/>
          <p:cNvSpPr/>
          <p:nvPr/>
        </p:nvSpPr>
        <p:spPr>
          <a:xfrm>
            <a:off x="2888300" y="2341600"/>
            <a:ext cx="1268177" cy="269824"/>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5239900" y="2341600"/>
            <a:ext cx="1015811" cy="269824"/>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3243950" y="3381524"/>
            <a:ext cx="2656090" cy="269824"/>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3357775" y="3935300"/>
            <a:ext cx="2428425" cy="269824"/>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489710" y="980316"/>
            <a:ext cx="6065176" cy="3765392"/>
          </a:xfrm>
          <a:prstGeom prst="rect">
            <a:avLst/>
          </a:prstGeom>
          <a:blipFill>
            <a:blip r:embed="rId6"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55867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5544586" cy="520655"/>
          </a:xfrm>
          <a:prstGeom prst="rect">
            <a:avLst/>
          </a:prstGeom>
        </p:spPr>
        <p:txBody>
          <a:bodyPr vert="horz" wrap="square" lIns="0" tIns="12700" rIns="0" bIns="0" rtlCol="0">
            <a:spAutoFit/>
          </a:bodyPr>
          <a:lstStyle/>
          <a:p>
            <a:pPr marL="12700">
              <a:lnSpc>
                <a:spcPct val="100000"/>
              </a:lnSpc>
              <a:spcBef>
                <a:spcPts val="100"/>
              </a:spcBef>
            </a:pPr>
            <a:r>
              <a:rPr spc="-10" dirty="0"/>
              <a:t>Solving Angular Equations </a:t>
            </a:r>
            <a:r>
              <a:rPr spc="-5" dirty="0"/>
              <a:t>in</a:t>
            </a:r>
            <a:r>
              <a:rPr spc="-70" dirty="0"/>
              <a:t> </a:t>
            </a:r>
            <a:r>
              <a:rPr spc="-5" dirty="0"/>
              <a:t>3D</a:t>
            </a:r>
          </a:p>
        </p:txBody>
      </p:sp>
      <p:sp>
        <p:nvSpPr>
          <p:cNvPr id="3" name="object 3"/>
          <p:cNvSpPr txBox="1"/>
          <p:nvPr/>
        </p:nvSpPr>
        <p:spPr>
          <a:xfrm>
            <a:off x="475249" y="1216355"/>
            <a:ext cx="490029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We </a:t>
            </a:r>
            <a:r>
              <a:rPr sz="1800" dirty="0">
                <a:solidFill>
                  <a:srgbClr val="595959"/>
                </a:solidFill>
                <a:latin typeface="Arial"/>
                <a:cs typeface="Arial"/>
              </a:rPr>
              <a:t>construct </a:t>
            </a:r>
            <a:r>
              <a:rPr sz="1800" spc="-5" dirty="0">
                <a:solidFill>
                  <a:srgbClr val="595959"/>
                </a:solidFill>
                <a:latin typeface="Arial"/>
                <a:cs typeface="Arial"/>
              </a:rPr>
              <a:t>an angular </a:t>
            </a:r>
            <a:r>
              <a:rPr sz="1800" dirty="0">
                <a:solidFill>
                  <a:srgbClr val="595959"/>
                </a:solidFill>
                <a:latin typeface="Arial"/>
                <a:cs typeface="Arial"/>
              </a:rPr>
              <a:t>velocity</a:t>
            </a:r>
            <a:r>
              <a:rPr sz="1800" spc="-90" dirty="0">
                <a:solidFill>
                  <a:srgbClr val="595959"/>
                </a:solidFill>
                <a:latin typeface="Arial"/>
                <a:cs typeface="Arial"/>
              </a:rPr>
              <a:t> </a:t>
            </a:r>
            <a:r>
              <a:rPr sz="1800" spc="-5" dirty="0">
                <a:solidFill>
                  <a:srgbClr val="595959"/>
                </a:solidFill>
                <a:latin typeface="Arial"/>
                <a:cs typeface="Arial"/>
              </a:rPr>
              <a:t>quaternion:</a:t>
            </a:r>
            <a:endParaRPr sz="1800">
              <a:latin typeface="Arial"/>
              <a:cs typeface="Arial"/>
            </a:endParaRPr>
          </a:p>
        </p:txBody>
      </p:sp>
      <p:sp>
        <p:nvSpPr>
          <p:cNvPr id="4" name="object 4"/>
          <p:cNvSpPr txBox="1"/>
          <p:nvPr/>
        </p:nvSpPr>
        <p:spPr>
          <a:xfrm>
            <a:off x="475249" y="2245055"/>
            <a:ext cx="809815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Then we </a:t>
            </a:r>
            <a:r>
              <a:rPr sz="1800" dirty="0">
                <a:solidFill>
                  <a:srgbClr val="595959"/>
                </a:solidFill>
                <a:latin typeface="Arial"/>
                <a:cs typeface="Arial"/>
              </a:rPr>
              <a:t>can relate </a:t>
            </a:r>
            <a:r>
              <a:rPr sz="1800" spc="-5" dirty="0">
                <a:solidFill>
                  <a:srgbClr val="595959"/>
                </a:solidFill>
                <a:latin typeface="Arial"/>
                <a:cs typeface="Arial"/>
              </a:rPr>
              <a:t>orientation quaternion to the angular </a:t>
            </a:r>
            <a:r>
              <a:rPr sz="1800" dirty="0">
                <a:solidFill>
                  <a:srgbClr val="595959"/>
                </a:solidFill>
                <a:latin typeface="Arial"/>
                <a:cs typeface="Arial"/>
              </a:rPr>
              <a:t>velocity</a:t>
            </a:r>
            <a:r>
              <a:rPr sz="1800" spc="-80" dirty="0">
                <a:solidFill>
                  <a:srgbClr val="595959"/>
                </a:solidFill>
                <a:latin typeface="Arial"/>
                <a:cs typeface="Arial"/>
              </a:rPr>
              <a:t> </a:t>
            </a:r>
            <a:r>
              <a:rPr sz="1800" spc="-5" dirty="0">
                <a:solidFill>
                  <a:srgbClr val="595959"/>
                </a:solidFill>
                <a:latin typeface="Arial"/>
                <a:cs typeface="Arial"/>
              </a:rPr>
              <a:t>quaternion:</a:t>
            </a:r>
            <a:endParaRPr sz="1800">
              <a:latin typeface="Arial"/>
              <a:cs typeface="Arial"/>
            </a:endParaRPr>
          </a:p>
        </p:txBody>
      </p:sp>
      <p:sp>
        <p:nvSpPr>
          <p:cNvPr id="5" name="object 5"/>
          <p:cNvSpPr/>
          <p:nvPr/>
        </p:nvSpPr>
        <p:spPr>
          <a:xfrm>
            <a:off x="3684187" y="1752600"/>
            <a:ext cx="1775622" cy="26982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214687" y="2809875"/>
            <a:ext cx="2714624" cy="590549"/>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Victory!"/>
          <p:cNvSpPr txBox="1">
            <a:spLocks noGrp="1"/>
          </p:cNvSpPr>
          <p:nvPr>
            <p:ph type="title"/>
          </p:nvPr>
        </p:nvSpPr>
        <p:spPr>
          <a:prstGeom prst="rect">
            <a:avLst/>
          </a:prstGeom>
        </p:spPr>
        <p:txBody>
          <a:bodyPr>
            <a:normAutofit fontScale="90000"/>
          </a:bodyPr>
          <a:lstStyle/>
          <a:p>
            <a:r>
              <a:t>Victory!</a:t>
            </a:r>
          </a:p>
        </p:txBody>
      </p:sp>
      <p:sp>
        <p:nvSpPr>
          <p:cNvPr id="550" name="The ODEs of 3D angular motion:"/>
          <p:cNvSpPr txBox="1">
            <a:spLocks noGrp="1"/>
          </p:cNvSpPr>
          <p:nvPr>
            <p:ph type="body" sz="quarter" idx="1"/>
          </p:nvPr>
        </p:nvSpPr>
        <p:spPr>
          <a:xfrm>
            <a:off x="1812727" y="1326059"/>
            <a:ext cx="5518547" cy="730002"/>
          </a:xfrm>
          <a:prstGeom prst="rect">
            <a:avLst/>
          </a:prstGeom>
        </p:spPr>
        <p:txBody>
          <a:bodyPr/>
          <a:lstStyle/>
          <a:p>
            <a:r>
              <a:t>The ODEs of 3D angular motion:</a:t>
            </a:r>
          </a:p>
        </p:txBody>
      </p:sp>
      <p:sp>
        <p:nvSpPr>
          <p:cNvPr id="551" name="Explicit Euler:"/>
          <p:cNvSpPr txBox="1"/>
          <p:nvPr/>
        </p:nvSpPr>
        <p:spPr>
          <a:xfrm>
            <a:off x="1864241" y="3090553"/>
            <a:ext cx="1738858" cy="4234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p>
            <a:r>
              <a:rPr sz="2400" dirty="0"/>
              <a:t>Explicit Euler:</a:t>
            </a:r>
          </a:p>
        </p:txBody>
      </p:sp>
      <p:grpSp>
        <p:nvGrpSpPr>
          <p:cNvPr id="556" name="Group"/>
          <p:cNvGrpSpPr/>
          <p:nvPr/>
        </p:nvGrpSpPr>
        <p:grpSpPr>
          <a:xfrm>
            <a:off x="2623096" y="1968996"/>
            <a:ext cx="3897809" cy="1058168"/>
            <a:chOff x="0" y="0"/>
            <a:chExt cx="7391400" cy="2006600"/>
          </a:xfrm>
        </p:grpSpPr>
        <p:pic>
          <p:nvPicPr>
            <p:cNvPr id="552" name="final.pdf" descr="final.pdf"/>
            <p:cNvPicPr>
              <a:picLocks noChangeAspect="1"/>
            </p:cNvPicPr>
            <p:nvPr/>
          </p:nvPicPr>
          <p:blipFill>
            <a:blip r:embed="rId3">
              <a:extLst/>
            </a:blip>
            <a:stretch>
              <a:fillRect/>
            </a:stretch>
          </p:blipFill>
          <p:spPr>
            <a:xfrm>
              <a:off x="355600" y="0"/>
              <a:ext cx="2120900" cy="546100"/>
            </a:xfrm>
            <a:prstGeom prst="rect">
              <a:avLst/>
            </a:prstGeom>
            <a:ln w="12700" cap="flat">
              <a:noFill/>
              <a:miter lim="400000"/>
            </a:ln>
            <a:effectLst/>
          </p:spPr>
        </p:pic>
        <p:pic>
          <p:nvPicPr>
            <p:cNvPr id="553" name="final.pdf" descr="final.pdf"/>
            <p:cNvPicPr>
              <a:picLocks noChangeAspect="1"/>
            </p:cNvPicPr>
            <p:nvPr/>
          </p:nvPicPr>
          <p:blipFill>
            <a:blip r:embed="rId4">
              <a:extLst/>
            </a:blip>
            <a:stretch>
              <a:fillRect/>
            </a:stretch>
          </p:blipFill>
          <p:spPr>
            <a:xfrm>
              <a:off x="0" y="1244600"/>
              <a:ext cx="2819400" cy="558800"/>
            </a:xfrm>
            <a:prstGeom prst="rect">
              <a:avLst/>
            </a:prstGeom>
            <a:ln w="12700" cap="flat">
              <a:noFill/>
              <a:miter lim="400000"/>
            </a:ln>
            <a:effectLst/>
          </p:spPr>
        </p:pic>
        <p:pic>
          <p:nvPicPr>
            <p:cNvPr id="554" name="final.pdf" descr="final.pdf"/>
            <p:cNvPicPr>
              <a:picLocks noChangeAspect="1"/>
            </p:cNvPicPr>
            <p:nvPr/>
          </p:nvPicPr>
          <p:blipFill>
            <a:blip r:embed="rId5">
              <a:extLst/>
            </a:blip>
            <a:stretch>
              <a:fillRect/>
            </a:stretch>
          </p:blipFill>
          <p:spPr>
            <a:xfrm>
              <a:off x="4356100" y="25400"/>
              <a:ext cx="2946400" cy="495300"/>
            </a:xfrm>
            <a:prstGeom prst="rect">
              <a:avLst/>
            </a:prstGeom>
            <a:ln w="12700" cap="flat">
              <a:noFill/>
              <a:miter lim="400000"/>
            </a:ln>
            <a:effectLst/>
          </p:spPr>
        </p:pic>
        <p:pic>
          <p:nvPicPr>
            <p:cNvPr id="555" name="final.pdf" descr="final.pdf"/>
            <p:cNvPicPr>
              <a:picLocks noChangeAspect="1"/>
            </p:cNvPicPr>
            <p:nvPr/>
          </p:nvPicPr>
          <p:blipFill>
            <a:blip r:embed="rId6">
              <a:extLst/>
            </a:blip>
            <a:stretch>
              <a:fillRect/>
            </a:stretch>
          </p:blipFill>
          <p:spPr>
            <a:xfrm>
              <a:off x="4254500" y="1041400"/>
              <a:ext cx="3136900" cy="965200"/>
            </a:xfrm>
            <a:prstGeom prst="rect">
              <a:avLst/>
            </a:prstGeom>
            <a:ln w="12700" cap="flat">
              <a:noFill/>
              <a:miter lim="400000"/>
            </a:ln>
            <a:effectLst/>
          </p:spPr>
        </p:pic>
      </p:grpSp>
      <p:pic>
        <p:nvPicPr>
          <p:cNvPr id="557" name="final.pdf" descr="final.pdf"/>
          <p:cNvPicPr>
            <a:picLocks noChangeAspect="1"/>
          </p:cNvPicPr>
          <p:nvPr/>
        </p:nvPicPr>
        <p:blipFill>
          <a:blip r:embed="rId7">
            <a:extLst/>
          </a:blip>
          <a:stretch>
            <a:fillRect/>
          </a:stretch>
        </p:blipFill>
        <p:spPr>
          <a:xfrm>
            <a:off x="3453557" y="3616524"/>
            <a:ext cx="2230189" cy="261193"/>
          </a:xfrm>
          <a:prstGeom prst="rect">
            <a:avLst/>
          </a:prstGeom>
          <a:ln w="12700">
            <a:miter lim="400000"/>
          </a:ln>
        </p:spPr>
      </p:pic>
      <p:pic>
        <p:nvPicPr>
          <p:cNvPr id="558" name="final.pdf" descr="final.pdf"/>
          <p:cNvPicPr>
            <a:picLocks noChangeAspect="1"/>
          </p:cNvPicPr>
          <p:nvPr/>
        </p:nvPicPr>
        <p:blipFill>
          <a:blip r:embed="rId8">
            <a:extLst/>
          </a:blip>
          <a:stretch>
            <a:fillRect/>
          </a:stretch>
        </p:blipFill>
        <p:spPr>
          <a:xfrm>
            <a:off x="3567410" y="4105424"/>
            <a:ext cx="2002482" cy="294680"/>
          </a:xfrm>
          <a:prstGeom prst="rect">
            <a:avLst/>
          </a:prstGeom>
          <a:ln w="12700">
            <a:miter lim="400000"/>
          </a:ln>
        </p:spPr>
      </p:pic>
      <p:pic>
        <p:nvPicPr>
          <p:cNvPr id="559" name="final.pdf" descr="final.pdf"/>
          <p:cNvPicPr>
            <a:picLocks noChangeAspect="1"/>
          </p:cNvPicPr>
          <p:nvPr/>
        </p:nvPicPr>
        <p:blipFill>
          <a:blip r:embed="rId9">
            <a:extLst/>
          </a:blip>
          <a:stretch>
            <a:fillRect/>
          </a:stretch>
        </p:blipFill>
        <p:spPr>
          <a:xfrm>
            <a:off x="3172272" y="4587627"/>
            <a:ext cx="2799457" cy="508992"/>
          </a:xfrm>
          <a:prstGeom prst="rect">
            <a:avLst/>
          </a:prstGeom>
          <a:ln w="12700">
            <a:miter lim="400000"/>
          </a:ln>
        </p:spPr>
      </p:pic>
    </p:spTree>
    <p:extLst>
      <p:ext uri="{BB962C8B-B14F-4D97-AF65-F5344CB8AC3E}">
        <p14:creationId xmlns:p14="http://schemas.microsoft.com/office/powerpoint/2010/main" val="297193527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5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55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5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5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5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55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5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 grpId="0" build="p" bldLvl="5" animBg="1" advAuto="0"/>
      <p:bldP spid="551" grpId="0" animBg="1" advAuto="0"/>
      <p:bldP spid="556" grpId="0" animBg="1" advAuto="0"/>
      <p:bldP spid="557" grpId="0" animBg="1" advAuto="0"/>
      <p:bldP spid="558" grpId="0" animBg="1" advAuto="0"/>
      <p:bldP spid="559" grpId="0" animBg="1" advAuto="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522470" cy="452120"/>
          </a:xfrm>
          <a:prstGeom prst="rect">
            <a:avLst/>
          </a:prstGeom>
        </p:spPr>
        <p:txBody>
          <a:bodyPr vert="horz" wrap="square" lIns="0" tIns="12700" rIns="0" bIns="0" rtlCol="0">
            <a:spAutoFit/>
          </a:bodyPr>
          <a:lstStyle/>
          <a:p>
            <a:pPr marL="12700">
              <a:lnSpc>
                <a:spcPct val="100000"/>
              </a:lnSpc>
              <a:spcBef>
                <a:spcPts val="100"/>
              </a:spcBef>
            </a:pPr>
            <a:r>
              <a:rPr spc="-10" dirty="0"/>
              <a:t>Angular </a:t>
            </a:r>
            <a:r>
              <a:rPr spc="-5" dirty="0"/>
              <a:t>Dynamics</a:t>
            </a:r>
            <a:r>
              <a:rPr spc="-85" dirty="0"/>
              <a:t> </a:t>
            </a:r>
            <a:r>
              <a:rPr spc="-5" dirty="0"/>
              <a:t>Summary</a:t>
            </a:r>
          </a:p>
        </p:txBody>
      </p:sp>
      <p:sp>
        <p:nvSpPr>
          <p:cNvPr id="3" name="object 3"/>
          <p:cNvSpPr txBox="1"/>
          <p:nvPr/>
        </p:nvSpPr>
        <p:spPr>
          <a:xfrm>
            <a:off x="475249" y="1162308"/>
            <a:ext cx="7539990" cy="209550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That was </a:t>
            </a:r>
            <a:r>
              <a:rPr sz="1800" dirty="0">
                <a:solidFill>
                  <a:srgbClr val="595959"/>
                </a:solidFill>
                <a:latin typeface="Arial"/>
                <a:cs typeface="Arial"/>
              </a:rPr>
              <a:t>a </a:t>
            </a:r>
            <a:r>
              <a:rPr sz="1800" spc="-5" dirty="0">
                <a:solidFill>
                  <a:srgbClr val="595959"/>
                </a:solidFill>
                <a:latin typeface="Arial"/>
                <a:cs typeface="Arial"/>
              </a:rPr>
              <a:t>lot. Let’s</a:t>
            </a:r>
            <a:r>
              <a:rPr sz="1800" spc="-20" dirty="0">
                <a:solidFill>
                  <a:srgbClr val="595959"/>
                </a:solidFill>
                <a:latin typeface="Arial"/>
                <a:cs typeface="Arial"/>
              </a:rPr>
              <a:t> </a:t>
            </a:r>
            <a:r>
              <a:rPr sz="1800" dirty="0">
                <a:solidFill>
                  <a:srgbClr val="595959"/>
                </a:solidFill>
                <a:latin typeface="Arial"/>
                <a:cs typeface="Arial"/>
              </a:rPr>
              <a:t>recap.</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Angular </a:t>
            </a:r>
            <a:r>
              <a:rPr sz="1400" dirty="0">
                <a:solidFill>
                  <a:srgbClr val="595959"/>
                </a:solidFill>
                <a:latin typeface="Arial"/>
                <a:cs typeface="Arial"/>
              </a:rPr>
              <a:t>velocity </a:t>
            </a:r>
            <a:r>
              <a:rPr sz="1400" spc="-5" dirty="0">
                <a:solidFill>
                  <a:srgbClr val="595959"/>
                </a:solidFill>
                <a:latin typeface="Arial"/>
                <a:cs typeface="Arial"/>
              </a:rPr>
              <a:t>is not </a:t>
            </a:r>
            <a:r>
              <a:rPr sz="1400" dirty="0">
                <a:solidFill>
                  <a:srgbClr val="595959"/>
                </a:solidFill>
                <a:latin typeface="Arial"/>
                <a:cs typeface="Arial"/>
              </a:rPr>
              <a:t>conserved, </a:t>
            </a:r>
            <a:r>
              <a:rPr sz="1400" spc="-5" dirty="0">
                <a:solidFill>
                  <a:srgbClr val="595959"/>
                </a:solidFill>
                <a:latin typeface="Arial"/>
                <a:cs typeface="Arial"/>
              </a:rPr>
              <a:t>but angular </a:t>
            </a:r>
            <a:r>
              <a:rPr sz="1400" dirty="0">
                <a:solidFill>
                  <a:srgbClr val="595959"/>
                </a:solidFill>
                <a:latin typeface="Arial"/>
                <a:cs typeface="Arial"/>
              </a:rPr>
              <a:t>momentum</a:t>
            </a:r>
            <a:r>
              <a:rPr sz="1400" spc="-30" dirty="0">
                <a:solidFill>
                  <a:srgbClr val="595959"/>
                </a:solidFill>
                <a:latin typeface="Arial"/>
                <a:cs typeface="Arial"/>
              </a:rPr>
              <a:t> </a:t>
            </a:r>
            <a:r>
              <a:rPr sz="1400" spc="-5" dirty="0">
                <a:solidFill>
                  <a:srgbClr val="595959"/>
                </a:solidFill>
                <a:latin typeface="Arial"/>
                <a:cs typeface="Arial"/>
              </a:rPr>
              <a:t>is.</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At each timestep,</a:t>
            </a:r>
            <a:r>
              <a:rPr sz="1400" spc="-10" dirty="0">
                <a:solidFill>
                  <a:srgbClr val="595959"/>
                </a:solidFill>
                <a:latin typeface="Arial"/>
                <a:cs typeface="Arial"/>
              </a:rPr>
              <a:t> </a:t>
            </a:r>
            <a:r>
              <a:rPr sz="1400" spc="-5" dirty="0">
                <a:solidFill>
                  <a:srgbClr val="595959"/>
                </a:solidFill>
                <a:latin typeface="Arial"/>
                <a:cs typeface="Arial"/>
              </a:rPr>
              <a:t>we:</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Calculate the torques on an object, and </a:t>
            </a:r>
            <a:r>
              <a:rPr sz="1400" dirty="0">
                <a:solidFill>
                  <a:srgbClr val="595959"/>
                </a:solidFill>
                <a:latin typeface="Arial"/>
                <a:cs typeface="Arial"/>
              </a:rPr>
              <a:t>sum</a:t>
            </a:r>
            <a:r>
              <a:rPr sz="1400" spc="-15" dirty="0">
                <a:solidFill>
                  <a:srgbClr val="595959"/>
                </a:solidFill>
                <a:latin typeface="Arial"/>
                <a:cs typeface="Arial"/>
              </a:rPr>
              <a:t> </a:t>
            </a:r>
            <a:r>
              <a:rPr sz="1400" spc="-5" dirty="0">
                <a:solidFill>
                  <a:srgbClr val="595959"/>
                </a:solidFill>
                <a:latin typeface="Arial"/>
                <a:cs typeface="Arial"/>
              </a:rPr>
              <a:t>them.</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Add our net torque to the angular</a:t>
            </a:r>
            <a:r>
              <a:rPr sz="1400" spc="-15" dirty="0">
                <a:solidFill>
                  <a:srgbClr val="595959"/>
                </a:solidFill>
                <a:latin typeface="Arial"/>
                <a:cs typeface="Arial"/>
              </a:rPr>
              <a:t> </a:t>
            </a:r>
            <a:r>
              <a:rPr sz="1400" dirty="0">
                <a:solidFill>
                  <a:srgbClr val="595959"/>
                </a:solidFill>
                <a:latin typeface="Arial"/>
                <a:cs typeface="Arial"/>
              </a:rPr>
              <a:t>momentum.</a:t>
            </a:r>
            <a:endParaRPr sz="1400">
              <a:latin typeface="Arial"/>
              <a:cs typeface="Arial"/>
            </a:endParaRPr>
          </a:p>
          <a:p>
            <a:pPr marL="1293495" lvl="2" indent="-335915">
              <a:lnSpc>
                <a:spcPct val="100000"/>
              </a:lnSpc>
              <a:spcBef>
                <a:spcPts val="270"/>
              </a:spcBef>
              <a:buChar char="■"/>
              <a:tabLst>
                <a:tab pos="1293495" algn="l"/>
                <a:tab pos="1294130" algn="l"/>
              </a:tabLst>
            </a:pPr>
            <a:r>
              <a:rPr sz="1400" dirty="0">
                <a:solidFill>
                  <a:srgbClr val="595959"/>
                </a:solidFill>
                <a:latin typeface="Arial"/>
                <a:cs typeface="Arial"/>
              </a:rPr>
              <a:t>Multiply </a:t>
            </a:r>
            <a:r>
              <a:rPr sz="1400" spc="-5" dirty="0">
                <a:solidFill>
                  <a:srgbClr val="595959"/>
                </a:solidFill>
                <a:latin typeface="Arial"/>
                <a:cs typeface="Arial"/>
              </a:rPr>
              <a:t>the </a:t>
            </a:r>
            <a:r>
              <a:rPr sz="1400" dirty="0">
                <a:solidFill>
                  <a:srgbClr val="595959"/>
                </a:solidFill>
                <a:latin typeface="Arial"/>
                <a:cs typeface="Arial"/>
              </a:rPr>
              <a:t>resulting </a:t>
            </a:r>
            <a:r>
              <a:rPr sz="1400" spc="-5" dirty="0">
                <a:solidFill>
                  <a:srgbClr val="595959"/>
                </a:solidFill>
                <a:latin typeface="Arial"/>
                <a:cs typeface="Arial"/>
              </a:rPr>
              <a:t>angular </a:t>
            </a:r>
            <a:r>
              <a:rPr sz="1400" dirty="0">
                <a:solidFill>
                  <a:srgbClr val="595959"/>
                </a:solidFill>
                <a:latin typeface="Arial"/>
                <a:cs typeface="Arial"/>
              </a:rPr>
              <a:t>momentum </a:t>
            </a:r>
            <a:r>
              <a:rPr sz="1400" spc="-5" dirty="0">
                <a:solidFill>
                  <a:srgbClr val="595959"/>
                </a:solidFill>
                <a:latin typeface="Arial"/>
                <a:cs typeface="Arial"/>
              </a:rPr>
              <a:t>by the inverse inertia tensor</a:t>
            </a:r>
            <a:r>
              <a:rPr sz="1400" spc="-65" dirty="0">
                <a:solidFill>
                  <a:srgbClr val="595959"/>
                </a:solidFill>
                <a:latin typeface="Arial"/>
                <a:cs typeface="Arial"/>
              </a:rPr>
              <a:t> </a:t>
            </a:r>
            <a:r>
              <a:rPr sz="1400" dirty="0">
                <a:solidFill>
                  <a:srgbClr val="595959"/>
                </a:solidFill>
                <a:latin typeface="Arial"/>
                <a:cs typeface="Arial"/>
              </a:rPr>
              <a:t>matrix.</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Stick the </a:t>
            </a:r>
            <a:r>
              <a:rPr sz="1400" dirty="0">
                <a:solidFill>
                  <a:srgbClr val="595959"/>
                </a:solidFill>
                <a:latin typeface="Arial"/>
                <a:cs typeface="Arial"/>
              </a:rPr>
              <a:t>result </a:t>
            </a:r>
            <a:r>
              <a:rPr sz="1400" spc="-5" dirty="0">
                <a:solidFill>
                  <a:srgbClr val="595959"/>
                </a:solidFill>
                <a:latin typeface="Arial"/>
                <a:cs typeface="Arial"/>
              </a:rPr>
              <a:t>into our angular </a:t>
            </a:r>
            <a:r>
              <a:rPr sz="1400" dirty="0">
                <a:solidFill>
                  <a:srgbClr val="595959"/>
                </a:solidFill>
                <a:latin typeface="Arial"/>
                <a:cs typeface="Arial"/>
              </a:rPr>
              <a:t>velocity </a:t>
            </a:r>
            <a:r>
              <a:rPr sz="1400" spc="-5" dirty="0">
                <a:solidFill>
                  <a:srgbClr val="595959"/>
                </a:solidFill>
                <a:latin typeface="Arial"/>
                <a:cs typeface="Arial"/>
              </a:rPr>
              <a:t>quaternion, with </a:t>
            </a:r>
            <a:r>
              <a:rPr sz="1400" dirty="0">
                <a:solidFill>
                  <a:srgbClr val="595959"/>
                </a:solidFill>
                <a:latin typeface="Arial"/>
                <a:cs typeface="Arial"/>
              </a:rPr>
              <a:t>0 </a:t>
            </a:r>
            <a:r>
              <a:rPr sz="1400" spc="-5" dirty="0">
                <a:solidFill>
                  <a:srgbClr val="595959"/>
                </a:solidFill>
                <a:latin typeface="Arial"/>
                <a:cs typeface="Arial"/>
              </a:rPr>
              <a:t>as the </a:t>
            </a:r>
            <a:r>
              <a:rPr sz="1400" i="1" dirty="0">
                <a:solidFill>
                  <a:srgbClr val="595959"/>
                </a:solidFill>
                <a:latin typeface="Arial"/>
                <a:cs typeface="Arial"/>
              </a:rPr>
              <a:t>w</a:t>
            </a:r>
            <a:r>
              <a:rPr sz="1400" i="1" spc="-40" dirty="0">
                <a:solidFill>
                  <a:srgbClr val="595959"/>
                </a:solidFill>
                <a:latin typeface="Arial"/>
                <a:cs typeface="Arial"/>
              </a:rPr>
              <a:t> </a:t>
            </a:r>
            <a:r>
              <a:rPr sz="1400" dirty="0">
                <a:solidFill>
                  <a:srgbClr val="595959"/>
                </a:solidFill>
                <a:latin typeface="Arial"/>
                <a:cs typeface="Arial"/>
              </a:rPr>
              <a:t>component.</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Integrate orientation using the formula described</a:t>
            </a:r>
            <a:r>
              <a:rPr sz="1400" spc="-20" dirty="0">
                <a:solidFill>
                  <a:srgbClr val="595959"/>
                </a:solidFill>
                <a:latin typeface="Arial"/>
                <a:cs typeface="Arial"/>
              </a:rPr>
              <a:t> </a:t>
            </a:r>
            <a:r>
              <a:rPr sz="1400" spc="-5" dirty="0">
                <a:solidFill>
                  <a:srgbClr val="595959"/>
                </a:solidFill>
                <a:latin typeface="Arial"/>
                <a:cs typeface="Arial"/>
              </a:rPr>
              <a:t>previously.</a:t>
            </a:r>
            <a:endParaRPr sz="1400">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4034875" cy="520655"/>
          </a:xfrm>
          <a:prstGeom prst="rect">
            <a:avLst/>
          </a:prstGeom>
        </p:spPr>
        <p:txBody>
          <a:bodyPr vert="horz" wrap="square" lIns="0" tIns="12700" rIns="0" bIns="0" rtlCol="0">
            <a:spAutoFit/>
          </a:bodyPr>
          <a:lstStyle/>
          <a:p>
            <a:pPr marL="12700">
              <a:lnSpc>
                <a:spcPct val="100000"/>
              </a:lnSpc>
              <a:spcBef>
                <a:spcPts val="100"/>
              </a:spcBef>
            </a:pPr>
            <a:r>
              <a:rPr spc="-5" dirty="0"/>
              <a:t>Collision</a:t>
            </a:r>
            <a:r>
              <a:rPr spc="-85" dirty="0"/>
              <a:t> </a:t>
            </a:r>
            <a:r>
              <a:rPr spc="-5" dirty="0"/>
              <a:t>Response</a:t>
            </a:r>
          </a:p>
        </p:txBody>
      </p:sp>
      <p:sp>
        <p:nvSpPr>
          <p:cNvPr id="3" name="object 3"/>
          <p:cNvSpPr txBox="1"/>
          <p:nvPr/>
        </p:nvSpPr>
        <p:spPr>
          <a:xfrm>
            <a:off x="475249" y="1216355"/>
            <a:ext cx="768858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All of this </a:t>
            </a:r>
            <a:r>
              <a:rPr sz="1800" dirty="0">
                <a:solidFill>
                  <a:srgbClr val="595959"/>
                </a:solidFill>
                <a:latin typeface="Arial"/>
                <a:cs typeface="Arial"/>
              </a:rPr>
              <a:t>simulation </a:t>
            </a:r>
            <a:r>
              <a:rPr sz="1800" spc="-5" dirty="0">
                <a:solidFill>
                  <a:srgbClr val="595959"/>
                </a:solidFill>
                <a:latin typeface="Arial"/>
                <a:cs typeface="Arial"/>
              </a:rPr>
              <a:t>is great, but what happens when two things</a:t>
            </a:r>
            <a:r>
              <a:rPr sz="1800" spc="-60" dirty="0">
                <a:solidFill>
                  <a:srgbClr val="595959"/>
                </a:solidFill>
                <a:latin typeface="Arial"/>
                <a:cs typeface="Arial"/>
              </a:rPr>
              <a:t> </a:t>
            </a:r>
            <a:r>
              <a:rPr sz="1800" dirty="0">
                <a:solidFill>
                  <a:srgbClr val="595959"/>
                </a:solidFill>
                <a:latin typeface="Arial"/>
                <a:cs typeface="Arial"/>
              </a:rPr>
              <a:t>collide?</a:t>
            </a:r>
            <a:endParaRPr sz="180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1901275" cy="520655"/>
          </a:xfrm>
          <a:prstGeom prst="rect">
            <a:avLst/>
          </a:prstGeom>
        </p:spPr>
        <p:txBody>
          <a:bodyPr vert="horz" wrap="square" lIns="0" tIns="12700" rIns="0" bIns="0" rtlCol="0">
            <a:spAutoFit/>
          </a:bodyPr>
          <a:lstStyle/>
          <a:p>
            <a:pPr marL="12700">
              <a:lnSpc>
                <a:spcPct val="100000"/>
              </a:lnSpc>
              <a:spcBef>
                <a:spcPts val="100"/>
              </a:spcBef>
            </a:pPr>
            <a:r>
              <a:rPr spc="-5" dirty="0"/>
              <a:t>Energy</a:t>
            </a:r>
          </a:p>
        </p:txBody>
      </p:sp>
      <p:sp>
        <p:nvSpPr>
          <p:cNvPr id="3" name="object 3"/>
          <p:cNvSpPr txBox="1"/>
          <p:nvPr/>
        </p:nvSpPr>
        <p:spPr>
          <a:xfrm>
            <a:off x="475249" y="1162308"/>
            <a:ext cx="7471409" cy="147828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Collision </a:t>
            </a:r>
            <a:r>
              <a:rPr sz="1800" dirty="0">
                <a:solidFill>
                  <a:srgbClr val="595959"/>
                </a:solidFill>
                <a:latin typeface="Arial"/>
                <a:cs typeface="Arial"/>
              </a:rPr>
              <a:t>response </a:t>
            </a:r>
            <a:r>
              <a:rPr sz="1800" spc="-5" dirty="0">
                <a:solidFill>
                  <a:srgbClr val="595959"/>
                </a:solidFill>
                <a:latin typeface="Arial"/>
                <a:cs typeface="Arial"/>
              </a:rPr>
              <a:t>involves the </a:t>
            </a:r>
            <a:r>
              <a:rPr sz="1800" dirty="0">
                <a:solidFill>
                  <a:srgbClr val="595959"/>
                </a:solidFill>
                <a:latin typeface="Arial"/>
                <a:cs typeface="Arial"/>
              </a:rPr>
              <a:t>conservation </a:t>
            </a:r>
            <a:r>
              <a:rPr sz="1800" spc="-5" dirty="0">
                <a:solidFill>
                  <a:srgbClr val="595959"/>
                </a:solidFill>
                <a:latin typeface="Arial"/>
                <a:cs typeface="Arial"/>
              </a:rPr>
              <a:t>of</a:t>
            </a:r>
            <a:r>
              <a:rPr sz="1800" dirty="0">
                <a:solidFill>
                  <a:srgbClr val="595959"/>
                </a:solidFill>
                <a:latin typeface="Arial"/>
                <a:cs typeface="Arial"/>
              </a:rPr>
              <a:t> </a:t>
            </a:r>
            <a:r>
              <a:rPr sz="1800" b="1" spc="-5" dirty="0">
                <a:solidFill>
                  <a:srgbClr val="595959"/>
                </a:solidFill>
                <a:latin typeface="Arial"/>
                <a:cs typeface="Arial"/>
              </a:rPr>
              <a:t>energy</a:t>
            </a:r>
            <a:r>
              <a:rPr sz="1800" spc="-5" dirty="0">
                <a:solidFill>
                  <a:srgbClr val="595959"/>
                </a:solidFill>
                <a:latin typeface="Arial"/>
                <a:cs typeface="Arial"/>
              </a:rPr>
              <a:t>.</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Energy </a:t>
            </a:r>
            <a:r>
              <a:rPr sz="1400" dirty="0">
                <a:solidFill>
                  <a:srgbClr val="595959"/>
                </a:solidFill>
                <a:latin typeface="Arial"/>
                <a:cs typeface="Arial"/>
              </a:rPr>
              <a:t>may </a:t>
            </a:r>
            <a:r>
              <a:rPr sz="1400" spc="-5" dirty="0">
                <a:solidFill>
                  <a:srgbClr val="595959"/>
                </a:solidFill>
                <a:latin typeface="Arial"/>
                <a:cs typeface="Arial"/>
              </a:rPr>
              <a:t>be potential, </a:t>
            </a:r>
            <a:r>
              <a:rPr sz="1400" i="1" spc="-5" dirty="0">
                <a:solidFill>
                  <a:srgbClr val="595959"/>
                </a:solidFill>
                <a:latin typeface="Arial"/>
                <a:cs typeface="Arial"/>
              </a:rPr>
              <a:t>V</a:t>
            </a:r>
            <a:r>
              <a:rPr sz="1400" spc="-5" dirty="0">
                <a:solidFill>
                  <a:srgbClr val="595959"/>
                </a:solidFill>
                <a:latin typeface="Arial"/>
                <a:cs typeface="Arial"/>
              </a:rPr>
              <a:t>, or </a:t>
            </a:r>
            <a:r>
              <a:rPr sz="1400" dirty="0">
                <a:solidFill>
                  <a:srgbClr val="595959"/>
                </a:solidFill>
                <a:latin typeface="Arial"/>
                <a:cs typeface="Arial"/>
              </a:rPr>
              <a:t>kinetic,</a:t>
            </a:r>
            <a:r>
              <a:rPr sz="1400" spc="5" dirty="0">
                <a:solidFill>
                  <a:srgbClr val="595959"/>
                </a:solidFill>
                <a:latin typeface="Arial"/>
                <a:cs typeface="Arial"/>
              </a:rPr>
              <a:t> </a:t>
            </a:r>
            <a:r>
              <a:rPr sz="1400" i="1" spc="-5" dirty="0">
                <a:solidFill>
                  <a:srgbClr val="595959"/>
                </a:solidFill>
                <a:latin typeface="Arial"/>
                <a:cs typeface="Arial"/>
              </a:rPr>
              <a:t>T</a:t>
            </a:r>
            <a:r>
              <a:rPr sz="1400" spc="-5" dirty="0">
                <a:solidFill>
                  <a:srgbClr val="595959"/>
                </a:solidFill>
                <a:latin typeface="Arial"/>
                <a:cs typeface="Arial"/>
              </a:rPr>
              <a:t>.</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The total energy, </a:t>
            </a:r>
            <a:r>
              <a:rPr sz="1400" i="1" dirty="0">
                <a:solidFill>
                  <a:srgbClr val="595959"/>
                </a:solidFill>
                <a:latin typeface="Arial"/>
                <a:cs typeface="Arial"/>
              </a:rPr>
              <a:t>E = V + </a:t>
            </a:r>
            <a:r>
              <a:rPr sz="1400" i="1" spc="5" dirty="0">
                <a:solidFill>
                  <a:srgbClr val="595959"/>
                </a:solidFill>
                <a:latin typeface="Arial"/>
                <a:cs typeface="Arial"/>
              </a:rPr>
              <a:t>T</a:t>
            </a:r>
            <a:r>
              <a:rPr sz="1400" spc="5" dirty="0">
                <a:solidFill>
                  <a:srgbClr val="595959"/>
                </a:solidFill>
                <a:latin typeface="Arial"/>
                <a:cs typeface="Arial"/>
              </a:rPr>
              <a:t>, </a:t>
            </a:r>
            <a:r>
              <a:rPr sz="1400" spc="-5" dirty="0">
                <a:solidFill>
                  <a:srgbClr val="595959"/>
                </a:solidFill>
                <a:latin typeface="Arial"/>
                <a:cs typeface="Arial"/>
              </a:rPr>
              <a:t>of an isolated </a:t>
            </a:r>
            <a:r>
              <a:rPr sz="1400" dirty="0">
                <a:solidFill>
                  <a:srgbClr val="595959"/>
                </a:solidFill>
                <a:latin typeface="Arial"/>
                <a:cs typeface="Arial"/>
              </a:rPr>
              <a:t>system </a:t>
            </a:r>
            <a:r>
              <a:rPr sz="1400" spc="-5" dirty="0">
                <a:solidFill>
                  <a:srgbClr val="595959"/>
                </a:solidFill>
                <a:latin typeface="Arial"/>
                <a:cs typeface="Arial"/>
              </a:rPr>
              <a:t>is</a:t>
            </a:r>
            <a:r>
              <a:rPr sz="1400" spc="-40" dirty="0">
                <a:solidFill>
                  <a:srgbClr val="595959"/>
                </a:solidFill>
                <a:latin typeface="Arial"/>
                <a:cs typeface="Arial"/>
              </a:rPr>
              <a:t> </a:t>
            </a:r>
            <a:r>
              <a:rPr sz="1400" dirty="0">
                <a:solidFill>
                  <a:srgbClr val="595959"/>
                </a:solidFill>
                <a:latin typeface="Arial"/>
                <a:cs typeface="Arial"/>
              </a:rPr>
              <a:t>constant.</a:t>
            </a:r>
            <a:endParaRPr sz="1400">
              <a:latin typeface="Arial"/>
              <a:cs typeface="Arial"/>
            </a:endParaRPr>
          </a:p>
          <a:p>
            <a:pPr marL="379095" marR="5080" indent="-366395">
              <a:lnSpc>
                <a:spcPts val="2480"/>
              </a:lnSpc>
              <a:spcBef>
                <a:spcPts val="70"/>
              </a:spcBef>
              <a:buChar char="●"/>
              <a:tabLst>
                <a:tab pos="379095" algn="l"/>
                <a:tab pos="379730" algn="l"/>
              </a:tabLst>
            </a:pPr>
            <a:r>
              <a:rPr sz="1800" spc="-5" dirty="0">
                <a:solidFill>
                  <a:srgbClr val="595959"/>
                </a:solidFill>
                <a:latin typeface="Arial"/>
                <a:cs typeface="Arial"/>
              </a:rPr>
              <a:t>Kinetic energy from linear </a:t>
            </a:r>
            <a:r>
              <a:rPr sz="1800" dirty="0">
                <a:solidFill>
                  <a:srgbClr val="595959"/>
                </a:solidFill>
                <a:latin typeface="Arial"/>
                <a:cs typeface="Arial"/>
              </a:rPr>
              <a:t>motion can </a:t>
            </a:r>
            <a:r>
              <a:rPr sz="1800" spc="-5" dirty="0">
                <a:solidFill>
                  <a:srgbClr val="595959"/>
                </a:solidFill>
                <a:latin typeface="Arial"/>
                <a:cs typeface="Arial"/>
              </a:rPr>
              <a:t>be defined in terms of </a:t>
            </a:r>
            <a:r>
              <a:rPr sz="1800" dirty="0">
                <a:solidFill>
                  <a:srgbClr val="595959"/>
                </a:solidFill>
                <a:latin typeface="Arial"/>
                <a:cs typeface="Arial"/>
              </a:rPr>
              <a:t>mass </a:t>
            </a:r>
            <a:r>
              <a:rPr sz="1800" spc="-5" dirty="0">
                <a:solidFill>
                  <a:srgbClr val="595959"/>
                </a:solidFill>
                <a:latin typeface="Arial"/>
                <a:cs typeface="Arial"/>
              </a:rPr>
              <a:t>and  </a:t>
            </a:r>
            <a:r>
              <a:rPr sz="1800" dirty="0">
                <a:solidFill>
                  <a:srgbClr val="595959"/>
                </a:solidFill>
                <a:latin typeface="Arial"/>
                <a:cs typeface="Arial"/>
              </a:rPr>
              <a:t>velocity, </a:t>
            </a:r>
            <a:r>
              <a:rPr sz="1800" spc="-5" dirty="0">
                <a:solidFill>
                  <a:srgbClr val="595959"/>
                </a:solidFill>
                <a:latin typeface="Arial"/>
                <a:cs typeface="Arial"/>
              </a:rPr>
              <a:t>or </a:t>
            </a:r>
            <a:r>
              <a:rPr sz="1800" dirty="0">
                <a:solidFill>
                  <a:srgbClr val="595959"/>
                </a:solidFill>
                <a:latin typeface="Arial"/>
                <a:cs typeface="Arial"/>
              </a:rPr>
              <a:t>momentum </a:t>
            </a:r>
            <a:r>
              <a:rPr sz="1800" spc="-5" dirty="0">
                <a:solidFill>
                  <a:srgbClr val="595959"/>
                </a:solidFill>
                <a:latin typeface="Arial"/>
                <a:cs typeface="Arial"/>
              </a:rPr>
              <a:t>and </a:t>
            </a:r>
            <a:r>
              <a:rPr sz="1800" dirty="0">
                <a:solidFill>
                  <a:srgbClr val="595959"/>
                </a:solidFill>
                <a:latin typeface="Arial"/>
                <a:cs typeface="Arial"/>
              </a:rPr>
              <a:t>velocity</a:t>
            </a:r>
            <a:r>
              <a:rPr sz="1800" spc="-25" dirty="0">
                <a:solidFill>
                  <a:srgbClr val="595959"/>
                </a:solidFill>
                <a:latin typeface="Arial"/>
                <a:cs typeface="Arial"/>
              </a:rPr>
              <a:t> </a:t>
            </a:r>
            <a:r>
              <a:rPr sz="1800" dirty="0">
                <a:solidFill>
                  <a:srgbClr val="595959"/>
                </a:solidFill>
                <a:latin typeface="Arial"/>
                <a:cs typeface="Arial"/>
              </a:rPr>
              <a:t>vectors:</a:t>
            </a:r>
            <a:endParaRPr sz="1800">
              <a:latin typeface="Arial"/>
              <a:cs typeface="Arial"/>
            </a:endParaRPr>
          </a:p>
        </p:txBody>
      </p:sp>
      <p:sp>
        <p:nvSpPr>
          <p:cNvPr id="4" name="object 4"/>
          <p:cNvSpPr txBox="1"/>
          <p:nvPr/>
        </p:nvSpPr>
        <p:spPr>
          <a:xfrm>
            <a:off x="475249" y="3369005"/>
            <a:ext cx="460629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And </a:t>
            </a:r>
            <a:r>
              <a:rPr sz="1800" dirty="0">
                <a:solidFill>
                  <a:srgbClr val="595959"/>
                </a:solidFill>
                <a:latin typeface="Arial"/>
                <a:cs typeface="Arial"/>
              </a:rPr>
              <a:t>kinetic </a:t>
            </a:r>
            <a:r>
              <a:rPr sz="1800" spc="-5" dirty="0">
                <a:solidFill>
                  <a:srgbClr val="595959"/>
                </a:solidFill>
                <a:latin typeface="Arial"/>
                <a:cs typeface="Arial"/>
              </a:rPr>
              <a:t>energy from </a:t>
            </a:r>
            <a:r>
              <a:rPr sz="1800" dirty="0">
                <a:solidFill>
                  <a:srgbClr val="595959"/>
                </a:solidFill>
                <a:latin typeface="Arial"/>
                <a:cs typeface="Arial"/>
              </a:rPr>
              <a:t>rotational</a:t>
            </a:r>
            <a:r>
              <a:rPr sz="1800" spc="-100" dirty="0">
                <a:solidFill>
                  <a:srgbClr val="595959"/>
                </a:solidFill>
                <a:latin typeface="Arial"/>
                <a:cs typeface="Arial"/>
              </a:rPr>
              <a:t> </a:t>
            </a:r>
            <a:r>
              <a:rPr sz="1800" dirty="0">
                <a:solidFill>
                  <a:srgbClr val="595959"/>
                </a:solidFill>
                <a:latin typeface="Arial"/>
                <a:cs typeface="Arial"/>
              </a:rPr>
              <a:t>motion:</a:t>
            </a:r>
            <a:endParaRPr sz="1800">
              <a:latin typeface="Arial"/>
              <a:cs typeface="Arial"/>
            </a:endParaRPr>
          </a:p>
        </p:txBody>
      </p:sp>
      <p:sp>
        <p:nvSpPr>
          <p:cNvPr id="5" name="object 5"/>
          <p:cNvSpPr/>
          <p:nvPr/>
        </p:nvSpPr>
        <p:spPr>
          <a:xfrm>
            <a:off x="2718225" y="2824200"/>
            <a:ext cx="1477774" cy="49924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948000" y="2832370"/>
            <a:ext cx="1477774" cy="482926"/>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3728287" y="3873500"/>
            <a:ext cx="1687412" cy="499249"/>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1596475" cy="520655"/>
          </a:xfrm>
          <a:prstGeom prst="rect">
            <a:avLst/>
          </a:prstGeom>
        </p:spPr>
        <p:txBody>
          <a:bodyPr vert="horz" wrap="square" lIns="0" tIns="12700" rIns="0" bIns="0" rtlCol="0">
            <a:spAutoFit/>
          </a:bodyPr>
          <a:lstStyle/>
          <a:p>
            <a:pPr marL="12700">
              <a:lnSpc>
                <a:spcPct val="100000"/>
              </a:lnSpc>
              <a:spcBef>
                <a:spcPts val="100"/>
              </a:spcBef>
            </a:pPr>
            <a:r>
              <a:rPr spc="-5" dirty="0"/>
              <a:t>Impulse</a:t>
            </a:r>
          </a:p>
        </p:txBody>
      </p:sp>
      <p:sp>
        <p:nvSpPr>
          <p:cNvPr id="3" name="object 3"/>
          <p:cNvSpPr txBox="1"/>
          <p:nvPr/>
        </p:nvSpPr>
        <p:spPr>
          <a:xfrm>
            <a:off x="475249" y="1162308"/>
            <a:ext cx="8124190" cy="1659255"/>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Simplifications.</a:t>
            </a:r>
            <a:endParaRPr sz="1800">
              <a:latin typeface="Arial"/>
              <a:cs typeface="Arial"/>
            </a:endParaRPr>
          </a:p>
          <a:p>
            <a:pPr marL="836294" marR="461645" lvl="1" indent="-335915">
              <a:lnSpc>
                <a:spcPct val="116100"/>
              </a:lnSpc>
              <a:spcBef>
                <a:spcPts val="60"/>
              </a:spcBef>
              <a:buChar char="○"/>
              <a:tabLst>
                <a:tab pos="836294" algn="l"/>
                <a:tab pos="836930" algn="l"/>
              </a:tabLst>
            </a:pPr>
            <a:r>
              <a:rPr sz="1400" spc="-5" dirty="0">
                <a:solidFill>
                  <a:srgbClr val="595959"/>
                </a:solidFill>
                <a:latin typeface="Arial"/>
                <a:cs typeface="Arial"/>
              </a:rPr>
              <a:t>Collision force acts of infinitesimally </a:t>
            </a:r>
            <a:r>
              <a:rPr sz="1400" dirty="0">
                <a:solidFill>
                  <a:srgbClr val="595959"/>
                </a:solidFill>
                <a:latin typeface="Arial"/>
                <a:cs typeface="Arial"/>
              </a:rPr>
              <a:t>small </a:t>
            </a:r>
            <a:r>
              <a:rPr sz="1400" spc="-5" dirty="0">
                <a:solidFill>
                  <a:srgbClr val="595959"/>
                </a:solidFill>
                <a:latin typeface="Arial"/>
                <a:cs typeface="Arial"/>
              </a:rPr>
              <a:t>time, </a:t>
            </a:r>
            <a:r>
              <a:rPr sz="1400" dirty="0">
                <a:solidFill>
                  <a:srgbClr val="595959"/>
                </a:solidFill>
                <a:latin typeface="Arial"/>
                <a:cs typeface="Arial"/>
              </a:rPr>
              <a:t>creating </a:t>
            </a:r>
            <a:r>
              <a:rPr sz="1400" spc="-5" dirty="0">
                <a:solidFill>
                  <a:srgbClr val="595959"/>
                </a:solidFill>
                <a:latin typeface="Arial"/>
                <a:cs typeface="Arial"/>
              </a:rPr>
              <a:t>an impulse. Velocities </a:t>
            </a:r>
            <a:r>
              <a:rPr sz="1400" dirty="0">
                <a:solidFill>
                  <a:srgbClr val="595959"/>
                </a:solidFill>
                <a:latin typeface="Arial"/>
                <a:cs typeface="Arial"/>
              </a:rPr>
              <a:t>change  </a:t>
            </a:r>
            <a:r>
              <a:rPr sz="1400" spc="-5" dirty="0">
                <a:solidFill>
                  <a:srgbClr val="595959"/>
                </a:solidFill>
                <a:latin typeface="Arial"/>
                <a:cs typeface="Arial"/>
              </a:rPr>
              <a:t>instantaneously.</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There’s no friction at the point of</a:t>
            </a:r>
            <a:r>
              <a:rPr sz="1400" spc="-10" dirty="0">
                <a:solidFill>
                  <a:srgbClr val="595959"/>
                </a:solidFill>
                <a:latin typeface="Arial"/>
                <a:cs typeface="Arial"/>
              </a:rPr>
              <a:t> </a:t>
            </a:r>
            <a:r>
              <a:rPr sz="1400" dirty="0">
                <a:solidFill>
                  <a:srgbClr val="595959"/>
                </a:solidFill>
                <a:latin typeface="Arial"/>
                <a:cs typeface="Arial"/>
              </a:rPr>
              <a:t>contact.</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Submolecular interactions and effects </a:t>
            </a:r>
            <a:r>
              <a:rPr sz="1400" dirty="0">
                <a:solidFill>
                  <a:srgbClr val="595959"/>
                </a:solidFill>
                <a:latin typeface="Arial"/>
                <a:cs typeface="Arial"/>
              </a:rPr>
              <a:t>can </a:t>
            </a:r>
            <a:r>
              <a:rPr sz="1400" spc="-5" dirty="0">
                <a:solidFill>
                  <a:srgbClr val="595959"/>
                </a:solidFill>
                <a:latin typeface="Arial"/>
                <a:cs typeface="Arial"/>
              </a:rPr>
              <a:t>be approximated with </a:t>
            </a:r>
            <a:r>
              <a:rPr sz="1400" dirty="0">
                <a:solidFill>
                  <a:srgbClr val="595959"/>
                </a:solidFill>
                <a:latin typeface="Arial"/>
                <a:cs typeface="Arial"/>
              </a:rPr>
              <a:t>a coefficient </a:t>
            </a:r>
            <a:r>
              <a:rPr sz="1400" spc="-5" dirty="0">
                <a:solidFill>
                  <a:srgbClr val="595959"/>
                </a:solidFill>
                <a:latin typeface="Arial"/>
                <a:cs typeface="Arial"/>
              </a:rPr>
              <a:t>of </a:t>
            </a:r>
            <a:r>
              <a:rPr sz="1400" dirty="0">
                <a:solidFill>
                  <a:srgbClr val="595959"/>
                </a:solidFill>
                <a:latin typeface="Arial"/>
                <a:cs typeface="Arial"/>
              </a:rPr>
              <a:t>restitution,</a:t>
            </a:r>
            <a:r>
              <a:rPr sz="1400" spc="-40" dirty="0">
                <a:solidFill>
                  <a:srgbClr val="595959"/>
                </a:solidFill>
                <a:latin typeface="Arial"/>
                <a:cs typeface="Arial"/>
              </a:rPr>
              <a:t> </a:t>
            </a:r>
            <a:r>
              <a:rPr sz="1400" spc="-25" dirty="0">
                <a:solidFill>
                  <a:srgbClr val="595959"/>
                </a:solidFill>
                <a:latin typeface="Tahoma"/>
                <a:cs typeface="Tahoma"/>
              </a:rPr>
              <a:t>s</a:t>
            </a:r>
            <a:r>
              <a:rPr sz="1400" spc="-25" dirty="0">
                <a:solidFill>
                  <a:srgbClr val="595959"/>
                </a:solidFill>
                <a:latin typeface="Arial"/>
                <a:cs typeface="Arial"/>
              </a:rPr>
              <a:t>.</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All analysis based around the idea that linear </a:t>
            </a:r>
            <a:r>
              <a:rPr sz="1800" dirty="0">
                <a:solidFill>
                  <a:srgbClr val="595959"/>
                </a:solidFill>
                <a:latin typeface="Arial"/>
                <a:cs typeface="Arial"/>
              </a:rPr>
              <a:t>momentum </a:t>
            </a:r>
            <a:r>
              <a:rPr sz="1800" spc="-5" dirty="0">
                <a:solidFill>
                  <a:srgbClr val="595959"/>
                </a:solidFill>
                <a:latin typeface="Arial"/>
                <a:cs typeface="Arial"/>
              </a:rPr>
              <a:t>is</a:t>
            </a:r>
            <a:r>
              <a:rPr sz="1800" spc="-45" dirty="0">
                <a:solidFill>
                  <a:srgbClr val="595959"/>
                </a:solidFill>
                <a:latin typeface="Arial"/>
                <a:cs typeface="Arial"/>
              </a:rPr>
              <a:t> </a:t>
            </a:r>
            <a:r>
              <a:rPr sz="1800" dirty="0">
                <a:solidFill>
                  <a:srgbClr val="595959"/>
                </a:solidFill>
                <a:latin typeface="Arial"/>
                <a:cs typeface="Arial"/>
              </a:rPr>
              <a:t>conserved:</a:t>
            </a:r>
            <a:endParaRPr sz="1800">
              <a:latin typeface="Arial"/>
              <a:cs typeface="Arial"/>
            </a:endParaRPr>
          </a:p>
        </p:txBody>
      </p:sp>
      <p:sp>
        <p:nvSpPr>
          <p:cNvPr id="4" name="object 4"/>
          <p:cNvSpPr txBox="1"/>
          <p:nvPr/>
        </p:nvSpPr>
        <p:spPr>
          <a:xfrm>
            <a:off x="475249" y="4064330"/>
            <a:ext cx="7639684"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Kinetic energy is also </a:t>
            </a:r>
            <a:r>
              <a:rPr sz="1800" dirty="0">
                <a:solidFill>
                  <a:srgbClr val="595959"/>
                </a:solidFill>
                <a:latin typeface="Arial"/>
                <a:cs typeface="Arial"/>
              </a:rPr>
              <a:t>conserved, </a:t>
            </a:r>
            <a:r>
              <a:rPr sz="1800" spc="-5" dirty="0">
                <a:solidFill>
                  <a:srgbClr val="595959"/>
                </a:solidFill>
                <a:latin typeface="Arial"/>
                <a:cs typeface="Arial"/>
              </a:rPr>
              <a:t>with </a:t>
            </a:r>
            <a:r>
              <a:rPr sz="1800" dirty="0">
                <a:solidFill>
                  <a:srgbClr val="595959"/>
                </a:solidFill>
                <a:latin typeface="Arial"/>
                <a:cs typeface="Arial"/>
              </a:rPr>
              <a:t>some </a:t>
            </a:r>
            <a:r>
              <a:rPr sz="1800" spc="-5" dirty="0">
                <a:solidFill>
                  <a:srgbClr val="595959"/>
                </a:solidFill>
                <a:latin typeface="Arial"/>
                <a:cs typeface="Arial"/>
              </a:rPr>
              <a:t>lost due to heat and</a:t>
            </a:r>
            <a:r>
              <a:rPr sz="1800" spc="-70" dirty="0">
                <a:solidFill>
                  <a:srgbClr val="595959"/>
                </a:solidFill>
                <a:latin typeface="Arial"/>
                <a:cs typeface="Arial"/>
              </a:rPr>
              <a:t> </a:t>
            </a:r>
            <a:r>
              <a:rPr sz="1800" dirty="0">
                <a:solidFill>
                  <a:srgbClr val="595959"/>
                </a:solidFill>
                <a:latin typeface="Arial"/>
                <a:cs typeface="Arial"/>
              </a:rPr>
              <a:t>sound:</a:t>
            </a:r>
            <a:endParaRPr sz="1800">
              <a:latin typeface="Arial"/>
              <a:cs typeface="Arial"/>
            </a:endParaRPr>
          </a:p>
        </p:txBody>
      </p:sp>
      <p:sp>
        <p:nvSpPr>
          <p:cNvPr id="5" name="object 5"/>
          <p:cNvSpPr/>
          <p:nvPr/>
        </p:nvSpPr>
        <p:spPr>
          <a:xfrm>
            <a:off x="3643312" y="3016150"/>
            <a:ext cx="1857374" cy="24764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090875" y="3400275"/>
            <a:ext cx="2962274" cy="22859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739550" y="4484550"/>
            <a:ext cx="3664902" cy="422224"/>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1825075" cy="520655"/>
          </a:xfrm>
          <a:prstGeom prst="rect">
            <a:avLst/>
          </a:prstGeom>
        </p:spPr>
        <p:txBody>
          <a:bodyPr vert="horz" wrap="square" lIns="0" tIns="12700" rIns="0" bIns="0" rtlCol="0">
            <a:spAutoFit/>
          </a:bodyPr>
          <a:lstStyle/>
          <a:p>
            <a:pPr marL="12700">
              <a:lnSpc>
                <a:spcPct val="100000"/>
              </a:lnSpc>
              <a:spcBef>
                <a:spcPts val="100"/>
              </a:spcBef>
            </a:pPr>
            <a:r>
              <a:rPr spc="-5" dirty="0"/>
              <a:t>Impulse</a:t>
            </a:r>
          </a:p>
        </p:txBody>
      </p:sp>
      <p:sp>
        <p:nvSpPr>
          <p:cNvPr id="3" name="object 3"/>
          <p:cNvSpPr txBox="1"/>
          <p:nvPr/>
        </p:nvSpPr>
        <p:spPr>
          <a:xfrm>
            <a:off x="475249" y="1216355"/>
            <a:ext cx="605599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An impulse </a:t>
            </a:r>
            <a:r>
              <a:rPr sz="1800" dirty="0">
                <a:solidFill>
                  <a:srgbClr val="595959"/>
                </a:solidFill>
                <a:latin typeface="Arial"/>
                <a:cs typeface="Arial"/>
              </a:rPr>
              <a:t>causes </a:t>
            </a:r>
            <a:r>
              <a:rPr sz="1800" spc="-5" dirty="0">
                <a:solidFill>
                  <a:srgbClr val="595959"/>
                </a:solidFill>
                <a:latin typeface="Arial"/>
                <a:cs typeface="Arial"/>
              </a:rPr>
              <a:t>an instantaneous </a:t>
            </a:r>
            <a:r>
              <a:rPr sz="1800" dirty="0">
                <a:solidFill>
                  <a:srgbClr val="595959"/>
                </a:solidFill>
                <a:latin typeface="Arial"/>
                <a:cs typeface="Arial"/>
              </a:rPr>
              <a:t>change </a:t>
            </a:r>
            <a:r>
              <a:rPr sz="1800" spc="-5" dirty="0">
                <a:solidFill>
                  <a:srgbClr val="595959"/>
                </a:solidFill>
                <a:latin typeface="Arial"/>
                <a:cs typeface="Arial"/>
              </a:rPr>
              <a:t>in</a:t>
            </a:r>
            <a:r>
              <a:rPr sz="1800" spc="-95" dirty="0">
                <a:solidFill>
                  <a:srgbClr val="595959"/>
                </a:solidFill>
                <a:latin typeface="Arial"/>
                <a:cs typeface="Arial"/>
              </a:rPr>
              <a:t> </a:t>
            </a:r>
            <a:r>
              <a:rPr sz="1800" dirty="0">
                <a:solidFill>
                  <a:srgbClr val="595959"/>
                </a:solidFill>
                <a:latin typeface="Arial"/>
                <a:cs typeface="Arial"/>
              </a:rPr>
              <a:t>velocity.</a:t>
            </a:r>
            <a:endParaRPr sz="1800">
              <a:latin typeface="Arial"/>
              <a:cs typeface="Arial"/>
            </a:endParaRPr>
          </a:p>
        </p:txBody>
      </p:sp>
      <p:sp>
        <p:nvSpPr>
          <p:cNvPr id="4" name="object 4"/>
          <p:cNvSpPr txBox="1"/>
          <p:nvPr/>
        </p:nvSpPr>
        <p:spPr>
          <a:xfrm>
            <a:off x="475249" y="2245055"/>
            <a:ext cx="725424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With no friction, the impulse </a:t>
            </a:r>
            <a:r>
              <a:rPr sz="1800" dirty="0">
                <a:solidFill>
                  <a:srgbClr val="595959"/>
                </a:solidFill>
                <a:latin typeface="Arial"/>
                <a:cs typeface="Arial"/>
              </a:rPr>
              <a:t>vector </a:t>
            </a:r>
            <a:r>
              <a:rPr sz="1800" spc="-5" dirty="0">
                <a:solidFill>
                  <a:srgbClr val="595959"/>
                </a:solidFill>
                <a:latin typeface="Arial"/>
                <a:cs typeface="Arial"/>
              </a:rPr>
              <a:t>is normal to the </a:t>
            </a:r>
            <a:r>
              <a:rPr sz="1800" dirty="0">
                <a:solidFill>
                  <a:srgbClr val="595959"/>
                </a:solidFill>
                <a:latin typeface="Arial"/>
                <a:cs typeface="Arial"/>
              </a:rPr>
              <a:t>collision</a:t>
            </a:r>
            <a:r>
              <a:rPr sz="1800" spc="-65" dirty="0">
                <a:solidFill>
                  <a:srgbClr val="595959"/>
                </a:solidFill>
                <a:latin typeface="Arial"/>
                <a:cs typeface="Arial"/>
              </a:rPr>
              <a:t> </a:t>
            </a:r>
            <a:r>
              <a:rPr sz="1800" dirty="0">
                <a:solidFill>
                  <a:srgbClr val="595959"/>
                </a:solidFill>
                <a:latin typeface="Arial"/>
                <a:cs typeface="Arial"/>
              </a:rPr>
              <a:t>surface.</a:t>
            </a:r>
            <a:endParaRPr sz="1800">
              <a:latin typeface="Arial"/>
              <a:cs typeface="Arial"/>
            </a:endParaRPr>
          </a:p>
        </p:txBody>
      </p:sp>
      <p:sp>
        <p:nvSpPr>
          <p:cNvPr id="5" name="object 5"/>
          <p:cNvSpPr txBox="1"/>
          <p:nvPr/>
        </p:nvSpPr>
        <p:spPr>
          <a:xfrm>
            <a:off x="475249" y="3233750"/>
            <a:ext cx="8087359" cy="968375"/>
          </a:xfrm>
          <a:prstGeom prst="rect">
            <a:avLst/>
          </a:prstGeom>
        </p:spPr>
        <p:txBody>
          <a:bodyPr vert="horz" wrap="square" lIns="0" tIns="12700" rIns="0" bIns="0" rtlCol="0">
            <a:spAutoFit/>
          </a:bodyPr>
          <a:lstStyle/>
          <a:p>
            <a:pPr marL="379095" marR="5080" indent="-366395">
              <a:lnSpc>
                <a:spcPct val="114599"/>
              </a:lnSpc>
              <a:spcBef>
                <a:spcPts val="100"/>
              </a:spcBef>
              <a:buChar char="●"/>
              <a:tabLst>
                <a:tab pos="379095" algn="l"/>
                <a:tab pos="379730" algn="l"/>
              </a:tabLst>
            </a:pPr>
            <a:r>
              <a:rPr sz="1800" spc="-5" dirty="0">
                <a:solidFill>
                  <a:srgbClr val="595959"/>
                </a:solidFill>
                <a:latin typeface="Arial"/>
                <a:cs typeface="Arial"/>
              </a:rPr>
              <a:t>If one body experiences the impulse </a:t>
            </a:r>
            <a:r>
              <a:rPr sz="1800" b="1" dirty="0">
                <a:solidFill>
                  <a:srgbClr val="595959"/>
                </a:solidFill>
                <a:latin typeface="Arial"/>
                <a:cs typeface="Arial"/>
              </a:rPr>
              <a:t>p</a:t>
            </a:r>
            <a:r>
              <a:rPr sz="1800" dirty="0">
                <a:solidFill>
                  <a:srgbClr val="595959"/>
                </a:solidFill>
                <a:latin typeface="Arial"/>
                <a:cs typeface="Arial"/>
              </a:rPr>
              <a:t>, </a:t>
            </a:r>
            <a:r>
              <a:rPr sz="1800" spc="-5" dirty="0">
                <a:solidFill>
                  <a:srgbClr val="595959"/>
                </a:solidFill>
                <a:latin typeface="Arial"/>
                <a:cs typeface="Arial"/>
              </a:rPr>
              <a:t>then the other body </a:t>
            </a:r>
            <a:r>
              <a:rPr sz="1800" dirty="0">
                <a:solidFill>
                  <a:srgbClr val="595959"/>
                </a:solidFill>
                <a:latin typeface="Arial"/>
                <a:cs typeface="Arial"/>
              </a:rPr>
              <a:t>must </a:t>
            </a:r>
            <a:r>
              <a:rPr sz="1800" spc="-5" dirty="0">
                <a:solidFill>
                  <a:srgbClr val="595959"/>
                </a:solidFill>
                <a:latin typeface="Arial"/>
                <a:cs typeface="Arial"/>
              </a:rPr>
              <a:t>experience  an equal but opposite</a:t>
            </a:r>
            <a:r>
              <a:rPr sz="1800" spc="-10" dirty="0">
                <a:solidFill>
                  <a:srgbClr val="595959"/>
                </a:solidFill>
                <a:latin typeface="Arial"/>
                <a:cs typeface="Arial"/>
              </a:rPr>
              <a:t> </a:t>
            </a:r>
            <a:r>
              <a:rPr sz="1800" spc="-5" dirty="0">
                <a:solidFill>
                  <a:srgbClr val="595959"/>
                </a:solidFill>
                <a:latin typeface="Arial"/>
                <a:cs typeface="Arial"/>
              </a:rPr>
              <a:t>impulse.</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So we </a:t>
            </a:r>
            <a:r>
              <a:rPr sz="1800" dirty="0">
                <a:solidFill>
                  <a:srgbClr val="595959"/>
                </a:solidFill>
                <a:latin typeface="Arial"/>
                <a:cs typeface="Arial"/>
              </a:rPr>
              <a:t>can </a:t>
            </a:r>
            <a:r>
              <a:rPr sz="1800" spc="-5" dirty="0">
                <a:solidFill>
                  <a:srgbClr val="595959"/>
                </a:solidFill>
                <a:latin typeface="Arial"/>
                <a:cs typeface="Arial"/>
              </a:rPr>
              <a:t>write our equations as</a:t>
            </a:r>
            <a:r>
              <a:rPr sz="1800" spc="-25" dirty="0">
                <a:solidFill>
                  <a:srgbClr val="595959"/>
                </a:solidFill>
                <a:latin typeface="Arial"/>
                <a:cs typeface="Arial"/>
              </a:rPr>
              <a:t> </a:t>
            </a:r>
            <a:r>
              <a:rPr sz="1800" spc="-5" dirty="0">
                <a:solidFill>
                  <a:srgbClr val="595959"/>
                </a:solidFill>
                <a:latin typeface="Arial"/>
                <a:cs typeface="Arial"/>
              </a:rPr>
              <a:t>follows...</a:t>
            </a:r>
            <a:endParaRPr sz="1800">
              <a:latin typeface="Arial"/>
              <a:cs typeface="Arial"/>
            </a:endParaRPr>
          </a:p>
        </p:txBody>
      </p:sp>
      <p:sp>
        <p:nvSpPr>
          <p:cNvPr id="6" name="object 6"/>
          <p:cNvSpPr/>
          <p:nvPr/>
        </p:nvSpPr>
        <p:spPr>
          <a:xfrm>
            <a:off x="3781425" y="1723225"/>
            <a:ext cx="1581149" cy="22859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224337" y="2741612"/>
            <a:ext cx="695324" cy="228599"/>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Impulse-Based Collision Response"/>
          <p:cNvSpPr txBox="1">
            <a:spLocks noGrp="1"/>
          </p:cNvSpPr>
          <p:nvPr>
            <p:ph type="title"/>
          </p:nvPr>
        </p:nvSpPr>
        <p:spPr>
          <a:xfrm>
            <a:off x="1812727" y="133945"/>
            <a:ext cx="6112073" cy="1339453"/>
          </a:xfrm>
          <a:prstGeom prst="rect">
            <a:avLst/>
          </a:prstGeom>
        </p:spPr>
        <p:txBody>
          <a:bodyPr/>
          <a:lstStyle/>
          <a:p>
            <a:r>
              <a:rPr dirty="0"/>
              <a:t>Impulse-Based Collision Response</a:t>
            </a:r>
          </a:p>
        </p:txBody>
      </p:sp>
      <p:pic>
        <p:nvPicPr>
          <p:cNvPr id="586" name="final.pdf" descr="final.pdf"/>
          <p:cNvPicPr>
            <a:picLocks noChangeAspect="1"/>
          </p:cNvPicPr>
          <p:nvPr/>
        </p:nvPicPr>
        <p:blipFill>
          <a:blip r:embed="rId3">
            <a:extLst/>
          </a:blip>
          <a:stretch>
            <a:fillRect/>
          </a:stretch>
        </p:blipFill>
        <p:spPr>
          <a:xfrm>
            <a:off x="3500437" y="4406801"/>
            <a:ext cx="2136428" cy="274588"/>
          </a:xfrm>
          <a:prstGeom prst="rect">
            <a:avLst/>
          </a:prstGeom>
          <a:ln w="12700">
            <a:miter lim="400000"/>
          </a:ln>
        </p:spPr>
      </p:pic>
      <p:grpSp>
        <p:nvGrpSpPr>
          <p:cNvPr id="589" name="Group"/>
          <p:cNvGrpSpPr/>
          <p:nvPr/>
        </p:nvGrpSpPr>
        <p:grpSpPr>
          <a:xfrm>
            <a:off x="2603004" y="2022574"/>
            <a:ext cx="3937992" cy="274588"/>
            <a:chOff x="0" y="0"/>
            <a:chExt cx="7467600" cy="520700"/>
          </a:xfrm>
        </p:grpSpPr>
        <p:pic>
          <p:nvPicPr>
            <p:cNvPr id="587" name="final.pdf" descr="final.pdf"/>
            <p:cNvPicPr>
              <a:picLocks noChangeAspect="1"/>
            </p:cNvPicPr>
            <p:nvPr/>
          </p:nvPicPr>
          <p:blipFill>
            <a:blip r:embed="rId4">
              <a:extLst/>
            </a:blip>
            <a:stretch>
              <a:fillRect/>
            </a:stretch>
          </p:blipFill>
          <p:spPr>
            <a:xfrm>
              <a:off x="0" y="0"/>
              <a:ext cx="2184400" cy="520700"/>
            </a:xfrm>
            <a:prstGeom prst="rect">
              <a:avLst/>
            </a:prstGeom>
            <a:ln w="12700" cap="flat">
              <a:noFill/>
              <a:miter lim="400000"/>
            </a:ln>
            <a:effectLst/>
          </p:spPr>
        </p:pic>
        <p:pic>
          <p:nvPicPr>
            <p:cNvPr id="588" name="final.pdf" descr="final.pdf"/>
            <p:cNvPicPr>
              <a:picLocks noChangeAspect="1"/>
            </p:cNvPicPr>
            <p:nvPr/>
          </p:nvPicPr>
          <p:blipFill>
            <a:blip r:embed="rId5">
              <a:extLst/>
            </a:blip>
            <a:stretch>
              <a:fillRect/>
            </a:stretch>
          </p:blipFill>
          <p:spPr>
            <a:xfrm>
              <a:off x="5283200" y="0"/>
              <a:ext cx="2184400" cy="520700"/>
            </a:xfrm>
            <a:prstGeom prst="rect">
              <a:avLst/>
            </a:prstGeom>
            <a:ln w="12700" cap="flat">
              <a:noFill/>
              <a:miter lim="400000"/>
            </a:ln>
            <a:effectLst/>
          </p:spPr>
        </p:pic>
      </p:grpSp>
      <p:grpSp>
        <p:nvGrpSpPr>
          <p:cNvPr id="592" name="Group"/>
          <p:cNvGrpSpPr/>
          <p:nvPr/>
        </p:nvGrpSpPr>
        <p:grpSpPr>
          <a:xfrm>
            <a:off x="2475756" y="3362027"/>
            <a:ext cx="4185791" cy="549176"/>
            <a:chOff x="0" y="0"/>
            <a:chExt cx="7937500" cy="1041400"/>
          </a:xfrm>
        </p:grpSpPr>
        <p:pic>
          <p:nvPicPr>
            <p:cNvPr id="590" name="final.pdf" descr="final.pdf"/>
            <p:cNvPicPr>
              <a:picLocks noChangeAspect="1"/>
            </p:cNvPicPr>
            <p:nvPr/>
          </p:nvPicPr>
          <p:blipFill>
            <a:blip r:embed="rId6">
              <a:extLst/>
            </a:blip>
            <a:stretch>
              <a:fillRect/>
            </a:stretch>
          </p:blipFill>
          <p:spPr>
            <a:xfrm>
              <a:off x="0" y="0"/>
              <a:ext cx="2654300" cy="1041400"/>
            </a:xfrm>
            <a:prstGeom prst="rect">
              <a:avLst/>
            </a:prstGeom>
            <a:ln w="12700" cap="flat">
              <a:noFill/>
              <a:miter lim="400000"/>
            </a:ln>
            <a:effectLst/>
          </p:spPr>
        </p:pic>
        <p:pic>
          <p:nvPicPr>
            <p:cNvPr id="591" name="final.pdf" descr="final.pdf"/>
            <p:cNvPicPr>
              <a:picLocks noChangeAspect="1"/>
            </p:cNvPicPr>
            <p:nvPr/>
          </p:nvPicPr>
          <p:blipFill>
            <a:blip r:embed="rId7">
              <a:extLst/>
            </a:blip>
            <a:stretch>
              <a:fillRect/>
            </a:stretch>
          </p:blipFill>
          <p:spPr>
            <a:xfrm>
              <a:off x="5283200" y="0"/>
              <a:ext cx="2654300" cy="1041400"/>
            </a:xfrm>
            <a:prstGeom prst="rect">
              <a:avLst/>
            </a:prstGeom>
            <a:ln w="12700" cap="flat">
              <a:noFill/>
              <a:miter lim="400000"/>
            </a:ln>
            <a:effectLst/>
          </p:spPr>
        </p:pic>
      </p:grpSp>
      <p:grpSp>
        <p:nvGrpSpPr>
          <p:cNvPr id="595" name="Group"/>
          <p:cNvGrpSpPr/>
          <p:nvPr/>
        </p:nvGrpSpPr>
        <p:grpSpPr>
          <a:xfrm>
            <a:off x="2355205" y="2772668"/>
            <a:ext cx="4413498" cy="274588"/>
            <a:chOff x="0" y="0"/>
            <a:chExt cx="8369300" cy="520700"/>
          </a:xfrm>
        </p:grpSpPr>
        <p:pic>
          <p:nvPicPr>
            <p:cNvPr id="593" name="final.pdf" descr="final.pdf"/>
            <p:cNvPicPr>
              <a:picLocks noChangeAspect="1"/>
            </p:cNvPicPr>
            <p:nvPr/>
          </p:nvPicPr>
          <p:blipFill>
            <a:blip r:embed="rId8">
              <a:extLst/>
            </a:blip>
            <a:stretch>
              <a:fillRect/>
            </a:stretch>
          </p:blipFill>
          <p:spPr>
            <a:xfrm>
              <a:off x="0" y="0"/>
              <a:ext cx="3124200" cy="520700"/>
            </a:xfrm>
            <a:prstGeom prst="rect">
              <a:avLst/>
            </a:prstGeom>
            <a:ln w="12700" cap="flat">
              <a:noFill/>
              <a:miter lim="400000"/>
            </a:ln>
            <a:effectLst/>
          </p:spPr>
        </p:pic>
        <p:pic>
          <p:nvPicPr>
            <p:cNvPr id="594" name="final.pdf" descr="final.pdf"/>
            <p:cNvPicPr>
              <a:picLocks noChangeAspect="1"/>
            </p:cNvPicPr>
            <p:nvPr/>
          </p:nvPicPr>
          <p:blipFill>
            <a:blip r:embed="rId9">
              <a:extLst/>
            </a:blip>
            <a:stretch>
              <a:fillRect/>
            </a:stretch>
          </p:blipFill>
          <p:spPr>
            <a:xfrm>
              <a:off x="5245100" y="0"/>
              <a:ext cx="3124200" cy="520700"/>
            </a:xfrm>
            <a:prstGeom prst="rect">
              <a:avLst/>
            </a:prstGeom>
            <a:ln w="12700" cap="flat">
              <a:noFill/>
              <a:miter lim="400000"/>
            </a:ln>
            <a:effectLst/>
          </p:spPr>
        </p:pic>
      </p:grpSp>
    </p:spTree>
    <p:extLst>
      <p:ext uri="{BB962C8B-B14F-4D97-AF65-F5344CB8AC3E}">
        <p14:creationId xmlns:p14="http://schemas.microsoft.com/office/powerpoint/2010/main" val="72251736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5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5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 grpId="0" animBg="1" advAuto="0"/>
      <p:bldP spid="589" grpId="0" animBg="1" advAuto="0"/>
      <p:bldP spid="592" grpId="0" animBg="1" advAuto="0"/>
      <p:bldP spid="595" grpId="0" animBg="1" advAuto="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2206075" cy="520655"/>
          </a:xfrm>
          <a:prstGeom prst="rect">
            <a:avLst/>
          </a:prstGeom>
        </p:spPr>
        <p:txBody>
          <a:bodyPr vert="horz" wrap="square" lIns="0" tIns="12700" rIns="0" bIns="0" rtlCol="0">
            <a:spAutoFit/>
          </a:bodyPr>
          <a:lstStyle/>
          <a:p>
            <a:pPr marL="12700">
              <a:lnSpc>
                <a:spcPct val="100000"/>
              </a:lnSpc>
              <a:spcBef>
                <a:spcPts val="100"/>
              </a:spcBef>
            </a:pPr>
            <a:r>
              <a:rPr spc="-5" dirty="0"/>
              <a:t>Impulse</a:t>
            </a:r>
          </a:p>
        </p:txBody>
      </p:sp>
      <p:sp>
        <p:nvSpPr>
          <p:cNvPr id="3" name="object 3"/>
          <p:cNvSpPr txBox="1"/>
          <p:nvPr/>
        </p:nvSpPr>
        <p:spPr>
          <a:xfrm>
            <a:off x="475249" y="1216355"/>
            <a:ext cx="510286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We </a:t>
            </a:r>
            <a:r>
              <a:rPr sz="1800" dirty="0">
                <a:solidFill>
                  <a:srgbClr val="595959"/>
                </a:solidFill>
                <a:latin typeface="Arial"/>
                <a:cs typeface="Arial"/>
              </a:rPr>
              <a:t>solve </a:t>
            </a:r>
            <a:r>
              <a:rPr sz="1800" spc="-5" dirty="0">
                <a:solidFill>
                  <a:srgbClr val="595959"/>
                </a:solidFill>
                <a:latin typeface="Arial"/>
                <a:cs typeface="Arial"/>
              </a:rPr>
              <a:t>the equations assuming no</a:t>
            </a:r>
            <a:r>
              <a:rPr sz="1800" spc="-55" dirty="0">
                <a:solidFill>
                  <a:srgbClr val="595959"/>
                </a:solidFill>
                <a:latin typeface="Arial"/>
                <a:cs typeface="Arial"/>
              </a:rPr>
              <a:t> </a:t>
            </a:r>
            <a:r>
              <a:rPr sz="1800" dirty="0">
                <a:solidFill>
                  <a:srgbClr val="595959"/>
                </a:solidFill>
                <a:latin typeface="Arial"/>
                <a:cs typeface="Arial"/>
              </a:rPr>
              <a:t>rotation</a:t>
            </a:r>
            <a:r>
              <a:rPr sz="1800" baseline="30092" dirty="0">
                <a:solidFill>
                  <a:srgbClr val="595959"/>
                </a:solidFill>
                <a:latin typeface="Arial"/>
                <a:cs typeface="Arial"/>
              </a:rPr>
              <a:t>1</a:t>
            </a:r>
            <a:r>
              <a:rPr sz="1800" dirty="0">
                <a:solidFill>
                  <a:srgbClr val="595959"/>
                </a:solidFill>
                <a:latin typeface="Arial"/>
                <a:cs typeface="Arial"/>
              </a:rPr>
              <a:t>:</a:t>
            </a:r>
            <a:endParaRPr sz="1800">
              <a:latin typeface="Arial"/>
              <a:cs typeface="Arial"/>
            </a:endParaRPr>
          </a:p>
        </p:txBody>
      </p:sp>
      <p:sp>
        <p:nvSpPr>
          <p:cNvPr id="4" name="object 4"/>
          <p:cNvSpPr txBox="1"/>
          <p:nvPr/>
        </p:nvSpPr>
        <p:spPr>
          <a:xfrm>
            <a:off x="475249" y="2245055"/>
            <a:ext cx="298196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 pos="379730" algn="l"/>
              </a:tabLst>
            </a:pPr>
            <a:r>
              <a:rPr sz="1800" spc="-5" dirty="0">
                <a:solidFill>
                  <a:srgbClr val="595959"/>
                </a:solidFill>
                <a:latin typeface="Arial"/>
                <a:cs typeface="Arial"/>
              </a:rPr>
              <a:t>If one body is</a:t>
            </a:r>
            <a:r>
              <a:rPr sz="1800" spc="-80" dirty="0">
                <a:solidFill>
                  <a:srgbClr val="595959"/>
                </a:solidFill>
                <a:latin typeface="Arial"/>
                <a:cs typeface="Arial"/>
              </a:rPr>
              <a:t> </a:t>
            </a:r>
            <a:r>
              <a:rPr sz="1800" spc="-5" dirty="0">
                <a:solidFill>
                  <a:srgbClr val="595959"/>
                </a:solidFill>
                <a:latin typeface="Arial"/>
                <a:cs typeface="Arial"/>
              </a:rPr>
              <a:t>immovable:</a:t>
            </a:r>
            <a:endParaRPr sz="1800">
              <a:latin typeface="Arial"/>
              <a:cs typeface="Arial"/>
            </a:endParaRPr>
          </a:p>
        </p:txBody>
      </p:sp>
      <p:sp>
        <p:nvSpPr>
          <p:cNvPr id="5" name="object 5"/>
          <p:cNvSpPr txBox="1"/>
          <p:nvPr/>
        </p:nvSpPr>
        <p:spPr>
          <a:xfrm>
            <a:off x="475249" y="3219708"/>
            <a:ext cx="6221730" cy="160020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But wait… what about</a:t>
            </a:r>
            <a:r>
              <a:rPr sz="1800" spc="-20" dirty="0">
                <a:solidFill>
                  <a:srgbClr val="595959"/>
                </a:solidFill>
                <a:latin typeface="Arial"/>
                <a:cs typeface="Arial"/>
              </a:rPr>
              <a:t> </a:t>
            </a:r>
            <a:r>
              <a:rPr sz="1800" dirty="0">
                <a:solidFill>
                  <a:srgbClr val="595959"/>
                </a:solidFill>
                <a:latin typeface="Arial"/>
                <a:cs typeface="Arial"/>
              </a:rPr>
              <a:t>rotation?</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Things get</a:t>
            </a:r>
            <a:r>
              <a:rPr sz="1400" spc="-10" dirty="0">
                <a:solidFill>
                  <a:srgbClr val="595959"/>
                </a:solidFill>
                <a:latin typeface="Arial"/>
                <a:cs typeface="Arial"/>
              </a:rPr>
              <a:t> </a:t>
            </a:r>
            <a:r>
              <a:rPr sz="1400" dirty="0">
                <a:solidFill>
                  <a:srgbClr val="595959"/>
                </a:solidFill>
                <a:latin typeface="Arial"/>
                <a:cs typeface="Arial"/>
              </a:rPr>
              <a:t>messier.</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Calculate </a:t>
            </a:r>
            <a:r>
              <a:rPr sz="1400" dirty="0">
                <a:solidFill>
                  <a:srgbClr val="595959"/>
                </a:solidFill>
                <a:latin typeface="Arial"/>
                <a:cs typeface="Arial"/>
              </a:rPr>
              <a:t>velocities </a:t>
            </a:r>
            <a:r>
              <a:rPr sz="1400" spc="-5" dirty="0">
                <a:solidFill>
                  <a:srgbClr val="595959"/>
                </a:solidFill>
                <a:latin typeface="Arial"/>
                <a:cs typeface="Arial"/>
              </a:rPr>
              <a:t>of points of </a:t>
            </a:r>
            <a:r>
              <a:rPr sz="1400" dirty="0">
                <a:solidFill>
                  <a:srgbClr val="595959"/>
                </a:solidFill>
                <a:latin typeface="Arial"/>
                <a:cs typeface="Arial"/>
              </a:rPr>
              <a:t>contact, rather </a:t>
            </a:r>
            <a:r>
              <a:rPr sz="1400" spc="-5" dirty="0">
                <a:solidFill>
                  <a:srgbClr val="595959"/>
                </a:solidFill>
                <a:latin typeface="Arial"/>
                <a:cs typeface="Arial"/>
              </a:rPr>
              <a:t>than </a:t>
            </a:r>
            <a:r>
              <a:rPr sz="1400" dirty="0">
                <a:solidFill>
                  <a:srgbClr val="595959"/>
                </a:solidFill>
                <a:latin typeface="Arial"/>
                <a:cs typeface="Arial"/>
              </a:rPr>
              <a:t>centers </a:t>
            </a:r>
            <a:r>
              <a:rPr sz="1400" spc="-5" dirty="0">
                <a:solidFill>
                  <a:srgbClr val="595959"/>
                </a:solidFill>
                <a:latin typeface="Arial"/>
                <a:cs typeface="Arial"/>
              </a:rPr>
              <a:t>of</a:t>
            </a:r>
            <a:r>
              <a:rPr sz="1400" spc="-95" dirty="0">
                <a:solidFill>
                  <a:srgbClr val="595959"/>
                </a:solidFill>
                <a:latin typeface="Arial"/>
                <a:cs typeface="Arial"/>
              </a:rPr>
              <a:t> </a:t>
            </a:r>
            <a:r>
              <a:rPr sz="1400" dirty="0">
                <a:solidFill>
                  <a:srgbClr val="595959"/>
                </a:solidFill>
                <a:latin typeface="Arial"/>
                <a:cs typeface="Arial"/>
              </a:rPr>
              <a:t>mass.</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Calculate </a:t>
            </a:r>
            <a:r>
              <a:rPr sz="1400" dirty="0">
                <a:solidFill>
                  <a:srgbClr val="595959"/>
                </a:solidFill>
                <a:latin typeface="Arial"/>
                <a:cs typeface="Arial"/>
              </a:rPr>
              <a:t>rotational</a:t>
            </a:r>
            <a:r>
              <a:rPr sz="1400" spc="-10" dirty="0">
                <a:solidFill>
                  <a:srgbClr val="595959"/>
                </a:solidFill>
                <a:latin typeface="Arial"/>
                <a:cs typeface="Arial"/>
              </a:rPr>
              <a:t> </a:t>
            </a:r>
            <a:r>
              <a:rPr sz="1400" spc="-5" dirty="0">
                <a:solidFill>
                  <a:srgbClr val="595959"/>
                </a:solidFill>
                <a:latin typeface="Arial"/>
                <a:cs typeface="Arial"/>
              </a:rPr>
              <a:t>impulse.</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Beyond the </a:t>
            </a:r>
            <a:r>
              <a:rPr sz="1400" dirty="0">
                <a:solidFill>
                  <a:srgbClr val="595959"/>
                </a:solidFill>
                <a:latin typeface="Arial"/>
                <a:cs typeface="Arial"/>
              </a:rPr>
              <a:t>scope </a:t>
            </a:r>
            <a:r>
              <a:rPr sz="1400" spc="-5" dirty="0">
                <a:solidFill>
                  <a:srgbClr val="595959"/>
                </a:solidFill>
                <a:latin typeface="Arial"/>
                <a:cs typeface="Arial"/>
              </a:rPr>
              <a:t>of this</a:t>
            </a:r>
            <a:r>
              <a:rPr sz="1400" spc="-20" dirty="0">
                <a:solidFill>
                  <a:srgbClr val="595959"/>
                </a:solidFill>
                <a:latin typeface="Arial"/>
                <a:cs typeface="Arial"/>
              </a:rPr>
              <a:t> </a:t>
            </a:r>
            <a:r>
              <a:rPr sz="1400" spc="-5" dirty="0">
                <a:solidFill>
                  <a:srgbClr val="595959"/>
                </a:solidFill>
                <a:latin typeface="Arial"/>
                <a:cs typeface="Arial"/>
              </a:rPr>
              <a:t>lecture.</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Links to </a:t>
            </a:r>
            <a:r>
              <a:rPr sz="1400" dirty="0">
                <a:solidFill>
                  <a:srgbClr val="595959"/>
                </a:solidFill>
                <a:latin typeface="Arial"/>
                <a:cs typeface="Arial"/>
              </a:rPr>
              <a:t>resources </a:t>
            </a:r>
            <a:r>
              <a:rPr sz="1400" spc="-5" dirty="0">
                <a:solidFill>
                  <a:srgbClr val="595959"/>
                </a:solidFill>
                <a:latin typeface="Arial"/>
                <a:cs typeface="Arial"/>
              </a:rPr>
              <a:t>at the end of these</a:t>
            </a:r>
            <a:r>
              <a:rPr sz="1400" spc="-25" dirty="0">
                <a:solidFill>
                  <a:srgbClr val="595959"/>
                </a:solidFill>
                <a:latin typeface="Arial"/>
                <a:cs typeface="Arial"/>
              </a:rPr>
              <a:t> </a:t>
            </a:r>
            <a:r>
              <a:rPr sz="1400" dirty="0">
                <a:solidFill>
                  <a:srgbClr val="595959"/>
                </a:solidFill>
                <a:latin typeface="Arial"/>
                <a:cs typeface="Arial"/>
              </a:rPr>
              <a:t>slides.</a:t>
            </a:r>
            <a:endParaRPr sz="1400">
              <a:latin typeface="Arial"/>
              <a:cs typeface="Arial"/>
            </a:endParaRPr>
          </a:p>
        </p:txBody>
      </p:sp>
      <p:sp>
        <p:nvSpPr>
          <p:cNvPr id="6" name="object 6"/>
          <p:cNvSpPr/>
          <p:nvPr/>
        </p:nvSpPr>
        <p:spPr>
          <a:xfrm>
            <a:off x="2905125" y="1718937"/>
            <a:ext cx="3333749" cy="600074"/>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3371850" y="2854037"/>
            <a:ext cx="2400299" cy="238124"/>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967355" cy="452120"/>
          </a:xfrm>
          <a:prstGeom prst="rect">
            <a:avLst/>
          </a:prstGeom>
        </p:spPr>
        <p:txBody>
          <a:bodyPr vert="horz" wrap="square" lIns="0" tIns="12700" rIns="0" bIns="0" rtlCol="0">
            <a:spAutoFit/>
          </a:bodyPr>
          <a:lstStyle/>
          <a:p>
            <a:pPr marL="12700">
              <a:lnSpc>
                <a:spcPct val="100000"/>
              </a:lnSpc>
              <a:spcBef>
                <a:spcPts val="100"/>
              </a:spcBef>
            </a:pPr>
            <a:r>
              <a:rPr spc="-10" dirty="0"/>
              <a:t>Also </a:t>
            </a:r>
            <a:r>
              <a:rPr spc="-5" dirty="0"/>
              <a:t>not</a:t>
            </a:r>
            <a:r>
              <a:rPr spc="-85" dirty="0"/>
              <a:t> </a:t>
            </a:r>
            <a:r>
              <a:rPr dirty="0"/>
              <a:t>covered...</a:t>
            </a:r>
          </a:p>
        </p:txBody>
      </p:sp>
      <p:sp>
        <p:nvSpPr>
          <p:cNvPr id="3" name="object 3"/>
          <p:cNvSpPr txBox="1"/>
          <p:nvPr/>
        </p:nvSpPr>
        <p:spPr>
          <a:xfrm>
            <a:off x="475249" y="1162308"/>
            <a:ext cx="2278380" cy="1914525"/>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Concepts</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Penalty</a:t>
            </a:r>
            <a:r>
              <a:rPr sz="1400" spc="-20" dirty="0">
                <a:solidFill>
                  <a:srgbClr val="595959"/>
                </a:solidFill>
                <a:latin typeface="Arial"/>
                <a:cs typeface="Arial"/>
              </a:rPr>
              <a:t> </a:t>
            </a:r>
            <a:r>
              <a:rPr sz="1400" spc="-5" dirty="0">
                <a:solidFill>
                  <a:srgbClr val="595959"/>
                </a:solidFill>
                <a:latin typeface="Arial"/>
                <a:cs typeface="Arial"/>
              </a:rPr>
              <a:t>forces</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Friction</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Constraints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Optimization</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Rest and</a:t>
            </a:r>
            <a:r>
              <a:rPr sz="1400" spc="-80" dirty="0">
                <a:solidFill>
                  <a:srgbClr val="595959"/>
                </a:solidFill>
                <a:latin typeface="Arial"/>
                <a:cs typeface="Arial"/>
              </a:rPr>
              <a:t> </a:t>
            </a:r>
            <a:r>
              <a:rPr sz="1400" dirty="0">
                <a:solidFill>
                  <a:srgbClr val="595959"/>
                </a:solidFill>
                <a:latin typeface="Arial"/>
                <a:cs typeface="Arial"/>
              </a:rPr>
              <a:t>sleeping</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Simulation</a:t>
            </a:r>
            <a:r>
              <a:rPr sz="1400" spc="-75" dirty="0">
                <a:solidFill>
                  <a:srgbClr val="595959"/>
                </a:solidFill>
                <a:latin typeface="Arial"/>
                <a:cs typeface="Arial"/>
              </a:rPr>
              <a:t> </a:t>
            </a:r>
            <a:r>
              <a:rPr sz="1400" spc="-5" dirty="0">
                <a:solidFill>
                  <a:srgbClr val="595959"/>
                </a:solidFill>
                <a:latin typeface="Arial"/>
                <a:cs typeface="Arial"/>
              </a:rPr>
              <a:t>islands</a:t>
            </a:r>
            <a:endParaRPr sz="1400">
              <a:latin typeface="Arial"/>
              <a:cs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5407025" cy="452120"/>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Architecture</a:t>
            </a:r>
          </a:p>
        </p:txBody>
      </p:sp>
      <p:sp>
        <p:nvSpPr>
          <p:cNvPr id="3" name="object 3"/>
          <p:cNvSpPr/>
          <p:nvPr/>
        </p:nvSpPr>
        <p:spPr>
          <a:xfrm>
            <a:off x="1508374" y="1911250"/>
            <a:ext cx="1396365" cy="712470"/>
          </a:xfrm>
          <a:custGeom>
            <a:avLst/>
            <a:gdLst/>
            <a:ahLst/>
            <a:cxnLst/>
            <a:rect l="l" t="t" r="r" b="b"/>
            <a:pathLst>
              <a:path w="1396364" h="712469">
                <a:moveTo>
                  <a:pt x="1277247" y="711899"/>
                </a:moveTo>
                <a:lnTo>
                  <a:pt x="118652" y="711899"/>
                </a:lnTo>
                <a:lnTo>
                  <a:pt x="72467" y="702575"/>
                </a:lnTo>
                <a:lnTo>
                  <a:pt x="34752" y="677147"/>
                </a:lnTo>
                <a:lnTo>
                  <a:pt x="9324" y="639432"/>
                </a:lnTo>
                <a:lnTo>
                  <a:pt x="0" y="593247"/>
                </a:lnTo>
                <a:lnTo>
                  <a:pt x="0" y="118652"/>
                </a:lnTo>
                <a:lnTo>
                  <a:pt x="9324" y="72467"/>
                </a:lnTo>
                <a:lnTo>
                  <a:pt x="34752" y="34752"/>
                </a:lnTo>
                <a:lnTo>
                  <a:pt x="72467" y="9324"/>
                </a:lnTo>
                <a:lnTo>
                  <a:pt x="118652" y="0"/>
                </a:lnTo>
                <a:lnTo>
                  <a:pt x="1277247" y="0"/>
                </a:lnTo>
                <a:lnTo>
                  <a:pt x="1322653" y="9031"/>
                </a:lnTo>
                <a:lnTo>
                  <a:pt x="1361147" y="34752"/>
                </a:lnTo>
                <a:lnTo>
                  <a:pt x="1386868" y="73246"/>
                </a:lnTo>
                <a:lnTo>
                  <a:pt x="1395899" y="118652"/>
                </a:lnTo>
                <a:lnTo>
                  <a:pt x="1395899" y="593247"/>
                </a:lnTo>
                <a:lnTo>
                  <a:pt x="1386575" y="639432"/>
                </a:lnTo>
                <a:lnTo>
                  <a:pt x="1361147" y="677147"/>
                </a:lnTo>
                <a:lnTo>
                  <a:pt x="1323432" y="702575"/>
                </a:lnTo>
                <a:lnTo>
                  <a:pt x="1277247" y="711899"/>
                </a:lnTo>
                <a:close/>
              </a:path>
            </a:pathLst>
          </a:custGeom>
          <a:solidFill>
            <a:srgbClr val="EEEEEE"/>
          </a:solidFill>
        </p:spPr>
        <p:txBody>
          <a:bodyPr wrap="square" lIns="0" tIns="0" rIns="0" bIns="0" rtlCol="0"/>
          <a:lstStyle/>
          <a:p>
            <a:endParaRPr/>
          </a:p>
        </p:txBody>
      </p:sp>
      <p:sp>
        <p:nvSpPr>
          <p:cNvPr id="4" name="object 4"/>
          <p:cNvSpPr/>
          <p:nvPr/>
        </p:nvSpPr>
        <p:spPr>
          <a:xfrm>
            <a:off x="1508374" y="1911250"/>
            <a:ext cx="1396365" cy="712470"/>
          </a:xfrm>
          <a:custGeom>
            <a:avLst/>
            <a:gdLst/>
            <a:ahLst/>
            <a:cxnLst/>
            <a:rect l="l" t="t" r="r" b="b"/>
            <a:pathLst>
              <a:path w="1396364" h="712469">
                <a:moveTo>
                  <a:pt x="0" y="118652"/>
                </a:moveTo>
                <a:lnTo>
                  <a:pt x="9324" y="72467"/>
                </a:lnTo>
                <a:lnTo>
                  <a:pt x="34752" y="34752"/>
                </a:lnTo>
                <a:lnTo>
                  <a:pt x="72467" y="9324"/>
                </a:lnTo>
                <a:lnTo>
                  <a:pt x="118652" y="0"/>
                </a:lnTo>
                <a:lnTo>
                  <a:pt x="1277247" y="0"/>
                </a:lnTo>
                <a:lnTo>
                  <a:pt x="1322653" y="9031"/>
                </a:lnTo>
                <a:lnTo>
                  <a:pt x="1361147" y="34752"/>
                </a:lnTo>
                <a:lnTo>
                  <a:pt x="1386868" y="73246"/>
                </a:lnTo>
                <a:lnTo>
                  <a:pt x="1395899" y="118652"/>
                </a:lnTo>
                <a:lnTo>
                  <a:pt x="1395899" y="593247"/>
                </a:lnTo>
                <a:lnTo>
                  <a:pt x="1386575" y="639432"/>
                </a:lnTo>
                <a:lnTo>
                  <a:pt x="1361147" y="677147"/>
                </a:lnTo>
                <a:lnTo>
                  <a:pt x="1323432" y="702575"/>
                </a:lnTo>
                <a:lnTo>
                  <a:pt x="1277247" y="711899"/>
                </a:lnTo>
                <a:lnTo>
                  <a:pt x="118652" y="711899"/>
                </a:lnTo>
                <a:lnTo>
                  <a:pt x="72467" y="702575"/>
                </a:lnTo>
                <a:lnTo>
                  <a:pt x="34752" y="677147"/>
                </a:lnTo>
                <a:lnTo>
                  <a:pt x="9324" y="639432"/>
                </a:lnTo>
                <a:lnTo>
                  <a:pt x="0" y="593247"/>
                </a:lnTo>
                <a:lnTo>
                  <a:pt x="0" y="11865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714579" y="2037838"/>
            <a:ext cx="982344" cy="448309"/>
          </a:xfrm>
          <a:prstGeom prst="rect">
            <a:avLst/>
          </a:prstGeom>
        </p:spPr>
        <p:txBody>
          <a:bodyPr vert="horz" wrap="square" lIns="0" tIns="22860" rIns="0" bIns="0" rtlCol="0">
            <a:spAutoFit/>
          </a:bodyPr>
          <a:lstStyle/>
          <a:p>
            <a:pPr marL="100965" marR="5080" indent="-88900">
              <a:lnSpc>
                <a:spcPts val="1650"/>
              </a:lnSpc>
              <a:spcBef>
                <a:spcPts val="180"/>
              </a:spcBef>
            </a:pPr>
            <a:r>
              <a:rPr sz="1400" spc="-5" dirty="0">
                <a:latin typeface="Arial"/>
                <a:cs typeface="Arial"/>
              </a:rPr>
              <a:t>Rigid Body</a:t>
            </a:r>
            <a:r>
              <a:rPr sz="1400" spc="-90" dirty="0">
                <a:latin typeface="Arial"/>
                <a:cs typeface="Arial"/>
              </a:rPr>
              <a:t> </a:t>
            </a:r>
            <a:r>
              <a:rPr sz="1400" dirty="0">
                <a:latin typeface="Arial"/>
                <a:cs typeface="Arial"/>
              </a:rPr>
              <a:t>/  </a:t>
            </a:r>
            <a:r>
              <a:rPr sz="1400" spc="-5" dirty="0">
                <a:latin typeface="Arial"/>
                <a:cs typeface="Arial"/>
              </a:rPr>
              <a:t>Collidable</a:t>
            </a:r>
            <a:endParaRPr sz="1400">
              <a:latin typeface="Arial"/>
              <a:cs typeface="Arial"/>
            </a:endParaRPr>
          </a:p>
        </p:txBody>
      </p:sp>
      <p:sp>
        <p:nvSpPr>
          <p:cNvPr id="6" name="object 6"/>
          <p:cNvSpPr/>
          <p:nvPr/>
        </p:nvSpPr>
        <p:spPr>
          <a:xfrm>
            <a:off x="3874049" y="1911250"/>
            <a:ext cx="1396365" cy="712470"/>
          </a:xfrm>
          <a:custGeom>
            <a:avLst/>
            <a:gdLst/>
            <a:ahLst/>
            <a:cxnLst/>
            <a:rect l="l" t="t" r="r" b="b"/>
            <a:pathLst>
              <a:path w="1396364" h="712469">
                <a:moveTo>
                  <a:pt x="1277247" y="711899"/>
                </a:moveTo>
                <a:lnTo>
                  <a:pt x="118652" y="711899"/>
                </a:lnTo>
                <a:lnTo>
                  <a:pt x="72467" y="702575"/>
                </a:lnTo>
                <a:lnTo>
                  <a:pt x="34752" y="677147"/>
                </a:lnTo>
                <a:lnTo>
                  <a:pt x="9324" y="639432"/>
                </a:lnTo>
                <a:lnTo>
                  <a:pt x="0" y="593247"/>
                </a:lnTo>
                <a:lnTo>
                  <a:pt x="0" y="118652"/>
                </a:lnTo>
                <a:lnTo>
                  <a:pt x="9324" y="72467"/>
                </a:lnTo>
                <a:lnTo>
                  <a:pt x="34752" y="34752"/>
                </a:lnTo>
                <a:lnTo>
                  <a:pt x="72467" y="9324"/>
                </a:lnTo>
                <a:lnTo>
                  <a:pt x="118652" y="0"/>
                </a:lnTo>
                <a:lnTo>
                  <a:pt x="1277247" y="0"/>
                </a:lnTo>
                <a:lnTo>
                  <a:pt x="1322653" y="9031"/>
                </a:lnTo>
                <a:lnTo>
                  <a:pt x="1361147" y="34752"/>
                </a:lnTo>
                <a:lnTo>
                  <a:pt x="1386868" y="73246"/>
                </a:lnTo>
                <a:lnTo>
                  <a:pt x="1395899" y="118652"/>
                </a:lnTo>
                <a:lnTo>
                  <a:pt x="1395899" y="593247"/>
                </a:lnTo>
                <a:lnTo>
                  <a:pt x="1386575" y="639432"/>
                </a:lnTo>
                <a:lnTo>
                  <a:pt x="1361147" y="677147"/>
                </a:lnTo>
                <a:lnTo>
                  <a:pt x="1323432" y="702575"/>
                </a:lnTo>
                <a:lnTo>
                  <a:pt x="1277247" y="711899"/>
                </a:lnTo>
                <a:close/>
              </a:path>
            </a:pathLst>
          </a:custGeom>
          <a:solidFill>
            <a:srgbClr val="EEEEEE"/>
          </a:solidFill>
        </p:spPr>
        <p:txBody>
          <a:bodyPr wrap="square" lIns="0" tIns="0" rIns="0" bIns="0" rtlCol="0"/>
          <a:lstStyle/>
          <a:p>
            <a:endParaRPr/>
          </a:p>
        </p:txBody>
      </p:sp>
      <p:sp>
        <p:nvSpPr>
          <p:cNvPr id="7" name="object 7"/>
          <p:cNvSpPr/>
          <p:nvPr/>
        </p:nvSpPr>
        <p:spPr>
          <a:xfrm>
            <a:off x="3874049" y="1911250"/>
            <a:ext cx="1396365" cy="712470"/>
          </a:xfrm>
          <a:custGeom>
            <a:avLst/>
            <a:gdLst/>
            <a:ahLst/>
            <a:cxnLst/>
            <a:rect l="l" t="t" r="r" b="b"/>
            <a:pathLst>
              <a:path w="1396364" h="712469">
                <a:moveTo>
                  <a:pt x="0" y="118652"/>
                </a:moveTo>
                <a:lnTo>
                  <a:pt x="9324" y="72467"/>
                </a:lnTo>
                <a:lnTo>
                  <a:pt x="34752" y="34752"/>
                </a:lnTo>
                <a:lnTo>
                  <a:pt x="72467" y="9324"/>
                </a:lnTo>
                <a:lnTo>
                  <a:pt x="118652" y="0"/>
                </a:lnTo>
                <a:lnTo>
                  <a:pt x="1277247" y="0"/>
                </a:lnTo>
                <a:lnTo>
                  <a:pt x="1322653" y="9031"/>
                </a:lnTo>
                <a:lnTo>
                  <a:pt x="1361147" y="34752"/>
                </a:lnTo>
                <a:lnTo>
                  <a:pt x="1386868" y="73246"/>
                </a:lnTo>
                <a:lnTo>
                  <a:pt x="1395899" y="118652"/>
                </a:lnTo>
                <a:lnTo>
                  <a:pt x="1395899" y="593247"/>
                </a:lnTo>
                <a:lnTo>
                  <a:pt x="1386575" y="639432"/>
                </a:lnTo>
                <a:lnTo>
                  <a:pt x="1361147" y="677147"/>
                </a:lnTo>
                <a:lnTo>
                  <a:pt x="1323432" y="702575"/>
                </a:lnTo>
                <a:lnTo>
                  <a:pt x="1277247" y="711899"/>
                </a:lnTo>
                <a:lnTo>
                  <a:pt x="118652" y="711899"/>
                </a:lnTo>
                <a:lnTo>
                  <a:pt x="72467" y="702575"/>
                </a:lnTo>
                <a:lnTo>
                  <a:pt x="34752" y="677147"/>
                </a:lnTo>
                <a:lnTo>
                  <a:pt x="9324" y="639432"/>
                </a:lnTo>
                <a:lnTo>
                  <a:pt x="0" y="593247"/>
                </a:lnTo>
                <a:lnTo>
                  <a:pt x="0" y="11865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4035872" y="2142613"/>
            <a:ext cx="107124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Game</a:t>
            </a:r>
            <a:r>
              <a:rPr sz="1400" spc="-75" dirty="0">
                <a:latin typeface="Arial"/>
                <a:cs typeface="Arial"/>
              </a:rPr>
              <a:t> </a:t>
            </a:r>
            <a:r>
              <a:rPr sz="1400" spc="-5" dirty="0">
                <a:latin typeface="Arial"/>
                <a:cs typeface="Arial"/>
              </a:rPr>
              <a:t>Object</a:t>
            </a:r>
            <a:endParaRPr sz="1400">
              <a:latin typeface="Arial"/>
              <a:cs typeface="Arial"/>
            </a:endParaRPr>
          </a:p>
        </p:txBody>
      </p:sp>
      <p:sp>
        <p:nvSpPr>
          <p:cNvPr id="9" name="object 9"/>
          <p:cNvSpPr/>
          <p:nvPr/>
        </p:nvSpPr>
        <p:spPr>
          <a:xfrm>
            <a:off x="6239724" y="1911250"/>
            <a:ext cx="1396365" cy="712470"/>
          </a:xfrm>
          <a:custGeom>
            <a:avLst/>
            <a:gdLst/>
            <a:ahLst/>
            <a:cxnLst/>
            <a:rect l="l" t="t" r="r" b="b"/>
            <a:pathLst>
              <a:path w="1396365" h="712469">
                <a:moveTo>
                  <a:pt x="1277247" y="711899"/>
                </a:moveTo>
                <a:lnTo>
                  <a:pt x="118652" y="711899"/>
                </a:lnTo>
                <a:lnTo>
                  <a:pt x="72467" y="702575"/>
                </a:lnTo>
                <a:lnTo>
                  <a:pt x="34752" y="677147"/>
                </a:lnTo>
                <a:lnTo>
                  <a:pt x="9324" y="639432"/>
                </a:lnTo>
                <a:lnTo>
                  <a:pt x="0" y="593247"/>
                </a:lnTo>
                <a:lnTo>
                  <a:pt x="0" y="118652"/>
                </a:lnTo>
                <a:lnTo>
                  <a:pt x="9324" y="72467"/>
                </a:lnTo>
                <a:lnTo>
                  <a:pt x="34752" y="34752"/>
                </a:lnTo>
                <a:lnTo>
                  <a:pt x="72467" y="9324"/>
                </a:lnTo>
                <a:lnTo>
                  <a:pt x="118652" y="0"/>
                </a:lnTo>
                <a:lnTo>
                  <a:pt x="1277247" y="0"/>
                </a:lnTo>
                <a:lnTo>
                  <a:pt x="1322654" y="9031"/>
                </a:lnTo>
                <a:lnTo>
                  <a:pt x="1361147" y="34752"/>
                </a:lnTo>
                <a:lnTo>
                  <a:pt x="1386868" y="73246"/>
                </a:lnTo>
                <a:lnTo>
                  <a:pt x="1395899" y="118652"/>
                </a:lnTo>
                <a:lnTo>
                  <a:pt x="1395899" y="593247"/>
                </a:lnTo>
                <a:lnTo>
                  <a:pt x="1386575" y="639432"/>
                </a:lnTo>
                <a:lnTo>
                  <a:pt x="1361147" y="677147"/>
                </a:lnTo>
                <a:lnTo>
                  <a:pt x="1323432" y="702575"/>
                </a:lnTo>
                <a:lnTo>
                  <a:pt x="1277247" y="711899"/>
                </a:lnTo>
                <a:close/>
              </a:path>
            </a:pathLst>
          </a:custGeom>
          <a:solidFill>
            <a:srgbClr val="EEEEEE"/>
          </a:solidFill>
        </p:spPr>
        <p:txBody>
          <a:bodyPr wrap="square" lIns="0" tIns="0" rIns="0" bIns="0" rtlCol="0"/>
          <a:lstStyle/>
          <a:p>
            <a:endParaRPr/>
          </a:p>
        </p:txBody>
      </p:sp>
      <p:sp>
        <p:nvSpPr>
          <p:cNvPr id="10" name="object 10"/>
          <p:cNvSpPr/>
          <p:nvPr/>
        </p:nvSpPr>
        <p:spPr>
          <a:xfrm>
            <a:off x="6239724" y="1911250"/>
            <a:ext cx="1396365" cy="712470"/>
          </a:xfrm>
          <a:custGeom>
            <a:avLst/>
            <a:gdLst/>
            <a:ahLst/>
            <a:cxnLst/>
            <a:rect l="l" t="t" r="r" b="b"/>
            <a:pathLst>
              <a:path w="1396365" h="712469">
                <a:moveTo>
                  <a:pt x="0" y="118652"/>
                </a:moveTo>
                <a:lnTo>
                  <a:pt x="9324" y="72467"/>
                </a:lnTo>
                <a:lnTo>
                  <a:pt x="34752" y="34752"/>
                </a:lnTo>
                <a:lnTo>
                  <a:pt x="72467" y="9324"/>
                </a:lnTo>
                <a:lnTo>
                  <a:pt x="118652" y="0"/>
                </a:lnTo>
                <a:lnTo>
                  <a:pt x="1277247" y="0"/>
                </a:lnTo>
                <a:lnTo>
                  <a:pt x="1322654" y="9031"/>
                </a:lnTo>
                <a:lnTo>
                  <a:pt x="1361147" y="34752"/>
                </a:lnTo>
                <a:lnTo>
                  <a:pt x="1386868" y="73246"/>
                </a:lnTo>
                <a:lnTo>
                  <a:pt x="1395899" y="118652"/>
                </a:lnTo>
                <a:lnTo>
                  <a:pt x="1395899" y="593247"/>
                </a:lnTo>
                <a:lnTo>
                  <a:pt x="1386575" y="639432"/>
                </a:lnTo>
                <a:lnTo>
                  <a:pt x="1361147" y="677147"/>
                </a:lnTo>
                <a:lnTo>
                  <a:pt x="1323432" y="702575"/>
                </a:lnTo>
                <a:lnTo>
                  <a:pt x="1277247" y="711899"/>
                </a:lnTo>
                <a:lnTo>
                  <a:pt x="118652" y="711899"/>
                </a:lnTo>
                <a:lnTo>
                  <a:pt x="72467" y="702575"/>
                </a:lnTo>
                <a:lnTo>
                  <a:pt x="34752" y="677147"/>
                </a:lnTo>
                <a:lnTo>
                  <a:pt x="9324" y="639432"/>
                </a:lnTo>
                <a:lnTo>
                  <a:pt x="0" y="593247"/>
                </a:lnTo>
                <a:lnTo>
                  <a:pt x="0" y="11865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6589096" y="2037838"/>
            <a:ext cx="696595" cy="448309"/>
          </a:xfrm>
          <a:prstGeom prst="rect">
            <a:avLst/>
          </a:prstGeom>
        </p:spPr>
        <p:txBody>
          <a:bodyPr vert="horz" wrap="square" lIns="0" tIns="22860" rIns="0" bIns="0" rtlCol="0">
            <a:spAutoFit/>
          </a:bodyPr>
          <a:lstStyle/>
          <a:p>
            <a:pPr marL="12700" marR="5080" indent="118110">
              <a:lnSpc>
                <a:spcPts val="1650"/>
              </a:lnSpc>
              <a:spcBef>
                <a:spcPts val="180"/>
              </a:spcBef>
            </a:pPr>
            <a:r>
              <a:rPr sz="1400" dirty="0">
                <a:latin typeface="Arial"/>
                <a:cs typeface="Arial"/>
              </a:rPr>
              <a:t>Mesh  </a:t>
            </a:r>
            <a:r>
              <a:rPr sz="1400" spc="-5" dirty="0">
                <a:latin typeface="Arial"/>
                <a:cs typeface="Arial"/>
              </a:rPr>
              <a:t>Instance</a:t>
            </a:r>
            <a:endParaRPr sz="1400">
              <a:latin typeface="Arial"/>
              <a:cs typeface="Arial"/>
            </a:endParaRPr>
          </a:p>
        </p:txBody>
      </p:sp>
      <p:sp>
        <p:nvSpPr>
          <p:cNvPr id="12" name="object 12"/>
          <p:cNvSpPr/>
          <p:nvPr/>
        </p:nvSpPr>
        <p:spPr>
          <a:xfrm>
            <a:off x="6239724" y="3403400"/>
            <a:ext cx="1396365" cy="712470"/>
          </a:xfrm>
          <a:custGeom>
            <a:avLst/>
            <a:gdLst/>
            <a:ahLst/>
            <a:cxnLst/>
            <a:rect l="l" t="t" r="r" b="b"/>
            <a:pathLst>
              <a:path w="1396365" h="712470">
                <a:moveTo>
                  <a:pt x="1277247" y="711899"/>
                </a:moveTo>
                <a:lnTo>
                  <a:pt x="118652" y="711899"/>
                </a:lnTo>
                <a:lnTo>
                  <a:pt x="72467" y="702575"/>
                </a:lnTo>
                <a:lnTo>
                  <a:pt x="34752" y="677147"/>
                </a:lnTo>
                <a:lnTo>
                  <a:pt x="9324" y="639432"/>
                </a:lnTo>
                <a:lnTo>
                  <a:pt x="0" y="593247"/>
                </a:lnTo>
                <a:lnTo>
                  <a:pt x="0" y="118652"/>
                </a:lnTo>
                <a:lnTo>
                  <a:pt x="9324" y="72467"/>
                </a:lnTo>
                <a:lnTo>
                  <a:pt x="34752" y="34752"/>
                </a:lnTo>
                <a:lnTo>
                  <a:pt x="72467" y="9324"/>
                </a:lnTo>
                <a:lnTo>
                  <a:pt x="118652" y="0"/>
                </a:lnTo>
                <a:lnTo>
                  <a:pt x="1277247" y="0"/>
                </a:lnTo>
                <a:lnTo>
                  <a:pt x="1322654" y="9031"/>
                </a:lnTo>
                <a:lnTo>
                  <a:pt x="1361147" y="34752"/>
                </a:lnTo>
                <a:lnTo>
                  <a:pt x="1386868" y="73246"/>
                </a:lnTo>
                <a:lnTo>
                  <a:pt x="1395899" y="118652"/>
                </a:lnTo>
                <a:lnTo>
                  <a:pt x="1395899" y="593247"/>
                </a:lnTo>
                <a:lnTo>
                  <a:pt x="1386575" y="639432"/>
                </a:lnTo>
                <a:lnTo>
                  <a:pt x="1361147" y="677147"/>
                </a:lnTo>
                <a:lnTo>
                  <a:pt x="1323432" y="702575"/>
                </a:lnTo>
                <a:lnTo>
                  <a:pt x="1277247" y="711899"/>
                </a:lnTo>
                <a:close/>
              </a:path>
            </a:pathLst>
          </a:custGeom>
          <a:solidFill>
            <a:srgbClr val="6C9EEB"/>
          </a:solidFill>
        </p:spPr>
        <p:txBody>
          <a:bodyPr wrap="square" lIns="0" tIns="0" rIns="0" bIns="0" rtlCol="0"/>
          <a:lstStyle/>
          <a:p>
            <a:endParaRPr/>
          </a:p>
        </p:txBody>
      </p:sp>
      <p:sp>
        <p:nvSpPr>
          <p:cNvPr id="13" name="object 13"/>
          <p:cNvSpPr/>
          <p:nvPr/>
        </p:nvSpPr>
        <p:spPr>
          <a:xfrm>
            <a:off x="6239724" y="3403400"/>
            <a:ext cx="1396365" cy="712470"/>
          </a:xfrm>
          <a:custGeom>
            <a:avLst/>
            <a:gdLst/>
            <a:ahLst/>
            <a:cxnLst/>
            <a:rect l="l" t="t" r="r" b="b"/>
            <a:pathLst>
              <a:path w="1396365" h="712470">
                <a:moveTo>
                  <a:pt x="0" y="118652"/>
                </a:moveTo>
                <a:lnTo>
                  <a:pt x="9324" y="72467"/>
                </a:lnTo>
                <a:lnTo>
                  <a:pt x="34752" y="34752"/>
                </a:lnTo>
                <a:lnTo>
                  <a:pt x="72467" y="9324"/>
                </a:lnTo>
                <a:lnTo>
                  <a:pt x="118652" y="0"/>
                </a:lnTo>
                <a:lnTo>
                  <a:pt x="1277247" y="0"/>
                </a:lnTo>
                <a:lnTo>
                  <a:pt x="1322654" y="9031"/>
                </a:lnTo>
                <a:lnTo>
                  <a:pt x="1361147" y="34752"/>
                </a:lnTo>
                <a:lnTo>
                  <a:pt x="1386868" y="73246"/>
                </a:lnTo>
                <a:lnTo>
                  <a:pt x="1395899" y="118652"/>
                </a:lnTo>
                <a:lnTo>
                  <a:pt x="1395899" y="593247"/>
                </a:lnTo>
                <a:lnTo>
                  <a:pt x="1386575" y="639432"/>
                </a:lnTo>
                <a:lnTo>
                  <a:pt x="1361147" y="677147"/>
                </a:lnTo>
                <a:lnTo>
                  <a:pt x="1323432" y="702575"/>
                </a:lnTo>
                <a:lnTo>
                  <a:pt x="1277247" y="711899"/>
                </a:lnTo>
                <a:lnTo>
                  <a:pt x="118652" y="711899"/>
                </a:lnTo>
                <a:lnTo>
                  <a:pt x="72467" y="702575"/>
                </a:lnTo>
                <a:lnTo>
                  <a:pt x="34752" y="677147"/>
                </a:lnTo>
                <a:lnTo>
                  <a:pt x="9324" y="639432"/>
                </a:lnTo>
                <a:lnTo>
                  <a:pt x="0" y="593247"/>
                </a:lnTo>
                <a:lnTo>
                  <a:pt x="0" y="11865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6514996" y="3529988"/>
            <a:ext cx="845819" cy="448309"/>
          </a:xfrm>
          <a:prstGeom prst="rect">
            <a:avLst/>
          </a:prstGeom>
        </p:spPr>
        <p:txBody>
          <a:bodyPr vert="horz" wrap="square" lIns="0" tIns="22860" rIns="0" bIns="0" rtlCol="0">
            <a:spAutoFit/>
          </a:bodyPr>
          <a:lstStyle/>
          <a:p>
            <a:pPr marL="145415" marR="5080" indent="-133350">
              <a:lnSpc>
                <a:spcPts val="1650"/>
              </a:lnSpc>
              <a:spcBef>
                <a:spcPts val="180"/>
              </a:spcBef>
            </a:pPr>
            <a:r>
              <a:rPr sz="1400" spc="-5" dirty="0">
                <a:latin typeface="Arial"/>
                <a:cs typeface="Arial"/>
              </a:rPr>
              <a:t>Rendering  Engine</a:t>
            </a:r>
            <a:endParaRPr sz="1400">
              <a:latin typeface="Arial"/>
              <a:cs typeface="Arial"/>
            </a:endParaRPr>
          </a:p>
        </p:txBody>
      </p:sp>
      <p:sp>
        <p:nvSpPr>
          <p:cNvPr id="15" name="object 15"/>
          <p:cNvSpPr/>
          <p:nvPr/>
        </p:nvSpPr>
        <p:spPr>
          <a:xfrm>
            <a:off x="3006212" y="2182899"/>
            <a:ext cx="766445" cy="168910"/>
          </a:xfrm>
          <a:custGeom>
            <a:avLst/>
            <a:gdLst/>
            <a:ahLst/>
            <a:cxnLst/>
            <a:rect l="l" t="t" r="r" b="b"/>
            <a:pathLst>
              <a:path w="766445" h="168910">
                <a:moveTo>
                  <a:pt x="84299" y="168599"/>
                </a:moveTo>
                <a:lnTo>
                  <a:pt x="0" y="84299"/>
                </a:lnTo>
                <a:lnTo>
                  <a:pt x="84299" y="0"/>
                </a:lnTo>
                <a:lnTo>
                  <a:pt x="84299" y="42149"/>
                </a:lnTo>
                <a:lnTo>
                  <a:pt x="723749" y="42149"/>
                </a:lnTo>
                <a:lnTo>
                  <a:pt x="765899" y="84299"/>
                </a:lnTo>
                <a:lnTo>
                  <a:pt x="723749" y="126449"/>
                </a:lnTo>
                <a:lnTo>
                  <a:pt x="84299" y="126449"/>
                </a:lnTo>
                <a:lnTo>
                  <a:pt x="84299" y="168599"/>
                </a:lnTo>
                <a:close/>
              </a:path>
              <a:path w="766445" h="168910">
                <a:moveTo>
                  <a:pt x="723749" y="42149"/>
                </a:moveTo>
                <a:lnTo>
                  <a:pt x="681599" y="42149"/>
                </a:lnTo>
                <a:lnTo>
                  <a:pt x="681599" y="0"/>
                </a:lnTo>
                <a:lnTo>
                  <a:pt x="723749" y="42149"/>
                </a:lnTo>
                <a:close/>
              </a:path>
              <a:path w="766445" h="168910">
                <a:moveTo>
                  <a:pt x="681599" y="168599"/>
                </a:moveTo>
                <a:lnTo>
                  <a:pt x="681599" y="126449"/>
                </a:lnTo>
                <a:lnTo>
                  <a:pt x="723749" y="126449"/>
                </a:lnTo>
                <a:lnTo>
                  <a:pt x="681599" y="168599"/>
                </a:lnTo>
                <a:close/>
              </a:path>
            </a:pathLst>
          </a:custGeom>
          <a:solidFill>
            <a:srgbClr val="EEEEEE"/>
          </a:solidFill>
        </p:spPr>
        <p:txBody>
          <a:bodyPr wrap="square" lIns="0" tIns="0" rIns="0" bIns="0" rtlCol="0"/>
          <a:lstStyle/>
          <a:p>
            <a:endParaRPr/>
          </a:p>
        </p:txBody>
      </p:sp>
      <p:sp>
        <p:nvSpPr>
          <p:cNvPr id="16" name="object 16"/>
          <p:cNvSpPr/>
          <p:nvPr/>
        </p:nvSpPr>
        <p:spPr>
          <a:xfrm>
            <a:off x="3006212" y="2182899"/>
            <a:ext cx="766445" cy="168910"/>
          </a:xfrm>
          <a:custGeom>
            <a:avLst/>
            <a:gdLst/>
            <a:ahLst/>
            <a:cxnLst/>
            <a:rect l="l" t="t" r="r" b="b"/>
            <a:pathLst>
              <a:path w="766445" h="168910">
                <a:moveTo>
                  <a:pt x="0" y="84299"/>
                </a:moveTo>
                <a:lnTo>
                  <a:pt x="84299" y="0"/>
                </a:lnTo>
                <a:lnTo>
                  <a:pt x="84299" y="42149"/>
                </a:lnTo>
                <a:lnTo>
                  <a:pt x="681599" y="42149"/>
                </a:lnTo>
                <a:lnTo>
                  <a:pt x="681599" y="0"/>
                </a:lnTo>
                <a:lnTo>
                  <a:pt x="765899" y="84299"/>
                </a:lnTo>
                <a:lnTo>
                  <a:pt x="681599" y="168599"/>
                </a:lnTo>
                <a:lnTo>
                  <a:pt x="681599" y="126449"/>
                </a:lnTo>
                <a:lnTo>
                  <a:pt x="84299" y="126449"/>
                </a:lnTo>
                <a:lnTo>
                  <a:pt x="84299" y="168599"/>
                </a:lnTo>
                <a:lnTo>
                  <a:pt x="0" y="84299"/>
                </a:lnTo>
                <a:close/>
              </a:path>
            </a:pathLst>
          </a:custGeom>
          <a:ln w="9524">
            <a:solidFill>
              <a:srgbClr val="595959"/>
            </a:solidFill>
          </a:ln>
        </p:spPr>
        <p:txBody>
          <a:bodyPr wrap="square" lIns="0" tIns="0" rIns="0" bIns="0" rtlCol="0"/>
          <a:lstStyle/>
          <a:p>
            <a:endParaRPr/>
          </a:p>
        </p:txBody>
      </p:sp>
      <p:sp>
        <p:nvSpPr>
          <p:cNvPr id="17" name="object 17"/>
          <p:cNvSpPr/>
          <p:nvPr/>
        </p:nvSpPr>
        <p:spPr>
          <a:xfrm>
            <a:off x="5402337" y="2182899"/>
            <a:ext cx="705485" cy="168910"/>
          </a:xfrm>
          <a:custGeom>
            <a:avLst/>
            <a:gdLst/>
            <a:ahLst/>
            <a:cxnLst/>
            <a:rect l="l" t="t" r="r" b="b"/>
            <a:pathLst>
              <a:path w="705485" h="168910">
                <a:moveTo>
                  <a:pt x="620699" y="168599"/>
                </a:moveTo>
                <a:lnTo>
                  <a:pt x="620699" y="126449"/>
                </a:lnTo>
                <a:lnTo>
                  <a:pt x="0" y="126449"/>
                </a:lnTo>
                <a:lnTo>
                  <a:pt x="0" y="42149"/>
                </a:lnTo>
                <a:lnTo>
                  <a:pt x="620699" y="42149"/>
                </a:lnTo>
                <a:lnTo>
                  <a:pt x="620699" y="0"/>
                </a:lnTo>
                <a:lnTo>
                  <a:pt x="704999" y="84299"/>
                </a:lnTo>
                <a:lnTo>
                  <a:pt x="620699" y="168599"/>
                </a:lnTo>
                <a:close/>
              </a:path>
            </a:pathLst>
          </a:custGeom>
          <a:solidFill>
            <a:srgbClr val="EEEEEE"/>
          </a:solidFill>
        </p:spPr>
        <p:txBody>
          <a:bodyPr wrap="square" lIns="0" tIns="0" rIns="0" bIns="0" rtlCol="0"/>
          <a:lstStyle/>
          <a:p>
            <a:endParaRPr/>
          </a:p>
        </p:txBody>
      </p:sp>
      <p:sp>
        <p:nvSpPr>
          <p:cNvPr id="18" name="object 18"/>
          <p:cNvSpPr/>
          <p:nvPr/>
        </p:nvSpPr>
        <p:spPr>
          <a:xfrm>
            <a:off x="5402337" y="2182899"/>
            <a:ext cx="705485" cy="168910"/>
          </a:xfrm>
          <a:custGeom>
            <a:avLst/>
            <a:gdLst/>
            <a:ahLst/>
            <a:cxnLst/>
            <a:rect l="l" t="t" r="r" b="b"/>
            <a:pathLst>
              <a:path w="705485" h="168910">
                <a:moveTo>
                  <a:pt x="0" y="42149"/>
                </a:moveTo>
                <a:lnTo>
                  <a:pt x="620699" y="42149"/>
                </a:lnTo>
                <a:lnTo>
                  <a:pt x="620699" y="0"/>
                </a:lnTo>
                <a:lnTo>
                  <a:pt x="704999" y="84299"/>
                </a:lnTo>
                <a:lnTo>
                  <a:pt x="620699" y="168599"/>
                </a:lnTo>
                <a:lnTo>
                  <a:pt x="620699" y="126449"/>
                </a:lnTo>
                <a:lnTo>
                  <a:pt x="0" y="126449"/>
                </a:lnTo>
                <a:lnTo>
                  <a:pt x="0" y="42149"/>
                </a:lnTo>
                <a:close/>
              </a:path>
            </a:pathLst>
          </a:custGeom>
          <a:ln w="9524">
            <a:solidFill>
              <a:srgbClr val="595959"/>
            </a:solidFill>
          </a:ln>
        </p:spPr>
        <p:txBody>
          <a:bodyPr wrap="square" lIns="0" tIns="0" rIns="0" bIns="0" rtlCol="0"/>
          <a:lstStyle/>
          <a:p>
            <a:endParaRPr/>
          </a:p>
        </p:txBody>
      </p:sp>
      <p:sp>
        <p:nvSpPr>
          <p:cNvPr id="19" name="object 19"/>
          <p:cNvSpPr/>
          <p:nvPr/>
        </p:nvSpPr>
        <p:spPr>
          <a:xfrm>
            <a:off x="6853374" y="2728724"/>
            <a:ext cx="168910" cy="569595"/>
          </a:xfrm>
          <a:custGeom>
            <a:avLst/>
            <a:gdLst/>
            <a:ahLst/>
            <a:cxnLst/>
            <a:rect l="l" t="t" r="r" b="b"/>
            <a:pathLst>
              <a:path w="168909" h="569595">
                <a:moveTo>
                  <a:pt x="126449" y="484799"/>
                </a:moveTo>
                <a:lnTo>
                  <a:pt x="42149" y="484799"/>
                </a:lnTo>
                <a:lnTo>
                  <a:pt x="42149" y="0"/>
                </a:lnTo>
                <a:lnTo>
                  <a:pt x="126449" y="0"/>
                </a:lnTo>
                <a:lnTo>
                  <a:pt x="126449" y="484799"/>
                </a:lnTo>
                <a:close/>
              </a:path>
              <a:path w="168909" h="569595">
                <a:moveTo>
                  <a:pt x="84299" y="569099"/>
                </a:moveTo>
                <a:lnTo>
                  <a:pt x="0" y="484799"/>
                </a:lnTo>
                <a:lnTo>
                  <a:pt x="168599" y="484799"/>
                </a:lnTo>
                <a:lnTo>
                  <a:pt x="84299" y="569099"/>
                </a:lnTo>
                <a:close/>
              </a:path>
            </a:pathLst>
          </a:custGeom>
          <a:solidFill>
            <a:srgbClr val="EEEEEE"/>
          </a:solidFill>
        </p:spPr>
        <p:txBody>
          <a:bodyPr wrap="square" lIns="0" tIns="0" rIns="0" bIns="0" rtlCol="0"/>
          <a:lstStyle/>
          <a:p>
            <a:endParaRPr/>
          </a:p>
        </p:txBody>
      </p:sp>
      <p:sp>
        <p:nvSpPr>
          <p:cNvPr id="20" name="object 20"/>
          <p:cNvSpPr/>
          <p:nvPr/>
        </p:nvSpPr>
        <p:spPr>
          <a:xfrm>
            <a:off x="6853374" y="2728724"/>
            <a:ext cx="168910" cy="569595"/>
          </a:xfrm>
          <a:custGeom>
            <a:avLst/>
            <a:gdLst/>
            <a:ahLst/>
            <a:cxnLst/>
            <a:rect l="l" t="t" r="r" b="b"/>
            <a:pathLst>
              <a:path w="168909" h="569595">
                <a:moveTo>
                  <a:pt x="126449" y="0"/>
                </a:moveTo>
                <a:lnTo>
                  <a:pt x="126449" y="484799"/>
                </a:lnTo>
                <a:lnTo>
                  <a:pt x="168599" y="484799"/>
                </a:lnTo>
                <a:lnTo>
                  <a:pt x="84299" y="569099"/>
                </a:lnTo>
                <a:lnTo>
                  <a:pt x="0" y="484799"/>
                </a:lnTo>
                <a:lnTo>
                  <a:pt x="42149" y="484799"/>
                </a:lnTo>
                <a:lnTo>
                  <a:pt x="42149" y="0"/>
                </a:lnTo>
                <a:lnTo>
                  <a:pt x="126449" y="0"/>
                </a:lnTo>
                <a:close/>
              </a:path>
            </a:pathLst>
          </a:custGeom>
          <a:ln w="9524">
            <a:solidFill>
              <a:srgbClr val="595959"/>
            </a:solidFill>
          </a:ln>
        </p:spPr>
        <p:txBody>
          <a:bodyPr wrap="square" lIns="0" tIns="0" rIns="0" bIns="0" rtlCol="0"/>
          <a:lstStyle/>
          <a:p>
            <a:endParaRPr/>
          </a:p>
        </p:txBody>
      </p:sp>
      <p:sp>
        <p:nvSpPr>
          <p:cNvPr id="21" name="object 21"/>
          <p:cNvSpPr/>
          <p:nvPr/>
        </p:nvSpPr>
        <p:spPr>
          <a:xfrm>
            <a:off x="2729174" y="2739549"/>
            <a:ext cx="3375660" cy="1120140"/>
          </a:xfrm>
          <a:custGeom>
            <a:avLst/>
            <a:gdLst/>
            <a:ahLst/>
            <a:cxnLst/>
            <a:rect l="l" t="t" r="r" b="b"/>
            <a:pathLst>
              <a:path w="3375660" h="1120139">
                <a:moveTo>
                  <a:pt x="3270124" y="1119607"/>
                </a:moveTo>
                <a:lnTo>
                  <a:pt x="3282424" y="1079332"/>
                </a:lnTo>
                <a:lnTo>
                  <a:pt x="0" y="80549"/>
                </a:lnTo>
                <a:lnTo>
                  <a:pt x="24599" y="0"/>
                </a:lnTo>
                <a:lnTo>
                  <a:pt x="3307024" y="998782"/>
                </a:lnTo>
                <a:lnTo>
                  <a:pt x="3340781" y="998782"/>
                </a:lnTo>
                <a:lnTo>
                  <a:pt x="3375299" y="1063574"/>
                </a:lnTo>
                <a:lnTo>
                  <a:pt x="3270124" y="1119607"/>
                </a:lnTo>
                <a:close/>
              </a:path>
              <a:path w="3375660" h="1120139">
                <a:moveTo>
                  <a:pt x="3340781" y="998782"/>
                </a:moveTo>
                <a:lnTo>
                  <a:pt x="3307024" y="998782"/>
                </a:lnTo>
                <a:lnTo>
                  <a:pt x="3319324" y="958507"/>
                </a:lnTo>
                <a:lnTo>
                  <a:pt x="3340781" y="998782"/>
                </a:lnTo>
                <a:close/>
              </a:path>
            </a:pathLst>
          </a:custGeom>
          <a:solidFill>
            <a:srgbClr val="EEEEEE"/>
          </a:solidFill>
        </p:spPr>
        <p:txBody>
          <a:bodyPr wrap="square" lIns="0" tIns="0" rIns="0" bIns="0" rtlCol="0"/>
          <a:lstStyle/>
          <a:p>
            <a:endParaRPr/>
          </a:p>
        </p:txBody>
      </p:sp>
      <p:sp>
        <p:nvSpPr>
          <p:cNvPr id="22" name="object 22"/>
          <p:cNvSpPr/>
          <p:nvPr/>
        </p:nvSpPr>
        <p:spPr>
          <a:xfrm>
            <a:off x="2729174" y="2739549"/>
            <a:ext cx="3375660" cy="1120140"/>
          </a:xfrm>
          <a:custGeom>
            <a:avLst/>
            <a:gdLst/>
            <a:ahLst/>
            <a:cxnLst/>
            <a:rect l="l" t="t" r="r" b="b"/>
            <a:pathLst>
              <a:path w="3375660" h="1120139">
                <a:moveTo>
                  <a:pt x="24599" y="0"/>
                </a:moveTo>
                <a:lnTo>
                  <a:pt x="3307024" y="998782"/>
                </a:lnTo>
                <a:lnTo>
                  <a:pt x="3319324" y="958507"/>
                </a:lnTo>
                <a:lnTo>
                  <a:pt x="3375299" y="1063574"/>
                </a:lnTo>
                <a:lnTo>
                  <a:pt x="3270124" y="1119607"/>
                </a:lnTo>
                <a:lnTo>
                  <a:pt x="3282424" y="1079332"/>
                </a:lnTo>
                <a:lnTo>
                  <a:pt x="0" y="80549"/>
                </a:lnTo>
                <a:lnTo>
                  <a:pt x="24599" y="0"/>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3155400" y="3363738"/>
            <a:ext cx="10134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Debug</a:t>
            </a:r>
            <a:r>
              <a:rPr sz="1400" spc="-75" dirty="0">
                <a:latin typeface="Arial"/>
                <a:cs typeface="Arial"/>
              </a:rPr>
              <a:t> </a:t>
            </a:r>
            <a:r>
              <a:rPr sz="1400" spc="-5" dirty="0">
                <a:latin typeface="Arial"/>
                <a:cs typeface="Arial"/>
              </a:rPr>
              <a:t>Draw</a:t>
            </a:r>
            <a:endParaRPr sz="1400">
              <a:latin typeface="Arial"/>
              <a:cs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660265" cy="452120"/>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5101675" cy="520655"/>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6" name="object 36"/>
          <p:cNvSpPr/>
          <p:nvPr/>
        </p:nvSpPr>
        <p:spPr>
          <a:xfrm>
            <a:off x="618349" y="1179587"/>
            <a:ext cx="2277110" cy="1212215"/>
          </a:xfrm>
          <a:custGeom>
            <a:avLst/>
            <a:gdLst/>
            <a:ahLst/>
            <a:cxnLst/>
            <a:rect l="l" t="t" r="r" b="b"/>
            <a:pathLst>
              <a:path w="2277110" h="1212214">
                <a:moveTo>
                  <a:pt x="2097149" y="1077299"/>
                </a:moveTo>
                <a:lnTo>
                  <a:pt x="179549" y="1077299"/>
                </a:lnTo>
                <a:lnTo>
                  <a:pt x="131818" y="1070886"/>
                </a:lnTo>
                <a:lnTo>
                  <a:pt x="88927" y="1052786"/>
                </a:lnTo>
                <a:lnTo>
                  <a:pt x="52588" y="1024711"/>
                </a:lnTo>
                <a:lnTo>
                  <a:pt x="24513" y="988372"/>
                </a:lnTo>
                <a:lnTo>
                  <a:pt x="6413" y="945481"/>
                </a:lnTo>
                <a:lnTo>
                  <a:pt x="0" y="897749"/>
                </a:lnTo>
                <a:lnTo>
                  <a:pt x="0" y="179549"/>
                </a:lnTo>
                <a:lnTo>
                  <a:pt x="6413" y="131818"/>
                </a:lnTo>
                <a:lnTo>
                  <a:pt x="24513" y="88927"/>
                </a:lnTo>
                <a:lnTo>
                  <a:pt x="52588" y="52588"/>
                </a:lnTo>
                <a:lnTo>
                  <a:pt x="88927" y="24513"/>
                </a:lnTo>
                <a:lnTo>
                  <a:pt x="131818" y="6413"/>
                </a:lnTo>
                <a:lnTo>
                  <a:pt x="179549" y="0"/>
                </a:lnTo>
                <a:lnTo>
                  <a:pt x="2097149" y="0"/>
                </a:lnTo>
                <a:lnTo>
                  <a:pt x="2165860" y="13667"/>
                </a:lnTo>
                <a:lnTo>
                  <a:pt x="2224110" y="52588"/>
                </a:lnTo>
                <a:lnTo>
                  <a:pt x="2263032" y="110839"/>
                </a:lnTo>
                <a:lnTo>
                  <a:pt x="2276699" y="179549"/>
                </a:lnTo>
                <a:lnTo>
                  <a:pt x="2276699" y="897749"/>
                </a:lnTo>
                <a:lnTo>
                  <a:pt x="2270286" y="945481"/>
                </a:lnTo>
                <a:lnTo>
                  <a:pt x="2252186" y="988372"/>
                </a:lnTo>
                <a:lnTo>
                  <a:pt x="2224111" y="1024711"/>
                </a:lnTo>
                <a:lnTo>
                  <a:pt x="2187772" y="1052786"/>
                </a:lnTo>
                <a:lnTo>
                  <a:pt x="2144881" y="1070886"/>
                </a:lnTo>
                <a:lnTo>
                  <a:pt x="2097149" y="1077299"/>
                </a:lnTo>
                <a:close/>
              </a:path>
              <a:path w="2277110" h="1212214">
                <a:moveTo>
                  <a:pt x="664045" y="1211962"/>
                </a:moveTo>
                <a:lnTo>
                  <a:pt x="379449" y="1077299"/>
                </a:lnTo>
                <a:lnTo>
                  <a:pt x="948624" y="1077299"/>
                </a:lnTo>
                <a:lnTo>
                  <a:pt x="664045" y="1211962"/>
                </a:lnTo>
                <a:close/>
              </a:path>
            </a:pathLst>
          </a:custGeom>
          <a:solidFill>
            <a:srgbClr val="EEEEEE"/>
          </a:solidFill>
        </p:spPr>
        <p:txBody>
          <a:bodyPr wrap="square" lIns="0" tIns="0" rIns="0" bIns="0" rtlCol="0"/>
          <a:lstStyle/>
          <a:p>
            <a:endParaRPr/>
          </a:p>
        </p:txBody>
      </p:sp>
      <p:sp>
        <p:nvSpPr>
          <p:cNvPr id="37" name="object 37"/>
          <p:cNvSpPr/>
          <p:nvPr/>
        </p:nvSpPr>
        <p:spPr>
          <a:xfrm>
            <a:off x="618349" y="1179587"/>
            <a:ext cx="2277110" cy="1212215"/>
          </a:xfrm>
          <a:custGeom>
            <a:avLst/>
            <a:gdLst/>
            <a:ahLst/>
            <a:cxnLst/>
            <a:rect l="l" t="t" r="r" b="b"/>
            <a:pathLst>
              <a:path w="2277110" h="1212214">
                <a:moveTo>
                  <a:pt x="0" y="179549"/>
                </a:moveTo>
                <a:lnTo>
                  <a:pt x="6413" y="131818"/>
                </a:lnTo>
                <a:lnTo>
                  <a:pt x="24513" y="88927"/>
                </a:lnTo>
                <a:lnTo>
                  <a:pt x="52588" y="52588"/>
                </a:lnTo>
                <a:lnTo>
                  <a:pt x="88927" y="24513"/>
                </a:lnTo>
                <a:lnTo>
                  <a:pt x="131818" y="6413"/>
                </a:lnTo>
                <a:lnTo>
                  <a:pt x="179549" y="0"/>
                </a:lnTo>
                <a:lnTo>
                  <a:pt x="379449" y="0"/>
                </a:lnTo>
                <a:lnTo>
                  <a:pt x="948624" y="0"/>
                </a:lnTo>
                <a:lnTo>
                  <a:pt x="2097149" y="0"/>
                </a:lnTo>
                <a:lnTo>
                  <a:pt x="2132341" y="3481"/>
                </a:lnTo>
                <a:lnTo>
                  <a:pt x="2196764" y="30166"/>
                </a:lnTo>
                <a:lnTo>
                  <a:pt x="2246533" y="79935"/>
                </a:lnTo>
                <a:lnTo>
                  <a:pt x="2273218" y="144357"/>
                </a:lnTo>
                <a:lnTo>
                  <a:pt x="2276699" y="179549"/>
                </a:lnTo>
                <a:lnTo>
                  <a:pt x="2276699" y="628424"/>
                </a:lnTo>
                <a:lnTo>
                  <a:pt x="2276699" y="897749"/>
                </a:lnTo>
                <a:lnTo>
                  <a:pt x="2270286" y="945481"/>
                </a:lnTo>
                <a:lnTo>
                  <a:pt x="2252186" y="988372"/>
                </a:lnTo>
                <a:lnTo>
                  <a:pt x="2224111" y="1024711"/>
                </a:lnTo>
                <a:lnTo>
                  <a:pt x="2187772" y="1052786"/>
                </a:lnTo>
                <a:lnTo>
                  <a:pt x="2144881" y="1070886"/>
                </a:lnTo>
                <a:lnTo>
                  <a:pt x="2097149" y="1077299"/>
                </a:lnTo>
                <a:lnTo>
                  <a:pt x="948624" y="1077299"/>
                </a:lnTo>
                <a:lnTo>
                  <a:pt x="664045" y="1211962"/>
                </a:lnTo>
                <a:lnTo>
                  <a:pt x="379449" y="1077299"/>
                </a:lnTo>
                <a:lnTo>
                  <a:pt x="179549" y="1077299"/>
                </a:lnTo>
                <a:lnTo>
                  <a:pt x="131818" y="1070886"/>
                </a:lnTo>
                <a:lnTo>
                  <a:pt x="88927" y="1052786"/>
                </a:lnTo>
                <a:lnTo>
                  <a:pt x="52588" y="1024711"/>
                </a:lnTo>
                <a:lnTo>
                  <a:pt x="24513" y="988372"/>
                </a:lnTo>
                <a:lnTo>
                  <a:pt x="6413" y="945481"/>
                </a:lnTo>
                <a:lnTo>
                  <a:pt x="0" y="897749"/>
                </a:lnTo>
                <a:lnTo>
                  <a:pt x="0" y="628424"/>
                </a:lnTo>
                <a:lnTo>
                  <a:pt x="0" y="17954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743963" y="1279325"/>
            <a:ext cx="1960245" cy="867410"/>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Transforms of game  objects are </a:t>
            </a:r>
            <a:r>
              <a:rPr sz="1400" dirty="0">
                <a:latin typeface="Arial"/>
                <a:cs typeface="Arial"/>
              </a:rPr>
              <a:t>copied </a:t>
            </a:r>
            <a:r>
              <a:rPr sz="1400" spc="-5" dirty="0">
                <a:latin typeface="Arial"/>
                <a:cs typeface="Arial"/>
              </a:rPr>
              <a:t>to</a:t>
            </a:r>
            <a:r>
              <a:rPr sz="1400" spc="-95" dirty="0">
                <a:latin typeface="Arial"/>
                <a:cs typeface="Arial"/>
              </a:rPr>
              <a:t> </a:t>
            </a:r>
            <a:r>
              <a:rPr sz="1400" spc="-5" dirty="0">
                <a:latin typeface="Arial"/>
                <a:cs typeface="Arial"/>
              </a:rPr>
              <a:t>the  transforms of their </a:t>
            </a:r>
            <a:r>
              <a:rPr sz="1400" dirty="0">
                <a:latin typeface="Arial"/>
                <a:cs typeface="Arial"/>
              </a:rPr>
              <a:t>rigid  </a:t>
            </a:r>
            <a:r>
              <a:rPr sz="1400" spc="-5" dirty="0">
                <a:latin typeface="Arial"/>
                <a:cs typeface="Arial"/>
              </a:rPr>
              <a:t>bodies.</a:t>
            </a:r>
            <a:endParaRPr sz="140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4981409" cy="520655"/>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6" name="object 36"/>
          <p:cNvSpPr/>
          <p:nvPr/>
        </p:nvSpPr>
        <p:spPr>
          <a:xfrm>
            <a:off x="1685150" y="1179587"/>
            <a:ext cx="2277110" cy="1212215"/>
          </a:xfrm>
          <a:custGeom>
            <a:avLst/>
            <a:gdLst/>
            <a:ahLst/>
            <a:cxnLst/>
            <a:rect l="l" t="t" r="r" b="b"/>
            <a:pathLst>
              <a:path w="2277110" h="1212214">
                <a:moveTo>
                  <a:pt x="2097149" y="1077299"/>
                </a:moveTo>
                <a:lnTo>
                  <a:pt x="179549" y="1077299"/>
                </a:lnTo>
                <a:lnTo>
                  <a:pt x="131818" y="1070886"/>
                </a:lnTo>
                <a:lnTo>
                  <a:pt x="88927" y="1052786"/>
                </a:lnTo>
                <a:lnTo>
                  <a:pt x="52588" y="1024711"/>
                </a:lnTo>
                <a:lnTo>
                  <a:pt x="24513" y="988372"/>
                </a:lnTo>
                <a:lnTo>
                  <a:pt x="6413" y="945481"/>
                </a:lnTo>
                <a:lnTo>
                  <a:pt x="0" y="897749"/>
                </a:lnTo>
                <a:lnTo>
                  <a:pt x="0" y="179549"/>
                </a:lnTo>
                <a:lnTo>
                  <a:pt x="6413" y="131818"/>
                </a:lnTo>
                <a:lnTo>
                  <a:pt x="24513" y="88927"/>
                </a:lnTo>
                <a:lnTo>
                  <a:pt x="52588" y="52588"/>
                </a:lnTo>
                <a:lnTo>
                  <a:pt x="88927" y="24513"/>
                </a:lnTo>
                <a:lnTo>
                  <a:pt x="131818" y="6413"/>
                </a:lnTo>
                <a:lnTo>
                  <a:pt x="179549" y="0"/>
                </a:lnTo>
                <a:lnTo>
                  <a:pt x="2097149" y="0"/>
                </a:lnTo>
                <a:lnTo>
                  <a:pt x="2165860" y="13667"/>
                </a:lnTo>
                <a:lnTo>
                  <a:pt x="2224110" y="52588"/>
                </a:lnTo>
                <a:lnTo>
                  <a:pt x="2263032" y="110839"/>
                </a:lnTo>
                <a:lnTo>
                  <a:pt x="2276699" y="179549"/>
                </a:lnTo>
                <a:lnTo>
                  <a:pt x="2276699" y="897749"/>
                </a:lnTo>
                <a:lnTo>
                  <a:pt x="2270286" y="945481"/>
                </a:lnTo>
                <a:lnTo>
                  <a:pt x="2252186" y="988372"/>
                </a:lnTo>
                <a:lnTo>
                  <a:pt x="2224111" y="1024711"/>
                </a:lnTo>
                <a:lnTo>
                  <a:pt x="2187772" y="1052786"/>
                </a:lnTo>
                <a:lnTo>
                  <a:pt x="2144881" y="1070886"/>
                </a:lnTo>
                <a:lnTo>
                  <a:pt x="2097149" y="1077299"/>
                </a:lnTo>
                <a:close/>
              </a:path>
              <a:path w="2277110" h="1212214">
                <a:moveTo>
                  <a:pt x="664045" y="1211962"/>
                </a:moveTo>
                <a:lnTo>
                  <a:pt x="379449" y="1077299"/>
                </a:lnTo>
                <a:lnTo>
                  <a:pt x="948624" y="1077299"/>
                </a:lnTo>
                <a:lnTo>
                  <a:pt x="664045" y="1211962"/>
                </a:lnTo>
                <a:close/>
              </a:path>
            </a:pathLst>
          </a:custGeom>
          <a:solidFill>
            <a:srgbClr val="EEEEEE"/>
          </a:solidFill>
        </p:spPr>
        <p:txBody>
          <a:bodyPr wrap="square" lIns="0" tIns="0" rIns="0" bIns="0" rtlCol="0"/>
          <a:lstStyle/>
          <a:p>
            <a:endParaRPr/>
          </a:p>
        </p:txBody>
      </p:sp>
      <p:sp>
        <p:nvSpPr>
          <p:cNvPr id="37" name="object 37"/>
          <p:cNvSpPr/>
          <p:nvPr/>
        </p:nvSpPr>
        <p:spPr>
          <a:xfrm>
            <a:off x="1685150" y="1179587"/>
            <a:ext cx="2277110" cy="1212215"/>
          </a:xfrm>
          <a:custGeom>
            <a:avLst/>
            <a:gdLst/>
            <a:ahLst/>
            <a:cxnLst/>
            <a:rect l="l" t="t" r="r" b="b"/>
            <a:pathLst>
              <a:path w="2277110" h="1212214">
                <a:moveTo>
                  <a:pt x="0" y="179549"/>
                </a:moveTo>
                <a:lnTo>
                  <a:pt x="6413" y="131818"/>
                </a:lnTo>
                <a:lnTo>
                  <a:pt x="24513" y="88927"/>
                </a:lnTo>
                <a:lnTo>
                  <a:pt x="52588" y="52588"/>
                </a:lnTo>
                <a:lnTo>
                  <a:pt x="88927" y="24513"/>
                </a:lnTo>
                <a:lnTo>
                  <a:pt x="131818" y="6413"/>
                </a:lnTo>
                <a:lnTo>
                  <a:pt x="179549" y="0"/>
                </a:lnTo>
                <a:lnTo>
                  <a:pt x="379449" y="0"/>
                </a:lnTo>
                <a:lnTo>
                  <a:pt x="948624" y="0"/>
                </a:lnTo>
                <a:lnTo>
                  <a:pt x="2097149" y="0"/>
                </a:lnTo>
                <a:lnTo>
                  <a:pt x="2132341" y="3481"/>
                </a:lnTo>
                <a:lnTo>
                  <a:pt x="2196764" y="30166"/>
                </a:lnTo>
                <a:lnTo>
                  <a:pt x="2246533" y="79935"/>
                </a:lnTo>
                <a:lnTo>
                  <a:pt x="2273218" y="144357"/>
                </a:lnTo>
                <a:lnTo>
                  <a:pt x="2276699" y="179549"/>
                </a:lnTo>
                <a:lnTo>
                  <a:pt x="2276699" y="628424"/>
                </a:lnTo>
                <a:lnTo>
                  <a:pt x="2276699" y="897749"/>
                </a:lnTo>
                <a:lnTo>
                  <a:pt x="2270286" y="945481"/>
                </a:lnTo>
                <a:lnTo>
                  <a:pt x="2252186" y="988372"/>
                </a:lnTo>
                <a:lnTo>
                  <a:pt x="2224111" y="1024711"/>
                </a:lnTo>
                <a:lnTo>
                  <a:pt x="2187772" y="1052786"/>
                </a:lnTo>
                <a:lnTo>
                  <a:pt x="2144881" y="1070886"/>
                </a:lnTo>
                <a:lnTo>
                  <a:pt x="2097149" y="1077299"/>
                </a:lnTo>
                <a:lnTo>
                  <a:pt x="948624" y="1077299"/>
                </a:lnTo>
                <a:lnTo>
                  <a:pt x="664045" y="1211962"/>
                </a:lnTo>
                <a:lnTo>
                  <a:pt x="379449" y="1077299"/>
                </a:lnTo>
                <a:lnTo>
                  <a:pt x="179549" y="1077299"/>
                </a:lnTo>
                <a:lnTo>
                  <a:pt x="131818" y="1070886"/>
                </a:lnTo>
                <a:lnTo>
                  <a:pt x="88927" y="1052786"/>
                </a:lnTo>
                <a:lnTo>
                  <a:pt x="52588" y="1024711"/>
                </a:lnTo>
                <a:lnTo>
                  <a:pt x="24513" y="988372"/>
                </a:lnTo>
                <a:lnTo>
                  <a:pt x="6413" y="945481"/>
                </a:lnTo>
                <a:lnTo>
                  <a:pt x="0" y="897749"/>
                </a:lnTo>
                <a:lnTo>
                  <a:pt x="0" y="628424"/>
                </a:lnTo>
                <a:lnTo>
                  <a:pt x="0" y="17954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1810763" y="1384100"/>
            <a:ext cx="1899920" cy="657860"/>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Phantoms are</a:t>
            </a:r>
            <a:r>
              <a:rPr sz="1400" spc="-90" dirty="0">
                <a:latin typeface="Arial"/>
                <a:cs typeface="Arial"/>
              </a:rPr>
              <a:t> </a:t>
            </a:r>
            <a:r>
              <a:rPr sz="1400" spc="-5" dirty="0">
                <a:latin typeface="Arial"/>
                <a:cs typeface="Arial"/>
              </a:rPr>
              <a:t>non-solid  </a:t>
            </a:r>
            <a:r>
              <a:rPr sz="1400" dirty="0">
                <a:latin typeface="Arial"/>
                <a:cs typeface="Arial"/>
              </a:rPr>
              <a:t>collidables, such </a:t>
            </a:r>
            <a:r>
              <a:rPr sz="1400" spc="-5" dirty="0">
                <a:latin typeface="Arial"/>
                <a:cs typeface="Arial"/>
              </a:rPr>
              <a:t>as  trigger</a:t>
            </a:r>
            <a:r>
              <a:rPr sz="1400" spc="-15" dirty="0">
                <a:latin typeface="Arial"/>
                <a:cs typeface="Arial"/>
              </a:rPr>
              <a:t> </a:t>
            </a:r>
            <a:r>
              <a:rPr sz="1400" dirty="0">
                <a:latin typeface="Arial"/>
                <a:cs typeface="Arial"/>
              </a:rPr>
              <a:t>volumes.</a:t>
            </a:r>
            <a:endParaRPr sz="1400">
              <a:latin typeface="Arial"/>
              <a:cs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4981409" cy="520655"/>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6" name="object 36"/>
          <p:cNvSpPr/>
          <p:nvPr/>
        </p:nvSpPr>
        <p:spPr>
          <a:xfrm>
            <a:off x="2828150" y="1179587"/>
            <a:ext cx="2277110" cy="1212215"/>
          </a:xfrm>
          <a:custGeom>
            <a:avLst/>
            <a:gdLst/>
            <a:ahLst/>
            <a:cxnLst/>
            <a:rect l="l" t="t" r="r" b="b"/>
            <a:pathLst>
              <a:path w="2277110" h="1212214">
                <a:moveTo>
                  <a:pt x="2097149" y="1077299"/>
                </a:moveTo>
                <a:lnTo>
                  <a:pt x="179549" y="1077299"/>
                </a:lnTo>
                <a:lnTo>
                  <a:pt x="131818" y="1070886"/>
                </a:lnTo>
                <a:lnTo>
                  <a:pt x="88927" y="1052786"/>
                </a:lnTo>
                <a:lnTo>
                  <a:pt x="52588" y="1024711"/>
                </a:lnTo>
                <a:lnTo>
                  <a:pt x="24513" y="988372"/>
                </a:lnTo>
                <a:lnTo>
                  <a:pt x="6413" y="945481"/>
                </a:lnTo>
                <a:lnTo>
                  <a:pt x="0" y="897749"/>
                </a:lnTo>
                <a:lnTo>
                  <a:pt x="0" y="179549"/>
                </a:lnTo>
                <a:lnTo>
                  <a:pt x="6413" y="131818"/>
                </a:lnTo>
                <a:lnTo>
                  <a:pt x="24513" y="88927"/>
                </a:lnTo>
                <a:lnTo>
                  <a:pt x="52588" y="52588"/>
                </a:lnTo>
                <a:lnTo>
                  <a:pt x="88927" y="24513"/>
                </a:lnTo>
                <a:lnTo>
                  <a:pt x="131818" y="6413"/>
                </a:lnTo>
                <a:lnTo>
                  <a:pt x="179549" y="0"/>
                </a:lnTo>
                <a:lnTo>
                  <a:pt x="2097149" y="0"/>
                </a:lnTo>
                <a:lnTo>
                  <a:pt x="2165860" y="13667"/>
                </a:lnTo>
                <a:lnTo>
                  <a:pt x="2224110" y="52588"/>
                </a:lnTo>
                <a:lnTo>
                  <a:pt x="2263032" y="110839"/>
                </a:lnTo>
                <a:lnTo>
                  <a:pt x="2276699" y="179549"/>
                </a:lnTo>
                <a:lnTo>
                  <a:pt x="2276699" y="897749"/>
                </a:lnTo>
                <a:lnTo>
                  <a:pt x="2270286" y="945481"/>
                </a:lnTo>
                <a:lnTo>
                  <a:pt x="2252186" y="988372"/>
                </a:lnTo>
                <a:lnTo>
                  <a:pt x="2224111" y="1024711"/>
                </a:lnTo>
                <a:lnTo>
                  <a:pt x="2187772" y="1052786"/>
                </a:lnTo>
                <a:lnTo>
                  <a:pt x="2144881" y="1070886"/>
                </a:lnTo>
                <a:lnTo>
                  <a:pt x="2097149" y="1077299"/>
                </a:lnTo>
                <a:close/>
              </a:path>
              <a:path w="2277110" h="1212214">
                <a:moveTo>
                  <a:pt x="664044" y="1211962"/>
                </a:moveTo>
                <a:lnTo>
                  <a:pt x="379449" y="1077299"/>
                </a:lnTo>
                <a:lnTo>
                  <a:pt x="948624" y="1077299"/>
                </a:lnTo>
                <a:lnTo>
                  <a:pt x="664044" y="1211962"/>
                </a:lnTo>
                <a:close/>
              </a:path>
            </a:pathLst>
          </a:custGeom>
          <a:solidFill>
            <a:srgbClr val="EEEEEE"/>
          </a:solidFill>
        </p:spPr>
        <p:txBody>
          <a:bodyPr wrap="square" lIns="0" tIns="0" rIns="0" bIns="0" rtlCol="0"/>
          <a:lstStyle/>
          <a:p>
            <a:endParaRPr/>
          </a:p>
        </p:txBody>
      </p:sp>
      <p:sp>
        <p:nvSpPr>
          <p:cNvPr id="37" name="object 37"/>
          <p:cNvSpPr/>
          <p:nvPr/>
        </p:nvSpPr>
        <p:spPr>
          <a:xfrm>
            <a:off x="2828150" y="1179587"/>
            <a:ext cx="2277110" cy="1212215"/>
          </a:xfrm>
          <a:custGeom>
            <a:avLst/>
            <a:gdLst/>
            <a:ahLst/>
            <a:cxnLst/>
            <a:rect l="l" t="t" r="r" b="b"/>
            <a:pathLst>
              <a:path w="2277110" h="1212214">
                <a:moveTo>
                  <a:pt x="0" y="179549"/>
                </a:moveTo>
                <a:lnTo>
                  <a:pt x="6413" y="131818"/>
                </a:lnTo>
                <a:lnTo>
                  <a:pt x="24513" y="88927"/>
                </a:lnTo>
                <a:lnTo>
                  <a:pt x="52588" y="52588"/>
                </a:lnTo>
                <a:lnTo>
                  <a:pt x="88927" y="24513"/>
                </a:lnTo>
                <a:lnTo>
                  <a:pt x="131818" y="6413"/>
                </a:lnTo>
                <a:lnTo>
                  <a:pt x="179549" y="0"/>
                </a:lnTo>
                <a:lnTo>
                  <a:pt x="379449" y="0"/>
                </a:lnTo>
                <a:lnTo>
                  <a:pt x="948624" y="0"/>
                </a:lnTo>
                <a:lnTo>
                  <a:pt x="2097149" y="0"/>
                </a:lnTo>
                <a:lnTo>
                  <a:pt x="2132341" y="3481"/>
                </a:lnTo>
                <a:lnTo>
                  <a:pt x="2196764" y="30166"/>
                </a:lnTo>
                <a:lnTo>
                  <a:pt x="2246533" y="79935"/>
                </a:lnTo>
                <a:lnTo>
                  <a:pt x="2273218" y="144357"/>
                </a:lnTo>
                <a:lnTo>
                  <a:pt x="2276699" y="179549"/>
                </a:lnTo>
                <a:lnTo>
                  <a:pt x="2276699" y="628424"/>
                </a:lnTo>
                <a:lnTo>
                  <a:pt x="2276699" y="897749"/>
                </a:lnTo>
                <a:lnTo>
                  <a:pt x="2270286" y="945481"/>
                </a:lnTo>
                <a:lnTo>
                  <a:pt x="2252186" y="988372"/>
                </a:lnTo>
                <a:lnTo>
                  <a:pt x="2224111" y="1024711"/>
                </a:lnTo>
                <a:lnTo>
                  <a:pt x="2187772" y="1052786"/>
                </a:lnTo>
                <a:lnTo>
                  <a:pt x="2144881" y="1070886"/>
                </a:lnTo>
                <a:lnTo>
                  <a:pt x="2097149" y="1077299"/>
                </a:lnTo>
                <a:lnTo>
                  <a:pt x="948624" y="1077299"/>
                </a:lnTo>
                <a:lnTo>
                  <a:pt x="664044" y="1211962"/>
                </a:lnTo>
                <a:lnTo>
                  <a:pt x="379449" y="1077299"/>
                </a:lnTo>
                <a:lnTo>
                  <a:pt x="179549" y="1077299"/>
                </a:lnTo>
                <a:lnTo>
                  <a:pt x="131818" y="1070886"/>
                </a:lnTo>
                <a:lnTo>
                  <a:pt x="88927" y="1052786"/>
                </a:lnTo>
                <a:lnTo>
                  <a:pt x="52588" y="1024711"/>
                </a:lnTo>
                <a:lnTo>
                  <a:pt x="24513" y="988372"/>
                </a:lnTo>
                <a:lnTo>
                  <a:pt x="6413" y="945481"/>
                </a:lnTo>
                <a:lnTo>
                  <a:pt x="0" y="897749"/>
                </a:lnTo>
                <a:lnTo>
                  <a:pt x="0" y="628424"/>
                </a:lnTo>
                <a:lnTo>
                  <a:pt x="0" y="17954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2953763" y="1384100"/>
            <a:ext cx="1821814" cy="657860"/>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Forces are applied to  game objects and</a:t>
            </a:r>
            <a:r>
              <a:rPr sz="1400" spc="-85" dirty="0">
                <a:latin typeface="Arial"/>
                <a:cs typeface="Arial"/>
              </a:rPr>
              <a:t> </a:t>
            </a:r>
            <a:r>
              <a:rPr sz="1400" spc="-5" dirty="0">
                <a:latin typeface="Arial"/>
                <a:cs typeface="Arial"/>
              </a:rPr>
              <a:t>their  </a:t>
            </a:r>
            <a:r>
              <a:rPr sz="1400" dirty="0">
                <a:latin typeface="Arial"/>
                <a:cs typeface="Arial"/>
              </a:rPr>
              <a:t>rigid</a:t>
            </a:r>
            <a:r>
              <a:rPr sz="1400" spc="-15" dirty="0">
                <a:latin typeface="Arial"/>
                <a:cs typeface="Arial"/>
              </a:rPr>
              <a:t> </a:t>
            </a:r>
            <a:r>
              <a:rPr sz="1400" spc="-5" dirty="0">
                <a:latin typeface="Arial"/>
                <a:cs typeface="Arial"/>
              </a:rPr>
              <a:t>bodies.</a:t>
            </a:r>
            <a:endParaRPr sz="1400">
              <a:latin typeface="Arial"/>
              <a:cs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4845625" cy="520655"/>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6" name="object 36"/>
          <p:cNvSpPr/>
          <p:nvPr/>
        </p:nvSpPr>
        <p:spPr>
          <a:xfrm>
            <a:off x="3894949" y="1179587"/>
            <a:ext cx="2277110" cy="1212215"/>
          </a:xfrm>
          <a:custGeom>
            <a:avLst/>
            <a:gdLst/>
            <a:ahLst/>
            <a:cxnLst/>
            <a:rect l="l" t="t" r="r" b="b"/>
            <a:pathLst>
              <a:path w="2277110" h="1212214">
                <a:moveTo>
                  <a:pt x="2097149" y="1077299"/>
                </a:moveTo>
                <a:lnTo>
                  <a:pt x="179549" y="1077299"/>
                </a:lnTo>
                <a:lnTo>
                  <a:pt x="131818" y="1070886"/>
                </a:lnTo>
                <a:lnTo>
                  <a:pt x="88927" y="1052786"/>
                </a:lnTo>
                <a:lnTo>
                  <a:pt x="52588" y="1024711"/>
                </a:lnTo>
                <a:lnTo>
                  <a:pt x="24513" y="988372"/>
                </a:lnTo>
                <a:lnTo>
                  <a:pt x="6413" y="945481"/>
                </a:lnTo>
                <a:lnTo>
                  <a:pt x="0" y="897749"/>
                </a:lnTo>
                <a:lnTo>
                  <a:pt x="0" y="179549"/>
                </a:lnTo>
                <a:lnTo>
                  <a:pt x="6413" y="131818"/>
                </a:lnTo>
                <a:lnTo>
                  <a:pt x="24513" y="88927"/>
                </a:lnTo>
                <a:lnTo>
                  <a:pt x="52588" y="52588"/>
                </a:lnTo>
                <a:lnTo>
                  <a:pt x="88927" y="24513"/>
                </a:lnTo>
                <a:lnTo>
                  <a:pt x="131818" y="6413"/>
                </a:lnTo>
                <a:lnTo>
                  <a:pt x="179549" y="0"/>
                </a:lnTo>
                <a:lnTo>
                  <a:pt x="2097149" y="0"/>
                </a:lnTo>
                <a:lnTo>
                  <a:pt x="2165860" y="13667"/>
                </a:lnTo>
                <a:lnTo>
                  <a:pt x="2224110" y="52588"/>
                </a:lnTo>
                <a:lnTo>
                  <a:pt x="2263032" y="110839"/>
                </a:lnTo>
                <a:lnTo>
                  <a:pt x="2276699" y="179549"/>
                </a:lnTo>
                <a:lnTo>
                  <a:pt x="2276699" y="897749"/>
                </a:lnTo>
                <a:lnTo>
                  <a:pt x="2270286" y="945481"/>
                </a:lnTo>
                <a:lnTo>
                  <a:pt x="2252186" y="988372"/>
                </a:lnTo>
                <a:lnTo>
                  <a:pt x="2224111" y="1024711"/>
                </a:lnTo>
                <a:lnTo>
                  <a:pt x="2187772" y="1052786"/>
                </a:lnTo>
                <a:lnTo>
                  <a:pt x="2144881" y="1070886"/>
                </a:lnTo>
                <a:lnTo>
                  <a:pt x="2097149" y="1077299"/>
                </a:lnTo>
                <a:close/>
              </a:path>
              <a:path w="2277110" h="1212214">
                <a:moveTo>
                  <a:pt x="664044" y="1211962"/>
                </a:moveTo>
                <a:lnTo>
                  <a:pt x="379449" y="1077299"/>
                </a:lnTo>
                <a:lnTo>
                  <a:pt x="948624" y="1077299"/>
                </a:lnTo>
                <a:lnTo>
                  <a:pt x="664044" y="1211962"/>
                </a:lnTo>
                <a:close/>
              </a:path>
            </a:pathLst>
          </a:custGeom>
          <a:solidFill>
            <a:srgbClr val="EEEEEE"/>
          </a:solidFill>
        </p:spPr>
        <p:txBody>
          <a:bodyPr wrap="square" lIns="0" tIns="0" rIns="0" bIns="0" rtlCol="0"/>
          <a:lstStyle/>
          <a:p>
            <a:endParaRPr/>
          </a:p>
        </p:txBody>
      </p:sp>
      <p:sp>
        <p:nvSpPr>
          <p:cNvPr id="37" name="object 37"/>
          <p:cNvSpPr/>
          <p:nvPr/>
        </p:nvSpPr>
        <p:spPr>
          <a:xfrm>
            <a:off x="3894949" y="1179587"/>
            <a:ext cx="2277110" cy="1212215"/>
          </a:xfrm>
          <a:custGeom>
            <a:avLst/>
            <a:gdLst/>
            <a:ahLst/>
            <a:cxnLst/>
            <a:rect l="l" t="t" r="r" b="b"/>
            <a:pathLst>
              <a:path w="2277110" h="1212214">
                <a:moveTo>
                  <a:pt x="0" y="179549"/>
                </a:moveTo>
                <a:lnTo>
                  <a:pt x="6413" y="131818"/>
                </a:lnTo>
                <a:lnTo>
                  <a:pt x="24513" y="88927"/>
                </a:lnTo>
                <a:lnTo>
                  <a:pt x="52588" y="52588"/>
                </a:lnTo>
                <a:lnTo>
                  <a:pt x="88927" y="24513"/>
                </a:lnTo>
                <a:lnTo>
                  <a:pt x="131818" y="6413"/>
                </a:lnTo>
                <a:lnTo>
                  <a:pt x="179549" y="0"/>
                </a:lnTo>
                <a:lnTo>
                  <a:pt x="379449" y="0"/>
                </a:lnTo>
                <a:lnTo>
                  <a:pt x="948624" y="0"/>
                </a:lnTo>
                <a:lnTo>
                  <a:pt x="2097149" y="0"/>
                </a:lnTo>
                <a:lnTo>
                  <a:pt x="2132341" y="3481"/>
                </a:lnTo>
                <a:lnTo>
                  <a:pt x="2196764" y="30166"/>
                </a:lnTo>
                <a:lnTo>
                  <a:pt x="2246533" y="79935"/>
                </a:lnTo>
                <a:lnTo>
                  <a:pt x="2273218" y="144357"/>
                </a:lnTo>
                <a:lnTo>
                  <a:pt x="2276699" y="179549"/>
                </a:lnTo>
                <a:lnTo>
                  <a:pt x="2276699" y="628424"/>
                </a:lnTo>
                <a:lnTo>
                  <a:pt x="2276699" y="897749"/>
                </a:lnTo>
                <a:lnTo>
                  <a:pt x="2270286" y="945481"/>
                </a:lnTo>
                <a:lnTo>
                  <a:pt x="2252186" y="988372"/>
                </a:lnTo>
                <a:lnTo>
                  <a:pt x="2224111" y="1024711"/>
                </a:lnTo>
                <a:lnTo>
                  <a:pt x="2187772" y="1052786"/>
                </a:lnTo>
                <a:lnTo>
                  <a:pt x="2144881" y="1070886"/>
                </a:lnTo>
                <a:lnTo>
                  <a:pt x="2097149" y="1077299"/>
                </a:lnTo>
                <a:lnTo>
                  <a:pt x="948624" y="1077299"/>
                </a:lnTo>
                <a:lnTo>
                  <a:pt x="664044" y="1211962"/>
                </a:lnTo>
                <a:lnTo>
                  <a:pt x="379449" y="1077299"/>
                </a:lnTo>
                <a:lnTo>
                  <a:pt x="179549" y="1077299"/>
                </a:lnTo>
                <a:lnTo>
                  <a:pt x="131818" y="1070886"/>
                </a:lnTo>
                <a:lnTo>
                  <a:pt x="88927" y="1052786"/>
                </a:lnTo>
                <a:lnTo>
                  <a:pt x="52588" y="1024711"/>
                </a:lnTo>
                <a:lnTo>
                  <a:pt x="24513" y="988372"/>
                </a:lnTo>
                <a:lnTo>
                  <a:pt x="6413" y="945481"/>
                </a:lnTo>
                <a:lnTo>
                  <a:pt x="0" y="897749"/>
                </a:lnTo>
                <a:lnTo>
                  <a:pt x="0" y="628424"/>
                </a:lnTo>
                <a:lnTo>
                  <a:pt x="0" y="17954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4020563" y="1279325"/>
            <a:ext cx="2000250" cy="867410"/>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The physics </a:t>
            </a:r>
            <a:r>
              <a:rPr sz="1400" dirty="0">
                <a:latin typeface="Arial"/>
                <a:cs typeface="Arial"/>
              </a:rPr>
              <a:t>simulation</a:t>
            </a:r>
            <a:r>
              <a:rPr sz="1400" spc="-95" dirty="0">
                <a:latin typeface="Arial"/>
                <a:cs typeface="Arial"/>
              </a:rPr>
              <a:t> </a:t>
            </a:r>
            <a:r>
              <a:rPr sz="1400" spc="-5" dirty="0">
                <a:latin typeface="Arial"/>
                <a:cs typeface="Arial"/>
              </a:rPr>
              <a:t>is  numerically integrated,  and </a:t>
            </a:r>
            <a:r>
              <a:rPr sz="1400" dirty="0">
                <a:latin typeface="Arial"/>
                <a:cs typeface="Arial"/>
              </a:rPr>
              <a:t>collision </a:t>
            </a:r>
            <a:r>
              <a:rPr sz="1400" spc="-5" dirty="0">
                <a:latin typeface="Arial"/>
                <a:cs typeface="Arial"/>
              </a:rPr>
              <a:t>detection  and </a:t>
            </a:r>
            <a:r>
              <a:rPr sz="1400" dirty="0">
                <a:latin typeface="Arial"/>
                <a:cs typeface="Arial"/>
              </a:rPr>
              <a:t>response</a:t>
            </a:r>
            <a:r>
              <a:rPr sz="1400" spc="-20" dirty="0">
                <a:latin typeface="Arial"/>
                <a:cs typeface="Arial"/>
              </a:rPr>
              <a:t> </a:t>
            </a:r>
            <a:r>
              <a:rPr sz="1400" dirty="0">
                <a:latin typeface="Arial"/>
                <a:cs typeface="Arial"/>
              </a:rPr>
              <a:t>run.</a:t>
            </a:r>
            <a:endParaRPr sz="1400">
              <a:latin typeface="Arial"/>
              <a:cs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4845625" cy="520655"/>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6" name="object 36"/>
          <p:cNvSpPr/>
          <p:nvPr/>
        </p:nvSpPr>
        <p:spPr>
          <a:xfrm>
            <a:off x="5037949" y="1179587"/>
            <a:ext cx="2277110" cy="1212215"/>
          </a:xfrm>
          <a:custGeom>
            <a:avLst/>
            <a:gdLst/>
            <a:ahLst/>
            <a:cxnLst/>
            <a:rect l="l" t="t" r="r" b="b"/>
            <a:pathLst>
              <a:path w="2277109" h="1212214">
                <a:moveTo>
                  <a:pt x="2097149" y="1077299"/>
                </a:moveTo>
                <a:lnTo>
                  <a:pt x="179549" y="1077299"/>
                </a:lnTo>
                <a:lnTo>
                  <a:pt x="131818" y="1070886"/>
                </a:lnTo>
                <a:lnTo>
                  <a:pt x="88927" y="1052786"/>
                </a:lnTo>
                <a:lnTo>
                  <a:pt x="52588" y="1024711"/>
                </a:lnTo>
                <a:lnTo>
                  <a:pt x="24513" y="988372"/>
                </a:lnTo>
                <a:lnTo>
                  <a:pt x="6413" y="945481"/>
                </a:lnTo>
                <a:lnTo>
                  <a:pt x="0" y="897749"/>
                </a:lnTo>
                <a:lnTo>
                  <a:pt x="0" y="179549"/>
                </a:lnTo>
                <a:lnTo>
                  <a:pt x="6413" y="131818"/>
                </a:lnTo>
                <a:lnTo>
                  <a:pt x="24513" y="88927"/>
                </a:lnTo>
                <a:lnTo>
                  <a:pt x="52588" y="52588"/>
                </a:lnTo>
                <a:lnTo>
                  <a:pt x="88927" y="24513"/>
                </a:lnTo>
                <a:lnTo>
                  <a:pt x="131818" y="6413"/>
                </a:lnTo>
                <a:lnTo>
                  <a:pt x="179549" y="0"/>
                </a:lnTo>
                <a:lnTo>
                  <a:pt x="2097149" y="0"/>
                </a:lnTo>
                <a:lnTo>
                  <a:pt x="2165860" y="13667"/>
                </a:lnTo>
                <a:lnTo>
                  <a:pt x="2224110" y="52588"/>
                </a:lnTo>
                <a:lnTo>
                  <a:pt x="2263032" y="110839"/>
                </a:lnTo>
                <a:lnTo>
                  <a:pt x="2276699" y="179549"/>
                </a:lnTo>
                <a:lnTo>
                  <a:pt x="2276699" y="897749"/>
                </a:lnTo>
                <a:lnTo>
                  <a:pt x="2270286" y="945481"/>
                </a:lnTo>
                <a:lnTo>
                  <a:pt x="2252186" y="988372"/>
                </a:lnTo>
                <a:lnTo>
                  <a:pt x="2224110" y="1024711"/>
                </a:lnTo>
                <a:lnTo>
                  <a:pt x="2187772" y="1052786"/>
                </a:lnTo>
                <a:lnTo>
                  <a:pt x="2144881" y="1070886"/>
                </a:lnTo>
                <a:lnTo>
                  <a:pt x="2097149" y="1077299"/>
                </a:lnTo>
                <a:close/>
              </a:path>
              <a:path w="2277109" h="1212214">
                <a:moveTo>
                  <a:pt x="664044" y="1211962"/>
                </a:moveTo>
                <a:lnTo>
                  <a:pt x="379449" y="1077299"/>
                </a:lnTo>
                <a:lnTo>
                  <a:pt x="948624" y="1077299"/>
                </a:lnTo>
                <a:lnTo>
                  <a:pt x="664044" y="1211962"/>
                </a:lnTo>
                <a:close/>
              </a:path>
            </a:pathLst>
          </a:custGeom>
          <a:solidFill>
            <a:srgbClr val="EEEEEE"/>
          </a:solidFill>
        </p:spPr>
        <p:txBody>
          <a:bodyPr wrap="square" lIns="0" tIns="0" rIns="0" bIns="0" rtlCol="0"/>
          <a:lstStyle/>
          <a:p>
            <a:endParaRPr/>
          </a:p>
        </p:txBody>
      </p:sp>
      <p:sp>
        <p:nvSpPr>
          <p:cNvPr id="37" name="object 37"/>
          <p:cNvSpPr/>
          <p:nvPr/>
        </p:nvSpPr>
        <p:spPr>
          <a:xfrm>
            <a:off x="5037949" y="1179587"/>
            <a:ext cx="2277110" cy="1212215"/>
          </a:xfrm>
          <a:custGeom>
            <a:avLst/>
            <a:gdLst/>
            <a:ahLst/>
            <a:cxnLst/>
            <a:rect l="l" t="t" r="r" b="b"/>
            <a:pathLst>
              <a:path w="2277109" h="1212214">
                <a:moveTo>
                  <a:pt x="0" y="179549"/>
                </a:moveTo>
                <a:lnTo>
                  <a:pt x="6413" y="131818"/>
                </a:lnTo>
                <a:lnTo>
                  <a:pt x="24513" y="88927"/>
                </a:lnTo>
                <a:lnTo>
                  <a:pt x="52588" y="52588"/>
                </a:lnTo>
                <a:lnTo>
                  <a:pt x="88927" y="24513"/>
                </a:lnTo>
                <a:lnTo>
                  <a:pt x="131818" y="6413"/>
                </a:lnTo>
                <a:lnTo>
                  <a:pt x="179549" y="0"/>
                </a:lnTo>
                <a:lnTo>
                  <a:pt x="379449" y="0"/>
                </a:lnTo>
                <a:lnTo>
                  <a:pt x="948624" y="0"/>
                </a:lnTo>
                <a:lnTo>
                  <a:pt x="2097149" y="0"/>
                </a:lnTo>
                <a:lnTo>
                  <a:pt x="2132341" y="3481"/>
                </a:lnTo>
                <a:lnTo>
                  <a:pt x="2196764" y="30166"/>
                </a:lnTo>
                <a:lnTo>
                  <a:pt x="2246533" y="79935"/>
                </a:lnTo>
                <a:lnTo>
                  <a:pt x="2273218" y="144357"/>
                </a:lnTo>
                <a:lnTo>
                  <a:pt x="2276699" y="179549"/>
                </a:lnTo>
                <a:lnTo>
                  <a:pt x="2276699" y="628424"/>
                </a:lnTo>
                <a:lnTo>
                  <a:pt x="2276699" y="897749"/>
                </a:lnTo>
                <a:lnTo>
                  <a:pt x="2270286" y="945481"/>
                </a:lnTo>
                <a:lnTo>
                  <a:pt x="2252186" y="988372"/>
                </a:lnTo>
                <a:lnTo>
                  <a:pt x="2224110" y="1024711"/>
                </a:lnTo>
                <a:lnTo>
                  <a:pt x="2187772" y="1052786"/>
                </a:lnTo>
                <a:lnTo>
                  <a:pt x="2144881" y="1070886"/>
                </a:lnTo>
                <a:lnTo>
                  <a:pt x="2097149" y="1077299"/>
                </a:lnTo>
                <a:lnTo>
                  <a:pt x="948624" y="1077299"/>
                </a:lnTo>
                <a:lnTo>
                  <a:pt x="664044" y="1211962"/>
                </a:lnTo>
                <a:lnTo>
                  <a:pt x="379449" y="1077299"/>
                </a:lnTo>
                <a:lnTo>
                  <a:pt x="179549" y="1077299"/>
                </a:lnTo>
                <a:lnTo>
                  <a:pt x="131818" y="1070886"/>
                </a:lnTo>
                <a:lnTo>
                  <a:pt x="88927" y="1052786"/>
                </a:lnTo>
                <a:lnTo>
                  <a:pt x="52588" y="1024711"/>
                </a:lnTo>
                <a:lnTo>
                  <a:pt x="24513" y="988372"/>
                </a:lnTo>
                <a:lnTo>
                  <a:pt x="6413" y="945481"/>
                </a:lnTo>
                <a:lnTo>
                  <a:pt x="0" y="897749"/>
                </a:lnTo>
                <a:lnTo>
                  <a:pt x="0" y="628424"/>
                </a:lnTo>
                <a:lnTo>
                  <a:pt x="0" y="17954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5163563" y="1384100"/>
            <a:ext cx="1800860" cy="657860"/>
          </a:xfrm>
          <a:prstGeom prst="rect">
            <a:avLst/>
          </a:prstGeom>
        </p:spPr>
        <p:txBody>
          <a:bodyPr vert="horz" wrap="square" lIns="0" tIns="22860" rIns="0" bIns="0" rtlCol="0">
            <a:spAutoFit/>
          </a:bodyPr>
          <a:lstStyle/>
          <a:p>
            <a:pPr marL="12700" marR="5080" algn="just">
              <a:lnSpc>
                <a:spcPts val="1650"/>
              </a:lnSpc>
              <a:spcBef>
                <a:spcPts val="180"/>
              </a:spcBef>
            </a:pPr>
            <a:r>
              <a:rPr sz="1400" spc="-5" dirty="0">
                <a:latin typeface="Arial"/>
                <a:cs typeface="Arial"/>
              </a:rPr>
              <a:t>Transforms are</a:t>
            </a:r>
            <a:r>
              <a:rPr sz="1400" spc="-90" dirty="0">
                <a:latin typeface="Arial"/>
                <a:cs typeface="Arial"/>
              </a:rPr>
              <a:t> </a:t>
            </a:r>
            <a:r>
              <a:rPr sz="1400" dirty="0">
                <a:latin typeface="Arial"/>
                <a:cs typeface="Arial"/>
              </a:rPr>
              <a:t>copied  </a:t>
            </a:r>
            <a:r>
              <a:rPr sz="1400" spc="-5" dirty="0">
                <a:latin typeface="Arial"/>
                <a:cs typeface="Arial"/>
              </a:rPr>
              <a:t>from </a:t>
            </a:r>
            <a:r>
              <a:rPr sz="1400" dirty="0">
                <a:latin typeface="Arial"/>
                <a:cs typeface="Arial"/>
              </a:rPr>
              <a:t>rigid </a:t>
            </a:r>
            <a:r>
              <a:rPr sz="1400" spc="-5" dirty="0">
                <a:latin typeface="Arial"/>
                <a:cs typeface="Arial"/>
              </a:rPr>
              <a:t>bodies back  into game</a:t>
            </a:r>
            <a:r>
              <a:rPr sz="1400" spc="-25" dirty="0">
                <a:latin typeface="Arial"/>
                <a:cs typeface="Arial"/>
              </a:rPr>
              <a:t> </a:t>
            </a:r>
            <a:r>
              <a:rPr sz="1400" spc="-5" dirty="0">
                <a:latin typeface="Arial"/>
                <a:cs typeface="Arial"/>
              </a:rPr>
              <a:t>objects.</a:t>
            </a:r>
            <a:endParaRPr sz="1400">
              <a:latin typeface="Arial"/>
              <a:cs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5101675" cy="520655"/>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6" name="object 36"/>
          <p:cNvSpPr/>
          <p:nvPr/>
        </p:nvSpPr>
        <p:spPr>
          <a:xfrm>
            <a:off x="6104749" y="1179587"/>
            <a:ext cx="2277110" cy="1212215"/>
          </a:xfrm>
          <a:custGeom>
            <a:avLst/>
            <a:gdLst/>
            <a:ahLst/>
            <a:cxnLst/>
            <a:rect l="l" t="t" r="r" b="b"/>
            <a:pathLst>
              <a:path w="2277109" h="1212214">
                <a:moveTo>
                  <a:pt x="2097149" y="1077299"/>
                </a:moveTo>
                <a:lnTo>
                  <a:pt x="179549" y="1077299"/>
                </a:lnTo>
                <a:lnTo>
                  <a:pt x="131818" y="1070886"/>
                </a:lnTo>
                <a:lnTo>
                  <a:pt x="88927" y="1052786"/>
                </a:lnTo>
                <a:lnTo>
                  <a:pt x="52588" y="1024711"/>
                </a:lnTo>
                <a:lnTo>
                  <a:pt x="24513" y="988372"/>
                </a:lnTo>
                <a:lnTo>
                  <a:pt x="6413" y="945481"/>
                </a:lnTo>
                <a:lnTo>
                  <a:pt x="0" y="897749"/>
                </a:lnTo>
                <a:lnTo>
                  <a:pt x="0" y="179549"/>
                </a:lnTo>
                <a:lnTo>
                  <a:pt x="6413" y="131818"/>
                </a:lnTo>
                <a:lnTo>
                  <a:pt x="24513" y="88927"/>
                </a:lnTo>
                <a:lnTo>
                  <a:pt x="52588" y="52588"/>
                </a:lnTo>
                <a:lnTo>
                  <a:pt x="88927" y="24513"/>
                </a:lnTo>
                <a:lnTo>
                  <a:pt x="131818" y="6413"/>
                </a:lnTo>
                <a:lnTo>
                  <a:pt x="179549" y="0"/>
                </a:lnTo>
                <a:lnTo>
                  <a:pt x="2097149" y="0"/>
                </a:lnTo>
                <a:lnTo>
                  <a:pt x="2165860" y="13667"/>
                </a:lnTo>
                <a:lnTo>
                  <a:pt x="2224110" y="52588"/>
                </a:lnTo>
                <a:lnTo>
                  <a:pt x="2263032" y="110839"/>
                </a:lnTo>
                <a:lnTo>
                  <a:pt x="2276699" y="179549"/>
                </a:lnTo>
                <a:lnTo>
                  <a:pt x="2276699" y="897749"/>
                </a:lnTo>
                <a:lnTo>
                  <a:pt x="2270286" y="945481"/>
                </a:lnTo>
                <a:lnTo>
                  <a:pt x="2252186" y="988372"/>
                </a:lnTo>
                <a:lnTo>
                  <a:pt x="2224110" y="1024711"/>
                </a:lnTo>
                <a:lnTo>
                  <a:pt x="2187772" y="1052786"/>
                </a:lnTo>
                <a:lnTo>
                  <a:pt x="2144881" y="1070886"/>
                </a:lnTo>
                <a:lnTo>
                  <a:pt x="2097149" y="1077299"/>
                </a:lnTo>
                <a:close/>
              </a:path>
              <a:path w="2277109" h="1212214">
                <a:moveTo>
                  <a:pt x="664044" y="1211962"/>
                </a:moveTo>
                <a:lnTo>
                  <a:pt x="379449" y="1077299"/>
                </a:lnTo>
                <a:lnTo>
                  <a:pt x="948624" y="1077299"/>
                </a:lnTo>
                <a:lnTo>
                  <a:pt x="664044" y="1211962"/>
                </a:lnTo>
                <a:close/>
              </a:path>
            </a:pathLst>
          </a:custGeom>
          <a:solidFill>
            <a:srgbClr val="EEEEEE"/>
          </a:solidFill>
        </p:spPr>
        <p:txBody>
          <a:bodyPr wrap="square" lIns="0" tIns="0" rIns="0" bIns="0" rtlCol="0"/>
          <a:lstStyle/>
          <a:p>
            <a:endParaRPr/>
          </a:p>
        </p:txBody>
      </p:sp>
      <p:sp>
        <p:nvSpPr>
          <p:cNvPr id="37" name="object 37"/>
          <p:cNvSpPr/>
          <p:nvPr/>
        </p:nvSpPr>
        <p:spPr>
          <a:xfrm>
            <a:off x="6104749" y="1179587"/>
            <a:ext cx="2277110" cy="1212215"/>
          </a:xfrm>
          <a:custGeom>
            <a:avLst/>
            <a:gdLst/>
            <a:ahLst/>
            <a:cxnLst/>
            <a:rect l="l" t="t" r="r" b="b"/>
            <a:pathLst>
              <a:path w="2277109" h="1212214">
                <a:moveTo>
                  <a:pt x="0" y="179549"/>
                </a:moveTo>
                <a:lnTo>
                  <a:pt x="6413" y="131818"/>
                </a:lnTo>
                <a:lnTo>
                  <a:pt x="24513" y="88927"/>
                </a:lnTo>
                <a:lnTo>
                  <a:pt x="52588" y="52588"/>
                </a:lnTo>
                <a:lnTo>
                  <a:pt x="88927" y="24513"/>
                </a:lnTo>
                <a:lnTo>
                  <a:pt x="131818" y="6413"/>
                </a:lnTo>
                <a:lnTo>
                  <a:pt x="179549" y="0"/>
                </a:lnTo>
                <a:lnTo>
                  <a:pt x="379449" y="0"/>
                </a:lnTo>
                <a:lnTo>
                  <a:pt x="948624" y="0"/>
                </a:lnTo>
                <a:lnTo>
                  <a:pt x="2097149" y="0"/>
                </a:lnTo>
                <a:lnTo>
                  <a:pt x="2132341" y="3481"/>
                </a:lnTo>
                <a:lnTo>
                  <a:pt x="2196764" y="30166"/>
                </a:lnTo>
                <a:lnTo>
                  <a:pt x="2246533" y="79935"/>
                </a:lnTo>
                <a:lnTo>
                  <a:pt x="2273218" y="144357"/>
                </a:lnTo>
                <a:lnTo>
                  <a:pt x="2276699" y="179549"/>
                </a:lnTo>
                <a:lnTo>
                  <a:pt x="2276699" y="628424"/>
                </a:lnTo>
                <a:lnTo>
                  <a:pt x="2276699" y="897749"/>
                </a:lnTo>
                <a:lnTo>
                  <a:pt x="2270286" y="945481"/>
                </a:lnTo>
                <a:lnTo>
                  <a:pt x="2252186" y="988372"/>
                </a:lnTo>
                <a:lnTo>
                  <a:pt x="2224110" y="1024711"/>
                </a:lnTo>
                <a:lnTo>
                  <a:pt x="2187772" y="1052786"/>
                </a:lnTo>
                <a:lnTo>
                  <a:pt x="2144881" y="1070886"/>
                </a:lnTo>
                <a:lnTo>
                  <a:pt x="2097149" y="1077299"/>
                </a:lnTo>
                <a:lnTo>
                  <a:pt x="948624" y="1077299"/>
                </a:lnTo>
                <a:lnTo>
                  <a:pt x="664044" y="1211962"/>
                </a:lnTo>
                <a:lnTo>
                  <a:pt x="379449" y="1077299"/>
                </a:lnTo>
                <a:lnTo>
                  <a:pt x="179549" y="1077299"/>
                </a:lnTo>
                <a:lnTo>
                  <a:pt x="131818" y="1070886"/>
                </a:lnTo>
                <a:lnTo>
                  <a:pt x="88927" y="1052786"/>
                </a:lnTo>
                <a:lnTo>
                  <a:pt x="52588" y="1024711"/>
                </a:lnTo>
                <a:lnTo>
                  <a:pt x="24513" y="988372"/>
                </a:lnTo>
                <a:lnTo>
                  <a:pt x="6413" y="945481"/>
                </a:lnTo>
                <a:lnTo>
                  <a:pt x="0" y="897749"/>
                </a:lnTo>
                <a:lnTo>
                  <a:pt x="0" y="628424"/>
                </a:lnTo>
                <a:lnTo>
                  <a:pt x="0" y="17954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6230363" y="1384100"/>
            <a:ext cx="1635760" cy="657860"/>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Phantoms </a:t>
            </a:r>
            <a:r>
              <a:rPr sz="1400" dirty="0">
                <a:latin typeface="Arial"/>
                <a:cs typeface="Arial"/>
              </a:rPr>
              <a:t>can </a:t>
            </a:r>
            <a:r>
              <a:rPr sz="1400" spc="-5" dirty="0">
                <a:latin typeface="Arial"/>
                <a:cs typeface="Arial"/>
              </a:rPr>
              <a:t>be  queried to </a:t>
            </a:r>
            <a:r>
              <a:rPr sz="1400" dirty="0">
                <a:latin typeface="Arial"/>
                <a:cs typeface="Arial"/>
              </a:rPr>
              <a:t>make  </a:t>
            </a:r>
            <a:r>
              <a:rPr sz="1400" spc="-5" dirty="0">
                <a:latin typeface="Arial"/>
                <a:cs typeface="Arial"/>
              </a:rPr>
              <a:t>gameplay</a:t>
            </a:r>
            <a:r>
              <a:rPr sz="1400" spc="-85" dirty="0">
                <a:latin typeface="Arial"/>
                <a:cs typeface="Arial"/>
              </a:rPr>
              <a:t> </a:t>
            </a:r>
            <a:r>
              <a:rPr sz="1400" spc="-5" dirty="0">
                <a:latin typeface="Arial"/>
                <a:cs typeface="Arial"/>
              </a:rPr>
              <a:t>decisions.</a:t>
            </a:r>
            <a:endParaRPr sz="1400">
              <a:latin typeface="Arial"/>
              <a:cs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69558"/>
            <a:ext cx="5330275" cy="520655"/>
          </a:xfrm>
          <a:prstGeom prst="rect">
            <a:avLst/>
          </a:prstGeom>
        </p:spPr>
        <p:txBody>
          <a:bodyPr vert="horz" wrap="square" lIns="0" tIns="12700" rIns="0" bIns="0" rtlCol="0">
            <a:spAutoFit/>
          </a:bodyPr>
          <a:lstStyle/>
          <a:p>
            <a:pPr marL="12700">
              <a:lnSpc>
                <a:spcPct val="100000"/>
              </a:lnSpc>
              <a:spcBef>
                <a:spcPts val="100"/>
              </a:spcBef>
            </a:pPr>
            <a:r>
              <a:rPr spc="-5" dirty="0"/>
              <a:t>HOWTO </a:t>
            </a:r>
            <a:r>
              <a:rPr spc="-10" dirty="0"/>
              <a:t>Physics Sim</a:t>
            </a:r>
            <a:r>
              <a:rPr spc="-80" dirty="0"/>
              <a:t> </a:t>
            </a:r>
            <a:r>
              <a:rPr spc="-5" dirty="0"/>
              <a:t>Update</a:t>
            </a:r>
          </a:p>
        </p:txBody>
      </p:sp>
      <p:sp>
        <p:nvSpPr>
          <p:cNvPr id="3" name="object 3"/>
          <p:cNvSpPr/>
          <p:nvPr/>
        </p:nvSpPr>
        <p:spPr>
          <a:xfrm>
            <a:off x="79814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4" name="object 4"/>
          <p:cNvSpPr/>
          <p:nvPr/>
        </p:nvSpPr>
        <p:spPr>
          <a:xfrm>
            <a:off x="79814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933935"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6" name="object 6"/>
          <p:cNvSpPr/>
          <p:nvPr/>
        </p:nvSpPr>
        <p:spPr>
          <a:xfrm>
            <a:off x="1906199" y="2418750"/>
            <a:ext cx="899794" cy="1068070"/>
          </a:xfrm>
          <a:custGeom>
            <a:avLst/>
            <a:gdLst/>
            <a:ahLst/>
            <a:cxnLst/>
            <a:rect l="l" t="t" r="r" b="b"/>
            <a:pathLst>
              <a:path w="899794"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7" name="object 7"/>
          <p:cNvSpPr/>
          <p:nvPr/>
        </p:nvSpPr>
        <p:spPr>
          <a:xfrm>
            <a:off x="1906199" y="2418750"/>
            <a:ext cx="899794" cy="1068070"/>
          </a:xfrm>
          <a:custGeom>
            <a:avLst/>
            <a:gdLst/>
            <a:ahLst/>
            <a:cxnLst/>
            <a:rect l="l" t="t" r="r" b="b"/>
            <a:pathLst>
              <a:path w="899794"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2028927" y="2848737"/>
            <a:ext cx="653415" cy="19304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Phantoms</a:t>
            </a:r>
            <a:endParaRPr sz="1100">
              <a:latin typeface="Arial"/>
              <a:cs typeface="Arial"/>
            </a:endParaRPr>
          </a:p>
        </p:txBody>
      </p:sp>
      <p:sp>
        <p:nvSpPr>
          <p:cNvPr id="9" name="object 9"/>
          <p:cNvSpPr/>
          <p:nvPr/>
        </p:nvSpPr>
        <p:spPr>
          <a:xfrm>
            <a:off x="301424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0" name="object 10"/>
          <p:cNvSpPr/>
          <p:nvPr/>
        </p:nvSpPr>
        <p:spPr>
          <a:xfrm>
            <a:off x="301424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3179709" y="2828163"/>
            <a:ext cx="5683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Forces</a:t>
            </a:r>
            <a:endParaRPr sz="1400">
              <a:latin typeface="Arial"/>
              <a:cs typeface="Arial"/>
            </a:endParaRPr>
          </a:p>
        </p:txBody>
      </p:sp>
      <p:sp>
        <p:nvSpPr>
          <p:cNvPr id="12" name="object 12"/>
          <p:cNvSpPr/>
          <p:nvPr/>
        </p:nvSpPr>
        <p:spPr>
          <a:xfrm>
            <a:off x="41222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3" name="object 13"/>
          <p:cNvSpPr/>
          <p:nvPr/>
        </p:nvSpPr>
        <p:spPr>
          <a:xfrm>
            <a:off x="41222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4376523" y="2828163"/>
            <a:ext cx="3905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Step</a:t>
            </a:r>
            <a:endParaRPr sz="1400">
              <a:latin typeface="Arial"/>
              <a:cs typeface="Arial"/>
            </a:endParaRPr>
          </a:p>
        </p:txBody>
      </p:sp>
      <p:sp>
        <p:nvSpPr>
          <p:cNvPr id="15" name="object 15"/>
          <p:cNvSpPr/>
          <p:nvPr/>
        </p:nvSpPr>
        <p:spPr>
          <a:xfrm>
            <a:off x="52303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6" name="object 16"/>
          <p:cNvSpPr/>
          <p:nvPr/>
        </p:nvSpPr>
        <p:spPr>
          <a:xfrm>
            <a:off x="52303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5366134" y="2723388"/>
            <a:ext cx="627380" cy="448309"/>
          </a:xfrm>
          <a:prstGeom prst="rect">
            <a:avLst/>
          </a:prstGeom>
        </p:spPr>
        <p:txBody>
          <a:bodyPr vert="horz" wrap="square" lIns="0" tIns="22860" rIns="0" bIns="0" rtlCol="0">
            <a:spAutoFit/>
          </a:bodyPr>
          <a:lstStyle/>
          <a:p>
            <a:pPr marL="12700" marR="5080" indent="59055">
              <a:lnSpc>
                <a:spcPts val="1650"/>
              </a:lnSpc>
              <a:spcBef>
                <a:spcPts val="180"/>
              </a:spcBef>
            </a:pPr>
            <a:r>
              <a:rPr sz="1400" spc="-5" dirty="0">
                <a:latin typeface="Arial"/>
                <a:cs typeface="Arial"/>
              </a:rPr>
              <a:t>Game  Objects</a:t>
            </a:r>
            <a:endParaRPr sz="1400">
              <a:latin typeface="Arial"/>
              <a:cs typeface="Arial"/>
            </a:endParaRPr>
          </a:p>
        </p:txBody>
      </p:sp>
      <p:sp>
        <p:nvSpPr>
          <p:cNvPr id="18" name="object 18"/>
          <p:cNvSpPr/>
          <p:nvPr/>
        </p:nvSpPr>
        <p:spPr>
          <a:xfrm>
            <a:off x="6338399"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19" name="object 19"/>
          <p:cNvSpPr/>
          <p:nvPr/>
        </p:nvSpPr>
        <p:spPr>
          <a:xfrm>
            <a:off x="6338399"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461128" y="2763012"/>
            <a:ext cx="653415" cy="364490"/>
          </a:xfrm>
          <a:prstGeom prst="rect">
            <a:avLst/>
          </a:prstGeom>
        </p:spPr>
        <p:txBody>
          <a:bodyPr vert="horz" wrap="square" lIns="0" tIns="8890" rIns="0" bIns="0" rtlCol="0">
            <a:spAutoFit/>
          </a:bodyPr>
          <a:lstStyle/>
          <a:p>
            <a:pPr marL="12700" marR="5080" indent="123825">
              <a:lnSpc>
                <a:spcPct val="102299"/>
              </a:lnSpc>
              <a:spcBef>
                <a:spcPts val="70"/>
              </a:spcBef>
            </a:pPr>
            <a:r>
              <a:rPr sz="1100" spc="-5" dirty="0">
                <a:latin typeface="Arial"/>
                <a:cs typeface="Arial"/>
              </a:rPr>
              <a:t>Query  Phantoms</a:t>
            </a:r>
            <a:endParaRPr sz="1100">
              <a:latin typeface="Arial"/>
              <a:cs typeface="Arial"/>
            </a:endParaRPr>
          </a:p>
        </p:txBody>
      </p:sp>
      <p:sp>
        <p:nvSpPr>
          <p:cNvPr id="21" name="object 21"/>
          <p:cNvSpPr/>
          <p:nvPr/>
        </p:nvSpPr>
        <p:spPr>
          <a:xfrm>
            <a:off x="7446450" y="2418750"/>
            <a:ext cx="899794" cy="1068070"/>
          </a:xfrm>
          <a:custGeom>
            <a:avLst/>
            <a:gdLst/>
            <a:ahLst/>
            <a:cxnLst/>
            <a:rect l="l" t="t" r="r" b="b"/>
            <a:pathLst>
              <a:path w="899795" h="1068070">
                <a:moveTo>
                  <a:pt x="749496" y="1067999"/>
                </a:moveTo>
                <a:lnTo>
                  <a:pt x="149902" y="1067999"/>
                </a:lnTo>
                <a:lnTo>
                  <a:pt x="102522" y="1060357"/>
                </a:lnTo>
                <a:lnTo>
                  <a:pt x="61372" y="1039077"/>
                </a:lnTo>
                <a:lnTo>
                  <a:pt x="28922" y="1006627"/>
                </a:lnTo>
                <a:lnTo>
                  <a:pt x="7642" y="965477"/>
                </a:lnTo>
                <a:lnTo>
                  <a:pt x="0" y="918096"/>
                </a:lnTo>
                <a:lnTo>
                  <a:pt x="0" y="149902"/>
                </a:ln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close/>
              </a:path>
            </a:pathLst>
          </a:custGeom>
          <a:solidFill>
            <a:srgbClr val="EEEEEE"/>
          </a:solidFill>
        </p:spPr>
        <p:txBody>
          <a:bodyPr wrap="square" lIns="0" tIns="0" rIns="0" bIns="0" rtlCol="0"/>
          <a:lstStyle/>
          <a:p>
            <a:endParaRPr/>
          </a:p>
        </p:txBody>
      </p:sp>
      <p:sp>
        <p:nvSpPr>
          <p:cNvPr id="22" name="object 22"/>
          <p:cNvSpPr/>
          <p:nvPr/>
        </p:nvSpPr>
        <p:spPr>
          <a:xfrm>
            <a:off x="7446450" y="2418750"/>
            <a:ext cx="899794" cy="1068070"/>
          </a:xfrm>
          <a:custGeom>
            <a:avLst/>
            <a:gdLst/>
            <a:ahLst/>
            <a:cxnLst/>
            <a:rect l="l" t="t" r="r" b="b"/>
            <a:pathLst>
              <a:path w="899795" h="1068070">
                <a:moveTo>
                  <a:pt x="0" y="149902"/>
                </a:moveTo>
                <a:lnTo>
                  <a:pt x="7642" y="102522"/>
                </a:lnTo>
                <a:lnTo>
                  <a:pt x="28922" y="61372"/>
                </a:lnTo>
                <a:lnTo>
                  <a:pt x="61372" y="28922"/>
                </a:lnTo>
                <a:lnTo>
                  <a:pt x="102522" y="7642"/>
                </a:lnTo>
                <a:lnTo>
                  <a:pt x="149902" y="0"/>
                </a:lnTo>
                <a:lnTo>
                  <a:pt x="749496" y="0"/>
                </a:lnTo>
                <a:lnTo>
                  <a:pt x="806862" y="11410"/>
                </a:lnTo>
                <a:lnTo>
                  <a:pt x="855494" y="43905"/>
                </a:lnTo>
                <a:lnTo>
                  <a:pt x="887989" y="92537"/>
                </a:lnTo>
                <a:lnTo>
                  <a:pt x="899399" y="149902"/>
                </a:lnTo>
                <a:lnTo>
                  <a:pt x="899399" y="918096"/>
                </a:lnTo>
                <a:lnTo>
                  <a:pt x="891757" y="965477"/>
                </a:lnTo>
                <a:lnTo>
                  <a:pt x="870477" y="1006627"/>
                </a:lnTo>
                <a:lnTo>
                  <a:pt x="838027" y="1039077"/>
                </a:lnTo>
                <a:lnTo>
                  <a:pt x="796877" y="1060357"/>
                </a:lnTo>
                <a:lnTo>
                  <a:pt x="749496" y="1067999"/>
                </a:lnTo>
                <a:lnTo>
                  <a:pt x="149902" y="1067999"/>
                </a:lnTo>
                <a:lnTo>
                  <a:pt x="102522" y="1060357"/>
                </a:lnTo>
                <a:lnTo>
                  <a:pt x="61372" y="1039077"/>
                </a:lnTo>
                <a:lnTo>
                  <a:pt x="28922" y="1006627"/>
                </a:lnTo>
                <a:lnTo>
                  <a:pt x="7642" y="965477"/>
                </a:lnTo>
                <a:lnTo>
                  <a:pt x="0" y="918096"/>
                </a:lnTo>
                <a:lnTo>
                  <a:pt x="0" y="149902"/>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656334" y="2828163"/>
            <a:ext cx="480059"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Casts</a:t>
            </a:r>
            <a:endParaRPr sz="1400">
              <a:latin typeface="Arial"/>
              <a:cs typeface="Arial"/>
            </a:endParaRPr>
          </a:p>
        </p:txBody>
      </p:sp>
      <p:sp>
        <p:nvSpPr>
          <p:cNvPr id="24" name="object 24"/>
          <p:cNvSpPr/>
          <p:nvPr/>
        </p:nvSpPr>
        <p:spPr>
          <a:xfrm>
            <a:off x="173482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5" name="object 25"/>
          <p:cNvSpPr/>
          <p:nvPr/>
        </p:nvSpPr>
        <p:spPr>
          <a:xfrm>
            <a:off x="173482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6" name="object 26"/>
          <p:cNvSpPr/>
          <p:nvPr/>
        </p:nvSpPr>
        <p:spPr>
          <a:xfrm>
            <a:off x="2842874" y="2751299"/>
            <a:ext cx="134620" cy="403225"/>
          </a:xfrm>
          <a:custGeom>
            <a:avLst/>
            <a:gdLst/>
            <a:ahLst/>
            <a:cxnLst/>
            <a:rect l="l" t="t" r="r" b="b"/>
            <a:pathLst>
              <a:path w="134619"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7" name="object 27"/>
          <p:cNvSpPr/>
          <p:nvPr/>
        </p:nvSpPr>
        <p:spPr>
          <a:xfrm>
            <a:off x="2842874" y="2751299"/>
            <a:ext cx="134620" cy="403225"/>
          </a:xfrm>
          <a:custGeom>
            <a:avLst/>
            <a:gdLst/>
            <a:ahLst/>
            <a:cxnLst/>
            <a:rect l="l" t="t" r="r" b="b"/>
            <a:pathLst>
              <a:path w="134619"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28" name="object 28"/>
          <p:cNvSpPr/>
          <p:nvPr/>
        </p:nvSpPr>
        <p:spPr>
          <a:xfrm>
            <a:off x="39509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29" name="object 29"/>
          <p:cNvSpPr/>
          <p:nvPr/>
        </p:nvSpPr>
        <p:spPr>
          <a:xfrm>
            <a:off x="39509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0" name="object 30"/>
          <p:cNvSpPr/>
          <p:nvPr/>
        </p:nvSpPr>
        <p:spPr>
          <a:xfrm>
            <a:off x="5058974"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1" name="object 31"/>
          <p:cNvSpPr/>
          <p:nvPr/>
        </p:nvSpPr>
        <p:spPr>
          <a:xfrm>
            <a:off x="5058974"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2" name="object 32"/>
          <p:cNvSpPr/>
          <p:nvPr/>
        </p:nvSpPr>
        <p:spPr>
          <a:xfrm>
            <a:off x="616702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3" name="object 33"/>
          <p:cNvSpPr/>
          <p:nvPr/>
        </p:nvSpPr>
        <p:spPr>
          <a:xfrm>
            <a:off x="616702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4" name="object 34"/>
          <p:cNvSpPr/>
          <p:nvPr/>
        </p:nvSpPr>
        <p:spPr>
          <a:xfrm>
            <a:off x="7275075" y="2751299"/>
            <a:ext cx="134620" cy="403225"/>
          </a:xfrm>
          <a:custGeom>
            <a:avLst/>
            <a:gdLst/>
            <a:ahLst/>
            <a:cxnLst/>
            <a:rect l="l" t="t" r="r" b="b"/>
            <a:pathLst>
              <a:path w="134620" h="403225">
                <a:moveTo>
                  <a:pt x="67049" y="402899"/>
                </a:moveTo>
                <a:lnTo>
                  <a:pt x="67049" y="302174"/>
                </a:lnTo>
                <a:lnTo>
                  <a:pt x="0" y="302174"/>
                </a:lnTo>
                <a:lnTo>
                  <a:pt x="0" y="100724"/>
                </a:lnTo>
                <a:lnTo>
                  <a:pt x="67049" y="100724"/>
                </a:lnTo>
                <a:lnTo>
                  <a:pt x="67049" y="0"/>
                </a:lnTo>
                <a:lnTo>
                  <a:pt x="134099" y="201449"/>
                </a:lnTo>
                <a:lnTo>
                  <a:pt x="67049" y="402899"/>
                </a:lnTo>
                <a:close/>
              </a:path>
            </a:pathLst>
          </a:custGeom>
          <a:solidFill>
            <a:srgbClr val="EEEEEE"/>
          </a:solidFill>
        </p:spPr>
        <p:txBody>
          <a:bodyPr wrap="square" lIns="0" tIns="0" rIns="0" bIns="0" rtlCol="0"/>
          <a:lstStyle/>
          <a:p>
            <a:endParaRPr/>
          </a:p>
        </p:txBody>
      </p:sp>
      <p:sp>
        <p:nvSpPr>
          <p:cNvPr id="35" name="object 35"/>
          <p:cNvSpPr/>
          <p:nvPr/>
        </p:nvSpPr>
        <p:spPr>
          <a:xfrm>
            <a:off x="7275075" y="2751299"/>
            <a:ext cx="134620" cy="403225"/>
          </a:xfrm>
          <a:custGeom>
            <a:avLst/>
            <a:gdLst/>
            <a:ahLst/>
            <a:cxnLst/>
            <a:rect l="l" t="t" r="r" b="b"/>
            <a:pathLst>
              <a:path w="134620" h="403225">
                <a:moveTo>
                  <a:pt x="0" y="100724"/>
                </a:moveTo>
                <a:lnTo>
                  <a:pt x="67049" y="100724"/>
                </a:lnTo>
                <a:lnTo>
                  <a:pt x="67049" y="0"/>
                </a:lnTo>
                <a:lnTo>
                  <a:pt x="134099" y="201449"/>
                </a:lnTo>
                <a:lnTo>
                  <a:pt x="67049" y="402899"/>
                </a:lnTo>
                <a:lnTo>
                  <a:pt x="67049" y="302174"/>
                </a:lnTo>
                <a:lnTo>
                  <a:pt x="0" y="302174"/>
                </a:lnTo>
                <a:lnTo>
                  <a:pt x="0" y="100724"/>
                </a:lnTo>
                <a:close/>
              </a:path>
            </a:pathLst>
          </a:custGeom>
          <a:ln w="9524">
            <a:solidFill>
              <a:srgbClr val="595959"/>
            </a:solidFill>
          </a:ln>
        </p:spPr>
        <p:txBody>
          <a:bodyPr wrap="square" lIns="0" tIns="0" rIns="0" bIns="0" rtlCol="0"/>
          <a:lstStyle/>
          <a:p>
            <a:endParaRPr/>
          </a:p>
        </p:txBody>
      </p:sp>
      <p:sp>
        <p:nvSpPr>
          <p:cNvPr id="36" name="object 36"/>
          <p:cNvSpPr/>
          <p:nvPr/>
        </p:nvSpPr>
        <p:spPr>
          <a:xfrm>
            <a:off x="6866749" y="1179587"/>
            <a:ext cx="2277110" cy="1212215"/>
          </a:xfrm>
          <a:custGeom>
            <a:avLst/>
            <a:gdLst/>
            <a:ahLst/>
            <a:cxnLst/>
            <a:rect l="l" t="t" r="r" b="b"/>
            <a:pathLst>
              <a:path w="2277109" h="1212214">
                <a:moveTo>
                  <a:pt x="2097149" y="1077299"/>
                </a:moveTo>
                <a:lnTo>
                  <a:pt x="179549" y="1077299"/>
                </a:lnTo>
                <a:lnTo>
                  <a:pt x="131818" y="1070886"/>
                </a:lnTo>
                <a:lnTo>
                  <a:pt x="88927" y="1052786"/>
                </a:lnTo>
                <a:lnTo>
                  <a:pt x="52589" y="1024711"/>
                </a:lnTo>
                <a:lnTo>
                  <a:pt x="24513" y="988372"/>
                </a:lnTo>
                <a:lnTo>
                  <a:pt x="6413" y="945481"/>
                </a:lnTo>
                <a:lnTo>
                  <a:pt x="0" y="897749"/>
                </a:lnTo>
                <a:lnTo>
                  <a:pt x="0" y="179549"/>
                </a:lnTo>
                <a:lnTo>
                  <a:pt x="6413" y="131818"/>
                </a:lnTo>
                <a:lnTo>
                  <a:pt x="24513" y="88927"/>
                </a:lnTo>
                <a:lnTo>
                  <a:pt x="52589" y="52588"/>
                </a:lnTo>
                <a:lnTo>
                  <a:pt x="88927" y="24513"/>
                </a:lnTo>
                <a:lnTo>
                  <a:pt x="131818" y="6413"/>
                </a:lnTo>
                <a:lnTo>
                  <a:pt x="179549" y="0"/>
                </a:lnTo>
                <a:lnTo>
                  <a:pt x="2097149" y="0"/>
                </a:lnTo>
                <a:lnTo>
                  <a:pt x="2165860" y="13667"/>
                </a:lnTo>
                <a:lnTo>
                  <a:pt x="2224110" y="52588"/>
                </a:lnTo>
                <a:lnTo>
                  <a:pt x="2263032" y="110839"/>
                </a:lnTo>
                <a:lnTo>
                  <a:pt x="2276699" y="179549"/>
                </a:lnTo>
                <a:lnTo>
                  <a:pt x="2276699" y="897749"/>
                </a:lnTo>
                <a:lnTo>
                  <a:pt x="2270286" y="945481"/>
                </a:lnTo>
                <a:lnTo>
                  <a:pt x="2252186" y="988372"/>
                </a:lnTo>
                <a:lnTo>
                  <a:pt x="2224110" y="1024711"/>
                </a:lnTo>
                <a:lnTo>
                  <a:pt x="2187772" y="1052786"/>
                </a:lnTo>
                <a:lnTo>
                  <a:pt x="2144881" y="1070886"/>
                </a:lnTo>
                <a:lnTo>
                  <a:pt x="2097149" y="1077299"/>
                </a:lnTo>
                <a:close/>
              </a:path>
              <a:path w="2277109" h="1212214">
                <a:moveTo>
                  <a:pt x="664044" y="1211962"/>
                </a:moveTo>
                <a:lnTo>
                  <a:pt x="379449" y="1077299"/>
                </a:lnTo>
                <a:lnTo>
                  <a:pt x="948624" y="1077299"/>
                </a:lnTo>
                <a:lnTo>
                  <a:pt x="664044" y="1211962"/>
                </a:lnTo>
                <a:close/>
              </a:path>
            </a:pathLst>
          </a:custGeom>
          <a:solidFill>
            <a:srgbClr val="EEEEEE"/>
          </a:solidFill>
        </p:spPr>
        <p:txBody>
          <a:bodyPr wrap="square" lIns="0" tIns="0" rIns="0" bIns="0" rtlCol="0"/>
          <a:lstStyle/>
          <a:p>
            <a:endParaRPr/>
          </a:p>
        </p:txBody>
      </p:sp>
      <p:sp>
        <p:nvSpPr>
          <p:cNvPr id="37" name="object 37"/>
          <p:cNvSpPr/>
          <p:nvPr/>
        </p:nvSpPr>
        <p:spPr>
          <a:xfrm>
            <a:off x="6866749" y="1179587"/>
            <a:ext cx="2277110" cy="1212215"/>
          </a:xfrm>
          <a:custGeom>
            <a:avLst/>
            <a:gdLst/>
            <a:ahLst/>
            <a:cxnLst/>
            <a:rect l="l" t="t" r="r" b="b"/>
            <a:pathLst>
              <a:path w="2277109" h="1212214">
                <a:moveTo>
                  <a:pt x="0" y="179549"/>
                </a:moveTo>
                <a:lnTo>
                  <a:pt x="6413" y="131818"/>
                </a:lnTo>
                <a:lnTo>
                  <a:pt x="24513" y="88927"/>
                </a:lnTo>
                <a:lnTo>
                  <a:pt x="52589" y="52588"/>
                </a:lnTo>
                <a:lnTo>
                  <a:pt x="88927" y="24513"/>
                </a:lnTo>
                <a:lnTo>
                  <a:pt x="131818" y="6413"/>
                </a:lnTo>
                <a:lnTo>
                  <a:pt x="179549" y="0"/>
                </a:lnTo>
                <a:lnTo>
                  <a:pt x="379449" y="0"/>
                </a:lnTo>
                <a:lnTo>
                  <a:pt x="948624" y="0"/>
                </a:lnTo>
                <a:lnTo>
                  <a:pt x="2097149" y="0"/>
                </a:lnTo>
                <a:lnTo>
                  <a:pt x="2132341" y="3481"/>
                </a:lnTo>
                <a:lnTo>
                  <a:pt x="2196764" y="30166"/>
                </a:lnTo>
                <a:lnTo>
                  <a:pt x="2246533" y="79935"/>
                </a:lnTo>
                <a:lnTo>
                  <a:pt x="2273218" y="144357"/>
                </a:lnTo>
                <a:lnTo>
                  <a:pt x="2276699" y="179549"/>
                </a:lnTo>
                <a:lnTo>
                  <a:pt x="2276699" y="628424"/>
                </a:lnTo>
                <a:lnTo>
                  <a:pt x="2276699" y="897749"/>
                </a:lnTo>
                <a:lnTo>
                  <a:pt x="2270286" y="945481"/>
                </a:lnTo>
                <a:lnTo>
                  <a:pt x="2252186" y="988372"/>
                </a:lnTo>
                <a:lnTo>
                  <a:pt x="2224110" y="1024711"/>
                </a:lnTo>
                <a:lnTo>
                  <a:pt x="2187772" y="1052786"/>
                </a:lnTo>
                <a:lnTo>
                  <a:pt x="2144881" y="1070886"/>
                </a:lnTo>
                <a:lnTo>
                  <a:pt x="2097149" y="1077299"/>
                </a:lnTo>
                <a:lnTo>
                  <a:pt x="948624" y="1077299"/>
                </a:lnTo>
                <a:lnTo>
                  <a:pt x="664044" y="1211962"/>
                </a:lnTo>
                <a:lnTo>
                  <a:pt x="379449" y="1077299"/>
                </a:lnTo>
                <a:lnTo>
                  <a:pt x="179549" y="1077299"/>
                </a:lnTo>
                <a:lnTo>
                  <a:pt x="131818" y="1070886"/>
                </a:lnTo>
                <a:lnTo>
                  <a:pt x="88927" y="1052786"/>
                </a:lnTo>
                <a:lnTo>
                  <a:pt x="52589" y="1024711"/>
                </a:lnTo>
                <a:lnTo>
                  <a:pt x="24513" y="988372"/>
                </a:lnTo>
                <a:lnTo>
                  <a:pt x="6413" y="945481"/>
                </a:lnTo>
                <a:lnTo>
                  <a:pt x="0" y="897749"/>
                </a:lnTo>
                <a:lnTo>
                  <a:pt x="0" y="628424"/>
                </a:lnTo>
                <a:lnTo>
                  <a:pt x="0" y="17954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6992363" y="1488875"/>
            <a:ext cx="199136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Ray and </a:t>
            </a:r>
            <a:r>
              <a:rPr sz="1400" dirty="0">
                <a:latin typeface="Arial"/>
                <a:cs typeface="Arial"/>
              </a:rPr>
              <a:t>shape casts</a:t>
            </a:r>
            <a:r>
              <a:rPr sz="1400" spc="-100" dirty="0">
                <a:latin typeface="Arial"/>
                <a:cs typeface="Arial"/>
              </a:rPr>
              <a:t> </a:t>
            </a:r>
            <a:r>
              <a:rPr sz="1400" spc="-5" dirty="0">
                <a:latin typeface="Arial"/>
                <a:cs typeface="Arial"/>
              </a:rPr>
              <a:t>are  </a:t>
            </a:r>
            <a:r>
              <a:rPr sz="1400" dirty="0">
                <a:latin typeface="Arial"/>
                <a:cs typeface="Arial"/>
              </a:rPr>
              <a:t>started.</a:t>
            </a:r>
            <a:endParaRPr sz="1400">
              <a:latin typeface="Arial"/>
              <a:cs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4" y="469558"/>
            <a:ext cx="3044275" cy="520655"/>
          </a:xfrm>
          <a:prstGeom prst="rect">
            <a:avLst/>
          </a:prstGeom>
        </p:spPr>
        <p:txBody>
          <a:bodyPr vert="horz" wrap="square" lIns="0" tIns="12700" rIns="0" bIns="0" rtlCol="0">
            <a:spAutoFit/>
          </a:bodyPr>
          <a:lstStyle/>
          <a:p>
            <a:pPr marL="12700">
              <a:lnSpc>
                <a:spcPct val="100000"/>
              </a:lnSpc>
              <a:spcBef>
                <a:spcPts val="100"/>
              </a:spcBef>
            </a:pPr>
            <a:r>
              <a:rPr dirty="0"/>
              <a:t>Multithreading</a:t>
            </a:r>
          </a:p>
        </p:txBody>
      </p:sp>
      <p:sp>
        <p:nvSpPr>
          <p:cNvPr id="3" name="object 3"/>
          <p:cNvSpPr txBox="1"/>
          <p:nvPr/>
        </p:nvSpPr>
        <p:spPr>
          <a:xfrm>
            <a:off x="475249" y="1162308"/>
            <a:ext cx="6751320" cy="1411605"/>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Several </a:t>
            </a:r>
            <a:r>
              <a:rPr sz="1800" dirty="0">
                <a:solidFill>
                  <a:srgbClr val="595959"/>
                </a:solidFill>
                <a:latin typeface="Arial"/>
                <a:cs typeface="Arial"/>
              </a:rPr>
              <a:t>strategies </a:t>
            </a:r>
            <a:r>
              <a:rPr sz="1800" spc="-5" dirty="0">
                <a:solidFill>
                  <a:srgbClr val="595959"/>
                </a:solidFill>
                <a:latin typeface="Arial"/>
                <a:cs typeface="Arial"/>
              </a:rPr>
              <a:t>exist for </a:t>
            </a:r>
            <a:r>
              <a:rPr sz="1800" dirty="0">
                <a:solidFill>
                  <a:srgbClr val="595959"/>
                </a:solidFill>
                <a:latin typeface="Arial"/>
                <a:cs typeface="Arial"/>
              </a:rPr>
              <a:t>multithreading a </a:t>
            </a:r>
            <a:r>
              <a:rPr sz="1800" spc="-5" dirty="0">
                <a:solidFill>
                  <a:srgbClr val="595959"/>
                </a:solidFill>
                <a:latin typeface="Arial"/>
                <a:cs typeface="Arial"/>
              </a:rPr>
              <a:t>physics</a:t>
            </a:r>
            <a:r>
              <a:rPr sz="1800" spc="-105" dirty="0">
                <a:solidFill>
                  <a:srgbClr val="595959"/>
                </a:solidFill>
                <a:latin typeface="Arial"/>
                <a:cs typeface="Arial"/>
              </a:rPr>
              <a:t> </a:t>
            </a:r>
            <a:r>
              <a:rPr sz="1800" dirty="0">
                <a:solidFill>
                  <a:srgbClr val="595959"/>
                </a:solidFill>
                <a:latin typeface="Arial"/>
                <a:cs typeface="Arial"/>
              </a:rPr>
              <a:t>simulation:</a:t>
            </a:r>
            <a:endParaRPr sz="1800">
              <a:latin typeface="Arial"/>
              <a:cs typeface="Arial"/>
            </a:endParaRPr>
          </a:p>
          <a:p>
            <a:pPr marL="836294" lvl="1" indent="-335915">
              <a:lnSpc>
                <a:spcPct val="100000"/>
              </a:lnSpc>
              <a:spcBef>
                <a:spcPts val="330"/>
              </a:spcBef>
              <a:buChar char="○"/>
              <a:tabLst>
                <a:tab pos="836294" algn="l"/>
                <a:tab pos="836930" algn="l"/>
              </a:tabLst>
            </a:pPr>
            <a:r>
              <a:rPr sz="1400" dirty="0">
                <a:solidFill>
                  <a:srgbClr val="595959"/>
                </a:solidFill>
                <a:latin typeface="Arial"/>
                <a:cs typeface="Arial"/>
              </a:rPr>
              <a:t>A </a:t>
            </a:r>
            <a:r>
              <a:rPr sz="1400" b="1" spc="-5" dirty="0">
                <a:solidFill>
                  <a:srgbClr val="595959"/>
                </a:solidFill>
                <a:latin typeface="Arial"/>
                <a:cs typeface="Arial"/>
              </a:rPr>
              <a:t>dedicated </a:t>
            </a:r>
            <a:r>
              <a:rPr sz="1400" b="1" dirty="0">
                <a:solidFill>
                  <a:srgbClr val="595959"/>
                </a:solidFill>
                <a:latin typeface="Arial"/>
                <a:cs typeface="Arial"/>
              </a:rPr>
              <a:t>thread </a:t>
            </a:r>
            <a:r>
              <a:rPr sz="1400" dirty="0">
                <a:solidFill>
                  <a:srgbClr val="595959"/>
                </a:solidFill>
                <a:latin typeface="Arial"/>
                <a:cs typeface="Arial"/>
              </a:rPr>
              <a:t>can </a:t>
            </a:r>
            <a:r>
              <a:rPr sz="1400" spc="-5" dirty="0">
                <a:solidFill>
                  <a:srgbClr val="595959"/>
                </a:solidFill>
                <a:latin typeface="Arial"/>
                <a:cs typeface="Arial"/>
              </a:rPr>
              <a:t>be used to </a:t>
            </a:r>
            <a:r>
              <a:rPr sz="1400" dirty="0">
                <a:solidFill>
                  <a:srgbClr val="595959"/>
                </a:solidFill>
                <a:latin typeface="Arial"/>
                <a:cs typeface="Arial"/>
              </a:rPr>
              <a:t>simulate</a:t>
            </a:r>
            <a:r>
              <a:rPr sz="1400" spc="-15" dirty="0">
                <a:solidFill>
                  <a:srgbClr val="595959"/>
                </a:solidFill>
                <a:latin typeface="Arial"/>
                <a:cs typeface="Arial"/>
              </a:rPr>
              <a:t> </a:t>
            </a:r>
            <a:r>
              <a:rPr sz="1400" spc="-5" dirty="0">
                <a:solidFill>
                  <a:srgbClr val="595959"/>
                </a:solidFill>
                <a:latin typeface="Arial"/>
                <a:cs typeface="Arial"/>
              </a:rPr>
              <a:t>physics.</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Physics </a:t>
            </a:r>
            <a:r>
              <a:rPr sz="1400" dirty="0">
                <a:solidFill>
                  <a:srgbClr val="595959"/>
                </a:solidFill>
                <a:latin typeface="Arial"/>
                <a:cs typeface="Arial"/>
              </a:rPr>
              <a:t>calculations can </a:t>
            </a:r>
            <a:r>
              <a:rPr sz="1400" b="1" dirty="0">
                <a:solidFill>
                  <a:srgbClr val="595959"/>
                </a:solidFill>
                <a:latin typeface="Arial"/>
                <a:cs typeface="Arial"/>
              </a:rPr>
              <a:t>fork </a:t>
            </a:r>
            <a:r>
              <a:rPr sz="1400" b="1" spc="-5" dirty="0">
                <a:solidFill>
                  <a:srgbClr val="595959"/>
                </a:solidFill>
                <a:latin typeface="Arial"/>
                <a:cs typeface="Arial"/>
              </a:rPr>
              <a:t>and join </a:t>
            </a:r>
            <a:r>
              <a:rPr sz="1400" spc="-5" dirty="0">
                <a:solidFill>
                  <a:srgbClr val="595959"/>
                </a:solidFill>
                <a:latin typeface="Arial"/>
                <a:cs typeface="Arial"/>
              </a:rPr>
              <a:t>from the </a:t>
            </a:r>
            <a:r>
              <a:rPr sz="1400" dirty="0">
                <a:solidFill>
                  <a:srgbClr val="595959"/>
                </a:solidFill>
                <a:latin typeface="Arial"/>
                <a:cs typeface="Arial"/>
              </a:rPr>
              <a:t>main</a:t>
            </a:r>
            <a:r>
              <a:rPr sz="1400" spc="-25" dirty="0">
                <a:solidFill>
                  <a:srgbClr val="595959"/>
                </a:solidFill>
                <a:latin typeface="Arial"/>
                <a:cs typeface="Arial"/>
              </a:rPr>
              <a:t> </a:t>
            </a:r>
            <a:r>
              <a:rPr sz="1400" spc="-5" dirty="0">
                <a:solidFill>
                  <a:srgbClr val="595959"/>
                </a:solidFill>
                <a:latin typeface="Arial"/>
                <a:cs typeface="Arial"/>
              </a:rPr>
              <a:t>thread.</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Physics </a:t>
            </a:r>
            <a:r>
              <a:rPr sz="1400" dirty="0">
                <a:solidFill>
                  <a:srgbClr val="595959"/>
                </a:solidFill>
                <a:latin typeface="Arial"/>
                <a:cs typeface="Arial"/>
              </a:rPr>
              <a:t>calculations can </a:t>
            </a:r>
            <a:r>
              <a:rPr sz="1400" spc="-5" dirty="0">
                <a:solidFill>
                  <a:srgbClr val="595959"/>
                </a:solidFill>
                <a:latin typeface="Arial"/>
                <a:cs typeface="Arial"/>
              </a:rPr>
              <a:t>be executed as </a:t>
            </a:r>
            <a:r>
              <a:rPr sz="1400" b="1" spc="-5" dirty="0">
                <a:solidFill>
                  <a:srgbClr val="595959"/>
                </a:solidFill>
                <a:latin typeface="Arial"/>
                <a:cs typeface="Arial"/>
              </a:rPr>
              <a:t>jobs </a:t>
            </a:r>
            <a:r>
              <a:rPr sz="1400" spc="-5" dirty="0">
                <a:solidFill>
                  <a:srgbClr val="595959"/>
                </a:solidFill>
                <a:latin typeface="Arial"/>
                <a:cs typeface="Arial"/>
              </a:rPr>
              <a:t>on dedicated job</a:t>
            </a:r>
            <a:r>
              <a:rPr sz="1400" spc="-30" dirty="0">
                <a:solidFill>
                  <a:srgbClr val="595959"/>
                </a:solidFill>
                <a:latin typeface="Arial"/>
                <a:cs typeface="Arial"/>
              </a:rPr>
              <a:t> </a:t>
            </a:r>
            <a:r>
              <a:rPr sz="1400" spc="-5" dirty="0">
                <a:solidFill>
                  <a:srgbClr val="595959"/>
                </a:solidFill>
                <a:latin typeface="Arial"/>
                <a:cs typeface="Arial"/>
              </a:rPr>
              <a:t>threads.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In all </a:t>
            </a:r>
            <a:r>
              <a:rPr sz="1800" dirty="0">
                <a:solidFill>
                  <a:srgbClr val="595959"/>
                </a:solidFill>
                <a:latin typeface="Arial"/>
                <a:cs typeface="Arial"/>
              </a:rPr>
              <a:t>cases, </a:t>
            </a:r>
            <a:r>
              <a:rPr sz="1800" spc="-5" dirty="0">
                <a:solidFill>
                  <a:srgbClr val="595959"/>
                </a:solidFill>
                <a:latin typeface="Arial"/>
                <a:cs typeface="Arial"/>
              </a:rPr>
              <a:t>typical thread-safety practices </a:t>
            </a:r>
            <a:r>
              <a:rPr sz="1800" dirty="0">
                <a:solidFill>
                  <a:srgbClr val="595959"/>
                </a:solidFill>
                <a:latin typeface="Arial"/>
                <a:cs typeface="Arial"/>
              </a:rPr>
              <a:t>must </a:t>
            </a:r>
            <a:r>
              <a:rPr sz="1800" spc="-5" dirty="0">
                <a:solidFill>
                  <a:srgbClr val="595959"/>
                </a:solidFill>
                <a:latin typeface="Arial"/>
                <a:cs typeface="Arial"/>
              </a:rPr>
              <a:t>be</a:t>
            </a:r>
            <a:r>
              <a:rPr sz="1800" spc="-75" dirty="0">
                <a:solidFill>
                  <a:srgbClr val="595959"/>
                </a:solidFill>
                <a:latin typeface="Arial"/>
                <a:cs typeface="Arial"/>
              </a:rPr>
              <a:t> </a:t>
            </a:r>
            <a:r>
              <a:rPr sz="1800" spc="-5" dirty="0">
                <a:solidFill>
                  <a:srgbClr val="595959"/>
                </a:solidFill>
                <a:latin typeface="Arial"/>
                <a:cs typeface="Arial"/>
              </a:rPr>
              <a:t>employed.</a:t>
            </a:r>
            <a:endParaRPr sz="1800">
              <a:latin typeface="Arial"/>
              <a:cs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242310" cy="452120"/>
          </a:xfrm>
          <a:prstGeom prst="rect">
            <a:avLst/>
          </a:prstGeom>
        </p:spPr>
        <p:txBody>
          <a:bodyPr vert="horz" wrap="square" lIns="0" tIns="12700" rIns="0" bIns="0" rtlCol="0">
            <a:spAutoFit/>
          </a:bodyPr>
          <a:lstStyle/>
          <a:p>
            <a:pPr marL="12700">
              <a:lnSpc>
                <a:spcPct val="100000"/>
              </a:lnSpc>
              <a:spcBef>
                <a:spcPts val="100"/>
              </a:spcBef>
            </a:pPr>
            <a:r>
              <a:rPr spc="-5" dirty="0"/>
              <a:t>Want to learn</a:t>
            </a:r>
            <a:r>
              <a:rPr spc="-100" dirty="0"/>
              <a:t> </a:t>
            </a:r>
            <a:r>
              <a:rPr dirty="0"/>
              <a:t>more?</a:t>
            </a:r>
          </a:p>
        </p:txBody>
      </p:sp>
      <p:sp>
        <p:nvSpPr>
          <p:cNvPr id="3" name="object 3"/>
          <p:cNvSpPr txBox="1"/>
          <p:nvPr/>
        </p:nvSpPr>
        <p:spPr>
          <a:xfrm>
            <a:off x="475249" y="1162308"/>
            <a:ext cx="4781550" cy="198120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Excellent </a:t>
            </a:r>
            <a:r>
              <a:rPr sz="1800" dirty="0">
                <a:solidFill>
                  <a:srgbClr val="595959"/>
                </a:solidFill>
                <a:latin typeface="Arial"/>
                <a:cs typeface="Arial"/>
              </a:rPr>
              <a:t>series </a:t>
            </a:r>
            <a:r>
              <a:rPr sz="1800" spc="-5" dirty="0">
                <a:solidFill>
                  <a:srgbClr val="595959"/>
                </a:solidFill>
                <a:latin typeface="Arial"/>
                <a:cs typeface="Arial"/>
              </a:rPr>
              <a:t>of articles by Chris</a:t>
            </a:r>
            <a:r>
              <a:rPr sz="1800" spc="-85" dirty="0">
                <a:solidFill>
                  <a:srgbClr val="595959"/>
                </a:solidFill>
                <a:latin typeface="Arial"/>
                <a:cs typeface="Arial"/>
              </a:rPr>
              <a:t> </a:t>
            </a:r>
            <a:r>
              <a:rPr sz="1800" spc="-5" dirty="0">
                <a:solidFill>
                  <a:srgbClr val="595959"/>
                </a:solidFill>
                <a:latin typeface="Arial"/>
                <a:cs typeface="Arial"/>
              </a:rPr>
              <a:t>Hecker.</a:t>
            </a:r>
            <a:endParaRPr sz="1800">
              <a:latin typeface="Arial"/>
              <a:cs typeface="Arial"/>
            </a:endParaRPr>
          </a:p>
          <a:p>
            <a:pPr marL="836294" lvl="1" indent="-335915">
              <a:lnSpc>
                <a:spcPct val="100000"/>
              </a:lnSpc>
              <a:spcBef>
                <a:spcPts val="330"/>
              </a:spcBef>
              <a:buClr>
                <a:srgbClr val="595959"/>
              </a:buClr>
              <a:buChar char="○"/>
              <a:tabLst>
                <a:tab pos="836294" algn="l"/>
                <a:tab pos="836930" algn="l"/>
              </a:tabLst>
            </a:pPr>
            <a:r>
              <a:rPr sz="1400" u="heavy" spc="-5" dirty="0">
                <a:solidFill>
                  <a:srgbClr val="0097A7"/>
                </a:solidFill>
                <a:uFill>
                  <a:solidFill>
                    <a:srgbClr val="0097A7"/>
                  </a:solidFill>
                </a:uFill>
                <a:latin typeface="Arial"/>
                <a:cs typeface="Arial"/>
                <a:hlinkClick r:id="rId2"/>
              </a:rPr>
              <a:t>http://chrishecker.com/Rigid_body_dynamics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Browse </a:t>
            </a:r>
            <a:r>
              <a:rPr sz="1800" dirty="0">
                <a:solidFill>
                  <a:srgbClr val="595959"/>
                </a:solidFill>
                <a:latin typeface="Arial"/>
                <a:cs typeface="Arial"/>
              </a:rPr>
              <a:t>source </a:t>
            </a:r>
            <a:r>
              <a:rPr sz="1800" spc="-5" dirty="0">
                <a:solidFill>
                  <a:srgbClr val="595959"/>
                </a:solidFill>
                <a:latin typeface="Arial"/>
                <a:cs typeface="Arial"/>
              </a:rPr>
              <a:t>for </a:t>
            </a:r>
            <a:r>
              <a:rPr sz="1800" dirty="0">
                <a:solidFill>
                  <a:srgbClr val="595959"/>
                </a:solidFill>
                <a:latin typeface="Arial"/>
                <a:cs typeface="Arial"/>
              </a:rPr>
              <a:t>a real </a:t>
            </a:r>
            <a:r>
              <a:rPr sz="1800" spc="-5" dirty="0">
                <a:solidFill>
                  <a:srgbClr val="595959"/>
                </a:solidFill>
                <a:latin typeface="Arial"/>
                <a:cs typeface="Arial"/>
              </a:rPr>
              <a:t>physics</a:t>
            </a:r>
            <a:r>
              <a:rPr sz="1800" spc="-75" dirty="0">
                <a:solidFill>
                  <a:srgbClr val="595959"/>
                </a:solidFill>
                <a:latin typeface="Arial"/>
                <a:cs typeface="Arial"/>
              </a:rPr>
              <a:t> </a:t>
            </a:r>
            <a:r>
              <a:rPr sz="1800" spc="-5" dirty="0">
                <a:solidFill>
                  <a:srgbClr val="595959"/>
                </a:solidFill>
                <a:latin typeface="Arial"/>
                <a:cs typeface="Arial"/>
              </a:rPr>
              <a:t>engine!</a:t>
            </a:r>
            <a:endParaRPr sz="1800">
              <a:latin typeface="Arial"/>
              <a:cs typeface="Arial"/>
            </a:endParaRPr>
          </a:p>
          <a:p>
            <a:pPr marL="836294" lvl="1" indent="-335915">
              <a:lnSpc>
                <a:spcPct val="100000"/>
              </a:lnSpc>
              <a:spcBef>
                <a:spcPts val="330"/>
              </a:spcBef>
              <a:buClr>
                <a:srgbClr val="595959"/>
              </a:buClr>
              <a:buChar char="○"/>
              <a:tabLst>
                <a:tab pos="836294" algn="l"/>
                <a:tab pos="836930" algn="l"/>
              </a:tabLst>
            </a:pPr>
            <a:r>
              <a:rPr sz="1400" u="heavy" spc="-5" dirty="0">
                <a:solidFill>
                  <a:srgbClr val="0097A7"/>
                </a:solidFill>
                <a:uFill>
                  <a:solidFill>
                    <a:srgbClr val="0097A7"/>
                  </a:solidFill>
                </a:uFill>
                <a:latin typeface="Arial"/>
                <a:cs typeface="Arial"/>
                <a:hlinkClick r:id="rId3"/>
              </a:rPr>
              <a:t>http://bulletphysics.org/wordpress/</a:t>
            </a:r>
            <a:endParaRPr sz="1400">
              <a:latin typeface="Arial"/>
              <a:cs typeface="Arial"/>
            </a:endParaRPr>
          </a:p>
          <a:p>
            <a:pPr marL="836294" lvl="1" indent="-335915">
              <a:lnSpc>
                <a:spcPct val="100000"/>
              </a:lnSpc>
              <a:spcBef>
                <a:spcPts val="270"/>
              </a:spcBef>
              <a:buClr>
                <a:srgbClr val="595959"/>
              </a:buClr>
              <a:buChar char="○"/>
              <a:tabLst>
                <a:tab pos="836294" algn="l"/>
                <a:tab pos="836930" algn="l"/>
              </a:tabLst>
            </a:pPr>
            <a:r>
              <a:rPr sz="1400" u="heavy" spc="-5" dirty="0">
                <a:solidFill>
                  <a:srgbClr val="0097A7"/>
                </a:solidFill>
                <a:uFill>
                  <a:solidFill>
                    <a:srgbClr val="0097A7"/>
                  </a:solidFill>
                </a:uFill>
                <a:latin typeface="Arial"/>
                <a:cs typeface="Arial"/>
                <a:hlinkClick r:id="rId4"/>
              </a:rPr>
              <a:t>https://developer.nvidia.com/physx-source-github</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Gaffer on</a:t>
            </a:r>
            <a:r>
              <a:rPr sz="1800" spc="-10" dirty="0">
                <a:solidFill>
                  <a:srgbClr val="595959"/>
                </a:solidFill>
                <a:latin typeface="Arial"/>
                <a:cs typeface="Arial"/>
              </a:rPr>
              <a:t> </a:t>
            </a:r>
            <a:r>
              <a:rPr sz="1800" spc="-5" dirty="0">
                <a:solidFill>
                  <a:srgbClr val="595959"/>
                </a:solidFill>
                <a:latin typeface="Arial"/>
                <a:cs typeface="Arial"/>
              </a:rPr>
              <a:t>Games</a:t>
            </a:r>
            <a:endParaRPr sz="1800">
              <a:latin typeface="Arial"/>
              <a:cs typeface="Arial"/>
            </a:endParaRPr>
          </a:p>
          <a:p>
            <a:pPr marL="836294" lvl="1" indent="-335915">
              <a:lnSpc>
                <a:spcPct val="100000"/>
              </a:lnSpc>
              <a:spcBef>
                <a:spcPts val="330"/>
              </a:spcBef>
              <a:buClr>
                <a:srgbClr val="595959"/>
              </a:buClr>
              <a:buChar char="○"/>
              <a:tabLst>
                <a:tab pos="836294" algn="l"/>
                <a:tab pos="836930" algn="l"/>
              </a:tabLst>
            </a:pPr>
            <a:r>
              <a:rPr sz="1400" u="heavy" spc="-5" dirty="0">
                <a:solidFill>
                  <a:srgbClr val="0097A7"/>
                </a:solidFill>
                <a:uFill>
                  <a:solidFill>
                    <a:srgbClr val="0097A7"/>
                  </a:solidFill>
                </a:uFill>
                <a:latin typeface="Arial"/>
                <a:cs typeface="Arial"/>
                <a:hlinkClick r:id="rId5"/>
              </a:rPr>
              <a:t>http://gafferongames.com/game-physics/</a:t>
            </a:r>
            <a:endParaRPr sz="1400">
              <a:latin typeface="Arial"/>
              <a:cs typeface="Arial"/>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TotalTime>
  <Words>3171</Words>
  <Application>Microsoft Office PowerPoint</Application>
  <PresentationFormat>On-screen Show (16:9)</PresentationFormat>
  <Paragraphs>395</Paragraphs>
  <Slides>60</Slides>
  <Notes>22</Notes>
  <HiddenSlides>2</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60</vt:i4>
      </vt:variant>
    </vt:vector>
  </HeadingPairs>
  <TitlesOfParts>
    <vt:vector size="70" baseType="lpstr">
      <vt:lpstr>Arial</vt:lpstr>
      <vt:lpstr>Baskerville</vt:lpstr>
      <vt:lpstr>Calibri</vt:lpstr>
      <vt:lpstr>Calibri Light</vt:lpstr>
      <vt:lpstr>Gill Sans</vt:lpstr>
      <vt:lpstr>Helvetica</vt:lpstr>
      <vt:lpstr>Tahoma</vt:lpstr>
      <vt:lpstr>Times New Roman</vt:lpstr>
      <vt:lpstr>1_Office Theme</vt:lpstr>
      <vt:lpstr>Office Theme</vt:lpstr>
      <vt:lpstr>Game Architecture Rigid Body Dynamics</vt:lpstr>
      <vt:lpstr>Today’s Agenda</vt:lpstr>
      <vt:lpstr>Do We Need This?</vt:lpstr>
      <vt:lpstr>Physics</vt:lpstr>
      <vt:lpstr>Foundations</vt:lpstr>
      <vt:lpstr>Linear Dynamics</vt:lpstr>
      <vt:lpstr>Forces</vt:lpstr>
      <vt:lpstr>Solving Equations of Motion</vt:lpstr>
      <vt:lpstr>Integration</vt:lpstr>
      <vt:lpstr>Analytical Solution</vt:lpstr>
      <vt:lpstr>Explicit Euler</vt:lpstr>
      <vt:lpstr>Euler Foiler</vt:lpstr>
      <vt:lpstr>Wait, what? How?</vt:lpstr>
      <vt:lpstr>Properties of Numerical Methods</vt:lpstr>
      <vt:lpstr>Fourth-Order Runge–Kutta Numerical Integration</vt:lpstr>
      <vt:lpstr>PowerPoint Presentation</vt:lpstr>
      <vt:lpstr>PowerPoint Presentation</vt:lpstr>
      <vt:lpstr>PowerPoint Presentation</vt:lpstr>
      <vt:lpstr>PowerPoint Presentation</vt:lpstr>
      <vt:lpstr>Angular Dynamics in 2D</vt:lpstr>
      <vt:lpstr>Angular Dynamics in 2D</vt:lpstr>
      <vt:lpstr>Moment of Inertia in 2D</vt:lpstr>
      <vt:lpstr>Calculating Torque</vt:lpstr>
      <vt:lpstr>Solving Angular Equations in 2D</vt:lpstr>
      <vt:lpstr>Angular Dynamics in 3D</vt:lpstr>
      <vt:lpstr>The Inertia Tensor</vt:lpstr>
      <vt:lpstr>Calculating the Inertia Tensor</vt:lpstr>
      <vt:lpstr>Calculating the Inertia Tensor</vt:lpstr>
      <vt:lpstr>PowerPoint Presentation</vt:lpstr>
      <vt:lpstr>Calculating the Inertia Tensor</vt:lpstr>
      <vt:lpstr>PowerPoint Presentation</vt:lpstr>
      <vt:lpstr>PowerPoint Presentation</vt:lpstr>
      <vt:lpstr>Orientation</vt:lpstr>
      <vt:lpstr>Angular Velocity</vt:lpstr>
      <vt:lpstr>PowerPoint Presentation</vt:lpstr>
      <vt:lpstr>Angular Momentum</vt:lpstr>
      <vt:lpstr>Torque in 3D</vt:lpstr>
      <vt:lpstr>Solving Angular Equations in 3D</vt:lpstr>
      <vt:lpstr>Solving Angular Equations in 3D</vt:lpstr>
      <vt:lpstr>Solving Angular Equations in 3D</vt:lpstr>
      <vt:lpstr>Victory!</vt:lpstr>
      <vt:lpstr>Angular Dynamics Summary</vt:lpstr>
      <vt:lpstr>Collision Response</vt:lpstr>
      <vt:lpstr>Energy</vt:lpstr>
      <vt:lpstr>Impulse</vt:lpstr>
      <vt:lpstr>Impulse</vt:lpstr>
      <vt:lpstr>Impulse-Based Collision Response</vt:lpstr>
      <vt:lpstr>Impulse</vt:lpstr>
      <vt:lpstr>Also not covered...</vt:lpstr>
      <vt:lpstr>HOWTO Physics Sim Architecture</vt:lpstr>
      <vt:lpstr>HOWTO Physics Sim Update</vt:lpstr>
      <vt:lpstr>HOWTO Physics Sim Update</vt:lpstr>
      <vt:lpstr>HOWTO Physics Sim Update</vt:lpstr>
      <vt:lpstr>HOWTO Physics Sim Update</vt:lpstr>
      <vt:lpstr>HOWTO Physics Sim Update</vt:lpstr>
      <vt:lpstr>HOWTO Physics Sim Update</vt:lpstr>
      <vt:lpstr>HOWTO Physics Sim Update</vt:lpstr>
      <vt:lpstr>HOWTO Physics Sim Update</vt:lpstr>
      <vt:lpstr>Multithreading</vt:lpstr>
      <vt:lpstr>Want to learn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Architecture Rigid Body Dynamics</dc:title>
  <dc:creator>Chang, Benjamin Chia-Ming</dc:creator>
  <cp:lastModifiedBy>Chang, Benjamin Chia-Ming</cp:lastModifiedBy>
  <cp:revision>5</cp:revision>
  <dcterms:created xsi:type="dcterms:W3CDTF">2019-03-14T11:47:02Z</dcterms:created>
  <dcterms:modified xsi:type="dcterms:W3CDTF">2019-03-14T17:07:22Z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