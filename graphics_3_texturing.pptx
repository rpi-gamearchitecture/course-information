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95" r:id="rId29"/>
    <p:sldId id="282" r:id="rId30"/>
    <p:sldId id="291" r:id="rId31"/>
    <p:sldId id="285" r:id="rId32"/>
    <p:sldId id="286" r:id="rId33"/>
    <p:sldId id="287" r:id="rId34"/>
    <p:sldId id="288" r:id="rId35"/>
    <p:sldId id="289" r:id="rId36"/>
    <p:sldId id="290" r:id="rId37"/>
    <p:sldId id="296" r:id="rId38"/>
    <p:sldId id="292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9655B-6A5A-4724-9DE7-C08C43CA12D7}" type="datetimeFigureOut">
              <a:rPr lang="en-US" smtClean="0"/>
              <a:t>2/14/2019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AF606-042A-402A-8E36-334D5655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84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71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92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904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55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0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4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77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09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23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8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28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3109A-A260-43F2-9C84-7CEB08AD3E66}" type="datetimeFigureOut">
              <a:rPr lang="en-US" smtClean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68247-506E-4492-A30E-26A717CA1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1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5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947072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6701" y="15348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21629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Specification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701" y="2114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1118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01" y="26944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836486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Tessellation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701" y="3274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33387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Geometry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6901" y="3853996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231134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33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Post-Processing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901" y="44338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68195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Primitive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Assembly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901" y="5013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77221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Rasterization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901" y="5593401"/>
            <a:ext cx="2938780" cy="306132"/>
          </a:xfrm>
          <a:prstGeom prst="rect">
            <a:avLst/>
          </a:prstGeom>
          <a:solidFill>
            <a:srgbClr val="93C47D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46932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Fragment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Shader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701" y="6173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19134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Per-Sampler</a:t>
            </a:r>
            <a:r>
              <a:rPr sz="1867" spc="-4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Operations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2534" y="1858499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3" name="object 13"/>
          <p:cNvSpPr/>
          <p:nvPr/>
        </p:nvSpPr>
        <p:spPr>
          <a:xfrm>
            <a:off x="6002534" y="24382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4" name="object 14"/>
          <p:cNvSpPr/>
          <p:nvPr/>
        </p:nvSpPr>
        <p:spPr>
          <a:xfrm>
            <a:off x="6002534" y="3018001"/>
            <a:ext cx="172199" cy="26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5" name="object 15"/>
          <p:cNvSpPr/>
          <p:nvPr/>
        </p:nvSpPr>
        <p:spPr>
          <a:xfrm>
            <a:off x="6002534" y="35978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6" name="object 16"/>
          <p:cNvSpPr/>
          <p:nvPr/>
        </p:nvSpPr>
        <p:spPr>
          <a:xfrm>
            <a:off x="6009801" y="41776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7" name="object 17"/>
          <p:cNvSpPr/>
          <p:nvPr/>
        </p:nvSpPr>
        <p:spPr>
          <a:xfrm>
            <a:off x="6010001" y="4757401"/>
            <a:ext cx="172199" cy="268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8" name="object 18"/>
          <p:cNvSpPr/>
          <p:nvPr/>
        </p:nvSpPr>
        <p:spPr>
          <a:xfrm>
            <a:off x="6010001" y="5337199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9" name="object 19"/>
          <p:cNvSpPr/>
          <p:nvPr/>
        </p:nvSpPr>
        <p:spPr>
          <a:xfrm>
            <a:off x="6010001" y="59170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13079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395054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Fragment</a:t>
            </a:r>
            <a:r>
              <a:rPr spc="-127" dirty="0"/>
              <a:t> </a:t>
            </a:r>
            <a:r>
              <a:rPr spc="-7" dirty="0"/>
              <a:t>Shaders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49744"/>
            <a:ext cx="5227320" cy="459170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Modern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fragment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shaders</a:t>
            </a:r>
            <a:r>
              <a:rPr sz="2400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perform: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Lighting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Complex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post-processing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SSAO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Blur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Depth-of-Field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Bloom</a:t>
            </a:r>
            <a:endParaRPr sz="1867" dirty="0">
              <a:latin typeface="Arial"/>
              <a:cs typeface="Arial"/>
            </a:endParaRPr>
          </a:p>
          <a:p>
            <a:pPr marL="1724617" lvl="2" indent="-447875">
              <a:spcBef>
                <a:spcPts val="360"/>
              </a:spcBef>
              <a:buChar char="■"/>
              <a:tabLst>
                <a:tab pos="1724617" algn="l"/>
                <a:tab pos="1725464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Anti-aliasing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Normal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distortions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Color grading and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tonemapping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Downsampling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Speaking of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textures...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07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2256112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68467"/>
            <a:ext cx="9831493" cy="3113009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Textures are nothing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than additional buffers of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data.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 they’re interpreted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makes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them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textures.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API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may store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them in different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memory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because the data is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‘texture.’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API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also only allow texture data to be passed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certain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functions.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texel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is the fundamental unit of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 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pixel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display.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Sampling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is the process of accessing texel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 data by providing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sample</a:t>
            </a:r>
            <a:endParaRPr sz="2400" dirty="0">
              <a:latin typeface="Arial"/>
              <a:cs typeface="Arial"/>
            </a:endParaRPr>
          </a:p>
          <a:p>
            <a:pPr marL="505447">
              <a:spcBef>
                <a:spcPts val="420"/>
              </a:spcBef>
            </a:pP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coordinates.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724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1351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</a:t>
            </a:r>
            <a:r>
              <a:rPr spc="-127" dirty="0"/>
              <a:t> </a:t>
            </a:r>
            <a:r>
              <a:rPr spc="-7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4"/>
            <a:ext cx="10157460" cy="196476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coordinates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specified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range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[0,1].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(0,0)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bottom left, while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(1,1)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top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right.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Though this depends on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API.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However,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coordinates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are allowed to be given outside the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range.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Addressing modes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indicate how to deal with out-of-range</a:t>
            </a:r>
            <a:r>
              <a:rPr sz="2400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coordinates.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81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6845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 </a:t>
            </a:r>
            <a:r>
              <a:rPr spc="-13" dirty="0"/>
              <a:t>Addressing</a:t>
            </a:r>
            <a:r>
              <a:rPr spc="-127" dirty="0"/>
              <a:t> </a:t>
            </a:r>
            <a:r>
              <a:rPr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7038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Wrap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Mirror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Clamp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Border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155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6845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 </a:t>
            </a:r>
            <a:r>
              <a:rPr spc="-13" dirty="0"/>
              <a:t>Addressing</a:t>
            </a:r>
            <a:r>
              <a:rPr spc="-127" dirty="0"/>
              <a:t> </a:t>
            </a:r>
            <a:r>
              <a:rPr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7038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Wrap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Mirror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Clamp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Border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43199" y="2074334"/>
            <a:ext cx="3606799" cy="3479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16840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13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MSDN</a:t>
            </a:r>
          </a:p>
        </p:txBody>
      </p:sp>
    </p:spTree>
    <p:extLst>
      <p:ext uri="{BB962C8B-B14F-4D97-AF65-F5344CB8AC3E}">
        <p14:creationId xmlns:p14="http://schemas.microsoft.com/office/powerpoint/2010/main" val="41807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6845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 </a:t>
            </a:r>
            <a:r>
              <a:rPr spc="-13" dirty="0"/>
              <a:t>Addressing</a:t>
            </a:r>
            <a:r>
              <a:rPr spc="-127" dirty="0"/>
              <a:t> </a:t>
            </a:r>
            <a:r>
              <a:rPr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7038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Wrap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Mirror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Clamp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Border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43199" y="2074334"/>
            <a:ext cx="3606799" cy="3479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16840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13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MSDN</a:t>
            </a:r>
          </a:p>
        </p:txBody>
      </p:sp>
    </p:spTree>
    <p:extLst>
      <p:ext uri="{BB962C8B-B14F-4D97-AF65-F5344CB8AC3E}">
        <p14:creationId xmlns:p14="http://schemas.microsoft.com/office/powerpoint/2010/main" val="108850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6845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 </a:t>
            </a:r>
            <a:r>
              <a:rPr spc="-13" dirty="0"/>
              <a:t>Addressing</a:t>
            </a:r>
            <a:r>
              <a:rPr spc="-127" dirty="0"/>
              <a:t> </a:t>
            </a:r>
            <a:r>
              <a:rPr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70380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Wrap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Mirror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Clamp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Border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48800" y="2290234"/>
            <a:ext cx="4533899" cy="304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16840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13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MSDN</a:t>
            </a:r>
          </a:p>
        </p:txBody>
      </p:sp>
    </p:spTree>
    <p:extLst>
      <p:ext uri="{BB962C8B-B14F-4D97-AF65-F5344CB8AC3E}">
        <p14:creationId xmlns:p14="http://schemas.microsoft.com/office/powerpoint/2010/main" val="316718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56845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 </a:t>
            </a:r>
            <a:r>
              <a:rPr spc="-13" dirty="0"/>
              <a:t>Addressing</a:t>
            </a:r>
            <a:r>
              <a:rPr spc="-127" dirty="0"/>
              <a:t> </a:t>
            </a:r>
            <a:r>
              <a:rPr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90415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Wrap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Mirror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Clamp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Border</a:t>
            </a:r>
            <a:r>
              <a:rPr sz="1867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color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48801" y="2214034"/>
            <a:ext cx="4800599" cy="3149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97367" y="6626504"/>
            <a:ext cx="116840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13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MSDN</a:t>
            </a:r>
          </a:p>
        </p:txBody>
      </p:sp>
    </p:spTree>
    <p:extLst>
      <p:ext uri="{BB962C8B-B14F-4D97-AF65-F5344CB8AC3E}">
        <p14:creationId xmlns:p14="http://schemas.microsoft.com/office/powerpoint/2010/main" val="349500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084248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Mipmapping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4"/>
            <a:ext cx="10684933" cy="355892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Texel density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describes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 ratio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of texels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 to pixels.</a:t>
            </a:r>
            <a:endParaRPr sz="2400" dirty="0">
              <a:latin typeface="Arial"/>
              <a:cs typeface="Arial"/>
            </a:endParaRPr>
          </a:p>
          <a:p>
            <a:pPr marL="1115031" marR="204888" lvl="1" indent="-447875">
              <a:lnSpc>
                <a:spcPct val="116100"/>
              </a:lnSpc>
              <a:spcBef>
                <a:spcPts val="8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full-screen primitive with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resolution matching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display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resolution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 density of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1.</a:t>
            </a:r>
            <a:endParaRPr sz="1867" dirty="0">
              <a:latin typeface="Arial"/>
              <a:cs typeface="Arial"/>
            </a:endParaRPr>
          </a:p>
          <a:p>
            <a:pPr marL="1115031" marR="6773" lvl="1" indent="-447875">
              <a:lnSpc>
                <a:spcPct val="116100"/>
              </a:lnSpc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If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primitive 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distance, there are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greater number of texels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viewed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through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single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pixel.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Artifacts appear the further texel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 density is from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1.</a:t>
            </a:r>
            <a:endParaRPr sz="2400" dirty="0">
              <a:latin typeface="Arial"/>
              <a:cs typeface="Arial"/>
            </a:endParaRPr>
          </a:p>
          <a:p>
            <a:pPr marL="1115031" marR="4508387" lvl="1" indent="-447875">
              <a:lnSpc>
                <a:spcPct val="116100"/>
              </a:lnSpc>
              <a:spcBef>
                <a:spcPts val="8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 density less than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1 makes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texture look  low-resolution.</a:t>
            </a:r>
            <a:endParaRPr sz="1867" dirty="0">
              <a:latin typeface="Arial"/>
              <a:cs typeface="Arial"/>
            </a:endParaRPr>
          </a:p>
          <a:p>
            <a:pPr marL="1115031" marR="5400752" lvl="1" indent="-447875">
              <a:lnSpc>
                <a:spcPct val="116100"/>
              </a:lnSpc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 density greater than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1 can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lead to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moire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banding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patterns.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18800" y="3901600"/>
            <a:ext cx="3832899" cy="2190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0168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170512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Mipmapping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68467"/>
            <a:ext cx="8019627" cy="1538155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Mipmaps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attempt 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maintain a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texel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 density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close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1.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Sequences of lower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resolution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textures.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successive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 is half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resolution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the</a:t>
            </a:r>
            <a:r>
              <a:rPr sz="1867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previous.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example, 64x64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32x32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16x16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8x8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4x4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|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2x2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r>
              <a:rPr sz="1867" spc="-8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1x1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6980" y="3635645"/>
            <a:ext cx="4849417" cy="2393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5" name="object 5"/>
          <p:cNvSpPr/>
          <p:nvPr/>
        </p:nvSpPr>
        <p:spPr>
          <a:xfrm>
            <a:off x="6066433" y="3676550"/>
            <a:ext cx="5130799" cy="2311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6"/>
          <p:cNvSpPr txBox="1"/>
          <p:nvPr/>
        </p:nvSpPr>
        <p:spPr>
          <a:xfrm>
            <a:off x="97367" y="6626504"/>
            <a:ext cx="254846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Images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</a:t>
            </a:r>
            <a:r>
              <a:rPr sz="800" dirty="0">
                <a:latin typeface="Arial"/>
                <a:cs typeface="Arial"/>
              </a:rPr>
              <a:t>maxogden via </a:t>
            </a:r>
            <a:r>
              <a:rPr sz="800" spc="-7" dirty="0">
                <a:latin typeface="Arial"/>
                <a:cs typeface="Arial"/>
              </a:rPr>
              <a:t>Github Gist and</a:t>
            </a:r>
            <a:r>
              <a:rPr sz="800" spc="-113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Flylib</a:t>
            </a:r>
            <a:endParaRPr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88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202319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Filtering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65269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Anisotropic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8" y="1578798"/>
            <a:ext cx="4952153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Texture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coordinates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fragment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rarely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fall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  the exact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7" y="2505897"/>
            <a:ext cx="4768427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lnSpc>
                <a:spcPct val="116100"/>
              </a:lnSpc>
              <a:spcBef>
                <a:spcPts val="133"/>
              </a:spcBef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Filtering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which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surrounding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texels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are blended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final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  the texture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sample.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289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196281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Filtering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65269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Anisotropic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8" y="1578797"/>
            <a:ext cx="4860713" cy="1299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Obtain the texel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whose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closest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the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sample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location.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626518" indent="-448722">
              <a:spcBef>
                <a:spcPts val="7"/>
              </a:spcBef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GL_NEAREST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9899" y="3487267"/>
            <a:ext cx="3784599" cy="2552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6"/>
          <p:cNvSpPr/>
          <p:nvPr/>
        </p:nvSpPr>
        <p:spPr>
          <a:xfrm>
            <a:off x="7000793" y="3367185"/>
            <a:ext cx="4211163" cy="21363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97367" y="6626504"/>
            <a:ext cx="168740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opengl-tutorial.org</a:t>
            </a:r>
            <a:endParaRPr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132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198006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Filtering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65269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Anisotropic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826000" cy="1299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surrounding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texels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with weights  proportional 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sample’s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distance from</a:t>
            </a:r>
            <a:r>
              <a:rPr sz="1867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center.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626518" indent="-448722">
              <a:spcBef>
                <a:spcPts val="7"/>
              </a:spcBef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GL_LINEAR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78269" y="3365237"/>
            <a:ext cx="4214119" cy="2189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6"/>
          <p:cNvSpPr txBox="1"/>
          <p:nvPr/>
        </p:nvSpPr>
        <p:spPr>
          <a:xfrm>
            <a:off x="97367" y="6626504"/>
            <a:ext cx="168740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0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opengl-tutorial.org</a:t>
            </a:r>
            <a:endParaRPr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497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203182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Filtering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652693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Trilinear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Anisotropic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7"/>
            <a:ext cx="4531360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texture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likely falls between two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mipmap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levels.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Trilinear filtering does the  following: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7" y="2836097"/>
            <a:ext cx="4087707" cy="13609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773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Perform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bilinear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sample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each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mipmap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level.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Linearly blend the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results.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GL_LINEAR_MIPMAP_LINEAR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192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1960858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Filtering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8"/>
            <a:ext cx="1799167" cy="1366442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Nearest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Trilinear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Anisotropic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7"/>
            <a:ext cx="4837005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lnSpc>
                <a:spcPct val="116100"/>
              </a:lnSpc>
              <a:spcBef>
                <a:spcPts val="133"/>
              </a:spcBef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Anisotropy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distortion in texels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on an object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surface viewed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at an oblique angle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plane.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7" y="2836098"/>
            <a:ext cx="4667672" cy="689205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Sample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trapezoidal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region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67" spc="-8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texels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Trapezoid determined by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viewing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angle.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5301" y="3490516"/>
            <a:ext cx="5079999" cy="2400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97367" y="6626504"/>
            <a:ext cx="149436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 Project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CARS</a:t>
            </a:r>
            <a:endParaRPr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500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6" y="626078"/>
            <a:ext cx="5767063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OpenGL</a:t>
            </a:r>
            <a:r>
              <a:rPr spc="-127" dirty="0"/>
              <a:t> </a:t>
            </a:r>
            <a:r>
              <a:rPr spc="-7" dirty="0"/>
              <a:t>Textures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4"/>
            <a:ext cx="8411633" cy="30391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OpenGL works with texture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units.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glActiveTexture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sets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texture unit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subsequent state calls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sz="1867" spc="-1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affect.</a:t>
            </a:r>
            <a:endParaRPr sz="1867" dirty="0">
              <a:latin typeface="Arial"/>
              <a:cs typeface="Arial"/>
            </a:endParaRPr>
          </a:p>
          <a:p>
            <a:pPr marL="1115031" marR="1878706" lvl="1" indent="-447875">
              <a:lnSpc>
                <a:spcPct val="116100"/>
              </a:lnSpc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Accepts GL_TEXTURE</a:t>
            </a:r>
            <a:r>
              <a:rPr sz="1867" i="1" spc="-7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, where 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67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between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 GL_MAX_COMBINED_TEXTURE_IMAGE_UNITS.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unit index is bound to the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shader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program</a:t>
            </a:r>
            <a:r>
              <a:rPr sz="2400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uniform.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glUniform1i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 data is loaded by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calling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glTexImage2D.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Mipmaps can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be generated with</a:t>
            </a:r>
            <a:r>
              <a:rPr sz="2400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glGenerateMipmaps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843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498316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Worth</a:t>
            </a:r>
            <a:r>
              <a:rPr spc="-127" dirty="0"/>
              <a:t> </a:t>
            </a:r>
            <a:r>
              <a:rPr spc="-7" dirty="0"/>
              <a:t>Noting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6" y="1549745"/>
            <a:ext cx="10401300" cy="1882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save space,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texture data is often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compressed.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There are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many compression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algorithms: BC1-3, BC4, BC5, BC6H, BC7, ASTC,</a:t>
            </a:r>
            <a:r>
              <a:rPr sz="1867" spc="-9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PVRTC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Hardware unpacks it for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you!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This is one of those things that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could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 an entire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lecture.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Compression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leave artifacts.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It’s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tradeoff.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075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3503507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7" dirty="0"/>
              <a:t>Texture</a:t>
            </a:r>
            <a:r>
              <a:rPr spc="-127" dirty="0"/>
              <a:t> </a:t>
            </a:r>
            <a:r>
              <a:rPr spc="-7" dirty="0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6900" y="2011617"/>
            <a:ext cx="1284392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GL_RGBA8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901" y="3254485"/>
            <a:ext cx="11269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GL_RGB5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900" y="4497351"/>
            <a:ext cx="15477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GL_RGB5_A1</a:t>
            </a:r>
            <a:endParaRPr sz="1867" dirty="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3083" y="2587217"/>
          <a:ext cx="10234499" cy="427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4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42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43083" y="3830084"/>
          <a:ext cx="4470389" cy="427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4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43083" y="5072950"/>
          <a:ext cx="4765028" cy="427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4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3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46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342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27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12700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6C9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10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287524"/>
            <a:ext cx="4947072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Programmable</a:t>
            </a:r>
            <a:r>
              <a:rPr spc="-113" dirty="0"/>
              <a:t> </a:t>
            </a:r>
            <a:r>
              <a:rPr spc="-7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6701" y="15348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21629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Specification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701" y="2114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1118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01" y="26944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836486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Tessellation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6701" y="32742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33387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Geometry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6901" y="3853996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231134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Vertex</a:t>
            </a:r>
            <a:r>
              <a:rPr sz="1867" spc="-33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Post-Processing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901" y="44338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468195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Primitive</a:t>
            </a:r>
            <a:r>
              <a:rPr sz="1867" spc="-27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Assembly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6901" y="5013600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777221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Rasterization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901" y="5593401"/>
            <a:ext cx="2938780" cy="306132"/>
          </a:xfrm>
          <a:prstGeom prst="rect">
            <a:avLst/>
          </a:prstGeom>
          <a:solidFill>
            <a:srgbClr val="CCCCCC"/>
          </a:solidFill>
          <a:ln w="19049">
            <a:solidFill>
              <a:srgbClr val="B7B7B7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546932">
              <a:spcBef>
                <a:spcPts val="147"/>
              </a:spcBef>
            </a:pP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Fragment</a:t>
            </a:r>
            <a:r>
              <a:rPr sz="1867" spc="-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999999"/>
                </a:solidFill>
                <a:latin typeface="Arial"/>
                <a:cs typeface="Arial"/>
              </a:rPr>
              <a:t>Shader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701" y="6173200"/>
            <a:ext cx="2938780" cy="306132"/>
          </a:xfrm>
          <a:prstGeom prst="rect">
            <a:avLst/>
          </a:prstGeom>
          <a:solidFill>
            <a:srgbClr val="A4C1F4"/>
          </a:solidFill>
          <a:ln w="19049">
            <a:solidFill>
              <a:srgbClr val="0000FF"/>
            </a:solidFill>
          </a:ln>
        </p:spPr>
        <p:txBody>
          <a:bodyPr vert="horz" wrap="square" lIns="0" tIns="18627" rIns="0" bIns="0" rtlCol="0">
            <a:spAutoFit/>
          </a:bodyPr>
          <a:lstStyle/>
          <a:p>
            <a:pPr marL="191342">
              <a:spcBef>
                <a:spcPts val="147"/>
              </a:spcBef>
            </a:pPr>
            <a:r>
              <a:rPr sz="1867" spc="-7" dirty="0">
                <a:latin typeface="Arial"/>
                <a:cs typeface="Arial"/>
              </a:rPr>
              <a:t>Per-Sampler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Operations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2534" y="1858499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3" name="object 13"/>
          <p:cNvSpPr/>
          <p:nvPr/>
        </p:nvSpPr>
        <p:spPr>
          <a:xfrm>
            <a:off x="6002534" y="24382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4" name="object 14"/>
          <p:cNvSpPr/>
          <p:nvPr/>
        </p:nvSpPr>
        <p:spPr>
          <a:xfrm>
            <a:off x="6002534" y="3018001"/>
            <a:ext cx="172199" cy="26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5" name="object 15"/>
          <p:cNvSpPr/>
          <p:nvPr/>
        </p:nvSpPr>
        <p:spPr>
          <a:xfrm>
            <a:off x="6002534" y="3597801"/>
            <a:ext cx="172199" cy="268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6" name="object 16"/>
          <p:cNvSpPr/>
          <p:nvPr/>
        </p:nvSpPr>
        <p:spPr>
          <a:xfrm>
            <a:off x="6009801" y="41776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7" name="object 17"/>
          <p:cNvSpPr/>
          <p:nvPr/>
        </p:nvSpPr>
        <p:spPr>
          <a:xfrm>
            <a:off x="6010001" y="4757401"/>
            <a:ext cx="172199" cy="268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8" name="object 18"/>
          <p:cNvSpPr/>
          <p:nvPr/>
        </p:nvSpPr>
        <p:spPr>
          <a:xfrm>
            <a:off x="6010001" y="5337199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9" name="object 19"/>
          <p:cNvSpPr/>
          <p:nvPr/>
        </p:nvSpPr>
        <p:spPr>
          <a:xfrm>
            <a:off x="6010001" y="5917001"/>
            <a:ext cx="172199" cy="26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076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5689425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Per-Sample</a:t>
            </a:r>
            <a:r>
              <a:rPr spc="-113" dirty="0"/>
              <a:t> </a:t>
            </a:r>
            <a:r>
              <a:rPr spc="-7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7"/>
            <a:ext cx="2379133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Blending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sRGB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Conversion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Write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624518"/>
            <a:ext cx="51003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We’re almost at the end of the graphics</a:t>
            </a:r>
            <a:r>
              <a:rPr sz="1867" spc="-8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pipeline!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7" y="2175697"/>
            <a:ext cx="5099472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There are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few operations left that happen after  the fragment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shader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and before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result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 placed in the output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framebuffer.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5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575843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Per-Sample</a:t>
            </a:r>
            <a:r>
              <a:rPr spc="-113" dirty="0"/>
              <a:t> </a:t>
            </a:r>
            <a:r>
              <a:rPr spc="-7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7"/>
            <a:ext cx="2379133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Blending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sRGB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Conversion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Write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7"/>
            <a:ext cx="4993639" cy="1016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Blending is hardware functionality for blending  the output fragment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with the existing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 the target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framebuffer.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67" y="2836097"/>
            <a:ext cx="4561839" cy="225341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Blending is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controlled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by blend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state,</a:t>
            </a:r>
            <a:r>
              <a:rPr sz="1867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which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consists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of: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626518" indent="-448722">
              <a:spcBef>
                <a:spcPts val="7"/>
              </a:spcBef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Blending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equation</a:t>
            </a:r>
            <a:endParaRPr sz="1867" dirty="0">
              <a:latin typeface="Arial"/>
              <a:cs typeface="Arial"/>
            </a:endParaRPr>
          </a:p>
          <a:p>
            <a:pPr marL="626518" indent="-448722">
              <a:spcBef>
                <a:spcPts val="360"/>
              </a:spcBef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Parameters for the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equation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16933">
              <a:spcBef>
                <a:spcPts val="7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Alpha is often treated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independently.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5601" y="3613165"/>
            <a:ext cx="5767833" cy="1887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97367" y="6626504"/>
            <a:ext cx="116840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13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MSDN</a:t>
            </a:r>
          </a:p>
        </p:txBody>
      </p:sp>
    </p:spTree>
    <p:extLst>
      <p:ext uri="{BB962C8B-B14F-4D97-AF65-F5344CB8AC3E}">
        <p14:creationId xmlns:p14="http://schemas.microsoft.com/office/powerpoint/2010/main" val="379403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5327116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Per-Sample</a:t>
            </a:r>
            <a:r>
              <a:rPr spc="-113" dirty="0"/>
              <a:t> </a:t>
            </a:r>
            <a:r>
              <a:rPr spc="-7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7"/>
            <a:ext cx="2509519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Blending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sRGB</a:t>
            </a:r>
            <a:r>
              <a:rPr sz="1867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Conversion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Write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588087" cy="29041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437716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Displays are nonlinear with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respect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conversion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voltages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light</a:t>
            </a:r>
            <a:r>
              <a:rPr sz="1867" spc="-1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intensity.</a:t>
            </a:r>
            <a:endParaRPr sz="1867" dirty="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dirty="0">
              <a:latin typeface="Times New Roman"/>
              <a:cs typeface="Times New Roman"/>
            </a:endParaRPr>
          </a:p>
          <a:p>
            <a:pPr marL="626518" marR="58419" indent="-448722">
              <a:lnSpc>
                <a:spcPct val="116100"/>
              </a:lnSpc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Originated from CRTs.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LCD displays 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simply mimic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867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behavior.</a:t>
            </a:r>
            <a:endParaRPr sz="1867" dirty="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dirty="0">
              <a:latin typeface="Times New Roman"/>
              <a:cs typeface="Times New Roman"/>
            </a:endParaRPr>
          </a:p>
          <a:p>
            <a:pPr marL="16933" marR="6773">
              <a:lnSpc>
                <a:spcPct val="116100"/>
              </a:lnSpc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Conversion from linear RGB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sRGB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  color space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will ensure the displayed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color  closely matches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original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value.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38816" y="3126267"/>
            <a:ext cx="3492499" cy="3403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6" name="object 6"/>
          <p:cNvSpPr txBox="1"/>
          <p:nvPr/>
        </p:nvSpPr>
        <p:spPr>
          <a:xfrm>
            <a:off x="97367" y="6626504"/>
            <a:ext cx="1151467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7" dirty="0">
                <a:latin typeface="Arial"/>
                <a:cs typeface="Arial"/>
              </a:rPr>
              <a:t>Image </a:t>
            </a:r>
            <a:r>
              <a:rPr sz="800" dirty="0">
                <a:latin typeface="Arial"/>
                <a:cs typeface="Arial"/>
              </a:rPr>
              <a:t>courtesy </a:t>
            </a:r>
            <a:r>
              <a:rPr sz="800" spc="-7" dirty="0">
                <a:latin typeface="Arial"/>
                <a:cs typeface="Arial"/>
              </a:rPr>
              <a:t>of</a:t>
            </a:r>
            <a:r>
              <a:rPr sz="800" spc="-107" dirty="0">
                <a:latin typeface="Arial"/>
                <a:cs typeface="Arial"/>
              </a:rPr>
              <a:t> </a:t>
            </a:r>
            <a:r>
              <a:rPr sz="800" spc="-7" dirty="0">
                <a:latin typeface="Arial"/>
                <a:cs typeface="Arial"/>
              </a:rPr>
              <a:t>Nvidia</a:t>
            </a:r>
            <a:endParaRPr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214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584470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Per-Sample</a:t>
            </a:r>
            <a:r>
              <a:rPr spc="-113" dirty="0"/>
              <a:t> </a:t>
            </a:r>
            <a:r>
              <a:rPr spc="-7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8" y="1578797"/>
            <a:ext cx="2379133" cy="1027824"/>
          </a:xfrm>
          <a:prstGeom prst="rect">
            <a:avLst/>
          </a:prstGeom>
        </p:spPr>
        <p:txBody>
          <a:bodyPr vert="horz" wrap="square" lIns="0" tIns="62653" rIns="0" bIns="0" rtlCol="0">
            <a:spAutoFit/>
          </a:bodyPr>
          <a:lstStyle/>
          <a:p>
            <a:pPr marL="464808" indent="-447875">
              <a:spcBef>
                <a:spcPts val="49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Blending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sRGB</a:t>
            </a:r>
            <a:r>
              <a:rPr sz="1867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Conversion</a:t>
            </a:r>
            <a:endParaRPr sz="1867" dirty="0">
              <a:latin typeface="Arial"/>
              <a:cs typeface="Arial"/>
            </a:endParaRPr>
          </a:p>
          <a:p>
            <a:pPr marL="464808" indent="-447875">
              <a:spcBef>
                <a:spcPts val="360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Write</a:t>
            </a:r>
            <a:r>
              <a:rPr sz="1867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Mask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567" y="1578798"/>
            <a:ext cx="4877647" cy="19147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6100"/>
              </a:lnSpc>
              <a:spcBef>
                <a:spcPts val="133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write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mask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prevents the writing of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specific  color channels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the target</a:t>
            </a:r>
            <a:r>
              <a:rPr sz="1867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framebuffer.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626518" indent="-448722">
              <a:spcBef>
                <a:spcPts val="7"/>
              </a:spcBef>
              <a:buChar char="●"/>
              <a:tabLst>
                <a:tab pos="625671" algn="l"/>
                <a:tab pos="626518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In OpenGL,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glColorMask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 marL="16933">
              <a:spcBef>
                <a:spcPts val="7"/>
              </a:spcBef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example…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2258" y="3699698"/>
            <a:ext cx="4848013" cy="6836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4808" marR="6773" indent="-447875">
              <a:lnSpc>
                <a:spcPct val="116100"/>
              </a:lnSpc>
              <a:spcBef>
                <a:spcPts val="133"/>
              </a:spcBef>
              <a:buChar char="●"/>
              <a:tabLst>
                <a:tab pos="463962" algn="l"/>
                <a:tab pos="465655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glColorMask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(false, true, true, true)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means 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that the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red channel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will not be</a:t>
            </a:r>
            <a:r>
              <a:rPr sz="1867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written.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876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26078"/>
            <a:ext cx="358458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Swap</a:t>
            </a:r>
            <a:r>
              <a:rPr spc="-120" dirty="0"/>
              <a:t> </a:t>
            </a:r>
            <a:r>
              <a:rPr spc="-7" dirty="0"/>
              <a:t>Buffers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3665" y="1568467"/>
            <a:ext cx="9924627" cy="3289788"/>
          </a:xfrm>
          <a:prstGeom prst="rect">
            <a:avLst/>
          </a:prstGeom>
        </p:spPr>
        <p:txBody>
          <a:bodyPr vert="horz" wrap="square" lIns="0" tIns="70272" rIns="0" bIns="0" rtlCol="0">
            <a:spAutoFit/>
          </a:bodyPr>
          <a:lstStyle/>
          <a:p>
            <a:pPr marL="505447" indent="-488514">
              <a:spcBef>
                <a:spcPts val="552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We’re almost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there!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420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The last thing that needs to happen is the </a:t>
            </a:r>
            <a:r>
              <a:rPr sz="2400" b="1" spc="-7" dirty="0">
                <a:solidFill>
                  <a:srgbClr val="595959"/>
                </a:solidFill>
                <a:latin typeface="Arial"/>
                <a:cs typeface="Arial"/>
              </a:rPr>
              <a:t>buffer</a:t>
            </a:r>
            <a:r>
              <a:rPr sz="2400" b="1" spc="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swap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We’ve been drawing our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scene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 the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back</a:t>
            </a:r>
            <a:r>
              <a:rPr sz="1867" b="1" spc="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buffer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front </a:t>
            </a:r>
            <a:r>
              <a:rPr sz="1867" b="1" spc="-7" dirty="0">
                <a:solidFill>
                  <a:srgbClr val="595959"/>
                </a:solidFill>
                <a:latin typeface="Arial"/>
                <a:cs typeface="Arial"/>
              </a:rPr>
              <a:t>buffer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is the image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currently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being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displayed.</a:t>
            </a:r>
            <a:endParaRPr sz="1867" dirty="0">
              <a:latin typeface="Arial"/>
              <a:cs typeface="Arial"/>
            </a:endParaRPr>
          </a:p>
          <a:p>
            <a:pPr marL="1115031" marR="6773" lvl="1" indent="-447875">
              <a:lnSpc>
                <a:spcPct val="116100"/>
              </a:lnSpc>
              <a:buChar char="○"/>
              <a:tabLst>
                <a:tab pos="1115031" algn="l"/>
                <a:tab pos="1115879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 swap command switches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the front buffer and the back buffer,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our new image is  displayed.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339"/>
              </a:spcBef>
              <a:buChar char="●"/>
              <a:tabLst>
                <a:tab pos="505447" algn="l"/>
                <a:tab pos="506294" algn="l"/>
              </a:tabLst>
            </a:pP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In OpenGL, it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varies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how this is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done.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We use SDL, which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requires a call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SDL_GL_SwapWindow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  <a:tab pos="1115879" algn="l"/>
              </a:tabLst>
            </a:pP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you’re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using wgl,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you’d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wglSwapBuffers</a:t>
            </a:r>
            <a:r>
              <a:rPr sz="1867" spc="-7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67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849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1D, 2D, 3D </a:t>
            </a:r>
          </a:p>
          <a:p>
            <a:r>
              <a:rPr lang="en-US" dirty="0" smtClean="0"/>
              <a:t>Rectangle: 2d image with no </a:t>
            </a:r>
            <a:r>
              <a:rPr lang="en-US" dirty="0" err="1" smtClean="0"/>
              <a:t>mipmaps</a:t>
            </a:r>
            <a:r>
              <a:rPr lang="en-US" dirty="0" smtClean="0"/>
              <a:t>. UV's are not normalized</a:t>
            </a:r>
          </a:p>
          <a:p>
            <a:r>
              <a:rPr lang="en-US" dirty="0" smtClean="0"/>
              <a:t>Buffer: general-purpose data buffer</a:t>
            </a:r>
          </a:p>
          <a:p>
            <a:r>
              <a:rPr lang="en-US" dirty="0" smtClean="0"/>
              <a:t>Cube map: 6 images defining the faces of a cube, used for environment mapping for skybox, reflection, IBL</a:t>
            </a:r>
          </a:p>
          <a:p>
            <a:r>
              <a:rPr lang="en-US" dirty="0" smtClean="0"/>
              <a:t>Array: contains multiple textures, to reduce overhead from switching textures when drawing different objects</a:t>
            </a:r>
          </a:p>
          <a:p>
            <a:r>
              <a:rPr lang="en-US" dirty="0" err="1" smtClean="0"/>
              <a:t>Multisample</a:t>
            </a:r>
            <a:r>
              <a:rPr lang="en-US" dirty="0" smtClean="0"/>
              <a:t>: texture can be used with MSAA 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559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Units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Historically, a TMU (texture mapping unit) is part of the graphics card responsible for drawing textures</a:t>
            </a:r>
          </a:p>
          <a:p>
            <a:r>
              <a:rPr lang="en-US" dirty="0" smtClean="0"/>
              <a:t>1 texture unit holds 1 active texture at a time</a:t>
            </a:r>
          </a:p>
          <a:p>
            <a:r>
              <a:rPr lang="en-US" dirty="0" smtClean="0"/>
              <a:t>(modern GPU's are more complex but the API concept remains)</a:t>
            </a:r>
          </a:p>
          <a:p>
            <a:r>
              <a:rPr lang="en-US" dirty="0" smtClean="0"/>
              <a:t>To draw objects with different textures, you can load each texture into the texture unit when needed (but this is slow)</a:t>
            </a:r>
          </a:p>
          <a:p>
            <a:r>
              <a:rPr lang="en-US" dirty="0" smtClean="0"/>
              <a:t>Often you need more than one texture at a time </a:t>
            </a:r>
          </a:p>
          <a:p>
            <a:pPr lvl="1"/>
            <a:r>
              <a:rPr lang="en-US" dirty="0" smtClean="0"/>
              <a:t>Normal map, spec map, </a:t>
            </a:r>
            <a:r>
              <a:rPr lang="en-US" dirty="0" err="1" smtClean="0"/>
              <a:t>lightmap</a:t>
            </a:r>
            <a:r>
              <a:rPr lang="en-US" dirty="0" smtClean="0"/>
              <a:t>, AO map… </a:t>
            </a:r>
          </a:p>
          <a:p>
            <a:pPr lvl="1"/>
            <a:r>
              <a:rPr lang="en-US" dirty="0" smtClean="0"/>
              <a:t>Layered </a:t>
            </a:r>
            <a:r>
              <a:rPr lang="en-US" dirty="0" err="1" smtClean="0"/>
              <a:t>multitexturing</a:t>
            </a:r>
            <a:r>
              <a:rPr lang="en-US" dirty="0" smtClean="0"/>
              <a:t>, terrain splat map, … </a:t>
            </a:r>
          </a:p>
          <a:p>
            <a:r>
              <a:rPr lang="en-US" dirty="0" smtClean="0"/>
              <a:t>So instead, use multiple texture units</a:t>
            </a:r>
          </a:p>
        </p:txBody>
      </p:sp>
    </p:spTree>
    <p:extLst>
      <p:ext uri="{BB962C8B-B14F-4D97-AF65-F5344CB8AC3E}">
        <p14:creationId xmlns:p14="http://schemas.microsoft.com/office/powerpoint/2010/main" val="29649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and bind a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glGenTextures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GLuint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*textures)		</a:t>
            </a:r>
          </a:p>
          <a:p>
            <a:pPr lvl="1"/>
            <a:r>
              <a:rPr lang="en-US" sz="2000" i="1" dirty="0"/>
              <a:t>t</a:t>
            </a:r>
            <a:r>
              <a:rPr lang="en-US" sz="2000" i="1" dirty="0" smtClean="0"/>
              <a:t>extures</a:t>
            </a:r>
            <a:r>
              <a:rPr lang="en-US" sz="2000" dirty="0" smtClean="0"/>
              <a:t> can be a single </a:t>
            </a:r>
            <a:r>
              <a:rPr lang="en-US" sz="2000" dirty="0" err="1" smtClean="0"/>
              <a:t>int</a:t>
            </a:r>
            <a:r>
              <a:rPr lang="en-US" sz="2000" dirty="0" smtClean="0"/>
              <a:t>, or an array</a:t>
            </a:r>
            <a:endParaRPr lang="en-US" sz="2400" dirty="0" smtClean="0"/>
          </a:p>
          <a:p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glBindTexture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target,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GLuint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texture)</a:t>
            </a:r>
          </a:p>
          <a:p>
            <a:pPr lvl="1"/>
            <a:r>
              <a:rPr lang="en-US" sz="2000" dirty="0" smtClean="0">
                <a:cs typeface="Courier New" panose="02070309020205020404" pitchFamily="49" charset="0"/>
              </a:rPr>
              <a:t>Binds a </a:t>
            </a:r>
            <a:r>
              <a:rPr lang="en-US" sz="2000" i="1" dirty="0" smtClean="0">
                <a:cs typeface="Courier New" panose="02070309020205020404" pitchFamily="49" charset="0"/>
              </a:rPr>
              <a:t>texture</a:t>
            </a:r>
            <a:r>
              <a:rPr lang="en-US" sz="2000" dirty="0" smtClean="0">
                <a:cs typeface="Courier New" panose="02070309020205020404" pitchFamily="49" charset="0"/>
              </a:rPr>
              <a:t> to a </a:t>
            </a:r>
            <a:r>
              <a:rPr lang="en-US" sz="2000" i="1" dirty="0" smtClean="0">
                <a:cs typeface="Courier New" panose="02070309020205020404" pitchFamily="49" charset="0"/>
              </a:rPr>
              <a:t>target</a:t>
            </a:r>
            <a:r>
              <a:rPr lang="en-US" sz="2000" dirty="0" smtClean="0">
                <a:cs typeface="Courier New" panose="02070309020205020404" pitchFamily="49" charset="0"/>
              </a:rPr>
              <a:t>.  </a:t>
            </a:r>
          </a:p>
          <a:p>
            <a:pPr lvl="1"/>
            <a:r>
              <a:rPr lang="en-US" sz="2000" dirty="0" smtClean="0">
                <a:cs typeface="Courier New" panose="02070309020205020404" pitchFamily="49" charset="0"/>
              </a:rPr>
              <a:t>Subsequent texturing calls refer to a target, and affect the texture bound to that target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 smtClean="0"/>
              <a:t>Targets:</a:t>
            </a:r>
          </a:p>
          <a:p>
            <a:pPr marL="457200" lvl="1" indent="0"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GL_TEXTURE_1D, GL_TEXTURE_2D, GL_TEXTURE_3D</a:t>
            </a:r>
          </a:p>
          <a:p>
            <a:pPr marL="457200" lvl="1" indent="0"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GL_TEXTURE_1D_ARRAY, GL_TEXTURE_2D_ARRAY</a:t>
            </a:r>
          </a:p>
          <a:p>
            <a:pPr marL="457200" lvl="1" indent="0"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GL_TEXTURE_RECTANGLE</a:t>
            </a:r>
          </a:p>
          <a:p>
            <a:pPr marL="457200" lvl="1" indent="0"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GL_TEXTURE_CUBE_MAP</a:t>
            </a:r>
          </a:p>
          <a:p>
            <a:pPr marL="457200" lvl="1" indent="0"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GL_TEXTURE_CUBE_MAP_ARRAY</a:t>
            </a:r>
          </a:p>
          <a:p>
            <a:pPr marL="457200" lvl="1" indent="0"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GL_TEXTURE_BUFFER</a:t>
            </a:r>
          </a:p>
          <a:p>
            <a:pPr marL="457200" lvl="1" indent="0"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GL_TEXTURE_2D_MULTISAMPLE, GL_TEXTURE_2D_MULTISAMPLE_ARRAY</a:t>
            </a:r>
          </a:p>
          <a:p>
            <a:pPr marL="0" indent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8559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texture parameters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77661" y="1621614"/>
            <a:ext cx="55870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glTexParameteri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target,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param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8787" y="2924270"/>
            <a:ext cx="100202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GL_TEXTURE_WRAP_S, GL_TEXTURE_WRAP_T: set the wrapping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GL_CLAMP_TO_EDGE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GL_CLAMP_TO_BORDER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GL_MIRRORED_REPEAT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GL_REPEAT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GL_MIRROR_CLAMP_TO_EDGE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GL_MIN_FILTER, GL_MAG_FILTER: </a:t>
            </a:r>
            <a:r>
              <a:rPr lang="en-US" dirty="0" err="1" smtClean="0"/>
              <a:t>mipmapping</a:t>
            </a:r>
            <a:r>
              <a:rPr lang="en-US" dirty="0" smtClean="0"/>
              <a:t> filter for minimization and magnification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GL_NEAREST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GL_LINEAR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28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 image data in it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929305"/>
            <a:ext cx="487248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glTexImage2D(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target,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level,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internalformat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width,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height,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border,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format,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type,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GLvoid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 data);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32717" y="2113472"/>
            <a:ext cx="65301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Target: GL_TEXTURE_2D,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Level: the </a:t>
            </a:r>
            <a:r>
              <a:rPr lang="en-US" dirty="0" err="1" smtClean="0"/>
              <a:t>mipmapping</a:t>
            </a:r>
            <a:r>
              <a:rPr lang="en-US" dirty="0" smtClean="0"/>
              <a:t> level of detail. Base level=0</a:t>
            </a:r>
          </a:p>
          <a:p>
            <a:r>
              <a:rPr lang="en-US" dirty="0" smtClean="0"/>
              <a:t>Internal format: like </a:t>
            </a:r>
            <a:r>
              <a:rPr lang="en-US" i="1" dirty="0" smtClean="0"/>
              <a:t>format</a:t>
            </a:r>
            <a:r>
              <a:rPr lang="en-US" dirty="0" smtClean="0"/>
              <a:t>, additional storage/compression options </a:t>
            </a:r>
          </a:p>
          <a:p>
            <a:r>
              <a:rPr lang="en-US" dirty="0" smtClean="0"/>
              <a:t>Width, height: dimensions of the texture (use power of 2's)</a:t>
            </a:r>
          </a:p>
          <a:p>
            <a:endParaRPr lang="en-US" dirty="0"/>
          </a:p>
          <a:p>
            <a:r>
              <a:rPr lang="en-US" dirty="0" smtClean="0"/>
              <a:t>Border: 0</a:t>
            </a:r>
          </a:p>
          <a:p>
            <a:r>
              <a:rPr lang="en-US" dirty="0" smtClean="0"/>
              <a:t>Format: </a:t>
            </a:r>
            <a:r>
              <a:rPr lang="en-US" dirty="0" smtClean="0"/>
              <a:t>GL_RGB, GL_RGBA…</a:t>
            </a:r>
          </a:p>
          <a:p>
            <a:r>
              <a:rPr lang="en-US" dirty="0" smtClean="0"/>
              <a:t>Type: type of data for a pixel; GL_UNSIGNED_BYTE, etc… </a:t>
            </a:r>
          </a:p>
          <a:p>
            <a:r>
              <a:rPr lang="en-US" dirty="0" smtClean="0"/>
              <a:t>Data: texture data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26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Formats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GL_RGB, GL_RGBA</a:t>
            </a:r>
          </a:p>
          <a:p>
            <a:r>
              <a:rPr lang="en-US" dirty="0" smtClean="0"/>
              <a:t>GL_RED, GL_RG</a:t>
            </a:r>
          </a:p>
          <a:p>
            <a:r>
              <a:rPr lang="en-US" dirty="0" smtClean="0"/>
              <a:t>GL_DEPTH_COMPONENT</a:t>
            </a:r>
          </a:p>
          <a:p>
            <a:r>
              <a:rPr lang="en-US" dirty="0" smtClean="0"/>
              <a:t>GL_DEPTH_STENCIL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81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Sized or compressed internal formats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GL_RGB5		</a:t>
            </a:r>
          </a:p>
          <a:p>
            <a:pPr lvl="1"/>
            <a:r>
              <a:rPr lang="en-US" sz="2000" dirty="0" smtClean="0"/>
              <a:t>each channel is 5 bits instead of 8</a:t>
            </a:r>
          </a:p>
          <a:p>
            <a:r>
              <a:rPr lang="en-US" sz="2400" dirty="0" smtClean="0"/>
              <a:t>GL_SRGB8_ALPHA8	</a:t>
            </a:r>
          </a:p>
          <a:p>
            <a:pPr lvl="1"/>
            <a:r>
              <a:rPr lang="en-US" sz="2000" dirty="0" smtClean="0"/>
              <a:t>like RGBA, but in </a:t>
            </a:r>
            <a:r>
              <a:rPr lang="en-US" sz="2000" dirty="0" err="1" smtClean="0"/>
              <a:t>sRGB</a:t>
            </a:r>
            <a:r>
              <a:rPr lang="en-US" sz="2000" dirty="0" smtClean="0"/>
              <a:t> color space instead of linear</a:t>
            </a:r>
          </a:p>
          <a:p>
            <a:r>
              <a:rPr lang="en-US" sz="2400" dirty="0" smtClean="0"/>
              <a:t>GL_COMPRESSED_RGBA</a:t>
            </a:r>
          </a:p>
          <a:p>
            <a:r>
              <a:rPr lang="en-US" sz="2400" dirty="0" smtClean="0"/>
              <a:t>Many more …. </a:t>
            </a:r>
            <a:endParaRPr lang="en-US" sz="20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324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</a:t>
            </a:r>
            <a:r>
              <a:rPr lang="en-US" dirty="0" err="1" smtClean="0"/>
              <a:t>mipmaps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05681" y="2312681"/>
            <a:ext cx="6083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glGenerateMipmap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24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target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4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 texture image data into a </a:t>
            </a:r>
            <a:r>
              <a:rPr lang="en-US" dirty="0" err="1" smtClean="0"/>
              <a:t>subregion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862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glTexSubImage2D(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target,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level,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xoffset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GLint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yoffset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width,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height,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format,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type,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GLvoid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 pixels);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06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34528" y="2069234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glTexStorage2D( 	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target,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levels,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internalformat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width,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GLsizei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height);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60853" y="2363638"/>
            <a:ext cx="4385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Specify settings for multiple levels all at once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33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with a texture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03358" y="1690688"/>
            <a:ext cx="1119087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glActiveTexture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unit);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sets the currently active texture unit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GL_TEXTURE0, GL_TEXTURE1, … GL_MAX_COMBINED_TEXTURE_IMAGE_UNITS-1</a:t>
            </a: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glBindTexture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GLenum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target,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GLuint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texture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call bind again to bind this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texture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to the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on the current active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unit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04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uniform variables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199" y="2001654"/>
            <a:ext cx="1074707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GLint</a:t>
            </a:r>
            <a:r>
              <a:rPr lang="en-US" dirty="0" smtClean="0"/>
              <a:t> </a:t>
            </a:r>
            <a:r>
              <a:rPr lang="en-US" dirty="0" err="1" smtClean="0"/>
              <a:t>glGetUniformLocation</a:t>
            </a:r>
            <a:r>
              <a:rPr lang="en-US" dirty="0" smtClean="0"/>
              <a:t>( 	</a:t>
            </a:r>
            <a:r>
              <a:rPr lang="en-US" dirty="0" err="1" smtClean="0"/>
              <a:t>GLuint</a:t>
            </a:r>
            <a:r>
              <a:rPr lang="en-US" dirty="0" smtClean="0"/>
              <a:t> program,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GLchar</a:t>
            </a:r>
            <a:r>
              <a:rPr lang="en-US" dirty="0" smtClean="0"/>
              <a:t> *name)</a:t>
            </a:r>
          </a:p>
          <a:p>
            <a:endParaRPr lang="en-US" dirty="0"/>
          </a:p>
          <a:p>
            <a:r>
              <a:rPr lang="en-US" dirty="0" err="1" smtClean="0"/>
              <a:t>glUniform</a:t>
            </a:r>
            <a:r>
              <a:rPr lang="en-US" dirty="0" smtClean="0"/>
              <a:t> (</a:t>
            </a:r>
            <a:r>
              <a:rPr lang="en-US" dirty="0" err="1" smtClean="0"/>
              <a:t>GLint</a:t>
            </a:r>
            <a:r>
              <a:rPr lang="en-US" dirty="0" smtClean="0"/>
              <a:t> location, … )</a:t>
            </a:r>
          </a:p>
          <a:p>
            <a:endParaRPr lang="en-US" dirty="0"/>
          </a:p>
          <a:p>
            <a:r>
              <a:rPr lang="en-US" dirty="0" smtClean="0"/>
              <a:t>glUniform1f (</a:t>
            </a:r>
            <a:r>
              <a:rPr lang="en-US" dirty="0" err="1" smtClean="0"/>
              <a:t>GLint</a:t>
            </a:r>
            <a:r>
              <a:rPr lang="en-US" dirty="0" smtClean="0"/>
              <a:t> location, float v0)</a:t>
            </a:r>
          </a:p>
          <a:p>
            <a:r>
              <a:rPr lang="en-US" dirty="0" smtClean="0"/>
              <a:t>glUniform2f (</a:t>
            </a:r>
            <a:r>
              <a:rPr lang="en-US" dirty="0" err="1" smtClean="0"/>
              <a:t>GLint</a:t>
            </a:r>
            <a:r>
              <a:rPr lang="en-US" dirty="0" smtClean="0"/>
              <a:t> location, float v0, float v1)</a:t>
            </a:r>
          </a:p>
          <a:p>
            <a:r>
              <a:rPr lang="en-US" dirty="0" smtClean="0"/>
              <a:t>glUniform1fv (</a:t>
            </a:r>
            <a:r>
              <a:rPr lang="en-US" dirty="0" err="1" smtClean="0"/>
              <a:t>GLint</a:t>
            </a:r>
            <a:r>
              <a:rPr lang="en-US" dirty="0" smtClean="0"/>
              <a:t> location, </a:t>
            </a:r>
            <a:r>
              <a:rPr lang="en-US" dirty="0" err="1" smtClean="0"/>
              <a:t>GLsizei</a:t>
            </a:r>
            <a:r>
              <a:rPr lang="en-US" dirty="0" smtClean="0"/>
              <a:t> count,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GLfloat</a:t>
            </a:r>
            <a:r>
              <a:rPr lang="en-US" dirty="0" smtClean="0"/>
              <a:t>* value)</a:t>
            </a:r>
          </a:p>
          <a:p>
            <a:r>
              <a:rPr lang="en-US" dirty="0" smtClean="0"/>
              <a:t>glUniformMatrix4fv (</a:t>
            </a:r>
            <a:r>
              <a:rPr lang="en-US" dirty="0" err="1" smtClean="0"/>
              <a:t>GLint</a:t>
            </a:r>
            <a:r>
              <a:rPr lang="en-US" dirty="0" smtClean="0"/>
              <a:t> location, </a:t>
            </a:r>
            <a:r>
              <a:rPr lang="en-US" dirty="0" err="1" smtClean="0"/>
              <a:t>GLsizei</a:t>
            </a:r>
            <a:r>
              <a:rPr lang="en-US" dirty="0" smtClean="0"/>
              <a:t> count, </a:t>
            </a:r>
            <a:r>
              <a:rPr lang="en-US" dirty="0" err="1" smtClean="0"/>
              <a:t>GLboolean</a:t>
            </a:r>
            <a:r>
              <a:rPr lang="en-US" dirty="0" smtClean="0"/>
              <a:t> transpose,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GLfloat</a:t>
            </a:r>
            <a:r>
              <a:rPr lang="en-US" dirty="0" smtClean="0"/>
              <a:t>* value)</a:t>
            </a:r>
          </a:p>
          <a:p>
            <a:endParaRPr lang="en-US" dirty="0"/>
          </a:p>
          <a:p>
            <a:r>
              <a:rPr lang="en-US" dirty="0" smtClean="0"/>
              <a:t>… and many more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6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Fragment </a:t>
            </a:r>
            <a:r>
              <a:rPr lang="en-US" dirty="0" err="1"/>
              <a:t>S</a:t>
            </a:r>
            <a:r>
              <a:rPr lang="en-US" dirty="0" err="1" smtClean="0"/>
              <a:t>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+mj-lt"/>
                <a:cs typeface="Courier New" panose="02070309020205020404" pitchFamily="49" charset="0"/>
              </a:rPr>
              <a:t>uniform sampler2D </a:t>
            </a:r>
            <a:r>
              <a:rPr lang="en-US" dirty="0" err="1" smtClean="0">
                <a:latin typeface="+mj-lt"/>
                <a:cs typeface="Courier New" panose="02070309020205020404" pitchFamily="49" charset="0"/>
              </a:rPr>
              <a:t>u_texture</a:t>
            </a:r>
            <a:r>
              <a:rPr lang="en-US" dirty="0" smtClean="0">
                <a:latin typeface="+mj-lt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+mj-lt"/>
                <a:cs typeface="Courier New" panose="02070309020205020404" pitchFamily="49" charset="0"/>
              </a:rPr>
              <a:t>sampler2D is a Texture Unit</a:t>
            </a:r>
          </a:p>
          <a:p>
            <a:pPr marL="0" indent="0">
              <a:buNone/>
            </a:pPr>
            <a:endParaRPr lang="en-US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+mj-lt"/>
                <a:cs typeface="Courier New" panose="02070309020205020404" pitchFamily="49" charset="0"/>
              </a:rPr>
              <a:t>// sample the texture from the texture unit at these U,V coordinates</a:t>
            </a:r>
          </a:p>
          <a:p>
            <a:pPr marL="0" indent="0">
              <a:buNone/>
            </a:pPr>
            <a:r>
              <a:rPr lang="en-US" dirty="0" smtClean="0">
                <a:latin typeface="+mj-lt"/>
                <a:cs typeface="Courier New" panose="02070309020205020404" pitchFamily="49" charset="0"/>
              </a:rPr>
              <a:t>vec4 texture (sampler2D </a:t>
            </a:r>
            <a:r>
              <a:rPr lang="en-US" dirty="0" err="1" smtClean="0">
                <a:latin typeface="+mj-lt"/>
                <a:cs typeface="Courier New" panose="02070309020205020404" pitchFamily="49" charset="0"/>
              </a:rPr>
              <a:t>texture_unit</a:t>
            </a:r>
            <a:r>
              <a:rPr lang="en-US" dirty="0" smtClean="0">
                <a:latin typeface="+mj-lt"/>
                <a:cs typeface="Courier New" panose="02070309020205020404" pitchFamily="49" charset="0"/>
              </a:rPr>
              <a:t>, vec2 </a:t>
            </a:r>
            <a:r>
              <a:rPr lang="en-US" dirty="0" err="1" smtClean="0">
                <a:latin typeface="+mj-lt"/>
                <a:cs typeface="Courier New" panose="02070309020205020404" pitchFamily="49" charset="0"/>
              </a:rPr>
              <a:t>uv</a:t>
            </a:r>
            <a:r>
              <a:rPr lang="en-US" dirty="0" smtClean="0">
                <a:latin typeface="+mj-lt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i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94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7306</TotalTime>
  <Words>1370</Words>
  <Application>Microsoft Office PowerPoint</Application>
  <PresentationFormat>Widescreen</PresentationFormat>
  <Paragraphs>325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Courier New</vt:lpstr>
      <vt:lpstr>Times New Roman</vt:lpstr>
      <vt:lpstr>Office Theme</vt:lpstr>
      <vt:lpstr>PowerPoint Presentation</vt:lpstr>
      <vt:lpstr>Programmable Pipeline</vt:lpstr>
      <vt:lpstr>Fragment Shaders</vt:lpstr>
      <vt:lpstr>Textures</vt:lpstr>
      <vt:lpstr>Texture Addressing</vt:lpstr>
      <vt:lpstr>Texture Addressing Modes</vt:lpstr>
      <vt:lpstr>Texture Addressing Modes</vt:lpstr>
      <vt:lpstr>Texture Addressing Modes</vt:lpstr>
      <vt:lpstr>Texture Addressing Modes</vt:lpstr>
      <vt:lpstr>Texture Addressing Modes</vt:lpstr>
      <vt:lpstr>Mipmapping</vt:lpstr>
      <vt:lpstr>Mipmapping</vt:lpstr>
      <vt:lpstr>Filtering</vt:lpstr>
      <vt:lpstr>Filtering</vt:lpstr>
      <vt:lpstr>Filtering</vt:lpstr>
      <vt:lpstr>Filtering</vt:lpstr>
      <vt:lpstr>Filtering</vt:lpstr>
      <vt:lpstr>OpenGL Textures</vt:lpstr>
      <vt:lpstr>Worth Noting</vt:lpstr>
      <vt:lpstr>Texture Formats</vt:lpstr>
      <vt:lpstr>Programmable Pipeline</vt:lpstr>
      <vt:lpstr>Per-Sample Operations</vt:lpstr>
      <vt:lpstr>Per-Sample Operations</vt:lpstr>
      <vt:lpstr>Per-Sample Operations</vt:lpstr>
      <vt:lpstr>Per-Sample Operations</vt:lpstr>
      <vt:lpstr>Swap Buffers</vt:lpstr>
      <vt:lpstr>Texture Types</vt:lpstr>
      <vt:lpstr>Texture Units</vt:lpstr>
      <vt:lpstr>Create and bind a texture</vt:lpstr>
      <vt:lpstr>Set texture parameters</vt:lpstr>
      <vt:lpstr>Put image data in it</vt:lpstr>
      <vt:lpstr>Texture Formats</vt:lpstr>
      <vt:lpstr>Sized or compressed internal formats </vt:lpstr>
      <vt:lpstr>Generate mipmaps</vt:lpstr>
      <vt:lpstr>Put texture image data into a subregion</vt:lpstr>
      <vt:lpstr>PowerPoint Presentation</vt:lpstr>
      <vt:lpstr>Drawing with a texture</vt:lpstr>
      <vt:lpstr>Setting uniform variables</vt:lpstr>
      <vt:lpstr>In Fragment Shader</vt:lpstr>
    </vt:vector>
  </TitlesOfParts>
  <Company>Rensselaer Polytechnic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Chang, Benjamin Chia-Ming</dc:creator>
  <cp:lastModifiedBy>Chang, Benjamin Chia-Ming</cp:lastModifiedBy>
  <cp:revision>27</cp:revision>
  <dcterms:created xsi:type="dcterms:W3CDTF">2019-02-14T03:41:45Z</dcterms:created>
  <dcterms:modified xsi:type="dcterms:W3CDTF">2019-02-19T05:27:57Z</dcterms:modified>
</cp:coreProperties>
</file>