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7" r:id="rId16"/>
    <p:sldId id="298" r:id="rId17"/>
    <p:sldId id="299" r:id="rId18"/>
    <p:sldId id="300" r:id="rId19"/>
    <p:sldId id="270" r:id="rId20"/>
    <p:sldId id="271" r:id="rId21"/>
    <p:sldId id="272" r:id="rId22"/>
    <p:sldId id="273" r:id="rId23"/>
    <p:sldId id="274" r:id="rId24"/>
    <p:sldId id="275" r:id="rId25"/>
    <p:sldId id="276" r:id="rId26"/>
    <p:sldId id="277" r:id="rId27"/>
    <p:sldId id="278" r:id="rId28"/>
    <p:sldId id="279" r:id="rId29"/>
    <p:sldId id="301" r:id="rId30"/>
    <p:sldId id="303" r:id="rId31"/>
    <p:sldId id="304" r:id="rId32"/>
    <p:sldId id="305" r:id="rId33"/>
    <p:sldId id="306" r:id="rId34"/>
    <p:sldId id="307" r:id="rId35"/>
    <p:sldId id="308" r:id="rId36"/>
    <p:sldId id="309" r:id="rId37"/>
    <p:sldId id="310" r:id="rId38"/>
    <p:sldId id="311"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86" y="12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6CD517B2-8719-428F-B9A5-F63B609C247C}" type="datetimeFigureOut">
              <a:rPr lang="en-US" smtClean="0"/>
              <a:t>1/14/2019</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07E5A6A0-6DBB-4E1C-9B73-958F1BEFFAE8}" type="slidenum">
              <a:rPr lang="en-US" smtClean="0"/>
              <a:t>‹#›</a:t>
            </a:fld>
            <a:endParaRPr lang="en-US"/>
          </a:p>
        </p:txBody>
      </p:sp>
    </p:spTree>
    <p:extLst>
      <p:ext uri="{BB962C8B-B14F-4D97-AF65-F5344CB8AC3E}">
        <p14:creationId xmlns:p14="http://schemas.microsoft.com/office/powerpoint/2010/main" val="1469487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prstGeom prst="rect">
            <a:avLst/>
          </a:prstGeom>
        </p:spPr>
        <p:txBody>
          <a:bodyPr/>
          <a:lstStyle/>
          <a:p>
            <a:endParaRPr/>
          </a:p>
        </p:txBody>
      </p:sp>
      <p:sp>
        <p:nvSpPr>
          <p:cNvPr id="62" name="Shape 62"/>
          <p:cNvSpPr>
            <a:spLocks noGrp="1"/>
          </p:cNvSpPr>
          <p:nvPr>
            <p:ph type="body" sz="quarter" idx="1"/>
          </p:nvPr>
        </p:nvSpPr>
        <p:spPr>
          <a:prstGeom prst="rect">
            <a:avLst/>
          </a:prstGeom>
        </p:spPr>
        <p:txBody>
          <a:bodyPr/>
          <a:lstStyle/>
          <a:p>
            <a:r>
              <a:t>Unity Monobehaviour (as of 2017.3)</a:t>
            </a:r>
          </a:p>
        </p:txBody>
      </p:sp>
    </p:spTree>
    <p:extLst>
      <p:ext uri="{BB962C8B-B14F-4D97-AF65-F5344CB8AC3E}">
        <p14:creationId xmlns:p14="http://schemas.microsoft.com/office/powerpoint/2010/main" val="3491203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hape 78"/>
          <p:cNvSpPr>
            <a:spLocks noGrp="1" noRot="1" noChangeAspect="1"/>
          </p:cNvSpPr>
          <p:nvPr>
            <p:ph type="sldImg"/>
          </p:nvPr>
        </p:nvSpPr>
        <p:spPr>
          <a:prstGeom prst="rect">
            <a:avLst/>
          </a:prstGeom>
        </p:spPr>
        <p:txBody>
          <a:bodyPr/>
          <a:lstStyle/>
          <a:p>
            <a:endParaRPr/>
          </a:p>
        </p:txBody>
      </p:sp>
      <p:sp>
        <p:nvSpPr>
          <p:cNvPr id="79" name="Shape 79"/>
          <p:cNvSpPr>
            <a:spLocks noGrp="1"/>
          </p:cNvSpPr>
          <p:nvPr>
            <p:ph type="body" sz="quarter" idx="1"/>
          </p:nvPr>
        </p:nvSpPr>
        <p:spPr>
          <a:prstGeom prst="rect">
            <a:avLst/>
          </a:prstGeom>
        </p:spPr>
        <p:txBody>
          <a:bodyPr/>
          <a:lstStyle/>
          <a:p>
            <a:r>
              <a:t>probably most intuitive. Seems simple at first…</a:t>
            </a:r>
          </a:p>
        </p:txBody>
      </p:sp>
    </p:spTree>
    <p:extLst>
      <p:ext uri="{BB962C8B-B14F-4D97-AF65-F5344CB8AC3E}">
        <p14:creationId xmlns:p14="http://schemas.microsoft.com/office/powerpoint/2010/main" val="3591522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Shape 83"/>
          <p:cNvSpPr>
            <a:spLocks noGrp="1" noRot="1" noChangeAspect="1"/>
          </p:cNvSpPr>
          <p:nvPr>
            <p:ph type="sldImg"/>
          </p:nvPr>
        </p:nvSpPr>
        <p:spPr>
          <a:prstGeom prst="rect">
            <a:avLst/>
          </a:prstGeom>
        </p:spPr>
        <p:txBody>
          <a:bodyPr/>
          <a:lstStyle/>
          <a:p>
            <a:endParaRPr/>
          </a:p>
        </p:txBody>
      </p:sp>
      <p:sp>
        <p:nvSpPr>
          <p:cNvPr id="84" name="Shape 84"/>
          <p:cNvSpPr>
            <a:spLocks noGrp="1"/>
          </p:cNvSpPr>
          <p:nvPr>
            <p:ph type="body" sz="quarter" idx="1"/>
          </p:nvPr>
        </p:nvSpPr>
        <p:spPr>
          <a:prstGeom prst="rect">
            <a:avLst/>
          </a:prstGeom>
        </p:spPr>
        <p:txBody>
          <a:bodyPr/>
          <a:lstStyle/>
          <a:p>
            <a:r>
              <a:t>probably most intuitive. Seems simple at first…</a:t>
            </a:r>
          </a:p>
        </p:txBody>
      </p:sp>
    </p:spTree>
    <p:extLst>
      <p:ext uri="{BB962C8B-B14F-4D97-AF65-F5344CB8AC3E}">
        <p14:creationId xmlns:p14="http://schemas.microsoft.com/office/powerpoint/2010/main" val="4096270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Shape 105"/>
          <p:cNvSpPr>
            <a:spLocks noGrp="1" noRot="1" noChangeAspect="1"/>
          </p:cNvSpPr>
          <p:nvPr>
            <p:ph type="sldImg"/>
          </p:nvPr>
        </p:nvSpPr>
        <p:spPr>
          <a:prstGeom prst="rect">
            <a:avLst/>
          </a:prstGeom>
        </p:spPr>
        <p:txBody>
          <a:bodyPr/>
          <a:lstStyle/>
          <a:p>
            <a:endParaRPr/>
          </a:p>
        </p:txBody>
      </p:sp>
      <p:sp>
        <p:nvSpPr>
          <p:cNvPr id="106" name="Shape 106"/>
          <p:cNvSpPr>
            <a:spLocks noGrp="1"/>
          </p:cNvSpPr>
          <p:nvPr>
            <p:ph type="body" sz="quarter" idx="1"/>
          </p:nvPr>
        </p:nvSpPr>
        <p:spPr>
          <a:prstGeom prst="rect">
            <a:avLst/>
          </a:prstGeom>
        </p:spPr>
        <p:txBody>
          <a:bodyPr/>
          <a:lstStyle/>
          <a:p>
            <a:r>
              <a:t>our intuition often wants to classify objects into a taxonomy, and a class hierarchy is the most straightforward way to represent a collection of interrelated types, and it is very common to see. The root object contains the functionality that all objects require, such as RTTI (runtime type idenification), reflection, and abstract construction (which allows instances to be created without hardcoding the name of the class - useful for serialization, which all game objects need) MovableObjects have a transform component, RenderableObjects have a draw function, etc. When the hierarchy is this simple, it’s a powerful way to describe the collection of objects. But they grow, and they deepen...</a:t>
            </a:r>
          </a:p>
        </p:txBody>
      </p:sp>
    </p:spTree>
    <p:extLst>
      <p:ext uri="{BB962C8B-B14F-4D97-AF65-F5344CB8AC3E}">
        <p14:creationId xmlns:p14="http://schemas.microsoft.com/office/powerpoint/2010/main" val="280825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Shape 204"/>
          <p:cNvSpPr>
            <a:spLocks noGrp="1" noRot="1" noChangeAspect="1"/>
          </p:cNvSpPr>
          <p:nvPr>
            <p:ph type="sldImg"/>
          </p:nvPr>
        </p:nvSpPr>
        <p:spPr>
          <a:prstGeom prst="rect">
            <a:avLst/>
          </a:prstGeom>
        </p:spPr>
        <p:txBody>
          <a:bodyPr/>
          <a:lstStyle/>
          <a:p>
            <a:endParaRPr/>
          </a:p>
        </p:txBody>
      </p:sp>
      <p:sp>
        <p:nvSpPr>
          <p:cNvPr id="205" name="Shape 205"/>
          <p:cNvSpPr>
            <a:spLocks noGrp="1"/>
          </p:cNvSpPr>
          <p:nvPr>
            <p:ph type="body" sz="quarter" idx="1"/>
          </p:nvPr>
        </p:nvSpPr>
        <p:spPr>
          <a:prstGeom prst="rect">
            <a:avLst/>
          </a:prstGeom>
        </p:spPr>
        <p:txBody>
          <a:bodyPr/>
          <a:lstStyle/>
          <a:p>
            <a:r>
              <a:t>this structure seems logical, but what happens when the design team announces that the game needs an amphibious vehicle? The programmers will often hack it into the hierarchy in ugly and error-prone ways. You could use multiple inheritance, which seems to work in theory, but most(?) programmers find that the difficulties outweigh the benefits, and is often banned at game studios. The deadly diamond is quite real (when an object contains multiple copies of its base class’s members)</a:t>
            </a:r>
          </a:p>
          <a:p>
            <a:r>
              <a:t>-The platypus (Ornithorhynchus anatinus) also known as the duck-billed platypus is a semiaquatic egg-laying mammal endemic to eastern Australia, including Tasmania. Together with the four species of echidna, it is one of the five extant species of monotremes, the only mammals that lay eggs instead of giving birth</a:t>
            </a:r>
          </a:p>
        </p:txBody>
      </p:sp>
    </p:spTree>
    <p:extLst>
      <p:ext uri="{BB962C8B-B14F-4D97-AF65-F5344CB8AC3E}">
        <p14:creationId xmlns:p14="http://schemas.microsoft.com/office/powerpoint/2010/main" val="4104815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Shape 326"/>
          <p:cNvSpPr>
            <a:spLocks noGrp="1" noRot="1" noChangeAspect="1"/>
          </p:cNvSpPr>
          <p:nvPr>
            <p:ph type="sldImg"/>
          </p:nvPr>
        </p:nvSpPr>
        <p:spPr>
          <a:prstGeom prst="rect">
            <a:avLst/>
          </a:prstGeom>
        </p:spPr>
        <p:txBody>
          <a:bodyPr/>
          <a:lstStyle/>
          <a:p>
            <a:endParaRPr/>
          </a:p>
        </p:txBody>
      </p:sp>
      <p:sp>
        <p:nvSpPr>
          <p:cNvPr id="327" name="Shape 327"/>
          <p:cNvSpPr>
            <a:spLocks noGrp="1"/>
          </p:cNvSpPr>
          <p:nvPr>
            <p:ph type="body" sz="quarter" idx="1"/>
          </p:nvPr>
        </p:nvSpPr>
        <p:spPr>
          <a:prstGeom prst="rect">
            <a:avLst/>
          </a:prstGeom>
        </p:spPr>
        <p:txBody>
          <a:bodyPr/>
          <a:lstStyle/>
          <a:p>
            <a:r>
              <a:t>a more flexible way, but trickier to implement (game object must be written in a totally generic way) is to provide the root object with a generic linked list of components, which derive from a common base class</a:t>
            </a:r>
          </a:p>
          <a:p>
            <a:r>
              <a:t>asterisk indicates zero or more instances (e.g. linked list)</a:t>
            </a:r>
          </a:p>
          <a:p>
            <a:r>
              <a:t>we can iterate over the list and perform polymorphic operations - also allows the root to be oblivious to available types, and lets us create new components without modifying the root</a:t>
            </a:r>
          </a:p>
          <a:p>
            <a:r>
              <a:t>in addition, now game objects can contain an arbitrary number of instances of each type of component</a:t>
            </a:r>
          </a:p>
        </p:txBody>
      </p:sp>
    </p:spTree>
    <p:extLst>
      <p:ext uri="{BB962C8B-B14F-4D97-AF65-F5344CB8AC3E}">
        <p14:creationId xmlns:p14="http://schemas.microsoft.com/office/powerpoint/2010/main" val="1461712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Shape 331"/>
          <p:cNvSpPr>
            <a:spLocks noGrp="1" noRot="1" noChangeAspect="1"/>
          </p:cNvSpPr>
          <p:nvPr>
            <p:ph type="sldImg"/>
          </p:nvPr>
        </p:nvSpPr>
        <p:spPr>
          <a:prstGeom prst="rect">
            <a:avLst/>
          </a:prstGeom>
        </p:spPr>
        <p:txBody>
          <a:bodyPr/>
          <a:lstStyle/>
          <a:p>
            <a:endParaRPr/>
          </a:p>
        </p:txBody>
      </p:sp>
      <p:sp>
        <p:nvSpPr>
          <p:cNvPr id="332" name="Shape 332"/>
          <p:cNvSpPr>
            <a:spLocks noGrp="1"/>
          </p:cNvSpPr>
          <p:nvPr>
            <p:ph type="body" sz="quarter" idx="1"/>
          </p:nvPr>
        </p:nvSpPr>
        <p:spPr>
          <a:prstGeom prst="rect">
            <a:avLst/>
          </a:prstGeom>
        </p:spPr>
        <p:txBody>
          <a:bodyPr/>
          <a:lstStyle/>
          <a:p>
            <a:r>
              <a:t>sounds great! but…</a:t>
            </a:r>
          </a:p>
        </p:txBody>
      </p:sp>
    </p:spTree>
    <p:extLst>
      <p:ext uri="{BB962C8B-B14F-4D97-AF65-F5344CB8AC3E}">
        <p14:creationId xmlns:p14="http://schemas.microsoft.com/office/powerpoint/2010/main" val="2021419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Shape 336"/>
          <p:cNvSpPr>
            <a:spLocks noGrp="1" noRot="1" noChangeAspect="1"/>
          </p:cNvSpPr>
          <p:nvPr>
            <p:ph type="sldImg"/>
          </p:nvPr>
        </p:nvSpPr>
        <p:spPr>
          <a:prstGeom prst="rect">
            <a:avLst/>
          </a:prstGeom>
        </p:spPr>
        <p:txBody>
          <a:bodyPr/>
          <a:lstStyle/>
          <a:p>
            <a:endParaRPr/>
          </a:p>
        </p:txBody>
      </p:sp>
      <p:sp>
        <p:nvSpPr>
          <p:cNvPr id="337" name="Shape 337"/>
          <p:cNvSpPr>
            <a:spLocks noGrp="1"/>
          </p:cNvSpPr>
          <p:nvPr>
            <p:ph type="body" sz="quarter" idx="1"/>
          </p:nvPr>
        </p:nvSpPr>
        <p:spPr>
          <a:prstGeom prst="rect">
            <a:avLst/>
          </a:prstGeom>
        </p:spPr>
        <p:txBody>
          <a:bodyPr/>
          <a:lstStyle/>
          <a:p>
            <a:r>
              <a:t>sounds great! but…</a:t>
            </a:r>
          </a:p>
        </p:txBody>
      </p:sp>
    </p:spTree>
    <p:extLst>
      <p:ext uri="{BB962C8B-B14F-4D97-AF65-F5344CB8AC3E}">
        <p14:creationId xmlns:p14="http://schemas.microsoft.com/office/powerpoint/2010/main" val="826452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Shape 341"/>
          <p:cNvSpPr>
            <a:spLocks noGrp="1" noRot="1" noChangeAspect="1"/>
          </p:cNvSpPr>
          <p:nvPr>
            <p:ph type="sldImg"/>
          </p:nvPr>
        </p:nvSpPr>
        <p:spPr>
          <a:prstGeom prst="rect">
            <a:avLst/>
          </a:prstGeom>
        </p:spPr>
        <p:txBody>
          <a:bodyPr/>
          <a:lstStyle/>
          <a:p>
            <a:endParaRPr/>
          </a:p>
        </p:txBody>
      </p:sp>
      <p:sp>
        <p:nvSpPr>
          <p:cNvPr id="342" name="Shape 342"/>
          <p:cNvSpPr>
            <a:spLocks noGrp="1"/>
          </p:cNvSpPr>
          <p:nvPr>
            <p:ph type="body" sz="quarter" idx="1"/>
          </p:nvPr>
        </p:nvSpPr>
        <p:spPr>
          <a:prstGeom prst="rect">
            <a:avLst/>
          </a:prstGeom>
        </p:spPr>
        <p:txBody>
          <a:bodyPr/>
          <a:lstStyle/>
          <a:p>
            <a:r>
              <a:t>1) lots of virtual method calls (dynamic dispatch)- on each component, not just on each entity</a:t>
            </a:r>
          </a:p>
        </p:txBody>
      </p:sp>
    </p:spTree>
    <p:extLst>
      <p:ext uri="{BB962C8B-B14F-4D97-AF65-F5344CB8AC3E}">
        <p14:creationId xmlns:p14="http://schemas.microsoft.com/office/powerpoint/2010/main" val="1449882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4725" y="503825"/>
            <a:ext cx="8374549" cy="45211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905425" y="1218388"/>
            <a:ext cx="3764915" cy="2572385"/>
          </a:xfrm>
          <a:prstGeom prst="rect">
            <a:avLst/>
          </a:prstGeom>
        </p:spPr>
        <p:txBody>
          <a:bodyPr wrap="square" lIns="0" tIns="0" rIns="0" bIns="0">
            <a:spAutoFit/>
          </a:bodyPr>
          <a:lstStyle>
            <a:lvl1pPr>
              <a:defRPr sz="1400" b="0" i="0">
                <a:solidFill>
                  <a:srgbClr val="595959"/>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1/14/2019</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1/14/2019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1/14/2019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bg>
      <p:bgPr>
        <a:solidFill>
          <a:srgbClr val="FFFFFF"/>
        </a:solidFill>
        <a:effectLst/>
      </p:bgPr>
    </p:bg>
    <p:spTree>
      <p:nvGrpSpPr>
        <p:cNvPr id="1" name=""/>
        <p:cNvGrpSpPr/>
        <p:nvPr/>
      </p:nvGrpSpPr>
      <p:grpSpPr>
        <a:xfrm>
          <a:off x="0" y="0"/>
          <a:ext cx="0" cy="0"/>
          <a:chOff x="0" y="0"/>
          <a:chExt cx="0" cy="0"/>
        </a:xfrm>
      </p:grpSpPr>
      <p:sp>
        <p:nvSpPr>
          <p:cNvPr id="20" name="Title Text"/>
          <p:cNvSpPr txBox="1">
            <a:spLocks noGrp="1"/>
          </p:cNvSpPr>
          <p:nvPr>
            <p:ph type="title"/>
          </p:nvPr>
        </p:nvSpPr>
        <p:spPr>
          <a:xfrm>
            <a:off x="892969" y="133945"/>
            <a:ext cx="7358063" cy="681597"/>
          </a:xfrm>
          <a:prstGeom prst="rect">
            <a:avLst/>
          </a:prstGeom>
        </p:spPr>
        <p:txBody>
          <a:bodyPr/>
          <a:lstStyle>
            <a:lvl1pPr marL="0" marR="0" defTabSz="308049">
              <a:defRPr sz="4429">
                <a:solidFill>
                  <a:srgbClr val="000000"/>
                </a:solidFill>
                <a:uFillTx/>
                <a:latin typeface="+mj-lt"/>
                <a:ea typeface="+mj-ea"/>
                <a:cs typeface="+mj-cs"/>
                <a:sym typeface="Baskerville"/>
              </a:defRPr>
            </a:lvl1pPr>
          </a:lstStyle>
          <a:p>
            <a:r>
              <a:t>Title Text</a:t>
            </a:r>
          </a:p>
        </p:txBody>
      </p:sp>
      <p:sp>
        <p:nvSpPr>
          <p:cNvPr id="21" name="Body Level One…"/>
          <p:cNvSpPr txBox="1">
            <a:spLocks noGrp="1"/>
          </p:cNvSpPr>
          <p:nvPr>
            <p:ph type="body" idx="1"/>
          </p:nvPr>
        </p:nvSpPr>
        <p:spPr>
          <a:xfrm>
            <a:off x="892969" y="1781308"/>
            <a:ext cx="7358063" cy="2371162"/>
          </a:xfrm>
          <a:prstGeom prst="rect">
            <a:avLst/>
          </a:prstGeom>
        </p:spPr>
        <p:txBody>
          <a:bodyPr anchor="ctr"/>
          <a:lstStyle>
            <a:lvl1pPr marL="468770" marR="0" indent="-301352" defTabSz="308049">
              <a:spcBef>
                <a:spcPts val="1266"/>
              </a:spcBef>
              <a:defRPr sz="2215">
                <a:solidFill>
                  <a:srgbClr val="000000"/>
                </a:solidFill>
                <a:uFillTx/>
                <a:latin typeface="+mj-lt"/>
                <a:ea typeface="+mj-ea"/>
                <a:cs typeface="+mj-cs"/>
                <a:sym typeface="Baskerville"/>
              </a:defRPr>
            </a:lvl1pPr>
            <a:lvl2pPr marL="703155" marR="0" indent="-301352" defTabSz="308049">
              <a:spcBef>
                <a:spcPts val="1266"/>
              </a:spcBef>
              <a:buChar char="•"/>
              <a:defRPr sz="2215">
                <a:solidFill>
                  <a:srgbClr val="000000"/>
                </a:solidFill>
                <a:uFillTx/>
                <a:latin typeface="+mj-lt"/>
                <a:ea typeface="+mj-ea"/>
                <a:cs typeface="+mj-cs"/>
                <a:sym typeface="Baskerville"/>
              </a:defRPr>
            </a:lvl2pPr>
            <a:lvl3pPr marL="937539" marR="0" indent="-301352" defTabSz="308049">
              <a:spcBef>
                <a:spcPts val="1266"/>
              </a:spcBef>
              <a:defRPr sz="2215">
                <a:solidFill>
                  <a:srgbClr val="000000"/>
                </a:solidFill>
                <a:uFillTx/>
                <a:latin typeface="+mj-lt"/>
                <a:ea typeface="+mj-ea"/>
                <a:cs typeface="+mj-cs"/>
                <a:sym typeface="Baskerville"/>
              </a:defRPr>
            </a:lvl3pPr>
            <a:lvl4pPr marL="1171924" marR="0" indent="-301352" defTabSz="308049">
              <a:spcBef>
                <a:spcPts val="1266"/>
              </a:spcBef>
              <a:buChar char="•"/>
              <a:defRPr sz="2215">
                <a:solidFill>
                  <a:srgbClr val="000000"/>
                </a:solidFill>
                <a:uFillTx/>
                <a:latin typeface="+mj-lt"/>
                <a:ea typeface="+mj-ea"/>
                <a:cs typeface="+mj-cs"/>
                <a:sym typeface="Baskerville"/>
              </a:defRPr>
            </a:lvl4pPr>
            <a:lvl5pPr marL="1406309" marR="0" indent="-301352" defTabSz="308049">
              <a:spcBef>
                <a:spcPts val="1266"/>
              </a:spcBef>
              <a:buChar char="•"/>
              <a:defRPr sz="2215">
                <a:solidFill>
                  <a:srgbClr val="000000"/>
                </a:solidFill>
                <a:uFillTx/>
                <a:latin typeface="+mj-lt"/>
                <a:ea typeface="+mj-ea"/>
                <a:cs typeface="+mj-cs"/>
                <a:sym typeface="Baskerville"/>
              </a:defRPr>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xfrm>
            <a:off x="4446984" y="4882306"/>
            <a:ext cx="241102" cy="553998"/>
          </a:xfrm>
          <a:prstGeom prst="rect">
            <a:avLst/>
          </a:prstGeom>
        </p:spPr>
        <p:txBody>
          <a:bodyPr/>
          <a:lstStyle>
            <a:lvl1pPr defTabSz="308049">
              <a:defRPr>
                <a:solidFill>
                  <a:srgbClr val="000000"/>
                </a:solidFill>
                <a:uFillTx/>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458691305"/>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4725" y="503825"/>
            <a:ext cx="4463415" cy="452119"/>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3" name="Holder 3"/>
          <p:cNvSpPr>
            <a:spLocks noGrp="1"/>
          </p:cNvSpPr>
          <p:nvPr>
            <p:ph type="body" idx="1"/>
          </p:nvPr>
        </p:nvSpPr>
        <p:spPr>
          <a:xfrm>
            <a:off x="475249" y="1176350"/>
            <a:ext cx="8193500" cy="12827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1/14/2019</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gdcvault.com/play/1022186/Parallelizing-the-Naughty-Dog-Engine"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3601" y="1337436"/>
            <a:ext cx="3828415" cy="2949525"/>
          </a:xfrm>
          <a:prstGeom prst="rect">
            <a:avLst/>
          </a:prstGeom>
        </p:spPr>
        <p:txBody>
          <a:bodyPr vert="horz" wrap="square" lIns="0" tIns="12700" rIns="0" bIns="0" rtlCol="0">
            <a:spAutoFit/>
          </a:bodyPr>
          <a:lstStyle/>
          <a:p>
            <a:pPr algn="ctr">
              <a:lnSpc>
                <a:spcPts val="4305"/>
              </a:lnSpc>
              <a:spcBef>
                <a:spcPts val="100"/>
              </a:spcBef>
            </a:pPr>
            <a:r>
              <a:rPr sz="3600" spc="-10" dirty="0"/>
              <a:t>Game</a:t>
            </a:r>
            <a:r>
              <a:rPr sz="3600" spc="-95" dirty="0"/>
              <a:t> </a:t>
            </a:r>
            <a:r>
              <a:rPr sz="3600" spc="-5" dirty="0"/>
              <a:t>Architecture</a:t>
            </a:r>
            <a:endParaRPr sz="3600" dirty="0"/>
          </a:p>
          <a:p>
            <a:pPr marL="7620" algn="ctr">
              <a:lnSpc>
                <a:spcPts val="6225"/>
              </a:lnSpc>
            </a:pPr>
            <a:r>
              <a:rPr sz="5200" spc="-5" dirty="0"/>
              <a:t>Main</a:t>
            </a:r>
            <a:r>
              <a:rPr sz="5200" spc="-40" dirty="0"/>
              <a:t> </a:t>
            </a:r>
            <a:r>
              <a:rPr sz="5200" spc="-5" dirty="0" smtClean="0"/>
              <a:t>Loop</a:t>
            </a:r>
            <a:r>
              <a:rPr lang="en-US" sz="5200" spc="-5" dirty="0" smtClean="0"/>
              <a:t/>
            </a:r>
            <a:br>
              <a:rPr lang="en-US" sz="5200" spc="-5" dirty="0" smtClean="0"/>
            </a:br>
            <a:r>
              <a:rPr lang="en-US" sz="5200" spc="-5" dirty="0"/>
              <a:t/>
            </a:r>
            <a:br>
              <a:rPr lang="en-US" sz="5200" spc="-5" dirty="0"/>
            </a:br>
            <a:r>
              <a:rPr lang="en-US" sz="1800" spc="-5" dirty="0" smtClean="0"/>
              <a:t>and a little bit about entities</a:t>
            </a:r>
            <a:endParaRPr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588895" cy="452120"/>
          </a:xfrm>
          <a:prstGeom prst="rect">
            <a:avLst/>
          </a:prstGeom>
        </p:spPr>
        <p:txBody>
          <a:bodyPr vert="horz" wrap="square" lIns="0" tIns="12700" rIns="0" bIns="0" rtlCol="0">
            <a:spAutoFit/>
          </a:bodyPr>
          <a:lstStyle/>
          <a:p>
            <a:pPr marL="12700">
              <a:lnSpc>
                <a:spcPct val="100000"/>
              </a:lnSpc>
              <a:spcBef>
                <a:spcPts val="100"/>
              </a:spcBef>
            </a:pPr>
            <a:r>
              <a:rPr spc="-5" dirty="0"/>
              <a:t>Today’s</a:t>
            </a:r>
            <a:r>
              <a:rPr spc="-95" dirty="0"/>
              <a:t> </a:t>
            </a:r>
            <a:r>
              <a:rPr spc="-5" dirty="0"/>
              <a:t>Agenda</a:t>
            </a:r>
          </a:p>
        </p:txBody>
      </p:sp>
      <p:sp>
        <p:nvSpPr>
          <p:cNvPr id="3" name="object 3"/>
          <p:cNvSpPr txBox="1"/>
          <p:nvPr/>
        </p:nvSpPr>
        <p:spPr>
          <a:xfrm>
            <a:off x="475249" y="1176350"/>
            <a:ext cx="6916151" cy="2538514"/>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What’s this </a:t>
            </a:r>
            <a:r>
              <a:rPr sz="1800" dirty="0">
                <a:solidFill>
                  <a:srgbClr val="595959"/>
                </a:solidFill>
                <a:latin typeface="Arial"/>
                <a:cs typeface="Arial"/>
              </a:rPr>
              <a:t>main </a:t>
            </a:r>
            <a:r>
              <a:rPr sz="1800" spc="-5" dirty="0">
                <a:solidFill>
                  <a:srgbClr val="595959"/>
                </a:solidFill>
                <a:latin typeface="Arial"/>
                <a:cs typeface="Arial"/>
              </a:rPr>
              <a:t>loop</a:t>
            </a:r>
            <a:r>
              <a:rPr sz="1800" spc="-90" dirty="0">
                <a:solidFill>
                  <a:srgbClr val="595959"/>
                </a:solidFill>
                <a:latin typeface="Arial"/>
                <a:cs typeface="Arial"/>
              </a:rPr>
              <a:t> </a:t>
            </a:r>
            <a:r>
              <a:rPr sz="1800" spc="-5" dirty="0">
                <a:solidFill>
                  <a:srgbClr val="595959"/>
                </a:solidFill>
                <a:latin typeface="Arial"/>
                <a:cs typeface="Arial"/>
              </a:rPr>
              <a:t>thing?</a:t>
            </a:r>
            <a:endParaRPr sz="1800" dirty="0">
              <a:latin typeface="Arial"/>
              <a:cs typeface="Arial"/>
            </a:endParaRPr>
          </a:p>
          <a:p>
            <a:pPr marL="379095" indent="-366395">
              <a:lnSpc>
                <a:spcPct val="100000"/>
              </a:lnSpc>
              <a:spcBef>
                <a:spcPts val="315"/>
              </a:spcBef>
              <a:buChar char="●"/>
              <a:tabLst>
                <a:tab pos="379095" algn="l"/>
                <a:tab pos="379730" algn="l"/>
              </a:tabLst>
            </a:pPr>
            <a:r>
              <a:rPr sz="1800" dirty="0">
                <a:solidFill>
                  <a:srgbClr val="595959"/>
                </a:solidFill>
                <a:latin typeface="Arial"/>
                <a:cs typeface="Arial"/>
              </a:rPr>
              <a:t>A simple main</a:t>
            </a:r>
            <a:r>
              <a:rPr sz="1800" spc="-40" dirty="0">
                <a:solidFill>
                  <a:srgbClr val="595959"/>
                </a:solidFill>
                <a:latin typeface="Arial"/>
                <a:cs typeface="Arial"/>
              </a:rPr>
              <a:t> </a:t>
            </a:r>
            <a:r>
              <a:rPr sz="1800" spc="-5" dirty="0">
                <a:solidFill>
                  <a:srgbClr val="595959"/>
                </a:solidFill>
                <a:latin typeface="Arial"/>
                <a:cs typeface="Arial"/>
              </a:rPr>
              <a:t>loop</a:t>
            </a:r>
            <a:endParaRPr sz="1800" dirty="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Handling</a:t>
            </a:r>
            <a:r>
              <a:rPr sz="1800" spc="-10" dirty="0">
                <a:solidFill>
                  <a:srgbClr val="595959"/>
                </a:solidFill>
                <a:latin typeface="Arial"/>
                <a:cs typeface="Arial"/>
              </a:rPr>
              <a:t> </a:t>
            </a:r>
            <a:r>
              <a:rPr sz="1800" spc="-5" dirty="0">
                <a:solidFill>
                  <a:srgbClr val="595959"/>
                </a:solidFill>
                <a:latin typeface="Arial"/>
                <a:cs typeface="Arial"/>
              </a:rPr>
              <a:t>time</a:t>
            </a:r>
            <a:endParaRPr sz="1800" dirty="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Handling</a:t>
            </a:r>
            <a:r>
              <a:rPr sz="1800" spc="-10" dirty="0">
                <a:solidFill>
                  <a:srgbClr val="595959"/>
                </a:solidFill>
                <a:latin typeface="Arial"/>
                <a:cs typeface="Arial"/>
              </a:rPr>
              <a:t> </a:t>
            </a:r>
            <a:r>
              <a:rPr sz="1800" spc="-5" dirty="0">
                <a:solidFill>
                  <a:srgbClr val="595959"/>
                </a:solidFill>
                <a:latin typeface="Arial"/>
                <a:cs typeface="Arial"/>
              </a:rPr>
              <a:t>‘modes</a:t>
            </a:r>
            <a:r>
              <a:rPr sz="1800" spc="-5" dirty="0" smtClean="0">
                <a:solidFill>
                  <a:srgbClr val="595959"/>
                </a:solidFill>
                <a:latin typeface="Arial"/>
                <a:cs typeface="Arial"/>
              </a:rPr>
              <a:t>’</a:t>
            </a:r>
            <a:endParaRPr lang="en-US" sz="1800" spc="-5" dirty="0" smtClean="0">
              <a:solidFill>
                <a:srgbClr val="595959"/>
              </a:solidFill>
              <a:latin typeface="Arial"/>
              <a:cs typeface="Arial"/>
            </a:endParaRPr>
          </a:p>
          <a:p>
            <a:pPr marL="379095" indent="-366395">
              <a:lnSpc>
                <a:spcPct val="100000"/>
              </a:lnSpc>
              <a:spcBef>
                <a:spcPts val="315"/>
              </a:spcBef>
              <a:buChar char="●"/>
              <a:tabLst>
                <a:tab pos="379095" algn="l"/>
                <a:tab pos="379730" algn="l"/>
              </a:tabLst>
            </a:pPr>
            <a:r>
              <a:rPr lang="en-US" spc="-5" dirty="0" smtClean="0">
                <a:solidFill>
                  <a:srgbClr val="595959"/>
                </a:solidFill>
                <a:latin typeface="Arial"/>
                <a:cs typeface="Arial"/>
              </a:rPr>
              <a:t>A little bit about game objects and entities</a:t>
            </a:r>
            <a:endParaRPr sz="1800" dirty="0">
              <a:latin typeface="Arial"/>
              <a:cs typeface="Arial"/>
            </a:endParaRPr>
          </a:p>
          <a:p>
            <a:pPr marL="379095" indent="-366395">
              <a:lnSpc>
                <a:spcPct val="100000"/>
              </a:lnSpc>
              <a:spcBef>
                <a:spcPts val="315"/>
              </a:spcBef>
              <a:buChar char="●"/>
              <a:tabLst>
                <a:tab pos="379095" algn="l"/>
                <a:tab pos="379730" algn="l"/>
              </a:tabLst>
            </a:pPr>
            <a:r>
              <a:rPr sz="1800" dirty="0">
                <a:solidFill>
                  <a:srgbClr val="595959"/>
                </a:solidFill>
                <a:latin typeface="Arial"/>
                <a:cs typeface="Arial"/>
              </a:rPr>
              <a:t>Multicore main</a:t>
            </a:r>
            <a:r>
              <a:rPr sz="1800" spc="-25" dirty="0">
                <a:solidFill>
                  <a:srgbClr val="595959"/>
                </a:solidFill>
                <a:latin typeface="Arial"/>
                <a:cs typeface="Arial"/>
              </a:rPr>
              <a:t> </a:t>
            </a:r>
            <a:r>
              <a:rPr sz="1800" spc="-5" dirty="0">
                <a:solidFill>
                  <a:srgbClr val="595959"/>
                </a:solidFill>
                <a:latin typeface="Arial"/>
                <a:cs typeface="Arial"/>
              </a:rPr>
              <a:t>loop</a:t>
            </a:r>
            <a:endParaRPr sz="1800" dirty="0">
              <a:latin typeface="Arial"/>
              <a:cs typeface="Arial"/>
            </a:endParaRPr>
          </a:p>
          <a:p>
            <a:pPr marL="379095" indent="-366395">
              <a:lnSpc>
                <a:spcPct val="100000"/>
              </a:lnSpc>
              <a:spcBef>
                <a:spcPts val="315"/>
              </a:spcBef>
              <a:buChar char="●"/>
              <a:tabLst>
                <a:tab pos="379095" algn="l"/>
                <a:tab pos="379730" algn="l"/>
              </a:tabLst>
            </a:pPr>
            <a:r>
              <a:rPr sz="1800" dirty="0">
                <a:solidFill>
                  <a:srgbClr val="595959"/>
                </a:solidFill>
                <a:latin typeface="Arial"/>
                <a:cs typeface="Arial"/>
              </a:rPr>
              <a:t>Job</a:t>
            </a:r>
            <a:r>
              <a:rPr sz="1800" spc="-10" dirty="0">
                <a:solidFill>
                  <a:srgbClr val="595959"/>
                </a:solidFill>
                <a:latin typeface="Arial"/>
                <a:cs typeface="Arial"/>
              </a:rPr>
              <a:t> </a:t>
            </a:r>
            <a:r>
              <a:rPr sz="1800" dirty="0">
                <a:solidFill>
                  <a:srgbClr val="595959"/>
                </a:solidFill>
                <a:latin typeface="Arial"/>
                <a:cs typeface="Arial"/>
              </a:rPr>
              <a:t>systems</a:t>
            </a:r>
            <a:endParaRPr sz="1800" dirty="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First homework</a:t>
            </a:r>
            <a:r>
              <a:rPr sz="1800" spc="-60" dirty="0">
                <a:solidFill>
                  <a:srgbClr val="595959"/>
                </a:solidFill>
                <a:latin typeface="Arial"/>
                <a:cs typeface="Arial"/>
              </a:rPr>
              <a:t> </a:t>
            </a:r>
            <a:r>
              <a:rPr sz="1800" spc="-5" dirty="0">
                <a:solidFill>
                  <a:srgbClr val="595959"/>
                </a:solidFill>
                <a:latin typeface="Arial"/>
                <a:cs typeface="Arial"/>
              </a:rPr>
              <a:t>assignment</a:t>
            </a:r>
            <a:endParaRPr sz="1800" dirty="0">
              <a:latin typeface="Arial"/>
              <a:cs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dirty="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3" name="object 13"/>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5" name="object 15"/>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6" name="object 16"/>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8" name="object 18"/>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9" name="object 19"/>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1" name="object 21"/>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2" name="object 22"/>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4" name="object 24"/>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5" name="object 25"/>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6" name="object 26"/>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7" name="object 27"/>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8" name="object 28"/>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9" name="object 29"/>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30" name="object 30"/>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1" name="object 31"/>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3" name="object 33"/>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4" name="object 34"/>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5" name="object 35"/>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6" name="object 36"/>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3" name="object 3"/>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4" name="object 4"/>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5" name="object 5"/>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6" name="object 6"/>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7" name="object 7"/>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8" name="object 8"/>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9" name="object 9"/>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0" name="object 10"/>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1" name="object 11"/>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2" name="object 12"/>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3" name="object 13"/>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4" name="object 14"/>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5" name="object 15"/>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6" name="object 16"/>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7" name="object 17"/>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8" name="object 18"/>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19" name="object 19"/>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0" name="object 20"/>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1" name="object 21"/>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2" name="object 22"/>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3" name="object 23"/>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4" name="object 24"/>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5" name="object 25"/>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6" name="object 26"/>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7" name="object 27"/>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28" name="object 28"/>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29" name="object 29"/>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0" name="object 30"/>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1" name="object 31"/>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3" name="object 33"/>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4" name="object 34"/>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5" name="object 35"/>
          <p:cNvSpPr/>
          <p:nvPr/>
        </p:nvSpPr>
        <p:spPr>
          <a:xfrm>
            <a:off x="1526324" y="623000"/>
            <a:ext cx="2307590" cy="718820"/>
          </a:xfrm>
          <a:custGeom>
            <a:avLst/>
            <a:gdLst/>
            <a:ahLst/>
            <a:cxnLst/>
            <a:rect l="l" t="t" r="r" b="b"/>
            <a:pathLst>
              <a:path w="2307590" h="718819">
                <a:moveTo>
                  <a:pt x="2200599" y="638399"/>
                </a:moveTo>
                <a:lnTo>
                  <a:pt x="106399" y="638399"/>
                </a:lnTo>
                <a:lnTo>
                  <a:pt x="64984" y="630038"/>
                </a:lnTo>
                <a:lnTo>
                  <a:pt x="31163" y="607236"/>
                </a:lnTo>
                <a:lnTo>
                  <a:pt x="8361" y="573415"/>
                </a:lnTo>
                <a:lnTo>
                  <a:pt x="0" y="531999"/>
                </a:lnTo>
                <a:lnTo>
                  <a:pt x="0" y="106399"/>
                </a:lnTo>
                <a:lnTo>
                  <a:pt x="8361" y="64984"/>
                </a:lnTo>
                <a:lnTo>
                  <a:pt x="31163" y="31163"/>
                </a:lnTo>
                <a:lnTo>
                  <a:pt x="64984" y="8361"/>
                </a:lnTo>
                <a:lnTo>
                  <a:pt x="106399" y="0"/>
                </a:lnTo>
                <a:lnTo>
                  <a:pt x="2200599" y="0"/>
                </a:lnTo>
                <a:lnTo>
                  <a:pt x="2241317" y="8099"/>
                </a:lnTo>
                <a:lnTo>
                  <a:pt x="2275836" y="31163"/>
                </a:lnTo>
                <a:lnTo>
                  <a:pt x="2298900" y="65682"/>
                </a:lnTo>
                <a:lnTo>
                  <a:pt x="2306999" y="106399"/>
                </a:lnTo>
                <a:lnTo>
                  <a:pt x="2306999" y="531999"/>
                </a:lnTo>
                <a:lnTo>
                  <a:pt x="2298638" y="573415"/>
                </a:lnTo>
                <a:lnTo>
                  <a:pt x="2275836" y="607236"/>
                </a:lnTo>
                <a:lnTo>
                  <a:pt x="2242015" y="630038"/>
                </a:lnTo>
                <a:lnTo>
                  <a:pt x="2200599" y="638399"/>
                </a:lnTo>
                <a:close/>
              </a:path>
              <a:path w="2307590" h="718819">
                <a:moveTo>
                  <a:pt x="672882" y="718199"/>
                </a:moveTo>
                <a:lnTo>
                  <a:pt x="384499" y="638399"/>
                </a:lnTo>
                <a:lnTo>
                  <a:pt x="961249" y="638399"/>
                </a:lnTo>
                <a:lnTo>
                  <a:pt x="672882" y="718199"/>
                </a:lnTo>
                <a:close/>
              </a:path>
            </a:pathLst>
          </a:custGeom>
          <a:solidFill>
            <a:srgbClr val="EEEEEE"/>
          </a:solidFill>
        </p:spPr>
        <p:txBody>
          <a:bodyPr wrap="square" lIns="0" tIns="0" rIns="0" bIns="0" rtlCol="0"/>
          <a:lstStyle/>
          <a:p>
            <a:r>
              <a:rPr lang="en-US" dirty="0" smtClean="0"/>
              <a:t>Player holds button A down</a:t>
            </a:r>
            <a:endParaRPr dirty="0"/>
          </a:p>
        </p:txBody>
      </p:sp>
      <p:sp>
        <p:nvSpPr>
          <p:cNvPr id="36" name="object 36"/>
          <p:cNvSpPr/>
          <p:nvPr/>
        </p:nvSpPr>
        <p:spPr>
          <a:xfrm>
            <a:off x="1526324" y="623000"/>
            <a:ext cx="2307590" cy="718820"/>
          </a:xfrm>
          <a:custGeom>
            <a:avLst/>
            <a:gdLst/>
            <a:ahLst/>
            <a:cxnLst/>
            <a:rect l="l" t="t" r="r" b="b"/>
            <a:pathLst>
              <a:path w="2307590" h="718819">
                <a:moveTo>
                  <a:pt x="0" y="106399"/>
                </a:moveTo>
                <a:lnTo>
                  <a:pt x="8361" y="64984"/>
                </a:lnTo>
                <a:lnTo>
                  <a:pt x="31163" y="31163"/>
                </a:lnTo>
                <a:lnTo>
                  <a:pt x="64984" y="8361"/>
                </a:lnTo>
                <a:lnTo>
                  <a:pt x="106399" y="0"/>
                </a:lnTo>
                <a:lnTo>
                  <a:pt x="384499" y="0"/>
                </a:lnTo>
                <a:lnTo>
                  <a:pt x="961249" y="0"/>
                </a:lnTo>
                <a:lnTo>
                  <a:pt x="2200599" y="0"/>
                </a:lnTo>
                <a:lnTo>
                  <a:pt x="2221454" y="2063"/>
                </a:lnTo>
                <a:lnTo>
                  <a:pt x="2259630" y="17876"/>
                </a:lnTo>
                <a:lnTo>
                  <a:pt x="2289123" y="47369"/>
                </a:lnTo>
                <a:lnTo>
                  <a:pt x="2304936" y="85545"/>
                </a:lnTo>
                <a:lnTo>
                  <a:pt x="2306999" y="106399"/>
                </a:lnTo>
                <a:lnTo>
                  <a:pt x="2306999" y="372399"/>
                </a:lnTo>
                <a:lnTo>
                  <a:pt x="2306999" y="531999"/>
                </a:lnTo>
                <a:lnTo>
                  <a:pt x="2298638" y="573415"/>
                </a:lnTo>
                <a:lnTo>
                  <a:pt x="2275836" y="607236"/>
                </a:lnTo>
                <a:lnTo>
                  <a:pt x="2242015" y="630038"/>
                </a:lnTo>
                <a:lnTo>
                  <a:pt x="2200599" y="638399"/>
                </a:lnTo>
                <a:lnTo>
                  <a:pt x="961249" y="638399"/>
                </a:lnTo>
                <a:lnTo>
                  <a:pt x="672882" y="718199"/>
                </a:lnTo>
                <a:lnTo>
                  <a:pt x="384499" y="638399"/>
                </a:lnTo>
                <a:lnTo>
                  <a:pt x="106399" y="638399"/>
                </a:lnTo>
                <a:lnTo>
                  <a:pt x="64984" y="630038"/>
                </a:lnTo>
                <a:lnTo>
                  <a:pt x="31163" y="607236"/>
                </a:lnTo>
                <a:lnTo>
                  <a:pt x="8361" y="573415"/>
                </a:lnTo>
                <a:lnTo>
                  <a:pt x="0" y="531999"/>
                </a:lnTo>
                <a:lnTo>
                  <a:pt x="0" y="372399"/>
                </a:lnTo>
                <a:lnTo>
                  <a:pt x="0" y="106399"/>
                </a:lnTo>
                <a:close/>
              </a:path>
            </a:pathLst>
          </a:custGeom>
          <a:ln w="9524">
            <a:solidFill>
              <a:srgbClr val="595959"/>
            </a:solidFill>
          </a:ln>
        </p:spPr>
        <p:txBody>
          <a:bodyPr wrap="square" lIns="0" tIns="0" rIns="0" bIns="0" rtlCol="0"/>
          <a:lstStyle/>
          <a:p>
            <a:endParaRPr/>
          </a:p>
        </p:txBody>
      </p:sp>
      <p:sp>
        <p:nvSpPr>
          <p:cNvPr id="38" name="object 38"/>
          <p:cNvSpPr txBox="1"/>
          <p:nvPr/>
        </p:nvSpPr>
        <p:spPr>
          <a:xfrm>
            <a:off x="1503272" y="1405517"/>
            <a:ext cx="2067831" cy="228268"/>
          </a:xfrm>
          <a:prstGeom prst="rect">
            <a:avLst/>
          </a:prstGeom>
        </p:spPr>
        <p:txBody>
          <a:bodyPr vert="horz" wrap="square" lIns="0" tIns="12700" rIns="0" bIns="0" rtlCol="0">
            <a:spAutoFit/>
          </a:bodyPr>
          <a:lstStyle/>
          <a:p>
            <a:pPr marL="12700">
              <a:lnSpc>
                <a:spcPct val="100000"/>
              </a:lnSpc>
              <a:spcBef>
                <a:spcPts val="1210"/>
              </a:spcBef>
            </a:pPr>
            <a:r>
              <a:rPr sz="1400" spc="-5" dirty="0" smtClean="0">
                <a:latin typeface="Arial"/>
                <a:cs typeface="Arial"/>
              </a:rPr>
              <a:t>User</a:t>
            </a:r>
            <a:r>
              <a:rPr sz="1400" spc="-20" dirty="0" smtClean="0">
                <a:latin typeface="Arial"/>
                <a:cs typeface="Arial"/>
              </a:rPr>
              <a:t> </a:t>
            </a:r>
            <a:r>
              <a:rPr sz="1400" spc="-5" dirty="0">
                <a:latin typeface="Arial"/>
                <a:cs typeface="Arial"/>
              </a:rPr>
              <a:t>input</a:t>
            </a:r>
            <a:endParaRPr sz="1400" dirty="0">
              <a:latin typeface="Arial"/>
              <a:cs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6" name="object 6"/>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7" name="object 7"/>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8" name="object 8"/>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9" name="object 9"/>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0" name="object 10"/>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1" name="object 11"/>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2" name="object 12"/>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3" name="object 13"/>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4" name="object 14"/>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5" name="object 15"/>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6" name="object 16"/>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7" name="object 17"/>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8" name="object 18"/>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19" name="object 19"/>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0" name="object 20"/>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1" name="object 21"/>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2" name="object 22"/>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3" name="object 23"/>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4" name="object 24"/>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5" name="object 25"/>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6" name="object 26"/>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7" name="object 27"/>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28" name="object 28"/>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29" name="object 29"/>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0" name="object 30"/>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1" name="object 31"/>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3" name="object 33"/>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4" name="object 34"/>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7" name="object 37"/>
          <p:cNvSpPr txBox="1"/>
          <p:nvPr/>
        </p:nvSpPr>
        <p:spPr>
          <a:xfrm>
            <a:off x="1513569" y="1864540"/>
            <a:ext cx="2122805" cy="445443"/>
          </a:xfrm>
          <a:prstGeom prst="rect">
            <a:avLst/>
          </a:prstGeom>
        </p:spPr>
        <p:txBody>
          <a:bodyPr vert="horz" wrap="square" lIns="0" tIns="22860" rIns="0" bIns="0" rtlCol="0">
            <a:spAutoFit/>
          </a:bodyPr>
          <a:lstStyle/>
          <a:p>
            <a:pPr marL="12700" marR="996950">
              <a:lnSpc>
                <a:spcPts val="1650"/>
              </a:lnSpc>
              <a:spcBef>
                <a:spcPts val="1030"/>
              </a:spcBef>
            </a:pPr>
            <a:r>
              <a:rPr sz="1400" spc="-5" dirty="0" smtClean="0">
                <a:latin typeface="Arial"/>
                <a:cs typeface="Arial"/>
              </a:rPr>
              <a:t>Incoming  </a:t>
            </a:r>
            <a:r>
              <a:rPr sz="1400" spc="-5" dirty="0">
                <a:latin typeface="Arial"/>
                <a:cs typeface="Arial"/>
              </a:rPr>
              <a:t>network</a:t>
            </a:r>
            <a:r>
              <a:rPr sz="1400" spc="-90" dirty="0">
                <a:latin typeface="Arial"/>
                <a:cs typeface="Arial"/>
              </a:rPr>
              <a:t> </a:t>
            </a:r>
            <a:r>
              <a:rPr sz="1400" spc="-5" dirty="0">
                <a:latin typeface="Arial"/>
                <a:cs typeface="Arial"/>
              </a:rPr>
              <a:t>traffic</a:t>
            </a:r>
            <a:endParaRPr sz="1400" dirty="0">
              <a:latin typeface="Arial"/>
              <a:cs typeface="Arial"/>
            </a:endParaRPr>
          </a:p>
        </p:txBody>
      </p:sp>
      <p:sp>
        <p:nvSpPr>
          <p:cNvPr id="40"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dirty="0">
              <a:latin typeface="Arial"/>
              <a:cs typeface="Arial"/>
            </a:endParaRPr>
          </a:p>
        </p:txBody>
      </p:sp>
      <p:sp>
        <p:nvSpPr>
          <p:cNvPr id="35" name="object 35"/>
          <p:cNvSpPr/>
          <p:nvPr/>
        </p:nvSpPr>
        <p:spPr>
          <a:xfrm>
            <a:off x="1676400" y="1327120"/>
            <a:ext cx="2307590" cy="718820"/>
          </a:xfrm>
          <a:custGeom>
            <a:avLst/>
            <a:gdLst/>
            <a:ahLst/>
            <a:cxnLst/>
            <a:rect l="l" t="t" r="r" b="b"/>
            <a:pathLst>
              <a:path w="2307590" h="718819">
                <a:moveTo>
                  <a:pt x="2200599" y="638399"/>
                </a:moveTo>
                <a:lnTo>
                  <a:pt x="106399" y="638399"/>
                </a:lnTo>
                <a:lnTo>
                  <a:pt x="64984" y="630038"/>
                </a:lnTo>
                <a:lnTo>
                  <a:pt x="31163" y="607236"/>
                </a:lnTo>
                <a:lnTo>
                  <a:pt x="8361" y="573415"/>
                </a:lnTo>
                <a:lnTo>
                  <a:pt x="0" y="531999"/>
                </a:lnTo>
                <a:lnTo>
                  <a:pt x="0" y="106399"/>
                </a:lnTo>
                <a:lnTo>
                  <a:pt x="8361" y="64984"/>
                </a:lnTo>
                <a:lnTo>
                  <a:pt x="31163" y="31163"/>
                </a:lnTo>
                <a:lnTo>
                  <a:pt x="64984" y="8361"/>
                </a:lnTo>
                <a:lnTo>
                  <a:pt x="106399" y="0"/>
                </a:lnTo>
                <a:lnTo>
                  <a:pt x="2200599" y="0"/>
                </a:lnTo>
                <a:lnTo>
                  <a:pt x="2241317" y="8099"/>
                </a:lnTo>
                <a:lnTo>
                  <a:pt x="2275836" y="31163"/>
                </a:lnTo>
                <a:lnTo>
                  <a:pt x="2298900" y="65682"/>
                </a:lnTo>
                <a:lnTo>
                  <a:pt x="2306999" y="106399"/>
                </a:lnTo>
                <a:lnTo>
                  <a:pt x="2306999" y="531999"/>
                </a:lnTo>
                <a:lnTo>
                  <a:pt x="2298638" y="573415"/>
                </a:lnTo>
                <a:lnTo>
                  <a:pt x="2275836" y="607236"/>
                </a:lnTo>
                <a:lnTo>
                  <a:pt x="2242015" y="630038"/>
                </a:lnTo>
                <a:lnTo>
                  <a:pt x="2200599" y="638399"/>
                </a:lnTo>
                <a:close/>
              </a:path>
              <a:path w="2307590" h="718819">
                <a:moveTo>
                  <a:pt x="672882" y="718199"/>
                </a:moveTo>
                <a:lnTo>
                  <a:pt x="384499" y="638399"/>
                </a:lnTo>
                <a:lnTo>
                  <a:pt x="961249" y="638399"/>
                </a:lnTo>
                <a:lnTo>
                  <a:pt x="672882" y="718199"/>
                </a:lnTo>
                <a:close/>
              </a:path>
            </a:pathLst>
          </a:custGeom>
          <a:solidFill>
            <a:srgbClr val="EEEEEE"/>
          </a:solidFill>
        </p:spPr>
        <p:txBody>
          <a:bodyPr wrap="square" lIns="0" tIns="0" rIns="0" bIns="0" rtlCol="0"/>
          <a:lstStyle/>
          <a:p>
            <a:r>
              <a:rPr lang="en-US" dirty="0" smtClean="0"/>
              <a:t>  Server sent us a new   snapshot</a:t>
            </a:r>
            <a:endParaRPr dirty="0"/>
          </a:p>
        </p:txBody>
      </p:sp>
      <p:sp>
        <p:nvSpPr>
          <p:cNvPr id="36" name="object 36"/>
          <p:cNvSpPr/>
          <p:nvPr/>
        </p:nvSpPr>
        <p:spPr>
          <a:xfrm>
            <a:off x="1676400" y="1304189"/>
            <a:ext cx="2307590" cy="718820"/>
          </a:xfrm>
          <a:custGeom>
            <a:avLst/>
            <a:gdLst/>
            <a:ahLst/>
            <a:cxnLst/>
            <a:rect l="l" t="t" r="r" b="b"/>
            <a:pathLst>
              <a:path w="2307590" h="718819">
                <a:moveTo>
                  <a:pt x="0" y="106399"/>
                </a:moveTo>
                <a:lnTo>
                  <a:pt x="8361" y="64984"/>
                </a:lnTo>
                <a:lnTo>
                  <a:pt x="31163" y="31163"/>
                </a:lnTo>
                <a:lnTo>
                  <a:pt x="64984" y="8361"/>
                </a:lnTo>
                <a:lnTo>
                  <a:pt x="106399" y="0"/>
                </a:lnTo>
                <a:lnTo>
                  <a:pt x="384499" y="0"/>
                </a:lnTo>
                <a:lnTo>
                  <a:pt x="961249" y="0"/>
                </a:lnTo>
                <a:lnTo>
                  <a:pt x="2200599" y="0"/>
                </a:lnTo>
                <a:lnTo>
                  <a:pt x="2221454" y="2063"/>
                </a:lnTo>
                <a:lnTo>
                  <a:pt x="2259630" y="17876"/>
                </a:lnTo>
                <a:lnTo>
                  <a:pt x="2289123" y="47369"/>
                </a:lnTo>
                <a:lnTo>
                  <a:pt x="2304936" y="85545"/>
                </a:lnTo>
                <a:lnTo>
                  <a:pt x="2306999" y="106399"/>
                </a:lnTo>
                <a:lnTo>
                  <a:pt x="2306999" y="372399"/>
                </a:lnTo>
                <a:lnTo>
                  <a:pt x="2306999" y="531999"/>
                </a:lnTo>
                <a:lnTo>
                  <a:pt x="2298638" y="573415"/>
                </a:lnTo>
                <a:lnTo>
                  <a:pt x="2275836" y="607236"/>
                </a:lnTo>
                <a:lnTo>
                  <a:pt x="2242015" y="630038"/>
                </a:lnTo>
                <a:lnTo>
                  <a:pt x="2200599" y="638399"/>
                </a:lnTo>
                <a:lnTo>
                  <a:pt x="961249" y="638399"/>
                </a:lnTo>
                <a:lnTo>
                  <a:pt x="672882" y="718199"/>
                </a:lnTo>
                <a:lnTo>
                  <a:pt x="384499" y="638399"/>
                </a:lnTo>
                <a:lnTo>
                  <a:pt x="106399" y="638399"/>
                </a:lnTo>
                <a:lnTo>
                  <a:pt x="64984" y="630038"/>
                </a:lnTo>
                <a:lnTo>
                  <a:pt x="31163" y="607236"/>
                </a:lnTo>
                <a:lnTo>
                  <a:pt x="8361" y="573415"/>
                </a:lnTo>
                <a:lnTo>
                  <a:pt x="0" y="531999"/>
                </a:lnTo>
                <a:lnTo>
                  <a:pt x="0" y="372399"/>
                </a:lnTo>
                <a:lnTo>
                  <a:pt x="0" y="106399"/>
                </a:lnTo>
                <a:close/>
              </a:path>
            </a:pathLst>
          </a:custGeom>
          <a:ln w="9524">
            <a:solidFill>
              <a:srgbClr val="595959"/>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9" name="object 9"/>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0" name="object 10"/>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1" name="object 11"/>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2" name="object 12"/>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3" name="object 13"/>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4" name="object 14"/>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5" name="object 15"/>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6" name="object 16"/>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7" name="object 17"/>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8" name="object 18"/>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9" name="object 19"/>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0" name="object 20"/>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1" name="object 21"/>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2" name="object 22"/>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3" name="object 23"/>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4" name="object 24"/>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5" name="object 25"/>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6" name="object 26"/>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7" name="object 27"/>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8" name="object 28"/>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29" name="object 29"/>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0" name="object 30"/>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1" name="object 31"/>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3" name="object 33"/>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4" name="object 34"/>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5" name="object 35"/>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6" name="object 36"/>
          <p:cNvSpPr/>
          <p:nvPr/>
        </p:nvSpPr>
        <p:spPr>
          <a:xfrm>
            <a:off x="1412600" y="1973499"/>
            <a:ext cx="2307590" cy="718820"/>
          </a:xfrm>
          <a:custGeom>
            <a:avLst/>
            <a:gdLst/>
            <a:ahLst/>
            <a:cxnLst/>
            <a:rect l="l" t="t" r="r" b="b"/>
            <a:pathLst>
              <a:path w="2307590" h="718819">
                <a:moveTo>
                  <a:pt x="2200599" y="638399"/>
                </a:moveTo>
                <a:lnTo>
                  <a:pt x="106399" y="638399"/>
                </a:lnTo>
                <a:lnTo>
                  <a:pt x="64984" y="630038"/>
                </a:lnTo>
                <a:lnTo>
                  <a:pt x="31163" y="607236"/>
                </a:lnTo>
                <a:lnTo>
                  <a:pt x="8361" y="573415"/>
                </a:lnTo>
                <a:lnTo>
                  <a:pt x="0" y="531999"/>
                </a:lnTo>
                <a:lnTo>
                  <a:pt x="0" y="106399"/>
                </a:lnTo>
                <a:lnTo>
                  <a:pt x="8361" y="64984"/>
                </a:lnTo>
                <a:lnTo>
                  <a:pt x="31163" y="31163"/>
                </a:lnTo>
                <a:lnTo>
                  <a:pt x="64984" y="8361"/>
                </a:lnTo>
                <a:lnTo>
                  <a:pt x="106399" y="0"/>
                </a:lnTo>
                <a:lnTo>
                  <a:pt x="2200599" y="0"/>
                </a:lnTo>
                <a:lnTo>
                  <a:pt x="2241317" y="8099"/>
                </a:lnTo>
                <a:lnTo>
                  <a:pt x="2275836" y="31163"/>
                </a:lnTo>
                <a:lnTo>
                  <a:pt x="2298900" y="65682"/>
                </a:lnTo>
                <a:lnTo>
                  <a:pt x="2306999" y="106399"/>
                </a:lnTo>
                <a:lnTo>
                  <a:pt x="2306999" y="531999"/>
                </a:lnTo>
                <a:lnTo>
                  <a:pt x="2298638" y="573415"/>
                </a:lnTo>
                <a:lnTo>
                  <a:pt x="2275836" y="607236"/>
                </a:lnTo>
                <a:lnTo>
                  <a:pt x="2242015" y="630038"/>
                </a:lnTo>
                <a:lnTo>
                  <a:pt x="2200599" y="638399"/>
                </a:lnTo>
                <a:close/>
              </a:path>
              <a:path w="2307590" h="718819">
                <a:moveTo>
                  <a:pt x="672882" y="718199"/>
                </a:moveTo>
                <a:lnTo>
                  <a:pt x="384499" y="638399"/>
                </a:lnTo>
                <a:lnTo>
                  <a:pt x="961249" y="638399"/>
                </a:lnTo>
                <a:lnTo>
                  <a:pt x="672882" y="718199"/>
                </a:lnTo>
                <a:close/>
              </a:path>
            </a:pathLst>
          </a:custGeom>
          <a:solidFill>
            <a:srgbClr val="EEEEEE"/>
          </a:solidFill>
        </p:spPr>
        <p:txBody>
          <a:bodyPr wrap="square" lIns="0" tIns="0" rIns="0" bIns="0" rtlCol="0"/>
          <a:lstStyle/>
          <a:p>
            <a:r>
              <a:rPr lang="en-US" dirty="0" smtClean="0"/>
              <a:t>16.7 </a:t>
            </a:r>
            <a:r>
              <a:rPr lang="en-US" dirty="0" err="1" smtClean="0"/>
              <a:t>ms</a:t>
            </a:r>
            <a:r>
              <a:rPr lang="en-US" dirty="0" smtClean="0"/>
              <a:t> has elapsed</a:t>
            </a:r>
            <a:endParaRPr dirty="0"/>
          </a:p>
        </p:txBody>
      </p:sp>
      <p:sp>
        <p:nvSpPr>
          <p:cNvPr id="37" name="object 37"/>
          <p:cNvSpPr/>
          <p:nvPr/>
        </p:nvSpPr>
        <p:spPr>
          <a:xfrm>
            <a:off x="1412600" y="1973500"/>
            <a:ext cx="2307590" cy="718820"/>
          </a:xfrm>
          <a:custGeom>
            <a:avLst/>
            <a:gdLst/>
            <a:ahLst/>
            <a:cxnLst/>
            <a:rect l="l" t="t" r="r" b="b"/>
            <a:pathLst>
              <a:path w="2307590" h="718819">
                <a:moveTo>
                  <a:pt x="0" y="106399"/>
                </a:moveTo>
                <a:lnTo>
                  <a:pt x="8361" y="64984"/>
                </a:lnTo>
                <a:lnTo>
                  <a:pt x="31163" y="31163"/>
                </a:lnTo>
                <a:lnTo>
                  <a:pt x="64984" y="8361"/>
                </a:lnTo>
                <a:lnTo>
                  <a:pt x="106399" y="0"/>
                </a:lnTo>
                <a:lnTo>
                  <a:pt x="384499" y="0"/>
                </a:lnTo>
                <a:lnTo>
                  <a:pt x="961249" y="0"/>
                </a:lnTo>
                <a:lnTo>
                  <a:pt x="2200599" y="0"/>
                </a:lnTo>
                <a:lnTo>
                  <a:pt x="2221454" y="2063"/>
                </a:lnTo>
                <a:lnTo>
                  <a:pt x="2259630" y="17876"/>
                </a:lnTo>
                <a:lnTo>
                  <a:pt x="2289123" y="47369"/>
                </a:lnTo>
                <a:lnTo>
                  <a:pt x="2304936" y="85545"/>
                </a:lnTo>
                <a:lnTo>
                  <a:pt x="2306999" y="106399"/>
                </a:lnTo>
                <a:lnTo>
                  <a:pt x="2306999" y="372399"/>
                </a:lnTo>
                <a:lnTo>
                  <a:pt x="2306999" y="531999"/>
                </a:lnTo>
                <a:lnTo>
                  <a:pt x="2298638" y="573415"/>
                </a:lnTo>
                <a:lnTo>
                  <a:pt x="2275836" y="607236"/>
                </a:lnTo>
                <a:lnTo>
                  <a:pt x="2242015" y="630038"/>
                </a:lnTo>
                <a:lnTo>
                  <a:pt x="2200599" y="638399"/>
                </a:lnTo>
                <a:lnTo>
                  <a:pt x="961249" y="638399"/>
                </a:lnTo>
                <a:lnTo>
                  <a:pt x="672882" y="718199"/>
                </a:lnTo>
                <a:lnTo>
                  <a:pt x="384499" y="638399"/>
                </a:lnTo>
                <a:lnTo>
                  <a:pt x="106399" y="638399"/>
                </a:lnTo>
                <a:lnTo>
                  <a:pt x="64984" y="630038"/>
                </a:lnTo>
                <a:lnTo>
                  <a:pt x="31163" y="607236"/>
                </a:lnTo>
                <a:lnTo>
                  <a:pt x="8361" y="573415"/>
                </a:lnTo>
                <a:lnTo>
                  <a:pt x="0" y="531999"/>
                </a:lnTo>
                <a:lnTo>
                  <a:pt x="0" y="372399"/>
                </a:lnTo>
                <a:lnTo>
                  <a:pt x="0" y="106399"/>
                </a:lnTo>
                <a:close/>
              </a:path>
            </a:pathLst>
          </a:custGeom>
          <a:ln w="9524">
            <a:solidFill>
              <a:srgbClr val="595959"/>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2" name="object 12"/>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3" name="object 13"/>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4" name="object 14"/>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5" name="object 15"/>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6" name="object 16"/>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7" name="object 17"/>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8" name="object 18"/>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9" name="object 19"/>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0" name="object 20"/>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1" name="object 21"/>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2" name="object 22"/>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3" name="object 23"/>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4" name="object 24"/>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5" name="object 25"/>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6" name="object 26"/>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7" name="object 27"/>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8" name="object 28"/>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29" name="object 29"/>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0" name="object 30"/>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1" name="object 31"/>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3" name="object 33"/>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4" name="object 34"/>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5" name="object 35"/>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6" name="object 36"/>
          <p:cNvSpPr/>
          <p:nvPr/>
        </p:nvSpPr>
        <p:spPr>
          <a:xfrm>
            <a:off x="1491174" y="2401499"/>
            <a:ext cx="2307590" cy="933450"/>
          </a:xfrm>
          <a:custGeom>
            <a:avLst/>
            <a:gdLst/>
            <a:ahLst/>
            <a:cxnLst/>
            <a:rect l="l" t="t" r="r" b="b"/>
            <a:pathLst>
              <a:path w="2307590" h="933450">
                <a:moveTo>
                  <a:pt x="2168749" y="829499"/>
                </a:moveTo>
                <a:lnTo>
                  <a:pt x="138249" y="829499"/>
                </a:lnTo>
                <a:lnTo>
                  <a:pt x="94552" y="822451"/>
                </a:lnTo>
                <a:lnTo>
                  <a:pt x="56601" y="802825"/>
                </a:lnTo>
                <a:lnTo>
                  <a:pt x="26674" y="772898"/>
                </a:lnTo>
                <a:lnTo>
                  <a:pt x="7048" y="734947"/>
                </a:lnTo>
                <a:lnTo>
                  <a:pt x="0" y="691249"/>
                </a:lnTo>
                <a:lnTo>
                  <a:pt x="0" y="138249"/>
                </a:lnTo>
                <a:lnTo>
                  <a:pt x="7048" y="94552"/>
                </a:lnTo>
                <a:lnTo>
                  <a:pt x="26674" y="56601"/>
                </a:lnTo>
                <a:lnTo>
                  <a:pt x="56601" y="26674"/>
                </a:lnTo>
                <a:lnTo>
                  <a:pt x="94552" y="7048"/>
                </a:lnTo>
                <a:lnTo>
                  <a:pt x="138249" y="0"/>
                </a:lnTo>
                <a:lnTo>
                  <a:pt x="2168749" y="0"/>
                </a:lnTo>
                <a:lnTo>
                  <a:pt x="2221655" y="10523"/>
                </a:lnTo>
                <a:lnTo>
                  <a:pt x="2266507" y="40492"/>
                </a:lnTo>
                <a:lnTo>
                  <a:pt x="2296476" y="85343"/>
                </a:lnTo>
                <a:lnTo>
                  <a:pt x="2306999" y="138249"/>
                </a:lnTo>
                <a:lnTo>
                  <a:pt x="2306999" y="691249"/>
                </a:lnTo>
                <a:lnTo>
                  <a:pt x="2299951" y="734947"/>
                </a:lnTo>
                <a:lnTo>
                  <a:pt x="2280325" y="772898"/>
                </a:lnTo>
                <a:lnTo>
                  <a:pt x="2250398" y="802825"/>
                </a:lnTo>
                <a:lnTo>
                  <a:pt x="2212447" y="822451"/>
                </a:lnTo>
                <a:lnTo>
                  <a:pt x="2168749" y="829499"/>
                </a:lnTo>
                <a:close/>
              </a:path>
              <a:path w="2307590" h="933450">
                <a:moveTo>
                  <a:pt x="672882" y="933187"/>
                </a:moveTo>
                <a:lnTo>
                  <a:pt x="384499" y="829499"/>
                </a:lnTo>
                <a:lnTo>
                  <a:pt x="961249" y="829499"/>
                </a:lnTo>
                <a:lnTo>
                  <a:pt x="672882" y="933187"/>
                </a:lnTo>
                <a:close/>
              </a:path>
            </a:pathLst>
          </a:custGeom>
          <a:solidFill>
            <a:srgbClr val="EEEEEE"/>
          </a:solidFill>
        </p:spPr>
        <p:txBody>
          <a:bodyPr wrap="square" lIns="0" tIns="0" rIns="0" bIns="0" rtlCol="0"/>
          <a:lstStyle/>
          <a:p>
            <a:endParaRPr/>
          </a:p>
        </p:txBody>
      </p:sp>
      <p:sp>
        <p:nvSpPr>
          <p:cNvPr id="37" name="object 37"/>
          <p:cNvSpPr/>
          <p:nvPr/>
        </p:nvSpPr>
        <p:spPr>
          <a:xfrm>
            <a:off x="1491174" y="2401499"/>
            <a:ext cx="2307590" cy="933450"/>
          </a:xfrm>
          <a:custGeom>
            <a:avLst/>
            <a:gdLst/>
            <a:ahLst/>
            <a:cxnLst/>
            <a:rect l="l" t="t" r="r" b="b"/>
            <a:pathLst>
              <a:path w="2307590" h="933450">
                <a:moveTo>
                  <a:pt x="0" y="138249"/>
                </a:moveTo>
                <a:lnTo>
                  <a:pt x="7048" y="94552"/>
                </a:lnTo>
                <a:lnTo>
                  <a:pt x="26674" y="56601"/>
                </a:lnTo>
                <a:lnTo>
                  <a:pt x="56601" y="26674"/>
                </a:lnTo>
                <a:lnTo>
                  <a:pt x="94552" y="7048"/>
                </a:lnTo>
                <a:lnTo>
                  <a:pt x="138249" y="0"/>
                </a:lnTo>
                <a:lnTo>
                  <a:pt x="384499" y="0"/>
                </a:lnTo>
                <a:lnTo>
                  <a:pt x="961249" y="0"/>
                </a:lnTo>
                <a:lnTo>
                  <a:pt x="2168749" y="0"/>
                </a:lnTo>
                <a:lnTo>
                  <a:pt x="2195847" y="2680"/>
                </a:lnTo>
                <a:lnTo>
                  <a:pt x="2245451" y="23227"/>
                </a:lnTo>
                <a:lnTo>
                  <a:pt x="2283772" y="61548"/>
                </a:lnTo>
                <a:lnTo>
                  <a:pt x="2304319" y="111152"/>
                </a:lnTo>
                <a:lnTo>
                  <a:pt x="2306999" y="138249"/>
                </a:lnTo>
                <a:lnTo>
                  <a:pt x="2306999" y="483874"/>
                </a:lnTo>
                <a:lnTo>
                  <a:pt x="2306999" y="691249"/>
                </a:lnTo>
                <a:lnTo>
                  <a:pt x="2299951" y="734947"/>
                </a:lnTo>
                <a:lnTo>
                  <a:pt x="2280325" y="772898"/>
                </a:lnTo>
                <a:lnTo>
                  <a:pt x="2250398" y="802825"/>
                </a:lnTo>
                <a:lnTo>
                  <a:pt x="2212447" y="822451"/>
                </a:lnTo>
                <a:lnTo>
                  <a:pt x="2168749" y="829499"/>
                </a:lnTo>
                <a:lnTo>
                  <a:pt x="961249" y="829499"/>
                </a:lnTo>
                <a:lnTo>
                  <a:pt x="672882" y="933187"/>
                </a:lnTo>
                <a:lnTo>
                  <a:pt x="384499" y="829499"/>
                </a:lnTo>
                <a:lnTo>
                  <a:pt x="138249" y="829499"/>
                </a:lnTo>
                <a:lnTo>
                  <a:pt x="94552" y="822451"/>
                </a:lnTo>
                <a:lnTo>
                  <a:pt x="56601" y="802825"/>
                </a:lnTo>
                <a:lnTo>
                  <a:pt x="26674" y="772898"/>
                </a:lnTo>
                <a:lnTo>
                  <a:pt x="7048" y="734947"/>
                </a:lnTo>
                <a:lnTo>
                  <a:pt x="0" y="691249"/>
                </a:lnTo>
                <a:lnTo>
                  <a:pt x="0" y="483874"/>
                </a:lnTo>
                <a:lnTo>
                  <a:pt x="0" y="138249"/>
                </a:lnTo>
                <a:close/>
              </a:path>
            </a:pathLst>
          </a:custGeom>
          <a:ln w="9524">
            <a:solidFill>
              <a:srgbClr val="595959"/>
            </a:solidFill>
          </a:ln>
        </p:spPr>
        <p:txBody>
          <a:bodyPr wrap="square" lIns="0" tIns="0" rIns="0" bIns="0" rtlCol="0"/>
          <a:lstStyle/>
          <a:p>
            <a:endParaRPr/>
          </a:p>
        </p:txBody>
      </p:sp>
      <p:sp>
        <p:nvSpPr>
          <p:cNvPr id="39" name="Rectangle 38"/>
          <p:cNvSpPr/>
          <p:nvPr/>
        </p:nvSpPr>
        <p:spPr>
          <a:xfrm>
            <a:off x="1513569" y="2454321"/>
            <a:ext cx="2202078" cy="738664"/>
          </a:xfrm>
          <a:prstGeom prst="rect">
            <a:avLst/>
          </a:prstGeom>
        </p:spPr>
        <p:txBody>
          <a:bodyPr wrap="square">
            <a:spAutoFit/>
          </a:bodyPr>
          <a:lstStyle/>
          <a:p>
            <a:r>
              <a:rPr lang="en-US" sz="1400" dirty="0">
                <a:latin typeface="ArialMT"/>
              </a:rPr>
              <a:t>Level 6 is loaded. Player</a:t>
            </a:r>
          </a:p>
          <a:p>
            <a:r>
              <a:rPr lang="en-US" sz="1400" dirty="0">
                <a:latin typeface="ArialMT"/>
              </a:rPr>
              <a:t>1’s health is 23 and</a:t>
            </a:r>
          </a:p>
          <a:p>
            <a:r>
              <a:rPr lang="en-US" sz="1400" dirty="0">
                <a:latin typeface="ArialMT"/>
              </a:rPr>
              <a:t>position is 1021, 200.</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3" name="object 13"/>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5" name="object 15"/>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6" name="object 16"/>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7" name="object 17"/>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8" name="object 18"/>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9" name="object 19"/>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0" name="object 20"/>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1" name="object 21"/>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2" name="object 22"/>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3" name="object 23"/>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4" name="object 24"/>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5" name="object 25"/>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6" name="object 26"/>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7" name="object 27"/>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8" name="object 28"/>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29" name="object 29"/>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0" name="object 30"/>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1" name="object 31"/>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3" name="object 33"/>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4" name="object 34"/>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5" name="object 35"/>
          <p:cNvSpPr/>
          <p:nvPr/>
        </p:nvSpPr>
        <p:spPr>
          <a:xfrm>
            <a:off x="1498175" y="3293550"/>
            <a:ext cx="2307590" cy="718820"/>
          </a:xfrm>
          <a:custGeom>
            <a:avLst/>
            <a:gdLst/>
            <a:ahLst/>
            <a:cxnLst/>
            <a:rect l="l" t="t" r="r" b="b"/>
            <a:pathLst>
              <a:path w="2307590" h="718820">
                <a:moveTo>
                  <a:pt x="2200599" y="638399"/>
                </a:moveTo>
                <a:lnTo>
                  <a:pt x="106399" y="638399"/>
                </a:lnTo>
                <a:lnTo>
                  <a:pt x="64984" y="630038"/>
                </a:lnTo>
                <a:lnTo>
                  <a:pt x="31163" y="607236"/>
                </a:lnTo>
                <a:lnTo>
                  <a:pt x="8361" y="573415"/>
                </a:lnTo>
                <a:lnTo>
                  <a:pt x="0" y="531999"/>
                </a:lnTo>
                <a:lnTo>
                  <a:pt x="0" y="106399"/>
                </a:lnTo>
                <a:lnTo>
                  <a:pt x="8361" y="64984"/>
                </a:lnTo>
                <a:lnTo>
                  <a:pt x="31163" y="31163"/>
                </a:lnTo>
                <a:lnTo>
                  <a:pt x="64984" y="8361"/>
                </a:lnTo>
                <a:lnTo>
                  <a:pt x="106399" y="0"/>
                </a:lnTo>
                <a:lnTo>
                  <a:pt x="2200599" y="0"/>
                </a:lnTo>
                <a:lnTo>
                  <a:pt x="2241317" y="8099"/>
                </a:lnTo>
                <a:lnTo>
                  <a:pt x="2275836" y="31163"/>
                </a:lnTo>
                <a:lnTo>
                  <a:pt x="2298900" y="65682"/>
                </a:lnTo>
                <a:lnTo>
                  <a:pt x="2306999" y="106399"/>
                </a:lnTo>
                <a:lnTo>
                  <a:pt x="2306999" y="531999"/>
                </a:lnTo>
                <a:lnTo>
                  <a:pt x="2298638" y="573415"/>
                </a:lnTo>
                <a:lnTo>
                  <a:pt x="2275836" y="607236"/>
                </a:lnTo>
                <a:lnTo>
                  <a:pt x="2242015" y="630038"/>
                </a:lnTo>
                <a:lnTo>
                  <a:pt x="2200599" y="638399"/>
                </a:lnTo>
                <a:close/>
              </a:path>
              <a:path w="2307590" h="718820">
                <a:moveTo>
                  <a:pt x="672882" y="718199"/>
                </a:moveTo>
                <a:lnTo>
                  <a:pt x="384499" y="638399"/>
                </a:lnTo>
                <a:lnTo>
                  <a:pt x="961249" y="638399"/>
                </a:lnTo>
                <a:lnTo>
                  <a:pt x="672882" y="718199"/>
                </a:lnTo>
                <a:close/>
              </a:path>
            </a:pathLst>
          </a:custGeom>
          <a:solidFill>
            <a:srgbClr val="EEEEEE"/>
          </a:solidFill>
        </p:spPr>
        <p:txBody>
          <a:bodyPr wrap="square" lIns="0" tIns="0" rIns="0" bIns="0" rtlCol="0"/>
          <a:lstStyle/>
          <a:p>
            <a:r>
              <a:rPr lang="en-US" dirty="0" smtClean="0"/>
              <a:t>OS Reports it is low on memory</a:t>
            </a:r>
            <a:endParaRPr dirty="0"/>
          </a:p>
        </p:txBody>
      </p:sp>
      <p:sp>
        <p:nvSpPr>
          <p:cNvPr id="36" name="object 36"/>
          <p:cNvSpPr/>
          <p:nvPr/>
        </p:nvSpPr>
        <p:spPr>
          <a:xfrm>
            <a:off x="1498175" y="3293550"/>
            <a:ext cx="2307590" cy="718820"/>
          </a:xfrm>
          <a:custGeom>
            <a:avLst/>
            <a:gdLst/>
            <a:ahLst/>
            <a:cxnLst/>
            <a:rect l="l" t="t" r="r" b="b"/>
            <a:pathLst>
              <a:path w="2307590" h="718820">
                <a:moveTo>
                  <a:pt x="0" y="106399"/>
                </a:moveTo>
                <a:lnTo>
                  <a:pt x="8361" y="64984"/>
                </a:lnTo>
                <a:lnTo>
                  <a:pt x="31163" y="31163"/>
                </a:lnTo>
                <a:lnTo>
                  <a:pt x="64984" y="8361"/>
                </a:lnTo>
                <a:lnTo>
                  <a:pt x="106399" y="0"/>
                </a:lnTo>
                <a:lnTo>
                  <a:pt x="384499" y="0"/>
                </a:lnTo>
                <a:lnTo>
                  <a:pt x="961249" y="0"/>
                </a:lnTo>
                <a:lnTo>
                  <a:pt x="2200599" y="0"/>
                </a:lnTo>
                <a:lnTo>
                  <a:pt x="2221454" y="2063"/>
                </a:lnTo>
                <a:lnTo>
                  <a:pt x="2259630" y="17876"/>
                </a:lnTo>
                <a:lnTo>
                  <a:pt x="2289123" y="47369"/>
                </a:lnTo>
                <a:lnTo>
                  <a:pt x="2304936" y="85545"/>
                </a:lnTo>
                <a:lnTo>
                  <a:pt x="2306999" y="106399"/>
                </a:lnTo>
                <a:lnTo>
                  <a:pt x="2306999" y="372399"/>
                </a:lnTo>
                <a:lnTo>
                  <a:pt x="2306999" y="531999"/>
                </a:lnTo>
                <a:lnTo>
                  <a:pt x="2298638" y="573415"/>
                </a:lnTo>
                <a:lnTo>
                  <a:pt x="2275836" y="607236"/>
                </a:lnTo>
                <a:lnTo>
                  <a:pt x="2242015" y="630038"/>
                </a:lnTo>
                <a:lnTo>
                  <a:pt x="2200599" y="638399"/>
                </a:lnTo>
                <a:lnTo>
                  <a:pt x="961249" y="638399"/>
                </a:lnTo>
                <a:lnTo>
                  <a:pt x="672882" y="718199"/>
                </a:lnTo>
                <a:lnTo>
                  <a:pt x="384499" y="638399"/>
                </a:lnTo>
                <a:lnTo>
                  <a:pt x="106399" y="638399"/>
                </a:lnTo>
                <a:lnTo>
                  <a:pt x="64984" y="630038"/>
                </a:lnTo>
                <a:lnTo>
                  <a:pt x="31163" y="607236"/>
                </a:lnTo>
                <a:lnTo>
                  <a:pt x="8361" y="573415"/>
                </a:lnTo>
                <a:lnTo>
                  <a:pt x="0" y="531999"/>
                </a:lnTo>
                <a:lnTo>
                  <a:pt x="0" y="372399"/>
                </a:lnTo>
                <a:lnTo>
                  <a:pt x="0" y="106399"/>
                </a:lnTo>
                <a:close/>
              </a:path>
            </a:pathLst>
          </a:custGeom>
          <a:ln w="9524">
            <a:solidFill>
              <a:srgbClr val="595959"/>
            </a:solidFill>
          </a:ln>
        </p:spPr>
        <p:txBody>
          <a:bodyPr wrap="square" lIns="0" tIns="0" rIns="0" bIns="0" rtlCol="0"/>
          <a:lstStyle/>
          <a:p>
            <a:endParaRPr/>
          </a:p>
        </p:txBody>
      </p:sp>
      <p:sp>
        <p:nvSpPr>
          <p:cNvPr id="37" name="object 37"/>
          <p:cNvSpPr txBox="1"/>
          <p:nvPr/>
        </p:nvSpPr>
        <p:spPr>
          <a:xfrm>
            <a:off x="1507606" y="3980578"/>
            <a:ext cx="2107565" cy="445443"/>
          </a:xfrm>
          <a:prstGeom prst="rect">
            <a:avLst/>
          </a:prstGeom>
        </p:spPr>
        <p:txBody>
          <a:bodyPr vert="horz" wrap="square" lIns="0" tIns="22860" rIns="0" bIns="0" rtlCol="0">
            <a:spAutoFit/>
          </a:bodyPr>
          <a:lstStyle/>
          <a:p>
            <a:pPr marL="12700" marR="1089025">
              <a:lnSpc>
                <a:spcPts val="1650"/>
              </a:lnSpc>
              <a:spcBef>
                <a:spcPts val="1465"/>
              </a:spcBef>
            </a:pPr>
            <a:r>
              <a:rPr sz="1400" spc="-5" dirty="0" smtClean="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3" name="object 13"/>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5" name="object 15"/>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6" name="object 16"/>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8" name="object 18"/>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9" name="object 19"/>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1" name="object 21"/>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2" name="object 22"/>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4" name="object 24"/>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5" name="object 25"/>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6" name="object 26"/>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7" name="object 27"/>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8" name="object 28"/>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9" name="object 29"/>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30" name="object 30"/>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1" name="object 31"/>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3" name="object 33"/>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4" name="object 34"/>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5" name="object 35"/>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6" name="object 36"/>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7" name="object 37"/>
          <p:cNvSpPr/>
          <p:nvPr/>
        </p:nvSpPr>
        <p:spPr>
          <a:xfrm>
            <a:off x="3678649" y="1427874"/>
            <a:ext cx="2307590" cy="1169670"/>
          </a:xfrm>
          <a:custGeom>
            <a:avLst/>
            <a:gdLst/>
            <a:ahLst/>
            <a:cxnLst/>
            <a:rect l="l" t="t" r="r" b="b"/>
            <a:pathLst>
              <a:path w="2307590" h="1169670">
                <a:moveTo>
                  <a:pt x="2133799" y="1039199"/>
                </a:moveTo>
                <a:lnTo>
                  <a:pt x="173199" y="1039199"/>
                </a:lnTo>
                <a:lnTo>
                  <a:pt x="127156" y="1033013"/>
                </a:lnTo>
                <a:lnTo>
                  <a:pt x="85782" y="1015553"/>
                </a:lnTo>
                <a:lnTo>
                  <a:pt x="50729" y="988470"/>
                </a:lnTo>
                <a:lnTo>
                  <a:pt x="23646" y="953417"/>
                </a:lnTo>
                <a:lnTo>
                  <a:pt x="6186" y="912043"/>
                </a:lnTo>
                <a:lnTo>
                  <a:pt x="0" y="865999"/>
                </a:lnTo>
                <a:lnTo>
                  <a:pt x="0" y="173199"/>
                </a:lnTo>
                <a:lnTo>
                  <a:pt x="6186" y="127156"/>
                </a:lnTo>
                <a:lnTo>
                  <a:pt x="23646" y="85782"/>
                </a:lnTo>
                <a:lnTo>
                  <a:pt x="50729" y="50729"/>
                </a:lnTo>
                <a:lnTo>
                  <a:pt x="85782" y="23646"/>
                </a:lnTo>
                <a:lnTo>
                  <a:pt x="127156" y="6186"/>
                </a:lnTo>
                <a:lnTo>
                  <a:pt x="173199" y="0"/>
                </a:lnTo>
                <a:lnTo>
                  <a:pt x="2133799" y="0"/>
                </a:lnTo>
                <a:lnTo>
                  <a:pt x="2200080" y="13184"/>
                </a:lnTo>
                <a:lnTo>
                  <a:pt x="2256270" y="50729"/>
                </a:lnTo>
                <a:lnTo>
                  <a:pt x="2293816" y="106919"/>
                </a:lnTo>
                <a:lnTo>
                  <a:pt x="2306999" y="173199"/>
                </a:lnTo>
                <a:lnTo>
                  <a:pt x="2306999" y="865999"/>
                </a:lnTo>
                <a:lnTo>
                  <a:pt x="2300813" y="912043"/>
                </a:lnTo>
                <a:lnTo>
                  <a:pt x="2283353" y="953417"/>
                </a:lnTo>
                <a:lnTo>
                  <a:pt x="2256270" y="988470"/>
                </a:lnTo>
                <a:lnTo>
                  <a:pt x="2221217" y="1015553"/>
                </a:lnTo>
                <a:lnTo>
                  <a:pt x="2179843" y="1033013"/>
                </a:lnTo>
                <a:lnTo>
                  <a:pt x="2133799" y="1039199"/>
                </a:lnTo>
                <a:close/>
              </a:path>
              <a:path w="2307590" h="1169670">
                <a:moveTo>
                  <a:pt x="672882" y="1169099"/>
                </a:moveTo>
                <a:lnTo>
                  <a:pt x="384499" y="1039199"/>
                </a:lnTo>
                <a:lnTo>
                  <a:pt x="961249" y="1039199"/>
                </a:lnTo>
                <a:lnTo>
                  <a:pt x="672882" y="1169099"/>
                </a:lnTo>
                <a:close/>
              </a:path>
            </a:pathLst>
          </a:custGeom>
          <a:solidFill>
            <a:srgbClr val="EEEEEE"/>
          </a:solidFill>
        </p:spPr>
        <p:txBody>
          <a:bodyPr wrap="square" lIns="0" tIns="0" rIns="0" bIns="0" rtlCol="0"/>
          <a:lstStyle/>
          <a:p>
            <a:endParaRPr/>
          </a:p>
        </p:txBody>
      </p:sp>
      <p:sp>
        <p:nvSpPr>
          <p:cNvPr id="38" name="object 38"/>
          <p:cNvSpPr/>
          <p:nvPr/>
        </p:nvSpPr>
        <p:spPr>
          <a:xfrm>
            <a:off x="3678649" y="1427874"/>
            <a:ext cx="2307590" cy="1169670"/>
          </a:xfrm>
          <a:custGeom>
            <a:avLst/>
            <a:gdLst/>
            <a:ahLst/>
            <a:cxnLst/>
            <a:rect l="l" t="t" r="r" b="b"/>
            <a:pathLst>
              <a:path w="2307590" h="1169670">
                <a:moveTo>
                  <a:pt x="0" y="173199"/>
                </a:moveTo>
                <a:lnTo>
                  <a:pt x="6186" y="127156"/>
                </a:lnTo>
                <a:lnTo>
                  <a:pt x="23646" y="85782"/>
                </a:lnTo>
                <a:lnTo>
                  <a:pt x="50729" y="50729"/>
                </a:lnTo>
                <a:lnTo>
                  <a:pt x="85782" y="23646"/>
                </a:lnTo>
                <a:lnTo>
                  <a:pt x="127156" y="6186"/>
                </a:lnTo>
                <a:lnTo>
                  <a:pt x="173199" y="0"/>
                </a:lnTo>
                <a:lnTo>
                  <a:pt x="384499" y="0"/>
                </a:lnTo>
                <a:lnTo>
                  <a:pt x="961249" y="0"/>
                </a:lnTo>
                <a:lnTo>
                  <a:pt x="2133799" y="0"/>
                </a:lnTo>
                <a:lnTo>
                  <a:pt x="2167747" y="3358"/>
                </a:lnTo>
                <a:lnTo>
                  <a:pt x="2229891" y="29099"/>
                </a:lnTo>
                <a:lnTo>
                  <a:pt x="2277900" y="77108"/>
                </a:lnTo>
                <a:lnTo>
                  <a:pt x="2303641" y="139252"/>
                </a:lnTo>
                <a:lnTo>
                  <a:pt x="2306999" y="173199"/>
                </a:lnTo>
                <a:lnTo>
                  <a:pt x="2306999" y="606199"/>
                </a:lnTo>
                <a:lnTo>
                  <a:pt x="2306999" y="865999"/>
                </a:lnTo>
                <a:lnTo>
                  <a:pt x="2300813" y="912043"/>
                </a:lnTo>
                <a:lnTo>
                  <a:pt x="2283353" y="953417"/>
                </a:lnTo>
                <a:lnTo>
                  <a:pt x="2256270" y="988470"/>
                </a:lnTo>
                <a:lnTo>
                  <a:pt x="2221217" y="1015553"/>
                </a:lnTo>
                <a:lnTo>
                  <a:pt x="2179843" y="1033013"/>
                </a:lnTo>
                <a:lnTo>
                  <a:pt x="2133799" y="1039199"/>
                </a:lnTo>
                <a:lnTo>
                  <a:pt x="961249" y="1039199"/>
                </a:lnTo>
                <a:lnTo>
                  <a:pt x="672882" y="1169099"/>
                </a:lnTo>
                <a:lnTo>
                  <a:pt x="384499" y="1039199"/>
                </a:lnTo>
                <a:lnTo>
                  <a:pt x="173199" y="1039199"/>
                </a:lnTo>
                <a:lnTo>
                  <a:pt x="127156" y="1033013"/>
                </a:lnTo>
                <a:lnTo>
                  <a:pt x="85782" y="1015553"/>
                </a:lnTo>
                <a:lnTo>
                  <a:pt x="50729" y="988470"/>
                </a:lnTo>
                <a:lnTo>
                  <a:pt x="23646" y="953417"/>
                </a:lnTo>
                <a:lnTo>
                  <a:pt x="6186" y="912043"/>
                </a:lnTo>
                <a:lnTo>
                  <a:pt x="0" y="865999"/>
                </a:lnTo>
                <a:lnTo>
                  <a:pt x="0" y="606199"/>
                </a:lnTo>
                <a:lnTo>
                  <a:pt x="0" y="173199"/>
                </a:lnTo>
                <a:close/>
              </a:path>
            </a:pathLst>
          </a:custGeom>
          <a:ln w="9524">
            <a:solidFill>
              <a:srgbClr val="595959"/>
            </a:solidFill>
          </a:ln>
        </p:spPr>
        <p:txBody>
          <a:bodyPr wrap="square" lIns="0" tIns="0" rIns="0" bIns="0" rtlCol="0"/>
          <a:lstStyle/>
          <a:p>
            <a:endParaRPr/>
          </a:p>
        </p:txBody>
      </p:sp>
      <p:sp>
        <p:nvSpPr>
          <p:cNvPr id="39" name="object 39"/>
          <p:cNvSpPr txBox="1"/>
          <p:nvPr/>
        </p:nvSpPr>
        <p:spPr>
          <a:xfrm>
            <a:off x="3802403" y="1508562"/>
            <a:ext cx="1812925" cy="867410"/>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Gather input. Run  </a:t>
            </a:r>
            <a:r>
              <a:rPr sz="1400" dirty="0">
                <a:latin typeface="Arial"/>
                <a:cs typeface="Arial"/>
              </a:rPr>
              <a:t>simulation. </a:t>
            </a:r>
            <a:r>
              <a:rPr sz="1400" spc="-5" dirty="0">
                <a:latin typeface="Arial"/>
                <a:cs typeface="Arial"/>
              </a:rPr>
              <a:t>Dispatch</a:t>
            </a:r>
            <a:r>
              <a:rPr sz="1400" spc="-100" dirty="0">
                <a:latin typeface="Arial"/>
                <a:cs typeface="Arial"/>
              </a:rPr>
              <a:t> </a:t>
            </a:r>
            <a:r>
              <a:rPr sz="1400" spc="-5" dirty="0">
                <a:latin typeface="Arial"/>
                <a:cs typeface="Arial"/>
              </a:rPr>
              <a:t>to  graphics and audio  </a:t>
            </a:r>
            <a:r>
              <a:rPr sz="1400" dirty="0">
                <a:latin typeface="Arial"/>
                <a:cs typeface="Arial"/>
              </a:rPr>
              <a:t>rendering.</a:t>
            </a:r>
            <a:endParaRPr sz="1400">
              <a:latin typeface="Arial"/>
              <a:cs typeface="Aria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3" name="object 13"/>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5" name="object 15"/>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6" name="object 16"/>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8" name="object 18"/>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9" name="object 19"/>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1" name="object 21"/>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2" name="object 22"/>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4" name="object 24"/>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5" name="object 25"/>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6" name="object 26"/>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7" name="object 27"/>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8" name="object 28"/>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9" name="object 29"/>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30" name="object 30"/>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1" name="object 31"/>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3" name="object 33"/>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4" name="object 34"/>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5" name="object 35"/>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6" name="object 36"/>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7" name="object 37"/>
          <p:cNvSpPr/>
          <p:nvPr/>
        </p:nvSpPr>
        <p:spPr>
          <a:xfrm>
            <a:off x="5809950" y="123825"/>
            <a:ext cx="2054225" cy="1918335"/>
          </a:xfrm>
          <a:custGeom>
            <a:avLst/>
            <a:gdLst/>
            <a:ahLst/>
            <a:cxnLst/>
            <a:rect l="l" t="t" r="r" b="b"/>
            <a:pathLst>
              <a:path w="2054225" h="1918335">
                <a:moveTo>
                  <a:pt x="1769649" y="1704899"/>
                </a:moveTo>
                <a:lnTo>
                  <a:pt x="284149" y="1704899"/>
                </a:lnTo>
                <a:lnTo>
                  <a:pt x="238059" y="1701180"/>
                </a:lnTo>
                <a:lnTo>
                  <a:pt x="194336" y="1690413"/>
                </a:lnTo>
                <a:lnTo>
                  <a:pt x="153566" y="1673183"/>
                </a:lnTo>
                <a:lnTo>
                  <a:pt x="116334" y="1650075"/>
                </a:lnTo>
                <a:lnTo>
                  <a:pt x="83225" y="1621674"/>
                </a:lnTo>
                <a:lnTo>
                  <a:pt x="54824" y="1588565"/>
                </a:lnTo>
                <a:lnTo>
                  <a:pt x="31716" y="1551333"/>
                </a:lnTo>
                <a:lnTo>
                  <a:pt x="14486" y="1510563"/>
                </a:lnTo>
                <a:lnTo>
                  <a:pt x="3719" y="1466840"/>
                </a:lnTo>
                <a:lnTo>
                  <a:pt x="0" y="1420749"/>
                </a:lnTo>
                <a:lnTo>
                  <a:pt x="0" y="284149"/>
                </a:lnTo>
                <a:lnTo>
                  <a:pt x="3719" y="238059"/>
                </a:lnTo>
                <a:lnTo>
                  <a:pt x="14486" y="194336"/>
                </a:lnTo>
                <a:lnTo>
                  <a:pt x="31716" y="153566"/>
                </a:lnTo>
                <a:lnTo>
                  <a:pt x="54824" y="116334"/>
                </a:lnTo>
                <a:lnTo>
                  <a:pt x="83225" y="83225"/>
                </a:lnTo>
                <a:lnTo>
                  <a:pt x="116334" y="54824"/>
                </a:lnTo>
                <a:lnTo>
                  <a:pt x="153566" y="31716"/>
                </a:lnTo>
                <a:lnTo>
                  <a:pt x="194336" y="14486"/>
                </a:lnTo>
                <a:lnTo>
                  <a:pt x="238059" y="3719"/>
                </a:lnTo>
                <a:lnTo>
                  <a:pt x="284149" y="0"/>
                </a:lnTo>
                <a:lnTo>
                  <a:pt x="1769649" y="0"/>
                </a:lnTo>
                <a:lnTo>
                  <a:pt x="1814369" y="3539"/>
                </a:lnTo>
                <a:lnTo>
                  <a:pt x="1857584" y="13948"/>
                </a:lnTo>
                <a:lnTo>
                  <a:pt x="1898532" y="30909"/>
                </a:lnTo>
                <a:lnTo>
                  <a:pt x="1936450" y="54107"/>
                </a:lnTo>
                <a:lnTo>
                  <a:pt x="1970574" y="83225"/>
                </a:lnTo>
                <a:lnTo>
                  <a:pt x="1999692" y="117349"/>
                </a:lnTo>
                <a:lnTo>
                  <a:pt x="2022890" y="155267"/>
                </a:lnTo>
                <a:lnTo>
                  <a:pt x="2039851" y="196215"/>
                </a:lnTo>
                <a:lnTo>
                  <a:pt x="2050260" y="239430"/>
                </a:lnTo>
                <a:lnTo>
                  <a:pt x="2053799" y="284149"/>
                </a:lnTo>
                <a:lnTo>
                  <a:pt x="2053799" y="1420749"/>
                </a:lnTo>
                <a:lnTo>
                  <a:pt x="2050080" y="1466840"/>
                </a:lnTo>
                <a:lnTo>
                  <a:pt x="2039313" y="1510563"/>
                </a:lnTo>
                <a:lnTo>
                  <a:pt x="2022083" y="1551333"/>
                </a:lnTo>
                <a:lnTo>
                  <a:pt x="1998975" y="1588565"/>
                </a:lnTo>
                <a:lnTo>
                  <a:pt x="1970574" y="1621674"/>
                </a:lnTo>
                <a:lnTo>
                  <a:pt x="1937465" y="1650075"/>
                </a:lnTo>
                <a:lnTo>
                  <a:pt x="1900233" y="1673183"/>
                </a:lnTo>
                <a:lnTo>
                  <a:pt x="1859463" y="1690413"/>
                </a:lnTo>
                <a:lnTo>
                  <a:pt x="1815740" y="1701180"/>
                </a:lnTo>
                <a:lnTo>
                  <a:pt x="1769649" y="1704899"/>
                </a:lnTo>
                <a:close/>
              </a:path>
              <a:path w="2054225" h="1918335">
                <a:moveTo>
                  <a:pt x="599031" y="1918012"/>
                </a:moveTo>
                <a:lnTo>
                  <a:pt x="342299" y="1704899"/>
                </a:lnTo>
                <a:lnTo>
                  <a:pt x="855749" y="1704899"/>
                </a:lnTo>
                <a:lnTo>
                  <a:pt x="599031" y="1918012"/>
                </a:lnTo>
                <a:close/>
              </a:path>
            </a:pathLst>
          </a:custGeom>
          <a:solidFill>
            <a:srgbClr val="EEEEEE"/>
          </a:solidFill>
        </p:spPr>
        <p:txBody>
          <a:bodyPr wrap="square" lIns="0" tIns="0" rIns="0" bIns="0" rtlCol="0"/>
          <a:lstStyle/>
          <a:p>
            <a:endParaRPr/>
          </a:p>
        </p:txBody>
      </p:sp>
      <p:sp>
        <p:nvSpPr>
          <p:cNvPr id="38" name="object 38"/>
          <p:cNvSpPr/>
          <p:nvPr/>
        </p:nvSpPr>
        <p:spPr>
          <a:xfrm>
            <a:off x="5809950" y="123825"/>
            <a:ext cx="2054225" cy="1918335"/>
          </a:xfrm>
          <a:custGeom>
            <a:avLst/>
            <a:gdLst/>
            <a:ahLst/>
            <a:cxnLst/>
            <a:rect l="l" t="t" r="r" b="b"/>
            <a:pathLst>
              <a:path w="2054225" h="1918335">
                <a:moveTo>
                  <a:pt x="0" y="284149"/>
                </a:moveTo>
                <a:lnTo>
                  <a:pt x="3719" y="238059"/>
                </a:lnTo>
                <a:lnTo>
                  <a:pt x="14486" y="194336"/>
                </a:lnTo>
                <a:lnTo>
                  <a:pt x="31716" y="153566"/>
                </a:lnTo>
                <a:lnTo>
                  <a:pt x="54824" y="116334"/>
                </a:lnTo>
                <a:lnTo>
                  <a:pt x="83225" y="83225"/>
                </a:lnTo>
                <a:lnTo>
                  <a:pt x="116334" y="54824"/>
                </a:lnTo>
                <a:lnTo>
                  <a:pt x="153566" y="31716"/>
                </a:lnTo>
                <a:lnTo>
                  <a:pt x="194336" y="14486"/>
                </a:lnTo>
                <a:lnTo>
                  <a:pt x="238059" y="3719"/>
                </a:lnTo>
                <a:lnTo>
                  <a:pt x="284149" y="0"/>
                </a:lnTo>
                <a:lnTo>
                  <a:pt x="342299" y="0"/>
                </a:lnTo>
                <a:lnTo>
                  <a:pt x="855749" y="0"/>
                </a:lnTo>
                <a:lnTo>
                  <a:pt x="1769649" y="0"/>
                </a:lnTo>
                <a:lnTo>
                  <a:pt x="1814369" y="3539"/>
                </a:lnTo>
                <a:lnTo>
                  <a:pt x="1857584" y="13948"/>
                </a:lnTo>
                <a:lnTo>
                  <a:pt x="1898532" y="30909"/>
                </a:lnTo>
                <a:lnTo>
                  <a:pt x="1936450" y="54107"/>
                </a:lnTo>
                <a:lnTo>
                  <a:pt x="1970574" y="83225"/>
                </a:lnTo>
                <a:lnTo>
                  <a:pt x="1999692" y="117349"/>
                </a:lnTo>
                <a:lnTo>
                  <a:pt x="2022890" y="155267"/>
                </a:lnTo>
                <a:lnTo>
                  <a:pt x="2039851" y="196215"/>
                </a:lnTo>
                <a:lnTo>
                  <a:pt x="2050260" y="239430"/>
                </a:lnTo>
                <a:lnTo>
                  <a:pt x="2053799" y="284149"/>
                </a:lnTo>
                <a:lnTo>
                  <a:pt x="2053799" y="994524"/>
                </a:lnTo>
                <a:lnTo>
                  <a:pt x="2053799" y="1420749"/>
                </a:lnTo>
                <a:lnTo>
                  <a:pt x="2050080" y="1466840"/>
                </a:lnTo>
                <a:lnTo>
                  <a:pt x="2039313" y="1510563"/>
                </a:lnTo>
                <a:lnTo>
                  <a:pt x="2022083" y="1551333"/>
                </a:lnTo>
                <a:lnTo>
                  <a:pt x="1998975" y="1588565"/>
                </a:lnTo>
                <a:lnTo>
                  <a:pt x="1970574" y="1621674"/>
                </a:lnTo>
                <a:lnTo>
                  <a:pt x="1937465" y="1650075"/>
                </a:lnTo>
                <a:lnTo>
                  <a:pt x="1900233" y="1673183"/>
                </a:lnTo>
                <a:lnTo>
                  <a:pt x="1859463" y="1690413"/>
                </a:lnTo>
                <a:lnTo>
                  <a:pt x="1815740" y="1701180"/>
                </a:lnTo>
                <a:lnTo>
                  <a:pt x="1769649" y="1704899"/>
                </a:lnTo>
                <a:lnTo>
                  <a:pt x="855749" y="1704899"/>
                </a:lnTo>
                <a:lnTo>
                  <a:pt x="599031" y="1918012"/>
                </a:lnTo>
                <a:lnTo>
                  <a:pt x="342299" y="1704899"/>
                </a:lnTo>
                <a:lnTo>
                  <a:pt x="284149" y="1704899"/>
                </a:lnTo>
                <a:lnTo>
                  <a:pt x="238059" y="1701180"/>
                </a:lnTo>
                <a:lnTo>
                  <a:pt x="194336" y="1690413"/>
                </a:lnTo>
                <a:lnTo>
                  <a:pt x="153566" y="1673183"/>
                </a:lnTo>
                <a:lnTo>
                  <a:pt x="116334" y="1650075"/>
                </a:lnTo>
                <a:lnTo>
                  <a:pt x="83225" y="1621674"/>
                </a:lnTo>
                <a:lnTo>
                  <a:pt x="54824" y="1588565"/>
                </a:lnTo>
                <a:lnTo>
                  <a:pt x="31716" y="1551333"/>
                </a:lnTo>
                <a:lnTo>
                  <a:pt x="14486" y="1510563"/>
                </a:lnTo>
                <a:lnTo>
                  <a:pt x="3719" y="1466840"/>
                </a:lnTo>
                <a:lnTo>
                  <a:pt x="0" y="1420749"/>
                </a:lnTo>
                <a:lnTo>
                  <a:pt x="0" y="994524"/>
                </a:lnTo>
                <a:lnTo>
                  <a:pt x="0" y="284149"/>
                </a:lnTo>
                <a:close/>
              </a:path>
            </a:pathLst>
          </a:custGeom>
          <a:ln w="9524">
            <a:solidFill>
              <a:srgbClr val="595959"/>
            </a:solidFill>
          </a:ln>
        </p:spPr>
        <p:txBody>
          <a:bodyPr wrap="square" lIns="0" tIns="0" rIns="0" bIns="0" rtlCol="0"/>
          <a:lstStyle/>
          <a:p>
            <a:endParaRPr/>
          </a:p>
        </p:txBody>
      </p:sp>
      <p:sp>
        <p:nvSpPr>
          <p:cNvPr id="39" name="object 39"/>
          <p:cNvSpPr/>
          <p:nvPr/>
        </p:nvSpPr>
        <p:spPr>
          <a:xfrm>
            <a:off x="6021275" y="225986"/>
            <a:ext cx="1710149" cy="150057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6" name="object 6"/>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7" name="object 7"/>
          <p:cNvSpPr txBox="1"/>
          <p:nvPr/>
        </p:nvSpPr>
        <p:spPr>
          <a:xfrm>
            <a:off x="1513569" y="1289513"/>
            <a:ext cx="1130935" cy="104521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20" dirty="0">
                <a:latin typeface="Arial"/>
                <a:cs typeface="Arial"/>
              </a:rPr>
              <a:t> </a:t>
            </a:r>
            <a:r>
              <a:rPr sz="1400" spc="-5" dirty="0">
                <a:latin typeface="Arial"/>
                <a:cs typeface="Arial"/>
              </a:rPr>
              <a:t>input</a:t>
            </a:r>
            <a:endParaRPr sz="1400">
              <a:latin typeface="Arial"/>
              <a:cs typeface="Arial"/>
            </a:endParaRPr>
          </a:p>
          <a:p>
            <a:pPr>
              <a:lnSpc>
                <a:spcPct val="100000"/>
              </a:lnSpc>
            </a:pPr>
            <a:endParaRPr sz="1500">
              <a:latin typeface="Times New Roman"/>
              <a:cs typeface="Times New Roman"/>
            </a:endParaRPr>
          </a:p>
          <a:p>
            <a:pPr>
              <a:lnSpc>
                <a:spcPct val="100000"/>
              </a:lnSpc>
              <a:spcBef>
                <a:spcPts val="45"/>
              </a:spcBef>
            </a:pPr>
            <a:endParaRPr sz="1150">
              <a:latin typeface="Times New Roman"/>
              <a:cs typeface="Times New Roman"/>
            </a:endParaRPr>
          </a:p>
          <a:p>
            <a:pPr marL="12700" marR="5080">
              <a:lnSpc>
                <a:spcPts val="1650"/>
              </a:lnSpc>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8" name="object 8"/>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9" name="object 9"/>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0" name="object 10"/>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1" name="object 11"/>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2" name="object 12"/>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3" name="object 13"/>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4" name="object 14"/>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5" name="object 15"/>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6" name="object 16"/>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7" name="object 17"/>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8" name="object 18"/>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9" name="object 19"/>
          <p:cNvSpPr txBox="1"/>
          <p:nvPr/>
        </p:nvSpPr>
        <p:spPr>
          <a:xfrm>
            <a:off x="6367894" y="1915330"/>
            <a:ext cx="739775" cy="408305"/>
          </a:xfrm>
          <a:prstGeom prst="rect">
            <a:avLst/>
          </a:prstGeom>
        </p:spPr>
        <p:txBody>
          <a:bodyPr vert="horz" wrap="square" lIns="0" tIns="0" rIns="0" bIns="0" rtlCol="0">
            <a:spAutoFit/>
          </a:bodyPr>
          <a:lstStyle/>
          <a:p>
            <a:pPr>
              <a:lnSpc>
                <a:spcPts val="1530"/>
              </a:lnSpc>
            </a:pPr>
            <a:r>
              <a:rPr sz="1400" spc="-5" dirty="0">
                <a:latin typeface="Arial"/>
                <a:cs typeface="Arial"/>
              </a:rPr>
              <a:t>Image</a:t>
            </a:r>
            <a:r>
              <a:rPr sz="1400" spc="-95" dirty="0">
                <a:latin typeface="Arial"/>
                <a:cs typeface="Arial"/>
              </a:rPr>
              <a:t> </a:t>
            </a:r>
            <a:r>
              <a:rPr sz="1400" spc="-5" dirty="0">
                <a:latin typeface="Arial"/>
                <a:cs typeface="Arial"/>
              </a:rPr>
              <a:t>on</a:t>
            </a:r>
            <a:endParaRPr sz="1400">
              <a:latin typeface="Arial"/>
              <a:cs typeface="Arial"/>
            </a:endParaRPr>
          </a:p>
          <a:p>
            <a:pPr>
              <a:lnSpc>
                <a:spcPts val="1664"/>
              </a:lnSpc>
            </a:pPr>
            <a:r>
              <a:rPr sz="1400" dirty="0">
                <a:latin typeface="Arial"/>
                <a:cs typeface="Arial"/>
              </a:rPr>
              <a:t>screen</a:t>
            </a:r>
            <a:endParaRPr sz="1400">
              <a:latin typeface="Arial"/>
              <a:cs typeface="Arial"/>
            </a:endParaRPr>
          </a:p>
        </p:txBody>
      </p:sp>
      <p:sp>
        <p:nvSpPr>
          <p:cNvPr id="20" name="object 20"/>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1" name="object 21"/>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2" name="object 22"/>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3" name="object 23"/>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4" name="object 24"/>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5" name="object 25"/>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6" name="object 26"/>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7" name="object 27"/>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8" name="object 28"/>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29" name="object 29"/>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0" name="object 30"/>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1" name="object 31"/>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3" name="object 33"/>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4" name="object 34"/>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5" name="object 35"/>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6" name="object 36"/>
          <p:cNvSpPr/>
          <p:nvPr/>
        </p:nvSpPr>
        <p:spPr>
          <a:xfrm>
            <a:off x="6144049" y="1385675"/>
            <a:ext cx="2321560" cy="1322705"/>
          </a:xfrm>
          <a:custGeom>
            <a:avLst/>
            <a:gdLst/>
            <a:ahLst/>
            <a:cxnLst/>
            <a:rect l="l" t="t" r="r" b="b"/>
            <a:pathLst>
              <a:path w="2321559" h="1322705">
                <a:moveTo>
                  <a:pt x="2125149" y="1175699"/>
                </a:moveTo>
                <a:lnTo>
                  <a:pt x="195949" y="1175699"/>
                </a:lnTo>
                <a:lnTo>
                  <a:pt x="151020" y="1170524"/>
                </a:lnTo>
                <a:lnTo>
                  <a:pt x="109776" y="1155783"/>
                </a:lnTo>
                <a:lnTo>
                  <a:pt x="73393" y="1132651"/>
                </a:lnTo>
                <a:lnTo>
                  <a:pt x="43047" y="1102306"/>
                </a:lnTo>
                <a:lnTo>
                  <a:pt x="19916" y="1065923"/>
                </a:lnTo>
                <a:lnTo>
                  <a:pt x="5175" y="1024679"/>
                </a:lnTo>
                <a:lnTo>
                  <a:pt x="0" y="979749"/>
                </a:lnTo>
                <a:lnTo>
                  <a:pt x="0" y="195949"/>
                </a:lnTo>
                <a:lnTo>
                  <a:pt x="5175" y="151020"/>
                </a:lnTo>
                <a:lnTo>
                  <a:pt x="19916" y="109776"/>
                </a:lnTo>
                <a:lnTo>
                  <a:pt x="43047" y="73393"/>
                </a:lnTo>
                <a:lnTo>
                  <a:pt x="73393" y="43047"/>
                </a:lnTo>
                <a:lnTo>
                  <a:pt x="109776" y="19916"/>
                </a:lnTo>
                <a:lnTo>
                  <a:pt x="151020" y="5175"/>
                </a:lnTo>
                <a:lnTo>
                  <a:pt x="195949" y="0"/>
                </a:lnTo>
                <a:lnTo>
                  <a:pt x="2125149" y="0"/>
                </a:lnTo>
                <a:lnTo>
                  <a:pt x="2163556" y="3799"/>
                </a:lnTo>
                <a:lnTo>
                  <a:pt x="2200136" y="14915"/>
                </a:lnTo>
                <a:lnTo>
                  <a:pt x="2233863" y="32921"/>
                </a:lnTo>
                <a:lnTo>
                  <a:pt x="2263707" y="57392"/>
                </a:lnTo>
                <a:lnTo>
                  <a:pt x="2288178" y="87236"/>
                </a:lnTo>
                <a:lnTo>
                  <a:pt x="2306184" y="120963"/>
                </a:lnTo>
                <a:lnTo>
                  <a:pt x="2317300" y="157543"/>
                </a:lnTo>
                <a:lnTo>
                  <a:pt x="2321099" y="195949"/>
                </a:lnTo>
                <a:lnTo>
                  <a:pt x="2321099" y="979749"/>
                </a:lnTo>
                <a:lnTo>
                  <a:pt x="2315924" y="1024679"/>
                </a:lnTo>
                <a:lnTo>
                  <a:pt x="2301183" y="1065923"/>
                </a:lnTo>
                <a:lnTo>
                  <a:pt x="2278051" y="1102306"/>
                </a:lnTo>
                <a:lnTo>
                  <a:pt x="2247706" y="1132651"/>
                </a:lnTo>
                <a:lnTo>
                  <a:pt x="2211323" y="1155783"/>
                </a:lnTo>
                <a:lnTo>
                  <a:pt x="2170079" y="1170524"/>
                </a:lnTo>
                <a:lnTo>
                  <a:pt x="2125149" y="1175699"/>
                </a:lnTo>
                <a:close/>
              </a:path>
              <a:path w="2321559" h="1322705">
                <a:moveTo>
                  <a:pt x="676994" y="1322662"/>
                </a:moveTo>
                <a:lnTo>
                  <a:pt x="386849" y="1175699"/>
                </a:lnTo>
                <a:lnTo>
                  <a:pt x="967124" y="1175699"/>
                </a:lnTo>
                <a:lnTo>
                  <a:pt x="676994" y="1322662"/>
                </a:lnTo>
                <a:close/>
              </a:path>
            </a:pathLst>
          </a:custGeom>
          <a:solidFill>
            <a:srgbClr val="EEEEEE"/>
          </a:solidFill>
        </p:spPr>
        <p:txBody>
          <a:bodyPr wrap="square" lIns="0" tIns="0" rIns="0" bIns="0" rtlCol="0"/>
          <a:lstStyle/>
          <a:p>
            <a:endParaRPr/>
          </a:p>
        </p:txBody>
      </p:sp>
      <p:sp>
        <p:nvSpPr>
          <p:cNvPr id="37" name="object 37"/>
          <p:cNvSpPr/>
          <p:nvPr/>
        </p:nvSpPr>
        <p:spPr>
          <a:xfrm>
            <a:off x="6144050" y="1385675"/>
            <a:ext cx="2321560" cy="1322705"/>
          </a:xfrm>
          <a:custGeom>
            <a:avLst/>
            <a:gdLst/>
            <a:ahLst/>
            <a:cxnLst/>
            <a:rect l="l" t="t" r="r" b="b"/>
            <a:pathLst>
              <a:path w="2321559" h="1322705">
                <a:moveTo>
                  <a:pt x="0" y="195949"/>
                </a:moveTo>
                <a:lnTo>
                  <a:pt x="5175" y="151020"/>
                </a:lnTo>
                <a:lnTo>
                  <a:pt x="19916" y="109776"/>
                </a:lnTo>
                <a:lnTo>
                  <a:pt x="43047" y="73393"/>
                </a:lnTo>
                <a:lnTo>
                  <a:pt x="73393" y="43047"/>
                </a:lnTo>
                <a:lnTo>
                  <a:pt x="109776" y="19916"/>
                </a:lnTo>
                <a:lnTo>
                  <a:pt x="151020" y="5175"/>
                </a:lnTo>
                <a:lnTo>
                  <a:pt x="195949" y="0"/>
                </a:lnTo>
                <a:lnTo>
                  <a:pt x="386849" y="0"/>
                </a:lnTo>
                <a:lnTo>
                  <a:pt x="967124" y="0"/>
                </a:lnTo>
                <a:lnTo>
                  <a:pt x="2125149" y="0"/>
                </a:lnTo>
                <a:lnTo>
                  <a:pt x="2163556" y="3799"/>
                </a:lnTo>
                <a:lnTo>
                  <a:pt x="2200136" y="14915"/>
                </a:lnTo>
                <a:lnTo>
                  <a:pt x="2233863" y="32921"/>
                </a:lnTo>
                <a:lnTo>
                  <a:pt x="2263707" y="57392"/>
                </a:lnTo>
                <a:lnTo>
                  <a:pt x="2288178" y="87236"/>
                </a:lnTo>
                <a:lnTo>
                  <a:pt x="2306184" y="120963"/>
                </a:lnTo>
                <a:lnTo>
                  <a:pt x="2317300" y="157543"/>
                </a:lnTo>
                <a:lnTo>
                  <a:pt x="2321099" y="195949"/>
                </a:lnTo>
                <a:lnTo>
                  <a:pt x="2321099" y="685824"/>
                </a:lnTo>
                <a:lnTo>
                  <a:pt x="2321099" y="979749"/>
                </a:lnTo>
                <a:lnTo>
                  <a:pt x="2315924" y="1024679"/>
                </a:lnTo>
                <a:lnTo>
                  <a:pt x="2301183" y="1065923"/>
                </a:lnTo>
                <a:lnTo>
                  <a:pt x="2278051" y="1102306"/>
                </a:lnTo>
                <a:lnTo>
                  <a:pt x="2247706" y="1132651"/>
                </a:lnTo>
                <a:lnTo>
                  <a:pt x="2211323" y="1155783"/>
                </a:lnTo>
                <a:lnTo>
                  <a:pt x="2170079" y="1170524"/>
                </a:lnTo>
                <a:lnTo>
                  <a:pt x="2125149" y="1175699"/>
                </a:lnTo>
                <a:lnTo>
                  <a:pt x="967124" y="1175699"/>
                </a:lnTo>
                <a:lnTo>
                  <a:pt x="676994" y="1322662"/>
                </a:lnTo>
                <a:lnTo>
                  <a:pt x="386849" y="1175699"/>
                </a:lnTo>
                <a:lnTo>
                  <a:pt x="195949" y="1175699"/>
                </a:lnTo>
                <a:lnTo>
                  <a:pt x="151020" y="1170524"/>
                </a:lnTo>
                <a:lnTo>
                  <a:pt x="109776" y="1155783"/>
                </a:lnTo>
                <a:lnTo>
                  <a:pt x="73393" y="1132651"/>
                </a:lnTo>
                <a:lnTo>
                  <a:pt x="43047" y="1102306"/>
                </a:lnTo>
                <a:lnTo>
                  <a:pt x="19916" y="1065923"/>
                </a:lnTo>
                <a:lnTo>
                  <a:pt x="5175" y="1024679"/>
                </a:lnTo>
                <a:lnTo>
                  <a:pt x="0" y="979749"/>
                </a:lnTo>
                <a:lnTo>
                  <a:pt x="0" y="685824"/>
                </a:lnTo>
                <a:lnTo>
                  <a:pt x="0" y="195949"/>
                </a:lnTo>
                <a:close/>
              </a:path>
            </a:pathLst>
          </a:custGeom>
          <a:ln w="9524">
            <a:solidFill>
              <a:srgbClr val="595959"/>
            </a:solidFill>
          </a:ln>
        </p:spPr>
        <p:txBody>
          <a:bodyPr wrap="square" lIns="0" tIns="0" rIns="0" bIns="0" rtlCol="0"/>
          <a:lstStyle/>
          <a:p>
            <a:endParaRPr/>
          </a:p>
        </p:txBody>
      </p:sp>
      <p:sp>
        <p:nvSpPr>
          <p:cNvPr id="38" name="object 38"/>
          <p:cNvSpPr/>
          <p:nvPr/>
        </p:nvSpPr>
        <p:spPr>
          <a:xfrm>
            <a:off x="6231262" y="1552412"/>
            <a:ext cx="2105574" cy="84222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3" name="object 13"/>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5" name="object 15"/>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6" name="object 16"/>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8" name="object 18"/>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9" name="object 19"/>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1" name="object 21"/>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2" name="object 22"/>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3" name="object 23"/>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4" name="object 24"/>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5" name="object 25"/>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6" name="object 26"/>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7" name="object 27"/>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8" name="object 28"/>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29" name="object 29"/>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0" name="object 30"/>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1" name="object 31"/>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3" name="object 33"/>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4" name="object 34"/>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5" name="object 35"/>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6" name="object 36"/>
          <p:cNvSpPr/>
          <p:nvPr/>
        </p:nvSpPr>
        <p:spPr>
          <a:xfrm>
            <a:off x="6175674" y="2592499"/>
            <a:ext cx="2307590" cy="718820"/>
          </a:xfrm>
          <a:custGeom>
            <a:avLst/>
            <a:gdLst/>
            <a:ahLst/>
            <a:cxnLst/>
            <a:rect l="l" t="t" r="r" b="b"/>
            <a:pathLst>
              <a:path w="2307590" h="718820">
                <a:moveTo>
                  <a:pt x="2200599" y="638399"/>
                </a:moveTo>
                <a:lnTo>
                  <a:pt x="106399" y="638399"/>
                </a:lnTo>
                <a:lnTo>
                  <a:pt x="64984" y="630038"/>
                </a:lnTo>
                <a:lnTo>
                  <a:pt x="31163" y="607236"/>
                </a:lnTo>
                <a:lnTo>
                  <a:pt x="8361" y="573415"/>
                </a:lnTo>
                <a:lnTo>
                  <a:pt x="0" y="531999"/>
                </a:lnTo>
                <a:lnTo>
                  <a:pt x="0" y="106399"/>
                </a:lnTo>
                <a:lnTo>
                  <a:pt x="8361" y="64984"/>
                </a:lnTo>
                <a:lnTo>
                  <a:pt x="31163" y="31163"/>
                </a:lnTo>
                <a:lnTo>
                  <a:pt x="64984" y="8361"/>
                </a:lnTo>
                <a:lnTo>
                  <a:pt x="106399" y="0"/>
                </a:lnTo>
                <a:lnTo>
                  <a:pt x="2200599" y="0"/>
                </a:lnTo>
                <a:lnTo>
                  <a:pt x="2241317" y="8099"/>
                </a:lnTo>
                <a:lnTo>
                  <a:pt x="2275835" y="31163"/>
                </a:lnTo>
                <a:lnTo>
                  <a:pt x="2298900" y="65682"/>
                </a:lnTo>
                <a:lnTo>
                  <a:pt x="2306999" y="106399"/>
                </a:lnTo>
                <a:lnTo>
                  <a:pt x="2306999" y="531999"/>
                </a:lnTo>
                <a:lnTo>
                  <a:pt x="2298638" y="573415"/>
                </a:lnTo>
                <a:lnTo>
                  <a:pt x="2275836" y="607236"/>
                </a:lnTo>
                <a:lnTo>
                  <a:pt x="2242015" y="630038"/>
                </a:lnTo>
                <a:lnTo>
                  <a:pt x="2200599" y="638399"/>
                </a:lnTo>
                <a:close/>
              </a:path>
              <a:path w="2307590" h="718820">
                <a:moveTo>
                  <a:pt x="672882" y="718199"/>
                </a:moveTo>
                <a:lnTo>
                  <a:pt x="384499" y="638399"/>
                </a:lnTo>
                <a:lnTo>
                  <a:pt x="961249" y="638399"/>
                </a:lnTo>
                <a:lnTo>
                  <a:pt x="672882" y="718199"/>
                </a:lnTo>
                <a:close/>
              </a:path>
            </a:pathLst>
          </a:custGeom>
          <a:solidFill>
            <a:srgbClr val="EEEEEE"/>
          </a:solidFill>
        </p:spPr>
        <p:txBody>
          <a:bodyPr wrap="square" lIns="0" tIns="0" rIns="0" bIns="0" rtlCol="0"/>
          <a:lstStyle/>
          <a:p>
            <a:r>
              <a:rPr lang="en-US" dirty="0" smtClean="0"/>
              <a:t>Send Player 1 Button A hold  to server</a:t>
            </a:r>
            <a:endParaRPr dirty="0"/>
          </a:p>
        </p:txBody>
      </p:sp>
      <p:sp>
        <p:nvSpPr>
          <p:cNvPr id="37" name="object 37"/>
          <p:cNvSpPr/>
          <p:nvPr/>
        </p:nvSpPr>
        <p:spPr>
          <a:xfrm>
            <a:off x="6175674" y="2592499"/>
            <a:ext cx="2307590" cy="718820"/>
          </a:xfrm>
          <a:custGeom>
            <a:avLst/>
            <a:gdLst/>
            <a:ahLst/>
            <a:cxnLst/>
            <a:rect l="l" t="t" r="r" b="b"/>
            <a:pathLst>
              <a:path w="2307590" h="718820">
                <a:moveTo>
                  <a:pt x="0" y="106399"/>
                </a:moveTo>
                <a:lnTo>
                  <a:pt x="8361" y="64984"/>
                </a:lnTo>
                <a:lnTo>
                  <a:pt x="31163" y="31163"/>
                </a:lnTo>
                <a:lnTo>
                  <a:pt x="64984" y="8361"/>
                </a:lnTo>
                <a:lnTo>
                  <a:pt x="106399" y="0"/>
                </a:lnTo>
                <a:lnTo>
                  <a:pt x="384499" y="0"/>
                </a:lnTo>
                <a:lnTo>
                  <a:pt x="961249" y="0"/>
                </a:lnTo>
                <a:lnTo>
                  <a:pt x="2200599" y="0"/>
                </a:lnTo>
                <a:lnTo>
                  <a:pt x="2221454" y="2063"/>
                </a:lnTo>
                <a:lnTo>
                  <a:pt x="2259630" y="17876"/>
                </a:lnTo>
                <a:lnTo>
                  <a:pt x="2289123" y="47369"/>
                </a:lnTo>
                <a:lnTo>
                  <a:pt x="2304936" y="85545"/>
                </a:lnTo>
                <a:lnTo>
                  <a:pt x="2306999" y="106399"/>
                </a:lnTo>
                <a:lnTo>
                  <a:pt x="2306999" y="372399"/>
                </a:lnTo>
                <a:lnTo>
                  <a:pt x="2306999" y="531999"/>
                </a:lnTo>
                <a:lnTo>
                  <a:pt x="2298638" y="573415"/>
                </a:lnTo>
                <a:lnTo>
                  <a:pt x="2275836" y="607236"/>
                </a:lnTo>
                <a:lnTo>
                  <a:pt x="2242015" y="630038"/>
                </a:lnTo>
                <a:lnTo>
                  <a:pt x="2200599" y="638399"/>
                </a:lnTo>
                <a:lnTo>
                  <a:pt x="961249" y="638399"/>
                </a:lnTo>
                <a:lnTo>
                  <a:pt x="672882" y="718199"/>
                </a:lnTo>
                <a:lnTo>
                  <a:pt x="384499" y="638399"/>
                </a:lnTo>
                <a:lnTo>
                  <a:pt x="106399" y="638399"/>
                </a:lnTo>
                <a:lnTo>
                  <a:pt x="64984" y="630038"/>
                </a:lnTo>
                <a:lnTo>
                  <a:pt x="31163" y="607236"/>
                </a:lnTo>
                <a:lnTo>
                  <a:pt x="8361" y="573415"/>
                </a:lnTo>
                <a:lnTo>
                  <a:pt x="0" y="531999"/>
                </a:lnTo>
                <a:lnTo>
                  <a:pt x="0" y="372399"/>
                </a:lnTo>
                <a:lnTo>
                  <a:pt x="0" y="106399"/>
                </a:lnTo>
                <a:close/>
              </a:path>
            </a:pathLst>
          </a:custGeom>
          <a:ln w="9524">
            <a:solidFill>
              <a:srgbClr val="595959"/>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463415" cy="452120"/>
          </a:xfrm>
          <a:prstGeom prst="rect">
            <a:avLst/>
          </a:prstGeom>
        </p:spPr>
        <p:txBody>
          <a:bodyPr vert="horz" wrap="square" lIns="0" tIns="12700" rIns="0" bIns="0" rtlCol="0">
            <a:spAutoFit/>
          </a:bodyPr>
          <a:lstStyle/>
          <a:p>
            <a:pPr marL="12700">
              <a:lnSpc>
                <a:spcPct val="100000"/>
              </a:lnSpc>
              <a:spcBef>
                <a:spcPts val="100"/>
              </a:spcBef>
            </a:pPr>
            <a:r>
              <a:rPr spc="-5" dirty="0"/>
              <a:t>What’s this </a:t>
            </a:r>
            <a:r>
              <a:rPr dirty="0"/>
              <a:t>main </a:t>
            </a:r>
            <a:r>
              <a:rPr spc="-5" dirty="0"/>
              <a:t>loop</a:t>
            </a:r>
            <a:r>
              <a:rPr spc="-105" dirty="0"/>
              <a:t> </a:t>
            </a:r>
            <a:r>
              <a:rPr spc="-5" dirty="0"/>
              <a:t>thing?</a:t>
            </a:r>
          </a:p>
        </p:txBody>
      </p:sp>
      <p:sp>
        <p:nvSpPr>
          <p:cNvPr id="3" name="object 3"/>
          <p:cNvSpPr/>
          <p:nvPr/>
        </p:nvSpPr>
        <p:spPr>
          <a:xfrm>
            <a:off x="1412587" y="1127749"/>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1412587" y="1127749"/>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1513569" y="1289513"/>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14125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14125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1513569" y="1885787"/>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14125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14125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1513569" y="269161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14125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13" name="object 13"/>
          <p:cNvSpPr/>
          <p:nvPr/>
        </p:nvSpPr>
        <p:spPr>
          <a:xfrm>
            <a:off x="14125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1513569" y="3287888"/>
            <a:ext cx="11303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State of</a:t>
            </a:r>
            <a:r>
              <a:rPr sz="1400" spc="-90" dirty="0">
                <a:latin typeface="Arial"/>
                <a:cs typeface="Arial"/>
              </a:rPr>
              <a:t> </a:t>
            </a:r>
            <a:r>
              <a:rPr sz="1400" spc="-5" dirty="0">
                <a:latin typeface="Arial"/>
                <a:cs typeface="Arial"/>
              </a:rPr>
              <a:t>game  at frame</a:t>
            </a:r>
            <a:r>
              <a:rPr sz="1400" spc="-25" dirty="0">
                <a:latin typeface="Arial"/>
                <a:cs typeface="Arial"/>
              </a:rPr>
              <a:t> </a:t>
            </a:r>
            <a:r>
              <a:rPr sz="1400" i="1" spc="-5" dirty="0">
                <a:latin typeface="Arial"/>
                <a:cs typeface="Arial"/>
              </a:rPr>
              <a:t>t-1</a:t>
            </a:r>
            <a:endParaRPr sz="1400">
              <a:latin typeface="Arial"/>
              <a:cs typeface="Arial"/>
            </a:endParaRPr>
          </a:p>
        </p:txBody>
      </p:sp>
      <p:sp>
        <p:nvSpPr>
          <p:cNvPr id="15" name="object 15"/>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6" name="object 16"/>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8" name="object 18"/>
          <p:cNvSpPr/>
          <p:nvPr/>
        </p:nvSpPr>
        <p:spPr>
          <a:xfrm>
            <a:off x="62542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9" name="object 19"/>
          <p:cNvSpPr/>
          <p:nvPr/>
        </p:nvSpPr>
        <p:spPr>
          <a:xfrm>
            <a:off x="62542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63551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21" name="object 21"/>
          <p:cNvSpPr/>
          <p:nvPr/>
        </p:nvSpPr>
        <p:spPr>
          <a:xfrm>
            <a:off x="62542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22" name="object 22"/>
          <p:cNvSpPr/>
          <p:nvPr/>
        </p:nvSpPr>
        <p:spPr>
          <a:xfrm>
            <a:off x="62542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63551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4" name="object 24"/>
          <p:cNvSpPr/>
          <p:nvPr/>
        </p:nvSpPr>
        <p:spPr>
          <a:xfrm>
            <a:off x="62542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5" name="object 25"/>
          <p:cNvSpPr/>
          <p:nvPr/>
        </p:nvSpPr>
        <p:spPr>
          <a:xfrm>
            <a:off x="62542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6" name="object 26"/>
          <p:cNvSpPr txBox="1"/>
          <p:nvPr/>
        </p:nvSpPr>
        <p:spPr>
          <a:xfrm>
            <a:off x="63551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7" name="object 27"/>
          <p:cNvSpPr/>
          <p:nvPr/>
        </p:nvSpPr>
        <p:spPr>
          <a:xfrm>
            <a:off x="1412587" y="393194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6"/>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B6D7A8"/>
          </a:solidFill>
        </p:spPr>
        <p:txBody>
          <a:bodyPr wrap="square" lIns="0" tIns="0" rIns="0" bIns="0" rtlCol="0"/>
          <a:lstStyle/>
          <a:p>
            <a:endParaRPr/>
          </a:p>
        </p:txBody>
      </p:sp>
      <p:sp>
        <p:nvSpPr>
          <p:cNvPr id="28" name="object 28"/>
          <p:cNvSpPr/>
          <p:nvPr/>
        </p:nvSpPr>
        <p:spPr>
          <a:xfrm>
            <a:off x="1412587" y="3931949"/>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9" name="object 29"/>
          <p:cNvSpPr txBox="1"/>
          <p:nvPr/>
        </p:nvSpPr>
        <p:spPr>
          <a:xfrm>
            <a:off x="1513569" y="3988937"/>
            <a:ext cx="1023619"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Operating  </a:t>
            </a:r>
            <a:r>
              <a:rPr sz="1400" dirty="0">
                <a:latin typeface="Arial"/>
                <a:cs typeface="Arial"/>
              </a:rPr>
              <a:t>system</a:t>
            </a:r>
            <a:r>
              <a:rPr sz="1400" spc="-105" dirty="0">
                <a:latin typeface="Arial"/>
                <a:cs typeface="Arial"/>
              </a:rPr>
              <a:t> </a:t>
            </a:r>
            <a:r>
              <a:rPr sz="1400" dirty="0">
                <a:latin typeface="Arial"/>
                <a:cs typeface="Arial"/>
              </a:rPr>
              <a:t>state</a:t>
            </a:r>
            <a:endParaRPr sz="1400">
              <a:latin typeface="Arial"/>
              <a:cs typeface="Arial"/>
            </a:endParaRPr>
          </a:p>
        </p:txBody>
      </p:sp>
      <p:sp>
        <p:nvSpPr>
          <p:cNvPr id="30" name="object 30"/>
          <p:cNvSpPr/>
          <p:nvPr/>
        </p:nvSpPr>
        <p:spPr>
          <a:xfrm>
            <a:off x="3076387" y="1901800"/>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1" name="object 31"/>
          <p:cNvSpPr/>
          <p:nvPr/>
        </p:nvSpPr>
        <p:spPr>
          <a:xfrm>
            <a:off x="3076387" y="1901800"/>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5576849" y="1883974"/>
            <a:ext cx="490855" cy="1828800"/>
          </a:xfrm>
          <a:custGeom>
            <a:avLst/>
            <a:gdLst/>
            <a:ahLst/>
            <a:cxnLst/>
            <a:rect l="l" t="t" r="r" b="b"/>
            <a:pathLst>
              <a:path w="490854" h="1828800">
                <a:moveTo>
                  <a:pt x="245399" y="1828799"/>
                </a:moveTo>
                <a:lnTo>
                  <a:pt x="245399" y="1371599"/>
                </a:lnTo>
                <a:lnTo>
                  <a:pt x="0" y="1371599"/>
                </a:lnTo>
                <a:lnTo>
                  <a:pt x="0" y="457199"/>
                </a:lnTo>
                <a:lnTo>
                  <a:pt x="245399" y="457199"/>
                </a:lnTo>
                <a:lnTo>
                  <a:pt x="245399" y="0"/>
                </a:lnTo>
                <a:lnTo>
                  <a:pt x="490799" y="914399"/>
                </a:lnTo>
                <a:lnTo>
                  <a:pt x="245399" y="1828799"/>
                </a:lnTo>
                <a:close/>
              </a:path>
            </a:pathLst>
          </a:custGeom>
          <a:solidFill>
            <a:srgbClr val="EEEEEE"/>
          </a:solidFill>
        </p:spPr>
        <p:txBody>
          <a:bodyPr wrap="square" lIns="0" tIns="0" rIns="0" bIns="0" rtlCol="0"/>
          <a:lstStyle/>
          <a:p>
            <a:endParaRPr/>
          </a:p>
        </p:txBody>
      </p:sp>
      <p:sp>
        <p:nvSpPr>
          <p:cNvPr id="33" name="object 33"/>
          <p:cNvSpPr/>
          <p:nvPr/>
        </p:nvSpPr>
        <p:spPr>
          <a:xfrm>
            <a:off x="5576849" y="1883974"/>
            <a:ext cx="490855" cy="1828800"/>
          </a:xfrm>
          <a:custGeom>
            <a:avLst/>
            <a:gdLst/>
            <a:ahLst/>
            <a:cxnLst/>
            <a:rect l="l" t="t" r="r" b="b"/>
            <a:pathLst>
              <a:path w="490854" h="1828800">
                <a:moveTo>
                  <a:pt x="0" y="457199"/>
                </a:moveTo>
                <a:lnTo>
                  <a:pt x="245399" y="457199"/>
                </a:lnTo>
                <a:lnTo>
                  <a:pt x="245399" y="0"/>
                </a:lnTo>
                <a:lnTo>
                  <a:pt x="490799" y="914399"/>
                </a:lnTo>
                <a:lnTo>
                  <a:pt x="245399" y="1828799"/>
                </a:lnTo>
                <a:lnTo>
                  <a:pt x="245399" y="1371599"/>
                </a:lnTo>
                <a:lnTo>
                  <a:pt x="0" y="1371599"/>
                </a:lnTo>
                <a:lnTo>
                  <a:pt x="0" y="457199"/>
                </a:lnTo>
                <a:close/>
              </a:path>
            </a:pathLst>
          </a:custGeom>
          <a:ln w="9524">
            <a:solidFill>
              <a:srgbClr val="595959"/>
            </a:solidFill>
          </a:ln>
        </p:spPr>
        <p:txBody>
          <a:bodyPr wrap="square" lIns="0" tIns="0" rIns="0" bIns="0" rtlCol="0"/>
          <a:lstStyle/>
          <a:p>
            <a:endParaRPr/>
          </a:p>
        </p:txBody>
      </p:sp>
      <p:sp>
        <p:nvSpPr>
          <p:cNvPr id="34" name="object 34"/>
          <p:cNvSpPr/>
          <p:nvPr/>
        </p:nvSpPr>
        <p:spPr>
          <a:xfrm>
            <a:off x="2184581" y="4579025"/>
            <a:ext cx="2397760" cy="499745"/>
          </a:xfrm>
          <a:custGeom>
            <a:avLst/>
            <a:gdLst/>
            <a:ahLst/>
            <a:cxnLst/>
            <a:rect l="l" t="t" r="r" b="b"/>
            <a:pathLst>
              <a:path w="2397760" h="499745">
                <a:moveTo>
                  <a:pt x="249749" y="124874"/>
                </a:moveTo>
                <a:lnTo>
                  <a:pt x="0" y="124874"/>
                </a:lnTo>
                <a:lnTo>
                  <a:pt x="50343" y="0"/>
                </a:lnTo>
                <a:lnTo>
                  <a:pt x="249749" y="124874"/>
                </a:lnTo>
                <a:close/>
              </a:path>
              <a:path w="2397760" h="499745">
                <a:moveTo>
                  <a:pt x="2329329" y="499500"/>
                </a:moveTo>
                <a:lnTo>
                  <a:pt x="2261527" y="499262"/>
                </a:lnTo>
                <a:lnTo>
                  <a:pt x="2060565" y="496104"/>
                </a:lnTo>
                <a:lnTo>
                  <a:pt x="1863919" y="489384"/>
                </a:lnTo>
                <a:lnTo>
                  <a:pt x="1672426" y="479236"/>
                </a:lnTo>
                <a:lnTo>
                  <a:pt x="1486920" y="465795"/>
                </a:lnTo>
                <a:lnTo>
                  <a:pt x="1366988" y="455071"/>
                </a:lnTo>
                <a:lnTo>
                  <a:pt x="1250336" y="442981"/>
                </a:lnTo>
                <a:lnTo>
                  <a:pt x="1137211" y="429567"/>
                </a:lnTo>
                <a:lnTo>
                  <a:pt x="1027861" y="414868"/>
                </a:lnTo>
                <a:lnTo>
                  <a:pt x="922533" y="398923"/>
                </a:lnTo>
                <a:lnTo>
                  <a:pt x="821475" y="381772"/>
                </a:lnTo>
                <a:lnTo>
                  <a:pt x="772625" y="372757"/>
                </a:lnTo>
                <a:lnTo>
                  <a:pt x="724935" y="363455"/>
                </a:lnTo>
                <a:lnTo>
                  <a:pt x="678436" y="353871"/>
                </a:lnTo>
                <a:lnTo>
                  <a:pt x="633159" y="344011"/>
                </a:lnTo>
                <a:lnTo>
                  <a:pt x="589135" y="333879"/>
                </a:lnTo>
                <a:lnTo>
                  <a:pt x="546396" y="323481"/>
                </a:lnTo>
                <a:lnTo>
                  <a:pt x="504971" y="312820"/>
                </a:lnTo>
                <a:lnTo>
                  <a:pt x="464892" y="301903"/>
                </a:lnTo>
                <a:lnTo>
                  <a:pt x="426190" y="290734"/>
                </a:lnTo>
                <a:lnTo>
                  <a:pt x="388896" y="279318"/>
                </a:lnTo>
                <a:lnTo>
                  <a:pt x="318655" y="255765"/>
                </a:lnTo>
                <a:lnTo>
                  <a:pt x="254417" y="231284"/>
                </a:lnTo>
                <a:lnTo>
                  <a:pt x="196428" y="205915"/>
                </a:lnTo>
                <a:lnTo>
                  <a:pt x="144937" y="179697"/>
                </a:lnTo>
                <a:lnTo>
                  <a:pt x="100191" y="152671"/>
                </a:lnTo>
                <a:lnTo>
                  <a:pt x="62437" y="124874"/>
                </a:lnTo>
                <a:lnTo>
                  <a:pt x="187312" y="124874"/>
                </a:lnTo>
                <a:lnTo>
                  <a:pt x="205706" y="139164"/>
                </a:lnTo>
                <a:lnTo>
                  <a:pt x="225964" y="153262"/>
                </a:lnTo>
                <a:lnTo>
                  <a:pt x="271939" y="180858"/>
                </a:lnTo>
                <a:lnTo>
                  <a:pt x="324977" y="207619"/>
                </a:lnTo>
                <a:lnTo>
                  <a:pt x="384817" y="233502"/>
                </a:lnTo>
                <a:lnTo>
                  <a:pt x="451198" y="258461"/>
                </a:lnTo>
                <a:lnTo>
                  <a:pt x="523860" y="282452"/>
                </a:lnTo>
                <a:lnTo>
                  <a:pt x="562464" y="294071"/>
                </a:lnTo>
                <a:lnTo>
                  <a:pt x="602542" y="305432"/>
                </a:lnTo>
                <a:lnTo>
                  <a:pt x="644059" y="316529"/>
                </a:lnTo>
                <a:lnTo>
                  <a:pt x="686983" y="327356"/>
                </a:lnTo>
                <a:lnTo>
                  <a:pt x="731282" y="337909"/>
                </a:lnTo>
                <a:lnTo>
                  <a:pt x="776923" y="348181"/>
                </a:lnTo>
                <a:lnTo>
                  <a:pt x="823873" y="358167"/>
                </a:lnTo>
                <a:lnTo>
                  <a:pt x="872101" y="367861"/>
                </a:lnTo>
                <a:lnTo>
                  <a:pt x="921573" y="377258"/>
                </a:lnTo>
                <a:lnTo>
                  <a:pt x="972256" y="386353"/>
                </a:lnTo>
                <a:lnTo>
                  <a:pt x="1077129" y="403612"/>
                </a:lnTo>
                <a:lnTo>
                  <a:pt x="1186457" y="419595"/>
                </a:lnTo>
                <a:lnTo>
                  <a:pt x="1299981" y="434258"/>
                </a:lnTo>
                <a:lnTo>
                  <a:pt x="1417439" y="447555"/>
                </a:lnTo>
                <a:lnTo>
                  <a:pt x="1538571" y="459444"/>
                </a:lnTo>
                <a:lnTo>
                  <a:pt x="1663117" y="469879"/>
                </a:lnTo>
                <a:lnTo>
                  <a:pt x="1790816" y="478816"/>
                </a:lnTo>
                <a:lnTo>
                  <a:pt x="1987705" y="489319"/>
                </a:lnTo>
                <a:lnTo>
                  <a:pt x="2190222" y="496204"/>
                </a:lnTo>
                <a:lnTo>
                  <a:pt x="2397487" y="499322"/>
                </a:lnTo>
                <a:lnTo>
                  <a:pt x="2329329" y="499500"/>
                </a:lnTo>
                <a:close/>
              </a:path>
            </a:pathLst>
          </a:custGeom>
          <a:solidFill>
            <a:srgbClr val="EEEEEE"/>
          </a:solidFill>
        </p:spPr>
        <p:txBody>
          <a:bodyPr wrap="square" lIns="0" tIns="0" rIns="0" bIns="0" rtlCol="0"/>
          <a:lstStyle/>
          <a:p>
            <a:endParaRPr/>
          </a:p>
        </p:txBody>
      </p:sp>
      <p:sp>
        <p:nvSpPr>
          <p:cNvPr id="35" name="object 35"/>
          <p:cNvSpPr/>
          <p:nvPr/>
        </p:nvSpPr>
        <p:spPr>
          <a:xfrm>
            <a:off x="4519631" y="4579025"/>
            <a:ext cx="2472055" cy="499745"/>
          </a:xfrm>
          <a:custGeom>
            <a:avLst/>
            <a:gdLst/>
            <a:ahLst/>
            <a:cxnLst/>
            <a:rect l="l" t="t" r="r" b="b"/>
            <a:pathLst>
              <a:path w="2472054" h="499745">
                <a:moveTo>
                  <a:pt x="124874" y="499499"/>
                </a:moveTo>
                <a:lnTo>
                  <a:pt x="0" y="499499"/>
                </a:lnTo>
                <a:lnTo>
                  <a:pt x="74508" y="499253"/>
                </a:lnTo>
                <a:lnTo>
                  <a:pt x="294420" y="495608"/>
                </a:lnTo>
                <a:lnTo>
                  <a:pt x="437676" y="490831"/>
                </a:lnTo>
                <a:lnTo>
                  <a:pt x="577928" y="484244"/>
                </a:lnTo>
                <a:lnTo>
                  <a:pt x="714901" y="475907"/>
                </a:lnTo>
                <a:lnTo>
                  <a:pt x="848322" y="465877"/>
                </a:lnTo>
                <a:lnTo>
                  <a:pt x="977914" y="454214"/>
                </a:lnTo>
                <a:lnTo>
                  <a:pt x="1103404" y="440975"/>
                </a:lnTo>
                <a:lnTo>
                  <a:pt x="1224515" y="426220"/>
                </a:lnTo>
                <a:lnTo>
                  <a:pt x="1340973" y="410006"/>
                </a:lnTo>
                <a:lnTo>
                  <a:pt x="1452504" y="392392"/>
                </a:lnTo>
                <a:lnTo>
                  <a:pt x="1506335" y="383079"/>
                </a:lnTo>
                <a:lnTo>
                  <a:pt x="1558831" y="373437"/>
                </a:lnTo>
                <a:lnTo>
                  <a:pt x="1609958" y="363475"/>
                </a:lnTo>
                <a:lnTo>
                  <a:pt x="1659681" y="353199"/>
                </a:lnTo>
                <a:lnTo>
                  <a:pt x="1707965" y="342618"/>
                </a:lnTo>
                <a:lnTo>
                  <a:pt x="1754778" y="331737"/>
                </a:lnTo>
                <a:lnTo>
                  <a:pt x="1800083" y="320566"/>
                </a:lnTo>
                <a:lnTo>
                  <a:pt x="1843847" y="309110"/>
                </a:lnTo>
                <a:lnTo>
                  <a:pt x="1886035" y="297377"/>
                </a:lnTo>
                <a:lnTo>
                  <a:pt x="1926613" y="285375"/>
                </a:lnTo>
                <a:lnTo>
                  <a:pt x="1965547" y="273110"/>
                </a:lnTo>
                <a:lnTo>
                  <a:pt x="2002802" y="260591"/>
                </a:lnTo>
                <a:lnTo>
                  <a:pt x="2072139" y="234817"/>
                </a:lnTo>
                <a:lnTo>
                  <a:pt x="2134347" y="208111"/>
                </a:lnTo>
                <a:lnTo>
                  <a:pt x="2189154" y="180533"/>
                </a:lnTo>
                <a:lnTo>
                  <a:pt x="2236283" y="152139"/>
                </a:lnTo>
                <a:lnTo>
                  <a:pt x="2275459" y="122990"/>
                </a:lnTo>
                <a:lnTo>
                  <a:pt x="2306409" y="93142"/>
                </a:lnTo>
                <a:lnTo>
                  <a:pt x="2336805" y="47191"/>
                </a:lnTo>
                <a:lnTo>
                  <a:pt x="2347143" y="0"/>
                </a:lnTo>
                <a:lnTo>
                  <a:pt x="2472018" y="0"/>
                </a:lnTo>
                <a:lnTo>
                  <a:pt x="2461680" y="47191"/>
                </a:lnTo>
                <a:lnTo>
                  <a:pt x="2431284" y="93142"/>
                </a:lnTo>
                <a:lnTo>
                  <a:pt x="2400334" y="122990"/>
                </a:lnTo>
                <a:lnTo>
                  <a:pt x="2361158" y="152139"/>
                </a:lnTo>
                <a:lnTo>
                  <a:pt x="2314029" y="180533"/>
                </a:lnTo>
                <a:lnTo>
                  <a:pt x="2259222" y="208111"/>
                </a:lnTo>
                <a:lnTo>
                  <a:pt x="2197014" y="234817"/>
                </a:lnTo>
                <a:lnTo>
                  <a:pt x="2127677" y="260591"/>
                </a:lnTo>
                <a:lnTo>
                  <a:pt x="2090422" y="273110"/>
                </a:lnTo>
                <a:lnTo>
                  <a:pt x="2051488" y="285375"/>
                </a:lnTo>
                <a:lnTo>
                  <a:pt x="2010910" y="297377"/>
                </a:lnTo>
                <a:lnTo>
                  <a:pt x="1968722" y="309110"/>
                </a:lnTo>
                <a:lnTo>
                  <a:pt x="1924958" y="320566"/>
                </a:lnTo>
                <a:lnTo>
                  <a:pt x="1879653" y="331737"/>
                </a:lnTo>
                <a:lnTo>
                  <a:pt x="1832840" y="342618"/>
                </a:lnTo>
                <a:lnTo>
                  <a:pt x="1784556" y="353199"/>
                </a:lnTo>
                <a:lnTo>
                  <a:pt x="1734833" y="363475"/>
                </a:lnTo>
                <a:lnTo>
                  <a:pt x="1683706" y="373437"/>
                </a:lnTo>
                <a:lnTo>
                  <a:pt x="1631210" y="383079"/>
                </a:lnTo>
                <a:lnTo>
                  <a:pt x="1577379" y="392392"/>
                </a:lnTo>
                <a:lnTo>
                  <a:pt x="1465848" y="410006"/>
                </a:lnTo>
                <a:lnTo>
                  <a:pt x="1349390" y="426220"/>
                </a:lnTo>
                <a:lnTo>
                  <a:pt x="1228279" y="440975"/>
                </a:lnTo>
                <a:lnTo>
                  <a:pt x="1102789" y="454214"/>
                </a:lnTo>
                <a:lnTo>
                  <a:pt x="973197" y="465877"/>
                </a:lnTo>
                <a:lnTo>
                  <a:pt x="839776" y="475907"/>
                </a:lnTo>
                <a:lnTo>
                  <a:pt x="702803" y="484244"/>
                </a:lnTo>
                <a:lnTo>
                  <a:pt x="562551" y="490831"/>
                </a:lnTo>
                <a:lnTo>
                  <a:pt x="419295" y="495608"/>
                </a:lnTo>
                <a:lnTo>
                  <a:pt x="199383" y="499253"/>
                </a:lnTo>
                <a:lnTo>
                  <a:pt x="124874" y="499499"/>
                </a:lnTo>
                <a:close/>
              </a:path>
            </a:pathLst>
          </a:custGeom>
          <a:solidFill>
            <a:srgbClr val="BEBEBE"/>
          </a:solidFill>
        </p:spPr>
        <p:txBody>
          <a:bodyPr wrap="square" lIns="0" tIns="0" rIns="0" bIns="0" rtlCol="0"/>
          <a:lstStyle/>
          <a:p>
            <a:endParaRPr/>
          </a:p>
        </p:txBody>
      </p:sp>
      <p:sp>
        <p:nvSpPr>
          <p:cNvPr id="36" name="object 36"/>
          <p:cNvSpPr/>
          <p:nvPr/>
        </p:nvSpPr>
        <p:spPr>
          <a:xfrm>
            <a:off x="2184581" y="4579025"/>
            <a:ext cx="4807585" cy="499745"/>
          </a:xfrm>
          <a:custGeom>
            <a:avLst/>
            <a:gdLst/>
            <a:ahLst/>
            <a:cxnLst/>
            <a:rect l="l" t="t" r="r" b="b"/>
            <a:pathLst>
              <a:path w="4807584" h="499745">
                <a:moveTo>
                  <a:pt x="2397487" y="499322"/>
                </a:moveTo>
                <a:lnTo>
                  <a:pt x="2327925" y="498711"/>
                </a:lnTo>
                <a:lnTo>
                  <a:pt x="2258826" y="497669"/>
                </a:lnTo>
                <a:lnTo>
                  <a:pt x="2190222" y="496204"/>
                </a:lnTo>
                <a:lnTo>
                  <a:pt x="2122146" y="494320"/>
                </a:lnTo>
                <a:lnTo>
                  <a:pt x="2054629" y="492023"/>
                </a:lnTo>
                <a:lnTo>
                  <a:pt x="1987705" y="489319"/>
                </a:lnTo>
                <a:lnTo>
                  <a:pt x="1921407" y="486213"/>
                </a:lnTo>
                <a:lnTo>
                  <a:pt x="1855766" y="482710"/>
                </a:lnTo>
                <a:lnTo>
                  <a:pt x="1790816" y="478816"/>
                </a:lnTo>
                <a:lnTo>
                  <a:pt x="1726589" y="474538"/>
                </a:lnTo>
                <a:lnTo>
                  <a:pt x="1663117" y="469879"/>
                </a:lnTo>
                <a:lnTo>
                  <a:pt x="1600434" y="464846"/>
                </a:lnTo>
                <a:lnTo>
                  <a:pt x="1538571" y="459444"/>
                </a:lnTo>
                <a:lnTo>
                  <a:pt x="1477562" y="453678"/>
                </a:lnTo>
                <a:lnTo>
                  <a:pt x="1417439" y="447555"/>
                </a:lnTo>
                <a:lnTo>
                  <a:pt x="1358234" y="441080"/>
                </a:lnTo>
                <a:lnTo>
                  <a:pt x="1299981" y="434258"/>
                </a:lnTo>
                <a:lnTo>
                  <a:pt x="1242711" y="427094"/>
                </a:lnTo>
                <a:lnTo>
                  <a:pt x="1186457" y="419595"/>
                </a:lnTo>
                <a:lnTo>
                  <a:pt x="1131252" y="411766"/>
                </a:lnTo>
                <a:lnTo>
                  <a:pt x="1077129" y="403612"/>
                </a:lnTo>
                <a:lnTo>
                  <a:pt x="1024119" y="395139"/>
                </a:lnTo>
                <a:lnTo>
                  <a:pt x="972256" y="386353"/>
                </a:lnTo>
                <a:lnTo>
                  <a:pt x="921573" y="377258"/>
                </a:lnTo>
                <a:lnTo>
                  <a:pt x="872101" y="367861"/>
                </a:lnTo>
                <a:lnTo>
                  <a:pt x="823873" y="358167"/>
                </a:lnTo>
                <a:lnTo>
                  <a:pt x="776923" y="348181"/>
                </a:lnTo>
                <a:lnTo>
                  <a:pt x="731282" y="337909"/>
                </a:lnTo>
                <a:lnTo>
                  <a:pt x="686983" y="327356"/>
                </a:lnTo>
                <a:lnTo>
                  <a:pt x="644059" y="316529"/>
                </a:lnTo>
                <a:lnTo>
                  <a:pt x="602542" y="305432"/>
                </a:lnTo>
                <a:lnTo>
                  <a:pt x="562464" y="294071"/>
                </a:lnTo>
                <a:lnTo>
                  <a:pt x="523860" y="282452"/>
                </a:lnTo>
                <a:lnTo>
                  <a:pt x="486760" y="270580"/>
                </a:lnTo>
                <a:lnTo>
                  <a:pt x="417206" y="246099"/>
                </a:lnTo>
                <a:lnTo>
                  <a:pt x="354063" y="220673"/>
                </a:lnTo>
                <a:lnTo>
                  <a:pt x="297591" y="194346"/>
                </a:lnTo>
                <a:lnTo>
                  <a:pt x="248052" y="167161"/>
                </a:lnTo>
                <a:lnTo>
                  <a:pt x="205706" y="139164"/>
                </a:lnTo>
                <a:lnTo>
                  <a:pt x="187312" y="124874"/>
                </a:lnTo>
                <a:lnTo>
                  <a:pt x="249749" y="124874"/>
                </a:lnTo>
                <a:lnTo>
                  <a:pt x="50343" y="0"/>
                </a:lnTo>
                <a:lnTo>
                  <a:pt x="0" y="124874"/>
                </a:lnTo>
                <a:lnTo>
                  <a:pt x="62437" y="124874"/>
                </a:lnTo>
                <a:lnTo>
                  <a:pt x="100179" y="152661"/>
                </a:lnTo>
                <a:lnTo>
                  <a:pt x="144923" y="179684"/>
                </a:lnTo>
                <a:lnTo>
                  <a:pt x="196424" y="205905"/>
                </a:lnTo>
                <a:lnTo>
                  <a:pt x="254437" y="231282"/>
                </a:lnTo>
                <a:lnTo>
                  <a:pt x="318715" y="255775"/>
                </a:lnTo>
                <a:lnTo>
                  <a:pt x="389013" y="279343"/>
                </a:lnTo>
                <a:lnTo>
                  <a:pt x="426343" y="290768"/>
                </a:lnTo>
                <a:lnTo>
                  <a:pt x="465085" y="301947"/>
                </a:lnTo>
                <a:lnTo>
                  <a:pt x="505209" y="312874"/>
                </a:lnTo>
                <a:lnTo>
                  <a:pt x="546685" y="323545"/>
                </a:lnTo>
                <a:lnTo>
                  <a:pt x="589481" y="333954"/>
                </a:lnTo>
                <a:lnTo>
                  <a:pt x="633567" y="344096"/>
                </a:lnTo>
                <a:lnTo>
                  <a:pt x="678912" y="353967"/>
                </a:lnTo>
                <a:lnTo>
                  <a:pt x="725485" y="363561"/>
                </a:lnTo>
                <a:lnTo>
                  <a:pt x="773257" y="372874"/>
                </a:lnTo>
                <a:lnTo>
                  <a:pt x="822195" y="381899"/>
                </a:lnTo>
                <a:lnTo>
                  <a:pt x="872269" y="390633"/>
                </a:lnTo>
                <a:lnTo>
                  <a:pt x="923449" y="399070"/>
                </a:lnTo>
                <a:lnTo>
                  <a:pt x="975704" y="407204"/>
                </a:lnTo>
                <a:lnTo>
                  <a:pt x="1029003" y="415032"/>
                </a:lnTo>
                <a:lnTo>
                  <a:pt x="1083315" y="422547"/>
                </a:lnTo>
                <a:lnTo>
                  <a:pt x="1138610" y="429745"/>
                </a:lnTo>
                <a:lnTo>
                  <a:pt x="1194857" y="436621"/>
                </a:lnTo>
                <a:lnTo>
                  <a:pt x="1252024" y="443170"/>
                </a:lnTo>
                <a:lnTo>
                  <a:pt x="1310083" y="449386"/>
                </a:lnTo>
                <a:lnTo>
                  <a:pt x="1369001" y="455264"/>
                </a:lnTo>
                <a:lnTo>
                  <a:pt x="1428748" y="460800"/>
                </a:lnTo>
                <a:lnTo>
                  <a:pt x="1489293" y="465989"/>
                </a:lnTo>
                <a:lnTo>
                  <a:pt x="1550606" y="470824"/>
                </a:lnTo>
                <a:lnTo>
                  <a:pt x="1612656" y="475302"/>
                </a:lnTo>
                <a:lnTo>
                  <a:pt x="1675412" y="479417"/>
                </a:lnTo>
                <a:lnTo>
                  <a:pt x="1738843" y="483165"/>
                </a:lnTo>
                <a:lnTo>
                  <a:pt x="1802919" y="486539"/>
                </a:lnTo>
                <a:lnTo>
                  <a:pt x="1867609" y="489535"/>
                </a:lnTo>
                <a:lnTo>
                  <a:pt x="1932883" y="492148"/>
                </a:lnTo>
                <a:lnTo>
                  <a:pt x="1998708" y="494373"/>
                </a:lnTo>
                <a:lnTo>
                  <a:pt x="2065056" y="496205"/>
                </a:lnTo>
                <a:lnTo>
                  <a:pt x="2131894" y="497639"/>
                </a:lnTo>
                <a:lnTo>
                  <a:pt x="2199193" y="498669"/>
                </a:lnTo>
                <a:lnTo>
                  <a:pt x="2266922" y="499291"/>
                </a:lnTo>
                <a:lnTo>
                  <a:pt x="2335049" y="499499"/>
                </a:lnTo>
                <a:lnTo>
                  <a:pt x="2459924" y="499499"/>
                </a:lnTo>
                <a:lnTo>
                  <a:pt x="2534432" y="499253"/>
                </a:lnTo>
                <a:lnTo>
                  <a:pt x="2608361" y="498517"/>
                </a:lnTo>
                <a:lnTo>
                  <a:pt x="2681677" y="497299"/>
                </a:lnTo>
                <a:lnTo>
                  <a:pt x="2754345" y="495608"/>
                </a:lnTo>
                <a:lnTo>
                  <a:pt x="2826331" y="493449"/>
                </a:lnTo>
                <a:lnTo>
                  <a:pt x="2897600" y="490831"/>
                </a:lnTo>
                <a:lnTo>
                  <a:pt x="2968119" y="487760"/>
                </a:lnTo>
                <a:lnTo>
                  <a:pt x="3037852" y="484244"/>
                </a:lnTo>
                <a:lnTo>
                  <a:pt x="3106766" y="480291"/>
                </a:lnTo>
                <a:lnTo>
                  <a:pt x="3174826" y="475907"/>
                </a:lnTo>
                <a:lnTo>
                  <a:pt x="3241998" y="471100"/>
                </a:lnTo>
                <a:lnTo>
                  <a:pt x="3308246" y="465877"/>
                </a:lnTo>
                <a:lnTo>
                  <a:pt x="3373538" y="460246"/>
                </a:lnTo>
                <a:lnTo>
                  <a:pt x="3437839" y="454214"/>
                </a:lnTo>
                <a:lnTo>
                  <a:pt x="3501114" y="447788"/>
                </a:lnTo>
                <a:lnTo>
                  <a:pt x="3563328" y="440975"/>
                </a:lnTo>
                <a:lnTo>
                  <a:pt x="3624448" y="433783"/>
                </a:lnTo>
                <a:lnTo>
                  <a:pt x="3684440" y="426220"/>
                </a:lnTo>
                <a:lnTo>
                  <a:pt x="3743267" y="418291"/>
                </a:lnTo>
                <a:lnTo>
                  <a:pt x="3800898" y="410006"/>
                </a:lnTo>
                <a:lnTo>
                  <a:pt x="3857296" y="401370"/>
                </a:lnTo>
                <a:lnTo>
                  <a:pt x="3912428" y="392392"/>
                </a:lnTo>
                <a:lnTo>
                  <a:pt x="3966259" y="383079"/>
                </a:lnTo>
                <a:lnTo>
                  <a:pt x="4018756" y="373437"/>
                </a:lnTo>
                <a:lnTo>
                  <a:pt x="4069882" y="363475"/>
                </a:lnTo>
                <a:lnTo>
                  <a:pt x="4119605" y="353199"/>
                </a:lnTo>
                <a:lnTo>
                  <a:pt x="4167890" y="342618"/>
                </a:lnTo>
                <a:lnTo>
                  <a:pt x="4214702" y="331737"/>
                </a:lnTo>
                <a:lnTo>
                  <a:pt x="4260007" y="320566"/>
                </a:lnTo>
                <a:lnTo>
                  <a:pt x="4303771" y="309110"/>
                </a:lnTo>
                <a:lnTo>
                  <a:pt x="4345960" y="297377"/>
                </a:lnTo>
                <a:lnTo>
                  <a:pt x="4386538" y="285375"/>
                </a:lnTo>
                <a:lnTo>
                  <a:pt x="4425472" y="273110"/>
                </a:lnTo>
                <a:lnTo>
                  <a:pt x="4462727" y="260591"/>
                </a:lnTo>
                <a:lnTo>
                  <a:pt x="4532063" y="234817"/>
                </a:lnTo>
                <a:lnTo>
                  <a:pt x="4594272" y="208111"/>
                </a:lnTo>
                <a:lnTo>
                  <a:pt x="4649078" y="180533"/>
                </a:lnTo>
                <a:lnTo>
                  <a:pt x="4696207" y="152139"/>
                </a:lnTo>
                <a:lnTo>
                  <a:pt x="4735384" y="122990"/>
                </a:lnTo>
                <a:lnTo>
                  <a:pt x="4766333" y="93142"/>
                </a:lnTo>
                <a:lnTo>
                  <a:pt x="4796730" y="47191"/>
                </a:lnTo>
                <a:lnTo>
                  <a:pt x="4807068" y="0"/>
                </a:lnTo>
                <a:lnTo>
                  <a:pt x="4682193" y="0"/>
                </a:lnTo>
                <a:lnTo>
                  <a:pt x="4671855" y="47191"/>
                </a:lnTo>
                <a:lnTo>
                  <a:pt x="4641458" y="93142"/>
                </a:lnTo>
                <a:lnTo>
                  <a:pt x="4610509" y="122990"/>
                </a:lnTo>
                <a:lnTo>
                  <a:pt x="4571332" y="152139"/>
                </a:lnTo>
                <a:lnTo>
                  <a:pt x="4524203" y="180533"/>
                </a:lnTo>
                <a:lnTo>
                  <a:pt x="4469397" y="208111"/>
                </a:lnTo>
                <a:lnTo>
                  <a:pt x="4407188" y="234817"/>
                </a:lnTo>
                <a:lnTo>
                  <a:pt x="4337852" y="260591"/>
                </a:lnTo>
                <a:lnTo>
                  <a:pt x="4300597" y="273110"/>
                </a:lnTo>
                <a:lnTo>
                  <a:pt x="4261663" y="285375"/>
                </a:lnTo>
                <a:lnTo>
                  <a:pt x="4221085" y="297377"/>
                </a:lnTo>
                <a:lnTo>
                  <a:pt x="4178896" y="309110"/>
                </a:lnTo>
                <a:lnTo>
                  <a:pt x="4135132" y="320566"/>
                </a:lnTo>
                <a:lnTo>
                  <a:pt x="4089827" y="331737"/>
                </a:lnTo>
                <a:lnTo>
                  <a:pt x="4043015" y="342618"/>
                </a:lnTo>
                <a:lnTo>
                  <a:pt x="3994730" y="353199"/>
                </a:lnTo>
                <a:lnTo>
                  <a:pt x="3945007" y="363475"/>
                </a:lnTo>
                <a:lnTo>
                  <a:pt x="3893881" y="373437"/>
                </a:lnTo>
                <a:lnTo>
                  <a:pt x="3841384" y="383079"/>
                </a:lnTo>
                <a:lnTo>
                  <a:pt x="3787553" y="392392"/>
                </a:lnTo>
                <a:lnTo>
                  <a:pt x="3732421" y="401370"/>
                </a:lnTo>
                <a:lnTo>
                  <a:pt x="3676023" y="410006"/>
                </a:lnTo>
                <a:lnTo>
                  <a:pt x="3618392" y="418291"/>
                </a:lnTo>
                <a:lnTo>
                  <a:pt x="3559565" y="426220"/>
                </a:lnTo>
                <a:lnTo>
                  <a:pt x="3499573" y="433783"/>
                </a:lnTo>
                <a:lnTo>
                  <a:pt x="3438453" y="440975"/>
                </a:lnTo>
                <a:lnTo>
                  <a:pt x="3376239" y="447788"/>
                </a:lnTo>
                <a:lnTo>
                  <a:pt x="3312964" y="454214"/>
                </a:lnTo>
                <a:lnTo>
                  <a:pt x="3248663" y="460246"/>
                </a:lnTo>
                <a:lnTo>
                  <a:pt x="3183371" y="465877"/>
                </a:lnTo>
                <a:lnTo>
                  <a:pt x="3117123" y="471100"/>
                </a:lnTo>
                <a:lnTo>
                  <a:pt x="3049951" y="475907"/>
                </a:lnTo>
                <a:lnTo>
                  <a:pt x="2981891" y="480291"/>
                </a:lnTo>
                <a:lnTo>
                  <a:pt x="2912977" y="484244"/>
                </a:lnTo>
                <a:lnTo>
                  <a:pt x="2843244" y="487760"/>
                </a:lnTo>
                <a:lnTo>
                  <a:pt x="2772725" y="490831"/>
                </a:lnTo>
                <a:lnTo>
                  <a:pt x="2701456" y="493449"/>
                </a:lnTo>
                <a:lnTo>
                  <a:pt x="2629470" y="495608"/>
                </a:lnTo>
                <a:lnTo>
                  <a:pt x="2556802" y="497299"/>
                </a:lnTo>
                <a:lnTo>
                  <a:pt x="2483486" y="498517"/>
                </a:lnTo>
                <a:lnTo>
                  <a:pt x="2409557" y="499253"/>
                </a:lnTo>
                <a:lnTo>
                  <a:pt x="2335049" y="499499"/>
                </a:lnTo>
              </a:path>
            </a:pathLst>
          </a:custGeom>
          <a:ln w="9524">
            <a:solidFill>
              <a:srgbClr val="595959"/>
            </a:solidFill>
          </a:ln>
        </p:spPr>
        <p:txBody>
          <a:bodyPr wrap="square" lIns="0" tIns="0" rIns="0" bIns="0" rtlCol="0"/>
          <a:lstStyle/>
          <a:p>
            <a:endParaRPr/>
          </a:p>
        </p:txBody>
      </p:sp>
      <p:sp>
        <p:nvSpPr>
          <p:cNvPr id="37" name="object 37"/>
          <p:cNvSpPr/>
          <p:nvPr/>
        </p:nvSpPr>
        <p:spPr>
          <a:xfrm>
            <a:off x="3753775" y="4273574"/>
            <a:ext cx="2307590" cy="718820"/>
          </a:xfrm>
          <a:custGeom>
            <a:avLst/>
            <a:gdLst/>
            <a:ahLst/>
            <a:cxnLst/>
            <a:rect l="l" t="t" r="r" b="b"/>
            <a:pathLst>
              <a:path w="2307590" h="718820">
                <a:moveTo>
                  <a:pt x="2200599" y="638399"/>
                </a:moveTo>
                <a:lnTo>
                  <a:pt x="106399" y="638399"/>
                </a:lnTo>
                <a:lnTo>
                  <a:pt x="64984" y="630038"/>
                </a:lnTo>
                <a:lnTo>
                  <a:pt x="31163" y="607236"/>
                </a:lnTo>
                <a:lnTo>
                  <a:pt x="8361" y="573415"/>
                </a:lnTo>
                <a:lnTo>
                  <a:pt x="0" y="531999"/>
                </a:lnTo>
                <a:lnTo>
                  <a:pt x="0" y="106399"/>
                </a:lnTo>
                <a:lnTo>
                  <a:pt x="8361" y="64984"/>
                </a:lnTo>
                <a:lnTo>
                  <a:pt x="31163" y="31163"/>
                </a:lnTo>
                <a:lnTo>
                  <a:pt x="64984" y="8361"/>
                </a:lnTo>
                <a:lnTo>
                  <a:pt x="106399" y="0"/>
                </a:lnTo>
                <a:lnTo>
                  <a:pt x="2200599" y="0"/>
                </a:lnTo>
                <a:lnTo>
                  <a:pt x="2241317" y="8099"/>
                </a:lnTo>
                <a:lnTo>
                  <a:pt x="2275836" y="31163"/>
                </a:lnTo>
                <a:lnTo>
                  <a:pt x="2298900" y="65682"/>
                </a:lnTo>
                <a:lnTo>
                  <a:pt x="2306999" y="106399"/>
                </a:lnTo>
                <a:lnTo>
                  <a:pt x="2306999" y="531999"/>
                </a:lnTo>
                <a:lnTo>
                  <a:pt x="2298638" y="573415"/>
                </a:lnTo>
                <a:lnTo>
                  <a:pt x="2275836" y="607236"/>
                </a:lnTo>
                <a:lnTo>
                  <a:pt x="2242015" y="630038"/>
                </a:lnTo>
                <a:lnTo>
                  <a:pt x="2200599" y="638399"/>
                </a:lnTo>
                <a:close/>
              </a:path>
              <a:path w="2307590" h="718820">
                <a:moveTo>
                  <a:pt x="672882" y="718199"/>
                </a:moveTo>
                <a:lnTo>
                  <a:pt x="384499" y="638399"/>
                </a:lnTo>
                <a:lnTo>
                  <a:pt x="961249" y="638399"/>
                </a:lnTo>
                <a:lnTo>
                  <a:pt x="672882" y="718199"/>
                </a:lnTo>
                <a:close/>
              </a:path>
            </a:pathLst>
          </a:custGeom>
          <a:solidFill>
            <a:srgbClr val="EEEEEE"/>
          </a:solidFill>
        </p:spPr>
        <p:txBody>
          <a:bodyPr wrap="square" lIns="0" tIns="0" rIns="0" bIns="0" rtlCol="0"/>
          <a:lstStyle/>
          <a:p>
            <a:endParaRPr/>
          </a:p>
        </p:txBody>
      </p:sp>
      <p:sp>
        <p:nvSpPr>
          <p:cNvPr id="38" name="object 38"/>
          <p:cNvSpPr/>
          <p:nvPr/>
        </p:nvSpPr>
        <p:spPr>
          <a:xfrm>
            <a:off x="3753775" y="4273574"/>
            <a:ext cx="2307590" cy="718820"/>
          </a:xfrm>
          <a:custGeom>
            <a:avLst/>
            <a:gdLst/>
            <a:ahLst/>
            <a:cxnLst/>
            <a:rect l="l" t="t" r="r" b="b"/>
            <a:pathLst>
              <a:path w="2307590" h="718820">
                <a:moveTo>
                  <a:pt x="0" y="106399"/>
                </a:moveTo>
                <a:lnTo>
                  <a:pt x="8361" y="64984"/>
                </a:lnTo>
                <a:lnTo>
                  <a:pt x="31163" y="31163"/>
                </a:lnTo>
                <a:lnTo>
                  <a:pt x="64984" y="8361"/>
                </a:lnTo>
                <a:lnTo>
                  <a:pt x="106399" y="0"/>
                </a:lnTo>
                <a:lnTo>
                  <a:pt x="384499" y="0"/>
                </a:lnTo>
                <a:lnTo>
                  <a:pt x="961249" y="0"/>
                </a:lnTo>
                <a:lnTo>
                  <a:pt x="2200599" y="0"/>
                </a:lnTo>
                <a:lnTo>
                  <a:pt x="2221454" y="2063"/>
                </a:lnTo>
                <a:lnTo>
                  <a:pt x="2259630" y="17876"/>
                </a:lnTo>
                <a:lnTo>
                  <a:pt x="2289123" y="47369"/>
                </a:lnTo>
                <a:lnTo>
                  <a:pt x="2304936" y="85545"/>
                </a:lnTo>
                <a:lnTo>
                  <a:pt x="2306999" y="106399"/>
                </a:lnTo>
                <a:lnTo>
                  <a:pt x="2306999" y="372399"/>
                </a:lnTo>
                <a:lnTo>
                  <a:pt x="2306999" y="531999"/>
                </a:lnTo>
                <a:lnTo>
                  <a:pt x="2298638" y="573415"/>
                </a:lnTo>
                <a:lnTo>
                  <a:pt x="2275836" y="607236"/>
                </a:lnTo>
                <a:lnTo>
                  <a:pt x="2242015" y="630038"/>
                </a:lnTo>
                <a:lnTo>
                  <a:pt x="2200599" y="638399"/>
                </a:lnTo>
                <a:lnTo>
                  <a:pt x="961249" y="638399"/>
                </a:lnTo>
                <a:lnTo>
                  <a:pt x="672882" y="718199"/>
                </a:lnTo>
                <a:lnTo>
                  <a:pt x="384499" y="638399"/>
                </a:lnTo>
                <a:lnTo>
                  <a:pt x="106399" y="638399"/>
                </a:lnTo>
                <a:lnTo>
                  <a:pt x="64984" y="630038"/>
                </a:lnTo>
                <a:lnTo>
                  <a:pt x="31163" y="607236"/>
                </a:lnTo>
                <a:lnTo>
                  <a:pt x="8361" y="573415"/>
                </a:lnTo>
                <a:lnTo>
                  <a:pt x="0" y="531999"/>
                </a:lnTo>
                <a:lnTo>
                  <a:pt x="0" y="372399"/>
                </a:lnTo>
                <a:lnTo>
                  <a:pt x="0" y="106399"/>
                </a:lnTo>
                <a:close/>
              </a:path>
            </a:pathLst>
          </a:custGeom>
          <a:ln w="9524">
            <a:solidFill>
              <a:srgbClr val="595959"/>
            </a:solidFill>
          </a:ln>
        </p:spPr>
        <p:txBody>
          <a:bodyPr wrap="square" lIns="0" tIns="0" rIns="0" bIns="0" rtlCol="0"/>
          <a:lstStyle/>
          <a:p>
            <a:endParaRPr/>
          </a:p>
        </p:txBody>
      </p:sp>
      <p:sp>
        <p:nvSpPr>
          <p:cNvPr id="39" name="object 39"/>
          <p:cNvSpPr txBox="1"/>
          <p:nvPr/>
        </p:nvSpPr>
        <p:spPr>
          <a:xfrm>
            <a:off x="3857963" y="4363413"/>
            <a:ext cx="1752600"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Do it all over again for  frame</a:t>
            </a:r>
            <a:r>
              <a:rPr sz="1400" dirty="0">
                <a:latin typeface="Arial"/>
                <a:cs typeface="Arial"/>
              </a:rPr>
              <a:t> </a:t>
            </a:r>
            <a:r>
              <a:rPr sz="1400" i="1" spc="-5" dirty="0">
                <a:latin typeface="Arial"/>
                <a:cs typeface="Arial"/>
              </a:rPr>
              <a:t>t+1</a:t>
            </a:r>
            <a:r>
              <a:rPr sz="1400" spc="-5" dirty="0">
                <a:latin typeface="Arial"/>
                <a:cs typeface="Arial"/>
              </a:rPr>
              <a:t>.</a:t>
            </a:r>
            <a:endParaRPr sz="1400">
              <a:latin typeface="Arial"/>
              <a:cs typeface="Aria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748280" cy="452120"/>
          </a:xfrm>
          <a:prstGeom prst="rect">
            <a:avLst/>
          </a:prstGeom>
        </p:spPr>
        <p:txBody>
          <a:bodyPr vert="horz" wrap="square" lIns="0" tIns="12700" rIns="0" bIns="0" rtlCol="0">
            <a:spAutoFit/>
          </a:bodyPr>
          <a:lstStyle/>
          <a:p>
            <a:pPr marL="12700">
              <a:lnSpc>
                <a:spcPct val="100000"/>
              </a:lnSpc>
              <a:spcBef>
                <a:spcPts val="100"/>
              </a:spcBef>
            </a:pPr>
            <a:r>
              <a:rPr spc="-10" dirty="0"/>
              <a:t>Simple </a:t>
            </a:r>
            <a:r>
              <a:rPr dirty="0"/>
              <a:t>main</a:t>
            </a:r>
            <a:r>
              <a:rPr spc="-90" dirty="0"/>
              <a:t> </a:t>
            </a:r>
            <a:r>
              <a:rPr spc="-5" dirty="0"/>
              <a:t>loop</a:t>
            </a:r>
          </a:p>
        </p:txBody>
      </p:sp>
      <p:sp>
        <p:nvSpPr>
          <p:cNvPr id="3" name="object 3"/>
          <p:cNvSpPr txBox="1"/>
          <p:nvPr/>
        </p:nvSpPr>
        <p:spPr>
          <a:xfrm>
            <a:off x="384725" y="1176350"/>
            <a:ext cx="5970270" cy="3482975"/>
          </a:xfrm>
          <a:prstGeom prst="rect">
            <a:avLst/>
          </a:prstGeom>
        </p:spPr>
        <p:txBody>
          <a:bodyPr vert="horz" wrap="square" lIns="0" tIns="12700" rIns="0" bIns="0" rtlCol="0">
            <a:spAutoFit/>
          </a:bodyPr>
          <a:lstStyle/>
          <a:p>
            <a:pPr marL="469900" marR="3434715" indent="-457200">
              <a:lnSpc>
                <a:spcPct val="114599"/>
              </a:lnSpc>
              <a:spcBef>
                <a:spcPts val="100"/>
              </a:spcBef>
            </a:pPr>
            <a:r>
              <a:rPr sz="1800" spc="-5" dirty="0">
                <a:solidFill>
                  <a:srgbClr val="0000FF"/>
                </a:solidFill>
                <a:latin typeface="Courier New"/>
                <a:cs typeface="Courier New"/>
              </a:rPr>
              <a:t>while </a:t>
            </a:r>
            <a:r>
              <a:rPr sz="1800" spc="-5" dirty="0">
                <a:solidFill>
                  <a:srgbClr val="595959"/>
                </a:solidFill>
                <a:latin typeface="Courier New"/>
                <a:cs typeface="Courier New"/>
              </a:rPr>
              <a:t>(</a:t>
            </a:r>
            <a:r>
              <a:rPr sz="1800" spc="-5" dirty="0">
                <a:solidFill>
                  <a:srgbClr val="0000FF"/>
                </a:solidFill>
                <a:latin typeface="Courier New"/>
                <a:cs typeface="Courier New"/>
              </a:rPr>
              <a:t>true</a:t>
            </a:r>
            <a:r>
              <a:rPr sz="1800" spc="-5" dirty="0">
                <a:solidFill>
                  <a:srgbClr val="595959"/>
                </a:solidFill>
                <a:latin typeface="Courier New"/>
                <a:cs typeface="Courier New"/>
              </a:rPr>
              <a:t>) </a:t>
            </a:r>
            <a:r>
              <a:rPr sz="1800" dirty="0">
                <a:solidFill>
                  <a:srgbClr val="595959"/>
                </a:solidFill>
                <a:latin typeface="Courier New"/>
                <a:cs typeface="Courier New"/>
              </a:rPr>
              <a:t>{  </a:t>
            </a:r>
            <a:r>
              <a:rPr sz="1800" spc="-5" dirty="0">
                <a:solidFill>
                  <a:srgbClr val="595959"/>
                </a:solidFill>
                <a:latin typeface="Courier New"/>
                <a:cs typeface="Courier New"/>
              </a:rPr>
              <a:t>time_update();  input_update();</a:t>
            </a:r>
            <a:endParaRPr sz="1800">
              <a:latin typeface="Courier New"/>
              <a:cs typeface="Courier New"/>
            </a:endParaRPr>
          </a:p>
          <a:p>
            <a:pPr marL="469900" marR="5080">
              <a:lnSpc>
                <a:spcPct val="229199"/>
              </a:lnSpc>
              <a:tabLst>
                <a:tab pos="5133975" algn="l"/>
              </a:tabLst>
            </a:pPr>
            <a:r>
              <a:rPr sz="1800" spc="-5" dirty="0">
                <a:solidFill>
                  <a:srgbClr val="0000FF"/>
                </a:solidFill>
                <a:latin typeface="Courier New"/>
                <a:cs typeface="Courier New"/>
              </a:rPr>
              <a:t>i</a:t>
            </a:r>
            <a:r>
              <a:rPr sz="1800" dirty="0">
                <a:solidFill>
                  <a:srgbClr val="0000FF"/>
                </a:solidFill>
                <a:latin typeface="Courier New"/>
                <a:cs typeface="Courier New"/>
              </a:rPr>
              <a:t>f </a:t>
            </a:r>
            <a:r>
              <a:rPr sz="1800" spc="-5" dirty="0">
                <a:solidFill>
                  <a:srgbClr val="595959"/>
                </a:solidFill>
                <a:latin typeface="Courier New"/>
                <a:cs typeface="Courier New"/>
              </a:rPr>
              <a:t>(os_handle_events(</a:t>
            </a:r>
            <a:r>
              <a:rPr sz="1800" dirty="0">
                <a:solidFill>
                  <a:srgbClr val="595959"/>
                </a:solidFill>
                <a:latin typeface="Courier New"/>
                <a:cs typeface="Courier New"/>
              </a:rPr>
              <a:t>)</a:t>
            </a:r>
            <a:r>
              <a:rPr sz="1800" spc="-5" dirty="0">
                <a:solidFill>
                  <a:srgbClr val="595959"/>
                </a:solidFill>
                <a:latin typeface="Courier New"/>
                <a:cs typeface="Courier New"/>
              </a:rPr>
              <a:t> =</a:t>
            </a:r>
            <a:r>
              <a:rPr sz="1800" dirty="0">
                <a:solidFill>
                  <a:srgbClr val="595959"/>
                </a:solidFill>
                <a:latin typeface="Courier New"/>
                <a:cs typeface="Courier New"/>
              </a:rPr>
              <a:t>=</a:t>
            </a:r>
            <a:r>
              <a:rPr sz="1800" spc="5" dirty="0">
                <a:solidFill>
                  <a:srgbClr val="595959"/>
                </a:solidFill>
                <a:latin typeface="Courier New"/>
                <a:cs typeface="Courier New"/>
              </a:rPr>
              <a:t> </a:t>
            </a:r>
            <a:r>
              <a:rPr sz="1800" spc="-5" dirty="0">
                <a:solidFill>
                  <a:srgbClr val="FF9900"/>
                </a:solidFill>
                <a:latin typeface="Courier New"/>
                <a:cs typeface="Courier New"/>
              </a:rPr>
              <a:t>k_exi</a:t>
            </a:r>
            <a:r>
              <a:rPr sz="1800" dirty="0">
                <a:solidFill>
                  <a:srgbClr val="FF9900"/>
                </a:solidFill>
                <a:latin typeface="Courier New"/>
                <a:cs typeface="Courier New"/>
              </a:rPr>
              <a:t>t</a:t>
            </a:r>
            <a:r>
              <a:rPr sz="1800" dirty="0">
                <a:solidFill>
                  <a:srgbClr val="595959"/>
                </a:solidFill>
                <a:latin typeface="Courier New"/>
                <a:cs typeface="Courier New"/>
              </a:rPr>
              <a:t>)	</a:t>
            </a:r>
            <a:r>
              <a:rPr sz="1800" spc="-5" dirty="0">
                <a:solidFill>
                  <a:srgbClr val="0000FF"/>
                </a:solidFill>
                <a:latin typeface="Courier New"/>
                <a:cs typeface="Courier New"/>
              </a:rPr>
              <a:t>brea</a:t>
            </a:r>
            <a:r>
              <a:rPr sz="1800" dirty="0">
                <a:solidFill>
                  <a:srgbClr val="0000FF"/>
                </a:solidFill>
                <a:latin typeface="Courier New"/>
                <a:cs typeface="Courier New"/>
              </a:rPr>
              <a:t>k</a:t>
            </a:r>
            <a:r>
              <a:rPr sz="1800" dirty="0">
                <a:solidFill>
                  <a:srgbClr val="595959"/>
                </a:solidFill>
                <a:latin typeface="Courier New"/>
                <a:cs typeface="Courier New"/>
              </a:rPr>
              <a:t>;  </a:t>
            </a:r>
            <a:r>
              <a:rPr sz="1800" spc="-5" dirty="0">
                <a:solidFill>
                  <a:srgbClr val="595959"/>
                </a:solidFill>
                <a:latin typeface="Courier New"/>
                <a:cs typeface="Courier New"/>
              </a:rPr>
              <a:t>sim_update();</a:t>
            </a:r>
            <a:endParaRPr sz="1800">
              <a:latin typeface="Courier New"/>
              <a:cs typeface="Courier New"/>
            </a:endParaRPr>
          </a:p>
          <a:p>
            <a:pPr>
              <a:lnSpc>
                <a:spcPct val="100000"/>
              </a:lnSpc>
            </a:pPr>
            <a:endParaRPr sz="2150">
              <a:latin typeface="Times New Roman"/>
              <a:cs typeface="Times New Roman"/>
            </a:endParaRPr>
          </a:p>
          <a:p>
            <a:pPr marL="469900" marR="3023235">
              <a:lnSpc>
                <a:spcPct val="114599"/>
              </a:lnSpc>
            </a:pPr>
            <a:r>
              <a:rPr sz="1800" spc="-5" dirty="0">
                <a:solidFill>
                  <a:srgbClr val="595959"/>
                </a:solidFill>
                <a:latin typeface="Courier New"/>
                <a:cs typeface="Courier New"/>
              </a:rPr>
              <a:t>graphics_update();  audio_update();</a:t>
            </a:r>
            <a:endParaRPr sz="1800">
              <a:latin typeface="Courier New"/>
              <a:cs typeface="Courier New"/>
            </a:endParaRPr>
          </a:p>
          <a:p>
            <a:pPr marL="12700">
              <a:lnSpc>
                <a:spcPct val="100000"/>
              </a:lnSpc>
              <a:spcBef>
                <a:spcPts val="315"/>
              </a:spcBef>
            </a:pPr>
            <a:r>
              <a:rPr sz="1800" dirty="0">
                <a:solidFill>
                  <a:srgbClr val="595959"/>
                </a:solidFill>
                <a:latin typeface="Courier New"/>
                <a:cs typeface="Courier New"/>
              </a:rPr>
              <a:t>}</a:t>
            </a:r>
            <a:endParaRPr sz="1800">
              <a:latin typeface="Courier New"/>
              <a:cs typeface="Courier New"/>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Screen Shot 2018-01-29 at 10.08.24 AM.png" descr="Screen Shot 2018-01-29 at 10.08.24 AM.png"/>
          <p:cNvPicPr>
            <a:picLocks noChangeAspect="1"/>
          </p:cNvPicPr>
          <p:nvPr/>
        </p:nvPicPr>
        <p:blipFill>
          <a:blip r:embed="rId3">
            <a:extLst/>
          </a:blip>
          <a:stretch>
            <a:fillRect/>
          </a:stretch>
        </p:blipFill>
        <p:spPr>
          <a:xfrm>
            <a:off x="2718634" y="0"/>
            <a:ext cx="3706732" cy="5143501"/>
          </a:xfrm>
          <a:prstGeom prst="rect">
            <a:avLst/>
          </a:prstGeom>
          <a:ln w="12700">
            <a:miter lim="400000"/>
          </a:ln>
        </p:spPr>
      </p:pic>
    </p:spTree>
    <p:extLst>
      <p:ext uri="{BB962C8B-B14F-4D97-AF65-F5344CB8AC3E}">
        <p14:creationId xmlns:p14="http://schemas.microsoft.com/office/powerpoint/2010/main" val="1079644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Screen Shot 2018-01-29 at 10.08.39 AM.png" descr="Screen Shot 2018-01-29 at 10.08.39 AM.png"/>
          <p:cNvPicPr>
            <a:picLocks noChangeAspect="1"/>
          </p:cNvPicPr>
          <p:nvPr/>
        </p:nvPicPr>
        <p:blipFill>
          <a:blip r:embed="rId2">
            <a:extLst/>
          </a:blip>
          <a:stretch>
            <a:fillRect/>
          </a:stretch>
        </p:blipFill>
        <p:spPr>
          <a:xfrm>
            <a:off x="1143000" y="709935"/>
            <a:ext cx="6858001" cy="3723631"/>
          </a:xfrm>
          <a:prstGeom prst="rect">
            <a:avLst/>
          </a:prstGeom>
          <a:ln w="12700">
            <a:miter lim="400000"/>
          </a:ln>
        </p:spPr>
      </p:pic>
    </p:spTree>
    <p:extLst>
      <p:ext uri="{BB962C8B-B14F-4D97-AF65-F5344CB8AC3E}">
        <p14:creationId xmlns:p14="http://schemas.microsoft.com/office/powerpoint/2010/main" val="30615130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Screen Shot 2018-01-29 at 10.08.50 AM.png" descr="Screen Shot 2018-01-29 at 10.08.50 AM.png"/>
          <p:cNvPicPr>
            <a:picLocks noChangeAspect="1"/>
          </p:cNvPicPr>
          <p:nvPr/>
        </p:nvPicPr>
        <p:blipFill>
          <a:blip r:embed="rId2">
            <a:extLst/>
          </a:blip>
          <a:stretch>
            <a:fillRect/>
          </a:stretch>
        </p:blipFill>
        <p:spPr>
          <a:xfrm>
            <a:off x="1143000" y="1145086"/>
            <a:ext cx="6858001" cy="2853329"/>
          </a:xfrm>
          <a:prstGeom prst="rect">
            <a:avLst/>
          </a:prstGeom>
          <a:ln w="12700">
            <a:miter lim="400000"/>
          </a:ln>
        </p:spPr>
      </p:pic>
    </p:spTree>
    <p:extLst>
      <p:ext uri="{BB962C8B-B14F-4D97-AF65-F5344CB8AC3E}">
        <p14:creationId xmlns:p14="http://schemas.microsoft.com/office/powerpoint/2010/main" val="1072944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Screen Shot 2018-01-29 at 10.09.01 AM.png" descr="Screen Shot 2018-01-29 at 10.09.01 AM.png"/>
          <p:cNvPicPr>
            <a:picLocks noChangeAspect="1"/>
          </p:cNvPicPr>
          <p:nvPr/>
        </p:nvPicPr>
        <p:blipFill>
          <a:blip r:embed="rId2">
            <a:extLst/>
          </a:blip>
          <a:stretch>
            <a:fillRect/>
          </a:stretch>
        </p:blipFill>
        <p:spPr>
          <a:xfrm>
            <a:off x="1143000" y="1066869"/>
            <a:ext cx="6858001" cy="3009762"/>
          </a:xfrm>
          <a:prstGeom prst="rect">
            <a:avLst/>
          </a:prstGeom>
          <a:ln w="12700">
            <a:miter lim="400000"/>
          </a:ln>
        </p:spPr>
      </p:pic>
    </p:spTree>
    <p:extLst>
      <p:ext uri="{BB962C8B-B14F-4D97-AF65-F5344CB8AC3E}">
        <p14:creationId xmlns:p14="http://schemas.microsoft.com/office/powerpoint/2010/main" val="1351659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814705" cy="452120"/>
          </a:xfrm>
          <a:prstGeom prst="rect">
            <a:avLst/>
          </a:prstGeom>
        </p:spPr>
        <p:txBody>
          <a:bodyPr vert="horz" wrap="square" lIns="0" tIns="12700" rIns="0" bIns="0" rtlCol="0">
            <a:spAutoFit/>
          </a:bodyPr>
          <a:lstStyle/>
          <a:p>
            <a:pPr marL="12700">
              <a:lnSpc>
                <a:spcPct val="100000"/>
              </a:lnSpc>
              <a:spcBef>
                <a:spcPts val="100"/>
              </a:spcBef>
            </a:pPr>
            <a:r>
              <a:rPr spc="-5" dirty="0"/>
              <a:t>Time</a:t>
            </a:r>
          </a:p>
        </p:txBody>
      </p:sp>
      <p:sp>
        <p:nvSpPr>
          <p:cNvPr id="3" name="object 3"/>
          <p:cNvSpPr txBox="1"/>
          <p:nvPr/>
        </p:nvSpPr>
        <p:spPr>
          <a:xfrm>
            <a:off x="505993" y="1184098"/>
            <a:ext cx="2414270" cy="151130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spc="-5" dirty="0">
                <a:solidFill>
                  <a:srgbClr val="595959"/>
                </a:solidFill>
                <a:latin typeface="Arial"/>
                <a:cs typeface="Arial"/>
              </a:rPr>
              <a:t>Importance and</a:t>
            </a:r>
            <a:r>
              <a:rPr sz="1400" spc="-85" dirty="0">
                <a:solidFill>
                  <a:srgbClr val="595959"/>
                </a:solidFill>
                <a:latin typeface="Arial"/>
                <a:cs typeface="Arial"/>
              </a:rPr>
              <a:t> </a:t>
            </a:r>
            <a:r>
              <a:rPr sz="1400" dirty="0">
                <a:solidFill>
                  <a:srgbClr val="595959"/>
                </a:solidFill>
                <a:latin typeface="Arial"/>
                <a:cs typeface="Arial"/>
              </a:rPr>
              <a:t>relevance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Common</a:t>
            </a:r>
            <a:r>
              <a:rPr sz="1400" spc="-100" dirty="0">
                <a:solidFill>
                  <a:srgbClr val="595959"/>
                </a:solidFill>
                <a:latin typeface="Arial"/>
                <a:cs typeface="Arial"/>
              </a:rPr>
              <a:t> </a:t>
            </a:r>
            <a:r>
              <a:rPr sz="1400" spc="-5" dirty="0">
                <a:solidFill>
                  <a:srgbClr val="595959"/>
                </a:solidFill>
                <a:latin typeface="Arial"/>
                <a:cs typeface="Arial"/>
              </a:rPr>
              <a:t>terms</a:t>
            </a:r>
            <a:endParaRPr sz="1400">
              <a:latin typeface="Arial"/>
              <a:cs typeface="Arial"/>
            </a:endParaRPr>
          </a:p>
          <a:p>
            <a:pPr marL="348615" indent="-335915">
              <a:lnSpc>
                <a:spcPct val="100000"/>
              </a:lnSpc>
              <a:spcBef>
                <a:spcPts val="270"/>
              </a:spcBef>
              <a:buChar char="●"/>
              <a:tabLst>
                <a:tab pos="347980" algn="l"/>
                <a:tab pos="349250" algn="l"/>
              </a:tabLst>
            </a:pPr>
            <a:r>
              <a:rPr sz="1400" dirty="0">
                <a:solidFill>
                  <a:srgbClr val="595959"/>
                </a:solidFill>
                <a:latin typeface="Arial"/>
                <a:cs typeface="Arial"/>
              </a:rPr>
              <a:t>Measuring</a:t>
            </a:r>
            <a:r>
              <a:rPr sz="1400" spc="-10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Time</a:t>
            </a:r>
            <a:r>
              <a:rPr sz="1400" spc="-15" dirty="0">
                <a:solidFill>
                  <a:srgbClr val="595959"/>
                </a:solidFill>
                <a:latin typeface="Arial"/>
                <a:cs typeface="Arial"/>
              </a:rPr>
              <a:t> </a:t>
            </a:r>
            <a:r>
              <a:rPr sz="1400" spc="-5" dirty="0">
                <a:solidFill>
                  <a:srgbClr val="595959"/>
                </a:solidFill>
                <a:latin typeface="Arial"/>
                <a:cs typeface="Arial"/>
              </a:rPr>
              <a:t>transformed</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Game </a:t>
            </a:r>
            <a:r>
              <a:rPr sz="1400" dirty="0">
                <a:solidFill>
                  <a:srgbClr val="595959"/>
                </a:solidFill>
                <a:latin typeface="Arial"/>
                <a:cs typeface="Arial"/>
              </a:rPr>
              <a:t>systems </a:t>
            </a:r>
            <a:r>
              <a:rPr sz="1400" spc="-5" dirty="0">
                <a:solidFill>
                  <a:srgbClr val="595959"/>
                </a:solidFill>
                <a:latin typeface="Arial"/>
                <a:cs typeface="Arial"/>
              </a:rPr>
              <a:t>using</a:t>
            </a:r>
            <a:r>
              <a:rPr sz="1400" spc="-8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Delta time</a:t>
            </a:r>
            <a:r>
              <a:rPr sz="1400" spc="-60" dirty="0">
                <a:solidFill>
                  <a:srgbClr val="595959"/>
                </a:solidFill>
                <a:latin typeface="Arial"/>
                <a:cs typeface="Arial"/>
              </a:rPr>
              <a:t> </a:t>
            </a:r>
            <a:r>
              <a:rPr sz="1400" dirty="0">
                <a:solidFill>
                  <a:srgbClr val="595959"/>
                </a:solidFill>
                <a:latin typeface="Arial"/>
                <a:cs typeface="Arial"/>
              </a:rPr>
              <a:t>considerations</a:t>
            </a:r>
            <a:endParaRPr sz="14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814705" cy="452120"/>
          </a:xfrm>
          <a:prstGeom prst="rect">
            <a:avLst/>
          </a:prstGeom>
        </p:spPr>
        <p:txBody>
          <a:bodyPr vert="horz" wrap="square" lIns="0" tIns="12700" rIns="0" bIns="0" rtlCol="0">
            <a:spAutoFit/>
          </a:bodyPr>
          <a:lstStyle/>
          <a:p>
            <a:pPr marL="12700">
              <a:lnSpc>
                <a:spcPct val="100000"/>
              </a:lnSpc>
              <a:spcBef>
                <a:spcPts val="100"/>
              </a:spcBef>
            </a:pPr>
            <a:r>
              <a:rPr spc="-5" dirty="0"/>
              <a:t>Time</a:t>
            </a:r>
          </a:p>
        </p:txBody>
      </p:sp>
      <p:sp>
        <p:nvSpPr>
          <p:cNvPr id="3" name="object 3"/>
          <p:cNvSpPr txBox="1"/>
          <p:nvPr/>
        </p:nvSpPr>
        <p:spPr>
          <a:xfrm>
            <a:off x="505993" y="1184098"/>
            <a:ext cx="2551430" cy="151130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b="1" spc="-5" dirty="0">
                <a:solidFill>
                  <a:srgbClr val="595959"/>
                </a:solidFill>
                <a:latin typeface="Arial"/>
                <a:cs typeface="Arial"/>
              </a:rPr>
              <a:t>Importance and</a:t>
            </a:r>
            <a:r>
              <a:rPr sz="1400" b="1" spc="-80" dirty="0">
                <a:solidFill>
                  <a:srgbClr val="595959"/>
                </a:solidFill>
                <a:latin typeface="Arial"/>
                <a:cs typeface="Arial"/>
              </a:rPr>
              <a:t> </a:t>
            </a:r>
            <a:r>
              <a:rPr sz="1400" b="1" spc="-5" dirty="0">
                <a:solidFill>
                  <a:srgbClr val="595959"/>
                </a:solidFill>
                <a:latin typeface="Arial"/>
                <a:cs typeface="Arial"/>
              </a:rPr>
              <a:t>relevance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Common</a:t>
            </a:r>
            <a:r>
              <a:rPr sz="1400" spc="-100" dirty="0">
                <a:solidFill>
                  <a:srgbClr val="595959"/>
                </a:solidFill>
                <a:latin typeface="Arial"/>
                <a:cs typeface="Arial"/>
              </a:rPr>
              <a:t> </a:t>
            </a:r>
            <a:r>
              <a:rPr sz="1400" spc="-5" dirty="0">
                <a:solidFill>
                  <a:srgbClr val="595959"/>
                </a:solidFill>
                <a:latin typeface="Arial"/>
                <a:cs typeface="Arial"/>
              </a:rPr>
              <a:t>terms</a:t>
            </a:r>
            <a:endParaRPr sz="1400">
              <a:latin typeface="Arial"/>
              <a:cs typeface="Arial"/>
            </a:endParaRPr>
          </a:p>
          <a:p>
            <a:pPr marL="348615" indent="-335915">
              <a:lnSpc>
                <a:spcPct val="100000"/>
              </a:lnSpc>
              <a:spcBef>
                <a:spcPts val="270"/>
              </a:spcBef>
              <a:buChar char="●"/>
              <a:tabLst>
                <a:tab pos="347980" algn="l"/>
                <a:tab pos="349250" algn="l"/>
              </a:tabLst>
            </a:pPr>
            <a:r>
              <a:rPr sz="1400" dirty="0">
                <a:solidFill>
                  <a:srgbClr val="595959"/>
                </a:solidFill>
                <a:latin typeface="Arial"/>
                <a:cs typeface="Arial"/>
              </a:rPr>
              <a:t>Measuring</a:t>
            </a:r>
            <a:r>
              <a:rPr sz="1400" spc="-10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Time</a:t>
            </a:r>
            <a:r>
              <a:rPr sz="1400" spc="-15" dirty="0">
                <a:solidFill>
                  <a:srgbClr val="595959"/>
                </a:solidFill>
                <a:latin typeface="Arial"/>
                <a:cs typeface="Arial"/>
              </a:rPr>
              <a:t> </a:t>
            </a:r>
            <a:r>
              <a:rPr sz="1400" spc="-5" dirty="0">
                <a:solidFill>
                  <a:srgbClr val="595959"/>
                </a:solidFill>
                <a:latin typeface="Arial"/>
                <a:cs typeface="Arial"/>
              </a:rPr>
              <a:t>transformed</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Game </a:t>
            </a:r>
            <a:r>
              <a:rPr sz="1400" dirty="0">
                <a:solidFill>
                  <a:srgbClr val="595959"/>
                </a:solidFill>
                <a:latin typeface="Arial"/>
                <a:cs typeface="Arial"/>
              </a:rPr>
              <a:t>systems </a:t>
            </a:r>
            <a:r>
              <a:rPr sz="1400" spc="-5" dirty="0">
                <a:solidFill>
                  <a:srgbClr val="595959"/>
                </a:solidFill>
                <a:latin typeface="Arial"/>
                <a:cs typeface="Arial"/>
              </a:rPr>
              <a:t>using</a:t>
            </a:r>
            <a:r>
              <a:rPr sz="1400" spc="-5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Delta time</a:t>
            </a:r>
            <a:r>
              <a:rPr sz="1400" spc="-35" dirty="0">
                <a:solidFill>
                  <a:srgbClr val="595959"/>
                </a:solidFill>
                <a:latin typeface="Arial"/>
                <a:cs typeface="Arial"/>
              </a:rPr>
              <a:t> </a:t>
            </a:r>
            <a:r>
              <a:rPr sz="1400" dirty="0">
                <a:solidFill>
                  <a:srgbClr val="595959"/>
                </a:solidFill>
                <a:latin typeface="Arial"/>
                <a:cs typeface="Arial"/>
              </a:rPr>
              <a:t>considerations</a:t>
            </a:r>
            <a:endParaRPr sz="1400">
              <a:latin typeface="Arial"/>
              <a:cs typeface="Arial"/>
            </a:endParaRPr>
          </a:p>
        </p:txBody>
      </p:sp>
      <p:sp>
        <p:nvSpPr>
          <p:cNvPr id="4" name="object 4"/>
          <p:cNvSpPr txBox="1"/>
          <p:nvPr/>
        </p:nvSpPr>
        <p:spPr>
          <a:xfrm>
            <a:off x="4905425" y="1218388"/>
            <a:ext cx="3663950" cy="2372360"/>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595959"/>
                </a:solidFill>
                <a:latin typeface="Arial"/>
                <a:cs typeface="Arial"/>
              </a:rPr>
              <a:t>For </a:t>
            </a:r>
            <a:r>
              <a:rPr sz="1400" dirty="0">
                <a:solidFill>
                  <a:srgbClr val="595959"/>
                </a:solidFill>
                <a:latin typeface="Arial"/>
                <a:cs typeface="Arial"/>
              </a:rPr>
              <a:t>many </a:t>
            </a:r>
            <a:r>
              <a:rPr sz="1400" spc="-5" dirty="0">
                <a:solidFill>
                  <a:srgbClr val="595959"/>
                </a:solidFill>
                <a:latin typeface="Arial"/>
                <a:cs typeface="Arial"/>
              </a:rPr>
              <a:t>types of games, we aim</a:t>
            </a:r>
            <a:r>
              <a:rPr sz="1400" spc="-35" dirty="0">
                <a:solidFill>
                  <a:srgbClr val="595959"/>
                </a:solidFill>
                <a:latin typeface="Arial"/>
                <a:cs typeface="Arial"/>
              </a:rPr>
              <a:t> </a:t>
            </a:r>
            <a:r>
              <a:rPr sz="1400" spc="-5" dirty="0">
                <a:solidFill>
                  <a:srgbClr val="595959"/>
                </a:solidFill>
                <a:latin typeface="Arial"/>
                <a:cs typeface="Arial"/>
              </a:rPr>
              <a:t>to:</a:t>
            </a:r>
            <a:endParaRPr sz="1400">
              <a:latin typeface="Arial"/>
              <a:cs typeface="Arial"/>
            </a:endParaRPr>
          </a:p>
          <a:p>
            <a:pPr>
              <a:lnSpc>
                <a:spcPct val="100000"/>
              </a:lnSpc>
              <a:spcBef>
                <a:spcPts val="20"/>
              </a:spcBef>
            </a:pPr>
            <a:endParaRPr sz="1350">
              <a:latin typeface="Times New Roman"/>
              <a:cs typeface="Times New Roman"/>
            </a:endParaRPr>
          </a:p>
          <a:p>
            <a:pPr marL="469900" marR="301625" indent="-336550">
              <a:lnSpc>
                <a:spcPct val="116100"/>
              </a:lnSpc>
              <a:buChar char="●"/>
              <a:tabLst>
                <a:tab pos="469265" algn="l"/>
                <a:tab pos="469900" algn="l"/>
              </a:tabLst>
            </a:pPr>
            <a:r>
              <a:rPr sz="1400" dirty="0">
                <a:solidFill>
                  <a:srgbClr val="595959"/>
                </a:solidFill>
                <a:latin typeface="Arial"/>
                <a:cs typeface="Arial"/>
              </a:rPr>
              <a:t>Minimize </a:t>
            </a:r>
            <a:r>
              <a:rPr sz="1400" spc="-5" dirty="0">
                <a:solidFill>
                  <a:srgbClr val="595959"/>
                </a:solidFill>
                <a:latin typeface="Arial"/>
                <a:cs typeface="Arial"/>
              </a:rPr>
              <a:t>lag between user input and  action on</a:t>
            </a:r>
            <a:r>
              <a:rPr sz="1400" spc="-15" dirty="0">
                <a:solidFill>
                  <a:srgbClr val="595959"/>
                </a:solidFill>
                <a:latin typeface="Arial"/>
                <a:cs typeface="Arial"/>
              </a:rPr>
              <a:t> </a:t>
            </a:r>
            <a:r>
              <a:rPr sz="1400" dirty="0">
                <a:solidFill>
                  <a:srgbClr val="595959"/>
                </a:solidFill>
                <a:latin typeface="Arial"/>
                <a:cs typeface="Arial"/>
              </a:rPr>
              <a:t>screen</a:t>
            </a:r>
            <a:endParaRPr sz="1400">
              <a:latin typeface="Arial"/>
              <a:cs typeface="Arial"/>
            </a:endParaRPr>
          </a:p>
          <a:p>
            <a:pPr marL="469900" marR="55244" indent="-336550">
              <a:lnSpc>
                <a:spcPct val="116100"/>
              </a:lnSpc>
              <a:buChar char="●"/>
              <a:tabLst>
                <a:tab pos="469265" algn="l"/>
                <a:tab pos="469900" algn="l"/>
              </a:tabLst>
            </a:pPr>
            <a:r>
              <a:rPr sz="1400" dirty="0">
                <a:solidFill>
                  <a:srgbClr val="595959"/>
                </a:solidFill>
                <a:latin typeface="Arial"/>
                <a:cs typeface="Arial"/>
              </a:rPr>
              <a:t>Maximize sampling rate so </a:t>
            </a:r>
            <a:r>
              <a:rPr sz="1400" spc="-5" dirty="0">
                <a:solidFill>
                  <a:srgbClr val="595959"/>
                </a:solidFill>
                <a:latin typeface="Arial"/>
                <a:cs typeface="Arial"/>
              </a:rPr>
              <a:t>the user</a:t>
            </a:r>
            <a:r>
              <a:rPr sz="1400" spc="-114" dirty="0">
                <a:solidFill>
                  <a:srgbClr val="595959"/>
                </a:solidFill>
                <a:latin typeface="Arial"/>
                <a:cs typeface="Arial"/>
              </a:rPr>
              <a:t> </a:t>
            </a:r>
            <a:r>
              <a:rPr sz="1400" dirty="0">
                <a:solidFill>
                  <a:srgbClr val="595959"/>
                </a:solidFill>
                <a:latin typeface="Arial"/>
                <a:cs typeface="Arial"/>
              </a:rPr>
              <a:t>can  </a:t>
            </a:r>
            <a:r>
              <a:rPr sz="1400" spc="-5" dirty="0">
                <a:solidFill>
                  <a:srgbClr val="595959"/>
                </a:solidFill>
                <a:latin typeface="Arial"/>
                <a:cs typeface="Arial"/>
              </a:rPr>
              <a:t>better perceive game environment  </a:t>
            </a:r>
            <a:r>
              <a:rPr sz="1400" dirty="0">
                <a:solidFill>
                  <a:srgbClr val="595959"/>
                </a:solidFill>
                <a:latin typeface="Arial"/>
                <a:cs typeface="Arial"/>
              </a:rPr>
              <a:t>(smoothness)</a:t>
            </a:r>
            <a:endParaRPr sz="1400">
              <a:latin typeface="Arial"/>
              <a:cs typeface="Arial"/>
            </a:endParaRPr>
          </a:p>
          <a:p>
            <a:pPr>
              <a:lnSpc>
                <a:spcPct val="100000"/>
              </a:lnSpc>
              <a:spcBef>
                <a:spcPts val="20"/>
              </a:spcBef>
            </a:pPr>
            <a:endParaRPr sz="1350">
              <a:latin typeface="Times New Roman"/>
              <a:cs typeface="Times New Roman"/>
            </a:endParaRPr>
          </a:p>
          <a:p>
            <a:pPr marL="12700" marR="5080">
              <a:lnSpc>
                <a:spcPct val="116100"/>
              </a:lnSpc>
            </a:pPr>
            <a:r>
              <a:rPr sz="1400" spc="-5" dirty="0">
                <a:solidFill>
                  <a:srgbClr val="595959"/>
                </a:solidFill>
                <a:latin typeface="Arial"/>
                <a:cs typeface="Arial"/>
              </a:rPr>
              <a:t>Proper treatment of time is </a:t>
            </a:r>
            <a:r>
              <a:rPr sz="1400" dirty="0">
                <a:solidFill>
                  <a:srgbClr val="595959"/>
                </a:solidFill>
                <a:latin typeface="Arial"/>
                <a:cs typeface="Arial"/>
              </a:rPr>
              <a:t>critical </a:t>
            </a:r>
            <a:r>
              <a:rPr sz="1400" spc="-5" dirty="0">
                <a:solidFill>
                  <a:srgbClr val="595959"/>
                </a:solidFill>
                <a:latin typeface="Arial"/>
                <a:cs typeface="Arial"/>
              </a:rPr>
              <a:t>to achieving  these</a:t>
            </a:r>
            <a:r>
              <a:rPr sz="1400" spc="-10" dirty="0">
                <a:solidFill>
                  <a:srgbClr val="595959"/>
                </a:solidFill>
                <a:latin typeface="Arial"/>
                <a:cs typeface="Arial"/>
              </a:rPr>
              <a:t> </a:t>
            </a:r>
            <a:r>
              <a:rPr sz="1400" spc="-5" dirty="0">
                <a:solidFill>
                  <a:srgbClr val="595959"/>
                </a:solidFill>
                <a:latin typeface="Arial"/>
                <a:cs typeface="Arial"/>
              </a:rPr>
              <a:t>goals.</a:t>
            </a:r>
            <a:endParaRPr sz="14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026693" y="1184098"/>
            <a:ext cx="3689350" cy="2997200"/>
          </a:xfrm>
          <a:prstGeom prst="rect">
            <a:avLst/>
          </a:prstGeom>
        </p:spPr>
        <p:txBody>
          <a:bodyPr vert="horz" wrap="square" lIns="0" tIns="46990" rIns="0" bIns="0" rtlCol="0">
            <a:spAutoFit/>
          </a:bodyPr>
          <a:lstStyle/>
          <a:p>
            <a:pPr marL="348615" indent="-335915">
              <a:lnSpc>
                <a:spcPct val="100000"/>
              </a:lnSpc>
              <a:spcBef>
                <a:spcPts val="370"/>
              </a:spcBef>
              <a:buFont typeface="Arial"/>
              <a:buChar char="●"/>
              <a:tabLst>
                <a:tab pos="347980" algn="l"/>
                <a:tab pos="349250" algn="l"/>
              </a:tabLst>
            </a:pPr>
            <a:r>
              <a:rPr sz="1400" b="1" spc="-5" dirty="0">
                <a:solidFill>
                  <a:srgbClr val="595959"/>
                </a:solidFill>
                <a:latin typeface="Arial"/>
                <a:cs typeface="Arial"/>
              </a:rPr>
              <a:t>Frame rate </a:t>
            </a:r>
            <a:r>
              <a:rPr sz="1400" dirty="0">
                <a:solidFill>
                  <a:srgbClr val="595959"/>
                </a:solidFill>
                <a:latin typeface="Arial"/>
                <a:cs typeface="Arial"/>
              </a:rPr>
              <a:t>measured </a:t>
            </a:r>
            <a:r>
              <a:rPr sz="1400" spc="-5" dirty="0">
                <a:solidFill>
                  <a:srgbClr val="595959"/>
                </a:solidFill>
                <a:latin typeface="Arial"/>
                <a:cs typeface="Arial"/>
              </a:rPr>
              <a:t>in</a:t>
            </a:r>
            <a:r>
              <a:rPr sz="1400" spc="-15" dirty="0">
                <a:solidFill>
                  <a:srgbClr val="595959"/>
                </a:solidFill>
                <a:latin typeface="Arial"/>
                <a:cs typeface="Arial"/>
              </a:rPr>
              <a:t> </a:t>
            </a:r>
            <a:r>
              <a:rPr sz="1400" b="1" spc="-5" dirty="0">
                <a:solidFill>
                  <a:srgbClr val="595959"/>
                </a:solidFill>
                <a:latin typeface="Arial"/>
                <a:cs typeface="Arial"/>
              </a:rPr>
              <a:t>Hertz</a:t>
            </a:r>
            <a:r>
              <a:rPr sz="1400" spc="-5" dirty="0">
                <a:solidFill>
                  <a:srgbClr val="595959"/>
                </a:solidFill>
                <a:latin typeface="Arial"/>
                <a:cs typeface="Arial"/>
              </a:rPr>
              <a:t>.</a:t>
            </a:r>
            <a:endParaRPr sz="1400">
              <a:latin typeface="Arial"/>
              <a:cs typeface="Arial"/>
            </a:endParaRPr>
          </a:p>
          <a:p>
            <a:pPr marL="348615" indent="-335915">
              <a:lnSpc>
                <a:spcPct val="100000"/>
              </a:lnSpc>
              <a:spcBef>
                <a:spcPts val="270"/>
              </a:spcBef>
              <a:buFont typeface="Arial"/>
              <a:buChar char="●"/>
              <a:tabLst>
                <a:tab pos="347980" algn="l"/>
                <a:tab pos="349250" algn="l"/>
              </a:tabLst>
            </a:pPr>
            <a:r>
              <a:rPr sz="1400" b="1" spc="-5" dirty="0">
                <a:solidFill>
                  <a:srgbClr val="595959"/>
                </a:solidFill>
                <a:latin typeface="Arial"/>
                <a:cs typeface="Arial"/>
              </a:rPr>
              <a:t>Frame </a:t>
            </a:r>
            <a:r>
              <a:rPr sz="1400" b="1" dirty="0">
                <a:solidFill>
                  <a:srgbClr val="595959"/>
                </a:solidFill>
                <a:latin typeface="Arial"/>
                <a:cs typeface="Arial"/>
              </a:rPr>
              <a:t>time</a:t>
            </a:r>
            <a:r>
              <a:rPr sz="1400" dirty="0">
                <a:solidFill>
                  <a:srgbClr val="595959"/>
                </a:solidFill>
                <a:latin typeface="Arial"/>
                <a:cs typeface="Arial"/>
              </a:rPr>
              <a:t>, </a:t>
            </a:r>
            <a:r>
              <a:rPr sz="1400" spc="-5" dirty="0">
                <a:solidFill>
                  <a:srgbClr val="595959"/>
                </a:solidFill>
                <a:latin typeface="Arial"/>
                <a:cs typeface="Arial"/>
              </a:rPr>
              <a:t>or </a:t>
            </a:r>
            <a:r>
              <a:rPr sz="1400" b="1" spc="-5" dirty="0">
                <a:solidFill>
                  <a:srgbClr val="595959"/>
                </a:solidFill>
                <a:latin typeface="Arial"/>
                <a:cs typeface="Arial"/>
              </a:rPr>
              <a:t>delta </a:t>
            </a:r>
            <a:r>
              <a:rPr sz="1400" b="1" dirty="0">
                <a:solidFill>
                  <a:srgbClr val="595959"/>
                </a:solidFill>
                <a:latin typeface="Arial"/>
                <a:cs typeface="Arial"/>
              </a:rPr>
              <a:t>time</a:t>
            </a:r>
            <a:r>
              <a:rPr sz="1400" dirty="0">
                <a:solidFill>
                  <a:srgbClr val="595959"/>
                </a:solidFill>
                <a:latin typeface="Arial"/>
                <a:cs typeface="Arial"/>
              </a:rPr>
              <a:t>, measured</a:t>
            </a:r>
            <a:r>
              <a:rPr sz="1400" spc="-60" dirty="0">
                <a:solidFill>
                  <a:srgbClr val="595959"/>
                </a:solidFill>
                <a:latin typeface="Arial"/>
                <a:cs typeface="Arial"/>
              </a:rPr>
              <a:t> </a:t>
            </a:r>
            <a:r>
              <a:rPr sz="1400" spc="-5" dirty="0">
                <a:solidFill>
                  <a:srgbClr val="595959"/>
                </a:solidFill>
                <a:latin typeface="Arial"/>
                <a:cs typeface="Arial"/>
              </a:rPr>
              <a:t>in</a:t>
            </a:r>
            <a:endParaRPr sz="1400">
              <a:latin typeface="Arial"/>
              <a:cs typeface="Arial"/>
            </a:endParaRPr>
          </a:p>
          <a:p>
            <a:pPr marL="348615">
              <a:lnSpc>
                <a:spcPct val="100000"/>
              </a:lnSpc>
              <a:spcBef>
                <a:spcPts val="270"/>
              </a:spcBef>
            </a:pPr>
            <a:r>
              <a:rPr sz="1400" b="1" spc="-5" dirty="0">
                <a:solidFill>
                  <a:srgbClr val="595959"/>
                </a:solidFill>
                <a:latin typeface="Arial"/>
                <a:cs typeface="Arial"/>
              </a:rPr>
              <a:t>milliseconds</a:t>
            </a:r>
            <a:r>
              <a:rPr sz="1400" spc="-5" dirty="0">
                <a:solidFill>
                  <a:srgbClr val="595959"/>
                </a:solidFill>
                <a:latin typeface="Arial"/>
                <a:cs typeface="Arial"/>
              </a:rPr>
              <a:t>.</a:t>
            </a:r>
            <a:endParaRPr sz="1400">
              <a:latin typeface="Arial"/>
              <a:cs typeface="Arial"/>
            </a:endParaRPr>
          </a:p>
          <a:p>
            <a:pPr marL="348615" marR="270510" indent="-335915">
              <a:lnSpc>
                <a:spcPct val="116100"/>
              </a:lnSpc>
              <a:buFont typeface="Arial"/>
              <a:buChar char="●"/>
              <a:tabLst>
                <a:tab pos="347980" algn="l"/>
                <a:tab pos="349250" algn="l"/>
              </a:tabLst>
            </a:pPr>
            <a:r>
              <a:rPr sz="1400" b="1" spc="-5" dirty="0">
                <a:solidFill>
                  <a:srgbClr val="595959"/>
                </a:solidFill>
                <a:latin typeface="Arial"/>
                <a:cs typeface="Arial"/>
              </a:rPr>
              <a:t>V-sync</a:t>
            </a:r>
            <a:r>
              <a:rPr sz="1400" spc="-5" dirty="0">
                <a:solidFill>
                  <a:srgbClr val="595959"/>
                </a:solidFill>
                <a:latin typeface="Arial"/>
                <a:cs typeface="Arial"/>
              </a:rPr>
              <a:t>, or </a:t>
            </a:r>
            <a:r>
              <a:rPr sz="1400" dirty="0">
                <a:solidFill>
                  <a:srgbClr val="595959"/>
                </a:solidFill>
                <a:latin typeface="Arial"/>
                <a:cs typeface="Arial"/>
              </a:rPr>
              <a:t>synchronizing </a:t>
            </a:r>
            <a:r>
              <a:rPr sz="1400" spc="-5" dirty="0">
                <a:solidFill>
                  <a:srgbClr val="595959"/>
                </a:solidFill>
                <a:latin typeface="Arial"/>
                <a:cs typeface="Arial"/>
              </a:rPr>
              <a:t>game update  with </a:t>
            </a:r>
            <a:r>
              <a:rPr sz="1400" dirty="0">
                <a:solidFill>
                  <a:srgbClr val="595959"/>
                </a:solidFill>
                <a:latin typeface="Arial"/>
                <a:cs typeface="Arial"/>
              </a:rPr>
              <a:t>monitor refresh</a:t>
            </a:r>
            <a:r>
              <a:rPr sz="1400" spc="-25" dirty="0">
                <a:solidFill>
                  <a:srgbClr val="595959"/>
                </a:solidFill>
                <a:latin typeface="Arial"/>
                <a:cs typeface="Arial"/>
              </a:rPr>
              <a:t> </a:t>
            </a:r>
            <a:r>
              <a:rPr sz="1400" dirty="0">
                <a:solidFill>
                  <a:srgbClr val="595959"/>
                </a:solidFill>
                <a:latin typeface="Arial"/>
                <a:cs typeface="Arial"/>
              </a:rPr>
              <a:t>rate*.</a:t>
            </a:r>
            <a:endParaRPr sz="1400">
              <a:latin typeface="Arial"/>
              <a:cs typeface="Arial"/>
            </a:endParaRPr>
          </a:p>
          <a:p>
            <a:pPr marL="348615" marR="211454" indent="-335915">
              <a:lnSpc>
                <a:spcPct val="116100"/>
              </a:lnSpc>
              <a:buFont typeface="Arial"/>
              <a:buChar char="●"/>
              <a:tabLst>
                <a:tab pos="347980" algn="l"/>
                <a:tab pos="349250" algn="l"/>
              </a:tabLst>
            </a:pPr>
            <a:r>
              <a:rPr sz="1400" b="1" spc="-5" dirty="0">
                <a:solidFill>
                  <a:srgbClr val="595959"/>
                </a:solidFill>
                <a:latin typeface="Arial"/>
                <a:cs typeface="Arial"/>
              </a:rPr>
              <a:t>Frame rate spike</a:t>
            </a:r>
            <a:r>
              <a:rPr sz="1400" spc="-5" dirty="0">
                <a:solidFill>
                  <a:srgbClr val="595959"/>
                </a:solidFill>
                <a:latin typeface="Arial"/>
                <a:cs typeface="Arial"/>
              </a:rPr>
              <a:t>, or </a:t>
            </a:r>
            <a:r>
              <a:rPr sz="1400" dirty="0">
                <a:solidFill>
                  <a:srgbClr val="595959"/>
                </a:solidFill>
                <a:latin typeface="Arial"/>
                <a:cs typeface="Arial"/>
              </a:rPr>
              <a:t>sudden change </a:t>
            </a:r>
            <a:r>
              <a:rPr sz="1400" spc="-5" dirty="0">
                <a:solidFill>
                  <a:srgbClr val="595959"/>
                </a:solidFill>
                <a:latin typeface="Arial"/>
                <a:cs typeface="Arial"/>
              </a:rPr>
              <a:t>in  frame </a:t>
            </a:r>
            <a:r>
              <a:rPr sz="1400" dirty="0">
                <a:solidFill>
                  <a:srgbClr val="595959"/>
                </a:solidFill>
                <a:latin typeface="Arial"/>
                <a:cs typeface="Arial"/>
              </a:rPr>
              <a:t>rate resulting </a:t>
            </a:r>
            <a:r>
              <a:rPr sz="1400" spc="-5" dirty="0">
                <a:solidFill>
                  <a:srgbClr val="595959"/>
                </a:solidFill>
                <a:latin typeface="Arial"/>
                <a:cs typeface="Arial"/>
              </a:rPr>
              <a:t>in poor game</a:t>
            </a:r>
            <a:r>
              <a:rPr sz="1400" spc="-75" dirty="0">
                <a:solidFill>
                  <a:srgbClr val="595959"/>
                </a:solidFill>
                <a:latin typeface="Arial"/>
                <a:cs typeface="Arial"/>
              </a:rPr>
              <a:t> </a:t>
            </a:r>
            <a:r>
              <a:rPr sz="1400" spc="-5" dirty="0">
                <a:solidFill>
                  <a:srgbClr val="595959"/>
                </a:solidFill>
                <a:latin typeface="Arial"/>
                <a:cs typeface="Arial"/>
              </a:rPr>
              <a:t>feel.</a:t>
            </a:r>
            <a:endParaRPr sz="1400">
              <a:latin typeface="Arial"/>
              <a:cs typeface="Arial"/>
            </a:endParaRPr>
          </a:p>
          <a:p>
            <a:pPr marL="348615" marR="5080" indent="-335915">
              <a:lnSpc>
                <a:spcPct val="116100"/>
              </a:lnSpc>
              <a:buFont typeface="Arial"/>
              <a:buChar char="●"/>
              <a:tabLst>
                <a:tab pos="347980" algn="l"/>
                <a:tab pos="349250" algn="l"/>
              </a:tabLst>
            </a:pPr>
            <a:r>
              <a:rPr sz="1400" b="1" spc="-5" dirty="0">
                <a:solidFill>
                  <a:srgbClr val="595959"/>
                </a:solidFill>
                <a:latin typeface="Arial"/>
                <a:cs typeface="Arial"/>
              </a:rPr>
              <a:t>Clock wrap</a:t>
            </a:r>
            <a:r>
              <a:rPr sz="1400" spc="-5" dirty="0">
                <a:solidFill>
                  <a:srgbClr val="595959"/>
                </a:solidFill>
                <a:latin typeface="Arial"/>
                <a:cs typeface="Arial"/>
              </a:rPr>
              <a:t>, or the </a:t>
            </a:r>
            <a:r>
              <a:rPr sz="1400" dirty="0">
                <a:solidFill>
                  <a:srgbClr val="595959"/>
                </a:solidFill>
                <a:latin typeface="Arial"/>
                <a:cs typeface="Arial"/>
              </a:rPr>
              <a:t>current </a:t>
            </a:r>
            <a:r>
              <a:rPr sz="1400" spc="-5" dirty="0">
                <a:solidFill>
                  <a:srgbClr val="595959"/>
                </a:solidFill>
                <a:latin typeface="Arial"/>
                <a:cs typeface="Arial"/>
              </a:rPr>
              <a:t>time  overflowing its </a:t>
            </a:r>
            <a:r>
              <a:rPr sz="1400" dirty="0">
                <a:solidFill>
                  <a:srgbClr val="595959"/>
                </a:solidFill>
                <a:latin typeface="Arial"/>
                <a:cs typeface="Arial"/>
              </a:rPr>
              <a:t>storage </a:t>
            </a:r>
            <a:r>
              <a:rPr sz="1400" spc="-5" dirty="0">
                <a:solidFill>
                  <a:srgbClr val="595959"/>
                </a:solidFill>
                <a:latin typeface="Arial"/>
                <a:cs typeface="Arial"/>
              </a:rPr>
              <a:t>and </a:t>
            </a:r>
            <a:r>
              <a:rPr sz="1400" dirty="0">
                <a:solidFill>
                  <a:srgbClr val="595959"/>
                </a:solidFill>
                <a:latin typeface="Arial"/>
                <a:cs typeface="Arial"/>
              </a:rPr>
              <a:t>cycling </a:t>
            </a:r>
            <a:r>
              <a:rPr sz="1400" spc="-5" dirty="0">
                <a:solidFill>
                  <a:srgbClr val="595959"/>
                </a:solidFill>
                <a:latin typeface="Arial"/>
                <a:cs typeface="Arial"/>
              </a:rPr>
              <a:t>back to  </a:t>
            </a:r>
            <a:r>
              <a:rPr sz="1400" dirty="0">
                <a:solidFill>
                  <a:srgbClr val="595959"/>
                </a:solidFill>
                <a:latin typeface="Arial"/>
                <a:cs typeface="Arial"/>
              </a:rPr>
              <a:t>zero.</a:t>
            </a:r>
            <a:endParaRPr sz="1400">
              <a:latin typeface="Arial"/>
              <a:cs typeface="Arial"/>
            </a:endParaRPr>
          </a:p>
          <a:p>
            <a:pPr marL="348615" marR="302895" indent="-335915">
              <a:lnSpc>
                <a:spcPct val="116100"/>
              </a:lnSpc>
              <a:buFont typeface="Arial"/>
              <a:buChar char="●"/>
              <a:tabLst>
                <a:tab pos="347980" algn="l"/>
                <a:tab pos="349250" algn="l"/>
              </a:tabLst>
            </a:pPr>
            <a:r>
              <a:rPr sz="1400" b="1" spc="-5" dirty="0">
                <a:solidFill>
                  <a:srgbClr val="595959"/>
                </a:solidFill>
                <a:latin typeface="Arial"/>
                <a:cs typeface="Arial"/>
              </a:rPr>
              <a:t>Clock drift</a:t>
            </a:r>
            <a:r>
              <a:rPr sz="1400" spc="-5" dirty="0">
                <a:solidFill>
                  <a:srgbClr val="595959"/>
                </a:solidFill>
                <a:latin typeface="Arial"/>
                <a:cs typeface="Arial"/>
              </a:rPr>
              <a:t>, or </a:t>
            </a:r>
            <a:r>
              <a:rPr sz="1400" dirty="0">
                <a:solidFill>
                  <a:srgbClr val="595959"/>
                </a:solidFill>
                <a:latin typeface="Arial"/>
                <a:cs typeface="Arial"/>
              </a:rPr>
              <a:t>a </a:t>
            </a:r>
            <a:r>
              <a:rPr sz="1400" spc="-5" dirty="0">
                <a:solidFill>
                  <a:srgbClr val="595959"/>
                </a:solidFill>
                <a:latin typeface="Arial"/>
                <a:cs typeface="Arial"/>
              </a:rPr>
              <a:t>timer </a:t>
            </a:r>
            <a:r>
              <a:rPr sz="1400" dirty="0">
                <a:solidFill>
                  <a:srgbClr val="595959"/>
                </a:solidFill>
                <a:latin typeface="Arial"/>
                <a:cs typeface="Arial"/>
              </a:rPr>
              <a:t>slowly </a:t>
            </a:r>
            <a:r>
              <a:rPr sz="1400" spc="-5" dirty="0">
                <a:solidFill>
                  <a:srgbClr val="595959"/>
                </a:solidFill>
                <a:latin typeface="Arial"/>
                <a:cs typeface="Arial"/>
              </a:rPr>
              <a:t>diverging  from the true time </a:t>
            </a:r>
            <a:r>
              <a:rPr sz="1400" dirty="0">
                <a:solidFill>
                  <a:srgbClr val="595959"/>
                </a:solidFill>
                <a:latin typeface="Arial"/>
                <a:cs typeface="Arial"/>
              </a:rPr>
              <a:t>(faster </a:t>
            </a:r>
            <a:r>
              <a:rPr sz="1400" spc="-5" dirty="0">
                <a:solidFill>
                  <a:srgbClr val="595959"/>
                </a:solidFill>
                <a:latin typeface="Arial"/>
                <a:cs typeface="Arial"/>
              </a:rPr>
              <a:t>or</a:t>
            </a:r>
            <a:r>
              <a:rPr sz="1400" spc="-55" dirty="0">
                <a:solidFill>
                  <a:srgbClr val="595959"/>
                </a:solidFill>
                <a:latin typeface="Arial"/>
                <a:cs typeface="Arial"/>
              </a:rPr>
              <a:t> </a:t>
            </a:r>
            <a:r>
              <a:rPr sz="1400" dirty="0">
                <a:solidFill>
                  <a:srgbClr val="595959"/>
                </a:solidFill>
                <a:latin typeface="Arial"/>
                <a:cs typeface="Arial"/>
              </a:rPr>
              <a:t>slower).</a:t>
            </a:r>
            <a:endParaRPr sz="1400">
              <a:latin typeface="Arial"/>
              <a:cs typeface="Arial"/>
            </a:endParaRPr>
          </a:p>
        </p:txBody>
      </p:sp>
      <p:sp>
        <p:nvSpPr>
          <p:cNvPr id="3" name="object 3"/>
          <p:cNvSpPr txBox="1">
            <a:spLocks noGrp="1"/>
          </p:cNvSpPr>
          <p:nvPr>
            <p:ph type="title"/>
          </p:nvPr>
        </p:nvSpPr>
        <p:spPr>
          <a:xfrm>
            <a:off x="384725" y="503825"/>
            <a:ext cx="814705" cy="452120"/>
          </a:xfrm>
          <a:prstGeom prst="rect">
            <a:avLst/>
          </a:prstGeom>
        </p:spPr>
        <p:txBody>
          <a:bodyPr vert="horz" wrap="square" lIns="0" tIns="12700" rIns="0" bIns="0" rtlCol="0">
            <a:spAutoFit/>
          </a:bodyPr>
          <a:lstStyle/>
          <a:p>
            <a:pPr marL="12700">
              <a:lnSpc>
                <a:spcPct val="100000"/>
              </a:lnSpc>
              <a:spcBef>
                <a:spcPts val="100"/>
              </a:spcBef>
            </a:pPr>
            <a:r>
              <a:rPr spc="-5" dirty="0"/>
              <a:t>Time</a:t>
            </a:r>
          </a:p>
        </p:txBody>
      </p:sp>
      <p:sp>
        <p:nvSpPr>
          <p:cNvPr id="4" name="object 4"/>
          <p:cNvSpPr txBox="1"/>
          <p:nvPr/>
        </p:nvSpPr>
        <p:spPr>
          <a:xfrm>
            <a:off x="505993" y="1184098"/>
            <a:ext cx="2414270" cy="151130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spc="-5" dirty="0">
                <a:solidFill>
                  <a:srgbClr val="595959"/>
                </a:solidFill>
                <a:latin typeface="Arial"/>
                <a:cs typeface="Arial"/>
              </a:rPr>
              <a:t>Importance and</a:t>
            </a:r>
            <a:r>
              <a:rPr sz="1400" spc="-85" dirty="0">
                <a:solidFill>
                  <a:srgbClr val="595959"/>
                </a:solidFill>
                <a:latin typeface="Arial"/>
                <a:cs typeface="Arial"/>
              </a:rPr>
              <a:t> </a:t>
            </a:r>
            <a:r>
              <a:rPr sz="1400" dirty="0">
                <a:solidFill>
                  <a:srgbClr val="595959"/>
                </a:solidFill>
                <a:latin typeface="Arial"/>
                <a:cs typeface="Arial"/>
              </a:rPr>
              <a:t>relevance</a:t>
            </a:r>
            <a:endParaRPr sz="1400">
              <a:latin typeface="Arial"/>
              <a:cs typeface="Arial"/>
            </a:endParaRPr>
          </a:p>
          <a:p>
            <a:pPr marL="348615" indent="-335915">
              <a:lnSpc>
                <a:spcPct val="100000"/>
              </a:lnSpc>
              <a:spcBef>
                <a:spcPts val="270"/>
              </a:spcBef>
              <a:buChar char="●"/>
              <a:tabLst>
                <a:tab pos="347980" algn="l"/>
                <a:tab pos="349250" algn="l"/>
              </a:tabLst>
            </a:pPr>
            <a:r>
              <a:rPr sz="1400" b="1" spc="-5" dirty="0">
                <a:solidFill>
                  <a:srgbClr val="595959"/>
                </a:solidFill>
                <a:latin typeface="Arial"/>
                <a:cs typeface="Arial"/>
              </a:rPr>
              <a:t>Common</a:t>
            </a:r>
            <a:r>
              <a:rPr sz="1400" b="1" spc="-15" dirty="0">
                <a:solidFill>
                  <a:srgbClr val="595959"/>
                </a:solidFill>
                <a:latin typeface="Arial"/>
                <a:cs typeface="Arial"/>
              </a:rPr>
              <a:t> </a:t>
            </a:r>
            <a:r>
              <a:rPr sz="1400" b="1" dirty="0">
                <a:solidFill>
                  <a:srgbClr val="595959"/>
                </a:solidFill>
                <a:latin typeface="Arial"/>
                <a:cs typeface="Arial"/>
              </a:rPr>
              <a:t>terms</a:t>
            </a:r>
            <a:endParaRPr sz="1400">
              <a:latin typeface="Arial"/>
              <a:cs typeface="Arial"/>
            </a:endParaRPr>
          </a:p>
          <a:p>
            <a:pPr marL="348615" indent="-335915">
              <a:lnSpc>
                <a:spcPct val="100000"/>
              </a:lnSpc>
              <a:spcBef>
                <a:spcPts val="270"/>
              </a:spcBef>
              <a:buChar char="●"/>
              <a:tabLst>
                <a:tab pos="347980" algn="l"/>
                <a:tab pos="349250" algn="l"/>
              </a:tabLst>
            </a:pPr>
            <a:r>
              <a:rPr sz="1400" dirty="0">
                <a:solidFill>
                  <a:srgbClr val="595959"/>
                </a:solidFill>
                <a:latin typeface="Arial"/>
                <a:cs typeface="Arial"/>
              </a:rPr>
              <a:t>Measuring</a:t>
            </a:r>
            <a:r>
              <a:rPr sz="1400" spc="-1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Time</a:t>
            </a:r>
            <a:r>
              <a:rPr sz="1400" spc="-15" dirty="0">
                <a:solidFill>
                  <a:srgbClr val="595959"/>
                </a:solidFill>
                <a:latin typeface="Arial"/>
                <a:cs typeface="Arial"/>
              </a:rPr>
              <a:t> </a:t>
            </a:r>
            <a:r>
              <a:rPr sz="1400" spc="-5" dirty="0">
                <a:solidFill>
                  <a:srgbClr val="595959"/>
                </a:solidFill>
                <a:latin typeface="Arial"/>
                <a:cs typeface="Arial"/>
              </a:rPr>
              <a:t>transformed</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Game </a:t>
            </a:r>
            <a:r>
              <a:rPr sz="1400" dirty="0">
                <a:solidFill>
                  <a:srgbClr val="595959"/>
                </a:solidFill>
                <a:latin typeface="Arial"/>
                <a:cs typeface="Arial"/>
              </a:rPr>
              <a:t>systems </a:t>
            </a:r>
            <a:r>
              <a:rPr sz="1400" spc="-5" dirty="0">
                <a:solidFill>
                  <a:srgbClr val="595959"/>
                </a:solidFill>
                <a:latin typeface="Arial"/>
                <a:cs typeface="Arial"/>
              </a:rPr>
              <a:t>using</a:t>
            </a:r>
            <a:r>
              <a:rPr sz="1400" spc="-8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Delta time</a:t>
            </a:r>
            <a:r>
              <a:rPr sz="1400" spc="-60" dirty="0">
                <a:solidFill>
                  <a:srgbClr val="595959"/>
                </a:solidFill>
                <a:latin typeface="Arial"/>
                <a:cs typeface="Arial"/>
              </a:rPr>
              <a:t> </a:t>
            </a:r>
            <a:r>
              <a:rPr sz="1400" dirty="0">
                <a:solidFill>
                  <a:srgbClr val="595959"/>
                </a:solidFill>
                <a:latin typeface="Arial"/>
                <a:cs typeface="Arial"/>
              </a:rPr>
              <a:t>considerations</a:t>
            </a:r>
            <a:endParaRPr sz="14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814705" cy="452120"/>
          </a:xfrm>
          <a:prstGeom prst="rect">
            <a:avLst/>
          </a:prstGeom>
        </p:spPr>
        <p:txBody>
          <a:bodyPr vert="horz" wrap="square" lIns="0" tIns="12700" rIns="0" bIns="0" rtlCol="0">
            <a:spAutoFit/>
          </a:bodyPr>
          <a:lstStyle/>
          <a:p>
            <a:pPr marL="12700">
              <a:lnSpc>
                <a:spcPct val="100000"/>
              </a:lnSpc>
              <a:spcBef>
                <a:spcPts val="100"/>
              </a:spcBef>
            </a:pPr>
            <a:r>
              <a:rPr spc="-5" dirty="0"/>
              <a:t>Time</a:t>
            </a:r>
          </a:p>
        </p:txBody>
      </p:sp>
      <p:sp>
        <p:nvSpPr>
          <p:cNvPr id="3" name="object 3"/>
          <p:cNvSpPr txBox="1"/>
          <p:nvPr/>
        </p:nvSpPr>
        <p:spPr>
          <a:xfrm>
            <a:off x="505993" y="1184098"/>
            <a:ext cx="2414270" cy="151130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spc="-5" dirty="0">
                <a:solidFill>
                  <a:srgbClr val="595959"/>
                </a:solidFill>
                <a:latin typeface="Arial"/>
                <a:cs typeface="Arial"/>
              </a:rPr>
              <a:t>Importance and</a:t>
            </a:r>
            <a:r>
              <a:rPr sz="1400" spc="-85" dirty="0">
                <a:solidFill>
                  <a:srgbClr val="595959"/>
                </a:solidFill>
                <a:latin typeface="Arial"/>
                <a:cs typeface="Arial"/>
              </a:rPr>
              <a:t> </a:t>
            </a:r>
            <a:r>
              <a:rPr sz="1400" dirty="0">
                <a:solidFill>
                  <a:srgbClr val="595959"/>
                </a:solidFill>
                <a:latin typeface="Arial"/>
                <a:cs typeface="Arial"/>
              </a:rPr>
              <a:t>relevance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Common</a:t>
            </a:r>
            <a:r>
              <a:rPr sz="1400" spc="-15" dirty="0">
                <a:solidFill>
                  <a:srgbClr val="595959"/>
                </a:solidFill>
                <a:latin typeface="Arial"/>
                <a:cs typeface="Arial"/>
              </a:rPr>
              <a:t> </a:t>
            </a:r>
            <a:r>
              <a:rPr sz="1400" spc="-5" dirty="0">
                <a:solidFill>
                  <a:srgbClr val="595959"/>
                </a:solidFill>
                <a:latin typeface="Arial"/>
                <a:cs typeface="Arial"/>
              </a:rPr>
              <a:t>terms</a:t>
            </a:r>
            <a:endParaRPr sz="1400">
              <a:latin typeface="Arial"/>
              <a:cs typeface="Arial"/>
            </a:endParaRPr>
          </a:p>
          <a:p>
            <a:pPr marL="348615" indent="-335915">
              <a:lnSpc>
                <a:spcPct val="100000"/>
              </a:lnSpc>
              <a:spcBef>
                <a:spcPts val="270"/>
              </a:spcBef>
              <a:buChar char="●"/>
              <a:tabLst>
                <a:tab pos="347980" algn="l"/>
                <a:tab pos="349250" algn="l"/>
              </a:tabLst>
            </a:pPr>
            <a:r>
              <a:rPr sz="1400" b="1" dirty="0">
                <a:solidFill>
                  <a:srgbClr val="595959"/>
                </a:solidFill>
                <a:latin typeface="Arial"/>
                <a:cs typeface="Arial"/>
              </a:rPr>
              <a:t>Measuring</a:t>
            </a:r>
            <a:r>
              <a:rPr sz="1400" b="1" spc="-15" dirty="0">
                <a:solidFill>
                  <a:srgbClr val="595959"/>
                </a:solidFill>
                <a:latin typeface="Arial"/>
                <a:cs typeface="Arial"/>
              </a:rPr>
              <a:t> </a:t>
            </a:r>
            <a:r>
              <a:rPr sz="1400" b="1"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Time</a:t>
            </a:r>
            <a:r>
              <a:rPr sz="1400" spc="-15" dirty="0">
                <a:solidFill>
                  <a:srgbClr val="595959"/>
                </a:solidFill>
                <a:latin typeface="Arial"/>
                <a:cs typeface="Arial"/>
              </a:rPr>
              <a:t> </a:t>
            </a:r>
            <a:r>
              <a:rPr sz="1400" spc="-5" dirty="0">
                <a:solidFill>
                  <a:srgbClr val="595959"/>
                </a:solidFill>
                <a:latin typeface="Arial"/>
                <a:cs typeface="Arial"/>
              </a:rPr>
              <a:t>transformed</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Game </a:t>
            </a:r>
            <a:r>
              <a:rPr sz="1400" dirty="0">
                <a:solidFill>
                  <a:srgbClr val="595959"/>
                </a:solidFill>
                <a:latin typeface="Arial"/>
                <a:cs typeface="Arial"/>
              </a:rPr>
              <a:t>systems </a:t>
            </a:r>
            <a:r>
              <a:rPr sz="1400" spc="-5" dirty="0">
                <a:solidFill>
                  <a:srgbClr val="595959"/>
                </a:solidFill>
                <a:latin typeface="Arial"/>
                <a:cs typeface="Arial"/>
              </a:rPr>
              <a:t>using</a:t>
            </a:r>
            <a:r>
              <a:rPr sz="1400" spc="-8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Delta time</a:t>
            </a:r>
            <a:r>
              <a:rPr sz="1400" spc="-60" dirty="0">
                <a:solidFill>
                  <a:srgbClr val="595959"/>
                </a:solidFill>
                <a:latin typeface="Arial"/>
                <a:cs typeface="Arial"/>
              </a:rPr>
              <a:t> </a:t>
            </a:r>
            <a:r>
              <a:rPr sz="1400" dirty="0">
                <a:solidFill>
                  <a:srgbClr val="595959"/>
                </a:solidFill>
                <a:latin typeface="Arial"/>
                <a:cs typeface="Arial"/>
              </a:rPr>
              <a:t>considerations</a:t>
            </a:r>
            <a:endParaRPr sz="1400">
              <a:latin typeface="Arial"/>
              <a:cs typeface="Arial"/>
            </a:endParaRPr>
          </a:p>
        </p:txBody>
      </p:sp>
      <p:sp>
        <p:nvSpPr>
          <p:cNvPr id="4" name="object 4"/>
          <p:cNvSpPr txBox="1"/>
          <p:nvPr/>
        </p:nvSpPr>
        <p:spPr>
          <a:xfrm>
            <a:off x="5026693" y="1218388"/>
            <a:ext cx="845185" cy="238760"/>
          </a:xfrm>
          <a:prstGeom prst="rect">
            <a:avLst/>
          </a:prstGeom>
        </p:spPr>
        <p:txBody>
          <a:bodyPr vert="horz" wrap="square" lIns="0" tIns="12700" rIns="0" bIns="0" rtlCol="0">
            <a:spAutoFit/>
          </a:bodyPr>
          <a:lstStyle/>
          <a:p>
            <a:pPr marL="348615" indent="-335915">
              <a:lnSpc>
                <a:spcPct val="100000"/>
              </a:lnSpc>
              <a:spcBef>
                <a:spcPts val="100"/>
              </a:spcBef>
              <a:buChar char="●"/>
              <a:tabLst>
                <a:tab pos="347980" algn="l"/>
                <a:tab pos="349250" algn="l"/>
              </a:tabLst>
            </a:pPr>
            <a:r>
              <a:rPr sz="1400" spc="-5" dirty="0">
                <a:solidFill>
                  <a:srgbClr val="595959"/>
                </a:solidFill>
                <a:latin typeface="Arial"/>
                <a:cs typeface="Arial"/>
              </a:rPr>
              <a:t>Often:</a:t>
            </a:r>
            <a:endParaRPr sz="1400">
              <a:latin typeface="Arial"/>
              <a:cs typeface="Arial"/>
            </a:endParaRPr>
          </a:p>
        </p:txBody>
      </p:sp>
      <p:sp>
        <p:nvSpPr>
          <p:cNvPr id="5" name="object 5"/>
          <p:cNvSpPr txBox="1"/>
          <p:nvPr/>
        </p:nvSpPr>
        <p:spPr>
          <a:xfrm>
            <a:off x="5026693" y="1440383"/>
            <a:ext cx="3636645" cy="2017395"/>
          </a:xfrm>
          <a:prstGeom prst="rect">
            <a:avLst/>
          </a:prstGeom>
        </p:spPr>
        <p:txBody>
          <a:bodyPr vert="horz" wrap="square" lIns="0" tIns="12700" rIns="0" bIns="0" rtlCol="0">
            <a:spAutoFit/>
          </a:bodyPr>
          <a:lstStyle/>
          <a:p>
            <a:pPr marL="805815" marR="5080" indent="-320675">
              <a:lnSpc>
                <a:spcPct val="114599"/>
              </a:lnSpc>
              <a:spcBef>
                <a:spcPts val="100"/>
              </a:spcBef>
              <a:buChar char="○"/>
              <a:tabLst>
                <a:tab pos="805180" algn="l"/>
                <a:tab pos="806450" algn="l"/>
              </a:tabLst>
            </a:pPr>
            <a:r>
              <a:rPr sz="1200" spc="-5" dirty="0">
                <a:solidFill>
                  <a:srgbClr val="595959"/>
                </a:solidFill>
                <a:latin typeface="Arial"/>
                <a:cs typeface="Arial"/>
              </a:rPr>
              <a:t>High </a:t>
            </a:r>
            <a:r>
              <a:rPr sz="1200" dirty="0">
                <a:solidFill>
                  <a:srgbClr val="595959"/>
                </a:solidFill>
                <a:latin typeface="Arial"/>
                <a:cs typeface="Arial"/>
              </a:rPr>
              <a:t>resolution </a:t>
            </a:r>
            <a:r>
              <a:rPr sz="1200" spc="-5" dirty="0">
                <a:solidFill>
                  <a:srgbClr val="595959"/>
                </a:solidFill>
                <a:latin typeface="Arial"/>
                <a:cs typeface="Arial"/>
              </a:rPr>
              <a:t>timer that ticks once per  CPU </a:t>
            </a:r>
            <a:r>
              <a:rPr sz="1200" dirty="0">
                <a:solidFill>
                  <a:srgbClr val="595959"/>
                </a:solidFill>
                <a:latin typeface="Arial"/>
                <a:cs typeface="Arial"/>
              </a:rPr>
              <a:t>cycle (e.g. 3 </a:t>
            </a:r>
            <a:r>
              <a:rPr sz="1200" spc="-5" dirty="0">
                <a:solidFill>
                  <a:srgbClr val="595959"/>
                </a:solidFill>
                <a:latin typeface="Arial"/>
                <a:cs typeface="Arial"/>
              </a:rPr>
              <a:t>billion times per</a:t>
            </a:r>
            <a:r>
              <a:rPr sz="1200" spc="-100" dirty="0">
                <a:solidFill>
                  <a:srgbClr val="595959"/>
                </a:solidFill>
                <a:latin typeface="Arial"/>
                <a:cs typeface="Arial"/>
              </a:rPr>
              <a:t> </a:t>
            </a:r>
            <a:r>
              <a:rPr sz="1200" dirty="0">
                <a:solidFill>
                  <a:srgbClr val="595959"/>
                </a:solidFill>
                <a:latin typeface="Arial"/>
                <a:cs typeface="Arial"/>
              </a:rPr>
              <a:t>second  </a:t>
            </a:r>
            <a:r>
              <a:rPr sz="1200" spc="-5" dirty="0">
                <a:solidFill>
                  <a:srgbClr val="595959"/>
                </a:solidFill>
                <a:latin typeface="Arial"/>
                <a:cs typeface="Arial"/>
              </a:rPr>
              <a:t>on </a:t>
            </a:r>
            <a:r>
              <a:rPr sz="1200" dirty="0">
                <a:solidFill>
                  <a:srgbClr val="595959"/>
                </a:solidFill>
                <a:latin typeface="Arial"/>
                <a:cs typeface="Arial"/>
              </a:rPr>
              <a:t>a </a:t>
            </a:r>
            <a:r>
              <a:rPr sz="1200" spc="-5" dirty="0">
                <a:solidFill>
                  <a:srgbClr val="595959"/>
                </a:solidFill>
                <a:latin typeface="Arial"/>
                <a:cs typeface="Arial"/>
              </a:rPr>
              <a:t>3Ghz</a:t>
            </a:r>
            <a:r>
              <a:rPr sz="1200" spc="-20" dirty="0">
                <a:solidFill>
                  <a:srgbClr val="595959"/>
                </a:solidFill>
                <a:latin typeface="Arial"/>
                <a:cs typeface="Arial"/>
              </a:rPr>
              <a:t> </a:t>
            </a:r>
            <a:r>
              <a:rPr sz="1200" spc="-5" dirty="0">
                <a:solidFill>
                  <a:srgbClr val="595959"/>
                </a:solidFill>
                <a:latin typeface="Arial"/>
                <a:cs typeface="Arial"/>
              </a:rPr>
              <a:t>CPU).</a:t>
            </a:r>
            <a:endParaRPr sz="1200">
              <a:latin typeface="Arial"/>
              <a:cs typeface="Arial"/>
            </a:endParaRPr>
          </a:p>
          <a:p>
            <a:pPr marL="805815" marR="56515" indent="-320675">
              <a:lnSpc>
                <a:spcPct val="114599"/>
              </a:lnSpc>
              <a:buChar char="○"/>
              <a:tabLst>
                <a:tab pos="805180" algn="l"/>
                <a:tab pos="806450" algn="l"/>
              </a:tabLst>
            </a:pPr>
            <a:r>
              <a:rPr sz="1200" spc="-5" dirty="0">
                <a:solidFill>
                  <a:srgbClr val="595959"/>
                </a:solidFill>
                <a:latin typeface="Arial"/>
                <a:cs typeface="Arial"/>
              </a:rPr>
              <a:t>Store absolute high </a:t>
            </a:r>
            <a:r>
              <a:rPr sz="1200" dirty="0">
                <a:solidFill>
                  <a:srgbClr val="595959"/>
                </a:solidFill>
                <a:latin typeface="Arial"/>
                <a:cs typeface="Arial"/>
              </a:rPr>
              <a:t>resolution </a:t>
            </a:r>
            <a:r>
              <a:rPr sz="1200" spc="-5" dirty="0">
                <a:solidFill>
                  <a:srgbClr val="595959"/>
                </a:solidFill>
                <a:latin typeface="Arial"/>
                <a:cs typeface="Arial"/>
              </a:rPr>
              <a:t>time 64-bit  integers.</a:t>
            </a:r>
            <a:endParaRPr sz="1200">
              <a:latin typeface="Arial"/>
              <a:cs typeface="Arial"/>
            </a:endParaRPr>
          </a:p>
          <a:p>
            <a:pPr marL="805815" indent="-320675">
              <a:lnSpc>
                <a:spcPct val="100000"/>
              </a:lnSpc>
              <a:spcBef>
                <a:spcPts val="209"/>
              </a:spcBef>
              <a:buChar char="○"/>
              <a:tabLst>
                <a:tab pos="805180" algn="l"/>
                <a:tab pos="806450" algn="l"/>
              </a:tabLst>
            </a:pPr>
            <a:r>
              <a:rPr sz="1200" spc="-5" dirty="0">
                <a:solidFill>
                  <a:srgbClr val="595959"/>
                </a:solidFill>
                <a:latin typeface="Arial"/>
                <a:cs typeface="Arial"/>
              </a:rPr>
              <a:t>Store </a:t>
            </a:r>
            <a:r>
              <a:rPr sz="1200" dirty="0">
                <a:solidFill>
                  <a:srgbClr val="595959"/>
                </a:solidFill>
                <a:latin typeface="Arial"/>
                <a:cs typeface="Arial"/>
              </a:rPr>
              <a:t>small </a:t>
            </a:r>
            <a:r>
              <a:rPr sz="1200" spc="-5" dirty="0">
                <a:solidFill>
                  <a:srgbClr val="595959"/>
                </a:solidFill>
                <a:latin typeface="Arial"/>
                <a:cs typeface="Arial"/>
              </a:rPr>
              <a:t>durations in 32-bit</a:t>
            </a:r>
            <a:r>
              <a:rPr sz="1200" spc="-40" dirty="0">
                <a:solidFill>
                  <a:srgbClr val="595959"/>
                </a:solidFill>
                <a:latin typeface="Arial"/>
                <a:cs typeface="Arial"/>
              </a:rPr>
              <a:t> </a:t>
            </a:r>
            <a:r>
              <a:rPr sz="1200" spc="-5" dirty="0">
                <a:solidFill>
                  <a:srgbClr val="595959"/>
                </a:solidFill>
                <a:latin typeface="Arial"/>
                <a:cs typeface="Arial"/>
              </a:rPr>
              <a:t>floats.</a:t>
            </a:r>
            <a:endParaRPr sz="1200">
              <a:latin typeface="Arial"/>
              <a:cs typeface="Arial"/>
            </a:endParaRPr>
          </a:p>
          <a:p>
            <a:pPr marL="348615" indent="-335915">
              <a:lnSpc>
                <a:spcPct val="100000"/>
              </a:lnSpc>
              <a:spcBef>
                <a:spcPts val="200"/>
              </a:spcBef>
              <a:buChar char="●"/>
              <a:tabLst>
                <a:tab pos="347980" algn="l"/>
                <a:tab pos="349250" algn="l"/>
              </a:tabLst>
            </a:pPr>
            <a:r>
              <a:rPr sz="1400" spc="-5" dirty="0">
                <a:solidFill>
                  <a:srgbClr val="595959"/>
                </a:solidFill>
                <a:latin typeface="Arial"/>
                <a:cs typeface="Arial"/>
              </a:rPr>
              <a:t>Be aware of precision</a:t>
            </a:r>
            <a:r>
              <a:rPr sz="1400" spc="-25" dirty="0">
                <a:solidFill>
                  <a:srgbClr val="595959"/>
                </a:solidFill>
                <a:latin typeface="Arial"/>
                <a:cs typeface="Arial"/>
              </a:rPr>
              <a:t> </a:t>
            </a:r>
            <a:r>
              <a:rPr sz="1400" spc="-5" dirty="0">
                <a:solidFill>
                  <a:srgbClr val="595959"/>
                </a:solidFill>
                <a:latin typeface="Arial"/>
                <a:cs typeface="Arial"/>
              </a:rPr>
              <a:t>limitations.</a:t>
            </a:r>
            <a:endParaRPr sz="1400">
              <a:latin typeface="Arial"/>
              <a:cs typeface="Arial"/>
            </a:endParaRPr>
          </a:p>
          <a:p>
            <a:pPr marL="348615" marR="289560" indent="-335915">
              <a:lnSpc>
                <a:spcPct val="116100"/>
              </a:lnSpc>
              <a:buChar char="●"/>
              <a:tabLst>
                <a:tab pos="347980" algn="l"/>
                <a:tab pos="349250" algn="l"/>
              </a:tabLst>
            </a:pPr>
            <a:r>
              <a:rPr sz="1400" spc="-5" dirty="0">
                <a:solidFill>
                  <a:srgbClr val="595959"/>
                </a:solidFill>
                <a:latin typeface="Arial"/>
                <a:cs typeface="Arial"/>
              </a:rPr>
              <a:t>Watch for drift between processors on  </a:t>
            </a:r>
            <a:r>
              <a:rPr sz="1400" dirty="0">
                <a:solidFill>
                  <a:srgbClr val="595959"/>
                </a:solidFill>
                <a:latin typeface="Arial"/>
                <a:cs typeface="Arial"/>
              </a:rPr>
              <a:t>multicore</a:t>
            </a:r>
            <a:r>
              <a:rPr sz="1400" spc="-10" dirty="0">
                <a:solidFill>
                  <a:srgbClr val="595959"/>
                </a:solidFill>
                <a:latin typeface="Arial"/>
                <a:cs typeface="Arial"/>
              </a:rPr>
              <a:t> </a:t>
            </a:r>
            <a:r>
              <a:rPr sz="1400" dirty="0">
                <a:solidFill>
                  <a:srgbClr val="595959"/>
                </a:solidFill>
                <a:latin typeface="Arial"/>
                <a:cs typeface="Arial"/>
              </a:rPr>
              <a:t>systems.</a:t>
            </a:r>
            <a:endParaRPr sz="14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814705" cy="452120"/>
          </a:xfrm>
          <a:prstGeom prst="rect">
            <a:avLst/>
          </a:prstGeom>
        </p:spPr>
        <p:txBody>
          <a:bodyPr vert="horz" wrap="square" lIns="0" tIns="12700" rIns="0" bIns="0" rtlCol="0">
            <a:spAutoFit/>
          </a:bodyPr>
          <a:lstStyle/>
          <a:p>
            <a:pPr marL="12700">
              <a:lnSpc>
                <a:spcPct val="100000"/>
              </a:lnSpc>
              <a:spcBef>
                <a:spcPts val="100"/>
              </a:spcBef>
            </a:pPr>
            <a:r>
              <a:rPr spc="-5" dirty="0"/>
              <a:t>Time</a:t>
            </a:r>
          </a:p>
        </p:txBody>
      </p:sp>
      <p:sp>
        <p:nvSpPr>
          <p:cNvPr id="3" name="object 3"/>
          <p:cNvSpPr txBox="1"/>
          <p:nvPr/>
        </p:nvSpPr>
        <p:spPr>
          <a:xfrm>
            <a:off x="505993" y="1184098"/>
            <a:ext cx="2414270" cy="151130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spc="-5" dirty="0">
                <a:solidFill>
                  <a:srgbClr val="595959"/>
                </a:solidFill>
                <a:latin typeface="Arial"/>
                <a:cs typeface="Arial"/>
              </a:rPr>
              <a:t>Importance and</a:t>
            </a:r>
            <a:r>
              <a:rPr sz="1400" spc="-85" dirty="0">
                <a:solidFill>
                  <a:srgbClr val="595959"/>
                </a:solidFill>
                <a:latin typeface="Arial"/>
                <a:cs typeface="Arial"/>
              </a:rPr>
              <a:t> </a:t>
            </a:r>
            <a:r>
              <a:rPr sz="1400" dirty="0">
                <a:solidFill>
                  <a:srgbClr val="595959"/>
                </a:solidFill>
                <a:latin typeface="Arial"/>
                <a:cs typeface="Arial"/>
              </a:rPr>
              <a:t>relevance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Common</a:t>
            </a:r>
            <a:r>
              <a:rPr sz="1400" spc="-100" dirty="0">
                <a:solidFill>
                  <a:srgbClr val="595959"/>
                </a:solidFill>
                <a:latin typeface="Arial"/>
                <a:cs typeface="Arial"/>
              </a:rPr>
              <a:t> </a:t>
            </a:r>
            <a:r>
              <a:rPr sz="1400" spc="-5" dirty="0">
                <a:solidFill>
                  <a:srgbClr val="595959"/>
                </a:solidFill>
                <a:latin typeface="Arial"/>
                <a:cs typeface="Arial"/>
              </a:rPr>
              <a:t>terms</a:t>
            </a:r>
            <a:endParaRPr sz="1400">
              <a:latin typeface="Arial"/>
              <a:cs typeface="Arial"/>
            </a:endParaRPr>
          </a:p>
          <a:p>
            <a:pPr marL="348615" indent="-335915">
              <a:lnSpc>
                <a:spcPct val="100000"/>
              </a:lnSpc>
              <a:spcBef>
                <a:spcPts val="270"/>
              </a:spcBef>
              <a:buChar char="●"/>
              <a:tabLst>
                <a:tab pos="347980" algn="l"/>
                <a:tab pos="349250" algn="l"/>
              </a:tabLst>
            </a:pPr>
            <a:r>
              <a:rPr sz="1400" dirty="0">
                <a:solidFill>
                  <a:srgbClr val="595959"/>
                </a:solidFill>
                <a:latin typeface="Arial"/>
                <a:cs typeface="Arial"/>
              </a:rPr>
              <a:t>Measuring</a:t>
            </a:r>
            <a:r>
              <a:rPr sz="1400" spc="-10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b="1" spc="-5" dirty="0">
                <a:solidFill>
                  <a:srgbClr val="595959"/>
                </a:solidFill>
                <a:latin typeface="Arial"/>
                <a:cs typeface="Arial"/>
              </a:rPr>
              <a:t>Time</a:t>
            </a:r>
            <a:r>
              <a:rPr sz="1400" b="1" spc="-15" dirty="0">
                <a:solidFill>
                  <a:srgbClr val="595959"/>
                </a:solidFill>
                <a:latin typeface="Arial"/>
                <a:cs typeface="Arial"/>
              </a:rPr>
              <a:t> </a:t>
            </a:r>
            <a:r>
              <a:rPr sz="1400" b="1" dirty="0">
                <a:solidFill>
                  <a:srgbClr val="595959"/>
                </a:solidFill>
                <a:latin typeface="Arial"/>
                <a:cs typeface="Arial"/>
              </a:rPr>
              <a:t>transformed</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Game </a:t>
            </a:r>
            <a:r>
              <a:rPr sz="1400" dirty="0">
                <a:solidFill>
                  <a:srgbClr val="595959"/>
                </a:solidFill>
                <a:latin typeface="Arial"/>
                <a:cs typeface="Arial"/>
              </a:rPr>
              <a:t>systems </a:t>
            </a:r>
            <a:r>
              <a:rPr sz="1400" spc="-5" dirty="0">
                <a:solidFill>
                  <a:srgbClr val="595959"/>
                </a:solidFill>
                <a:latin typeface="Arial"/>
                <a:cs typeface="Arial"/>
              </a:rPr>
              <a:t>using</a:t>
            </a:r>
            <a:r>
              <a:rPr sz="1400" spc="-8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Delta time</a:t>
            </a:r>
            <a:r>
              <a:rPr sz="1400" spc="-60" dirty="0">
                <a:solidFill>
                  <a:srgbClr val="595959"/>
                </a:solidFill>
                <a:latin typeface="Arial"/>
                <a:cs typeface="Arial"/>
              </a:rPr>
              <a:t> </a:t>
            </a:r>
            <a:r>
              <a:rPr sz="1400" dirty="0">
                <a:solidFill>
                  <a:srgbClr val="595959"/>
                </a:solidFill>
                <a:latin typeface="Arial"/>
                <a:cs typeface="Arial"/>
              </a:rPr>
              <a:t>considerations</a:t>
            </a:r>
            <a:endParaRPr sz="1400">
              <a:latin typeface="Arial"/>
              <a:cs typeface="Arial"/>
            </a:endParaRPr>
          </a:p>
        </p:txBody>
      </p:sp>
      <p:sp>
        <p:nvSpPr>
          <p:cNvPr id="4" name="object 4"/>
          <p:cNvSpPr txBox="1"/>
          <p:nvPr/>
        </p:nvSpPr>
        <p:spPr>
          <a:xfrm>
            <a:off x="4905425" y="1218388"/>
            <a:ext cx="3823335" cy="2372360"/>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595959"/>
                </a:solidFill>
                <a:latin typeface="Arial"/>
                <a:cs typeface="Arial"/>
              </a:rPr>
              <a:t>Hierarchy of</a:t>
            </a:r>
            <a:r>
              <a:rPr sz="1400" spc="-10" dirty="0">
                <a:solidFill>
                  <a:srgbClr val="595959"/>
                </a:solidFill>
                <a:latin typeface="Arial"/>
                <a:cs typeface="Arial"/>
              </a:rPr>
              <a:t> </a:t>
            </a:r>
            <a:r>
              <a:rPr sz="1400" spc="-5" dirty="0">
                <a:solidFill>
                  <a:srgbClr val="595959"/>
                </a:solidFill>
                <a:latin typeface="Arial"/>
                <a:cs typeface="Arial"/>
              </a:rPr>
              <a:t>timers:</a:t>
            </a:r>
            <a:endParaRPr sz="1400">
              <a:latin typeface="Arial"/>
              <a:cs typeface="Arial"/>
            </a:endParaRPr>
          </a:p>
          <a:p>
            <a:pPr>
              <a:lnSpc>
                <a:spcPct val="100000"/>
              </a:lnSpc>
              <a:spcBef>
                <a:spcPts val="5"/>
              </a:spcBef>
            </a:pPr>
            <a:endParaRPr sz="1600">
              <a:latin typeface="Times New Roman"/>
              <a:cs typeface="Times New Roman"/>
            </a:endParaRPr>
          </a:p>
          <a:p>
            <a:pPr marL="469900" indent="-336550">
              <a:lnSpc>
                <a:spcPct val="100000"/>
              </a:lnSpc>
              <a:buChar char="●"/>
              <a:tabLst>
                <a:tab pos="469265" algn="l"/>
                <a:tab pos="469900" algn="l"/>
              </a:tabLst>
            </a:pPr>
            <a:r>
              <a:rPr sz="1400" spc="-5" dirty="0">
                <a:solidFill>
                  <a:srgbClr val="595959"/>
                </a:solidFill>
                <a:latin typeface="Arial"/>
                <a:cs typeface="Arial"/>
              </a:rPr>
              <a:t>Wall </a:t>
            </a:r>
            <a:r>
              <a:rPr sz="1400" dirty="0">
                <a:solidFill>
                  <a:srgbClr val="595959"/>
                </a:solidFill>
                <a:latin typeface="Arial"/>
                <a:cs typeface="Arial"/>
              </a:rPr>
              <a:t>clock</a:t>
            </a:r>
            <a:r>
              <a:rPr sz="1400" spc="-10"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469900" indent="-336550">
              <a:lnSpc>
                <a:spcPct val="100000"/>
              </a:lnSpc>
              <a:spcBef>
                <a:spcPts val="270"/>
              </a:spcBef>
              <a:buChar char="●"/>
              <a:tabLst>
                <a:tab pos="469265" algn="l"/>
                <a:tab pos="469900" algn="l"/>
              </a:tabLst>
            </a:pPr>
            <a:r>
              <a:rPr sz="1400" spc="-5" dirty="0">
                <a:solidFill>
                  <a:srgbClr val="595959"/>
                </a:solidFill>
                <a:latin typeface="Arial"/>
                <a:cs typeface="Arial"/>
              </a:rPr>
              <a:t>Application</a:t>
            </a:r>
            <a:r>
              <a:rPr sz="1400" spc="-10"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469900" indent="-336550">
              <a:lnSpc>
                <a:spcPct val="100000"/>
              </a:lnSpc>
              <a:spcBef>
                <a:spcPts val="270"/>
              </a:spcBef>
              <a:buChar char="●"/>
              <a:tabLst>
                <a:tab pos="469265" algn="l"/>
                <a:tab pos="469900" algn="l"/>
              </a:tabLst>
            </a:pPr>
            <a:r>
              <a:rPr sz="1400" spc="-5" dirty="0">
                <a:solidFill>
                  <a:srgbClr val="595959"/>
                </a:solidFill>
                <a:latin typeface="Arial"/>
                <a:cs typeface="Arial"/>
              </a:rPr>
              <a:t>Gameplay</a:t>
            </a:r>
            <a:r>
              <a:rPr sz="1400" spc="-100"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469900" indent="-336550">
              <a:lnSpc>
                <a:spcPct val="100000"/>
              </a:lnSpc>
              <a:spcBef>
                <a:spcPts val="270"/>
              </a:spcBef>
              <a:buChar char="●"/>
              <a:tabLst>
                <a:tab pos="469265" algn="l"/>
                <a:tab pos="469900" algn="l"/>
              </a:tabLst>
            </a:pPr>
            <a:r>
              <a:rPr sz="1400" spc="-5" dirty="0">
                <a:solidFill>
                  <a:srgbClr val="595959"/>
                </a:solidFill>
                <a:latin typeface="Arial"/>
                <a:cs typeface="Arial"/>
              </a:rPr>
              <a:t>Animation</a:t>
            </a:r>
            <a:r>
              <a:rPr sz="1400" spc="-100"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a:lnSpc>
                <a:spcPct val="100000"/>
              </a:lnSpc>
              <a:spcBef>
                <a:spcPts val="20"/>
              </a:spcBef>
            </a:pPr>
            <a:endParaRPr sz="1350">
              <a:latin typeface="Times New Roman"/>
              <a:cs typeface="Times New Roman"/>
            </a:endParaRPr>
          </a:p>
          <a:p>
            <a:pPr marL="12700" marR="5080">
              <a:lnSpc>
                <a:spcPct val="116100"/>
              </a:lnSpc>
            </a:pPr>
            <a:r>
              <a:rPr sz="1400" spc="-5" dirty="0">
                <a:solidFill>
                  <a:srgbClr val="595959"/>
                </a:solidFill>
                <a:latin typeface="Arial"/>
                <a:cs typeface="Arial"/>
              </a:rPr>
              <a:t>Use bias and </a:t>
            </a:r>
            <a:r>
              <a:rPr sz="1400" dirty="0">
                <a:solidFill>
                  <a:srgbClr val="595959"/>
                </a:solidFill>
                <a:latin typeface="Arial"/>
                <a:cs typeface="Arial"/>
              </a:rPr>
              <a:t>scale </a:t>
            </a:r>
            <a:r>
              <a:rPr sz="1400" spc="-5" dirty="0">
                <a:solidFill>
                  <a:srgbClr val="595959"/>
                </a:solidFill>
                <a:latin typeface="Arial"/>
                <a:cs typeface="Arial"/>
              </a:rPr>
              <a:t>to transform between timers.  Some lower level timers </a:t>
            </a:r>
            <a:r>
              <a:rPr sz="1400" dirty="0">
                <a:solidFill>
                  <a:srgbClr val="595959"/>
                </a:solidFill>
                <a:latin typeface="Arial"/>
                <a:cs typeface="Arial"/>
              </a:rPr>
              <a:t>can </a:t>
            </a:r>
            <a:r>
              <a:rPr sz="1400" spc="-5" dirty="0">
                <a:solidFill>
                  <a:srgbClr val="595959"/>
                </a:solidFill>
                <a:latin typeface="Arial"/>
                <a:cs typeface="Arial"/>
              </a:rPr>
              <a:t>be artificially  </a:t>
            </a:r>
            <a:r>
              <a:rPr sz="1400" dirty="0">
                <a:solidFill>
                  <a:srgbClr val="595959"/>
                </a:solidFill>
                <a:latin typeface="Arial"/>
                <a:cs typeface="Arial"/>
              </a:rPr>
              <a:t>scaled, </a:t>
            </a:r>
            <a:r>
              <a:rPr sz="1400" spc="-5" dirty="0">
                <a:solidFill>
                  <a:srgbClr val="595959"/>
                </a:solidFill>
                <a:latin typeface="Arial"/>
                <a:cs typeface="Arial"/>
              </a:rPr>
              <a:t>paused, etc as needed by game</a:t>
            </a:r>
            <a:r>
              <a:rPr sz="1400" spc="-75" dirty="0">
                <a:solidFill>
                  <a:srgbClr val="595959"/>
                </a:solidFill>
                <a:latin typeface="Arial"/>
                <a:cs typeface="Arial"/>
              </a:rPr>
              <a:t> </a:t>
            </a:r>
            <a:r>
              <a:rPr sz="1400" spc="-5" dirty="0">
                <a:solidFill>
                  <a:srgbClr val="595959"/>
                </a:solidFill>
                <a:latin typeface="Arial"/>
                <a:cs typeface="Arial"/>
              </a:rPr>
              <a:t>design.</a:t>
            </a:r>
            <a:endParaRPr sz="14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814705" cy="452120"/>
          </a:xfrm>
          <a:prstGeom prst="rect">
            <a:avLst/>
          </a:prstGeom>
        </p:spPr>
        <p:txBody>
          <a:bodyPr vert="horz" wrap="square" lIns="0" tIns="12700" rIns="0" bIns="0" rtlCol="0">
            <a:spAutoFit/>
          </a:bodyPr>
          <a:lstStyle/>
          <a:p>
            <a:pPr marL="12700">
              <a:lnSpc>
                <a:spcPct val="100000"/>
              </a:lnSpc>
              <a:spcBef>
                <a:spcPts val="100"/>
              </a:spcBef>
            </a:pPr>
            <a:r>
              <a:rPr spc="-5" dirty="0"/>
              <a:t>Time</a:t>
            </a:r>
          </a:p>
        </p:txBody>
      </p:sp>
      <p:sp>
        <p:nvSpPr>
          <p:cNvPr id="3" name="object 3"/>
          <p:cNvSpPr txBox="1"/>
          <p:nvPr/>
        </p:nvSpPr>
        <p:spPr>
          <a:xfrm>
            <a:off x="505993" y="1184098"/>
            <a:ext cx="2552065" cy="151130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spc="-5" dirty="0">
                <a:solidFill>
                  <a:srgbClr val="595959"/>
                </a:solidFill>
                <a:latin typeface="Arial"/>
                <a:cs typeface="Arial"/>
              </a:rPr>
              <a:t>Importance and</a:t>
            </a:r>
            <a:r>
              <a:rPr sz="1400" spc="-40" dirty="0">
                <a:solidFill>
                  <a:srgbClr val="595959"/>
                </a:solidFill>
                <a:latin typeface="Arial"/>
                <a:cs typeface="Arial"/>
              </a:rPr>
              <a:t> </a:t>
            </a:r>
            <a:r>
              <a:rPr sz="1400" dirty="0">
                <a:solidFill>
                  <a:srgbClr val="595959"/>
                </a:solidFill>
                <a:latin typeface="Arial"/>
                <a:cs typeface="Arial"/>
              </a:rPr>
              <a:t>relevance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Common</a:t>
            </a:r>
            <a:r>
              <a:rPr sz="1400" spc="-100" dirty="0">
                <a:solidFill>
                  <a:srgbClr val="595959"/>
                </a:solidFill>
                <a:latin typeface="Arial"/>
                <a:cs typeface="Arial"/>
              </a:rPr>
              <a:t> </a:t>
            </a:r>
            <a:r>
              <a:rPr sz="1400" spc="-5" dirty="0">
                <a:solidFill>
                  <a:srgbClr val="595959"/>
                </a:solidFill>
                <a:latin typeface="Arial"/>
                <a:cs typeface="Arial"/>
              </a:rPr>
              <a:t>terms</a:t>
            </a:r>
            <a:endParaRPr sz="1400">
              <a:latin typeface="Arial"/>
              <a:cs typeface="Arial"/>
            </a:endParaRPr>
          </a:p>
          <a:p>
            <a:pPr marL="348615" indent="-335915">
              <a:lnSpc>
                <a:spcPct val="100000"/>
              </a:lnSpc>
              <a:spcBef>
                <a:spcPts val="270"/>
              </a:spcBef>
              <a:buChar char="●"/>
              <a:tabLst>
                <a:tab pos="347980" algn="l"/>
                <a:tab pos="349250" algn="l"/>
              </a:tabLst>
            </a:pPr>
            <a:r>
              <a:rPr sz="1400" dirty="0">
                <a:solidFill>
                  <a:srgbClr val="595959"/>
                </a:solidFill>
                <a:latin typeface="Arial"/>
                <a:cs typeface="Arial"/>
              </a:rPr>
              <a:t>Measuring</a:t>
            </a:r>
            <a:r>
              <a:rPr sz="1400" spc="-10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Time</a:t>
            </a:r>
            <a:r>
              <a:rPr sz="1400" spc="-15" dirty="0">
                <a:solidFill>
                  <a:srgbClr val="595959"/>
                </a:solidFill>
                <a:latin typeface="Arial"/>
                <a:cs typeface="Arial"/>
              </a:rPr>
              <a:t> </a:t>
            </a:r>
            <a:r>
              <a:rPr sz="1400" spc="-5" dirty="0">
                <a:solidFill>
                  <a:srgbClr val="595959"/>
                </a:solidFill>
                <a:latin typeface="Arial"/>
                <a:cs typeface="Arial"/>
              </a:rPr>
              <a:t>transformed</a:t>
            </a:r>
            <a:endParaRPr sz="1400">
              <a:latin typeface="Arial"/>
              <a:cs typeface="Arial"/>
            </a:endParaRPr>
          </a:p>
          <a:p>
            <a:pPr marL="348615" indent="-335915">
              <a:lnSpc>
                <a:spcPct val="100000"/>
              </a:lnSpc>
              <a:spcBef>
                <a:spcPts val="270"/>
              </a:spcBef>
              <a:buChar char="●"/>
              <a:tabLst>
                <a:tab pos="347980" algn="l"/>
                <a:tab pos="349250" algn="l"/>
              </a:tabLst>
            </a:pPr>
            <a:r>
              <a:rPr sz="1400" b="1" spc="-5" dirty="0">
                <a:solidFill>
                  <a:srgbClr val="595959"/>
                </a:solidFill>
                <a:latin typeface="Arial"/>
                <a:cs typeface="Arial"/>
              </a:rPr>
              <a:t>Game systems using</a:t>
            </a:r>
            <a:r>
              <a:rPr sz="1400" b="1" spc="-80" dirty="0">
                <a:solidFill>
                  <a:srgbClr val="595959"/>
                </a:solidFill>
                <a:latin typeface="Arial"/>
                <a:cs typeface="Arial"/>
              </a:rPr>
              <a:t> </a:t>
            </a:r>
            <a:r>
              <a:rPr sz="1400" b="1"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Delta time</a:t>
            </a:r>
            <a:r>
              <a:rPr sz="1400" spc="-35" dirty="0">
                <a:solidFill>
                  <a:srgbClr val="595959"/>
                </a:solidFill>
                <a:latin typeface="Arial"/>
                <a:cs typeface="Arial"/>
              </a:rPr>
              <a:t> </a:t>
            </a:r>
            <a:r>
              <a:rPr sz="1400" dirty="0">
                <a:solidFill>
                  <a:srgbClr val="595959"/>
                </a:solidFill>
                <a:latin typeface="Arial"/>
                <a:cs typeface="Arial"/>
              </a:rPr>
              <a:t>considerations</a:t>
            </a:r>
            <a:endParaRPr sz="1400">
              <a:latin typeface="Arial"/>
              <a:cs typeface="Arial"/>
            </a:endParaRPr>
          </a:p>
        </p:txBody>
      </p:sp>
      <p:sp>
        <p:nvSpPr>
          <p:cNvPr id="4" name="object 4"/>
          <p:cNvSpPr txBox="1">
            <a:spLocks noGrp="1"/>
          </p:cNvSpPr>
          <p:nvPr>
            <p:ph sz="half" idx="3"/>
          </p:nvPr>
        </p:nvSpPr>
        <p:spPr>
          <a:prstGeom prst="rect">
            <a:avLst/>
          </a:prstGeom>
        </p:spPr>
        <p:txBody>
          <a:bodyPr vert="horz" wrap="square" lIns="0" tIns="12700" rIns="0" bIns="0" rtlCol="0">
            <a:spAutoFit/>
          </a:bodyPr>
          <a:lstStyle/>
          <a:p>
            <a:pPr marL="12700">
              <a:lnSpc>
                <a:spcPct val="100000"/>
              </a:lnSpc>
              <a:spcBef>
                <a:spcPts val="100"/>
              </a:spcBef>
            </a:pPr>
            <a:r>
              <a:rPr spc="-5" dirty="0"/>
              <a:t>Don’t have to update all </a:t>
            </a:r>
            <a:r>
              <a:rPr dirty="0"/>
              <a:t>systems </a:t>
            </a:r>
            <a:r>
              <a:rPr spc="-5" dirty="0"/>
              <a:t>every</a:t>
            </a:r>
            <a:r>
              <a:rPr spc="-60" dirty="0"/>
              <a:t> </a:t>
            </a:r>
            <a:r>
              <a:rPr spc="-5" dirty="0"/>
              <a:t>frame:</a:t>
            </a:r>
          </a:p>
          <a:p>
            <a:pPr>
              <a:lnSpc>
                <a:spcPct val="100000"/>
              </a:lnSpc>
              <a:spcBef>
                <a:spcPts val="5"/>
              </a:spcBef>
            </a:pPr>
            <a:endParaRPr sz="1600">
              <a:latin typeface="Times New Roman"/>
              <a:cs typeface="Times New Roman"/>
            </a:endParaRPr>
          </a:p>
          <a:p>
            <a:pPr marL="469900" indent="-336550">
              <a:lnSpc>
                <a:spcPct val="100000"/>
              </a:lnSpc>
              <a:buChar char="●"/>
              <a:tabLst>
                <a:tab pos="469265" algn="l"/>
                <a:tab pos="469900" algn="l"/>
              </a:tabLst>
            </a:pPr>
            <a:r>
              <a:rPr spc="-5" dirty="0"/>
              <a:t>Graphics: once per</a:t>
            </a:r>
            <a:r>
              <a:rPr spc="-15" dirty="0"/>
              <a:t> </a:t>
            </a:r>
            <a:r>
              <a:rPr spc="-5" dirty="0"/>
              <a:t>frame</a:t>
            </a:r>
          </a:p>
          <a:p>
            <a:pPr marL="469900" indent="-336550">
              <a:lnSpc>
                <a:spcPct val="100000"/>
              </a:lnSpc>
              <a:spcBef>
                <a:spcPts val="270"/>
              </a:spcBef>
              <a:buChar char="●"/>
              <a:tabLst>
                <a:tab pos="469265" algn="l"/>
                <a:tab pos="469900" algn="l"/>
              </a:tabLst>
            </a:pPr>
            <a:r>
              <a:rPr spc="-5" dirty="0"/>
              <a:t>AI:</a:t>
            </a:r>
            <a:r>
              <a:rPr spc="-10" dirty="0"/>
              <a:t> </a:t>
            </a:r>
            <a:r>
              <a:rPr spc="-5" dirty="0"/>
              <a:t>5Hz?</a:t>
            </a:r>
          </a:p>
          <a:p>
            <a:pPr marL="469900" indent="-336550">
              <a:lnSpc>
                <a:spcPct val="100000"/>
              </a:lnSpc>
              <a:spcBef>
                <a:spcPts val="270"/>
              </a:spcBef>
              <a:buChar char="●"/>
              <a:tabLst>
                <a:tab pos="469265" algn="l"/>
                <a:tab pos="469900" algn="l"/>
              </a:tabLst>
            </a:pPr>
            <a:r>
              <a:rPr spc="-5" dirty="0"/>
              <a:t>Physics:</a:t>
            </a:r>
            <a:r>
              <a:rPr spc="-10" dirty="0"/>
              <a:t> </a:t>
            </a:r>
            <a:r>
              <a:rPr spc="-5" dirty="0"/>
              <a:t>120Hz?</a:t>
            </a:r>
          </a:p>
          <a:p>
            <a:pPr>
              <a:lnSpc>
                <a:spcPct val="100000"/>
              </a:lnSpc>
              <a:spcBef>
                <a:spcPts val="20"/>
              </a:spcBef>
            </a:pPr>
            <a:endParaRPr sz="1350">
              <a:latin typeface="Times New Roman"/>
              <a:cs typeface="Times New Roman"/>
            </a:endParaRPr>
          </a:p>
          <a:p>
            <a:pPr marL="12700" marR="5080">
              <a:lnSpc>
                <a:spcPct val="116100"/>
              </a:lnSpc>
            </a:pPr>
            <a:r>
              <a:rPr spc="-5" dirty="0"/>
              <a:t>For </a:t>
            </a:r>
            <a:r>
              <a:rPr dirty="0"/>
              <a:t>systems </a:t>
            </a:r>
            <a:r>
              <a:rPr spc="-5" dirty="0"/>
              <a:t>that update, need to </a:t>
            </a:r>
            <a:r>
              <a:rPr dirty="0"/>
              <a:t>know </a:t>
            </a:r>
            <a:r>
              <a:rPr spc="-5" dirty="0"/>
              <a:t>how  </a:t>
            </a:r>
            <a:r>
              <a:rPr dirty="0"/>
              <a:t>much </a:t>
            </a:r>
            <a:r>
              <a:rPr spc="-5" dirty="0"/>
              <a:t>time to </a:t>
            </a:r>
            <a:r>
              <a:rPr dirty="0"/>
              <a:t>simulate. </a:t>
            </a:r>
            <a:r>
              <a:rPr spc="-5" dirty="0"/>
              <a:t>Often just use delta time  </a:t>
            </a:r>
            <a:r>
              <a:rPr dirty="0"/>
              <a:t>since </a:t>
            </a:r>
            <a:r>
              <a:rPr spc="-5" dirty="0"/>
              <a:t>for last</a:t>
            </a:r>
            <a:r>
              <a:rPr spc="-20" dirty="0"/>
              <a:t> </a:t>
            </a:r>
            <a:r>
              <a:rPr spc="-5" dirty="0"/>
              <a:t>frame.</a:t>
            </a:r>
          </a:p>
          <a:p>
            <a:pPr>
              <a:lnSpc>
                <a:spcPct val="100000"/>
              </a:lnSpc>
              <a:spcBef>
                <a:spcPts val="5"/>
              </a:spcBef>
            </a:pPr>
            <a:endParaRPr sz="1600">
              <a:latin typeface="Times New Roman"/>
              <a:cs typeface="Times New Roman"/>
            </a:endParaRPr>
          </a:p>
          <a:p>
            <a:pPr marL="12700">
              <a:lnSpc>
                <a:spcPct val="100000"/>
              </a:lnSpc>
            </a:pPr>
            <a:r>
              <a:rPr spc="-5" dirty="0"/>
              <a:t>This isn’t without its</a:t>
            </a:r>
            <a:r>
              <a:rPr spc="-15" dirty="0"/>
              <a:t> </a:t>
            </a:r>
            <a:r>
              <a:rPr spc="-5" dirty="0"/>
              <a:t>issues...</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985825" y="1184098"/>
            <a:ext cx="3641725" cy="2006600"/>
          </a:xfrm>
          <a:prstGeom prst="rect">
            <a:avLst/>
          </a:prstGeom>
        </p:spPr>
        <p:txBody>
          <a:bodyPr vert="horz" wrap="square" lIns="0" tIns="12700" rIns="0" bIns="0" rtlCol="0">
            <a:spAutoFit/>
          </a:bodyPr>
          <a:lstStyle/>
          <a:p>
            <a:pPr marL="389255" marR="87630" indent="-376555">
              <a:lnSpc>
                <a:spcPct val="116100"/>
              </a:lnSpc>
              <a:spcBef>
                <a:spcPts val="100"/>
              </a:spcBef>
              <a:buAutoNum type="arabicPeriod"/>
              <a:tabLst>
                <a:tab pos="389255" algn="l"/>
                <a:tab pos="389890" algn="l"/>
              </a:tabLst>
            </a:pPr>
            <a:r>
              <a:rPr sz="1400" spc="-5" dirty="0">
                <a:solidFill>
                  <a:srgbClr val="595959"/>
                </a:solidFill>
                <a:latin typeface="Arial"/>
                <a:cs typeface="Arial"/>
              </a:rPr>
              <a:t>Last frame’s delta time is just </a:t>
            </a:r>
            <a:r>
              <a:rPr sz="1400" dirty="0">
                <a:solidFill>
                  <a:srgbClr val="595959"/>
                </a:solidFill>
                <a:latin typeface="Arial"/>
                <a:cs typeface="Arial"/>
              </a:rPr>
              <a:t>a </a:t>
            </a:r>
            <a:r>
              <a:rPr sz="1400" spc="-5" dirty="0">
                <a:solidFill>
                  <a:srgbClr val="595959"/>
                </a:solidFill>
                <a:latin typeface="Arial"/>
                <a:cs typeface="Arial"/>
              </a:rPr>
              <a:t>guess of  this frame’s actual delta</a:t>
            </a:r>
            <a:r>
              <a:rPr sz="1400" spc="-20"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89255" marR="252729" indent="-376555">
              <a:lnSpc>
                <a:spcPct val="116100"/>
              </a:lnSpc>
              <a:buAutoNum type="arabicPeriod"/>
              <a:tabLst>
                <a:tab pos="389255" algn="l"/>
                <a:tab pos="389890" algn="l"/>
              </a:tabLst>
            </a:pPr>
            <a:r>
              <a:rPr sz="1400" spc="-5" dirty="0">
                <a:solidFill>
                  <a:srgbClr val="595959"/>
                </a:solidFill>
                <a:latin typeface="Arial"/>
                <a:cs typeface="Arial"/>
              </a:rPr>
              <a:t>Systems that </a:t>
            </a:r>
            <a:r>
              <a:rPr sz="1400" dirty="0">
                <a:solidFill>
                  <a:srgbClr val="595959"/>
                </a:solidFill>
                <a:latin typeface="Arial"/>
                <a:cs typeface="Arial"/>
              </a:rPr>
              <a:t>require </a:t>
            </a:r>
            <a:r>
              <a:rPr sz="1400" spc="-5" dirty="0">
                <a:solidFill>
                  <a:srgbClr val="595959"/>
                </a:solidFill>
                <a:latin typeface="Arial"/>
                <a:cs typeface="Arial"/>
              </a:rPr>
              <a:t>high frequency  update </a:t>
            </a:r>
            <a:r>
              <a:rPr sz="1400" dirty="0">
                <a:solidFill>
                  <a:srgbClr val="595959"/>
                </a:solidFill>
                <a:latin typeface="Arial"/>
                <a:cs typeface="Arial"/>
              </a:rPr>
              <a:t>can </a:t>
            </a:r>
            <a:r>
              <a:rPr sz="1400" spc="-5" dirty="0">
                <a:solidFill>
                  <a:srgbClr val="595959"/>
                </a:solidFill>
                <a:latin typeface="Arial"/>
                <a:cs typeface="Arial"/>
              </a:rPr>
              <a:t>be difficult. The </a:t>
            </a:r>
            <a:r>
              <a:rPr sz="1400" dirty="0">
                <a:solidFill>
                  <a:srgbClr val="595959"/>
                </a:solidFill>
                <a:latin typeface="Arial"/>
                <a:cs typeface="Arial"/>
              </a:rPr>
              <a:t>slower </a:t>
            </a:r>
            <a:r>
              <a:rPr sz="1400" spc="-5" dirty="0">
                <a:solidFill>
                  <a:srgbClr val="595959"/>
                </a:solidFill>
                <a:latin typeface="Arial"/>
                <a:cs typeface="Arial"/>
              </a:rPr>
              <a:t>the  frame, the </a:t>
            </a:r>
            <a:r>
              <a:rPr sz="1400" dirty="0">
                <a:solidFill>
                  <a:srgbClr val="595959"/>
                </a:solidFill>
                <a:latin typeface="Arial"/>
                <a:cs typeface="Arial"/>
              </a:rPr>
              <a:t>more </a:t>
            </a:r>
            <a:r>
              <a:rPr sz="1400" spc="-5" dirty="0">
                <a:solidFill>
                  <a:srgbClr val="595959"/>
                </a:solidFill>
                <a:latin typeface="Arial"/>
                <a:cs typeface="Arial"/>
              </a:rPr>
              <a:t>updates they </a:t>
            </a:r>
            <a:r>
              <a:rPr sz="1400" dirty="0">
                <a:solidFill>
                  <a:srgbClr val="595959"/>
                </a:solidFill>
                <a:latin typeface="Arial"/>
                <a:cs typeface="Arial"/>
              </a:rPr>
              <a:t>require,  making </a:t>
            </a:r>
            <a:r>
              <a:rPr sz="1400" spc="-5" dirty="0">
                <a:solidFill>
                  <a:srgbClr val="595959"/>
                </a:solidFill>
                <a:latin typeface="Arial"/>
                <a:cs typeface="Arial"/>
              </a:rPr>
              <a:t>the frame </a:t>
            </a:r>
            <a:r>
              <a:rPr sz="1400" dirty="0">
                <a:solidFill>
                  <a:srgbClr val="595959"/>
                </a:solidFill>
                <a:latin typeface="Arial"/>
                <a:cs typeface="Arial"/>
              </a:rPr>
              <a:t>still</a:t>
            </a:r>
            <a:r>
              <a:rPr sz="1400" spc="-35" dirty="0">
                <a:solidFill>
                  <a:srgbClr val="595959"/>
                </a:solidFill>
                <a:latin typeface="Arial"/>
                <a:cs typeface="Arial"/>
              </a:rPr>
              <a:t> </a:t>
            </a:r>
            <a:r>
              <a:rPr sz="1400" dirty="0">
                <a:solidFill>
                  <a:srgbClr val="595959"/>
                </a:solidFill>
                <a:latin typeface="Arial"/>
                <a:cs typeface="Arial"/>
              </a:rPr>
              <a:t>slower…</a:t>
            </a:r>
            <a:endParaRPr sz="1400">
              <a:latin typeface="Arial"/>
              <a:cs typeface="Arial"/>
            </a:endParaRPr>
          </a:p>
          <a:p>
            <a:pPr marL="389255" marR="5080" indent="-376555">
              <a:lnSpc>
                <a:spcPct val="116100"/>
              </a:lnSpc>
              <a:buAutoNum type="arabicPeriod"/>
              <a:tabLst>
                <a:tab pos="389255" algn="l"/>
                <a:tab pos="389890" algn="l"/>
              </a:tabLst>
            </a:pPr>
            <a:r>
              <a:rPr sz="1400" dirty="0">
                <a:solidFill>
                  <a:srgbClr val="595959"/>
                </a:solidFill>
                <a:latin typeface="Arial"/>
                <a:cs typeface="Arial"/>
              </a:rPr>
              <a:t>Mobile </a:t>
            </a:r>
            <a:r>
              <a:rPr sz="1400" spc="-5" dirty="0">
                <a:solidFill>
                  <a:srgbClr val="595959"/>
                </a:solidFill>
                <a:latin typeface="Arial"/>
                <a:cs typeface="Arial"/>
              </a:rPr>
              <a:t>platforms have </a:t>
            </a:r>
            <a:r>
              <a:rPr sz="1400" dirty="0">
                <a:solidFill>
                  <a:srgbClr val="595959"/>
                </a:solidFill>
                <a:latin typeface="Arial"/>
                <a:cs typeface="Arial"/>
              </a:rPr>
              <a:t>a </a:t>
            </a:r>
            <a:r>
              <a:rPr sz="1400" spc="-5" dirty="0">
                <a:solidFill>
                  <a:srgbClr val="595959"/>
                </a:solidFill>
                <a:latin typeface="Arial"/>
                <a:cs typeface="Arial"/>
              </a:rPr>
              <a:t>battery. Running  at full </a:t>
            </a:r>
            <a:r>
              <a:rPr sz="1400" dirty="0">
                <a:solidFill>
                  <a:srgbClr val="595959"/>
                </a:solidFill>
                <a:latin typeface="Arial"/>
                <a:cs typeface="Arial"/>
              </a:rPr>
              <a:t>speed </a:t>
            </a:r>
            <a:r>
              <a:rPr sz="1400" spc="-5" dirty="0">
                <a:solidFill>
                  <a:srgbClr val="595959"/>
                </a:solidFill>
                <a:latin typeface="Arial"/>
                <a:cs typeface="Arial"/>
              </a:rPr>
              <a:t>burns battery</a:t>
            </a:r>
            <a:r>
              <a:rPr sz="1400" spc="-35" dirty="0">
                <a:solidFill>
                  <a:srgbClr val="595959"/>
                </a:solidFill>
                <a:latin typeface="Arial"/>
                <a:cs typeface="Arial"/>
              </a:rPr>
              <a:t> </a:t>
            </a:r>
            <a:r>
              <a:rPr sz="1400" spc="-5" dirty="0">
                <a:solidFill>
                  <a:srgbClr val="595959"/>
                </a:solidFill>
                <a:latin typeface="Arial"/>
                <a:cs typeface="Arial"/>
              </a:rPr>
              <a:t>faster.</a:t>
            </a:r>
            <a:endParaRPr sz="1400">
              <a:latin typeface="Arial"/>
              <a:cs typeface="Arial"/>
            </a:endParaRPr>
          </a:p>
        </p:txBody>
      </p:sp>
      <p:sp>
        <p:nvSpPr>
          <p:cNvPr id="3" name="object 3"/>
          <p:cNvSpPr txBox="1"/>
          <p:nvPr/>
        </p:nvSpPr>
        <p:spPr>
          <a:xfrm>
            <a:off x="4905425" y="3399613"/>
            <a:ext cx="786130" cy="238760"/>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595959"/>
                </a:solidFill>
                <a:latin typeface="Arial"/>
                <a:cs typeface="Arial"/>
              </a:rPr>
              <a:t>Consider:</a:t>
            </a:r>
            <a:endParaRPr sz="1400">
              <a:latin typeface="Arial"/>
              <a:cs typeface="Arial"/>
            </a:endParaRPr>
          </a:p>
        </p:txBody>
      </p:sp>
      <p:sp>
        <p:nvSpPr>
          <p:cNvPr id="4" name="object 4"/>
          <p:cNvSpPr txBox="1"/>
          <p:nvPr/>
        </p:nvSpPr>
        <p:spPr>
          <a:xfrm>
            <a:off x="5026693" y="3812997"/>
            <a:ext cx="3715385" cy="76835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spc="-5" dirty="0">
                <a:solidFill>
                  <a:srgbClr val="595959"/>
                </a:solidFill>
                <a:latin typeface="Arial"/>
                <a:cs typeface="Arial"/>
              </a:rPr>
              <a:t>Clamping delta time to acceptable</a:t>
            </a:r>
            <a:r>
              <a:rPr sz="1400" spc="-50" dirty="0">
                <a:solidFill>
                  <a:srgbClr val="595959"/>
                </a:solidFill>
                <a:latin typeface="Arial"/>
                <a:cs typeface="Arial"/>
              </a:rPr>
              <a:t> </a:t>
            </a:r>
            <a:r>
              <a:rPr sz="1400" dirty="0">
                <a:solidFill>
                  <a:srgbClr val="595959"/>
                </a:solidFill>
                <a:latin typeface="Arial"/>
                <a:cs typeface="Arial"/>
              </a:rPr>
              <a:t>range</a:t>
            </a:r>
            <a:endParaRPr sz="1400">
              <a:latin typeface="Arial"/>
              <a:cs typeface="Arial"/>
            </a:endParaRPr>
          </a:p>
          <a:p>
            <a:pPr marL="348615" marR="5080" indent="-335915">
              <a:lnSpc>
                <a:spcPct val="116100"/>
              </a:lnSpc>
              <a:buChar char="●"/>
              <a:tabLst>
                <a:tab pos="347980" algn="l"/>
                <a:tab pos="349250" algn="l"/>
              </a:tabLst>
            </a:pPr>
            <a:r>
              <a:rPr sz="1400" spc="-5" dirty="0">
                <a:solidFill>
                  <a:srgbClr val="595959"/>
                </a:solidFill>
                <a:latin typeface="Arial"/>
                <a:cs typeface="Arial"/>
              </a:rPr>
              <a:t>Using floating </a:t>
            </a:r>
            <a:r>
              <a:rPr sz="1400" dirty="0">
                <a:solidFill>
                  <a:srgbClr val="595959"/>
                </a:solidFill>
                <a:latin typeface="Arial"/>
                <a:cs typeface="Arial"/>
              </a:rPr>
              <a:t>mean </a:t>
            </a:r>
            <a:r>
              <a:rPr sz="1400" spc="-5" dirty="0">
                <a:solidFill>
                  <a:srgbClr val="595959"/>
                </a:solidFill>
                <a:latin typeface="Arial"/>
                <a:cs typeface="Arial"/>
              </a:rPr>
              <a:t>to estimate delta time,  or even fixed time</a:t>
            </a:r>
            <a:r>
              <a:rPr sz="1400" spc="-15" dirty="0">
                <a:solidFill>
                  <a:srgbClr val="595959"/>
                </a:solidFill>
                <a:latin typeface="Arial"/>
                <a:cs typeface="Arial"/>
              </a:rPr>
              <a:t> </a:t>
            </a:r>
            <a:r>
              <a:rPr sz="1400" dirty="0">
                <a:solidFill>
                  <a:srgbClr val="595959"/>
                </a:solidFill>
                <a:latin typeface="Arial"/>
                <a:cs typeface="Arial"/>
              </a:rPr>
              <a:t>step</a:t>
            </a:r>
            <a:endParaRPr sz="1400">
              <a:latin typeface="Arial"/>
              <a:cs typeface="Arial"/>
            </a:endParaRPr>
          </a:p>
        </p:txBody>
      </p:sp>
      <p:sp>
        <p:nvSpPr>
          <p:cNvPr id="5" name="object 5"/>
          <p:cNvSpPr txBox="1">
            <a:spLocks noGrp="1"/>
          </p:cNvSpPr>
          <p:nvPr>
            <p:ph type="title"/>
          </p:nvPr>
        </p:nvSpPr>
        <p:spPr>
          <a:xfrm>
            <a:off x="384725" y="503825"/>
            <a:ext cx="814705" cy="452120"/>
          </a:xfrm>
          <a:prstGeom prst="rect">
            <a:avLst/>
          </a:prstGeom>
        </p:spPr>
        <p:txBody>
          <a:bodyPr vert="horz" wrap="square" lIns="0" tIns="12700" rIns="0" bIns="0" rtlCol="0">
            <a:spAutoFit/>
          </a:bodyPr>
          <a:lstStyle/>
          <a:p>
            <a:pPr marL="12700">
              <a:lnSpc>
                <a:spcPct val="100000"/>
              </a:lnSpc>
              <a:spcBef>
                <a:spcPts val="100"/>
              </a:spcBef>
            </a:pPr>
            <a:r>
              <a:rPr spc="-5" dirty="0"/>
              <a:t>Time</a:t>
            </a:r>
          </a:p>
        </p:txBody>
      </p:sp>
      <p:sp>
        <p:nvSpPr>
          <p:cNvPr id="6" name="object 6"/>
          <p:cNvSpPr txBox="1"/>
          <p:nvPr/>
        </p:nvSpPr>
        <p:spPr>
          <a:xfrm>
            <a:off x="505993" y="1184098"/>
            <a:ext cx="2524760" cy="1511300"/>
          </a:xfrm>
          <a:prstGeom prst="rect">
            <a:avLst/>
          </a:prstGeom>
        </p:spPr>
        <p:txBody>
          <a:bodyPr vert="horz" wrap="square" lIns="0" tIns="46990" rIns="0" bIns="0" rtlCol="0">
            <a:spAutoFit/>
          </a:bodyPr>
          <a:lstStyle/>
          <a:p>
            <a:pPr marL="348615" indent="-335915">
              <a:lnSpc>
                <a:spcPct val="100000"/>
              </a:lnSpc>
              <a:spcBef>
                <a:spcPts val="370"/>
              </a:spcBef>
              <a:buChar char="●"/>
              <a:tabLst>
                <a:tab pos="347980" algn="l"/>
                <a:tab pos="349250" algn="l"/>
              </a:tabLst>
            </a:pPr>
            <a:r>
              <a:rPr sz="1400" spc="-5" dirty="0">
                <a:solidFill>
                  <a:srgbClr val="595959"/>
                </a:solidFill>
                <a:latin typeface="Arial"/>
                <a:cs typeface="Arial"/>
              </a:rPr>
              <a:t>Importance and</a:t>
            </a:r>
            <a:r>
              <a:rPr sz="1400" spc="-45" dirty="0">
                <a:solidFill>
                  <a:srgbClr val="595959"/>
                </a:solidFill>
                <a:latin typeface="Arial"/>
                <a:cs typeface="Arial"/>
              </a:rPr>
              <a:t> </a:t>
            </a:r>
            <a:r>
              <a:rPr sz="1400" dirty="0">
                <a:solidFill>
                  <a:srgbClr val="595959"/>
                </a:solidFill>
                <a:latin typeface="Arial"/>
                <a:cs typeface="Arial"/>
              </a:rPr>
              <a:t>relevance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Common</a:t>
            </a:r>
            <a:r>
              <a:rPr sz="1400" spc="-100" dirty="0">
                <a:solidFill>
                  <a:srgbClr val="595959"/>
                </a:solidFill>
                <a:latin typeface="Arial"/>
                <a:cs typeface="Arial"/>
              </a:rPr>
              <a:t> </a:t>
            </a:r>
            <a:r>
              <a:rPr sz="1400" spc="-5" dirty="0">
                <a:solidFill>
                  <a:srgbClr val="595959"/>
                </a:solidFill>
                <a:latin typeface="Arial"/>
                <a:cs typeface="Arial"/>
              </a:rPr>
              <a:t>terms</a:t>
            </a:r>
            <a:endParaRPr sz="1400">
              <a:latin typeface="Arial"/>
              <a:cs typeface="Arial"/>
            </a:endParaRPr>
          </a:p>
          <a:p>
            <a:pPr marL="348615" indent="-335915">
              <a:lnSpc>
                <a:spcPct val="100000"/>
              </a:lnSpc>
              <a:spcBef>
                <a:spcPts val="270"/>
              </a:spcBef>
              <a:buChar char="●"/>
              <a:tabLst>
                <a:tab pos="347980" algn="l"/>
                <a:tab pos="349250" algn="l"/>
              </a:tabLst>
            </a:pPr>
            <a:r>
              <a:rPr sz="1400" dirty="0">
                <a:solidFill>
                  <a:srgbClr val="595959"/>
                </a:solidFill>
                <a:latin typeface="Arial"/>
                <a:cs typeface="Arial"/>
              </a:rPr>
              <a:t>Measuring</a:t>
            </a:r>
            <a:r>
              <a:rPr sz="1400" spc="-105"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Time</a:t>
            </a:r>
            <a:r>
              <a:rPr sz="1400" spc="-15" dirty="0">
                <a:solidFill>
                  <a:srgbClr val="595959"/>
                </a:solidFill>
                <a:latin typeface="Arial"/>
                <a:cs typeface="Arial"/>
              </a:rPr>
              <a:t> </a:t>
            </a:r>
            <a:r>
              <a:rPr sz="1400" spc="-5" dirty="0">
                <a:solidFill>
                  <a:srgbClr val="595959"/>
                </a:solidFill>
                <a:latin typeface="Arial"/>
                <a:cs typeface="Arial"/>
              </a:rPr>
              <a:t>transformed</a:t>
            </a:r>
            <a:endParaRPr sz="1400">
              <a:latin typeface="Arial"/>
              <a:cs typeface="Arial"/>
            </a:endParaRPr>
          </a:p>
          <a:p>
            <a:pPr marL="348615" indent="-335915">
              <a:lnSpc>
                <a:spcPct val="100000"/>
              </a:lnSpc>
              <a:spcBef>
                <a:spcPts val="270"/>
              </a:spcBef>
              <a:buChar char="●"/>
              <a:tabLst>
                <a:tab pos="347980" algn="l"/>
                <a:tab pos="349250" algn="l"/>
              </a:tabLst>
            </a:pPr>
            <a:r>
              <a:rPr sz="1400" spc="-5" dirty="0">
                <a:solidFill>
                  <a:srgbClr val="595959"/>
                </a:solidFill>
                <a:latin typeface="Arial"/>
                <a:cs typeface="Arial"/>
              </a:rPr>
              <a:t>Game </a:t>
            </a:r>
            <a:r>
              <a:rPr sz="1400" dirty="0">
                <a:solidFill>
                  <a:srgbClr val="595959"/>
                </a:solidFill>
                <a:latin typeface="Arial"/>
                <a:cs typeface="Arial"/>
              </a:rPr>
              <a:t>systems </a:t>
            </a:r>
            <a:r>
              <a:rPr sz="1400" spc="-5" dirty="0">
                <a:solidFill>
                  <a:srgbClr val="595959"/>
                </a:solidFill>
                <a:latin typeface="Arial"/>
                <a:cs typeface="Arial"/>
              </a:rPr>
              <a:t>using</a:t>
            </a:r>
            <a:r>
              <a:rPr sz="1400" spc="-60" dirty="0">
                <a:solidFill>
                  <a:srgbClr val="595959"/>
                </a:solidFill>
                <a:latin typeface="Arial"/>
                <a:cs typeface="Arial"/>
              </a:rPr>
              <a:t> </a:t>
            </a:r>
            <a:r>
              <a:rPr sz="1400" spc="-5" dirty="0">
                <a:solidFill>
                  <a:srgbClr val="595959"/>
                </a:solidFill>
                <a:latin typeface="Arial"/>
                <a:cs typeface="Arial"/>
              </a:rPr>
              <a:t>time</a:t>
            </a:r>
            <a:endParaRPr sz="1400">
              <a:latin typeface="Arial"/>
              <a:cs typeface="Arial"/>
            </a:endParaRPr>
          </a:p>
          <a:p>
            <a:pPr marL="348615" indent="-335915">
              <a:lnSpc>
                <a:spcPct val="100000"/>
              </a:lnSpc>
              <a:spcBef>
                <a:spcPts val="270"/>
              </a:spcBef>
              <a:buChar char="●"/>
              <a:tabLst>
                <a:tab pos="347980" algn="l"/>
                <a:tab pos="349250" algn="l"/>
              </a:tabLst>
            </a:pPr>
            <a:r>
              <a:rPr sz="1400" b="1" spc="-5" dirty="0">
                <a:solidFill>
                  <a:srgbClr val="595959"/>
                </a:solidFill>
                <a:latin typeface="Arial"/>
                <a:cs typeface="Arial"/>
              </a:rPr>
              <a:t>Delta </a:t>
            </a:r>
            <a:r>
              <a:rPr sz="1400" b="1" dirty="0">
                <a:solidFill>
                  <a:srgbClr val="595959"/>
                </a:solidFill>
                <a:latin typeface="Arial"/>
                <a:cs typeface="Arial"/>
              </a:rPr>
              <a:t>time</a:t>
            </a:r>
            <a:r>
              <a:rPr sz="1400" b="1" spc="-85" dirty="0">
                <a:solidFill>
                  <a:srgbClr val="595959"/>
                </a:solidFill>
                <a:latin typeface="Arial"/>
                <a:cs typeface="Arial"/>
              </a:rPr>
              <a:t> </a:t>
            </a:r>
            <a:r>
              <a:rPr sz="1400" b="1" spc="-5" dirty="0">
                <a:solidFill>
                  <a:srgbClr val="595959"/>
                </a:solidFill>
                <a:latin typeface="Arial"/>
                <a:cs typeface="Arial"/>
              </a:rPr>
              <a:t>considerations</a:t>
            </a:r>
            <a:endParaRPr sz="14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092835" cy="452120"/>
          </a:xfrm>
          <a:prstGeom prst="rect">
            <a:avLst/>
          </a:prstGeom>
        </p:spPr>
        <p:txBody>
          <a:bodyPr vert="horz" wrap="square" lIns="0" tIns="12700" rIns="0" bIns="0" rtlCol="0">
            <a:spAutoFit/>
          </a:bodyPr>
          <a:lstStyle/>
          <a:p>
            <a:pPr marL="12700">
              <a:lnSpc>
                <a:spcPct val="100000"/>
              </a:lnSpc>
              <a:spcBef>
                <a:spcPts val="100"/>
              </a:spcBef>
            </a:pPr>
            <a:r>
              <a:rPr dirty="0"/>
              <a:t>Modes</a:t>
            </a:r>
          </a:p>
        </p:txBody>
      </p:sp>
      <p:sp>
        <p:nvSpPr>
          <p:cNvPr id="3" name="object 3"/>
          <p:cNvSpPr txBox="1"/>
          <p:nvPr/>
        </p:nvSpPr>
        <p:spPr>
          <a:xfrm>
            <a:off x="384725" y="1216355"/>
            <a:ext cx="6857365" cy="341439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95959"/>
                </a:solidFill>
                <a:latin typeface="Arial"/>
                <a:cs typeface="Arial"/>
              </a:rPr>
              <a:t>Games have </a:t>
            </a:r>
            <a:r>
              <a:rPr sz="1800" dirty="0">
                <a:solidFill>
                  <a:srgbClr val="595959"/>
                </a:solidFill>
                <a:latin typeface="Arial"/>
                <a:cs typeface="Arial"/>
              </a:rPr>
              <a:t>a </a:t>
            </a:r>
            <a:r>
              <a:rPr sz="1800" spc="-5" dirty="0">
                <a:solidFill>
                  <a:srgbClr val="595959"/>
                </a:solidFill>
                <a:latin typeface="Arial"/>
                <a:cs typeface="Arial"/>
              </a:rPr>
              <a:t>lot of </a:t>
            </a:r>
            <a:r>
              <a:rPr sz="1800" dirty="0">
                <a:solidFill>
                  <a:srgbClr val="595959"/>
                </a:solidFill>
                <a:latin typeface="Arial"/>
                <a:cs typeface="Arial"/>
              </a:rPr>
              <a:t>modes </a:t>
            </a:r>
            <a:r>
              <a:rPr sz="1800" spc="-5" dirty="0">
                <a:solidFill>
                  <a:srgbClr val="595959"/>
                </a:solidFill>
                <a:latin typeface="Arial"/>
                <a:cs typeface="Arial"/>
              </a:rPr>
              <a:t>of operation. Some introduced by</a:t>
            </a:r>
            <a:r>
              <a:rPr sz="1800" spc="-60" dirty="0">
                <a:solidFill>
                  <a:srgbClr val="595959"/>
                </a:solidFill>
                <a:latin typeface="Arial"/>
                <a:cs typeface="Arial"/>
              </a:rPr>
              <a:t> </a:t>
            </a:r>
            <a:r>
              <a:rPr sz="1800" spc="-5" dirty="0">
                <a:solidFill>
                  <a:srgbClr val="595959"/>
                </a:solidFill>
                <a:latin typeface="Arial"/>
                <a:cs typeface="Arial"/>
              </a:rPr>
              <a:t>us:</a:t>
            </a:r>
            <a:endParaRPr sz="1800">
              <a:latin typeface="Arial"/>
              <a:cs typeface="Arial"/>
            </a:endParaRPr>
          </a:p>
          <a:p>
            <a:pPr>
              <a:lnSpc>
                <a:spcPct val="100000"/>
              </a:lnSpc>
              <a:spcBef>
                <a:spcPts val="50"/>
              </a:spcBef>
            </a:pPr>
            <a:endParaRPr sz="1600">
              <a:latin typeface="Times New Roman"/>
              <a:cs typeface="Times New Roman"/>
            </a:endParaRPr>
          </a:p>
          <a:p>
            <a:pPr marL="469900" indent="-367030">
              <a:lnSpc>
                <a:spcPct val="100000"/>
              </a:lnSpc>
              <a:buChar char="●"/>
              <a:tabLst>
                <a:tab pos="469265" algn="l"/>
                <a:tab pos="469900" algn="l"/>
              </a:tabLst>
            </a:pPr>
            <a:r>
              <a:rPr sz="1800" spc="-5" dirty="0">
                <a:solidFill>
                  <a:srgbClr val="595959"/>
                </a:solidFill>
                <a:latin typeface="Arial"/>
                <a:cs typeface="Arial"/>
              </a:rPr>
              <a:t>Startup</a:t>
            </a:r>
            <a:r>
              <a:rPr sz="1800" spc="-15" dirty="0">
                <a:solidFill>
                  <a:srgbClr val="595959"/>
                </a:solidFill>
                <a:latin typeface="Arial"/>
                <a:cs typeface="Arial"/>
              </a:rPr>
              <a:t> </a:t>
            </a:r>
            <a:r>
              <a:rPr sz="1800" dirty="0">
                <a:solidFill>
                  <a:srgbClr val="595959"/>
                </a:solidFill>
                <a:latin typeface="Arial"/>
                <a:cs typeface="Arial"/>
              </a:rPr>
              <a:t>sequence</a:t>
            </a:r>
            <a:endParaRPr sz="1800">
              <a:latin typeface="Arial"/>
              <a:cs typeface="Arial"/>
            </a:endParaRPr>
          </a:p>
          <a:p>
            <a:pPr marL="469900" indent="-367030">
              <a:lnSpc>
                <a:spcPct val="100000"/>
              </a:lnSpc>
              <a:spcBef>
                <a:spcPts val="315"/>
              </a:spcBef>
              <a:buChar char="●"/>
              <a:tabLst>
                <a:tab pos="469265" algn="l"/>
                <a:tab pos="469900" algn="l"/>
              </a:tabLst>
            </a:pPr>
            <a:r>
              <a:rPr sz="1800" spc="-5" dirty="0">
                <a:solidFill>
                  <a:srgbClr val="595959"/>
                </a:solidFill>
                <a:latin typeface="Arial"/>
                <a:cs typeface="Arial"/>
              </a:rPr>
              <a:t>Frontend</a:t>
            </a:r>
            <a:r>
              <a:rPr sz="1800" spc="-100" dirty="0">
                <a:solidFill>
                  <a:srgbClr val="595959"/>
                </a:solidFill>
                <a:latin typeface="Arial"/>
                <a:cs typeface="Arial"/>
              </a:rPr>
              <a:t> </a:t>
            </a:r>
            <a:r>
              <a:rPr sz="1800" dirty="0">
                <a:solidFill>
                  <a:srgbClr val="595959"/>
                </a:solidFill>
                <a:latin typeface="Arial"/>
                <a:cs typeface="Arial"/>
              </a:rPr>
              <a:t>menu</a:t>
            </a:r>
            <a:endParaRPr sz="1800">
              <a:latin typeface="Arial"/>
              <a:cs typeface="Arial"/>
            </a:endParaRPr>
          </a:p>
          <a:p>
            <a:pPr marL="469900" indent="-367030">
              <a:lnSpc>
                <a:spcPct val="100000"/>
              </a:lnSpc>
              <a:spcBef>
                <a:spcPts val="315"/>
              </a:spcBef>
              <a:buChar char="●"/>
              <a:tabLst>
                <a:tab pos="469265" algn="l"/>
                <a:tab pos="469900" algn="l"/>
              </a:tabLst>
            </a:pPr>
            <a:r>
              <a:rPr sz="1800" spc="-5" dirty="0">
                <a:solidFill>
                  <a:srgbClr val="595959"/>
                </a:solidFill>
                <a:latin typeface="Arial"/>
                <a:cs typeface="Arial"/>
              </a:rPr>
              <a:t>Loading </a:t>
            </a:r>
            <a:r>
              <a:rPr sz="1800" dirty="0">
                <a:solidFill>
                  <a:srgbClr val="595959"/>
                </a:solidFill>
                <a:latin typeface="Arial"/>
                <a:cs typeface="Arial"/>
              </a:rPr>
              <a:t>a</a:t>
            </a:r>
            <a:r>
              <a:rPr sz="1800" spc="-100" dirty="0">
                <a:solidFill>
                  <a:srgbClr val="595959"/>
                </a:solidFill>
                <a:latin typeface="Arial"/>
                <a:cs typeface="Arial"/>
              </a:rPr>
              <a:t> </a:t>
            </a:r>
            <a:r>
              <a:rPr sz="1800" spc="-5" dirty="0">
                <a:solidFill>
                  <a:srgbClr val="595959"/>
                </a:solidFill>
                <a:latin typeface="Arial"/>
                <a:cs typeface="Arial"/>
              </a:rPr>
              <a:t>level</a:t>
            </a:r>
            <a:endParaRPr sz="1800">
              <a:latin typeface="Arial"/>
              <a:cs typeface="Arial"/>
            </a:endParaRPr>
          </a:p>
          <a:p>
            <a:pPr marL="469900" indent="-367030">
              <a:lnSpc>
                <a:spcPct val="100000"/>
              </a:lnSpc>
              <a:spcBef>
                <a:spcPts val="315"/>
              </a:spcBef>
              <a:buChar char="●"/>
              <a:tabLst>
                <a:tab pos="469265" algn="l"/>
                <a:tab pos="469900" algn="l"/>
              </a:tabLst>
            </a:pPr>
            <a:r>
              <a:rPr sz="1800" spc="-5" dirty="0">
                <a:solidFill>
                  <a:srgbClr val="595959"/>
                </a:solidFill>
                <a:latin typeface="Arial"/>
                <a:cs typeface="Arial"/>
              </a:rPr>
              <a:t>Playing</a:t>
            </a:r>
            <a:r>
              <a:rPr sz="1800" spc="-15" dirty="0">
                <a:solidFill>
                  <a:srgbClr val="595959"/>
                </a:solidFill>
                <a:latin typeface="Arial"/>
                <a:cs typeface="Arial"/>
              </a:rPr>
              <a:t> </a:t>
            </a:r>
            <a:r>
              <a:rPr sz="1800" spc="-5" dirty="0">
                <a:solidFill>
                  <a:srgbClr val="595959"/>
                </a:solidFill>
                <a:latin typeface="Arial"/>
                <a:cs typeface="Arial"/>
              </a:rPr>
              <a:t>level</a:t>
            </a:r>
            <a:endParaRPr sz="1800">
              <a:latin typeface="Arial"/>
              <a:cs typeface="Arial"/>
            </a:endParaRPr>
          </a:p>
          <a:p>
            <a:pPr marL="469900" indent="-367030">
              <a:lnSpc>
                <a:spcPct val="100000"/>
              </a:lnSpc>
              <a:spcBef>
                <a:spcPts val="315"/>
              </a:spcBef>
              <a:buChar char="●"/>
              <a:tabLst>
                <a:tab pos="469265" algn="l"/>
                <a:tab pos="469900" algn="l"/>
              </a:tabLst>
            </a:pPr>
            <a:r>
              <a:rPr sz="1800" spc="-5" dirty="0">
                <a:solidFill>
                  <a:srgbClr val="595959"/>
                </a:solidFill>
                <a:latin typeface="Arial"/>
                <a:cs typeface="Arial"/>
              </a:rPr>
              <a:t>At pause</a:t>
            </a:r>
            <a:r>
              <a:rPr sz="1800" spc="-15" dirty="0">
                <a:solidFill>
                  <a:srgbClr val="595959"/>
                </a:solidFill>
                <a:latin typeface="Arial"/>
                <a:cs typeface="Arial"/>
              </a:rPr>
              <a:t> </a:t>
            </a:r>
            <a:r>
              <a:rPr sz="1800" dirty="0">
                <a:solidFill>
                  <a:srgbClr val="595959"/>
                </a:solidFill>
                <a:latin typeface="Arial"/>
                <a:cs typeface="Arial"/>
              </a:rPr>
              <a:t>menu…</a:t>
            </a:r>
            <a:endParaRPr sz="1800">
              <a:latin typeface="Arial"/>
              <a:cs typeface="Arial"/>
            </a:endParaRPr>
          </a:p>
          <a:p>
            <a:pPr>
              <a:lnSpc>
                <a:spcPct val="100000"/>
              </a:lnSpc>
              <a:spcBef>
                <a:spcPts val="50"/>
              </a:spcBef>
              <a:buClr>
                <a:srgbClr val="595959"/>
              </a:buClr>
              <a:buFont typeface="Arial"/>
              <a:buChar char="●"/>
            </a:pPr>
            <a:endParaRPr sz="1600">
              <a:latin typeface="Times New Roman"/>
              <a:cs typeface="Times New Roman"/>
            </a:endParaRPr>
          </a:p>
          <a:p>
            <a:pPr marL="12700">
              <a:lnSpc>
                <a:spcPct val="100000"/>
              </a:lnSpc>
            </a:pPr>
            <a:r>
              <a:rPr sz="1800" spc="-5" dirty="0">
                <a:solidFill>
                  <a:srgbClr val="595959"/>
                </a:solidFill>
                <a:latin typeface="Arial"/>
                <a:cs typeface="Arial"/>
              </a:rPr>
              <a:t>Some forced upon us by operating</a:t>
            </a:r>
            <a:r>
              <a:rPr sz="1800" spc="-20" dirty="0">
                <a:solidFill>
                  <a:srgbClr val="595959"/>
                </a:solidFill>
                <a:latin typeface="Arial"/>
                <a:cs typeface="Arial"/>
              </a:rPr>
              <a:t> </a:t>
            </a:r>
            <a:r>
              <a:rPr sz="1800" dirty="0">
                <a:solidFill>
                  <a:srgbClr val="595959"/>
                </a:solidFill>
                <a:latin typeface="Arial"/>
                <a:cs typeface="Arial"/>
              </a:rPr>
              <a:t>system:</a:t>
            </a:r>
            <a:endParaRPr sz="1800">
              <a:latin typeface="Arial"/>
              <a:cs typeface="Arial"/>
            </a:endParaRPr>
          </a:p>
          <a:p>
            <a:pPr>
              <a:lnSpc>
                <a:spcPct val="100000"/>
              </a:lnSpc>
              <a:spcBef>
                <a:spcPts val="50"/>
              </a:spcBef>
            </a:pPr>
            <a:endParaRPr sz="1600">
              <a:latin typeface="Times New Roman"/>
              <a:cs typeface="Times New Roman"/>
            </a:endParaRPr>
          </a:p>
          <a:p>
            <a:pPr marL="469900" indent="-367030">
              <a:lnSpc>
                <a:spcPct val="100000"/>
              </a:lnSpc>
              <a:buChar char="●"/>
              <a:tabLst>
                <a:tab pos="469265" algn="l"/>
                <a:tab pos="469900" algn="l"/>
              </a:tabLst>
            </a:pPr>
            <a:r>
              <a:rPr sz="1800" spc="-5" dirty="0">
                <a:solidFill>
                  <a:srgbClr val="595959"/>
                </a:solidFill>
                <a:latin typeface="Arial"/>
                <a:cs typeface="Arial"/>
              </a:rPr>
              <a:t>Running in foreground or</a:t>
            </a:r>
            <a:r>
              <a:rPr sz="1800" spc="-15" dirty="0">
                <a:solidFill>
                  <a:srgbClr val="595959"/>
                </a:solidFill>
                <a:latin typeface="Arial"/>
                <a:cs typeface="Arial"/>
              </a:rPr>
              <a:t> </a:t>
            </a:r>
            <a:r>
              <a:rPr sz="1800" spc="-5" dirty="0">
                <a:solidFill>
                  <a:srgbClr val="595959"/>
                </a:solidFill>
                <a:latin typeface="Arial"/>
                <a:cs typeface="Arial"/>
              </a:rPr>
              <a:t>background</a:t>
            </a:r>
            <a:endParaRPr sz="1800">
              <a:latin typeface="Arial"/>
              <a:cs typeface="Arial"/>
            </a:endParaRPr>
          </a:p>
          <a:p>
            <a:pPr marL="469900" indent="-367030">
              <a:lnSpc>
                <a:spcPct val="100000"/>
              </a:lnSpc>
              <a:spcBef>
                <a:spcPts val="315"/>
              </a:spcBef>
              <a:buChar char="●"/>
              <a:tabLst>
                <a:tab pos="469265" algn="l"/>
                <a:tab pos="469900" algn="l"/>
              </a:tabLst>
            </a:pPr>
            <a:r>
              <a:rPr sz="1800" spc="-5" dirty="0">
                <a:solidFill>
                  <a:srgbClr val="595959"/>
                </a:solidFill>
                <a:latin typeface="Arial"/>
                <a:cs typeface="Arial"/>
              </a:rPr>
              <a:t>Running with full </a:t>
            </a:r>
            <a:r>
              <a:rPr sz="1800" dirty="0">
                <a:solidFill>
                  <a:srgbClr val="595959"/>
                </a:solidFill>
                <a:latin typeface="Arial"/>
                <a:cs typeface="Arial"/>
              </a:rPr>
              <a:t>system resources, running </a:t>
            </a:r>
            <a:r>
              <a:rPr sz="1800" spc="-5" dirty="0">
                <a:solidFill>
                  <a:srgbClr val="595959"/>
                </a:solidFill>
                <a:latin typeface="Arial"/>
                <a:cs typeface="Arial"/>
              </a:rPr>
              <a:t>in </a:t>
            </a:r>
            <a:r>
              <a:rPr sz="1800" dirty="0">
                <a:solidFill>
                  <a:srgbClr val="595959"/>
                </a:solidFill>
                <a:latin typeface="Arial"/>
                <a:cs typeface="Arial"/>
              </a:rPr>
              <a:t>constrained</a:t>
            </a:r>
            <a:r>
              <a:rPr sz="1800" spc="-100" dirty="0">
                <a:solidFill>
                  <a:srgbClr val="595959"/>
                </a:solidFill>
                <a:latin typeface="Arial"/>
                <a:cs typeface="Arial"/>
              </a:rPr>
              <a:t> </a:t>
            </a:r>
            <a:r>
              <a:rPr sz="1800" spc="-5" dirty="0">
                <a:solidFill>
                  <a:srgbClr val="595959"/>
                </a:solidFill>
                <a:latin typeface="Arial"/>
                <a:cs typeface="Arial"/>
              </a:rPr>
              <a:t>way</a:t>
            </a:r>
            <a:endParaRPr sz="18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389380" cy="452120"/>
          </a:xfrm>
          <a:prstGeom prst="rect">
            <a:avLst/>
          </a:prstGeom>
        </p:spPr>
        <p:txBody>
          <a:bodyPr vert="horz" wrap="square" lIns="0" tIns="12700" rIns="0" bIns="0" rtlCol="0">
            <a:spAutoFit/>
          </a:bodyPr>
          <a:lstStyle/>
          <a:p>
            <a:pPr marL="12700">
              <a:lnSpc>
                <a:spcPct val="100000"/>
              </a:lnSpc>
              <a:spcBef>
                <a:spcPts val="100"/>
              </a:spcBef>
            </a:pPr>
            <a:r>
              <a:rPr dirty="0"/>
              <a:t>Modes</a:t>
            </a:r>
            <a:r>
              <a:rPr spc="-95" dirty="0"/>
              <a:t> </a:t>
            </a:r>
            <a:r>
              <a:rPr dirty="0"/>
              <a:t>2</a:t>
            </a:r>
          </a:p>
        </p:txBody>
      </p:sp>
      <p:sp>
        <p:nvSpPr>
          <p:cNvPr id="3" name="object 3"/>
          <p:cNvSpPr txBox="1"/>
          <p:nvPr/>
        </p:nvSpPr>
        <p:spPr>
          <a:xfrm>
            <a:off x="384725" y="1176350"/>
            <a:ext cx="7630795" cy="1168400"/>
          </a:xfrm>
          <a:prstGeom prst="rect">
            <a:avLst/>
          </a:prstGeom>
        </p:spPr>
        <p:txBody>
          <a:bodyPr vert="horz" wrap="square" lIns="0" tIns="52704" rIns="0" bIns="0" rtlCol="0">
            <a:spAutoFit/>
          </a:bodyPr>
          <a:lstStyle/>
          <a:p>
            <a:pPr marL="469900" indent="-367030">
              <a:lnSpc>
                <a:spcPct val="100000"/>
              </a:lnSpc>
              <a:spcBef>
                <a:spcPts val="414"/>
              </a:spcBef>
              <a:buChar char="●"/>
              <a:tabLst>
                <a:tab pos="469265" algn="l"/>
                <a:tab pos="469900" algn="l"/>
              </a:tabLst>
            </a:pPr>
            <a:r>
              <a:rPr sz="1800" spc="-5" dirty="0">
                <a:solidFill>
                  <a:srgbClr val="595959"/>
                </a:solidFill>
                <a:latin typeface="Arial"/>
                <a:cs typeface="Arial"/>
              </a:rPr>
              <a:t>Certain game </a:t>
            </a:r>
            <a:r>
              <a:rPr sz="1800" dirty="0">
                <a:solidFill>
                  <a:srgbClr val="595959"/>
                </a:solidFill>
                <a:latin typeface="Arial"/>
                <a:cs typeface="Arial"/>
              </a:rPr>
              <a:t>systems </a:t>
            </a:r>
            <a:r>
              <a:rPr sz="1800" spc="-5" dirty="0">
                <a:solidFill>
                  <a:srgbClr val="595959"/>
                </a:solidFill>
                <a:latin typeface="Arial"/>
                <a:cs typeface="Arial"/>
              </a:rPr>
              <a:t>only </a:t>
            </a:r>
            <a:r>
              <a:rPr sz="1800" dirty="0">
                <a:solidFill>
                  <a:srgbClr val="595959"/>
                </a:solidFill>
                <a:latin typeface="Arial"/>
                <a:cs typeface="Arial"/>
              </a:rPr>
              <a:t>run </a:t>
            </a:r>
            <a:r>
              <a:rPr sz="1800" spc="-5" dirty="0">
                <a:solidFill>
                  <a:srgbClr val="595959"/>
                </a:solidFill>
                <a:latin typeface="Arial"/>
                <a:cs typeface="Arial"/>
              </a:rPr>
              <a:t>in </a:t>
            </a:r>
            <a:r>
              <a:rPr sz="1800" dirty="0">
                <a:solidFill>
                  <a:srgbClr val="595959"/>
                </a:solidFill>
                <a:latin typeface="Arial"/>
                <a:cs typeface="Arial"/>
              </a:rPr>
              <a:t>certain</a:t>
            </a:r>
            <a:r>
              <a:rPr sz="1800" spc="-30" dirty="0">
                <a:solidFill>
                  <a:srgbClr val="595959"/>
                </a:solidFill>
                <a:latin typeface="Arial"/>
                <a:cs typeface="Arial"/>
              </a:rPr>
              <a:t> </a:t>
            </a:r>
            <a:r>
              <a:rPr sz="1800" dirty="0">
                <a:solidFill>
                  <a:srgbClr val="595959"/>
                </a:solidFill>
                <a:latin typeface="Arial"/>
                <a:cs typeface="Arial"/>
              </a:rPr>
              <a:t>modes</a:t>
            </a:r>
            <a:endParaRPr sz="1800">
              <a:latin typeface="Arial"/>
              <a:cs typeface="Arial"/>
            </a:endParaRPr>
          </a:p>
          <a:p>
            <a:pPr marL="469900" indent="-367030">
              <a:lnSpc>
                <a:spcPct val="100000"/>
              </a:lnSpc>
              <a:spcBef>
                <a:spcPts val="315"/>
              </a:spcBef>
              <a:buChar char="●"/>
              <a:tabLst>
                <a:tab pos="469265" algn="l"/>
                <a:tab pos="469900" algn="l"/>
              </a:tabLst>
            </a:pPr>
            <a:r>
              <a:rPr sz="1800" spc="-5" dirty="0">
                <a:solidFill>
                  <a:srgbClr val="595959"/>
                </a:solidFill>
                <a:latin typeface="Arial"/>
                <a:cs typeface="Arial"/>
              </a:rPr>
              <a:t>Structure of </a:t>
            </a:r>
            <a:r>
              <a:rPr sz="1800" dirty="0">
                <a:solidFill>
                  <a:srgbClr val="595959"/>
                </a:solidFill>
                <a:latin typeface="Arial"/>
                <a:cs typeface="Arial"/>
              </a:rPr>
              <a:t>main </a:t>
            </a:r>
            <a:r>
              <a:rPr sz="1800" spc="-5" dirty="0">
                <a:solidFill>
                  <a:srgbClr val="595959"/>
                </a:solidFill>
                <a:latin typeface="Arial"/>
                <a:cs typeface="Arial"/>
              </a:rPr>
              <a:t>loop </a:t>
            </a:r>
            <a:r>
              <a:rPr sz="1800" dirty="0">
                <a:solidFill>
                  <a:srgbClr val="595959"/>
                </a:solidFill>
                <a:latin typeface="Arial"/>
                <a:cs typeface="Arial"/>
              </a:rPr>
              <a:t>varies</a:t>
            </a:r>
            <a:r>
              <a:rPr sz="1800" spc="-25" dirty="0">
                <a:solidFill>
                  <a:srgbClr val="595959"/>
                </a:solidFill>
                <a:latin typeface="Arial"/>
                <a:cs typeface="Arial"/>
              </a:rPr>
              <a:t> </a:t>
            </a:r>
            <a:r>
              <a:rPr sz="1800" dirty="0">
                <a:solidFill>
                  <a:srgbClr val="595959"/>
                </a:solidFill>
                <a:latin typeface="Arial"/>
                <a:cs typeface="Arial"/>
              </a:rPr>
              <a:t>mode-to-mode</a:t>
            </a:r>
            <a:endParaRPr sz="1800">
              <a:latin typeface="Arial"/>
              <a:cs typeface="Arial"/>
            </a:endParaRPr>
          </a:p>
          <a:p>
            <a:pPr>
              <a:lnSpc>
                <a:spcPct val="100000"/>
              </a:lnSpc>
              <a:spcBef>
                <a:spcPts val="50"/>
              </a:spcBef>
            </a:pPr>
            <a:endParaRPr sz="1600">
              <a:latin typeface="Times New Roman"/>
              <a:cs typeface="Times New Roman"/>
            </a:endParaRPr>
          </a:p>
          <a:p>
            <a:pPr marL="12700">
              <a:lnSpc>
                <a:spcPct val="100000"/>
              </a:lnSpc>
            </a:pPr>
            <a:r>
              <a:rPr sz="1800" dirty="0">
                <a:solidFill>
                  <a:srgbClr val="595959"/>
                </a:solidFill>
                <a:latin typeface="Arial"/>
                <a:cs typeface="Arial"/>
              </a:rPr>
              <a:t>A </a:t>
            </a:r>
            <a:r>
              <a:rPr sz="1800" spc="-5" dirty="0">
                <a:solidFill>
                  <a:srgbClr val="595959"/>
                </a:solidFill>
                <a:latin typeface="Arial"/>
                <a:cs typeface="Arial"/>
              </a:rPr>
              <a:t>good </a:t>
            </a:r>
            <a:r>
              <a:rPr sz="1800" dirty="0">
                <a:solidFill>
                  <a:srgbClr val="595959"/>
                </a:solidFill>
                <a:latin typeface="Arial"/>
                <a:cs typeface="Arial"/>
              </a:rPr>
              <a:t>main </a:t>
            </a:r>
            <a:r>
              <a:rPr sz="1800" spc="-5" dirty="0">
                <a:solidFill>
                  <a:srgbClr val="595959"/>
                </a:solidFill>
                <a:latin typeface="Arial"/>
                <a:cs typeface="Arial"/>
              </a:rPr>
              <a:t>loop </a:t>
            </a:r>
            <a:r>
              <a:rPr sz="1800" dirty="0">
                <a:solidFill>
                  <a:srgbClr val="595959"/>
                </a:solidFill>
                <a:latin typeface="Arial"/>
                <a:cs typeface="Arial"/>
              </a:rPr>
              <a:t>cleanly </a:t>
            </a:r>
            <a:r>
              <a:rPr sz="1800" spc="-5" dirty="0">
                <a:solidFill>
                  <a:srgbClr val="595959"/>
                </a:solidFill>
                <a:latin typeface="Arial"/>
                <a:cs typeface="Arial"/>
              </a:rPr>
              <a:t>describes </a:t>
            </a:r>
            <a:r>
              <a:rPr sz="1800" dirty="0">
                <a:solidFill>
                  <a:srgbClr val="595959"/>
                </a:solidFill>
                <a:latin typeface="Arial"/>
                <a:cs typeface="Arial"/>
              </a:rPr>
              <a:t>mode specific </a:t>
            </a:r>
            <a:r>
              <a:rPr sz="1800" spc="-5" dirty="0">
                <a:solidFill>
                  <a:srgbClr val="595959"/>
                </a:solidFill>
                <a:latin typeface="Arial"/>
                <a:cs typeface="Arial"/>
              </a:rPr>
              <a:t>behavior and</a:t>
            </a:r>
            <a:r>
              <a:rPr sz="1800" spc="-110" dirty="0">
                <a:solidFill>
                  <a:srgbClr val="595959"/>
                </a:solidFill>
                <a:latin typeface="Arial"/>
                <a:cs typeface="Arial"/>
              </a:rPr>
              <a:t> </a:t>
            </a:r>
            <a:r>
              <a:rPr sz="1800" spc="-5" dirty="0">
                <a:solidFill>
                  <a:srgbClr val="595959"/>
                </a:solidFill>
                <a:latin typeface="Arial"/>
                <a:cs typeface="Arial"/>
              </a:rPr>
              <a:t>transitions.</a:t>
            </a:r>
            <a:endParaRPr sz="18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578860" cy="452120"/>
          </a:xfrm>
          <a:prstGeom prst="rect">
            <a:avLst/>
          </a:prstGeom>
        </p:spPr>
        <p:txBody>
          <a:bodyPr vert="horz" wrap="square" lIns="0" tIns="12700" rIns="0" bIns="0" rtlCol="0">
            <a:spAutoFit/>
          </a:bodyPr>
          <a:lstStyle/>
          <a:p>
            <a:pPr marL="12700">
              <a:lnSpc>
                <a:spcPct val="100000"/>
              </a:lnSpc>
              <a:spcBef>
                <a:spcPts val="100"/>
              </a:spcBef>
            </a:pPr>
            <a:r>
              <a:rPr dirty="0"/>
              <a:t>Modes: </a:t>
            </a:r>
            <a:r>
              <a:rPr spc="-5" dirty="0"/>
              <a:t>One</a:t>
            </a:r>
            <a:r>
              <a:rPr spc="-105" dirty="0"/>
              <a:t> </a:t>
            </a:r>
            <a:r>
              <a:rPr spc="-5" dirty="0"/>
              <a:t>Approach</a:t>
            </a:r>
          </a:p>
        </p:txBody>
      </p:sp>
      <p:sp>
        <p:nvSpPr>
          <p:cNvPr id="3" name="object 3"/>
          <p:cNvSpPr txBox="1"/>
          <p:nvPr/>
        </p:nvSpPr>
        <p:spPr>
          <a:xfrm>
            <a:off x="384725" y="1218388"/>
            <a:ext cx="3728720" cy="192468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595959"/>
                </a:solidFill>
                <a:latin typeface="Arial"/>
                <a:cs typeface="Arial"/>
              </a:rPr>
              <a:t>Stack based </a:t>
            </a:r>
            <a:r>
              <a:rPr sz="1400" dirty="0">
                <a:solidFill>
                  <a:srgbClr val="595959"/>
                </a:solidFill>
                <a:latin typeface="Arial"/>
                <a:cs typeface="Arial"/>
              </a:rPr>
              <a:t>state</a:t>
            </a:r>
            <a:r>
              <a:rPr sz="1400" spc="-15" dirty="0">
                <a:solidFill>
                  <a:srgbClr val="595959"/>
                </a:solidFill>
                <a:latin typeface="Arial"/>
                <a:cs typeface="Arial"/>
              </a:rPr>
              <a:t> </a:t>
            </a:r>
            <a:r>
              <a:rPr sz="1400" dirty="0">
                <a:solidFill>
                  <a:srgbClr val="595959"/>
                </a:solidFill>
                <a:latin typeface="Arial"/>
                <a:cs typeface="Arial"/>
              </a:rPr>
              <a:t>machine:</a:t>
            </a:r>
            <a:endParaRPr sz="1400">
              <a:latin typeface="Arial"/>
              <a:cs typeface="Arial"/>
            </a:endParaRPr>
          </a:p>
          <a:p>
            <a:pPr>
              <a:lnSpc>
                <a:spcPct val="100000"/>
              </a:lnSpc>
              <a:spcBef>
                <a:spcPts val="20"/>
              </a:spcBef>
            </a:pPr>
            <a:endParaRPr sz="1350">
              <a:latin typeface="Times New Roman"/>
              <a:cs typeface="Times New Roman"/>
            </a:endParaRPr>
          </a:p>
          <a:p>
            <a:pPr marL="469900" marR="91440" indent="-336550">
              <a:lnSpc>
                <a:spcPct val="116100"/>
              </a:lnSpc>
              <a:buChar char="●"/>
              <a:tabLst>
                <a:tab pos="469265" algn="l"/>
                <a:tab pos="469900" algn="l"/>
              </a:tabLst>
            </a:pPr>
            <a:r>
              <a:rPr sz="1400" spc="-5" dirty="0">
                <a:solidFill>
                  <a:srgbClr val="595959"/>
                </a:solidFill>
                <a:latin typeface="Arial"/>
                <a:cs typeface="Arial"/>
              </a:rPr>
              <a:t>Frame </a:t>
            </a:r>
            <a:r>
              <a:rPr sz="1400" dirty="0">
                <a:solidFill>
                  <a:srgbClr val="595959"/>
                </a:solidFill>
                <a:latin typeface="Arial"/>
                <a:cs typeface="Arial"/>
              </a:rPr>
              <a:t>computation, </a:t>
            </a:r>
            <a:r>
              <a:rPr sz="1400" spc="-5" dirty="0">
                <a:solidFill>
                  <a:srgbClr val="595959"/>
                </a:solidFill>
                <a:latin typeface="Courier New"/>
                <a:cs typeface="Courier New"/>
              </a:rPr>
              <a:t>sim_update()</a:t>
            </a:r>
            <a:r>
              <a:rPr sz="1400" spc="-745" dirty="0">
                <a:solidFill>
                  <a:srgbClr val="595959"/>
                </a:solidFill>
                <a:latin typeface="Courier New"/>
                <a:cs typeface="Courier New"/>
              </a:rPr>
              <a:t> </a:t>
            </a:r>
            <a:r>
              <a:rPr sz="1400" dirty="0">
                <a:solidFill>
                  <a:srgbClr val="595959"/>
                </a:solidFill>
                <a:latin typeface="Arial"/>
                <a:cs typeface="Arial"/>
              </a:rPr>
              <a:t>, </a:t>
            </a:r>
            <a:r>
              <a:rPr sz="1400" spc="-5" dirty="0">
                <a:solidFill>
                  <a:srgbClr val="595959"/>
                </a:solidFill>
                <a:latin typeface="Arial"/>
                <a:cs typeface="Arial"/>
              </a:rPr>
              <a:t>is  actually </a:t>
            </a:r>
            <a:r>
              <a:rPr sz="1400" dirty="0">
                <a:solidFill>
                  <a:srgbClr val="595959"/>
                </a:solidFill>
                <a:latin typeface="Arial"/>
                <a:cs typeface="Arial"/>
              </a:rPr>
              <a:t>a </a:t>
            </a:r>
            <a:r>
              <a:rPr sz="1400" spc="-5" dirty="0">
                <a:solidFill>
                  <a:srgbClr val="595959"/>
                </a:solidFill>
                <a:latin typeface="Arial"/>
                <a:cs typeface="Arial"/>
              </a:rPr>
              <a:t>FSM with</a:t>
            </a:r>
            <a:r>
              <a:rPr sz="1400" spc="-25" dirty="0">
                <a:solidFill>
                  <a:srgbClr val="595959"/>
                </a:solidFill>
                <a:latin typeface="Arial"/>
                <a:cs typeface="Arial"/>
              </a:rPr>
              <a:t> </a:t>
            </a:r>
            <a:r>
              <a:rPr sz="1400" dirty="0">
                <a:solidFill>
                  <a:srgbClr val="595959"/>
                </a:solidFill>
                <a:latin typeface="Arial"/>
                <a:cs typeface="Arial"/>
              </a:rPr>
              <a:t>stack</a:t>
            </a:r>
            <a:endParaRPr sz="1400">
              <a:latin typeface="Arial"/>
              <a:cs typeface="Arial"/>
            </a:endParaRPr>
          </a:p>
          <a:p>
            <a:pPr marL="469900" marR="309245" indent="-336550">
              <a:lnSpc>
                <a:spcPct val="116100"/>
              </a:lnSpc>
              <a:buChar char="●"/>
              <a:tabLst>
                <a:tab pos="469265" algn="l"/>
                <a:tab pos="469900" algn="l"/>
              </a:tabLst>
            </a:pPr>
            <a:r>
              <a:rPr sz="1400" spc="-5" dirty="0">
                <a:solidFill>
                  <a:srgbClr val="595959"/>
                </a:solidFill>
                <a:latin typeface="Arial"/>
                <a:cs typeface="Arial"/>
              </a:rPr>
              <a:t>States </a:t>
            </a:r>
            <a:r>
              <a:rPr sz="1400" dirty="0">
                <a:solidFill>
                  <a:srgbClr val="595959"/>
                </a:solidFill>
                <a:latin typeface="Arial"/>
                <a:cs typeface="Arial"/>
              </a:rPr>
              <a:t>can </a:t>
            </a:r>
            <a:r>
              <a:rPr sz="1400" spc="-5" dirty="0">
                <a:solidFill>
                  <a:srgbClr val="595959"/>
                </a:solidFill>
                <a:latin typeface="Arial"/>
                <a:cs typeface="Arial"/>
              </a:rPr>
              <a:t>be activated </a:t>
            </a:r>
            <a:r>
              <a:rPr sz="1400" dirty="0">
                <a:solidFill>
                  <a:srgbClr val="595959"/>
                </a:solidFill>
                <a:latin typeface="Arial"/>
                <a:cs typeface="Arial"/>
              </a:rPr>
              <a:t>(pushed)</a:t>
            </a:r>
            <a:r>
              <a:rPr sz="1400" spc="-95" dirty="0">
                <a:solidFill>
                  <a:srgbClr val="595959"/>
                </a:solidFill>
                <a:latin typeface="Arial"/>
                <a:cs typeface="Arial"/>
              </a:rPr>
              <a:t> </a:t>
            </a:r>
            <a:r>
              <a:rPr sz="1400" spc="-5" dirty="0">
                <a:solidFill>
                  <a:srgbClr val="595959"/>
                </a:solidFill>
                <a:latin typeface="Arial"/>
                <a:cs typeface="Arial"/>
              </a:rPr>
              <a:t>and  deactivated</a:t>
            </a:r>
            <a:r>
              <a:rPr sz="1400" spc="-10" dirty="0">
                <a:solidFill>
                  <a:srgbClr val="595959"/>
                </a:solidFill>
                <a:latin typeface="Arial"/>
                <a:cs typeface="Arial"/>
              </a:rPr>
              <a:t> </a:t>
            </a:r>
            <a:r>
              <a:rPr sz="1400" dirty="0">
                <a:solidFill>
                  <a:srgbClr val="595959"/>
                </a:solidFill>
                <a:latin typeface="Arial"/>
                <a:cs typeface="Arial"/>
              </a:rPr>
              <a:t>(popped)</a:t>
            </a:r>
            <a:endParaRPr sz="1400">
              <a:latin typeface="Arial"/>
              <a:cs typeface="Arial"/>
            </a:endParaRPr>
          </a:p>
          <a:p>
            <a:pPr marL="469900" marR="5080" indent="-336550">
              <a:lnSpc>
                <a:spcPct val="116100"/>
              </a:lnSpc>
              <a:buChar char="●"/>
              <a:tabLst>
                <a:tab pos="469265" algn="l"/>
                <a:tab pos="469900" algn="l"/>
              </a:tabLst>
            </a:pPr>
            <a:r>
              <a:rPr sz="1400" spc="-5" dirty="0">
                <a:solidFill>
                  <a:srgbClr val="595959"/>
                </a:solidFill>
                <a:latin typeface="Arial"/>
                <a:cs typeface="Arial"/>
              </a:rPr>
              <a:t>State at the top of </a:t>
            </a:r>
            <a:r>
              <a:rPr sz="1400" dirty="0">
                <a:solidFill>
                  <a:srgbClr val="595959"/>
                </a:solidFill>
                <a:latin typeface="Arial"/>
                <a:cs typeface="Arial"/>
              </a:rPr>
              <a:t>stack </a:t>
            </a:r>
            <a:r>
              <a:rPr sz="1400" spc="-5" dirty="0">
                <a:solidFill>
                  <a:srgbClr val="595959"/>
                </a:solidFill>
                <a:latin typeface="Arial"/>
                <a:cs typeface="Arial"/>
              </a:rPr>
              <a:t>is executed each  frame</a:t>
            </a:r>
            <a:endParaRPr sz="1400">
              <a:latin typeface="Arial"/>
              <a:cs typeface="Arial"/>
            </a:endParaRPr>
          </a:p>
        </p:txBody>
      </p:sp>
      <p:sp>
        <p:nvSpPr>
          <p:cNvPr id="4" name="object 4"/>
          <p:cNvSpPr txBox="1"/>
          <p:nvPr/>
        </p:nvSpPr>
        <p:spPr>
          <a:xfrm>
            <a:off x="4905425" y="1219911"/>
            <a:ext cx="2005330" cy="707390"/>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0000FF"/>
                </a:solidFill>
                <a:latin typeface="Courier New"/>
                <a:cs typeface="Courier New"/>
              </a:rPr>
              <a:t>void</a:t>
            </a:r>
            <a:r>
              <a:rPr sz="1100" spc="60" dirty="0">
                <a:solidFill>
                  <a:srgbClr val="0000FF"/>
                </a:solidFill>
                <a:latin typeface="Courier New"/>
                <a:cs typeface="Courier New"/>
              </a:rPr>
              <a:t> </a:t>
            </a:r>
            <a:r>
              <a:rPr sz="1100" spc="-5" dirty="0">
                <a:solidFill>
                  <a:srgbClr val="595959"/>
                </a:solidFill>
                <a:latin typeface="Courier New"/>
                <a:cs typeface="Courier New"/>
              </a:rPr>
              <a:t>sim_update()</a:t>
            </a:r>
            <a:endParaRPr sz="1100">
              <a:latin typeface="Courier New"/>
              <a:cs typeface="Courier New"/>
            </a:endParaRPr>
          </a:p>
          <a:p>
            <a:pPr marL="12700">
              <a:lnSpc>
                <a:spcPct val="100000"/>
              </a:lnSpc>
              <a:spcBef>
                <a:spcPts val="30"/>
              </a:spcBef>
            </a:pPr>
            <a:r>
              <a:rPr sz="1100" dirty="0">
                <a:solidFill>
                  <a:srgbClr val="595959"/>
                </a:solidFill>
                <a:latin typeface="Courier New"/>
                <a:cs typeface="Courier New"/>
              </a:rPr>
              <a:t>{</a:t>
            </a:r>
            <a:endParaRPr sz="1100">
              <a:latin typeface="Courier New"/>
              <a:cs typeface="Courier New"/>
            </a:endParaRPr>
          </a:p>
          <a:p>
            <a:pPr marL="469900">
              <a:lnSpc>
                <a:spcPct val="100000"/>
              </a:lnSpc>
              <a:spcBef>
                <a:spcPts val="30"/>
              </a:spcBef>
            </a:pPr>
            <a:r>
              <a:rPr sz="1100" spc="-5" dirty="0">
                <a:solidFill>
                  <a:srgbClr val="0000FF"/>
                </a:solidFill>
                <a:latin typeface="Courier New"/>
                <a:cs typeface="Courier New"/>
              </a:rPr>
              <a:t>switch</a:t>
            </a:r>
            <a:r>
              <a:rPr sz="1100" spc="25" dirty="0">
                <a:solidFill>
                  <a:srgbClr val="0000FF"/>
                </a:solidFill>
                <a:latin typeface="Courier New"/>
                <a:cs typeface="Courier New"/>
              </a:rPr>
              <a:t> </a:t>
            </a:r>
            <a:r>
              <a:rPr sz="1100" spc="-5" dirty="0">
                <a:solidFill>
                  <a:srgbClr val="595959"/>
                </a:solidFill>
                <a:latin typeface="Courier New"/>
                <a:cs typeface="Courier New"/>
              </a:rPr>
              <a:t>(top_state)</a:t>
            </a:r>
            <a:endParaRPr sz="1100">
              <a:latin typeface="Courier New"/>
              <a:cs typeface="Courier New"/>
            </a:endParaRPr>
          </a:p>
          <a:p>
            <a:pPr marL="469900">
              <a:lnSpc>
                <a:spcPct val="100000"/>
              </a:lnSpc>
              <a:spcBef>
                <a:spcPts val="30"/>
              </a:spcBef>
            </a:pPr>
            <a:r>
              <a:rPr sz="1100" dirty="0">
                <a:solidFill>
                  <a:srgbClr val="595959"/>
                </a:solidFill>
                <a:latin typeface="Courier New"/>
                <a:cs typeface="Courier New"/>
              </a:rPr>
              <a:t>{</a:t>
            </a:r>
            <a:endParaRPr sz="1100">
              <a:latin typeface="Courier New"/>
              <a:cs typeface="Courier New"/>
            </a:endParaRPr>
          </a:p>
        </p:txBody>
      </p:sp>
      <p:sp>
        <p:nvSpPr>
          <p:cNvPr id="5" name="object 5"/>
          <p:cNvSpPr txBox="1"/>
          <p:nvPr/>
        </p:nvSpPr>
        <p:spPr>
          <a:xfrm>
            <a:off x="5791320" y="2420062"/>
            <a:ext cx="2908300" cy="364490"/>
          </a:xfrm>
          <a:prstGeom prst="rect">
            <a:avLst/>
          </a:prstGeom>
        </p:spPr>
        <p:txBody>
          <a:bodyPr vert="horz" wrap="square" lIns="0" tIns="8890" rIns="0" bIns="0" rtlCol="0">
            <a:spAutoFit/>
          </a:bodyPr>
          <a:lstStyle/>
          <a:p>
            <a:pPr marL="12700" marR="5080">
              <a:lnSpc>
                <a:spcPct val="102299"/>
              </a:lnSpc>
              <a:spcBef>
                <a:spcPts val="70"/>
              </a:spcBef>
            </a:pPr>
            <a:r>
              <a:rPr sz="1100" spc="-5" dirty="0">
                <a:solidFill>
                  <a:srgbClr val="FF9900"/>
                </a:solidFill>
                <a:latin typeface="Courier New"/>
                <a:cs typeface="Courier New"/>
              </a:rPr>
              <a:t>k_state_load </a:t>
            </a:r>
            <a:r>
              <a:rPr sz="1100" dirty="0">
                <a:solidFill>
                  <a:srgbClr val="595959"/>
                </a:solidFill>
                <a:latin typeface="Courier New"/>
                <a:cs typeface="Courier New"/>
              </a:rPr>
              <a:t>: </a:t>
            </a:r>
            <a:r>
              <a:rPr sz="1100" spc="-5" dirty="0">
                <a:solidFill>
                  <a:srgbClr val="595959"/>
                </a:solidFill>
                <a:latin typeface="Courier New"/>
                <a:cs typeface="Courier New"/>
              </a:rPr>
              <a:t>do_load(); </a:t>
            </a:r>
            <a:r>
              <a:rPr sz="1100" spc="5" dirty="0">
                <a:solidFill>
                  <a:srgbClr val="0000FF"/>
                </a:solidFill>
                <a:latin typeface="Courier New"/>
                <a:cs typeface="Courier New"/>
              </a:rPr>
              <a:t>break</a:t>
            </a:r>
            <a:r>
              <a:rPr sz="1100" spc="5" dirty="0">
                <a:solidFill>
                  <a:srgbClr val="595959"/>
                </a:solidFill>
                <a:latin typeface="Courier New"/>
                <a:cs typeface="Courier New"/>
              </a:rPr>
              <a:t>;  </a:t>
            </a:r>
            <a:r>
              <a:rPr sz="1100" spc="-5" dirty="0">
                <a:solidFill>
                  <a:srgbClr val="FF9900"/>
                </a:solidFill>
                <a:latin typeface="Courier New"/>
                <a:cs typeface="Courier New"/>
              </a:rPr>
              <a:t>k_input_unplugged</a:t>
            </a:r>
            <a:r>
              <a:rPr sz="1100" spc="-490" dirty="0">
                <a:solidFill>
                  <a:srgbClr val="FF9900"/>
                </a:solidFill>
                <a:latin typeface="Courier New"/>
                <a:cs typeface="Courier New"/>
              </a:rPr>
              <a:t> </a:t>
            </a:r>
            <a:r>
              <a:rPr sz="1100" dirty="0">
                <a:solidFill>
                  <a:srgbClr val="595959"/>
                </a:solidFill>
                <a:latin typeface="Courier New"/>
                <a:cs typeface="Courier New"/>
              </a:rPr>
              <a:t>: </a:t>
            </a:r>
            <a:r>
              <a:rPr sz="1100" spc="-5" dirty="0">
                <a:solidFill>
                  <a:srgbClr val="595959"/>
                </a:solidFill>
                <a:latin typeface="Courier New"/>
                <a:cs typeface="Courier New"/>
              </a:rPr>
              <a:t>do_unplugged();</a:t>
            </a:r>
            <a:endParaRPr sz="1100">
              <a:latin typeface="Courier New"/>
              <a:cs typeface="Courier New"/>
            </a:endParaRPr>
          </a:p>
        </p:txBody>
      </p:sp>
      <p:sp>
        <p:nvSpPr>
          <p:cNvPr id="6" name="object 6"/>
          <p:cNvSpPr txBox="1"/>
          <p:nvPr/>
        </p:nvSpPr>
        <p:spPr>
          <a:xfrm>
            <a:off x="4905425" y="1905711"/>
            <a:ext cx="3567429" cy="1221740"/>
          </a:xfrm>
          <a:prstGeom prst="rect">
            <a:avLst/>
          </a:prstGeom>
        </p:spPr>
        <p:txBody>
          <a:bodyPr vert="horz" wrap="square" lIns="0" tIns="8890" rIns="0" bIns="0" rtlCol="0">
            <a:spAutoFit/>
          </a:bodyPr>
          <a:lstStyle/>
          <a:p>
            <a:pPr marL="469900" marR="5080">
              <a:lnSpc>
                <a:spcPct val="102299"/>
              </a:lnSpc>
              <a:spcBef>
                <a:spcPts val="70"/>
              </a:spcBef>
            </a:pPr>
            <a:r>
              <a:rPr sz="1100" spc="-5" dirty="0">
                <a:solidFill>
                  <a:srgbClr val="0000FF"/>
                </a:solidFill>
                <a:latin typeface="Courier New"/>
                <a:cs typeface="Courier New"/>
              </a:rPr>
              <a:t>case </a:t>
            </a:r>
            <a:r>
              <a:rPr sz="1100" spc="-5" dirty="0">
                <a:solidFill>
                  <a:srgbClr val="FF9900"/>
                </a:solidFill>
                <a:latin typeface="Courier New"/>
                <a:cs typeface="Courier New"/>
              </a:rPr>
              <a:t>k_state_menu </a:t>
            </a:r>
            <a:r>
              <a:rPr sz="1100" dirty="0">
                <a:solidFill>
                  <a:srgbClr val="595959"/>
                </a:solidFill>
                <a:latin typeface="Courier New"/>
                <a:cs typeface="Courier New"/>
              </a:rPr>
              <a:t>: </a:t>
            </a:r>
            <a:r>
              <a:rPr sz="1100" spc="-5" dirty="0">
                <a:solidFill>
                  <a:srgbClr val="595959"/>
                </a:solidFill>
                <a:latin typeface="Courier New"/>
                <a:cs typeface="Courier New"/>
              </a:rPr>
              <a:t>do_menu();</a:t>
            </a:r>
            <a:r>
              <a:rPr sz="1100" spc="-265" dirty="0">
                <a:solidFill>
                  <a:srgbClr val="595959"/>
                </a:solidFill>
                <a:latin typeface="Courier New"/>
                <a:cs typeface="Courier New"/>
              </a:rPr>
              <a:t> </a:t>
            </a:r>
            <a:r>
              <a:rPr sz="1100" spc="5" dirty="0">
                <a:solidFill>
                  <a:srgbClr val="0000FF"/>
                </a:solidFill>
                <a:latin typeface="Courier New"/>
                <a:cs typeface="Courier New"/>
              </a:rPr>
              <a:t>break</a:t>
            </a:r>
            <a:r>
              <a:rPr sz="1100" spc="5" dirty="0">
                <a:solidFill>
                  <a:srgbClr val="595959"/>
                </a:solidFill>
                <a:latin typeface="Courier New"/>
                <a:cs typeface="Courier New"/>
              </a:rPr>
              <a:t>;  </a:t>
            </a:r>
            <a:r>
              <a:rPr sz="1100" spc="-5" dirty="0">
                <a:solidFill>
                  <a:srgbClr val="0000FF"/>
                </a:solidFill>
                <a:latin typeface="Courier New"/>
                <a:cs typeface="Courier New"/>
              </a:rPr>
              <a:t>case </a:t>
            </a:r>
            <a:r>
              <a:rPr sz="1100" spc="-5" dirty="0">
                <a:solidFill>
                  <a:srgbClr val="FF9900"/>
                </a:solidFill>
                <a:latin typeface="Courier New"/>
                <a:cs typeface="Courier New"/>
              </a:rPr>
              <a:t>k_state_play </a:t>
            </a:r>
            <a:r>
              <a:rPr sz="1100" dirty="0">
                <a:solidFill>
                  <a:srgbClr val="595959"/>
                </a:solidFill>
                <a:latin typeface="Courier New"/>
                <a:cs typeface="Courier New"/>
              </a:rPr>
              <a:t>:</a:t>
            </a:r>
            <a:r>
              <a:rPr sz="1100" spc="-440" dirty="0">
                <a:solidFill>
                  <a:srgbClr val="595959"/>
                </a:solidFill>
                <a:latin typeface="Courier New"/>
                <a:cs typeface="Courier New"/>
              </a:rPr>
              <a:t> </a:t>
            </a:r>
            <a:r>
              <a:rPr sz="1100" spc="-5" dirty="0">
                <a:solidFill>
                  <a:srgbClr val="595959"/>
                </a:solidFill>
                <a:latin typeface="Courier New"/>
                <a:cs typeface="Courier New"/>
              </a:rPr>
              <a:t>do_gameplay();</a:t>
            </a:r>
            <a:endParaRPr sz="1100">
              <a:latin typeface="Courier New"/>
              <a:cs typeface="Courier New"/>
            </a:endParaRPr>
          </a:p>
          <a:p>
            <a:pPr marL="12700">
              <a:lnSpc>
                <a:spcPct val="100000"/>
              </a:lnSpc>
              <a:spcBef>
                <a:spcPts val="30"/>
              </a:spcBef>
            </a:pPr>
            <a:r>
              <a:rPr sz="1100" spc="5" dirty="0">
                <a:solidFill>
                  <a:srgbClr val="0000FF"/>
                </a:solidFill>
                <a:latin typeface="Courier New"/>
                <a:cs typeface="Courier New"/>
              </a:rPr>
              <a:t>break</a:t>
            </a:r>
            <a:r>
              <a:rPr sz="1100" spc="5" dirty="0">
                <a:solidFill>
                  <a:srgbClr val="595959"/>
                </a:solidFill>
                <a:latin typeface="Courier New"/>
                <a:cs typeface="Courier New"/>
              </a:rPr>
              <a:t>;</a:t>
            </a:r>
            <a:endParaRPr sz="1100">
              <a:latin typeface="Courier New"/>
              <a:cs typeface="Courier New"/>
            </a:endParaRPr>
          </a:p>
          <a:p>
            <a:pPr marL="469900" marR="2753995">
              <a:lnSpc>
                <a:spcPct val="102299"/>
              </a:lnSpc>
            </a:pPr>
            <a:r>
              <a:rPr sz="1100" spc="-5" dirty="0">
                <a:solidFill>
                  <a:srgbClr val="0000FF"/>
                </a:solidFill>
                <a:latin typeface="Courier New"/>
                <a:cs typeface="Courier New"/>
              </a:rPr>
              <a:t>case  case</a:t>
            </a:r>
            <a:endParaRPr sz="1100">
              <a:latin typeface="Courier New"/>
              <a:cs typeface="Courier New"/>
            </a:endParaRPr>
          </a:p>
          <a:p>
            <a:pPr marL="469900">
              <a:lnSpc>
                <a:spcPct val="100000"/>
              </a:lnSpc>
              <a:spcBef>
                <a:spcPts val="30"/>
              </a:spcBef>
            </a:pPr>
            <a:r>
              <a:rPr sz="1100" dirty="0">
                <a:solidFill>
                  <a:srgbClr val="595959"/>
                </a:solidFill>
                <a:latin typeface="Courier New"/>
                <a:cs typeface="Courier New"/>
              </a:rPr>
              <a:t>}</a:t>
            </a:r>
            <a:endParaRPr sz="1100">
              <a:latin typeface="Courier New"/>
              <a:cs typeface="Courier New"/>
            </a:endParaRPr>
          </a:p>
          <a:p>
            <a:pPr marL="12700">
              <a:lnSpc>
                <a:spcPct val="100000"/>
              </a:lnSpc>
              <a:spcBef>
                <a:spcPts val="30"/>
              </a:spcBef>
            </a:pPr>
            <a:r>
              <a:rPr sz="1100" dirty="0">
                <a:solidFill>
                  <a:srgbClr val="595959"/>
                </a:solidFill>
                <a:latin typeface="Courier New"/>
                <a:cs typeface="Courier New"/>
              </a:rPr>
              <a:t>}</a:t>
            </a:r>
            <a:endParaRPr sz="1100">
              <a:latin typeface="Courier New"/>
              <a:cs typeface="Courier New"/>
            </a:endParaRPr>
          </a:p>
        </p:txBody>
      </p:sp>
      <p:sp>
        <p:nvSpPr>
          <p:cNvPr id="7" name="object 7"/>
          <p:cNvSpPr txBox="1"/>
          <p:nvPr/>
        </p:nvSpPr>
        <p:spPr>
          <a:xfrm>
            <a:off x="4905425" y="3277311"/>
            <a:ext cx="3508375" cy="1393190"/>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0000FF"/>
                </a:solidFill>
                <a:latin typeface="Courier New"/>
                <a:cs typeface="Courier New"/>
              </a:rPr>
              <a:t>void</a:t>
            </a:r>
            <a:r>
              <a:rPr sz="1100" spc="70" dirty="0">
                <a:solidFill>
                  <a:srgbClr val="0000FF"/>
                </a:solidFill>
                <a:latin typeface="Courier New"/>
                <a:cs typeface="Courier New"/>
              </a:rPr>
              <a:t> </a:t>
            </a:r>
            <a:r>
              <a:rPr sz="1100" spc="-5" dirty="0">
                <a:solidFill>
                  <a:srgbClr val="595959"/>
                </a:solidFill>
                <a:latin typeface="Courier New"/>
                <a:cs typeface="Courier New"/>
              </a:rPr>
              <a:t>do_gameplay()</a:t>
            </a:r>
            <a:endParaRPr sz="1100">
              <a:latin typeface="Courier New"/>
              <a:cs typeface="Courier New"/>
            </a:endParaRPr>
          </a:p>
          <a:p>
            <a:pPr marL="12700">
              <a:lnSpc>
                <a:spcPct val="100000"/>
              </a:lnSpc>
              <a:spcBef>
                <a:spcPts val="30"/>
              </a:spcBef>
            </a:pPr>
            <a:r>
              <a:rPr sz="1100" dirty="0">
                <a:solidFill>
                  <a:srgbClr val="595959"/>
                </a:solidFill>
                <a:latin typeface="Courier New"/>
                <a:cs typeface="Courier New"/>
              </a:rPr>
              <a:t>{</a:t>
            </a:r>
            <a:endParaRPr sz="1100">
              <a:latin typeface="Courier New"/>
              <a:cs typeface="Courier New"/>
            </a:endParaRPr>
          </a:p>
          <a:p>
            <a:pPr marL="469900">
              <a:lnSpc>
                <a:spcPct val="100000"/>
              </a:lnSpc>
              <a:spcBef>
                <a:spcPts val="30"/>
              </a:spcBef>
            </a:pPr>
            <a:r>
              <a:rPr sz="1100" spc="-5" dirty="0">
                <a:solidFill>
                  <a:srgbClr val="595959"/>
                </a:solidFill>
                <a:latin typeface="Courier New"/>
                <a:cs typeface="Courier New"/>
              </a:rPr>
              <a:t>if</a:t>
            </a:r>
            <a:r>
              <a:rPr sz="1100" spc="-15" dirty="0">
                <a:solidFill>
                  <a:srgbClr val="595959"/>
                </a:solidFill>
                <a:latin typeface="Courier New"/>
                <a:cs typeface="Courier New"/>
              </a:rPr>
              <a:t> </a:t>
            </a:r>
            <a:r>
              <a:rPr sz="1100" spc="-5" dirty="0">
                <a:solidFill>
                  <a:srgbClr val="595959"/>
                </a:solidFill>
                <a:latin typeface="Courier New"/>
                <a:cs typeface="Courier New"/>
              </a:rPr>
              <a:t>(is_input_unplugged())</a:t>
            </a:r>
            <a:endParaRPr sz="1100">
              <a:latin typeface="Courier New"/>
              <a:cs typeface="Courier New"/>
            </a:endParaRPr>
          </a:p>
          <a:p>
            <a:pPr marL="469900">
              <a:lnSpc>
                <a:spcPct val="100000"/>
              </a:lnSpc>
              <a:spcBef>
                <a:spcPts val="30"/>
              </a:spcBef>
            </a:pPr>
            <a:r>
              <a:rPr sz="1100" dirty="0">
                <a:solidFill>
                  <a:srgbClr val="595959"/>
                </a:solidFill>
                <a:latin typeface="Courier New"/>
                <a:cs typeface="Courier New"/>
              </a:rPr>
              <a:t>{</a:t>
            </a:r>
            <a:endParaRPr sz="1100">
              <a:latin typeface="Courier New"/>
              <a:cs typeface="Courier New"/>
            </a:endParaRPr>
          </a:p>
          <a:p>
            <a:pPr marL="927100" marR="5080">
              <a:lnSpc>
                <a:spcPct val="102299"/>
              </a:lnSpc>
            </a:pPr>
            <a:r>
              <a:rPr sz="1100" spc="-5" dirty="0">
                <a:solidFill>
                  <a:srgbClr val="595959"/>
                </a:solidFill>
                <a:latin typeface="Courier New"/>
                <a:cs typeface="Courier New"/>
              </a:rPr>
              <a:t>state_push(</a:t>
            </a:r>
            <a:r>
              <a:rPr sz="1100" spc="-525" dirty="0">
                <a:solidFill>
                  <a:srgbClr val="595959"/>
                </a:solidFill>
                <a:latin typeface="Courier New"/>
                <a:cs typeface="Courier New"/>
              </a:rPr>
              <a:t> </a:t>
            </a:r>
            <a:r>
              <a:rPr sz="1100" spc="-5" dirty="0">
                <a:solidFill>
                  <a:srgbClr val="FF9900"/>
                </a:solidFill>
                <a:latin typeface="Courier New"/>
                <a:cs typeface="Courier New"/>
              </a:rPr>
              <a:t>k_input_unplugged</a:t>
            </a:r>
            <a:r>
              <a:rPr sz="1100" spc="-445" dirty="0">
                <a:solidFill>
                  <a:srgbClr val="FF9900"/>
                </a:solidFill>
                <a:latin typeface="Courier New"/>
                <a:cs typeface="Courier New"/>
              </a:rPr>
              <a:t> </a:t>
            </a:r>
            <a:r>
              <a:rPr sz="1100" spc="-5" dirty="0">
                <a:solidFill>
                  <a:srgbClr val="595959"/>
                </a:solidFill>
                <a:latin typeface="Courier New"/>
                <a:cs typeface="Courier New"/>
              </a:rPr>
              <a:t>);  return;</a:t>
            </a:r>
            <a:endParaRPr sz="1100">
              <a:latin typeface="Courier New"/>
              <a:cs typeface="Courier New"/>
            </a:endParaRPr>
          </a:p>
          <a:p>
            <a:pPr marL="469900">
              <a:lnSpc>
                <a:spcPct val="100000"/>
              </a:lnSpc>
              <a:spcBef>
                <a:spcPts val="30"/>
              </a:spcBef>
            </a:pPr>
            <a:r>
              <a:rPr sz="1100" dirty="0">
                <a:solidFill>
                  <a:srgbClr val="595959"/>
                </a:solidFill>
                <a:latin typeface="Courier New"/>
                <a:cs typeface="Courier New"/>
              </a:rPr>
              <a:t>}</a:t>
            </a:r>
            <a:endParaRPr sz="1100">
              <a:latin typeface="Courier New"/>
              <a:cs typeface="Courier New"/>
            </a:endParaRPr>
          </a:p>
          <a:p>
            <a:pPr marL="469900">
              <a:lnSpc>
                <a:spcPct val="100000"/>
              </a:lnSpc>
              <a:spcBef>
                <a:spcPts val="30"/>
              </a:spcBef>
            </a:pPr>
            <a:r>
              <a:rPr sz="1100" spc="-5" dirty="0">
                <a:solidFill>
                  <a:srgbClr val="6AA84F"/>
                </a:solidFill>
                <a:latin typeface="Courier New"/>
                <a:cs typeface="Courier New"/>
              </a:rPr>
              <a:t>//</a:t>
            </a:r>
            <a:r>
              <a:rPr sz="1100" spc="-10" dirty="0">
                <a:solidFill>
                  <a:srgbClr val="6AA84F"/>
                </a:solidFill>
                <a:latin typeface="Courier New"/>
                <a:cs typeface="Courier New"/>
              </a:rPr>
              <a:t> </a:t>
            </a:r>
            <a:r>
              <a:rPr sz="1100" spc="-5" dirty="0">
                <a:solidFill>
                  <a:srgbClr val="6AA84F"/>
                </a:solidFill>
                <a:latin typeface="Courier New"/>
                <a:cs typeface="Courier New"/>
              </a:rPr>
              <a:t>...</a:t>
            </a:r>
            <a:endParaRPr sz="1100">
              <a:latin typeface="Courier New"/>
              <a:cs typeface="Courier New"/>
            </a:endParaRPr>
          </a:p>
        </p:txBody>
      </p:sp>
      <p:sp>
        <p:nvSpPr>
          <p:cNvPr id="8" name="object 8"/>
          <p:cNvSpPr txBox="1"/>
          <p:nvPr/>
        </p:nvSpPr>
        <p:spPr>
          <a:xfrm>
            <a:off x="4905425" y="4648911"/>
            <a:ext cx="109855" cy="193040"/>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595959"/>
                </a:solidFill>
                <a:latin typeface="Courier New"/>
                <a:cs typeface="Courier New"/>
              </a:rPr>
              <a:t>}</a:t>
            </a:r>
            <a:endParaRPr sz="1100">
              <a:latin typeface="Courier New"/>
              <a:cs typeface="Courier New"/>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190750"/>
            <a:ext cx="7387675" cy="430887"/>
          </a:xfrm>
        </p:spPr>
        <p:txBody>
          <a:bodyPr/>
          <a:lstStyle/>
          <a:p>
            <a:r>
              <a:rPr lang="en-US" dirty="0" smtClean="0"/>
              <a:t>A brief diversion on game objects and entities </a:t>
            </a:r>
            <a:endParaRPr lang="en-US" dirty="0"/>
          </a:p>
        </p:txBody>
      </p:sp>
    </p:spTree>
    <p:extLst>
      <p:ext uri="{BB962C8B-B14F-4D97-AF65-F5344CB8AC3E}">
        <p14:creationId xmlns:p14="http://schemas.microsoft.com/office/powerpoint/2010/main" val="41880572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ingle-Rooted Hierarchy"/>
          <p:cNvSpPr txBox="1">
            <a:spLocks noGrp="1"/>
          </p:cNvSpPr>
          <p:nvPr>
            <p:ph type="title"/>
          </p:nvPr>
        </p:nvSpPr>
        <p:spPr>
          <a:xfrm>
            <a:off x="1567393" y="133945"/>
            <a:ext cx="6009215" cy="681597"/>
          </a:xfrm>
          <a:prstGeom prst="rect">
            <a:avLst/>
          </a:prstGeom>
        </p:spPr>
        <p:txBody>
          <a:bodyPr/>
          <a:lstStyle/>
          <a:p>
            <a:r>
              <a:rPr dirty="0"/>
              <a:t>Single-Rooted Hierarchy</a:t>
            </a:r>
          </a:p>
        </p:txBody>
      </p:sp>
      <p:sp>
        <p:nvSpPr>
          <p:cNvPr id="77" name="class Entity {…"/>
          <p:cNvSpPr txBox="1">
            <a:spLocks noGrp="1"/>
          </p:cNvSpPr>
          <p:nvPr>
            <p:ph type="body" idx="1"/>
          </p:nvPr>
        </p:nvSpPr>
        <p:spPr>
          <a:xfrm>
            <a:off x="1905000" y="1352550"/>
            <a:ext cx="5518547" cy="2608406"/>
          </a:xfrm>
          <a:prstGeom prst="rect">
            <a:avLst/>
          </a:prstGeom>
        </p:spPr>
        <p:txBody>
          <a:bodyPr/>
          <a:lstStyle/>
          <a:p>
            <a:pPr marL="0" indent="0">
              <a:spcBef>
                <a:spcPts val="527"/>
              </a:spcBef>
              <a:defRPr sz="3200">
                <a:latin typeface="Courier New"/>
                <a:ea typeface="Courier New"/>
                <a:cs typeface="Courier New"/>
                <a:sym typeface="Courier New"/>
              </a:defRPr>
            </a:pPr>
            <a:r>
              <a:rPr sz="1200" dirty="0"/>
              <a:t>class Entity</a:t>
            </a:r>
            <a:br>
              <a:rPr sz="1200" dirty="0"/>
            </a:br>
            <a:r>
              <a:rPr sz="1200" dirty="0"/>
              <a:t>{</a:t>
            </a:r>
          </a:p>
          <a:p>
            <a:pPr marL="0" indent="0">
              <a:spcBef>
                <a:spcPts val="527"/>
              </a:spcBef>
              <a:defRPr sz="3200">
                <a:latin typeface="Courier New"/>
                <a:ea typeface="Courier New"/>
                <a:cs typeface="Courier New"/>
                <a:sym typeface="Courier New"/>
              </a:defRPr>
            </a:pPr>
            <a:r>
              <a:rPr sz="1200" dirty="0"/>
              <a:t>    virtual void Display(void) = 0;</a:t>
            </a:r>
          </a:p>
          <a:p>
            <a:pPr marL="0" indent="0">
              <a:spcBef>
                <a:spcPts val="527"/>
              </a:spcBef>
              <a:defRPr sz="3200">
                <a:latin typeface="Courier New"/>
                <a:ea typeface="Courier New"/>
                <a:cs typeface="Courier New"/>
                <a:sym typeface="Courier New"/>
              </a:defRPr>
            </a:pPr>
            <a:r>
              <a:rPr sz="1200" dirty="0"/>
              <a:t>    virtual void Update(float </a:t>
            </a:r>
            <a:r>
              <a:rPr sz="1200" dirty="0" err="1"/>
              <a:t>dt</a:t>
            </a:r>
            <a:r>
              <a:rPr sz="1200" dirty="0"/>
              <a:t>) = 0;</a:t>
            </a:r>
          </a:p>
          <a:p>
            <a:pPr marL="0" indent="0">
              <a:spcBef>
                <a:spcPts val="527"/>
              </a:spcBef>
              <a:defRPr sz="3200">
                <a:latin typeface="Courier New"/>
                <a:ea typeface="Courier New"/>
                <a:cs typeface="Courier New"/>
                <a:sym typeface="Courier New"/>
              </a:defRPr>
            </a:pPr>
            <a:r>
              <a:rPr sz="1200" dirty="0"/>
              <a:t>};</a:t>
            </a:r>
          </a:p>
          <a:p>
            <a:pPr marL="0" indent="0">
              <a:spcBef>
                <a:spcPts val="527"/>
              </a:spcBef>
              <a:defRPr sz="3200">
                <a:latin typeface="Courier New"/>
                <a:ea typeface="Courier New"/>
                <a:cs typeface="Courier New"/>
                <a:sym typeface="Courier New"/>
              </a:defRPr>
            </a:pPr>
            <a:endParaRPr sz="1200" dirty="0"/>
          </a:p>
          <a:p>
            <a:pPr marL="0" indent="0">
              <a:spcBef>
                <a:spcPts val="527"/>
              </a:spcBef>
              <a:defRPr sz="3200">
                <a:latin typeface="Courier New"/>
                <a:ea typeface="Courier New"/>
                <a:cs typeface="Courier New"/>
                <a:sym typeface="Courier New"/>
              </a:defRPr>
            </a:pPr>
            <a:r>
              <a:rPr sz="1200" dirty="0"/>
              <a:t>class Character : public Entity</a:t>
            </a:r>
          </a:p>
          <a:p>
            <a:pPr marL="0" indent="0">
              <a:spcBef>
                <a:spcPts val="527"/>
              </a:spcBef>
              <a:defRPr sz="3200">
                <a:latin typeface="Courier New"/>
                <a:ea typeface="Courier New"/>
                <a:cs typeface="Courier New"/>
                <a:sym typeface="Courier New"/>
              </a:defRPr>
            </a:pPr>
            <a:r>
              <a:rPr sz="1200" dirty="0"/>
              <a:t>{</a:t>
            </a:r>
          </a:p>
          <a:p>
            <a:pPr marL="0" indent="0">
              <a:spcBef>
                <a:spcPts val="527"/>
              </a:spcBef>
              <a:defRPr sz="3200">
                <a:latin typeface="Courier New"/>
                <a:ea typeface="Courier New"/>
                <a:cs typeface="Courier New"/>
                <a:sym typeface="Courier New"/>
              </a:defRPr>
            </a:pPr>
            <a:r>
              <a:rPr sz="1200" dirty="0"/>
              <a:t>    void Display(void); </a:t>
            </a:r>
          </a:p>
          <a:p>
            <a:pPr marL="0" indent="0">
              <a:spcBef>
                <a:spcPts val="527"/>
              </a:spcBef>
              <a:defRPr sz="3200">
                <a:latin typeface="Courier New"/>
                <a:ea typeface="Courier New"/>
                <a:cs typeface="Courier New"/>
                <a:sym typeface="Courier New"/>
              </a:defRPr>
            </a:pPr>
            <a:r>
              <a:rPr sz="1200" dirty="0"/>
              <a:t>    void Update (float </a:t>
            </a:r>
            <a:r>
              <a:rPr sz="1200" dirty="0" err="1"/>
              <a:t>dt</a:t>
            </a:r>
            <a:r>
              <a:rPr sz="1200" dirty="0"/>
              <a:t>);</a:t>
            </a:r>
          </a:p>
          <a:p>
            <a:pPr marL="0" indent="0">
              <a:spcBef>
                <a:spcPts val="527"/>
              </a:spcBef>
              <a:defRPr sz="3200">
                <a:latin typeface="Courier New"/>
                <a:ea typeface="Courier New"/>
                <a:cs typeface="Courier New"/>
                <a:sym typeface="Courier New"/>
              </a:defRPr>
            </a:pPr>
            <a:r>
              <a:rPr sz="1200" dirty="0"/>
              <a:t>};</a:t>
            </a:r>
          </a:p>
        </p:txBody>
      </p:sp>
    </p:spTree>
    <p:extLst>
      <p:ext uri="{BB962C8B-B14F-4D97-AF65-F5344CB8AC3E}">
        <p14:creationId xmlns:p14="http://schemas.microsoft.com/office/powerpoint/2010/main" val="3034941300"/>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ingle-Rooted Hierarchy"/>
          <p:cNvSpPr txBox="1">
            <a:spLocks noGrp="1"/>
          </p:cNvSpPr>
          <p:nvPr>
            <p:ph type="title"/>
          </p:nvPr>
        </p:nvSpPr>
        <p:spPr>
          <a:xfrm>
            <a:off x="1567393" y="133945"/>
            <a:ext cx="6009215" cy="681597"/>
          </a:xfrm>
          <a:prstGeom prst="rect">
            <a:avLst/>
          </a:prstGeom>
        </p:spPr>
        <p:txBody>
          <a:bodyPr/>
          <a:lstStyle/>
          <a:p>
            <a:r>
              <a:rPr dirty="0"/>
              <a:t>Single-Rooted Hierarchy</a:t>
            </a:r>
          </a:p>
        </p:txBody>
      </p:sp>
      <p:sp>
        <p:nvSpPr>
          <p:cNvPr id="82" name="Some base class of entities with virtual functions for common interfaces…"/>
          <p:cNvSpPr txBox="1">
            <a:spLocks noGrp="1"/>
          </p:cNvSpPr>
          <p:nvPr>
            <p:ph type="body" idx="1"/>
          </p:nvPr>
        </p:nvSpPr>
        <p:spPr>
          <a:xfrm>
            <a:off x="1812727" y="2011298"/>
            <a:ext cx="5518547" cy="2290371"/>
          </a:xfrm>
          <a:prstGeom prst="rect">
            <a:avLst/>
          </a:prstGeom>
        </p:spPr>
        <p:txBody>
          <a:bodyPr/>
          <a:lstStyle/>
          <a:p>
            <a:pPr>
              <a:spcBef>
                <a:spcPts val="527"/>
              </a:spcBef>
              <a:defRPr sz="3900"/>
            </a:pPr>
            <a:r>
              <a:rPr sz="1600" dirty="0"/>
              <a:t>Some base class of entities with virtual functions for common interfaces</a:t>
            </a:r>
          </a:p>
          <a:p>
            <a:pPr lvl="1">
              <a:spcBef>
                <a:spcPts val="527"/>
              </a:spcBef>
              <a:defRPr sz="3900"/>
            </a:pPr>
            <a:r>
              <a:rPr sz="1600" dirty="0"/>
              <a:t>Update(time), </a:t>
            </a:r>
            <a:r>
              <a:rPr sz="1600" dirty="0" err="1"/>
              <a:t>GetPosition</a:t>
            </a:r>
            <a:r>
              <a:rPr sz="1600" dirty="0"/>
              <a:t>(), etc.</a:t>
            </a:r>
          </a:p>
          <a:p>
            <a:pPr>
              <a:spcBef>
                <a:spcPts val="527"/>
              </a:spcBef>
              <a:defRPr sz="3900"/>
            </a:pPr>
            <a:r>
              <a:rPr sz="1600" dirty="0"/>
              <a:t>All individual entities derived from this class</a:t>
            </a:r>
          </a:p>
          <a:p>
            <a:pPr lvl="1">
              <a:spcBef>
                <a:spcPts val="527"/>
              </a:spcBef>
              <a:defRPr sz="3900"/>
            </a:pPr>
            <a:r>
              <a:rPr sz="1600" dirty="0"/>
              <a:t>e.g. Entity —&gt; Character —&gt; NPC</a:t>
            </a:r>
          </a:p>
          <a:p>
            <a:pPr>
              <a:spcBef>
                <a:spcPts val="527"/>
              </a:spcBef>
              <a:defRPr sz="3900"/>
            </a:pPr>
            <a:r>
              <a:rPr sz="1600" dirty="0"/>
              <a:t>Subsystems keep list of entities that we care about</a:t>
            </a:r>
          </a:p>
          <a:p>
            <a:pPr lvl="1">
              <a:spcBef>
                <a:spcPts val="527"/>
              </a:spcBef>
              <a:defRPr sz="3900"/>
            </a:pPr>
            <a:r>
              <a:rPr sz="1600" dirty="0"/>
              <a:t>But only need to know about base classes and/or specializations that are specific to that subsystem</a:t>
            </a:r>
          </a:p>
        </p:txBody>
      </p:sp>
    </p:spTree>
    <p:extLst>
      <p:ext uri="{BB962C8B-B14F-4D97-AF65-F5344CB8AC3E}">
        <p14:creationId xmlns:p14="http://schemas.microsoft.com/office/powerpoint/2010/main" val="3213841699"/>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82">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82">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82">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82">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82">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build="p" bldLvl="5"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GameObject"/>
          <p:cNvSpPr txBox="1"/>
          <p:nvPr/>
        </p:nvSpPr>
        <p:spPr>
          <a:xfrm>
            <a:off x="4133334" y="900233"/>
            <a:ext cx="879648"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GameObject</a:t>
            </a:r>
          </a:p>
        </p:txBody>
      </p:sp>
      <p:sp>
        <p:nvSpPr>
          <p:cNvPr id="87" name="Line"/>
          <p:cNvSpPr/>
          <p:nvPr/>
        </p:nvSpPr>
        <p:spPr>
          <a:xfrm>
            <a:off x="4572000" y="1172022"/>
            <a:ext cx="0" cy="560920"/>
          </a:xfrm>
          <a:prstGeom prst="line">
            <a:avLst/>
          </a:prstGeom>
          <a:ln w="25400">
            <a:solidFill>
              <a:srgbClr val="000000"/>
            </a:solidFill>
            <a:miter lim="400000"/>
            <a:headEnd type="stealth"/>
          </a:ln>
        </p:spPr>
        <p:txBody>
          <a:bodyPr lIns="26789" tIns="26789" rIns="26789" bIns="26789" anchor="ctr"/>
          <a:lstStyle/>
          <a:p>
            <a:endParaRPr sz="949"/>
          </a:p>
        </p:txBody>
      </p:sp>
      <p:sp>
        <p:nvSpPr>
          <p:cNvPr id="88" name="Line"/>
          <p:cNvSpPr/>
          <p:nvPr/>
        </p:nvSpPr>
        <p:spPr>
          <a:xfrm flipH="1">
            <a:off x="2703463" y="2705119"/>
            <a:ext cx="1433660" cy="781589"/>
          </a:xfrm>
          <a:prstGeom prst="line">
            <a:avLst/>
          </a:prstGeom>
          <a:ln w="25400">
            <a:solidFill>
              <a:srgbClr val="000000"/>
            </a:solidFill>
            <a:miter lim="400000"/>
            <a:headEnd type="stealth"/>
          </a:ln>
        </p:spPr>
        <p:txBody>
          <a:bodyPr lIns="26789" tIns="26789" rIns="26789" bIns="26789" anchor="ctr"/>
          <a:lstStyle/>
          <a:p>
            <a:endParaRPr sz="949"/>
          </a:p>
        </p:txBody>
      </p:sp>
      <p:sp>
        <p:nvSpPr>
          <p:cNvPr id="89" name="Line"/>
          <p:cNvSpPr/>
          <p:nvPr/>
        </p:nvSpPr>
        <p:spPr>
          <a:xfrm>
            <a:off x="5026917" y="2699731"/>
            <a:ext cx="1105546" cy="797926"/>
          </a:xfrm>
          <a:prstGeom prst="line">
            <a:avLst/>
          </a:prstGeom>
          <a:ln w="25400">
            <a:solidFill>
              <a:srgbClr val="000000"/>
            </a:solidFill>
            <a:miter lim="400000"/>
            <a:headEnd type="stealth"/>
          </a:ln>
        </p:spPr>
        <p:txBody>
          <a:bodyPr lIns="26789" tIns="26789" rIns="26789" bIns="26789" anchor="ctr"/>
          <a:lstStyle/>
          <a:p>
            <a:endParaRPr sz="949"/>
          </a:p>
        </p:txBody>
      </p:sp>
      <p:sp>
        <p:nvSpPr>
          <p:cNvPr id="90" name="MoveableObject"/>
          <p:cNvSpPr txBox="1"/>
          <p:nvPr/>
        </p:nvSpPr>
        <p:spPr>
          <a:xfrm>
            <a:off x="4000638" y="1750785"/>
            <a:ext cx="1145041"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MoveableObject</a:t>
            </a:r>
          </a:p>
        </p:txBody>
      </p:sp>
      <p:sp>
        <p:nvSpPr>
          <p:cNvPr id="91" name="RenderableObject"/>
          <p:cNvSpPr txBox="1"/>
          <p:nvPr/>
        </p:nvSpPr>
        <p:spPr>
          <a:xfrm>
            <a:off x="3947806" y="2440604"/>
            <a:ext cx="1237310"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RenderableObject</a:t>
            </a:r>
          </a:p>
        </p:txBody>
      </p:sp>
      <p:sp>
        <p:nvSpPr>
          <p:cNvPr id="92" name="Pac-Man"/>
          <p:cNvSpPr txBox="1"/>
          <p:nvPr/>
        </p:nvSpPr>
        <p:spPr>
          <a:xfrm>
            <a:off x="2387555" y="3492074"/>
            <a:ext cx="634132"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Pac-Man</a:t>
            </a:r>
          </a:p>
        </p:txBody>
      </p:sp>
      <p:sp>
        <p:nvSpPr>
          <p:cNvPr id="93" name="Ghost"/>
          <p:cNvSpPr txBox="1"/>
          <p:nvPr/>
        </p:nvSpPr>
        <p:spPr>
          <a:xfrm>
            <a:off x="4351438" y="3492074"/>
            <a:ext cx="443440"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Ghost</a:t>
            </a:r>
          </a:p>
        </p:txBody>
      </p:sp>
      <p:sp>
        <p:nvSpPr>
          <p:cNvPr id="94" name="Pellet"/>
          <p:cNvSpPr txBox="1"/>
          <p:nvPr/>
        </p:nvSpPr>
        <p:spPr>
          <a:xfrm>
            <a:off x="5922705" y="3492074"/>
            <a:ext cx="421831"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Pellet</a:t>
            </a:r>
          </a:p>
        </p:txBody>
      </p:sp>
      <p:sp>
        <p:nvSpPr>
          <p:cNvPr id="95" name="PowerPellet"/>
          <p:cNvSpPr txBox="1"/>
          <p:nvPr/>
        </p:nvSpPr>
        <p:spPr>
          <a:xfrm>
            <a:off x="5708675" y="4449783"/>
            <a:ext cx="836496"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PowerPellet</a:t>
            </a:r>
          </a:p>
        </p:txBody>
      </p:sp>
      <p:sp>
        <p:nvSpPr>
          <p:cNvPr id="96" name="..."/>
          <p:cNvSpPr txBox="1"/>
          <p:nvPr/>
        </p:nvSpPr>
        <p:spPr>
          <a:xfrm>
            <a:off x="7096719" y="3425739"/>
            <a:ext cx="270507" cy="3949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4200">
                <a:latin typeface="+mj-lt"/>
                <a:ea typeface="+mj-ea"/>
                <a:cs typeface="+mj-cs"/>
                <a:sym typeface="Baskerville"/>
              </a:defRPr>
            </a:lvl1pPr>
          </a:lstStyle>
          <a:p>
            <a:r>
              <a:rPr sz="2215"/>
              <a:t>...</a:t>
            </a:r>
          </a:p>
        </p:txBody>
      </p:sp>
      <p:sp>
        <p:nvSpPr>
          <p:cNvPr id="97" name="..."/>
          <p:cNvSpPr txBox="1"/>
          <p:nvPr/>
        </p:nvSpPr>
        <p:spPr>
          <a:xfrm>
            <a:off x="5998367" y="2374269"/>
            <a:ext cx="270507" cy="3949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4200">
                <a:latin typeface="+mj-lt"/>
                <a:ea typeface="+mj-ea"/>
                <a:cs typeface="+mj-cs"/>
                <a:sym typeface="Baskerville"/>
              </a:defRPr>
            </a:lvl1pPr>
          </a:lstStyle>
          <a:p>
            <a:r>
              <a:rPr sz="2215"/>
              <a:t>...</a:t>
            </a:r>
          </a:p>
        </p:txBody>
      </p:sp>
      <p:sp>
        <p:nvSpPr>
          <p:cNvPr id="98" name="..."/>
          <p:cNvSpPr txBox="1"/>
          <p:nvPr/>
        </p:nvSpPr>
        <p:spPr>
          <a:xfrm>
            <a:off x="5998367" y="1684450"/>
            <a:ext cx="270507" cy="3949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4200">
                <a:latin typeface="+mj-lt"/>
                <a:ea typeface="+mj-ea"/>
                <a:cs typeface="+mj-cs"/>
                <a:sym typeface="Baskerville"/>
              </a:defRPr>
            </a:lvl1pPr>
          </a:lstStyle>
          <a:p>
            <a:r>
              <a:rPr sz="2215"/>
              <a:t>...</a:t>
            </a:r>
          </a:p>
        </p:txBody>
      </p:sp>
      <p:sp>
        <p:nvSpPr>
          <p:cNvPr id="99" name="Line"/>
          <p:cNvSpPr/>
          <p:nvPr/>
        </p:nvSpPr>
        <p:spPr>
          <a:xfrm>
            <a:off x="4572000" y="2009180"/>
            <a:ext cx="0" cy="425826"/>
          </a:xfrm>
          <a:prstGeom prst="line">
            <a:avLst/>
          </a:prstGeom>
          <a:ln w="25400">
            <a:solidFill>
              <a:srgbClr val="000000"/>
            </a:solidFill>
            <a:miter lim="400000"/>
            <a:headEnd type="stealth"/>
          </a:ln>
        </p:spPr>
        <p:txBody>
          <a:bodyPr lIns="26789" tIns="26789" rIns="26789" bIns="26789" anchor="ctr"/>
          <a:lstStyle/>
          <a:p>
            <a:endParaRPr sz="949"/>
          </a:p>
        </p:txBody>
      </p:sp>
      <p:sp>
        <p:nvSpPr>
          <p:cNvPr id="100" name="Line"/>
          <p:cNvSpPr/>
          <p:nvPr/>
        </p:nvSpPr>
        <p:spPr>
          <a:xfrm>
            <a:off x="4572000" y="2685604"/>
            <a:ext cx="0" cy="804775"/>
          </a:xfrm>
          <a:prstGeom prst="line">
            <a:avLst/>
          </a:prstGeom>
          <a:ln w="25400">
            <a:solidFill>
              <a:srgbClr val="000000"/>
            </a:solidFill>
            <a:miter lim="400000"/>
            <a:headEnd type="stealth"/>
          </a:ln>
        </p:spPr>
        <p:txBody>
          <a:bodyPr lIns="26789" tIns="26789" rIns="26789" bIns="26789" anchor="ctr"/>
          <a:lstStyle/>
          <a:p>
            <a:endParaRPr sz="949"/>
          </a:p>
        </p:txBody>
      </p:sp>
      <p:sp>
        <p:nvSpPr>
          <p:cNvPr id="101" name="Line"/>
          <p:cNvSpPr/>
          <p:nvPr/>
        </p:nvSpPr>
        <p:spPr>
          <a:xfrm>
            <a:off x="6132463" y="3763864"/>
            <a:ext cx="0" cy="680127"/>
          </a:xfrm>
          <a:prstGeom prst="line">
            <a:avLst/>
          </a:prstGeom>
          <a:ln w="25400">
            <a:solidFill>
              <a:srgbClr val="000000"/>
            </a:solidFill>
            <a:miter lim="400000"/>
            <a:headEnd type="stealth"/>
          </a:ln>
        </p:spPr>
        <p:txBody>
          <a:bodyPr lIns="26789" tIns="26789" rIns="26789" bIns="26789" anchor="ctr"/>
          <a:lstStyle/>
          <a:p>
            <a:endParaRPr sz="949"/>
          </a:p>
        </p:txBody>
      </p:sp>
      <p:sp>
        <p:nvSpPr>
          <p:cNvPr id="102" name="Line"/>
          <p:cNvSpPr/>
          <p:nvPr/>
        </p:nvSpPr>
        <p:spPr>
          <a:xfrm>
            <a:off x="5026917" y="1052203"/>
            <a:ext cx="1043100" cy="793888"/>
          </a:xfrm>
          <a:prstGeom prst="line">
            <a:avLst/>
          </a:prstGeom>
          <a:ln w="25400">
            <a:solidFill>
              <a:srgbClr val="000000"/>
            </a:solidFill>
            <a:miter lim="400000"/>
            <a:headEnd type="stealth"/>
          </a:ln>
        </p:spPr>
        <p:txBody>
          <a:bodyPr lIns="26789" tIns="26789" rIns="26789" bIns="26789" anchor="ctr"/>
          <a:lstStyle/>
          <a:p>
            <a:endParaRPr sz="949"/>
          </a:p>
        </p:txBody>
      </p:sp>
      <p:sp>
        <p:nvSpPr>
          <p:cNvPr id="103" name="Line"/>
          <p:cNvSpPr/>
          <p:nvPr/>
        </p:nvSpPr>
        <p:spPr>
          <a:xfrm>
            <a:off x="5160862" y="1882664"/>
            <a:ext cx="911378" cy="681892"/>
          </a:xfrm>
          <a:prstGeom prst="line">
            <a:avLst/>
          </a:prstGeom>
          <a:ln w="25400">
            <a:solidFill>
              <a:srgbClr val="000000"/>
            </a:solidFill>
            <a:miter lim="400000"/>
            <a:headEnd type="stealth"/>
          </a:ln>
        </p:spPr>
        <p:txBody>
          <a:bodyPr lIns="26789" tIns="26789" rIns="26789" bIns="26789" anchor="ctr"/>
          <a:lstStyle/>
          <a:p>
            <a:endParaRPr sz="949"/>
          </a:p>
        </p:txBody>
      </p:sp>
      <p:sp>
        <p:nvSpPr>
          <p:cNvPr id="104" name="Line"/>
          <p:cNvSpPr/>
          <p:nvPr/>
        </p:nvSpPr>
        <p:spPr>
          <a:xfrm>
            <a:off x="5214440" y="2559088"/>
            <a:ext cx="1826392" cy="984394"/>
          </a:xfrm>
          <a:prstGeom prst="line">
            <a:avLst/>
          </a:prstGeom>
          <a:ln w="25400">
            <a:solidFill>
              <a:srgbClr val="000000"/>
            </a:solidFill>
            <a:miter lim="400000"/>
            <a:headEnd type="stealth"/>
          </a:ln>
        </p:spPr>
        <p:txBody>
          <a:bodyPr lIns="26789" tIns="26789" rIns="26789" bIns="26789" anchor="ctr"/>
          <a:lstStyle/>
          <a:p>
            <a:endParaRPr sz="949"/>
          </a:p>
        </p:txBody>
      </p:sp>
    </p:spTree>
    <p:extLst>
      <p:ext uri="{BB962C8B-B14F-4D97-AF65-F5344CB8AC3E}">
        <p14:creationId xmlns:p14="http://schemas.microsoft.com/office/powerpoint/2010/main" val="36316821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Vehicle"/>
          <p:cNvSpPr txBox="1"/>
          <p:nvPr/>
        </p:nvSpPr>
        <p:spPr>
          <a:xfrm>
            <a:off x="4002364" y="938662"/>
            <a:ext cx="766540"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Vehicle</a:t>
            </a:r>
          </a:p>
        </p:txBody>
      </p:sp>
      <p:sp>
        <p:nvSpPr>
          <p:cNvPr id="182" name="LandVehicle"/>
          <p:cNvSpPr txBox="1"/>
          <p:nvPr/>
        </p:nvSpPr>
        <p:spPr>
          <a:xfrm>
            <a:off x="2585599" y="1896371"/>
            <a:ext cx="1242632"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LandVehicle</a:t>
            </a:r>
          </a:p>
        </p:txBody>
      </p:sp>
      <p:sp>
        <p:nvSpPr>
          <p:cNvPr id="183" name="WaterVehicle"/>
          <p:cNvSpPr txBox="1"/>
          <p:nvPr/>
        </p:nvSpPr>
        <p:spPr>
          <a:xfrm>
            <a:off x="4890164" y="1896371"/>
            <a:ext cx="1375169"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WaterVehicle</a:t>
            </a:r>
          </a:p>
        </p:txBody>
      </p:sp>
      <p:sp>
        <p:nvSpPr>
          <p:cNvPr id="184" name="Car"/>
          <p:cNvSpPr txBox="1"/>
          <p:nvPr/>
        </p:nvSpPr>
        <p:spPr>
          <a:xfrm>
            <a:off x="1835236" y="3168851"/>
            <a:ext cx="385923"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Car</a:t>
            </a:r>
          </a:p>
        </p:txBody>
      </p:sp>
      <p:sp>
        <p:nvSpPr>
          <p:cNvPr id="185" name="Motorcycle"/>
          <p:cNvSpPr txBox="1"/>
          <p:nvPr/>
        </p:nvSpPr>
        <p:spPr>
          <a:xfrm>
            <a:off x="1228701" y="2472335"/>
            <a:ext cx="1170369"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Motorcycle</a:t>
            </a:r>
          </a:p>
        </p:txBody>
      </p:sp>
      <p:sp>
        <p:nvSpPr>
          <p:cNvPr id="186" name="Truck"/>
          <p:cNvSpPr txBox="1"/>
          <p:nvPr/>
        </p:nvSpPr>
        <p:spPr>
          <a:xfrm>
            <a:off x="2258557" y="3791697"/>
            <a:ext cx="584054"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Truck</a:t>
            </a:r>
          </a:p>
        </p:txBody>
      </p:sp>
      <p:sp>
        <p:nvSpPr>
          <p:cNvPr id="187" name="Yacht"/>
          <p:cNvSpPr txBox="1"/>
          <p:nvPr/>
        </p:nvSpPr>
        <p:spPr>
          <a:xfrm>
            <a:off x="6337127" y="3168851"/>
            <a:ext cx="584183"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Yacht</a:t>
            </a:r>
          </a:p>
        </p:txBody>
      </p:sp>
      <p:sp>
        <p:nvSpPr>
          <p:cNvPr id="188" name="SpeedBoat"/>
          <p:cNvSpPr txBox="1"/>
          <p:nvPr/>
        </p:nvSpPr>
        <p:spPr>
          <a:xfrm>
            <a:off x="6663142" y="2472335"/>
            <a:ext cx="1124267"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SpeedBoat</a:t>
            </a:r>
          </a:p>
        </p:txBody>
      </p:sp>
      <p:sp>
        <p:nvSpPr>
          <p:cNvPr id="189" name="Skiff"/>
          <p:cNvSpPr txBox="1"/>
          <p:nvPr/>
        </p:nvSpPr>
        <p:spPr>
          <a:xfrm>
            <a:off x="6149054" y="3791697"/>
            <a:ext cx="478128"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Skiff</a:t>
            </a:r>
          </a:p>
        </p:txBody>
      </p:sp>
      <p:sp>
        <p:nvSpPr>
          <p:cNvPr id="190" name="AmphibiousVehicle"/>
          <p:cNvSpPr txBox="1"/>
          <p:nvPr/>
        </p:nvSpPr>
        <p:spPr>
          <a:xfrm>
            <a:off x="3410856" y="3791697"/>
            <a:ext cx="1949557" cy="346169"/>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3600">
                <a:latin typeface="+mj-lt"/>
                <a:ea typeface="+mj-ea"/>
                <a:cs typeface="+mj-cs"/>
                <a:sym typeface="Baskerville"/>
              </a:defRPr>
            </a:lvl1pPr>
          </a:lstStyle>
          <a:p>
            <a:r>
              <a:rPr sz="1898"/>
              <a:t>AmphibiousVehicle</a:t>
            </a:r>
          </a:p>
        </p:txBody>
      </p:sp>
      <p:sp>
        <p:nvSpPr>
          <p:cNvPr id="191" name="Line"/>
          <p:cNvSpPr/>
          <p:nvPr/>
        </p:nvSpPr>
        <p:spPr>
          <a:xfrm flipH="1">
            <a:off x="3482360" y="1285875"/>
            <a:ext cx="815052" cy="610341"/>
          </a:xfrm>
          <a:prstGeom prst="line">
            <a:avLst/>
          </a:prstGeom>
          <a:ln w="38100">
            <a:solidFill>
              <a:srgbClr val="000000"/>
            </a:solidFill>
            <a:miter lim="400000"/>
            <a:headEnd type="stealth"/>
          </a:ln>
        </p:spPr>
        <p:txBody>
          <a:bodyPr lIns="26789" tIns="26789" rIns="26789" bIns="26789" anchor="ctr"/>
          <a:lstStyle/>
          <a:p>
            <a:endParaRPr sz="949"/>
          </a:p>
        </p:txBody>
      </p:sp>
      <p:sp>
        <p:nvSpPr>
          <p:cNvPr id="192" name="Line"/>
          <p:cNvSpPr/>
          <p:nvPr/>
        </p:nvSpPr>
        <p:spPr>
          <a:xfrm>
            <a:off x="4605486" y="1285875"/>
            <a:ext cx="642624" cy="613402"/>
          </a:xfrm>
          <a:prstGeom prst="line">
            <a:avLst/>
          </a:prstGeom>
          <a:ln w="38100">
            <a:solidFill>
              <a:srgbClr val="000000"/>
            </a:solidFill>
            <a:miter lim="400000"/>
            <a:headEnd type="stealth"/>
          </a:ln>
        </p:spPr>
        <p:txBody>
          <a:bodyPr lIns="26789" tIns="26789" rIns="26789" bIns="26789" anchor="ctr"/>
          <a:lstStyle/>
          <a:p>
            <a:endParaRPr sz="949"/>
          </a:p>
        </p:txBody>
      </p:sp>
      <p:sp>
        <p:nvSpPr>
          <p:cNvPr id="193" name="Line"/>
          <p:cNvSpPr/>
          <p:nvPr/>
        </p:nvSpPr>
        <p:spPr>
          <a:xfrm flipH="1">
            <a:off x="2256760" y="2239816"/>
            <a:ext cx="784130" cy="1116404"/>
          </a:xfrm>
          <a:prstGeom prst="line">
            <a:avLst/>
          </a:prstGeom>
          <a:ln w="38100">
            <a:solidFill>
              <a:srgbClr val="000000"/>
            </a:solidFill>
            <a:miter lim="400000"/>
            <a:headEnd type="stealth"/>
          </a:ln>
        </p:spPr>
        <p:txBody>
          <a:bodyPr lIns="26789" tIns="26789" rIns="26789" bIns="26789" anchor="ctr"/>
          <a:lstStyle/>
          <a:p>
            <a:endParaRPr sz="949"/>
          </a:p>
        </p:txBody>
      </p:sp>
      <p:sp>
        <p:nvSpPr>
          <p:cNvPr id="194" name="Line"/>
          <p:cNvSpPr/>
          <p:nvPr/>
        </p:nvSpPr>
        <p:spPr>
          <a:xfrm flipH="1">
            <a:off x="2745661" y="2240000"/>
            <a:ext cx="663396" cy="1551542"/>
          </a:xfrm>
          <a:prstGeom prst="line">
            <a:avLst/>
          </a:prstGeom>
          <a:ln w="38100">
            <a:solidFill>
              <a:srgbClr val="000000"/>
            </a:solidFill>
            <a:miter lim="400000"/>
            <a:headEnd type="stealth"/>
          </a:ln>
        </p:spPr>
        <p:txBody>
          <a:bodyPr lIns="26789" tIns="26789" rIns="26789" bIns="26789" anchor="ctr"/>
          <a:lstStyle/>
          <a:p>
            <a:endParaRPr sz="949"/>
          </a:p>
        </p:txBody>
      </p:sp>
      <p:sp>
        <p:nvSpPr>
          <p:cNvPr id="195" name="Line"/>
          <p:cNvSpPr/>
          <p:nvPr/>
        </p:nvSpPr>
        <p:spPr>
          <a:xfrm flipH="1">
            <a:off x="2397403" y="2238247"/>
            <a:ext cx="372641" cy="387972"/>
          </a:xfrm>
          <a:prstGeom prst="line">
            <a:avLst/>
          </a:prstGeom>
          <a:ln w="38100">
            <a:solidFill>
              <a:srgbClr val="000000"/>
            </a:solidFill>
            <a:miter lim="400000"/>
            <a:headEnd type="stealth"/>
          </a:ln>
        </p:spPr>
        <p:txBody>
          <a:bodyPr lIns="26789" tIns="26789" rIns="26789" bIns="26789" anchor="ctr"/>
          <a:lstStyle/>
          <a:p>
            <a:endParaRPr sz="949"/>
          </a:p>
        </p:txBody>
      </p:sp>
      <p:sp>
        <p:nvSpPr>
          <p:cNvPr id="196" name="Line"/>
          <p:cNvSpPr/>
          <p:nvPr/>
        </p:nvSpPr>
        <p:spPr>
          <a:xfrm>
            <a:off x="6125373" y="2238247"/>
            <a:ext cx="533428" cy="408795"/>
          </a:xfrm>
          <a:prstGeom prst="line">
            <a:avLst/>
          </a:prstGeom>
          <a:ln w="38100">
            <a:solidFill>
              <a:srgbClr val="000000"/>
            </a:solidFill>
            <a:miter lim="400000"/>
            <a:headEnd type="stealth"/>
          </a:ln>
        </p:spPr>
        <p:txBody>
          <a:bodyPr lIns="26789" tIns="26789" rIns="26789" bIns="26789" anchor="ctr"/>
          <a:lstStyle/>
          <a:p>
            <a:endParaRPr sz="949"/>
          </a:p>
        </p:txBody>
      </p:sp>
      <p:sp>
        <p:nvSpPr>
          <p:cNvPr id="197" name="Line"/>
          <p:cNvSpPr/>
          <p:nvPr/>
        </p:nvSpPr>
        <p:spPr>
          <a:xfrm>
            <a:off x="5783813" y="2238247"/>
            <a:ext cx="528038" cy="1093957"/>
          </a:xfrm>
          <a:prstGeom prst="line">
            <a:avLst/>
          </a:prstGeom>
          <a:ln w="38100">
            <a:solidFill>
              <a:srgbClr val="000000"/>
            </a:solidFill>
            <a:miter lim="400000"/>
            <a:headEnd type="stealth"/>
          </a:ln>
        </p:spPr>
        <p:txBody>
          <a:bodyPr lIns="26789" tIns="26789" rIns="26789" bIns="26789" anchor="ctr"/>
          <a:lstStyle/>
          <a:p>
            <a:endParaRPr sz="949"/>
          </a:p>
        </p:txBody>
      </p:sp>
      <p:sp>
        <p:nvSpPr>
          <p:cNvPr id="198" name="Line"/>
          <p:cNvSpPr/>
          <p:nvPr/>
        </p:nvSpPr>
        <p:spPr>
          <a:xfrm>
            <a:off x="5475738" y="2251641"/>
            <a:ext cx="658739" cy="1740819"/>
          </a:xfrm>
          <a:prstGeom prst="line">
            <a:avLst/>
          </a:prstGeom>
          <a:ln w="38100">
            <a:solidFill>
              <a:srgbClr val="000000"/>
            </a:solidFill>
            <a:miter lim="400000"/>
            <a:headEnd type="stealth"/>
          </a:ln>
        </p:spPr>
        <p:txBody>
          <a:bodyPr lIns="26789" tIns="26789" rIns="26789" bIns="26789" anchor="ctr"/>
          <a:lstStyle/>
          <a:p>
            <a:endParaRPr sz="949"/>
          </a:p>
        </p:txBody>
      </p:sp>
      <p:sp>
        <p:nvSpPr>
          <p:cNvPr id="199" name="?"/>
          <p:cNvSpPr txBox="1"/>
          <p:nvPr/>
        </p:nvSpPr>
        <p:spPr>
          <a:xfrm>
            <a:off x="4133361" y="4050016"/>
            <a:ext cx="504546" cy="1222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14400">
                <a:solidFill>
                  <a:srgbClr val="FF2600"/>
                </a:solidFill>
                <a:latin typeface="+mj-lt"/>
                <a:ea typeface="+mj-ea"/>
                <a:cs typeface="+mj-cs"/>
                <a:sym typeface="Baskerville"/>
              </a:defRPr>
            </a:lvl1pPr>
          </a:lstStyle>
          <a:p>
            <a:r>
              <a:rPr sz="7593"/>
              <a:t>?</a:t>
            </a:r>
          </a:p>
        </p:txBody>
      </p:sp>
      <p:grpSp>
        <p:nvGrpSpPr>
          <p:cNvPr id="202" name="Group"/>
          <p:cNvGrpSpPr/>
          <p:nvPr/>
        </p:nvGrpSpPr>
        <p:grpSpPr>
          <a:xfrm>
            <a:off x="3757314" y="2240000"/>
            <a:ext cx="1439913" cy="1545499"/>
            <a:chOff x="0" y="0"/>
            <a:chExt cx="2730500" cy="2930723"/>
          </a:xfrm>
        </p:grpSpPr>
        <p:sp>
          <p:nvSpPr>
            <p:cNvPr id="200" name="Line"/>
            <p:cNvSpPr/>
            <p:nvPr/>
          </p:nvSpPr>
          <p:spPr>
            <a:xfrm>
              <a:off x="0" y="0"/>
              <a:ext cx="883345" cy="2919611"/>
            </a:xfrm>
            <a:prstGeom prst="line">
              <a:avLst/>
            </a:prstGeom>
            <a:noFill/>
            <a:ln w="38100" cap="flat">
              <a:solidFill>
                <a:srgbClr val="000000"/>
              </a:solidFill>
              <a:prstDash val="solid"/>
              <a:miter lim="400000"/>
              <a:headEnd type="stealth" w="med" len="med"/>
            </a:ln>
            <a:effectLst/>
          </p:spPr>
          <p:txBody>
            <a:bodyPr wrap="square" lIns="26789" tIns="26789" rIns="26789" bIns="26789" numCol="1" anchor="ctr">
              <a:noAutofit/>
            </a:bodyPr>
            <a:lstStyle/>
            <a:p>
              <a:endParaRPr sz="949"/>
            </a:p>
          </p:txBody>
        </p:sp>
        <p:sp>
          <p:nvSpPr>
            <p:cNvPr id="201" name="Line"/>
            <p:cNvSpPr/>
            <p:nvPr/>
          </p:nvSpPr>
          <p:spPr>
            <a:xfrm flipH="1">
              <a:off x="1967954" y="0"/>
              <a:ext cx="762547" cy="2930724"/>
            </a:xfrm>
            <a:prstGeom prst="line">
              <a:avLst/>
            </a:prstGeom>
            <a:noFill/>
            <a:ln w="38100" cap="flat">
              <a:solidFill>
                <a:srgbClr val="000000"/>
              </a:solidFill>
              <a:prstDash val="solid"/>
              <a:miter lim="400000"/>
              <a:headEnd type="stealth" w="med" len="med"/>
            </a:ln>
            <a:effectLst/>
          </p:spPr>
          <p:txBody>
            <a:bodyPr wrap="square" lIns="26789" tIns="26789" rIns="26789" bIns="26789" numCol="1" anchor="ctr">
              <a:noAutofit/>
            </a:bodyPr>
            <a:lstStyle/>
            <a:p>
              <a:endParaRPr sz="949"/>
            </a:p>
          </p:txBody>
        </p:sp>
      </p:grpSp>
      <p:pic>
        <p:nvPicPr>
          <p:cNvPr id="203" name="droppedImage.png" descr="droppedImage.png"/>
          <p:cNvPicPr>
            <a:picLocks noChangeAspect="1"/>
          </p:cNvPicPr>
          <p:nvPr/>
        </p:nvPicPr>
        <p:blipFill>
          <a:blip r:embed="rId3">
            <a:extLst/>
          </a:blip>
          <a:stretch>
            <a:fillRect/>
          </a:stretch>
        </p:blipFill>
        <p:spPr>
          <a:xfrm>
            <a:off x="6772737" y="3615176"/>
            <a:ext cx="1172022" cy="1516564"/>
          </a:xfrm>
          <a:prstGeom prst="rect">
            <a:avLst/>
          </a:prstGeom>
          <a:ln w="12700">
            <a:miter lim="400000"/>
          </a:ln>
        </p:spPr>
      </p:pic>
    </p:spTree>
    <p:extLst>
      <p:ext uri="{BB962C8B-B14F-4D97-AF65-F5344CB8AC3E}">
        <p14:creationId xmlns:p14="http://schemas.microsoft.com/office/powerpoint/2010/main" val="32229459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animBg="1" advAuto="0"/>
      <p:bldP spid="199" grpId="0" animBg="1" advAuto="0"/>
      <p:bldP spid="202" grpId="0" animBg="1" advAuto="0"/>
      <p:bldP spid="203" grpId="0"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Transform"/>
          <p:cNvSpPr txBox="1"/>
          <p:nvPr/>
        </p:nvSpPr>
        <p:spPr>
          <a:xfrm>
            <a:off x="4883531" y="2708494"/>
            <a:ext cx="718707"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Transform</a:t>
            </a:r>
          </a:p>
        </p:txBody>
      </p:sp>
      <p:sp>
        <p:nvSpPr>
          <p:cNvPr id="313" name="AnimationController"/>
          <p:cNvSpPr txBox="1"/>
          <p:nvPr/>
        </p:nvSpPr>
        <p:spPr>
          <a:xfrm>
            <a:off x="4879424" y="3023266"/>
            <a:ext cx="1396648"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AnimationController</a:t>
            </a:r>
          </a:p>
        </p:txBody>
      </p:sp>
      <p:sp>
        <p:nvSpPr>
          <p:cNvPr id="314" name="RigidBody"/>
          <p:cNvSpPr txBox="1"/>
          <p:nvPr/>
        </p:nvSpPr>
        <p:spPr>
          <a:xfrm>
            <a:off x="4888020" y="3364826"/>
            <a:ext cx="709730"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RigidBody</a:t>
            </a:r>
          </a:p>
        </p:txBody>
      </p:sp>
      <p:sp>
        <p:nvSpPr>
          <p:cNvPr id="315" name="MeshInstance"/>
          <p:cNvSpPr txBox="1"/>
          <p:nvPr/>
        </p:nvSpPr>
        <p:spPr>
          <a:xfrm>
            <a:off x="4861614" y="3686295"/>
            <a:ext cx="976854"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MeshInstance</a:t>
            </a:r>
          </a:p>
        </p:txBody>
      </p:sp>
      <p:sp>
        <p:nvSpPr>
          <p:cNvPr id="316" name="Line"/>
          <p:cNvSpPr/>
          <p:nvPr/>
        </p:nvSpPr>
        <p:spPr>
          <a:xfrm>
            <a:off x="4632275" y="2611934"/>
            <a:ext cx="0" cy="1213889"/>
          </a:xfrm>
          <a:prstGeom prst="line">
            <a:avLst/>
          </a:prstGeom>
          <a:ln w="25400">
            <a:solidFill>
              <a:srgbClr val="000000"/>
            </a:solidFill>
            <a:miter lim="400000"/>
            <a:headEnd type="stealth"/>
          </a:ln>
        </p:spPr>
        <p:txBody>
          <a:bodyPr lIns="26789" tIns="26789" rIns="26789" bIns="26789" anchor="ctr"/>
          <a:lstStyle/>
          <a:p>
            <a:endParaRPr sz="949"/>
          </a:p>
        </p:txBody>
      </p:sp>
      <p:sp>
        <p:nvSpPr>
          <p:cNvPr id="317" name="Line"/>
          <p:cNvSpPr/>
          <p:nvPr/>
        </p:nvSpPr>
        <p:spPr>
          <a:xfrm flipH="1">
            <a:off x="4638973" y="2839641"/>
            <a:ext cx="223828" cy="1"/>
          </a:xfrm>
          <a:prstGeom prst="line">
            <a:avLst/>
          </a:prstGeom>
          <a:ln w="25400">
            <a:solidFill>
              <a:srgbClr val="000000"/>
            </a:solidFill>
            <a:miter lim="400000"/>
          </a:ln>
        </p:spPr>
        <p:txBody>
          <a:bodyPr lIns="26789" tIns="26789" rIns="26789" bIns="26789" anchor="ctr"/>
          <a:lstStyle/>
          <a:p>
            <a:endParaRPr sz="949"/>
          </a:p>
        </p:txBody>
      </p:sp>
      <p:sp>
        <p:nvSpPr>
          <p:cNvPr id="318" name="Line"/>
          <p:cNvSpPr/>
          <p:nvPr/>
        </p:nvSpPr>
        <p:spPr>
          <a:xfrm flipH="1">
            <a:off x="4638973" y="3154412"/>
            <a:ext cx="223828" cy="1"/>
          </a:xfrm>
          <a:prstGeom prst="line">
            <a:avLst/>
          </a:prstGeom>
          <a:ln w="25400">
            <a:solidFill>
              <a:srgbClr val="000000"/>
            </a:solidFill>
            <a:miter lim="400000"/>
          </a:ln>
        </p:spPr>
        <p:txBody>
          <a:bodyPr lIns="26789" tIns="26789" rIns="26789" bIns="26789" anchor="ctr"/>
          <a:lstStyle/>
          <a:p>
            <a:endParaRPr sz="949"/>
          </a:p>
        </p:txBody>
      </p:sp>
      <p:sp>
        <p:nvSpPr>
          <p:cNvPr id="319" name="Line"/>
          <p:cNvSpPr/>
          <p:nvPr/>
        </p:nvSpPr>
        <p:spPr>
          <a:xfrm flipH="1">
            <a:off x="4638973" y="3495973"/>
            <a:ext cx="223828" cy="1"/>
          </a:xfrm>
          <a:prstGeom prst="line">
            <a:avLst/>
          </a:prstGeom>
          <a:ln w="25400">
            <a:solidFill>
              <a:srgbClr val="000000"/>
            </a:solidFill>
            <a:miter lim="400000"/>
          </a:ln>
        </p:spPr>
        <p:txBody>
          <a:bodyPr lIns="26789" tIns="26789" rIns="26789" bIns="26789" anchor="ctr"/>
          <a:lstStyle/>
          <a:p>
            <a:endParaRPr sz="949"/>
          </a:p>
        </p:txBody>
      </p:sp>
      <p:sp>
        <p:nvSpPr>
          <p:cNvPr id="320" name="Line"/>
          <p:cNvSpPr/>
          <p:nvPr/>
        </p:nvSpPr>
        <p:spPr>
          <a:xfrm flipH="1">
            <a:off x="4638973" y="3817441"/>
            <a:ext cx="223828" cy="1"/>
          </a:xfrm>
          <a:prstGeom prst="line">
            <a:avLst/>
          </a:prstGeom>
          <a:ln w="25400">
            <a:solidFill>
              <a:srgbClr val="000000"/>
            </a:solidFill>
            <a:miter lim="400000"/>
          </a:ln>
        </p:spPr>
        <p:txBody>
          <a:bodyPr lIns="26789" tIns="26789" rIns="26789" bIns="26789" anchor="ctr"/>
          <a:lstStyle/>
          <a:p>
            <a:endParaRPr sz="949"/>
          </a:p>
        </p:txBody>
      </p:sp>
      <p:graphicFrame>
        <p:nvGraphicFramePr>
          <p:cNvPr id="321" name="Table"/>
          <p:cNvGraphicFramePr/>
          <p:nvPr/>
        </p:nvGraphicFramePr>
        <p:xfrm>
          <a:off x="3996035" y="1379637"/>
          <a:ext cx="1259086" cy="1258490"/>
        </p:xfrm>
        <a:graphic>
          <a:graphicData uri="http://schemas.openxmlformats.org/drawingml/2006/table">
            <a:tbl>
              <a:tblPr/>
              <a:tblGrid>
                <a:gridCol w="1259086">
                  <a:extLst>
                    <a:ext uri="{9D8B030D-6E8A-4147-A177-3AD203B41FA5}">
                      <a16:colId xmlns:a16="http://schemas.microsoft.com/office/drawing/2014/main" val="20000"/>
                    </a:ext>
                  </a:extLst>
                </a:gridCol>
              </a:tblGrid>
              <a:tr h="246459">
                <a:tc>
                  <a:txBody>
                    <a:bodyPr/>
                    <a:lstStyle/>
                    <a:p>
                      <a:pPr defTabSz="914400">
                        <a:tabLst>
                          <a:tab pos="914400" algn="l"/>
                        </a:tabLst>
                        <a:defRPr sz="2400">
                          <a:uFillTx/>
                          <a:latin typeface="+mj-lt"/>
                          <a:ea typeface="+mj-ea"/>
                          <a:cs typeface="+mj-cs"/>
                          <a:sym typeface="Baskerville"/>
                        </a:defRPr>
                      </a:pPr>
                      <a:r>
                        <a:rPr sz="1300" b="1"/>
                        <a:t>Component</a:t>
                      </a:r>
                    </a:p>
                  </a:txBody>
                  <a:tcPr marL="26789" marR="26789" marT="26789" marB="26789"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0"/>
                  </a:ext>
                </a:extLst>
              </a:tr>
              <a:tr h="246459">
                <a:tc>
                  <a:txBody>
                    <a:bodyPr/>
                    <a:lstStyle/>
                    <a:p>
                      <a:pPr algn="l" defTabSz="914400">
                        <a:tabLst>
                          <a:tab pos="914400" algn="l"/>
                        </a:tabLst>
                        <a:defRPr>
                          <a:uFillTx/>
                        </a:defRPr>
                      </a:pPr>
                      <a:r>
                        <a:rPr sz="1300">
                          <a:latin typeface="+mj-lt"/>
                          <a:ea typeface="+mj-ea"/>
                          <a:cs typeface="+mj-cs"/>
                          <a:sym typeface="Baskerville"/>
                        </a:rPr>
                        <a:t>+GetType()</a:t>
                      </a:r>
                    </a:p>
                  </a:txBody>
                  <a:tcPr marL="26789" marR="26789" marT="26789" marB="26789" anchor="ctr" horzOverflow="overflow">
                    <a:lnL w="12700">
                      <a:solidFill>
                        <a:srgbClr val="000000"/>
                      </a:solidFill>
                      <a:miter lim="400000"/>
                    </a:lnL>
                    <a:lnR w="12700">
                      <a:solidFill>
                        <a:srgbClr val="000000"/>
                      </a:solidFill>
                      <a:miter lim="400000"/>
                    </a:lnR>
                    <a:lnT w="12700">
                      <a:solidFill>
                        <a:srgbClr val="000000"/>
                      </a:solidFill>
                      <a:miter lim="400000"/>
                    </a:lnT>
                    <a:lnB w="0">
                      <a:miter lim="400000"/>
                    </a:lnB>
                  </a:tcPr>
                </a:tc>
                <a:extLst>
                  <a:ext uri="{0D108BD9-81ED-4DB2-BD59-A6C34878D82A}">
                    <a16:rowId xmlns:a16="http://schemas.microsoft.com/office/drawing/2014/main" val="10001"/>
                  </a:ext>
                </a:extLst>
              </a:tr>
              <a:tr h="246459">
                <a:tc>
                  <a:txBody>
                    <a:bodyPr/>
                    <a:lstStyle/>
                    <a:p>
                      <a:pPr algn="l" defTabSz="914400">
                        <a:tabLst>
                          <a:tab pos="914400" algn="l"/>
                        </a:tabLst>
                        <a:defRPr>
                          <a:uFillTx/>
                        </a:defRPr>
                      </a:pPr>
                      <a:r>
                        <a:rPr sz="1300">
                          <a:latin typeface="+mj-lt"/>
                          <a:ea typeface="+mj-ea"/>
                          <a:cs typeface="+mj-cs"/>
                          <a:sym typeface="Baskerville"/>
                        </a:rPr>
                        <a:t>+IsType()</a:t>
                      </a:r>
                    </a:p>
                  </a:txBody>
                  <a:tcPr marL="26789" marR="26789" marT="26789" marB="26789" anchor="ctr" horzOverflow="overflow">
                    <a:lnL w="12700">
                      <a:solidFill>
                        <a:srgbClr val="000000"/>
                      </a:solidFill>
                      <a:miter lim="400000"/>
                    </a:lnL>
                    <a:lnR w="12700">
                      <a:solidFill>
                        <a:srgbClr val="000000"/>
                      </a:solidFill>
                      <a:miter lim="400000"/>
                    </a:lnR>
                    <a:lnT w="0">
                      <a:miter lim="400000"/>
                    </a:lnT>
                    <a:lnB w="0">
                      <a:miter lim="400000"/>
                    </a:lnB>
                  </a:tcPr>
                </a:tc>
                <a:extLst>
                  <a:ext uri="{0D108BD9-81ED-4DB2-BD59-A6C34878D82A}">
                    <a16:rowId xmlns:a16="http://schemas.microsoft.com/office/drawing/2014/main" val="10002"/>
                  </a:ext>
                </a:extLst>
              </a:tr>
              <a:tr h="246459">
                <a:tc>
                  <a:txBody>
                    <a:bodyPr/>
                    <a:lstStyle/>
                    <a:p>
                      <a:pPr algn="l" defTabSz="914400">
                        <a:tabLst>
                          <a:tab pos="914400" algn="l"/>
                        </a:tabLst>
                        <a:defRPr>
                          <a:uFillTx/>
                        </a:defRPr>
                      </a:pPr>
                      <a:r>
                        <a:rPr sz="1300">
                          <a:latin typeface="+mj-lt"/>
                          <a:ea typeface="+mj-ea"/>
                          <a:cs typeface="+mj-cs"/>
                          <a:sym typeface="Baskerville"/>
                        </a:rPr>
                        <a:t>+ReceiveEvent()</a:t>
                      </a:r>
                    </a:p>
                  </a:txBody>
                  <a:tcPr marL="26789" marR="26789" marT="26789" marB="26789" anchor="ctr" horzOverflow="overflow">
                    <a:lnL w="12700">
                      <a:solidFill>
                        <a:srgbClr val="000000"/>
                      </a:solidFill>
                      <a:miter lim="400000"/>
                    </a:lnL>
                    <a:lnR w="12700">
                      <a:solidFill>
                        <a:srgbClr val="000000"/>
                      </a:solidFill>
                      <a:miter lim="400000"/>
                    </a:lnR>
                    <a:lnT w="0">
                      <a:miter lim="400000"/>
                    </a:lnT>
                    <a:lnB w="0">
                      <a:miter lim="400000"/>
                    </a:lnB>
                  </a:tcPr>
                </a:tc>
                <a:extLst>
                  <a:ext uri="{0D108BD9-81ED-4DB2-BD59-A6C34878D82A}">
                    <a16:rowId xmlns:a16="http://schemas.microsoft.com/office/drawing/2014/main" val="10003"/>
                  </a:ext>
                </a:extLst>
              </a:tr>
              <a:tr h="246459">
                <a:tc>
                  <a:txBody>
                    <a:bodyPr/>
                    <a:lstStyle/>
                    <a:p>
                      <a:pPr algn="l" defTabSz="914400">
                        <a:tabLst>
                          <a:tab pos="914400" algn="l"/>
                        </a:tabLst>
                        <a:defRPr>
                          <a:uFillTx/>
                        </a:defRPr>
                      </a:pPr>
                      <a:r>
                        <a:rPr sz="1300">
                          <a:latin typeface="+mj-lt"/>
                          <a:ea typeface="+mj-ea"/>
                          <a:cs typeface="+mj-cs"/>
                          <a:sym typeface="Baskerville"/>
                        </a:rPr>
                        <a:t>+Update()</a:t>
                      </a:r>
                    </a:p>
                  </a:txBody>
                  <a:tcPr marL="26789" marR="26789" marT="26789" marB="26789" anchor="ctr" horzOverflow="overflow">
                    <a:lnL w="12700">
                      <a:solidFill>
                        <a:srgbClr val="000000"/>
                      </a:solidFill>
                      <a:miter lim="400000"/>
                    </a:lnL>
                    <a:lnR w="12700">
                      <a:solidFill>
                        <a:srgbClr val="000000"/>
                      </a:solidFill>
                      <a:miter lim="400000"/>
                    </a:lnR>
                    <a:lnT w="0">
                      <a:miter lim="400000"/>
                    </a:lnT>
                    <a:lnB w="12700">
                      <a:solidFill>
                        <a:srgbClr val="000000"/>
                      </a:solidFill>
                      <a:miter lim="400000"/>
                    </a:lnB>
                  </a:tcPr>
                </a:tc>
                <a:extLst>
                  <a:ext uri="{0D108BD9-81ED-4DB2-BD59-A6C34878D82A}">
                    <a16:rowId xmlns:a16="http://schemas.microsoft.com/office/drawing/2014/main" val="10004"/>
                  </a:ext>
                </a:extLst>
              </a:tr>
            </a:tbl>
          </a:graphicData>
        </a:graphic>
      </p:graphicFrame>
      <p:sp>
        <p:nvSpPr>
          <p:cNvPr id="322" name="Shape"/>
          <p:cNvSpPr/>
          <p:nvPr/>
        </p:nvSpPr>
        <p:spPr>
          <a:xfrm>
            <a:off x="3199060" y="1915418"/>
            <a:ext cx="274588" cy="154037"/>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rgbClr val="000000"/>
          </a:solidFill>
          <a:ln w="25400">
            <a:miter lim="400000"/>
          </a:ln>
        </p:spPr>
        <p:txBody>
          <a:bodyPr lIns="26789" tIns="26789" rIns="26789" bIns="26789" anchor="ctr"/>
          <a:lstStyle/>
          <a:p>
            <a:pPr algn="ctr" defTabSz="308049">
              <a:defRPr sz="4000">
                <a:latin typeface="+mj-lt"/>
                <a:ea typeface="+mj-ea"/>
                <a:cs typeface="+mj-cs"/>
                <a:sym typeface="Baskerville"/>
              </a:defRPr>
            </a:pPr>
            <a:endParaRPr sz="2109"/>
          </a:p>
        </p:txBody>
      </p:sp>
      <p:sp>
        <p:nvSpPr>
          <p:cNvPr id="323" name="GameObject"/>
          <p:cNvSpPr txBox="1"/>
          <p:nvPr/>
        </p:nvSpPr>
        <p:spPr>
          <a:xfrm>
            <a:off x="2284888" y="1864639"/>
            <a:ext cx="879648" cy="248898"/>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2400">
                <a:latin typeface="+mj-lt"/>
                <a:ea typeface="+mj-ea"/>
                <a:cs typeface="+mj-cs"/>
                <a:sym typeface="Baskerville"/>
              </a:defRPr>
            </a:lvl1pPr>
          </a:lstStyle>
          <a:p>
            <a:r>
              <a:rPr sz="1266"/>
              <a:t>GameObject</a:t>
            </a:r>
          </a:p>
        </p:txBody>
      </p:sp>
      <p:sp>
        <p:nvSpPr>
          <p:cNvPr id="324" name="Line"/>
          <p:cNvSpPr/>
          <p:nvPr/>
        </p:nvSpPr>
        <p:spPr>
          <a:xfrm flipH="1">
            <a:off x="3474475" y="1994958"/>
            <a:ext cx="493944" cy="1"/>
          </a:xfrm>
          <a:prstGeom prst="line">
            <a:avLst/>
          </a:prstGeom>
          <a:ln w="25400">
            <a:solidFill>
              <a:srgbClr val="000000"/>
            </a:solidFill>
            <a:miter lim="400000"/>
            <a:headEnd type="stealth"/>
          </a:ln>
        </p:spPr>
        <p:txBody>
          <a:bodyPr lIns="26789" tIns="26789" rIns="26789" bIns="26789" anchor="ctr"/>
          <a:lstStyle/>
          <a:p>
            <a:endParaRPr sz="949"/>
          </a:p>
        </p:txBody>
      </p:sp>
      <p:sp>
        <p:nvSpPr>
          <p:cNvPr id="325" name="*"/>
          <p:cNvSpPr txBox="1"/>
          <p:nvPr/>
        </p:nvSpPr>
        <p:spPr>
          <a:xfrm>
            <a:off x="3625023" y="2280507"/>
            <a:ext cx="195165" cy="3949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lvl1pPr algn="ctr" defTabSz="584200">
              <a:defRPr sz="4200">
                <a:latin typeface="+mj-lt"/>
                <a:ea typeface="+mj-ea"/>
                <a:cs typeface="+mj-cs"/>
                <a:sym typeface="Baskerville"/>
              </a:defRPr>
            </a:lvl1pPr>
          </a:lstStyle>
          <a:p>
            <a:r>
              <a:rPr sz="2215"/>
              <a:t>*</a:t>
            </a:r>
          </a:p>
        </p:txBody>
      </p:sp>
    </p:spTree>
    <p:extLst>
      <p:ext uri="{BB962C8B-B14F-4D97-AF65-F5344CB8AC3E}">
        <p14:creationId xmlns:p14="http://schemas.microsoft.com/office/powerpoint/2010/main" val="3355473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Component-Based Entities"/>
          <p:cNvSpPr txBox="1">
            <a:spLocks noGrp="1"/>
          </p:cNvSpPr>
          <p:nvPr>
            <p:ph type="title"/>
          </p:nvPr>
        </p:nvSpPr>
        <p:spPr>
          <a:prstGeom prst="rect">
            <a:avLst/>
          </a:prstGeom>
        </p:spPr>
        <p:txBody>
          <a:bodyPr/>
          <a:lstStyle/>
          <a:p>
            <a:r>
              <a:t>Component-Based Entities</a:t>
            </a:r>
          </a:p>
        </p:txBody>
      </p:sp>
      <p:sp>
        <p:nvSpPr>
          <p:cNvPr id="330" name="class EntityComponent…"/>
          <p:cNvSpPr txBox="1">
            <a:spLocks noGrp="1"/>
          </p:cNvSpPr>
          <p:nvPr>
            <p:ph type="body" idx="1"/>
          </p:nvPr>
        </p:nvSpPr>
        <p:spPr>
          <a:xfrm>
            <a:off x="1447800" y="1047750"/>
            <a:ext cx="6111056" cy="3797963"/>
          </a:xfrm>
          <a:prstGeom prst="rect">
            <a:avLst/>
          </a:prstGeom>
        </p:spPr>
        <p:txBody>
          <a:bodyPr/>
          <a:lstStyle/>
          <a:p>
            <a:pPr marL="0" indent="0">
              <a:lnSpc>
                <a:spcPct val="80000"/>
              </a:lnSpc>
              <a:spcBef>
                <a:spcPts val="211"/>
              </a:spcBef>
              <a:defRPr sz="2200">
                <a:latin typeface="Courier New"/>
                <a:ea typeface="Courier New"/>
                <a:cs typeface="Courier New"/>
                <a:sym typeface="Courier New"/>
              </a:defRPr>
            </a:pPr>
            <a:r>
              <a:rPr sz="1200" dirty="0"/>
              <a:t>class </a:t>
            </a:r>
            <a:r>
              <a:rPr sz="1200" dirty="0" err="1"/>
              <a:t>EntityComponent</a:t>
            </a:r>
            <a:endParaRPr sz="1200" dirty="0"/>
          </a:p>
          <a:p>
            <a:pPr marL="0" indent="0">
              <a:lnSpc>
                <a:spcPct val="80000"/>
              </a:lnSpc>
              <a:spcBef>
                <a:spcPts val="211"/>
              </a:spcBef>
              <a:defRPr sz="2200">
                <a:latin typeface="Courier New"/>
                <a:ea typeface="Courier New"/>
                <a:cs typeface="Courier New"/>
                <a:sym typeface="Courier New"/>
              </a:defRPr>
            </a:pPr>
            <a:r>
              <a:rPr sz="1200" dirty="0"/>
              <a:t>{</a:t>
            </a:r>
          </a:p>
          <a:p>
            <a:pPr marL="0" indent="0">
              <a:lnSpc>
                <a:spcPct val="80000"/>
              </a:lnSpc>
              <a:spcBef>
                <a:spcPts val="211"/>
              </a:spcBef>
              <a:defRPr sz="2200">
                <a:latin typeface="Courier New"/>
                <a:ea typeface="Courier New"/>
                <a:cs typeface="Courier New"/>
                <a:sym typeface="Courier New"/>
              </a:defRPr>
            </a:pPr>
            <a:r>
              <a:rPr sz="1200" dirty="0"/>
              <a:t>    virtual unsigned </a:t>
            </a:r>
            <a:r>
              <a:rPr sz="1200" dirty="0" err="1"/>
              <a:t>GetID</a:t>
            </a:r>
            <a:r>
              <a:rPr sz="1200" dirty="0"/>
              <a:t>() = 0;</a:t>
            </a:r>
          </a:p>
          <a:p>
            <a:pPr marL="0" indent="0">
              <a:lnSpc>
                <a:spcPct val="80000"/>
              </a:lnSpc>
              <a:spcBef>
                <a:spcPts val="211"/>
              </a:spcBef>
              <a:defRPr sz="2200">
                <a:latin typeface="Courier New"/>
                <a:ea typeface="Courier New"/>
                <a:cs typeface="Courier New"/>
                <a:sym typeface="Courier New"/>
              </a:defRPr>
            </a:pPr>
            <a:r>
              <a:rPr sz="1200" dirty="0"/>
              <a:t>}</a:t>
            </a:r>
          </a:p>
          <a:p>
            <a:pPr marL="0" indent="0">
              <a:lnSpc>
                <a:spcPct val="80000"/>
              </a:lnSpc>
              <a:spcBef>
                <a:spcPts val="211"/>
              </a:spcBef>
              <a:defRPr sz="2200">
                <a:latin typeface="Courier New"/>
                <a:ea typeface="Courier New"/>
                <a:cs typeface="Courier New"/>
                <a:sym typeface="Courier New"/>
              </a:defRPr>
            </a:pPr>
            <a:endParaRPr sz="1200" dirty="0"/>
          </a:p>
          <a:p>
            <a:pPr marL="0" indent="0">
              <a:lnSpc>
                <a:spcPct val="80000"/>
              </a:lnSpc>
              <a:spcBef>
                <a:spcPts val="211"/>
              </a:spcBef>
              <a:defRPr sz="2200">
                <a:latin typeface="Courier New"/>
                <a:ea typeface="Courier New"/>
                <a:cs typeface="Courier New"/>
                <a:sym typeface="Courier New"/>
              </a:defRPr>
            </a:pPr>
            <a:r>
              <a:rPr sz="1200" dirty="0"/>
              <a:t>class </a:t>
            </a:r>
            <a:r>
              <a:rPr sz="1200" dirty="0" err="1"/>
              <a:t>Renderable</a:t>
            </a:r>
            <a:r>
              <a:rPr sz="1200" dirty="0"/>
              <a:t> : public </a:t>
            </a:r>
            <a:r>
              <a:rPr sz="1200" dirty="0" err="1"/>
              <a:t>EntityComponent</a:t>
            </a:r>
            <a:endParaRPr sz="1200" dirty="0"/>
          </a:p>
          <a:p>
            <a:pPr marL="0" indent="0">
              <a:lnSpc>
                <a:spcPct val="80000"/>
              </a:lnSpc>
              <a:spcBef>
                <a:spcPts val="211"/>
              </a:spcBef>
              <a:defRPr sz="2200">
                <a:latin typeface="Courier New"/>
                <a:ea typeface="Courier New"/>
                <a:cs typeface="Courier New"/>
                <a:sym typeface="Courier New"/>
              </a:defRPr>
            </a:pPr>
            <a:r>
              <a:rPr sz="1200" dirty="0"/>
              <a:t>{ </a:t>
            </a:r>
          </a:p>
          <a:p>
            <a:pPr marL="0" indent="0">
              <a:lnSpc>
                <a:spcPct val="80000"/>
              </a:lnSpc>
              <a:spcBef>
                <a:spcPts val="211"/>
              </a:spcBef>
              <a:defRPr sz="2200">
                <a:latin typeface="Courier New"/>
                <a:ea typeface="Courier New"/>
                <a:cs typeface="Courier New"/>
                <a:sym typeface="Courier New"/>
              </a:defRPr>
            </a:pPr>
            <a:r>
              <a:rPr sz="1200" dirty="0"/>
              <a:t>    unsigned </a:t>
            </a:r>
            <a:r>
              <a:rPr sz="1200" dirty="0" err="1"/>
              <a:t>GetID</a:t>
            </a:r>
            <a:r>
              <a:rPr sz="1200" dirty="0"/>
              <a:t>();</a:t>
            </a:r>
          </a:p>
          <a:p>
            <a:pPr marL="0" indent="0">
              <a:lnSpc>
                <a:spcPct val="80000"/>
              </a:lnSpc>
              <a:spcBef>
                <a:spcPts val="211"/>
              </a:spcBef>
              <a:defRPr sz="2200">
                <a:latin typeface="Courier New"/>
                <a:ea typeface="Courier New"/>
                <a:cs typeface="Courier New"/>
                <a:sym typeface="Courier New"/>
              </a:defRPr>
            </a:pPr>
            <a:r>
              <a:rPr sz="1200" dirty="0"/>
              <a:t>    void Update(float </a:t>
            </a:r>
            <a:r>
              <a:rPr sz="1200" dirty="0" err="1"/>
              <a:t>dt</a:t>
            </a:r>
            <a:r>
              <a:rPr sz="1200" dirty="0"/>
              <a:t>);</a:t>
            </a:r>
          </a:p>
          <a:p>
            <a:pPr marL="0" indent="0">
              <a:lnSpc>
                <a:spcPct val="80000"/>
              </a:lnSpc>
              <a:spcBef>
                <a:spcPts val="211"/>
              </a:spcBef>
              <a:defRPr sz="2200">
                <a:latin typeface="Courier New"/>
                <a:ea typeface="Courier New"/>
                <a:cs typeface="Courier New"/>
                <a:sym typeface="Courier New"/>
              </a:defRPr>
            </a:pPr>
            <a:r>
              <a:rPr sz="1200" dirty="0"/>
              <a:t>}</a:t>
            </a:r>
          </a:p>
          <a:p>
            <a:pPr marL="0" indent="0">
              <a:lnSpc>
                <a:spcPct val="80000"/>
              </a:lnSpc>
              <a:spcBef>
                <a:spcPts val="211"/>
              </a:spcBef>
              <a:defRPr sz="2200">
                <a:latin typeface="Courier New"/>
                <a:ea typeface="Courier New"/>
                <a:cs typeface="Courier New"/>
                <a:sym typeface="Courier New"/>
              </a:defRPr>
            </a:pPr>
            <a:endParaRPr sz="1200" dirty="0"/>
          </a:p>
          <a:p>
            <a:pPr marL="0" indent="0">
              <a:lnSpc>
                <a:spcPct val="80000"/>
              </a:lnSpc>
              <a:spcBef>
                <a:spcPts val="211"/>
              </a:spcBef>
              <a:defRPr sz="2200">
                <a:latin typeface="Courier New"/>
                <a:ea typeface="Courier New"/>
                <a:cs typeface="Courier New"/>
                <a:sym typeface="Courier New"/>
              </a:defRPr>
            </a:pPr>
            <a:r>
              <a:rPr sz="1200" dirty="0"/>
              <a:t>class </a:t>
            </a:r>
            <a:r>
              <a:rPr sz="1200" dirty="0" err="1"/>
              <a:t>CharacterAI</a:t>
            </a:r>
            <a:r>
              <a:rPr sz="1200" dirty="0"/>
              <a:t>: public </a:t>
            </a:r>
            <a:r>
              <a:rPr sz="1200" dirty="0" err="1"/>
              <a:t>EntityComponent</a:t>
            </a:r>
            <a:endParaRPr sz="1200" dirty="0"/>
          </a:p>
          <a:p>
            <a:pPr marL="0" indent="0">
              <a:lnSpc>
                <a:spcPct val="80000"/>
              </a:lnSpc>
              <a:spcBef>
                <a:spcPts val="211"/>
              </a:spcBef>
              <a:defRPr sz="2200">
                <a:latin typeface="Courier New"/>
                <a:ea typeface="Courier New"/>
                <a:cs typeface="Courier New"/>
                <a:sym typeface="Courier New"/>
              </a:defRPr>
            </a:pPr>
            <a:r>
              <a:rPr sz="1200" dirty="0"/>
              <a:t>{</a:t>
            </a:r>
          </a:p>
          <a:p>
            <a:pPr marL="0" indent="0">
              <a:lnSpc>
                <a:spcPct val="80000"/>
              </a:lnSpc>
              <a:spcBef>
                <a:spcPts val="211"/>
              </a:spcBef>
              <a:defRPr sz="2200">
                <a:latin typeface="Courier New"/>
                <a:ea typeface="Courier New"/>
                <a:cs typeface="Courier New"/>
                <a:sym typeface="Courier New"/>
              </a:defRPr>
            </a:pPr>
            <a:r>
              <a:rPr sz="1200" dirty="0"/>
              <a:t>    unsigned </a:t>
            </a:r>
            <a:r>
              <a:rPr sz="1200" dirty="0" err="1"/>
              <a:t>GetID</a:t>
            </a:r>
            <a:r>
              <a:rPr sz="1200" dirty="0"/>
              <a:t>();</a:t>
            </a:r>
          </a:p>
          <a:p>
            <a:pPr marL="0" indent="0">
              <a:lnSpc>
                <a:spcPct val="80000"/>
              </a:lnSpc>
              <a:spcBef>
                <a:spcPts val="211"/>
              </a:spcBef>
              <a:defRPr sz="2200">
                <a:latin typeface="Courier New"/>
                <a:ea typeface="Courier New"/>
                <a:cs typeface="Courier New"/>
                <a:sym typeface="Courier New"/>
              </a:defRPr>
            </a:pPr>
            <a:r>
              <a:rPr sz="1200" dirty="0"/>
              <a:t>    void Update(float </a:t>
            </a:r>
            <a:r>
              <a:rPr sz="1200" dirty="0" err="1"/>
              <a:t>dt</a:t>
            </a:r>
            <a:r>
              <a:rPr sz="1200" dirty="0"/>
              <a:t>);</a:t>
            </a:r>
          </a:p>
          <a:p>
            <a:pPr marL="0" indent="0">
              <a:lnSpc>
                <a:spcPct val="80000"/>
              </a:lnSpc>
              <a:spcBef>
                <a:spcPts val="211"/>
              </a:spcBef>
              <a:defRPr sz="2200">
                <a:latin typeface="Courier New"/>
                <a:ea typeface="Courier New"/>
                <a:cs typeface="Courier New"/>
                <a:sym typeface="Courier New"/>
              </a:defRPr>
            </a:pPr>
            <a:r>
              <a:rPr sz="1200" dirty="0"/>
              <a:t>}</a:t>
            </a:r>
          </a:p>
          <a:p>
            <a:pPr marL="0" indent="0">
              <a:lnSpc>
                <a:spcPct val="80000"/>
              </a:lnSpc>
              <a:spcBef>
                <a:spcPts val="211"/>
              </a:spcBef>
              <a:defRPr sz="2200">
                <a:latin typeface="Courier New"/>
                <a:ea typeface="Courier New"/>
                <a:cs typeface="Courier New"/>
                <a:sym typeface="Courier New"/>
              </a:defRPr>
            </a:pPr>
            <a:endParaRPr sz="1200" dirty="0"/>
          </a:p>
          <a:p>
            <a:pPr marL="0" indent="0">
              <a:lnSpc>
                <a:spcPct val="80000"/>
              </a:lnSpc>
              <a:spcBef>
                <a:spcPts val="211"/>
              </a:spcBef>
              <a:defRPr sz="2200">
                <a:latin typeface="Courier New"/>
                <a:ea typeface="Courier New"/>
                <a:cs typeface="Courier New"/>
                <a:sym typeface="Courier New"/>
              </a:defRPr>
            </a:pPr>
            <a:r>
              <a:rPr sz="1200" dirty="0"/>
              <a:t>class Entity</a:t>
            </a:r>
          </a:p>
          <a:p>
            <a:pPr marL="0" indent="0">
              <a:lnSpc>
                <a:spcPct val="80000"/>
              </a:lnSpc>
              <a:spcBef>
                <a:spcPts val="211"/>
              </a:spcBef>
              <a:defRPr sz="2200">
                <a:latin typeface="Courier New"/>
                <a:ea typeface="Courier New"/>
                <a:cs typeface="Courier New"/>
                <a:sym typeface="Courier New"/>
              </a:defRPr>
            </a:pPr>
            <a:r>
              <a:rPr sz="1200" dirty="0"/>
              <a:t>{</a:t>
            </a:r>
          </a:p>
          <a:p>
            <a:pPr marL="0" indent="0">
              <a:lnSpc>
                <a:spcPct val="80000"/>
              </a:lnSpc>
              <a:spcBef>
                <a:spcPts val="211"/>
              </a:spcBef>
              <a:defRPr sz="2200">
                <a:latin typeface="Courier New"/>
                <a:ea typeface="Courier New"/>
                <a:cs typeface="Courier New"/>
                <a:sym typeface="Courier New"/>
              </a:defRPr>
            </a:pPr>
            <a:r>
              <a:rPr sz="1200" dirty="0"/>
              <a:t>    void </a:t>
            </a:r>
            <a:r>
              <a:rPr sz="1200" dirty="0" err="1"/>
              <a:t>AddComponent</a:t>
            </a:r>
            <a:r>
              <a:rPr sz="1200" dirty="0"/>
              <a:t>(</a:t>
            </a:r>
            <a:r>
              <a:rPr sz="1200" dirty="0" err="1"/>
              <a:t>EntityComponent</a:t>
            </a:r>
            <a:r>
              <a:rPr sz="1200" dirty="0"/>
              <a:t>*);</a:t>
            </a:r>
          </a:p>
          <a:p>
            <a:pPr marL="0" indent="0">
              <a:lnSpc>
                <a:spcPct val="80000"/>
              </a:lnSpc>
              <a:spcBef>
                <a:spcPts val="211"/>
              </a:spcBef>
              <a:defRPr sz="2200">
                <a:latin typeface="Courier New"/>
                <a:ea typeface="Courier New"/>
                <a:cs typeface="Courier New"/>
                <a:sym typeface="Courier New"/>
              </a:defRPr>
            </a:pPr>
            <a:r>
              <a:rPr sz="1200" dirty="0"/>
              <a:t>    </a:t>
            </a:r>
            <a:r>
              <a:rPr sz="1200" dirty="0" err="1"/>
              <a:t>EntityComponent</a:t>
            </a:r>
            <a:r>
              <a:rPr sz="1200" dirty="0"/>
              <a:t>* </a:t>
            </a:r>
            <a:r>
              <a:rPr sz="1200" dirty="0" err="1"/>
              <a:t>GetComponent</a:t>
            </a:r>
            <a:r>
              <a:rPr sz="1200" dirty="0"/>
              <a:t>(unsigned id);</a:t>
            </a:r>
          </a:p>
          <a:p>
            <a:pPr marL="0" indent="0">
              <a:lnSpc>
                <a:spcPct val="80000"/>
              </a:lnSpc>
              <a:spcBef>
                <a:spcPts val="211"/>
              </a:spcBef>
              <a:defRPr sz="2200">
                <a:latin typeface="Courier New"/>
                <a:ea typeface="Courier New"/>
                <a:cs typeface="Courier New"/>
                <a:sym typeface="Courier New"/>
              </a:defRPr>
            </a:pPr>
            <a:r>
              <a:rPr sz="1200" dirty="0"/>
              <a:t>}</a:t>
            </a:r>
          </a:p>
        </p:txBody>
      </p:sp>
    </p:spTree>
    <p:extLst>
      <p:ext uri="{BB962C8B-B14F-4D97-AF65-F5344CB8AC3E}">
        <p14:creationId xmlns:p14="http://schemas.microsoft.com/office/powerpoint/2010/main" val="1997976634"/>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Component-Based Entities"/>
          <p:cNvSpPr txBox="1">
            <a:spLocks noGrp="1"/>
          </p:cNvSpPr>
          <p:nvPr>
            <p:ph type="title"/>
          </p:nvPr>
        </p:nvSpPr>
        <p:spPr>
          <a:xfrm>
            <a:off x="1215330" y="133945"/>
            <a:ext cx="6863358" cy="681597"/>
          </a:xfrm>
          <a:prstGeom prst="rect">
            <a:avLst/>
          </a:prstGeom>
        </p:spPr>
        <p:txBody>
          <a:bodyPr/>
          <a:lstStyle/>
          <a:p>
            <a:r>
              <a:rPr dirty="0"/>
              <a:t>Component-Based Entities</a:t>
            </a:r>
          </a:p>
        </p:txBody>
      </p:sp>
      <p:sp>
        <p:nvSpPr>
          <p:cNvPr id="335" name="Generalization of ownership system…"/>
          <p:cNvSpPr txBox="1">
            <a:spLocks noGrp="1"/>
          </p:cNvSpPr>
          <p:nvPr>
            <p:ph type="body" idx="1"/>
          </p:nvPr>
        </p:nvSpPr>
        <p:spPr>
          <a:xfrm>
            <a:off x="1143000" y="801648"/>
            <a:ext cx="7301498" cy="3831818"/>
          </a:xfrm>
          <a:prstGeom prst="rect">
            <a:avLst/>
          </a:prstGeom>
        </p:spPr>
        <p:txBody>
          <a:bodyPr/>
          <a:lstStyle/>
          <a:p>
            <a:pPr>
              <a:spcBef>
                <a:spcPts val="475"/>
              </a:spcBef>
              <a:defRPr sz="3600"/>
            </a:pPr>
            <a:r>
              <a:rPr sz="1600" dirty="0"/>
              <a:t>Generalization of ownership system</a:t>
            </a:r>
          </a:p>
          <a:p>
            <a:pPr lvl="1">
              <a:spcBef>
                <a:spcPts val="475"/>
              </a:spcBef>
              <a:defRPr sz="3600"/>
            </a:pPr>
            <a:r>
              <a:rPr sz="1600" dirty="0"/>
              <a:t>Entity is a generic collection of </a:t>
            </a:r>
            <a:r>
              <a:rPr sz="1600" dirty="0" err="1"/>
              <a:t>subobjects</a:t>
            </a:r>
            <a:endParaRPr sz="1600" dirty="0"/>
          </a:p>
          <a:p>
            <a:pPr lvl="1">
              <a:spcBef>
                <a:spcPts val="475"/>
              </a:spcBef>
              <a:defRPr sz="3600"/>
            </a:pPr>
            <a:r>
              <a:rPr sz="1600" dirty="0"/>
              <a:t>Like ownership, but without knowledge of types of owned objects</a:t>
            </a:r>
          </a:p>
          <a:p>
            <a:pPr lvl="1">
              <a:spcBef>
                <a:spcPts val="475"/>
              </a:spcBef>
              <a:defRPr sz="3600"/>
            </a:pPr>
            <a:r>
              <a:rPr sz="1600" dirty="0"/>
              <a:t>Components can be fetched via name or managed by the interested subsystem</a:t>
            </a:r>
          </a:p>
          <a:p>
            <a:pPr>
              <a:spcBef>
                <a:spcPts val="475"/>
              </a:spcBef>
              <a:defRPr sz="3600"/>
            </a:pPr>
            <a:r>
              <a:rPr sz="1600" dirty="0"/>
              <a:t>Much more flexible than code-driven hierarchies</a:t>
            </a:r>
          </a:p>
          <a:p>
            <a:pPr lvl="1">
              <a:spcBef>
                <a:spcPts val="475"/>
              </a:spcBef>
              <a:defRPr sz="3600"/>
            </a:pPr>
            <a:r>
              <a:rPr sz="1600" dirty="0"/>
              <a:t>Can add/remove components on the fly</a:t>
            </a:r>
          </a:p>
          <a:p>
            <a:pPr lvl="1">
              <a:spcBef>
                <a:spcPts val="475"/>
              </a:spcBef>
              <a:defRPr sz="3600"/>
            </a:pPr>
            <a:r>
              <a:rPr sz="1600" dirty="0"/>
              <a:t>Can build entities from components via script</a:t>
            </a:r>
          </a:p>
        </p:txBody>
      </p:sp>
    </p:spTree>
    <p:extLst>
      <p:ext uri="{BB962C8B-B14F-4D97-AF65-F5344CB8AC3E}">
        <p14:creationId xmlns:p14="http://schemas.microsoft.com/office/powerpoint/2010/main" val="331607448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3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35">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335">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335">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335">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335">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335">
                                            <p:txEl>
                                              <p:pRg st="5" end="5"/>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iterate>
                                    <p:tmAbs val="0"/>
                                  </p:iterate>
                                  <p:childTnLst>
                                    <p:set>
                                      <p:cBhvr>
                                        <p:cTn id="26" fill="hold"/>
                                        <p:tgtEl>
                                          <p:spTgt spid="3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 grpId="0" build="p" bldLvl="5"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Component-Based Entities"/>
          <p:cNvSpPr txBox="1">
            <a:spLocks noGrp="1"/>
          </p:cNvSpPr>
          <p:nvPr>
            <p:ph type="title"/>
          </p:nvPr>
        </p:nvSpPr>
        <p:spPr>
          <a:prstGeom prst="rect">
            <a:avLst/>
          </a:prstGeom>
        </p:spPr>
        <p:txBody>
          <a:bodyPr/>
          <a:lstStyle/>
          <a:p>
            <a:r>
              <a:t>Component-Based Entities</a:t>
            </a:r>
          </a:p>
        </p:txBody>
      </p:sp>
      <p:sp>
        <p:nvSpPr>
          <p:cNvPr id="340" name="Complicated, can be slow…"/>
          <p:cNvSpPr txBox="1">
            <a:spLocks noGrp="1"/>
          </p:cNvSpPr>
          <p:nvPr>
            <p:ph type="body" idx="1"/>
          </p:nvPr>
        </p:nvSpPr>
        <p:spPr>
          <a:xfrm>
            <a:off x="1812727" y="1717916"/>
            <a:ext cx="5518547" cy="2977738"/>
          </a:xfrm>
          <a:prstGeom prst="rect">
            <a:avLst/>
          </a:prstGeom>
        </p:spPr>
        <p:txBody>
          <a:bodyPr/>
          <a:lstStyle/>
          <a:p>
            <a:pPr>
              <a:spcBef>
                <a:spcPts val="316"/>
              </a:spcBef>
              <a:defRPr sz="3700"/>
            </a:pPr>
            <a:r>
              <a:rPr sz="1600" dirty="0"/>
              <a:t>Complicated, can be slow</a:t>
            </a:r>
          </a:p>
          <a:p>
            <a:pPr>
              <a:spcBef>
                <a:spcPts val="316"/>
              </a:spcBef>
              <a:defRPr sz="3700"/>
            </a:pPr>
            <a:r>
              <a:rPr sz="1600" dirty="0"/>
              <a:t>Communicating with and between components can be inconvenient</a:t>
            </a:r>
          </a:p>
          <a:p>
            <a:pPr>
              <a:spcBef>
                <a:spcPts val="316"/>
              </a:spcBef>
              <a:defRPr sz="3700"/>
            </a:pPr>
            <a:r>
              <a:rPr sz="1600" dirty="0"/>
              <a:t>Need sophisticated systems for</a:t>
            </a:r>
          </a:p>
          <a:p>
            <a:pPr lvl="1">
              <a:spcBef>
                <a:spcPts val="316"/>
              </a:spcBef>
              <a:defRPr sz="3700"/>
            </a:pPr>
            <a:r>
              <a:rPr sz="1600" dirty="0"/>
              <a:t>Updating components</a:t>
            </a:r>
          </a:p>
          <a:p>
            <a:pPr lvl="1">
              <a:spcBef>
                <a:spcPts val="316"/>
              </a:spcBef>
              <a:defRPr sz="3700"/>
            </a:pPr>
            <a:r>
              <a:rPr sz="1600" dirty="0"/>
              <a:t>Communicating between components</a:t>
            </a:r>
          </a:p>
          <a:p>
            <a:pPr lvl="1">
              <a:spcBef>
                <a:spcPts val="316"/>
              </a:spcBef>
              <a:defRPr sz="3700"/>
            </a:pPr>
            <a:r>
              <a:rPr sz="1600" dirty="0"/>
              <a:t>Sharing data between components</a:t>
            </a:r>
          </a:p>
          <a:p>
            <a:pPr>
              <a:spcBef>
                <a:spcPts val="316"/>
              </a:spcBef>
              <a:defRPr sz="3700"/>
            </a:pPr>
            <a:r>
              <a:rPr sz="1600" dirty="0"/>
              <a:t>Don’t derive components from anything other than base components</a:t>
            </a:r>
          </a:p>
          <a:p>
            <a:pPr lvl="1">
              <a:spcBef>
                <a:spcPts val="316"/>
              </a:spcBef>
              <a:defRPr sz="3700"/>
            </a:pPr>
            <a:r>
              <a:rPr sz="1600" dirty="0"/>
              <a:t>Otherwise you’re recreating the fragile hierarchy that we’re trying to get away from</a:t>
            </a:r>
          </a:p>
        </p:txBody>
      </p:sp>
    </p:spTree>
    <p:extLst>
      <p:ext uri="{BB962C8B-B14F-4D97-AF65-F5344CB8AC3E}">
        <p14:creationId xmlns:p14="http://schemas.microsoft.com/office/powerpoint/2010/main" val="195446618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4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4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4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40">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340">
                                            <p:txEl>
                                              <p:pRg st="3" end="3"/>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iterate>
                                    <p:tmAbs val="0"/>
                                  </p:iterate>
                                  <p:childTnLst>
                                    <p:set>
                                      <p:cBhvr>
                                        <p:cTn id="22" fill="hold"/>
                                        <p:tgtEl>
                                          <p:spTgt spid="340">
                                            <p:txEl>
                                              <p:pRg st="4" end="4"/>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iterate>
                                    <p:tmAbs val="0"/>
                                  </p:iterate>
                                  <p:childTnLst>
                                    <p:set>
                                      <p:cBhvr>
                                        <p:cTn id="25" fill="hold"/>
                                        <p:tgtEl>
                                          <p:spTgt spid="340">
                                            <p:txEl>
                                              <p:pRg st="5" end="5"/>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340">
                                            <p:txEl>
                                              <p:pRg st="6" end="6"/>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34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 grpId="0" build="p" bldLvl="5"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343150"/>
            <a:ext cx="7358063" cy="681597"/>
          </a:xfrm>
        </p:spPr>
        <p:txBody>
          <a:bodyPr/>
          <a:lstStyle/>
          <a:p>
            <a:r>
              <a:rPr lang="en-US" dirty="0" smtClean="0"/>
              <a:t>Back to the </a:t>
            </a:r>
            <a:r>
              <a:rPr lang="en-US" dirty="0" err="1" smtClean="0"/>
              <a:t>mainloop</a:t>
            </a:r>
            <a:endParaRPr lang="en-US" dirty="0"/>
          </a:p>
        </p:txBody>
      </p:sp>
    </p:spTree>
    <p:extLst>
      <p:ext uri="{BB962C8B-B14F-4D97-AF65-F5344CB8AC3E}">
        <p14:creationId xmlns:p14="http://schemas.microsoft.com/office/powerpoint/2010/main" val="782436921"/>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468120" cy="452120"/>
          </a:xfrm>
          <a:prstGeom prst="rect">
            <a:avLst/>
          </a:prstGeom>
        </p:spPr>
        <p:txBody>
          <a:bodyPr vert="horz" wrap="square" lIns="0" tIns="12700" rIns="0" bIns="0" rtlCol="0">
            <a:spAutoFit/>
          </a:bodyPr>
          <a:lstStyle/>
          <a:p>
            <a:pPr marL="12700">
              <a:lnSpc>
                <a:spcPct val="100000"/>
              </a:lnSpc>
              <a:spcBef>
                <a:spcPts val="100"/>
              </a:spcBef>
            </a:pPr>
            <a:r>
              <a:rPr dirty="0"/>
              <a:t>Multicore</a:t>
            </a:r>
          </a:p>
        </p:txBody>
      </p:sp>
      <p:sp>
        <p:nvSpPr>
          <p:cNvPr id="3" name="object 3"/>
          <p:cNvSpPr txBox="1"/>
          <p:nvPr/>
        </p:nvSpPr>
        <p:spPr>
          <a:xfrm>
            <a:off x="475249" y="1176350"/>
            <a:ext cx="7808595" cy="2033905"/>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dirty="0">
                <a:solidFill>
                  <a:srgbClr val="595959"/>
                </a:solidFill>
                <a:latin typeface="Arial"/>
                <a:cs typeface="Arial"/>
              </a:rPr>
              <a:t>Most </a:t>
            </a:r>
            <a:r>
              <a:rPr sz="1800" spc="-5" dirty="0">
                <a:solidFill>
                  <a:srgbClr val="595959"/>
                </a:solidFill>
                <a:latin typeface="Arial"/>
                <a:cs typeface="Arial"/>
              </a:rPr>
              <a:t>games </a:t>
            </a:r>
            <a:r>
              <a:rPr sz="1800" dirty="0">
                <a:solidFill>
                  <a:srgbClr val="595959"/>
                </a:solidFill>
                <a:latin typeface="Arial"/>
                <a:cs typeface="Arial"/>
              </a:rPr>
              <a:t>run </a:t>
            </a:r>
            <a:r>
              <a:rPr sz="1800" spc="-5" dirty="0">
                <a:solidFill>
                  <a:srgbClr val="595959"/>
                </a:solidFill>
                <a:latin typeface="Arial"/>
                <a:cs typeface="Arial"/>
              </a:rPr>
              <a:t>on </a:t>
            </a:r>
            <a:r>
              <a:rPr sz="1800" dirty="0">
                <a:solidFill>
                  <a:srgbClr val="595959"/>
                </a:solidFill>
                <a:latin typeface="Arial"/>
                <a:cs typeface="Arial"/>
              </a:rPr>
              <a:t>multicore</a:t>
            </a:r>
            <a:r>
              <a:rPr sz="1800" spc="-25" dirty="0">
                <a:solidFill>
                  <a:srgbClr val="595959"/>
                </a:solidFill>
                <a:latin typeface="Arial"/>
                <a:cs typeface="Arial"/>
              </a:rPr>
              <a:t> </a:t>
            </a:r>
            <a:r>
              <a:rPr sz="1800" spc="-5" dirty="0">
                <a:solidFill>
                  <a:srgbClr val="595959"/>
                </a:solidFill>
                <a:latin typeface="Arial"/>
                <a:cs typeface="Arial"/>
              </a:rPr>
              <a:t>CPUs</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Common </a:t>
            </a:r>
            <a:r>
              <a:rPr sz="1800" dirty="0">
                <a:solidFill>
                  <a:srgbClr val="595959"/>
                </a:solidFill>
                <a:latin typeface="Arial"/>
                <a:cs typeface="Arial"/>
              </a:rPr>
              <a:t>core counts </a:t>
            </a:r>
            <a:r>
              <a:rPr sz="1800" spc="-5" dirty="0">
                <a:solidFill>
                  <a:srgbClr val="595959"/>
                </a:solidFill>
                <a:latin typeface="Arial"/>
                <a:cs typeface="Arial"/>
              </a:rPr>
              <a:t>today </a:t>
            </a:r>
            <a:r>
              <a:rPr sz="1800" dirty="0">
                <a:solidFill>
                  <a:srgbClr val="595959"/>
                </a:solidFill>
                <a:latin typeface="Arial"/>
                <a:cs typeface="Arial"/>
              </a:rPr>
              <a:t>range </a:t>
            </a:r>
            <a:r>
              <a:rPr sz="1800" spc="-5" dirty="0">
                <a:solidFill>
                  <a:srgbClr val="595959"/>
                </a:solidFill>
                <a:latin typeface="Arial"/>
                <a:cs typeface="Arial"/>
              </a:rPr>
              <a:t>from </a:t>
            </a:r>
            <a:r>
              <a:rPr sz="1800" dirty="0">
                <a:solidFill>
                  <a:srgbClr val="595959"/>
                </a:solidFill>
                <a:latin typeface="Arial"/>
                <a:cs typeface="Arial"/>
              </a:rPr>
              <a:t>2 </a:t>
            </a:r>
            <a:r>
              <a:rPr sz="1800" spc="-5" dirty="0">
                <a:solidFill>
                  <a:srgbClr val="595959"/>
                </a:solidFill>
                <a:latin typeface="Arial"/>
                <a:cs typeface="Arial"/>
              </a:rPr>
              <a:t>to</a:t>
            </a:r>
            <a:r>
              <a:rPr sz="1800" spc="-40" dirty="0">
                <a:solidFill>
                  <a:srgbClr val="595959"/>
                </a:solidFill>
                <a:latin typeface="Arial"/>
                <a:cs typeface="Arial"/>
              </a:rPr>
              <a:t> </a:t>
            </a:r>
            <a:r>
              <a:rPr sz="1800" spc="-5" dirty="0">
                <a:solidFill>
                  <a:srgbClr val="595959"/>
                </a:solidFill>
                <a:latin typeface="Arial"/>
                <a:cs typeface="Arial"/>
              </a:rPr>
              <a:t>8+</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We probably want to use those</a:t>
            </a:r>
            <a:r>
              <a:rPr sz="1800" spc="-15" dirty="0">
                <a:solidFill>
                  <a:srgbClr val="595959"/>
                </a:solidFill>
                <a:latin typeface="Arial"/>
                <a:cs typeface="Arial"/>
              </a:rPr>
              <a:t> </a:t>
            </a:r>
            <a:r>
              <a:rPr sz="1800" dirty="0">
                <a:solidFill>
                  <a:srgbClr val="595959"/>
                </a:solidFill>
                <a:latin typeface="Arial"/>
                <a:cs typeface="Arial"/>
              </a:rPr>
              <a:t>cores</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We have </a:t>
            </a:r>
            <a:r>
              <a:rPr sz="1800" dirty="0">
                <a:solidFill>
                  <a:srgbClr val="595959"/>
                </a:solidFill>
                <a:latin typeface="Arial"/>
                <a:cs typeface="Arial"/>
              </a:rPr>
              <a:t>a </a:t>
            </a:r>
            <a:r>
              <a:rPr sz="1800" spc="-5" dirty="0">
                <a:solidFill>
                  <a:srgbClr val="595959"/>
                </a:solidFill>
                <a:latin typeface="Arial"/>
                <a:cs typeface="Arial"/>
              </a:rPr>
              <a:t>few</a:t>
            </a:r>
            <a:r>
              <a:rPr sz="1800" spc="-15" dirty="0">
                <a:solidFill>
                  <a:srgbClr val="595959"/>
                </a:solidFill>
                <a:latin typeface="Arial"/>
                <a:cs typeface="Arial"/>
              </a:rPr>
              <a:t> </a:t>
            </a:r>
            <a:r>
              <a:rPr sz="1800" spc="-5" dirty="0">
                <a:solidFill>
                  <a:srgbClr val="595959"/>
                </a:solidFill>
                <a:latin typeface="Arial"/>
                <a:cs typeface="Arial"/>
              </a:rPr>
              <a:t>options:</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Preserve the high level </a:t>
            </a:r>
            <a:r>
              <a:rPr sz="1400" dirty="0">
                <a:solidFill>
                  <a:srgbClr val="595959"/>
                </a:solidFill>
                <a:latin typeface="Arial"/>
                <a:cs typeface="Arial"/>
              </a:rPr>
              <a:t>sequential </a:t>
            </a:r>
            <a:r>
              <a:rPr sz="1400" spc="-5" dirty="0">
                <a:solidFill>
                  <a:srgbClr val="595959"/>
                </a:solidFill>
                <a:latin typeface="Arial"/>
                <a:cs typeface="Arial"/>
              </a:rPr>
              <a:t>nature of the </a:t>
            </a:r>
            <a:r>
              <a:rPr sz="1400" dirty="0">
                <a:solidFill>
                  <a:srgbClr val="595959"/>
                </a:solidFill>
                <a:latin typeface="Arial"/>
                <a:cs typeface="Arial"/>
              </a:rPr>
              <a:t>main </a:t>
            </a:r>
            <a:r>
              <a:rPr sz="1400" spc="-5" dirty="0">
                <a:solidFill>
                  <a:srgbClr val="595959"/>
                </a:solidFill>
                <a:latin typeface="Arial"/>
                <a:cs typeface="Arial"/>
              </a:rPr>
              <a:t>loop, go wide within </a:t>
            </a:r>
            <a:r>
              <a:rPr sz="1400" dirty="0">
                <a:solidFill>
                  <a:srgbClr val="595959"/>
                </a:solidFill>
                <a:latin typeface="Arial"/>
                <a:cs typeface="Arial"/>
              </a:rPr>
              <a:t>sim </a:t>
            </a:r>
            <a:r>
              <a:rPr sz="1400" spc="-5" dirty="0">
                <a:solidFill>
                  <a:srgbClr val="595959"/>
                </a:solidFill>
                <a:latin typeface="Arial"/>
                <a:cs typeface="Arial"/>
              </a:rPr>
              <a:t>and</a:t>
            </a:r>
            <a:r>
              <a:rPr sz="1400" spc="-60" dirty="0">
                <a:solidFill>
                  <a:srgbClr val="595959"/>
                </a:solidFill>
                <a:latin typeface="Arial"/>
                <a:cs typeface="Arial"/>
              </a:rPr>
              <a:t> </a:t>
            </a:r>
            <a:r>
              <a:rPr sz="1400" spc="-5" dirty="0">
                <a:solidFill>
                  <a:srgbClr val="595959"/>
                </a:solidFill>
                <a:latin typeface="Arial"/>
                <a:cs typeface="Arial"/>
              </a:rPr>
              <a:t>output</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Go fully asynchronous and process all phases of </a:t>
            </a:r>
            <a:r>
              <a:rPr sz="1400" dirty="0">
                <a:solidFill>
                  <a:srgbClr val="595959"/>
                </a:solidFill>
                <a:latin typeface="Arial"/>
                <a:cs typeface="Arial"/>
              </a:rPr>
              <a:t>main </a:t>
            </a:r>
            <a:r>
              <a:rPr sz="1400" spc="-5" dirty="0">
                <a:solidFill>
                  <a:srgbClr val="595959"/>
                </a:solidFill>
                <a:latin typeface="Arial"/>
                <a:cs typeface="Arial"/>
              </a:rPr>
              <a:t>loop in</a:t>
            </a:r>
            <a:r>
              <a:rPr sz="1400" spc="-25" dirty="0">
                <a:solidFill>
                  <a:srgbClr val="595959"/>
                </a:solidFill>
                <a:latin typeface="Arial"/>
                <a:cs typeface="Arial"/>
              </a:rPr>
              <a:t> </a:t>
            </a:r>
            <a:r>
              <a:rPr sz="1400" spc="-5" dirty="0">
                <a:solidFill>
                  <a:srgbClr val="595959"/>
                </a:solidFill>
                <a:latin typeface="Arial"/>
                <a:cs typeface="Arial"/>
              </a:rPr>
              <a:t>parallel</a:t>
            </a:r>
            <a:endParaRPr sz="1400">
              <a:latin typeface="Arial"/>
              <a:cs typeface="Arial"/>
            </a:endParaRPr>
          </a:p>
          <a:p>
            <a:pPr marL="836294" lvl="1" indent="-335915">
              <a:lnSpc>
                <a:spcPct val="100000"/>
              </a:lnSpc>
              <a:spcBef>
                <a:spcPts val="270"/>
              </a:spcBef>
              <a:buChar char="○"/>
              <a:tabLst>
                <a:tab pos="836294" algn="l"/>
                <a:tab pos="836930" algn="l"/>
              </a:tabLst>
            </a:pPr>
            <a:r>
              <a:rPr sz="1400" dirty="0">
                <a:solidFill>
                  <a:srgbClr val="595959"/>
                </a:solidFill>
                <a:latin typeface="Arial"/>
                <a:cs typeface="Arial"/>
              </a:rPr>
              <a:t>A </a:t>
            </a:r>
            <a:r>
              <a:rPr sz="1400" spc="-5" dirty="0">
                <a:solidFill>
                  <a:srgbClr val="595959"/>
                </a:solidFill>
                <a:latin typeface="Arial"/>
                <a:cs typeface="Arial"/>
              </a:rPr>
              <a:t>hybrid</a:t>
            </a:r>
            <a:r>
              <a:rPr sz="1400" spc="-15" dirty="0">
                <a:solidFill>
                  <a:srgbClr val="595959"/>
                </a:solidFill>
                <a:latin typeface="Arial"/>
                <a:cs typeface="Arial"/>
              </a:rPr>
              <a:t> </a:t>
            </a:r>
            <a:r>
              <a:rPr sz="1400" spc="-5" dirty="0">
                <a:solidFill>
                  <a:srgbClr val="595959"/>
                </a:solidFill>
                <a:latin typeface="Arial"/>
                <a:cs typeface="Arial"/>
              </a:rPr>
              <a:t>approach</a:t>
            </a:r>
            <a:endParaRPr sz="1400">
              <a:latin typeface="Arial"/>
              <a:cs typeface="Aria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406525" cy="452120"/>
          </a:xfrm>
          <a:prstGeom prst="rect">
            <a:avLst/>
          </a:prstGeom>
        </p:spPr>
        <p:txBody>
          <a:bodyPr vert="horz" wrap="square" lIns="0" tIns="12700" rIns="0" bIns="0" rtlCol="0">
            <a:spAutoFit/>
          </a:bodyPr>
          <a:lstStyle/>
          <a:p>
            <a:pPr marL="12700">
              <a:lnSpc>
                <a:spcPct val="100000"/>
              </a:lnSpc>
              <a:spcBef>
                <a:spcPts val="100"/>
              </a:spcBef>
            </a:pPr>
            <a:r>
              <a:rPr spc="-5" dirty="0"/>
              <a:t>Go</a:t>
            </a:r>
            <a:r>
              <a:rPr spc="-95" dirty="0"/>
              <a:t> </a:t>
            </a:r>
            <a:r>
              <a:rPr spc="-5" dirty="0"/>
              <a:t>Wide</a:t>
            </a:r>
          </a:p>
        </p:txBody>
      </p:sp>
      <p:sp>
        <p:nvSpPr>
          <p:cNvPr id="3" name="object 3"/>
          <p:cNvSpPr txBox="1"/>
          <p:nvPr/>
        </p:nvSpPr>
        <p:spPr>
          <a:xfrm>
            <a:off x="475249" y="1162308"/>
            <a:ext cx="5981065" cy="346710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What it looks</a:t>
            </a:r>
            <a:r>
              <a:rPr sz="1800" spc="-10" dirty="0">
                <a:solidFill>
                  <a:srgbClr val="595959"/>
                </a:solidFill>
                <a:latin typeface="Arial"/>
                <a:cs typeface="Arial"/>
              </a:rPr>
              <a:t> </a:t>
            </a:r>
            <a:r>
              <a:rPr sz="1800" spc="-5" dirty="0">
                <a:solidFill>
                  <a:srgbClr val="595959"/>
                </a:solidFill>
                <a:latin typeface="Arial"/>
                <a:cs typeface="Arial"/>
              </a:rPr>
              <a:t>like: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Inside </a:t>
            </a:r>
            <a:r>
              <a:rPr sz="1400" dirty="0">
                <a:solidFill>
                  <a:srgbClr val="595959"/>
                </a:solidFill>
                <a:latin typeface="Arial"/>
                <a:cs typeface="Arial"/>
              </a:rPr>
              <a:t>sim</a:t>
            </a:r>
            <a:r>
              <a:rPr sz="1400" spc="-10" dirty="0">
                <a:solidFill>
                  <a:srgbClr val="595959"/>
                </a:solidFill>
                <a:latin typeface="Arial"/>
                <a:cs typeface="Arial"/>
              </a:rPr>
              <a:t> </a:t>
            </a:r>
            <a:r>
              <a:rPr sz="1400" spc="-5" dirty="0">
                <a:solidFill>
                  <a:srgbClr val="595959"/>
                </a:solidFill>
                <a:latin typeface="Arial"/>
                <a:cs typeface="Arial"/>
              </a:rPr>
              <a:t>phase:</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Run game logic in</a:t>
            </a:r>
            <a:r>
              <a:rPr sz="1400" spc="-15" dirty="0">
                <a:solidFill>
                  <a:srgbClr val="595959"/>
                </a:solidFill>
                <a:latin typeface="Arial"/>
                <a:cs typeface="Arial"/>
              </a:rPr>
              <a:t> </a:t>
            </a:r>
            <a:r>
              <a:rPr sz="1400" spc="-5" dirty="0">
                <a:solidFill>
                  <a:srgbClr val="595959"/>
                </a:solidFill>
                <a:latin typeface="Arial"/>
                <a:cs typeface="Arial"/>
              </a:rPr>
              <a:t>parallel</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Solve physics in</a:t>
            </a:r>
            <a:r>
              <a:rPr sz="1400" spc="-10" dirty="0">
                <a:solidFill>
                  <a:srgbClr val="595959"/>
                </a:solidFill>
                <a:latin typeface="Arial"/>
                <a:cs typeface="Arial"/>
              </a:rPr>
              <a:t> </a:t>
            </a:r>
            <a:r>
              <a:rPr sz="1400" spc="-5" dirty="0">
                <a:solidFill>
                  <a:srgbClr val="595959"/>
                </a:solidFill>
                <a:latin typeface="Arial"/>
                <a:cs typeface="Arial"/>
              </a:rPr>
              <a:t>parallel</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Inside output</a:t>
            </a:r>
            <a:r>
              <a:rPr sz="1400" spc="-10" dirty="0">
                <a:solidFill>
                  <a:srgbClr val="595959"/>
                </a:solidFill>
                <a:latin typeface="Arial"/>
                <a:cs typeface="Arial"/>
              </a:rPr>
              <a:t> </a:t>
            </a:r>
            <a:r>
              <a:rPr sz="1400" spc="-5" dirty="0">
                <a:solidFill>
                  <a:srgbClr val="595959"/>
                </a:solidFill>
                <a:latin typeface="Arial"/>
                <a:cs typeface="Arial"/>
              </a:rPr>
              <a:t>phase:</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Build </a:t>
            </a:r>
            <a:r>
              <a:rPr sz="1400" dirty="0">
                <a:solidFill>
                  <a:srgbClr val="595959"/>
                </a:solidFill>
                <a:latin typeface="Arial"/>
                <a:cs typeface="Arial"/>
              </a:rPr>
              <a:t>command </a:t>
            </a:r>
            <a:r>
              <a:rPr sz="1400" spc="-5" dirty="0">
                <a:solidFill>
                  <a:srgbClr val="595959"/>
                </a:solidFill>
                <a:latin typeface="Arial"/>
                <a:cs typeface="Arial"/>
              </a:rPr>
              <a:t>buffers in</a:t>
            </a:r>
            <a:r>
              <a:rPr sz="1400" spc="-20" dirty="0">
                <a:solidFill>
                  <a:srgbClr val="595959"/>
                </a:solidFill>
                <a:latin typeface="Arial"/>
                <a:cs typeface="Arial"/>
              </a:rPr>
              <a:t> </a:t>
            </a:r>
            <a:r>
              <a:rPr sz="1400" spc="-5" dirty="0">
                <a:solidFill>
                  <a:srgbClr val="595959"/>
                </a:solidFill>
                <a:latin typeface="Arial"/>
                <a:cs typeface="Arial"/>
              </a:rPr>
              <a:t>parallel</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Evaluate audio in</a:t>
            </a:r>
            <a:r>
              <a:rPr sz="1400" spc="-10" dirty="0">
                <a:solidFill>
                  <a:srgbClr val="595959"/>
                </a:solidFill>
                <a:latin typeface="Arial"/>
                <a:cs typeface="Arial"/>
              </a:rPr>
              <a:t> </a:t>
            </a:r>
            <a:r>
              <a:rPr sz="1400" spc="-5" dirty="0">
                <a:solidFill>
                  <a:srgbClr val="595959"/>
                </a:solidFill>
                <a:latin typeface="Arial"/>
                <a:cs typeface="Arial"/>
              </a:rPr>
              <a:t>parallel</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Advantage: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Isolates </a:t>
            </a:r>
            <a:r>
              <a:rPr sz="1400" dirty="0">
                <a:solidFill>
                  <a:srgbClr val="595959"/>
                </a:solidFill>
                <a:latin typeface="Arial"/>
                <a:cs typeface="Arial"/>
              </a:rPr>
              <a:t>multicore </a:t>
            </a:r>
            <a:r>
              <a:rPr sz="1400" spc="-5" dirty="0">
                <a:solidFill>
                  <a:srgbClr val="595959"/>
                </a:solidFill>
                <a:latin typeface="Arial"/>
                <a:cs typeface="Arial"/>
              </a:rPr>
              <a:t>usage </a:t>
            </a:r>
            <a:r>
              <a:rPr sz="1400" dirty="0">
                <a:solidFill>
                  <a:srgbClr val="595959"/>
                </a:solidFill>
                <a:latin typeface="Arial"/>
                <a:cs typeface="Arial"/>
              </a:rPr>
              <a:t>-- </a:t>
            </a:r>
            <a:r>
              <a:rPr sz="1400" spc="-5" dirty="0">
                <a:solidFill>
                  <a:srgbClr val="595959"/>
                </a:solidFill>
                <a:latin typeface="Arial"/>
                <a:cs typeface="Arial"/>
              </a:rPr>
              <a:t>less </a:t>
            </a:r>
            <a:r>
              <a:rPr sz="1400" dirty="0">
                <a:solidFill>
                  <a:srgbClr val="595959"/>
                </a:solidFill>
                <a:latin typeface="Arial"/>
                <a:cs typeface="Arial"/>
              </a:rPr>
              <a:t>code </a:t>
            </a:r>
            <a:r>
              <a:rPr sz="1400" spc="-5" dirty="0">
                <a:solidFill>
                  <a:srgbClr val="595959"/>
                </a:solidFill>
                <a:latin typeface="Arial"/>
                <a:cs typeface="Arial"/>
              </a:rPr>
              <a:t>has to be thread</a:t>
            </a:r>
            <a:r>
              <a:rPr sz="1400" spc="-55" dirty="0">
                <a:solidFill>
                  <a:srgbClr val="595959"/>
                </a:solidFill>
                <a:latin typeface="Arial"/>
                <a:cs typeface="Arial"/>
              </a:rPr>
              <a:t> </a:t>
            </a:r>
            <a:r>
              <a:rPr sz="1400" dirty="0">
                <a:solidFill>
                  <a:srgbClr val="595959"/>
                </a:solidFill>
                <a:latin typeface="Arial"/>
                <a:cs typeface="Arial"/>
              </a:rPr>
              <a:t>safe</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Possibly easier to</a:t>
            </a:r>
            <a:r>
              <a:rPr sz="1400" spc="-10" dirty="0">
                <a:solidFill>
                  <a:srgbClr val="595959"/>
                </a:solidFill>
                <a:latin typeface="Arial"/>
                <a:cs typeface="Arial"/>
              </a:rPr>
              <a:t> </a:t>
            </a:r>
            <a:r>
              <a:rPr sz="1400" dirty="0">
                <a:solidFill>
                  <a:srgbClr val="595959"/>
                </a:solidFill>
                <a:latin typeface="Arial"/>
                <a:cs typeface="Arial"/>
              </a:rPr>
              <a:t>comprehend</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Disadvantage: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Somewhat limited ability to</a:t>
            </a:r>
            <a:r>
              <a:rPr sz="1400" spc="-15" dirty="0">
                <a:solidFill>
                  <a:srgbClr val="595959"/>
                </a:solidFill>
                <a:latin typeface="Arial"/>
                <a:cs typeface="Arial"/>
              </a:rPr>
              <a:t> </a:t>
            </a:r>
            <a:r>
              <a:rPr sz="1400" dirty="0">
                <a:solidFill>
                  <a:srgbClr val="595959"/>
                </a:solidFill>
                <a:latin typeface="Arial"/>
                <a:cs typeface="Arial"/>
              </a:rPr>
              <a:t>scale</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Bubbles in </a:t>
            </a:r>
            <a:r>
              <a:rPr sz="1400" dirty="0">
                <a:solidFill>
                  <a:srgbClr val="595959"/>
                </a:solidFill>
                <a:latin typeface="Arial"/>
                <a:cs typeface="Arial"/>
              </a:rPr>
              <a:t>computation </a:t>
            </a:r>
            <a:r>
              <a:rPr sz="1400" spc="-5" dirty="0">
                <a:solidFill>
                  <a:srgbClr val="595959"/>
                </a:solidFill>
                <a:latin typeface="Arial"/>
                <a:cs typeface="Arial"/>
              </a:rPr>
              <a:t>in </a:t>
            </a:r>
            <a:r>
              <a:rPr sz="1400" dirty="0">
                <a:solidFill>
                  <a:srgbClr val="595959"/>
                </a:solidFill>
                <a:latin typeface="Arial"/>
                <a:cs typeface="Arial"/>
              </a:rPr>
              <a:t>a single </a:t>
            </a:r>
            <a:r>
              <a:rPr sz="1400" spc="-5" dirty="0">
                <a:solidFill>
                  <a:srgbClr val="595959"/>
                </a:solidFill>
                <a:latin typeface="Arial"/>
                <a:cs typeface="Arial"/>
              </a:rPr>
              <a:t>task/job define the </a:t>
            </a:r>
            <a:r>
              <a:rPr sz="1400" dirty="0">
                <a:solidFill>
                  <a:srgbClr val="595959"/>
                </a:solidFill>
                <a:latin typeface="Arial"/>
                <a:cs typeface="Arial"/>
              </a:rPr>
              <a:t>critical</a:t>
            </a:r>
            <a:r>
              <a:rPr sz="1400" spc="-90" dirty="0">
                <a:solidFill>
                  <a:srgbClr val="595959"/>
                </a:solidFill>
                <a:latin typeface="Arial"/>
                <a:cs typeface="Arial"/>
              </a:rPr>
              <a:t> </a:t>
            </a:r>
            <a:r>
              <a:rPr sz="1400" spc="-5" dirty="0">
                <a:solidFill>
                  <a:srgbClr val="595959"/>
                </a:solidFill>
                <a:latin typeface="Arial"/>
                <a:cs typeface="Arial"/>
              </a:rPr>
              <a:t>path</a:t>
            </a:r>
            <a:endParaRPr sz="1400">
              <a:latin typeface="Arial"/>
              <a:cs typeface="Aria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693160" cy="452120"/>
          </a:xfrm>
          <a:prstGeom prst="rect">
            <a:avLst/>
          </a:prstGeom>
        </p:spPr>
        <p:txBody>
          <a:bodyPr vert="horz" wrap="square" lIns="0" tIns="12700" rIns="0" bIns="0" rtlCol="0">
            <a:spAutoFit/>
          </a:bodyPr>
          <a:lstStyle/>
          <a:p>
            <a:pPr marL="12700">
              <a:lnSpc>
                <a:spcPct val="100000"/>
              </a:lnSpc>
              <a:spcBef>
                <a:spcPts val="100"/>
              </a:spcBef>
            </a:pPr>
            <a:r>
              <a:rPr spc="-5" dirty="0"/>
              <a:t>Go Fully</a:t>
            </a:r>
            <a:r>
              <a:rPr spc="-100" dirty="0"/>
              <a:t> </a:t>
            </a:r>
            <a:r>
              <a:rPr spc="-5" dirty="0"/>
              <a:t>Asynchronous</a:t>
            </a:r>
          </a:p>
        </p:txBody>
      </p:sp>
      <p:sp>
        <p:nvSpPr>
          <p:cNvPr id="3" name="object 3"/>
          <p:cNvSpPr/>
          <p:nvPr/>
        </p:nvSpPr>
        <p:spPr>
          <a:xfrm>
            <a:off x="4513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4513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552369" y="1990562"/>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4513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4513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552369" y="258683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4513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4513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552369" y="339266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3" name="object 13"/>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5" name="object 15"/>
          <p:cNvSpPr/>
          <p:nvPr/>
        </p:nvSpPr>
        <p:spPr>
          <a:xfrm>
            <a:off x="69806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6" name="object 16"/>
          <p:cNvSpPr/>
          <p:nvPr/>
        </p:nvSpPr>
        <p:spPr>
          <a:xfrm>
            <a:off x="69806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70815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18" name="object 18"/>
          <p:cNvSpPr/>
          <p:nvPr/>
        </p:nvSpPr>
        <p:spPr>
          <a:xfrm>
            <a:off x="69806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19" name="object 19"/>
          <p:cNvSpPr/>
          <p:nvPr/>
        </p:nvSpPr>
        <p:spPr>
          <a:xfrm>
            <a:off x="69806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70815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1" name="object 21"/>
          <p:cNvSpPr/>
          <p:nvPr/>
        </p:nvSpPr>
        <p:spPr>
          <a:xfrm>
            <a:off x="69806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2" name="object 22"/>
          <p:cNvSpPr/>
          <p:nvPr/>
        </p:nvSpPr>
        <p:spPr>
          <a:xfrm>
            <a:off x="69806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0815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4" name="object 24"/>
          <p:cNvSpPr/>
          <p:nvPr/>
        </p:nvSpPr>
        <p:spPr>
          <a:xfrm>
            <a:off x="2418800" y="2581449"/>
            <a:ext cx="842644" cy="469900"/>
          </a:xfrm>
          <a:custGeom>
            <a:avLst/>
            <a:gdLst/>
            <a:ahLst/>
            <a:cxnLst/>
            <a:rect l="l" t="t" r="r" b="b"/>
            <a:pathLst>
              <a:path w="842645" h="469900">
                <a:moveTo>
                  <a:pt x="421049" y="469499"/>
                </a:moveTo>
                <a:lnTo>
                  <a:pt x="0" y="469499"/>
                </a:lnTo>
                <a:lnTo>
                  <a:pt x="0" y="0"/>
                </a:lnTo>
                <a:lnTo>
                  <a:pt x="421049" y="0"/>
                </a:lnTo>
                <a:lnTo>
                  <a:pt x="483269" y="2545"/>
                </a:lnTo>
                <a:lnTo>
                  <a:pt x="542654" y="9939"/>
                </a:lnTo>
                <a:lnTo>
                  <a:pt x="598554" y="21818"/>
                </a:lnTo>
                <a:lnTo>
                  <a:pt x="650316" y="37819"/>
                </a:lnTo>
                <a:lnTo>
                  <a:pt x="697289" y="57580"/>
                </a:lnTo>
                <a:lnTo>
                  <a:pt x="738823" y="80736"/>
                </a:lnTo>
                <a:lnTo>
                  <a:pt x="774266" y="106926"/>
                </a:lnTo>
                <a:lnTo>
                  <a:pt x="802966" y="135785"/>
                </a:lnTo>
                <a:lnTo>
                  <a:pt x="837534" y="200060"/>
                </a:lnTo>
                <a:lnTo>
                  <a:pt x="842099" y="234749"/>
                </a:lnTo>
                <a:lnTo>
                  <a:pt x="837534" y="269439"/>
                </a:lnTo>
                <a:lnTo>
                  <a:pt x="802966" y="333714"/>
                </a:lnTo>
                <a:lnTo>
                  <a:pt x="774266" y="362573"/>
                </a:lnTo>
                <a:lnTo>
                  <a:pt x="738823" y="388763"/>
                </a:lnTo>
                <a:lnTo>
                  <a:pt x="697289" y="411919"/>
                </a:lnTo>
                <a:lnTo>
                  <a:pt x="650316" y="431680"/>
                </a:lnTo>
                <a:lnTo>
                  <a:pt x="598554" y="447681"/>
                </a:lnTo>
                <a:lnTo>
                  <a:pt x="542654" y="459560"/>
                </a:lnTo>
                <a:lnTo>
                  <a:pt x="483269" y="466954"/>
                </a:lnTo>
                <a:lnTo>
                  <a:pt x="421049" y="469499"/>
                </a:lnTo>
                <a:close/>
              </a:path>
            </a:pathLst>
          </a:custGeom>
          <a:solidFill>
            <a:srgbClr val="EEEEEE"/>
          </a:solidFill>
        </p:spPr>
        <p:txBody>
          <a:bodyPr wrap="square" lIns="0" tIns="0" rIns="0" bIns="0" rtlCol="0"/>
          <a:lstStyle/>
          <a:p>
            <a:endParaRPr/>
          </a:p>
        </p:txBody>
      </p:sp>
      <p:sp>
        <p:nvSpPr>
          <p:cNvPr id="25" name="object 25"/>
          <p:cNvSpPr/>
          <p:nvPr/>
        </p:nvSpPr>
        <p:spPr>
          <a:xfrm>
            <a:off x="2418800" y="2581449"/>
            <a:ext cx="842644" cy="469900"/>
          </a:xfrm>
          <a:custGeom>
            <a:avLst/>
            <a:gdLst/>
            <a:ahLst/>
            <a:cxnLst/>
            <a:rect l="l" t="t" r="r" b="b"/>
            <a:pathLst>
              <a:path w="842645" h="469900">
                <a:moveTo>
                  <a:pt x="0" y="0"/>
                </a:moveTo>
                <a:lnTo>
                  <a:pt x="421049" y="0"/>
                </a:lnTo>
                <a:lnTo>
                  <a:pt x="483269" y="2545"/>
                </a:lnTo>
                <a:lnTo>
                  <a:pt x="542654" y="9939"/>
                </a:lnTo>
                <a:lnTo>
                  <a:pt x="598554" y="21818"/>
                </a:lnTo>
                <a:lnTo>
                  <a:pt x="650316" y="37819"/>
                </a:lnTo>
                <a:lnTo>
                  <a:pt x="697289" y="57580"/>
                </a:lnTo>
                <a:lnTo>
                  <a:pt x="738823" y="80736"/>
                </a:lnTo>
                <a:lnTo>
                  <a:pt x="774266" y="106926"/>
                </a:lnTo>
                <a:lnTo>
                  <a:pt x="802966" y="135785"/>
                </a:lnTo>
                <a:lnTo>
                  <a:pt x="837534" y="200060"/>
                </a:lnTo>
                <a:lnTo>
                  <a:pt x="842099" y="234749"/>
                </a:lnTo>
                <a:lnTo>
                  <a:pt x="837534" y="269439"/>
                </a:lnTo>
                <a:lnTo>
                  <a:pt x="802966" y="333714"/>
                </a:lnTo>
                <a:lnTo>
                  <a:pt x="774266" y="362573"/>
                </a:lnTo>
                <a:lnTo>
                  <a:pt x="738823" y="388763"/>
                </a:lnTo>
                <a:lnTo>
                  <a:pt x="697289" y="411919"/>
                </a:lnTo>
                <a:lnTo>
                  <a:pt x="650316" y="431680"/>
                </a:lnTo>
                <a:lnTo>
                  <a:pt x="598554" y="447681"/>
                </a:lnTo>
                <a:lnTo>
                  <a:pt x="542654" y="459560"/>
                </a:lnTo>
                <a:lnTo>
                  <a:pt x="483269" y="466954"/>
                </a:lnTo>
                <a:lnTo>
                  <a:pt x="421049" y="469499"/>
                </a:lnTo>
                <a:lnTo>
                  <a:pt x="0" y="469499"/>
                </a:lnTo>
                <a:lnTo>
                  <a:pt x="0" y="0"/>
                </a:lnTo>
                <a:close/>
              </a:path>
            </a:pathLst>
          </a:custGeom>
          <a:ln w="9524">
            <a:solidFill>
              <a:srgbClr val="595959"/>
            </a:solidFill>
          </a:ln>
        </p:spPr>
        <p:txBody>
          <a:bodyPr wrap="square" lIns="0" tIns="0" rIns="0" bIns="0" rtlCol="0"/>
          <a:lstStyle/>
          <a:p>
            <a:endParaRPr/>
          </a:p>
        </p:txBody>
      </p:sp>
      <p:sp>
        <p:nvSpPr>
          <p:cNvPr id="26" name="object 26"/>
          <p:cNvSpPr txBox="1"/>
          <p:nvPr/>
        </p:nvSpPr>
        <p:spPr>
          <a:xfrm>
            <a:off x="2491825" y="2691612"/>
            <a:ext cx="55880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Queue</a:t>
            </a:r>
            <a:endParaRPr sz="1400">
              <a:latin typeface="Arial"/>
              <a:cs typeface="Arial"/>
            </a:endParaRPr>
          </a:p>
        </p:txBody>
      </p:sp>
      <p:sp>
        <p:nvSpPr>
          <p:cNvPr id="27" name="object 27"/>
          <p:cNvSpPr/>
          <p:nvPr/>
        </p:nvSpPr>
        <p:spPr>
          <a:xfrm>
            <a:off x="5764400" y="2563624"/>
            <a:ext cx="842644" cy="469900"/>
          </a:xfrm>
          <a:custGeom>
            <a:avLst/>
            <a:gdLst/>
            <a:ahLst/>
            <a:cxnLst/>
            <a:rect l="l" t="t" r="r" b="b"/>
            <a:pathLst>
              <a:path w="842645" h="469900">
                <a:moveTo>
                  <a:pt x="421049" y="469499"/>
                </a:moveTo>
                <a:lnTo>
                  <a:pt x="0" y="469499"/>
                </a:lnTo>
                <a:lnTo>
                  <a:pt x="0" y="0"/>
                </a:lnTo>
                <a:lnTo>
                  <a:pt x="421049" y="0"/>
                </a:lnTo>
                <a:lnTo>
                  <a:pt x="483269" y="2545"/>
                </a:lnTo>
                <a:lnTo>
                  <a:pt x="542654" y="9939"/>
                </a:lnTo>
                <a:lnTo>
                  <a:pt x="598554" y="21818"/>
                </a:lnTo>
                <a:lnTo>
                  <a:pt x="650316" y="37819"/>
                </a:lnTo>
                <a:lnTo>
                  <a:pt x="697289" y="57580"/>
                </a:lnTo>
                <a:lnTo>
                  <a:pt x="738823" y="80736"/>
                </a:lnTo>
                <a:lnTo>
                  <a:pt x="774266" y="106926"/>
                </a:lnTo>
                <a:lnTo>
                  <a:pt x="802966" y="135785"/>
                </a:lnTo>
                <a:lnTo>
                  <a:pt x="837534" y="200060"/>
                </a:lnTo>
                <a:lnTo>
                  <a:pt x="842099" y="234749"/>
                </a:lnTo>
                <a:lnTo>
                  <a:pt x="837534" y="269439"/>
                </a:lnTo>
                <a:lnTo>
                  <a:pt x="802966" y="333714"/>
                </a:lnTo>
                <a:lnTo>
                  <a:pt x="774266" y="362573"/>
                </a:lnTo>
                <a:lnTo>
                  <a:pt x="738823" y="388763"/>
                </a:lnTo>
                <a:lnTo>
                  <a:pt x="697289" y="411919"/>
                </a:lnTo>
                <a:lnTo>
                  <a:pt x="650316" y="431680"/>
                </a:lnTo>
                <a:lnTo>
                  <a:pt x="598554" y="447681"/>
                </a:lnTo>
                <a:lnTo>
                  <a:pt x="542654" y="459560"/>
                </a:lnTo>
                <a:lnTo>
                  <a:pt x="483269" y="466954"/>
                </a:lnTo>
                <a:lnTo>
                  <a:pt x="421049" y="469499"/>
                </a:lnTo>
                <a:close/>
              </a:path>
            </a:pathLst>
          </a:custGeom>
          <a:solidFill>
            <a:srgbClr val="EEEEEE"/>
          </a:solidFill>
        </p:spPr>
        <p:txBody>
          <a:bodyPr wrap="square" lIns="0" tIns="0" rIns="0" bIns="0" rtlCol="0"/>
          <a:lstStyle/>
          <a:p>
            <a:endParaRPr/>
          </a:p>
        </p:txBody>
      </p:sp>
      <p:sp>
        <p:nvSpPr>
          <p:cNvPr id="28" name="object 28"/>
          <p:cNvSpPr/>
          <p:nvPr/>
        </p:nvSpPr>
        <p:spPr>
          <a:xfrm>
            <a:off x="5764400" y="2563624"/>
            <a:ext cx="842644" cy="469900"/>
          </a:xfrm>
          <a:custGeom>
            <a:avLst/>
            <a:gdLst/>
            <a:ahLst/>
            <a:cxnLst/>
            <a:rect l="l" t="t" r="r" b="b"/>
            <a:pathLst>
              <a:path w="842645" h="469900">
                <a:moveTo>
                  <a:pt x="0" y="0"/>
                </a:moveTo>
                <a:lnTo>
                  <a:pt x="421049" y="0"/>
                </a:lnTo>
                <a:lnTo>
                  <a:pt x="483269" y="2545"/>
                </a:lnTo>
                <a:lnTo>
                  <a:pt x="542654" y="9939"/>
                </a:lnTo>
                <a:lnTo>
                  <a:pt x="598554" y="21818"/>
                </a:lnTo>
                <a:lnTo>
                  <a:pt x="650316" y="37819"/>
                </a:lnTo>
                <a:lnTo>
                  <a:pt x="697289" y="57580"/>
                </a:lnTo>
                <a:lnTo>
                  <a:pt x="738823" y="80736"/>
                </a:lnTo>
                <a:lnTo>
                  <a:pt x="774266" y="106926"/>
                </a:lnTo>
                <a:lnTo>
                  <a:pt x="802966" y="135785"/>
                </a:lnTo>
                <a:lnTo>
                  <a:pt x="837534" y="200060"/>
                </a:lnTo>
                <a:lnTo>
                  <a:pt x="842099" y="234749"/>
                </a:lnTo>
                <a:lnTo>
                  <a:pt x="837534" y="269439"/>
                </a:lnTo>
                <a:lnTo>
                  <a:pt x="802966" y="333714"/>
                </a:lnTo>
                <a:lnTo>
                  <a:pt x="774266" y="362573"/>
                </a:lnTo>
                <a:lnTo>
                  <a:pt x="738823" y="388763"/>
                </a:lnTo>
                <a:lnTo>
                  <a:pt x="697289" y="411919"/>
                </a:lnTo>
                <a:lnTo>
                  <a:pt x="650316" y="431680"/>
                </a:lnTo>
                <a:lnTo>
                  <a:pt x="598554" y="447681"/>
                </a:lnTo>
                <a:lnTo>
                  <a:pt x="542654" y="459560"/>
                </a:lnTo>
                <a:lnTo>
                  <a:pt x="483269" y="466954"/>
                </a:lnTo>
                <a:lnTo>
                  <a:pt x="421049" y="469499"/>
                </a:lnTo>
                <a:lnTo>
                  <a:pt x="0" y="469499"/>
                </a:lnTo>
                <a:lnTo>
                  <a:pt x="0" y="0"/>
                </a:lnTo>
                <a:close/>
              </a:path>
            </a:pathLst>
          </a:custGeom>
          <a:ln w="9524">
            <a:solidFill>
              <a:srgbClr val="595959"/>
            </a:solidFill>
          </a:ln>
        </p:spPr>
        <p:txBody>
          <a:bodyPr wrap="square" lIns="0" tIns="0" rIns="0" bIns="0" rtlCol="0"/>
          <a:lstStyle/>
          <a:p>
            <a:endParaRPr/>
          </a:p>
        </p:txBody>
      </p:sp>
      <p:sp>
        <p:nvSpPr>
          <p:cNvPr id="29" name="object 29"/>
          <p:cNvSpPr txBox="1"/>
          <p:nvPr/>
        </p:nvSpPr>
        <p:spPr>
          <a:xfrm>
            <a:off x="5837425" y="2673788"/>
            <a:ext cx="55880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Queue</a:t>
            </a:r>
            <a:endParaRPr sz="1400">
              <a:latin typeface="Arial"/>
              <a:cs typeface="Arial"/>
            </a:endParaRPr>
          </a:p>
        </p:txBody>
      </p:sp>
      <p:sp>
        <p:nvSpPr>
          <p:cNvPr id="30" name="object 30"/>
          <p:cNvSpPr/>
          <p:nvPr/>
        </p:nvSpPr>
        <p:spPr>
          <a:xfrm>
            <a:off x="2043650" y="2520999"/>
            <a:ext cx="260350" cy="590550"/>
          </a:xfrm>
          <a:custGeom>
            <a:avLst/>
            <a:gdLst/>
            <a:ahLst/>
            <a:cxnLst/>
            <a:rect l="l" t="t" r="r" b="b"/>
            <a:pathLst>
              <a:path w="260350" h="590550">
                <a:moveTo>
                  <a:pt x="130049" y="590399"/>
                </a:moveTo>
                <a:lnTo>
                  <a:pt x="130049" y="442799"/>
                </a:lnTo>
                <a:lnTo>
                  <a:pt x="0" y="442799"/>
                </a:lnTo>
                <a:lnTo>
                  <a:pt x="0" y="147599"/>
                </a:lnTo>
                <a:lnTo>
                  <a:pt x="130049" y="147599"/>
                </a:lnTo>
                <a:lnTo>
                  <a:pt x="130049" y="0"/>
                </a:lnTo>
                <a:lnTo>
                  <a:pt x="260099" y="295199"/>
                </a:lnTo>
                <a:lnTo>
                  <a:pt x="130049" y="590399"/>
                </a:lnTo>
                <a:close/>
              </a:path>
            </a:pathLst>
          </a:custGeom>
          <a:solidFill>
            <a:srgbClr val="EEEEEE"/>
          </a:solidFill>
        </p:spPr>
        <p:txBody>
          <a:bodyPr wrap="square" lIns="0" tIns="0" rIns="0" bIns="0" rtlCol="0"/>
          <a:lstStyle/>
          <a:p>
            <a:endParaRPr/>
          </a:p>
        </p:txBody>
      </p:sp>
      <p:sp>
        <p:nvSpPr>
          <p:cNvPr id="31" name="object 31"/>
          <p:cNvSpPr/>
          <p:nvPr/>
        </p:nvSpPr>
        <p:spPr>
          <a:xfrm>
            <a:off x="2043650" y="2520999"/>
            <a:ext cx="260350" cy="590550"/>
          </a:xfrm>
          <a:custGeom>
            <a:avLst/>
            <a:gdLst/>
            <a:ahLst/>
            <a:cxnLst/>
            <a:rect l="l" t="t" r="r" b="b"/>
            <a:pathLst>
              <a:path w="260350" h="590550">
                <a:moveTo>
                  <a:pt x="0" y="147599"/>
                </a:moveTo>
                <a:lnTo>
                  <a:pt x="130049" y="147599"/>
                </a:lnTo>
                <a:lnTo>
                  <a:pt x="130049" y="0"/>
                </a:lnTo>
                <a:lnTo>
                  <a:pt x="260099" y="295199"/>
                </a:lnTo>
                <a:lnTo>
                  <a:pt x="130049" y="590399"/>
                </a:lnTo>
                <a:lnTo>
                  <a:pt x="130049" y="442799"/>
                </a:lnTo>
                <a:lnTo>
                  <a:pt x="0" y="442799"/>
                </a:lnTo>
                <a:lnTo>
                  <a:pt x="0" y="147599"/>
                </a:lnTo>
                <a:close/>
              </a:path>
            </a:pathLst>
          </a:custGeom>
          <a:ln w="9524">
            <a:solidFill>
              <a:srgbClr val="595959"/>
            </a:solidFill>
          </a:ln>
        </p:spPr>
        <p:txBody>
          <a:bodyPr wrap="square" lIns="0" tIns="0" rIns="0" bIns="0" rtlCol="0"/>
          <a:lstStyle/>
          <a:p>
            <a:endParaRPr/>
          </a:p>
        </p:txBody>
      </p:sp>
      <p:sp>
        <p:nvSpPr>
          <p:cNvPr id="32" name="object 32"/>
          <p:cNvSpPr/>
          <p:nvPr/>
        </p:nvSpPr>
        <p:spPr>
          <a:xfrm>
            <a:off x="3377287" y="2503174"/>
            <a:ext cx="260350" cy="590550"/>
          </a:xfrm>
          <a:custGeom>
            <a:avLst/>
            <a:gdLst/>
            <a:ahLst/>
            <a:cxnLst/>
            <a:rect l="l" t="t" r="r" b="b"/>
            <a:pathLst>
              <a:path w="260350" h="590550">
                <a:moveTo>
                  <a:pt x="130049" y="590399"/>
                </a:moveTo>
                <a:lnTo>
                  <a:pt x="130049" y="442799"/>
                </a:lnTo>
                <a:lnTo>
                  <a:pt x="0" y="442799"/>
                </a:lnTo>
                <a:lnTo>
                  <a:pt x="0" y="147599"/>
                </a:lnTo>
                <a:lnTo>
                  <a:pt x="130049" y="147599"/>
                </a:lnTo>
                <a:lnTo>
                  <a:pt x="130049" y="0"/>
                </a:lnTo>
                <a:lnTo>
                  <a:pt x="260099" y="295199"/>
                </a:lnTo>
                <a:lnTo>
                  <a:pt x="130049" y="590399"/>
                </a:lnTo>
                <a:close/>
              </a:path>
            </a:pathLst>
          </a:custGeom>
          <a:solidFill>
            <a:srgbClr val="EEEEEE"/>
          </a:solidFill>
        </p:spPr>
        <p:txBody>
          <a:bodyPr wrap="square" lIns="0" tIns="0" rIns="0" bIns="0" rtlCol="0"/>
          <a:lstStyle/>
          <a:p>
            <a:endParaRPr/>
          </a:p>
        </p:txBody>
      </p:sp>
      <p:sp>
        <p:nvSpPr>
          <p:cNvPr id="33" name="object 33"/>
          <p:cNvSpPr/>
          <p:nvPr/>
        </p:nvSpPr>
        <p:spPr>
          <a:xfrm>
            <a:off x="3377287" y="2503174"/>
            <a:ext cx="260350" cy="590550"/>
          </a:xfrm>
          <a:custGeom>
            <a:avLst/>
            <a:gdLst/>
            <a:ahLst/>
            <a:cxnLst/>
            <a:rect l="l" t="t" r="r" b="b"/>
            <a:pathLst>
              <a:path w="260350" h="590550">
                <a:moveTo>
                  <a:pt x="0" y="147599"/>
                </a:moveTo>
                <a:lnTo>
                  <a:pt x="130049" y="147599"/>
                </a:lnTo>
                <a:lnTo>
                  <a:pt x="130049" y="0"/>
                </a:lnTo>
                <a:lnTo>
                  <a:pt x="260099" y="295199"/>
                </a:lnTo>
                <a:lnTo>
                  <a:pt x="130049" y="590399"/>
                </a:lnTo>
                <a:lnTo>
                  <a:pt x="130049" y="442799"/>
                </a:lnTo>
                <a:lnTo>
                  <a:pt x="0" y="442799"/>
                </a:lnTo>
                <a:lnTo>
                  <a:pt x="0" y="147599"/>
                </a:lnTo>
                <a:close/>
              </a:path>
            </a:pathLst>
          </a:custGeom>
          <a:ln w="9524">
            <a:solidFill>
              <a:srgbClr val="595959"/>
            </a:solidFill>
          </a:ln>
        </p:spPr>
        <p:txBody>
          <a:bodyPr wrap="square" lIns="0" tIns="0" rIns="0" bIns="0" rtlCol="0"/>
          <a:lstStyle/>
          <a:p>
            <a:endParaRPr/>
          </a:p>
        </p:txBody>
      </p:sp>
      <p:sp>
        <p:nvSpPr>
          <p:cNvPr id="34" name="object 34"/>
          <p:cNvSpPr/>
          <p:nvPr/>
        </p:nvSpPr>
        <p:spPr>
          <a:xfrm>
            <a:off x="5447274" y="2503174"/>
            <a:ext cx="260350" cy="590550"/>
          </a:xfrm>
          <a:custGeom>
            <a:avLst/>
            <a:gdLst/>
            <a:ahLst/>
            <a:cxnLst/>
            <a:rect l="l" t="t" r="r" b="b"/>
            <a:pathLst>
              <a:path w="260350" h="590550">
                <a:moveTo>
                  <a:pt x="130049" y="590399"/>
                </a:moveTo>
                <a:lnTo>
                  <a:pt x="130049" y="442799"/>
                </a:lnTo>
                <a:lnTo>
                  <a:pt x="0" y="442799"/>
                </a:lnTo>
                <a:lnTo>
                  <a:pt x="0" y="147599"/>
                </a:lnTo>
                <a:lnTo>
                  <a:pt x="130049" y="147599"/>
                </a:lnTo>
                <a:lnTo>
                  <a:pt x="130049" y="0"/>
                </a:lnTo>
                <a:lnTo>
                  <a:pt x="260099" y="295199"/>
                </a:lnTo>
                <a:lnTo>
                  <a:pt x="130049" y="590399"/>
                </a:lnTo>
                <a:close/>
              </a:path>
            </a:pathLst>
          </a:custGeom>
          <a:solidFill>
            <a:srgbClr val="EEEEEE"/>
          </a:solidFill>
        </p:spPr>
        <p:txBody>
          <a:bodyPr wrap="square" lIns="0" tIns="0" rIns="0" bIns="0" rtlCol="0"/>
          <a:lstStyle/>
          <a:p>
            <a:endParaRPr/>
          </a:p>
        </p:txBody>
      </p:sp>
      <p:sp>
        <p:nvSpPr>
          <p:cNvPr id="35" name="object 35"/>
          <p:cNvSpPr/>
          <p:nvPr/>
        </p:nvSpPr>
        <p:spPr>
          <a:xfrm>
            <a:off x="5447274" y="2503174"/>
            <a:ext cx="260350" cy="590550"/>
          </a:xfrm>
          <a:custGeom>
            <a:avLst/>
            <a:gdLst/>
            <a:ahLst/>
            <a:cxnLst/>
            <a:rect l="l" t="t" r="r" b="b"/>
            <a:pathLst>
              <a:path w="260350" h="590550">
                <a:moveTo>
                  <a:pt x="0" y="147599"/>
                </a:moveTo>
                <a:lnTo>
                  <a:pt x="130049" y="147599"/>
                </a:lnTo>
                <a:lnTo>
                  <a:pt x="130049" y="0"/>
                </a:lnTo>
                <a:lnTo>
                  <a:pt x="260099" y="295199"/>
                </a:lnTo>
                <a:lnTo>
                  <a:pt x="130049" y="590399"/>
                </a:lnTo>
                <a:lnTo>
                  <a:pt x="130049" y="442799"/>
                </a:lnTo>
                <a:lnTo>
                  <a:pt x="0" y="442799"/>
                </a:lnTo>
                <a:lnTo>
                  <a:pt x="0" y="147599"/>
                </a:lnTo>
                <a:close/>
              </a:path>
            </a:pathLst>
          </a:custGeom>
          <a:ln w="9524">
            <a:solidFill>
              <a:srgbClr val="595959"/>
            </a:solidFill>
          </a:ln>
        </p:spPr>
        <p:txBody>
          <a:bodyPr wrap="square" lIns="0" tIns="0" rIns="0" bIns="0" rtlCol="0"/>
          <a:lstStyle/>
          <a:p>
            <a:endParaRPr/>
          </a:p>
        </p:txBody>
      </p:sp>
      <p:sp>
        <p:nvSpPr>
          <p:cNvPr id="36" name="object 36"/>
          <p:cNvSpPr/>
          <p:nvPr/>
        </p:nvSpPr>
        <p:spPr>
          <a:xfrm>
            <a:off x="6663512" y="2503174"/>
            <a:ext cx="260350" cy="590550"/>
          </a:xfrm>
          <a:custGeom>
            <a:avLst/>
            <a:gdLst/>
            <a:ahLst/>
            <a:cxnLst/>
            <a:rect l="l" t="t" r="r" b="b"/>
            <a:pathLst>
              <a:path w="260350" h="590550">
                <a:moveTo>
                  <a:pt x="130049" y="590399"/>
                </a:moveTo>
                <a:lnTo>
                  <a:pt x="130049" y="442799"/>
                </a:lnTo>
                <a:lnTo>
                  <a:pt x="0" y="442799"/>
                </a:lnTo>
                <a:lnTo>
                  <a:pt x="0" y="147599"/>
                </a:lnTo>
                <a:lnTo>
                  <a:pt x="130049" y="147599"/>
                </a:lnTo>
                <a:lnTo>
                  <a:pt x="130049" y="0"/>
                </a:lnTo>
                <a:lnTo>
                  <a:pt x="260099" y="295199"/>
                </a:lnTo>
                <a:lnTo>
                  <a:pt x="130049" y="590399"/>
                </a:lnTo>
                <a:close/>
              </a:path>
            </a:pathLst>
          </a:custGeom>
          <a:solidFill>
            <a:srgbClr val="EEEEEE"/>
          </a:solidFill>
        </p:spPr>
        <p:txBody>
          <a:bodyPr wrap="square" lIns="0" tIns="0" rIns="0" bIns="0" rtlCol="0"/>
          <a:lstStyle/>
          <a:p>
            <a:endParaRPr/>
          </a:p>
        </p:txBody>
      </p:sp>
      <p:sp>
        <p:nvSpPr>
          <p:cNvPr id="37" name="object 37"/>
          <p:cNvSpPr/>
          <p:nvPr/>
        </p:nvSpPr>
        <p:spPr>
          <a:xfrm>
            <a:off x="6663512" y="2503174"/>
            <a:ext cx="260350" cy="590550"/>
          </a:xfrm>
          <a:custGeom>
            <a:avLst/>
            <a:gdLst/>
            <a:ahLst/>
            <a:cxnLst/>
            <a:rect l="l" t="t" r="r" b="b"/>
            <a:pathLst>
              <a:path w="260350" h="590550">
                <a:moveTo>
                  <a:pt x="0" y="147599"/>
                </a:moveTo>
                <a:lnTo>
                  <a:pt x="130049" y="147599"/>
                </a:lnTo>
                <a:lnTo>
                  <a:pt x="130049" y="0"/>
                </a:lnTo>
                <a:lnTo>
                  <a:pt x="260099" y="295199"/>
                </a:lnTo>
                <a:lnTo>
                  <a:pt x="130049" y="590399"/>
                </a:lnTo>
                <a:lnTo>
                  <a:pt x="130049" y="442799"/>
                </a:lnTo>
                <a:lnTo>
                  <a:pt x="0" y="442799"/>
                </a:lnTo>
                <a:lnTo>
                  <a:pt x="0" y="147599"/>
                </a:lnTo>
                <a:close/>
              </a:path>
            </a:pathLst>
          </a:custGeom>
          <a:ln w="9524">
            <a:solidFill>
              <a:srgbClr val="595959"/>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693160" cy="452120"/>
          </a:xfrm>
          <a:prstGeom prst="rect">
            <a:avLst/>
          </a:prstGeom>
        </p:spPr>
        <p:txBody>
          <a:bodyPr vert="horz" wrap="square" lIns="0" tIns="12700" rIns="0" bIns="0" rtlCol="0">
            <a:spAutoFit/>
          </a:bodyPr>
          <a:lstStyle/>
          <a:p>
            <a:pPr marL="12700">
              <a:lnSpc>
                <a:spcPct val="100000"/>
              </a:lnSpc>
              <a:spcBef>
                <a:spcPts val="100"/>
              </a:spcBef>
            </a:pPr>
            <a:r>
              <a:rPr spc="-5" dirty="0"/>
              <a:t>Go Fully</a:t>
            </a:r>
            <a:r>
              <a:rPr spc="-100" dirty="0"/>
              <a:t> </a:t>
            </a:r>
            <a:r>
              <a:rPr spc="-5" dirty="0"/>
              <a:t>Asynchronous</a:t>
            </a:r>
          </a:p>
        </p:txBody>
      </p:sp>
      <p:sp>
        <p:nvSpPr>
          <p:cNvPr id="3" name="object 3"/>
          <p:cNvSpPr txBox="1"/>
          <p:nvPr/>
        </p:nvSpPr>
        <p:spPr>
          <a:xfrm>
            <a:off x="475249" y="1162308"/>
            <a:ext cx="4785360" cy="2535555"/>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What it looks</a:t>
            </a:r>
            <a:r>
              <a:rPr sz="1800" spc="-15" dirty="0">
                <a:solidFill>
                  <a:srgbClr val="595959"/>
                </a:solidFill>
                <a:latin typeface="Arial"/>
                <a:cs typeface="Arial"/>
              </a:rPr>
              <a:t> </a:t>
            </a:r>
            <a:r>
              <a:rPr sz="1800" spc="-5" dirty="0">
                <a:solidFill>
                  <a:srgbClr val="595959"/>
                </a:solidFill>
                <a:latin typeface="Arial"/>
                <a:cs typeface="Arial"/>
              </a:rPr>
              <a:t>like: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Queues between</a:t>
            </a:r>
            <a:r>
              <a:rPr sz="1400" spc="-10" dirty="0">
                <a:solidFill>
                  <a:srgbClr val="595959"/>
                </a:solidFill>
                <a:latin typeface="Arial"/>
                <a:cs typeface="Arial"/>
              </a:rPr>
              <a:t> </a:t>
            </a:r>
            <a:r>
              <a:rPr sz="1400" spc="-5" dirty="0">
                <a:solidFill>
                  <a:srgbClr val="595959"/>
                </a:solidFill>
                <a:latin typeface="Arial"/>
                <a:cs typeface="Arial"/>
              </a:rPr>
              <a:t>phases</a:t>
            </a:r>
            <a:endParaRPr sz="1400">
              <a:latin typeface="Arial"/>
              <a:cs typeface="Arial"/>
            </a:endParaRPr>
          </a:p>
          <a:p>
            <a:pPr marL="1293495" lvl="2" indent="-335915">
              <a:lnSpc>
                <a:spcPct val="100000"/>
              </a:lnSpc>
              <a:spcBef>
                <a:spcPts val="270"/>
              </a:spcBef>
              <a:buChar char="■"/>
              <a:tabLst>
                <a:tab pos="1293495" algn="l"/>
                <a:tab pos="1294130" algn="l"/>
              </a:tabLst>
            </a:pPr>
            <a:r>
              <a:rPr sz="1400" spc="-5" dirty="0">
                <a:solidFill>
                  <a:srgbClr val="595959"/>
                </a:solidFill>
                <a:latin typeface="Arial"/>
                <a:cs typeface="Arial"/>
              </a:rPr>
              <a:t>Input frame t, </a:t>
            </a:r>
            <a:r>
              <a:rPr sz="1400" dirty="0">
                <a:solidFill>
                  <a:srgbClr val="595959"/>
                </a:solidFill>
                <a:latin typeface="Arial"/>
                <a:cs typeface="Arial"/>
              </a:rPr>
              <a:t>sim </a:t>
            </a:r>
            <a:r>
              <a:rPr sz="1400" spc="-5" dirty="0">
                <a:solidFill>
                  <a:srgbClr val="595959"/>
                </a:solidFill>
                <a:latin typeface="Arial"/>
                <a:cs typeface="Arial"/>
              </a:rPr>
              <a:t>frame t-1, output frame</a:t>
            </a:r>
            <a:r>
              <a:rPr sz="1400" spc="-75" dirty="0">
                <a:solidFill>
                  <a:srgbClr val="595959"/>
                </a:solidFill>
                <a:latin typeface="Arial"/>
                <a:cs typeface="Arial"/>
              </a:rPr>
              <a:t> </a:t>
            </a:r>
            <a:r>
              <a:rPr sz="1400" spc="-5" dirty="0">
                <a:solidFill>
                  <a:srgbClr val="595959"/>
                </a:solidFill>
                <a:latin typeface="Arial"/>
                <a:cs typeface="Arial"/>
              </a:rPr>
              <a:t>t-2</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Wide </a:t>
            </a:r>
            <a:r>
              <a:rPr sz="1400" dirty="0">
                <a:solidFill>
                  <a:srgbClr val="595959"/>
                </a:solidFill>
                <a:latin typeface="Arial"/>
                <a:cs typeface="Arial"/>
              </a:rPr>
              <a:t>computation </a:t>
            </a:r>
            <a:r>
              <a:rPr sz="1400" spc="-5" dirty="0">
                <a:solidFill>
                  <a:srgbClr val="595959"/>
                </a:solidFill>
                <a:latin typeface="Arial"/>
                <a:cs typeface="Arial"/>
              </a:rPr>
              <a:t>within</a:t>
            </a:r>
            <a:r>
              <a:rPr sz="1400" spc="-20" dirty="0">
                <a:solidFill>
                  <a:srgbClr val="595959"/>
                </a:solidFill>
                <a:latin typeface="Arial"/>
                <a:cs typeface="Arial"/>
              </a:rPr>
              <a:t> </a:t>
            </a:r>
            <a:r>
              <a:rPr sz="1400" spc="-5" dirty="0">
                <a:solidFill>
                  <a:srgbClr val="595959"/>
                </a:solidFill>
                <a:latin typeface="Arial"/>
                <a:cs typeface="Arial"/>
              </a:rPr>
              <a:t>phases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Advantage: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Scales up and down </a:t>
            </a:r>
            <a:r>
              <a:rPr sz="1400" dirty="0">
                <a:solidFill>
                  <a:srgbClr val="595959"/>
                </a:solidFill>
                <a:latin typeface="Arial"/>
                <a:cs typeface="Arial"/>
              </a:rPr>
              <a:t>reasonably</a:t>
            </a:r>
            <a:r>
              <a:rPr sz="1400" spc="-20" dirty="0">
                <a:solidFill>
                  <a:srgbClr val="595959"/>
                </a:solidFill>
                <a:latin typeface="Arial"/>
                <a:cs typeface="Arial"/>
              </a:rPr>
              <a:t> </a:t>
            </a:r>
            <a:r>
              <a:rPr sz="1400" spc="-5" dirty="0">
                <a:solidFill>
                  <a:srgbClr val="595959"/>
                </a:solidFill>
                <a:latin typeface="Arial"/>
                <a:cs typeface="Arial"/>
              </a:rPr>
              <a:t>well</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Disadvantage: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All </a:t>
            </a:r>
            <a:r>
              <a:rPr sz="1400" dirty="0">
                <a:solidFill>
                  <a:srgbClr val="595959"/>
                </a:solidFill>
                <a:latin typeface="Arial"/>
                <a:cs typeface="Arial"/>
              </a:rPr>
              <a:t>code </a:t>
            </a:r>
            <a:r>
              <a:rPr sz="1400" spc="-5" dirty="0">
                <a:solidFill>
                  <a:srgbClr val="595959"/>
                </a:solidFill>
                <a:latin typeface="Arial"/>
                <a:cs typeface="Arial"/>
              </a:rPr>
              <a:t>is potentially </a:t>
            </a:r>
            <a:r>
              <a:rPr sz="1400" dirty="0">
                <a:solidFill>
                  <a:srgbClr val="595959"/>
                </a:solidFill>
                <a:latin typeface="Arial"/>
                <a:cs typeface="Arial"/>
              </a:rPr>
              <a:t>running </a:t>
            </a:r>
            <a:r>
              <a:rPr sz="1400" spc="-5" dirty="0">
                <a:solidFill>
                  <a:srgbClr val="595959"/>
                </a:solidFill>
                <a:latin typeface="Arial"/>
                <a:cs typeface="Arial"/>
              </a:rPr>
              <a:t>in</a:t>
            </a:r>
            <a:r>
              <a:rPr sz="1400" spc="-40" dirty="0">
                <a:solidFill>
                  <a:srgbClr val="595959"/>
                </a:solidFill>
                <a:latin typeface="Arial"/>
                <a:cs typeface="Arial"/>
              </a:rPr>
              <a:t> </a:t>
            </a:r>
            <a:r>
              <a:rPr sz="1400" spc="-5" dirty="0">
                <a:solidFill>
                  <a:srgbClr val="595959"/>
                </a:solidFill>
                <a:latin typeface="Arial"/>
                <a:cs typeface="Arial"/>
              </a:rPr>
              <a:t>parallel</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For example:</a:t>
            </a:r>
            <a:r>
              <a:rPr sz="1800" spc="-10" dirty="0">
                <a:solidFill>
                  <a:srgbClr val="595959"/>
                </a:solidFill>
                <a:latin typeface="Arial"/>
                <a:cs typeface="Arial"/>
              </a:rPr>
              <a:t> </a:t>
            </a:r>
            <a:r>
              <a:rPr sz="1800" spc="-5" dirty="0">
                <a:solidFill>
                  <a:srgbClr val="595959"/>
                </a:solidFill>
                <a:latin typeface="Arial"/>
                <a:cs typeface="Arial"/>
              </a:rPr>
              <a:t>Destiny</a:t>
            </a:r>
            <a:endParaRPr sz="1800">
              <a:latin typeface="Arial"/>
              <a:cs typeface="Aria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670175" cy="452120"/>
          </a:xfrm>
          <a:prstGeom prst="rect">
            <a:avLst/>
          </a:prstGeom>
        </p:spPr>
        <p:txBody>
          <a:bodyPr vert="horz" wrap="square" lIns="0" tIns="12700" rIns="0" bIns="0" rtlCol="0">
            <a:spAutoFit/>
          </a:bodyPr>
          <a:lstStyle/>
          <a:p>
            <a:pPr marL="12700">
              <a:lnSpc>
                <a:spcPct val="100000"/>
              </a:lnSpc>
              <a:spcBef>
                <a:spcPts val="100"/>
              </a:spcBef>
            </a:pPr>
            <a:r>
              <a:rPr spc="-5" dirty="0"/>
              <a:t>Hybrid</a:t>
            </a:r>
            <a:r>
              <a:rPr spc="-90" dirty="0"/>
              <a:t> </a:t>
            </a:r>
            <a:r>
              <a:rPr spc="-5" dirty="0"/>
              <a:t>Approach</a:t>
            </a:r>
          </a:p>
        </p:txBody>
      </p:sp>
      <p:sp>
        <p:nvSpPr>
          <p:cNvPr id="3" name="object 3"/>
          <p:cNvSpPr/>
          <p:nvPr/>
        </p:nvSpPr>
        <p:spPr>
          <a:xfrm>
            <a:off x="451387" y="182880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6C9EEB"/>
          </a:solidFill>
        </p:spPr>
        <p:txBody>
          <a:bodyPr wrap="square" lIns="0" tIns="0" rIns="0" bIns="0" rtlCol="0"/>
          <a:lstStyle/>
          <a:p>
            <a:endParaRPr/>
          </a:p>
        </p:txBody>
      </p:sp>
      <p:sp>
        <p:nvSpPr>
          <p:cNvPr id="4" name="object 4"/>
          <p:cNvSpPr/>
          <p:nvPr/>
        </p:nvSpPr>
        <p:spPr>
          <a:xfrm>
            <a:off x="451387"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5" name="object 5"/>
          <p:cNvSpPr txBox="1"/>
          <p:nvPr/>
        </p:nvSpPr>
        <p:spPr>
          <a:xfrm>
            <a:off x="552369" y="1990562"/>
            <a:ext cx="83566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User</a:t>
            </a:r>
            <a:r>
              <a:rPr sz="1400" spc="-75" dirty="0">
                <a:latin typeface="Arial"/>
                <a:cs typeface="Arial"/>
              </a:rPr>
              <a:t> </a:t>
            </a:r>
            <a:r>
              <a:rPr sz="1400" spc="-5" dirty="0">
                <a:latin typeface="Arial"/>
                <a:cs typeface="Arial"/>
              </a:rPr>
              <a:t>input</a:t>
            </a:r>
            <a:endParaRPr sz="1400">
              <a:latin typeface="Arial"/>
              <a:cs typeface="Arial"/>
            </a:endParaRPr>
          </a:p>
        </p:txBody>
      </p:sp>
      <p:sp>
        <p:nvSpPr>
          <p:cNvPr id="6" name="object 6"/>
          <p:cNvSpPr/>
          <p:nvPr/>
        </p:nvSpPr>
        <p:spPr>
          <a:xfrm>
            <a:off x="451387" y="2529850"/>
            <a:ext cx="1477645" cy="572770"/>
          </a:xfrm>
          <a:custGeom>
            <a:avLst/>
            <a:gdLst/>
            <a:ahLst/>
            <a:cxnLst/>
            <a:rect l="l" t="t" r="r" b="b"/>
            <a:pathLst>
              <a:path w="1477645" h="572769">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close/>
              </a:path>
            </a:pathLst>
          </a:custGeom>
          <a:solidFill>
            <a:srgbClr val="FFD966"/>
          </a:solidFill>
        </p:spPr>
        <p:txBody>
          <a:bodyPr wrap="square" lIns="0" tIns="0" rIns="0" bIns="0" rtlCol="0"/>
          <a:lstStyle/>
          <a:p>
            <a:endParaRPr/>
          </a:p>
        </p:txBody>
      </p:sp>
      <p:sp>
        <p:nvSpPr>
          <p:cNvPr id="7" name="object 7"/>
          <p:cNvSpPr/>
          <p:nvPr/>
        </p:nvSpPr>
        <p:spPr>
          <a:xfrm>
            <a:off x="451387"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7" y="0"/>
                </a:lnTo>
                <a:lnTo>
                  <a:pt x="1434704" y="16037"/>
                </a:lnTo>
                <a:lnTo>
                  <a:pt x="1469934" y="58924"/>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8" name="object 8"/>
          <p:cNvSpPr txBox="1"/>
          <p:nvPr/>
        </p:nvSpPr>
        <p:spPr>
          <a:xfrm>
            <a:off x="552369" y="258683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Incoming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9" name="object 9"/>
          <p:cNvSpPr/>
          <p:nvPr/>
        </p:nvSpPr>
        <p:spPr>
          <a:xfrm>
            <a:off x="451387" y="3230899"/>
            <a:ext cx="1477645" cy="572770"/>
          </a:xfrm>
          <a:custGeom>
            <a:avLst/>
            <a:gdLst/>
            <a:ahLst/>
            <a:cxnLst/>
            <a:rect l="l" t="t" r="r" b="b"/>
            <a:pathLst>
              <a:path w="1477645" h="572770">
                <a:moveTo>
                  <a:pt x="13817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close/>
              </a:path>
            </a:pathLst>
          </a:custGeom>
          <a:solidFill>
            <a:srgbClr val="EA9999"/>
          </a:solidFill>
        </p:spPr>
        <p:txBody>
          <a:bodyPr wrap="square" lIns="0" tIns="0" rIns="0" bIns="0" rtlCol="0"/>
          <a:lstStyle/>
          <a:p>
            <a:endParaRPr/>
          </a:p>
        </p:txBody>
      </p:sp>
      <p:sp>
        <p:nvSpPr>
          <p:cNvPr id="10" name="object 10"/>
          <p:cNvSpPr/>
          <p:nvPr/>
        </p:nvSpPr>
        <p:spPr>
          <a:xfrm>
            <a:off x="451387"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7" y="0"/>
                </a:lnTo>
                <a:lnTo>
                  <a:pt x="1434704" y="16037"/>
                </a:lnTo>
                <a:lnTo>
                  <a:pt x="1469934" y="58923"/>
                </a:lnTo>
                <a:lnTo>
                  <a:pt x="1477199" y="95451"/>
                </a:lnTo>
                <a:lnTo>
                  <a:pt x="1477199" y="477247"/>
                </a:lnTo>
                <a:lnTo>
                  <a:pt x="1469698" y="514402"/>
                </a:lnTo>
                <a:lnTo>
                  <a:pt x="1449242" y="544742"/>
                </a:lnTo>
                <a:lnTo>
                  <a:pt x="1418902" y="565198"/>
                </a:lnTo>
                <a:lnTo>
                  <a:pt x="13817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1" name="object 11"/>
          <p:cNvSpPr txBox="1"/>
          <p:nvPr/>
        </p:nvSpPr>
        <p:spPr>
          <a:xfrm>
            <a:off x="552369" y="3392663"/>
            <a:ext cx="109156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Time</a:t>
            </a:r>
            <a:r>
              <a:rPr sz="1400" spc="-75" dirty="0">
                <a:latin typeface="Arial"/>
                <a:cs typeface="Arial"/>
              </a:rPr>
              <a:t> </a:t>
            </a:r>
            <a:r>
              <a:rPr sz="1400" spc="-5" dirty="0">
                <a:latin typeface="Arial"/>
                <a:cs typeface="Arial"/>
              </a:rPr>
              <a:t>elapsed</a:t>
            </a:r>
            <a:endParaRPr sz="1400">
              <a:latin typeface="Arial"/>
              <a:cs typeface="Arial"/>
            </a:endParaRPr>
          </a:p>
        </p:txBody>
      </p:sp>
      <p:sp>
        <p:nvSpPr>
          <p:cNvPr id="12" name="object 12"/>
          <p:cNvSpPr/>
          <p:nvPr/>
        </p:nvSpPr>
        <p:spPr>
          <a:xfrm>
            <a:off x="3753762" y="2512024"/>
            <a:ext cx="1637030" cy="572770"/>
          </a:xfrm>
          <a:custGeom>
            <a:avLst/>
            <a:gdLst/>
            <a:ahLst/>
            <a:cxnLst/>
            <a:rect l="l" t="t" r="r" b="b"/>
            <a:pathLst>
              <a:path w="1637029" h="572769">
                <a:moveTo>
                  <a:pt x="1541047"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close/>
              </a:path>
            </a:pathLst>
          </a:custGeom>
          <a:solidFill>
            <a:srgbClr val="EEEEEE"/>
          </a:solidFill>
        </p:spPr>
        <p:txBody>
          <a:bodyPr wrap="square" lIns="0" tIns="0" rIns="0" bIns="0" rtlCol="0"/>
          <a:lstStyle/>
          <a:p>
            <a:endParaRPr/>
          </a:p>
        </p:txBody>
      </p:sp>
      <p:sp>
        <p:nvSpPr>
          <p:cNvPr id="13" name="object 13"/>
          <p:cNvSpPr/>
          <p:nvPr/>
        </p:nvSpPr>
        <p:spPr>
          <a:xfrm>
            <a:off x="3753762" y="2512024"/>
            <a:ext cx="1637030" cy="572770"/>
          </a:xfrm>
          <a:custGeom>
            <a:avLst/>
            <a:gdLst/>
            <a:ahLst/>
            <a:cxnLst/>
            <a:rect l="l" t="t" r="r" b="b"/>
            <a:pathLst>
              <a:path w="1637029" h="572769">
                <a:moveTo>
                  <a:pt x="0" y="95451"/>
                </a:moveTo>
                <a:lnTo>
                  <a:pt x="7501" y="58297"/>
                </a:lnTo>
                <a:lnTo>
                  <a:pt x="27957" y="27957"/>
                </a:lnTo>
                <a:lnTo>
                  <a:pt x="58297" y="7501"/>
                </a:lnTo>
                <a:lnTo>
                  <a:pt x="95451" y="0"/>
                </a:lnTo>
                <a:lnTo>
                  <a:pt x="1541047" y="0"/>
                </a:lnTo>
                <a:lnTo>
                  <a:pt x="1594005" y="16037"/>
                </a:lnTo>
                <a:lnTo>
                  <a:pt x="1629234" y="58924"/>
                </a:lnTo>
                <a:lnTo>
                  <a:pt x="1636499" y="95451"/>
                </a:lnTo>
                <a:lnTo>
                  <a:pt x="1636499" y="477247"/>
                </a:lnTo>
                <a:lnTo>
                  <a:pt x="1628998" y="514402"/>
                </a:lnTo>
                <a:lnTo>
                  <a:pt x="1608542" y="544742"/>
                </a:lnTo>
                <a:lnTo>
                  <a:pt x="1578202" y="565198"/>
                </a:lnTo>
                <a:lnTo>
                  <a:pt x="1541047"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4" name="object 14"/>
          <p:cNvSpPr txBox="1"/>
          <p:nvPr/>
        </p:nvSpPr>
        <p:spPr>
          <a:xfrm>
            <a:off x="3854744" y="2673787"/>
            <a:ext cx="134937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Compute frame</a:t>
            </a:r>
            <a:r>
              <a:rPr sz="1400" spc="-75" dirty="0">
                <a:latin typeface="Arial"/>
                <a:cs typeface="Arial"/>
              </a:rPr>
              <a:t> </a:t>
            </a:r>
            <a:r>
              <a:rPr sz="1400" i="1" dirty="0">
                <a:latin typeface="Arial"/>
                <a:cs typeface="Arial"/>
              </a:rPr>
              <a:t>t</a:t>
            </a:r>
            <a:endParaRPr sz="1400">
              <a:latin typeface="Arial"/>
              <a:cs typeface="Arial"/>
            </a:endParaRPr>
          </a:p>
        </p:txBody>
      </p:sp>
      <p:sp>
        <p:nvSpPr>
          <p:cNvPr id="15" name="object 15"/>
          <p:cNvSpPr/>
          <p:nvPr/>
        </p:nvSpPr>
        <p:spPr>
          <a:xfrm>
            <a:off x="6980612" y="182880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D4A6BD"/>
          </a:solidFill>
        </p:spPr>
        <p:txBody>
          <a:bodyPr wrap="square" lIns="0" tIns="0" rIns="0" bIns="0" rtlCol="0"/>
          <a:lstStyle/>
          <a:p>
            <a:endParaRPr/>
          </a:p>
        </p:txBody>
      </p:sp>
      <p:sp>
        <p:nvSpPr>
          <p:cNvPr id="16" name="object 16"/>
          <p:cNvSpPr/>
          <p:nvPr/>
        </p:nvSpPr>
        <p:spPr>
          <a:xfrm>
            <a:off x="6980612" y="182880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17" name="object 17"/>
          <p:cNvSpPr txBox="1"/>
          <p:nvPr/>
        </p:nvSpPr>
        <p:spPr>
          <a:xfrm>
            <a:off x="7081594" y="1885787"/>
            <a:ext cx="76517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Image</a:t>
            </a:r>
            <a:r>
              <a:rPr sz="1400" spc="-95" dirty="0">
                <a:latin typeface="Arial"/>
                <a:cs typeface="Arial"/>
              </a:rPr>
              <a:t> </a:t>
            </a:r>
            <a:r>
              <a:rPr sz="1400" spc="-5" dirty="0">
                <a:latin typeface="Arial"/>
                <a:cs typeface="Arial"/>
              </a:rPr>
              <a:t>on  </a:t>
            </a:r>
            <a:r>
              <a:rPr sz="1400" dirty="0">
                <a:latin typeface="Arial"/>
                <a:cs typeface="Arial"/>
              </a:rPr>
              <a:t>screen</a:t>
            </a:r>
            <a:endParaRPr sz="1400">
              <a:latin typeface="Arial"/>
              <a:cs typeface="Arial"/>
            </a:endParaRPr>
          </a:p>
        </p:txBody>
      </p:sp>
      <p:sp>
        <p:nvSpPr>
          <p:cNvPr id="18" name="object 18"/>
          <p:cNvSpPr/>
          <p:nvPr/>
        </p:nvSpPr>
        <p:spPr>
          <a:xfrm>
            <a:off x="6980612" y="2529850"/>
            <a:ext cx="1477645" cy="572770"/>
          </a:xfrm>
          <a:custGeom>
            <a:avLst/>
            <a:gdLst/>
            <a:ahLst/>
            <a:cxnLst/>
            <a:rect l="l" t="t" r="r" b="b"/>
            <a:pathLst>
              <a:path w="1477645" h="572769">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close/>
              </a:path>
            </a:pathLst>
          </a:custGeom>
          <a:solidFill>
            <a:srgbClr val="B4A7D6"/>
          </a:solidFill>
        </p:spPr>
        <p:txBody>
          <a:bodyPr wrap="square" lIns="0" tIns="0" rIns="0" bIns="0" rtlCol="0"/>
          <a:lstStyle/>
          <a:p>
            <a:endParaRPr/>
          </a:p>
        </p:txBody>
      </p:sp>
      <p:sp>
        <p:nvSpPr>
          <p:cNvPr id="19" name="object 19"/>
          <p:cNvSpPr/>
          <p:nvPr/>
        </p:nvSpPr>
        <p:spPr>
          <a:xfrm>
            <a:off x="6980612" y="2529850"/>
            <a:ext cx="1477645" cy="572770"/>
          </a:xfrm>
          <a:custGeom>
            <a:avLst/>
            <a:gdLst/>
            <a:ahLst/>
            <a:cxnLst/>
            <a:rect l="l" t="t" r="r" b="b"/>
            <a:pathLst>
              <a:path w="1477645" h="572769">
                <a:moveTo>
                  <a:pt x="0" y="95451"/>
                </a:moveTo>
                <a:lnTo>
                  <a:pt x="7501" y="58297"/>
                </a:lnTo>
                <a:lnTo>
                  <a:pt x="27957" y="27957"/>
                </a:lnTo>
                <a:lnTo>
                  <a:pt x="58297" y="7501"/>
                </a:lnTo>
                <a:lnTo>
                  <a:pt x="95451" y="0"/>
                </a:lnTo>
                <a:lnTo>
                  <a:pt x="1381748" y="0"/>
                </a:lnTo>
                <a:lnTo>
                  <a:pt x="1434705" y="16037"/>
                </a:lnTo>
                <a:lnTo>
                  <a:pt x="1469934" y="58924"/>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0" name="object 20"/>
          <p:cNvSpPr txBox="1"/>
          <p:nvPr/>
        </p:nvSpPr>
        <p:spPr>
          <a:xfrm>
            <a:off x="7081594" y="2691613"/>
            <a:ext cx="10223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Audio</a:t>
            </a:r>
            <a:r>
              <a:rPr sz="1400" spc="-75" dirty="0">
                <a:latin typeface="Arial"/>
                <a:cs typeface="Arial"/>
              </a:rPr>
              <a:t> </a:t>
            </a:r>
            <a:r>
              <a:rPr sz="1400" spc="-5" dirty="0">
                <a:latin typeface="Arial"/>
                <a:cs typeface="Arial"/>
              </a:rPr>
              <a:t>output</a:t>
            </a:r>
            <a:endParaRPr sz="1400">
              <a:latin typeface="Arial"/>
              <a:cs typeface="Arial"/>
            </a:endParaRPr>
          </a:p>
        </p:txBody>
      </p:sp>
      <p:sp>
        <p:nvSpPr>
          <p:cNvPr id="21" name="object 21"/>
          <p:cNvSpPr/>
          <p:nvPr/>
        </p:nvSpPr>
        <p:spPr>
          <a:xfrm>
            <a:off x="6980612" y="3230899"/>
            <a:ext cx="1477645" cy="572770"/>
          </a:xfrm>
          <a:custGeom>
            <a:avLst/>
            <a:gdLst/>
            <a:ahLst/>
            <a:cxnLst/>
            <a:rect l="l" t="t" r="r" b="b"/>
            <a:pathLst>
              <a:path w="1477645" h="572770">
                <a:moveTo>
                  <a:pt x="1381748" y="572699"/>
                </a:moveTo>
                <a:lnTo>
                  <a:pt x="95451" y="572699"/>
                </a:lnTo>
                <a:lnTo>
                  <a:pt x="58297" y="565198"/>
                </a:lnTo>
                <a:lnTo>
                  <a:pt x="27957" y="544742"/>
                </a:lnTo>
                <a:lnTo>
                  <a:pt x="7501" y="514402"/>
                </a:lnTo>
                <a:lnTo>
                  <a:pt x="0" y="477247"/>
                </a:lnTo>
                <a:lnTo>
                  <a:pt x="0" y="95451"/>
                </a:ln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close/>
              </a:path>
            </a:pathLst>
          </a:custGeom>
          <a:solidFill>
            <a:srgbClr val="FFD966"/>
          </a:solidFill>
        </p:spPr>
        <p:txBody>
          <a:bodyPr wrap="square" lIns="0" tIns="0" rIns="0" bIns="0" rtlCol="0"/>
          <a:lstStyle/>
          <a:p>
            <a:endParaRPr/>
          </a:p>
        </p:txBody>
      </p:sp>
      <p:sp>
        <p:nvSpPr>
          <p:cNvPr id="22" name="object 22"/>
          <p:cNvSpPr/>
          <p:nvPr/>
        </p:nvSpPr>
        <p:spPr>
          <a:xfrm>
            <a:off x="6980612" y="3230900"/>
            <a:ext cx="1477645" cy="572770"/>
          </a:xfrm>
          <a:custGeom>
            <a:avLst/>
            <a:gdLst/>
            <a:ahLst/>
            <a:cxnLst/>
            <a:rect l="l" t="t" r="r" b="b"/>
            <a:pathLst>
              <a:path w="1477645" h="572770">
                <a:moveTo>
                  <a:pt x="0" y="95451"/>
                </a:moveTo>
                <a:lnTo>
                  <a:pt x="7501" y="58297"/>
                </a:lnTo>
                <a:lnTo>
                  <a:pt x="27957" y="27957"/>
                </a:lnTo>
                <a:lnTo>
                  <a:pt x="58297" y="7501"/>
                </a:lnTo>
                <a:lnTo>
                  <a:pt x="95451" y="0"/>
                </a:lnTo>
                <a:lnTo>
                  <a:pt x="1381748" y="0"/>
                </a:lnTo>
                <a:lnTo>
                  <a:pt x="1434705" y="16037"/>
                </a:lnTo>
                <a:lnTo>
                  <a:pt x="1469934" y="58923"/>
                </a:lnTo>
                <a:lnTo>
                  <a:pt x="1477199" y="95451"/>
                </a:lnTo>
                <a:lnTo>
                  <a:pt x="1477199" y="477247"/>
                </a:lnTo>
                <a:lnTo>
                  <a:pt x="1469698" y="514402"/>
                </a:lnTo>
                <a:lnTo>
                  <a:pt x="1449242" y="544742"/>
                </a:lnTo>
                <a:lnTo>
                  <a:pt x="1418902" y="565198"/>
                </a:lnTo>
                <a:lnTo>
                  <a:pt x="1381748" y="572699"/>
                </a:lnTo>
                <a:lnTo>
                  <a:pt x="95451" y="572699"/>
                </a:lnTo>
                <a:lnTo>
                  <a:pt x="58297" y="565198"/>
                </a:lnTo>
                <a:lnTo>
                  <a:pt x="27957" y="544742"/>
                </a:lnTo>
                <a:lnTo>
                  <a:pt x="7501" y="514402"/>
                </a:lnTo>
                <a:lnTo>
                  <a:pt x="0" y="477247"/>
                </a:lnTo>
                <a:lnTo>
                  <a:pt x="0" y="95451"/>
                </a:lnTo>
                <a:close/>
              </a:path>
            </a:pathLst>
          </a:custGeom>
          <a:ln w="9524">
            <a:solidFill>
              <a:srgbClr val="595959"/>
            </a:solidFill>
          </a:ln>
        </p:spPr>
        <p:txBody>
          <a:bodyPr wrap="square" lIns="0" tIns="0" rIns="0" bIns="0" rtlCol="0"/>
          <a:lstStyle/>
          <a:p>
            <a:endParaRPr/>
          </a:p>
        </p:txBody>
      </p:sp>
      <p:sp>
        <p:nvSpPr>
          <p:cNvPr id="23" name="object 23"/>
          <p:cNvSpPr txBox="1"/>
          <p:nvPr/>
        </p:nvSpPr>
        <p:spPr>
          <a:xfrm>
            <a:off x="7081594" y="3287888"/>
            <a:ext cx="1130935" cy="448309"/>
          </a:xfrm>
          <a:prstGeom prst="rect">
            <a:avLst/>
          </a:prstGeom>
        </p:spPr>
        <p:txBody>
          <a:bodyPr vert="horz" wrap="square" lIns="0" tIns="22860" rIns="0" bIns="0" rtlCol="0">
            <a:spAutoFit/>
          </a:bodyPr>
          <a:lstStyle/>
          <a:p>
            <a:pPr marL="12700" marR="5080">
              <a:lnSpc>
                <a:spcPts val="1650"/>
              </a:lnSpc>
              <a:spcBef>
                <a:spcPts val="180"/>
              </a:spcBef>
            </a:pPr>
            <a:r>
              <a:rPr sz="1400" spc="-5" dirty="0">
                <a:latin typeface="Arial"/>
                <a:cs typeface="Arial"/>
              </a:rPr>
              <a:t>Outgoing  network</a:t>
            </a:r>
            <a:r>
              <a:rPr sz="1400" spc="-90" dirty="0">
                <a:latin typeface="Arial"/>
                <a:cs typeface="Arial"/>
              </a:rPr>
              <a:t> </a:t>
            </a:r>
            <a:r>
              <a:rPr sz="1400" spc="-5" dirty="0">
                <a:latin typeface="Arial"/>
                <a:cs typeface="Arial"/>
              </a:rPr>
              <a:t>traffic</a:t>
            </a:r>
            <a:endParaRPr sz="1400">
              <a:latin typeface="Arial"/>
              <a:cs typeface="Arial"/>
            </a:endParaRPr>
          </a:p>
        </p:txBody>
      </p:sp>
      <p:sp>
        <p:nvSpPr>
          <p:cNvPr id="24" name="object 24"/>
          <p:cNvSpPr/>
          <p:nvPr/>
        </p:nvSpPr>
        <p:spPr>
          <a:xfrm>
            <a:off x="5764400" y="2563624"/>
            <a:ext cx="842644" cy="469900"/>
          </a:xfrm>
          <a:custGeom>
            <a:avLst/>
            <a:gdLst/>
            <a:ahLst/>
            <a:cxnLst/>
            <a:rect l="l" t="t" r="r" b="b"/>
            <a:pathLst>
              <a:path w="842645" h="469900">
                <a:moveTo>
                  <a:pt x="421049" y="469499"/>
                </a:moveTo>
                <a:lnTo>
                  <a:pt x="0" y="469499"/>
                </a:lnTo>
                <a:lnTo>
                  <a:pt x="0" y="0"/>
                </a:lnTo>
                <a:lnTo>
                  <a:pt x="421049" y="0"/>
                </a:lnTo>
                <a:lnTo>
                  <a:pt x="483269" y="2545"/>
                </a:lnTo>
                <a:lnTo>
                  <a:pt x="542654" y="9939"/>
                </a:lnTo>
                <a:lnTo>
                  <a:pt x="598554" y="21818"/>
                </a:lnTo>
                <a:lnTo>
                  <a:pt x="650316" y="37819"/>
                </a:lnTo>
                <a:lnTo>
                  <a:pt x="697289" y="57580"/>
                </a:lnTo>
                <a:lnTo>
                  <a:pt x="738823" y="80736"/>
                </a:lnTo>
                <a:lnTo>
                  <a:pt x="774266" y="106926"/>
                </a:lnTo>
                <a:lnTo>
                  <a:pt x="802966" y="135785"/>
                </a:lnTo>
                <a:lnTo>
                  <a:pt x="837534" y="200060"/>
                </a:lnTo>
                <a:lnTo>
                  <a:pt x="842099" y="234749"/>
                </a:lnTo>
                <a:lnTo>
                  <a:pt x="837534" y="269439"/>
                </a:lnTo>
                <a:lnTo>
                  <a:pt x="802966" y="333714"/>
                </a:lnTo>
                <a:lnTo>
                  <a:pt x="774266" y="362573"/>
                </a:lnTo>
                <a:lnTo>
                  <a:pt x="738823" y="388763"/>
                </a:lnTo>
                <a:lnTo>
                  <a:pt x="697289" y="411919"/>
                </a:lnTo>
                <a:lnTo>
                  <a:pt x="650316" y="431680"/>
                </a:lnTo>
                <a:lnTo>
                  <a:pt x="598554" y="447681"/>
                </a:lnTo>
                <a:lnTo>
                  <a:pt x="542654" y="459560"/>
                </a:lnTo>
                <a:lnTo>
                  <a:pt x="483269" y="466954"/>
                </a:lnTo>
                <a:lnTo>
                  <a:pt x="421049" y="469499"/>
                </a:lnTo>
                <a:close/>
              </a:path>
            </a:pathLst>
          </a:custGeom>
          <a:solidFill>
            <a:srgbClr val="EEEEEE"/>
          </a:solidFill>
        </p:spPr>
        <p:txBody>
          <a:bodyPr wrap="square" lIns="0" tIns="0" rIns="0" bIns="0" rtlCol="0"/>
          <a:lstStyle/>
          <a:p>
            <a:endParaRPr/>
          </a:p>
        </p:txBody>
      </p:sp>
      <p:sp>
        <p:nvSpPr>
          <p:cNvPr id="25" name="object 25"/>
          <p:cNvSpPr/>
          <p:nvPr/>
        </p:nvSpPr>
        <p:spPr>
          <a:xfrm>
            <a:off x="5764400" y="2563624"/>
            <a:ext cx="842644" cy="469900"/>
          </a:xfrm>
          <a:custGeom>
            <a:avLst/>
            <a:gdLst/>
            <a:ahLst/>
            <a:cxnLst/>
            <a:rect l="l" t="t" r="r" b="b"/>
            <a:pathLst>
              <a:path w="842645" h="469900">
                <a:moveTo>
                  <a:pt x="0" y="0"/>
                </a:moveTo>
                <a:lnTo>
                  <a:pt x="421049" y="0"/>
                </a:lnTo>
                <a:lnTo>
                  <a:pt x="483269" y="2545"/>
                </a:lnTo>
                <a:lnTo>
                  <a:pt x="542654" y="9939"/>
                </a:lnTo>
                <a:lnTo>
                  <a:pt x="598554" y="21818"/>
                </a:lnTo>
                <a:lnTo>
                  <a:pt x="650316" y="37819"/>
                </a:lnTo>
                <a:lnTo>
                  <a:pt x="697289" y="57580"/>
                </a:lnTo>
                <a:lnTo>
                  <a:pt x="738823" y="80736"/>
                </a:lnTo>
                <a:lnTo>
                  <a:pt x="774266" y="106926"/>
                </a:lnTo>
                <a:lnTo>
                  <a:pt x="802966" y="135785"/>
                </a:lnTo>
                <a:lnTo>
                  <a:pt x="837534" y="200060"/>
                </a:lnTo>
                <a:lnTo>
                  <a:pt x="842099" y="234749"/>
                </a:lnTo>
                <a:lnTo>
                  <a:pt x="837534" y="269439"/>
                </a:lnTo>
                <a:lnTo>
                  <a:pt x="802966" y="333714"/>
                </a:lnTo>
                <a:lnTo>
                  <a:pt x="774266" y="362573"/>
                </a:lnTo>
                <a:lnTo>
                  <a:pt x="738823" y="388763"/>
                </a:lnTo>
                <a:lnTo>
                  <a:pt x="697289" y="411919"/>
                </a:lnTo>
                <a:lnTo>
                  <a:pt x="650316" y="431680"/>
                </a:lnTo>
                <a:lnTo>
                  <a:pt x="598554" y="447681"/>
                </a:lnTo>
                <a:lnTo>
                  <a:pt x="542654" y="459560"/>
                </a:lnTo>
                <a:lnTo>
                  <a:pt x="483269" y="466954"/>
                </a:lnTo>
                <a:lnTo>
                  <a:pt x="421049" y="469499"/>
                </a:lnTo>
                <a:lnTo>
                  <a:pt x="0" y="469499"/>
                </a:lnTo>
                <a:lnTo>
                  <a:pt x="0" y="0"/>
                </a:lnTo>
                <a:close/>
              </a:path>
            </a:pathLst>
          </a:custGeom>
          <a:ln w="9524">
            <a:solidFill>
              <a:srgbClr val="595959"/>
            </a:solidFill>
          </a:ln>
        </p:spPr>
        <p:txBody>
          <a:bodyPr wrap="square" lIns="0" tIns="0" rIns="0" bIns="0" rtlCol="0"/>
          <a:lstStyle/>
          <a:p>
            <a:endParaRPr/>
          </a:p>
        </p:txBody>
      </p:sp>
      <p:sp>
        <p:nvSpPr>
          <p:cNvPr id="26" name="object 26"/>
          <p:cNvSpPr txBox="1"/>
          <p:nvPr/>
        </p:nvSpPr>
        <p:spPr>
          <a:xfrm>
            <a:off x="5837425" y="2673788"/>
            <a:ext cx="55880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Queue</a:t>
            </a:r>
            <a:endParaRPr sz="1400">
              <a:latin typeface="Arial"/>
              <a:cs typeface="Arial"/>
            </a:endParaRPr>
          </a:p>
        </p:txBody>
      </p:sp>
      <p:sp>
        <p:nvSpPr>
          <p:cNvPr id="27" name="object 27"/>
          <p:cNvSpPr/>
          <p:nvPr/>
        </p:nvSpPr>
        <p:spPr>
          <a:xfrm>
            <a:off x="2043650" y="2520999"/>
            <a:ext cx="1600835" cy="572770"/>
          </a:xfrm>
          <a:custGeom>
            <a:avLst/>
            <a:gdLst/>
            <a:ahLst/>
            <a:cxnLst/>
            <a:rect l="l" t="t" r="r" b="b"/>
            <a:pathLst>
              <a:path w="1600835" h="572769">
                <a:moveTo>
                  <a:pt x="1314149" y="572699"/>
                </a:moveTo>
                <a:lnTo>
                  <a:pt x="1314149" y="429524"/>
                </a:lnTo>
                <a:lnTo>
                  <a:pt x="0" y="429524"/>
                </a:lnTo>
                <a:lnTo>
                  <a:pt x="0" y="143174"/>
                </a:lnTo>
                <a:lnTo>
                  <a:pt x="1314149" y="143174"/>
                </a:lnTo>
                <a:lnTo>
                  <a:pt x="1314149" y="0"/>
                </a:lnTo>
                <a:lnTo>
                  <a:pt x="1600499" y="286349"/>
                </a:lnTo>
                <a:lnTo>
                  <a:pt x="1314149" y="572699"/>
                </a:lnTo>
                <a:close/>
              </a:path>
            </a:pathLst>
          </a:custGeom>
          <a:solidFill>
            <a:srgbClr val="EEEEEE"/>
          </a:solidFill>
        </p:spPr>
        <p:txBody>
          <a:bodyPr wrap="square" lIns="0" tIns="0" rIns="0" bIns="0" rtlCol="0"/>
          <a:lstStyle/>
          <a:p>
            <a:endParaRPr/>
          </a:p>
        </p:txBody>
      </p:sp>
      <p:sp>
        <p:nvSpPr>
          <p:cNvPr id="28" name="object 28"/>
          <p:cNvSpPr/>
          <p:nvPr/>
        </p:nvSpPr>
        <p:spPr>
          <a:xfrm>
            <a:off x="2043650" y="2520999"/>
            <a:ext cx="1600835" cy="572770"/>
          </a:xfrm>
          <a:custGeom>
            <a:avLst/>
            <a:gdLst/>
            <a:ahLst/>
            <a:cxnLst/>
            <a:rect l="l" t="t" r="r" b="b"/>
            <a:pathLst>
              <a:path w="1600835" h="572769">
                <a:moveTo>
                  <a:pt x="0" y="143174"/>
                </a:moveTo>
                <a:lnTo>
                  <a:pt x="1314149" y="143174"/>
                </a:lnTo>
                <a:lnTo>
                  <a:pt x="1314149" y="0"/>
                </a:lnTo>
                <a:lnTo>
                  <a:pt x="1600499" y="286349"/>
                </a:lnTo>
                <a:lnTo>
                  <a:pt x="1314149" y="572699"/>
                </a:lnTo>
                <a:lnTo>
                  <a:pt x="1314149" y="429524"/>
                </a:lnTo>
                <a:lnTo>
                  <a:pt x="0" y="429524"/>
                </a:lnTo>
                <a:lnTo>
                  <a:pt x="0" y="143174"/>
                </a:lnTo>
                <a:close/>
              </a:path>
            </a:pathLst>
          </a:custGeom>
          <a:ln w="9524">
            <a:solidFill>
              <a:srgbClr val="595959"/>
            </a:solidFill>
          </a:ln>
        </p:spPr>
        <p:txBody>
          <a:bodyPr wrap="square" lIns="0" tIns="0" rIns="0" bIns="0" rtlCol="0"/>
          <a:lstStyle/>
          <a:p>
            <a:endParaRPr/>
          </a:p>
        </p:txBody>
      </p:sp>
      <p:sp>
        <p:nvSpPr>
          <p:cNvPr id="29" name="object 29"/>
          <p:cNvSpPr/>
          <p:nvPr/>
        </p:nvSpPr>
        <p:spPr>
          <a:xfrm>
            <a:off x="5447274" y="2503174"/>
            <a:ext cx="260350" cy="590550"/>
          </a:xfrm>
          <a:custGeom>
            <a:avLst/>
            <a:gdLst/>
            <a:ahLst/>
            <a:cxnLst/>
            <a:rect l="l" t="t" r="r" b="b"/>
            <a:pathLst>
              <a:path w="260350" h="590550">
                <a:moveTo>
                  <a:pt x="130049" y="590399"/>
                </a:moveTo>
                <a:lnTo>
                  <a:pt x="130049" y="442799"/>
                </a:lnTo>
                <a:lnTo>
                  <a:pt x="0" y="442799"/>
                </a:lnTo>
                <a:lnTo>
                  <a:pt x="0" y="147599"/>
                </a:lnTo>
                <a:lnTo>
                  <a:pt x="130049" y="147599"/>
                </a:lnTo>
                <a:lnTo>
                  <a:pt x="130049" y="0"/>
                </a:lnTo>
                <a:lnTo>
                  <a:pt x="260099" y="295199"/>
                </a:lnTo>
                <a:lnTo>
                  <a:pt x="130049" y="590399"/>
                </a:lnTo>
                <a:close/>
              </a:path>
            </a:pathLst>
          </a:custGeom>
          <a:solidFill>
            <a:srgbClr val="EEEEEE"/>
          </a:solidFill>
        </p:spPr>
        <p:txBody>
          <a:bodyPr wrap="square" lIns="0" tIns="0" rIns="0" bIns="0" rtlCol="0"/>
          <a:lstStyle/>
          <a:p>
            <a:endParaRPr/>
          </a:p>
        </p:txBody>
      </p:sp>
      <p:sp>
        <p:nvSpPr>
          <p:cNvPr id="30" name="object 30"/>
          <p:cNvSpPr/>
          <p:nvPr/>
        </p:nvSpPr>
        <p:spPr>
          <a:xfrm>
            <a:off x="5447274" y="2503174"/>
            <a:ext cx="260350" cy="590550"/>
          </a:xfrm>
          <a:custGeom>
            <a:avLst/>
            <a:gdLst/>
            <a:ahLst/>
            <a:cxnLst/>
            <a:rect l="l" t="t" r="r" b="b"/>
            <a:pathLst>
              <a:path w="260350" h="590550">
                <a:moveTo>
                  <a:pt x="0" y="147599"/>
                </a:moveTo>
                <a:lnTo>
                  <a:pt x="130049" y="147599"/>
                </a:lnTo>
                <a:lnTo>
                  <a:pt x="130049" y="0"/>
                </a:lnTo>
                <a:lnTo>
                  <a:pt x="260099" y="295199"/>
                </a:lnTo>
                <a:lnTo>
                  <a:pt x="130049" y="590399"/>
                </a:lnTo>
                <a:lnTo>
                  <a:pt x="130049" y="442799"/>
                </a:lnTo>
                <a:lnTo>
                  <a:pt x="0" y="442799"/>
                </a:lnTo>
                <a:lnTo>
                  <a:pt x="0" y="147599"/>
                </a:lnTo>
                <a:close/>
              </a:path>
            </a:pathLst>
          </a:custGeom>
          <a:ln w="9524">
            <a:solidFill>
              <a:srgbClr val="595959"/>
            </a:solidFill>
          </a:ln>
        </p:spPr>
        <p:txBody>
          <a:bodyPr wrap="square" lIns="0" tIns="0" rIns="0" bIns="0" rtlCol="0"/>
          <a:lstStyle/>
          <a:p>
            <a:endParaRPr/>
          </a:p>
        </p:txBody>
      </p:sp>
      <p:sp>
        <p:nvSpPr>
          <p:cNvPr id="31" name="object 31"/>
          <p:cNvSpPr/>
          <p:nvPr/>
        </p:nvSpPr>
        <p:spPr>
          <a:xfrm>
            <a:off x="6663512" y="2503174"/>
            <a:ext cx="260350" cy="590550"/>
          </a:xfrm>
          <a:custGeom>
            <a:avLst/>
            <a:gdLst/>
            <a:ahLst/>
            <a:cxnLst/>
            <a:rect l="l" t="t" r="r" b="b"/>
            <a:pathLst>
              <a:path w="260350" h="590550">
                <a:moveTo>
                  <a:pt x="130049" y="590399"/>
                </a:moveTo>
                <a:lnTo>
                  <a:pt x="130049" y="442799"/>
                </a:lnTo>
                <a:lnTo>
                  <a:pt x="0" y="442799"/>
                </a:lnTo>
                <a:lnTo>
                  <a:pt x="0" y="147599"/>
                </a:lnTo>
                <a:lnTo>
                  <a:pt x="130049" y="147599"/>
                </a:lnTo>
                <a:lnTo>
                  <a:pt x="130049" y="0"/>
                </a:lnTo>
                <a:lnTo>
                  <a:pt x="260099" y="295199"/>
                </a:lnTo>
                <a:lnTo>
                  <a:pt x="130049" y="590399"/>
                </a:lnTo>
                <a:close/>
              </a:path>
            </a:pathLst>
          </a:custGeom>
          <a:solidFill>
            <a:srgbClr val="EEEEEE"/>
          </a:solidFill>
        </p:spPr>
        <p:txBody>
          <a:bodyPr wrap="square" lIns="0" tIns="0" rIns="0" bIns="0" rtlCol="0"/>
          <a:lstStyle/>
          <a:p>
            <a:endParaRPr/>
          </a:p>
        </p:txBody>
      </p:sp>
      <p:sp>
        <p:nvSpPr>
          <p:cNvPr id="32" name="object 32"/>
          <p:cNvSpPr/>
          <p:nvPr/>
        </p:nvSpPr>
        <p:spPr>
          <a:xfrm>
            <a:off x="6663512" y="2503174"/>
            <a:ext cx="260350" cy="590550"/>
          </a:xfrm>
          <a:custGeom>
            <a:avLst/>
            <a:gdLst/>
            <a:ahLst/>
            <a:cxnLst/>
            <a:rect l="l" t="t" r="r" b="b"/>
            <a:pathLst>
              <a:path w="260350" h="590550">
                <a:moveTo>
                  <a:pt x="0" y="147599"/>
                </a:moveTo>
                <a:lnTo>
                  <a:pt x="130049" y="147599"/>
                </a:lnTo>
                <a:lnTo>
                  <a:pt x="130049" y="0"/>
                </a:lnTo>
                <a:lnTo>
                  <a:pt x="260099" y="295199"/>
                </a:lnTo>
                <a:lnTo>
                  <a:pt x="130049" y="590399"/>
                </a:lnTo>
                <a:lnTo>
                  <a:pt x="130049" y="442799"/>
                </a:lnTo>
                <a:lnTo>
                  <a:pt x="0" y="442799"/>
                </a:lnTo>
                <a:lnTo>
                  <a:pt x="0" y="147599"/>
                </a:lnTo>
                <a:close/>
              </a:path>
            </a:pathLst>
          </a:custGeom>
          <a:ln w="9524">
            <a:solidFill>
              <a:srgbClr val="595959"/>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670175" cy="452120"/>
          </a:xfrm>
          <a:prstGeom prst="rect">
            <a:avLst/>
          </a:prstGeom>
        </p:spPr>
        <p:txBody>
          <a:bodyPr vert="horz" wrap="square" lIns="0" tIns="12700" rIns="0" bIns="0" rtlCol="0">
            <a:spAutoFit/>
          </a:bodyPr>
          <a:lstStyle/>
          <a:p>
            <a:pPr marL="12700">
              <a:lnSpc>
                <a:spcPct val="100000"/>
              </a:lnSpc>
              <a:spcBef>
                <a:spcPts val="100"/>
              </a:spcBef>
            </a:pPr>
            <a:r>
              <a:rPr spc="-5" dirty="0"/>
              <a:t>Hybrid</a:t>
            </a:r>
            <a:r>
              <a:rPr spc="-90" dirty="0"/>
              <a:t> </a:t>
            </a:r>
            <a:r>
              <a:rPr spc="-5" dirty="0"/>
              <a:t>Approach</a:t>
            </a:r>
          </a:p>
        </p:txBody>
      </p:sp>
      <p:sp>
        <p:nvSpPr>
          <p:cNvPr id="3" name="object 3"/>
          <p:cNvSpPr txBox="1"/>
          <p:nvPr/>
        </p:nvSpPr>
        <p:spPr>
          <a:xfrm>
            <a:off x="475249" y="1162308"/>
            <a:ext cx="5419090" cy="1478280"/>
          </a:xfrm>
          <a:prstGeom prst="rect">
            <a:avLst/>
          </a:prstGeom>
        </p:spPr>
        <p:txBody>
          <a:bodyPr vert="horz" wrap="square" lIns="0" tIns="66675" rIns="0" bIns="0" rtlCol="0">
            <a:spAutoFit/>
          </a:bodyPr>
          <a:lstStyle/>
          <a:p>
            <a:pPr marL="379095" indent="-366395">
              <a:lnSpc>
                <a:spcPct val="100000"/>
              </a:lnSpc>
              <a:spcBef>
                <a:spcPts val="525"/>
              </a:spcBef>
              <a:buChar char="●"/>
              <a:tabLst>
                <a:tab pos="379095" algn="l"/>
                <a:tab pos="379730" algn="l"/>
              </a:tabLst>
            </a:pPr>
            <a:r>
              <a:rPr sz="1800" spc="-5" dirty="0">
                <a:solidFill>
                  <a:srgbClr val="595959"/>
                </a:solidFill>
                <a:latin typeface="Arial"/>
                <a:cs typeface="Arial"/>
              </a:rPr>
              <a:t>What it looks</a:t>
            </a:r>
            <a:r>
              <a:rPr sz="1800" spc="-10" dirty="0">
                <a:solidFill>
                  <a:srgbClr val="595959"/>
                </a:solidFill>
                <a:latin typeface="Arial"/>
                <a:cs typeface="Arial"/>
              </a:rPr>
              <a:t> </a:t>
            </a:r>
            <a:r>
              <a:rPr sz="1800" spc="-5" dirty="0">
                <a:solidFill>
                  <a:srgbClr val="595959"/>
                </a:solidFill>
                <a:latin typeface="Arial"/>
                <a:cs typeface="Arial"/>
              </a:rPr>
              <a:t>like:</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Queues between phases </a:t>
            </a:r>
            <a:r>
              <a:rPr sz="1400" dirty="0">
                <a:solidFill>
                  <a:srgbClr val="595959"/>
                </a:solidFill>
                <a:latin typeface="Arial"/>
                <a:cs typeface="Arial"/>
              </a:rPr>
              <a:t>sim </a:t>
            </a:r>
            <a:r>
              <a:rPr sz="1400" spc="-5" dirty="0">
                <a:solidFill>
                  <a:srgbClr val="595959"/>
                </a:solidFill>
                <a:latin typeface="Arial"/>
                <a:cs typeface="Arial"/>
              </a:rPr>
              <a:t>and</a:t>
            </a:r>
            <a:r>
              <a:rPr sz="1400" spc="-25" dirty="0">
                <a:solidFill>
                  <a:srgbClr val="595959"/>
                </a:solidFill>
                <a:latin typeface="Arial"/>
                <a:cs typeface="Arial"/>
              </a:rPr>
              <a:t> </a:t>
            </a:r>
            <a:r>
              <a:rPr sz="1400" spc="-5" dirty="0">
                <a:solidFill>
                  <a:srgbClr val="595959"/>
                </a:solidFill>
                <a:latin typeface="Arial"/>
                <a:cs typeface="Arial"/>
              </a:rPr>
              <a:t>output</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Ad-hoc wide </a:t>
            </a:r>
            <a:r>
              <a:rPr sz="1400" dirty="0">
                <a:solidFill>
                  <a:srgbClr val="595959"/>
                </a:solidFill>
                <a:latin typeface="Arial"/>
                <a:cs typeface="Arial"/>
              </a:rPr>
              <a:t>computation </a:t>
            </a:r>
            <a:r>
              <a:rPr sz="1400" spc="-5" dirty="0">
                <a:solidFill>
                  <a:srgbClr val="595959"/>
                </a:solidFill>
                <a:latin typeface="Arial"/>
                <a:cs typeface="Arial"/>
              </a:rPr>
              <a:t>within</a:t>
            </a:r>
            <a:r>
              <a:rPr sz="1400" spc="-20" dirty="0">
                <a:solidFill>
                  <a:srgbClr val="595959"/>
                </a:solidFill>
                <a:latin typeface="Arial"/>
                <a:cs typeface="Arial"/>
              </a:rPr>
              <a:t> </a:t>
            </a:r>
            <a:r>
              <a:rPr sz="1400" spc="-5" dirty="0">
                <a:solidFill>
                  <a:srgbClr val="595959"/>
                </a:solidFill>
                <a:latin typeface="Arial"/>
                <a:cs typeface="Arial"/>
              </a:rPr>
              <a:t>phases</a:t>
            </a:r>
            <a:endParaRPr sz="1400">
              <a:latin typeface="Arial"/>
              <a:cs typeface="Arial"/>
            </a:endParaRPr>
          </a:p>
          <a:p>
            <a:pPr marL="379095" indent="-366395">
              <a:lnSpc>
                <a:spcPct val="100000"/>
              </a:lnSpc>
              <a:spcBef>
                <a:spcPts val="254"/>
              </a:spcBef>
              <a:buChar char="●"/>
              <a:tabLst>
                <a:tab pos="379095" algn="l"/>
                <a:tab pos="379730" algn="l"/>
              </a:tabLst>
            </a:pPr>
            <a:r>
              <a:rPr sz="1800" dirty="0">
                <a:solidFill>
                  <a:srgbClr val="595959"/>
                </a:solidFill>
                <a:latin typeface="Arial"/>
                <a:cs typeface="Arial"/>
              </a:rPr>
              <a:t>Middle </a:t>
            </a:r>
            <a:r>
              <a:rPr sz="1800" spc="-5" dirty="0">
                <a:solidFill>
                  <a:srgbClr val="595959"/>
                </a:solidFill>
                <a:latin typeface="Arial"/>
                <a:cs typeface="Arial"/>
              </a:rPr>
              <a:t>ground between wide only, and fully</a:t>
            </a:r>
            <a:r>
              <a:rPr sz="1800" spc="-80" dirty="0">
                <a:solidFill>
                  <a:srgbClr val="595959"/>
                </a:solidFill>
                <a:latin typeface="Arial"/>
                <a:cs typeface="Arial"/>
              </a:rPr>
              <a:t> </a:t>
            </a:r>
            <a:r>
              <a:rPr sz="1800" spc="-5" dirty="0">
                <a:solidFill>
                  <a:srgbClr val="595959"/>
                </a:solidFill>
                <a:latin typeface="Arial"/>
                <a:cs typeface="Arial"/>
              </a:rPr>
              <a:t>async</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For example: Skylanders</a:t>
            </a:r>
            <a:r>
              <a:rPr sz="1800" spc="-25" dirty="0">
                <a:solidFill>
                  <a:srgbClr val="595959"/>
                </a:solidFill>
                <a:latin typeface="Arial"/>
                <a:cs typeface="Arial"/>
              </a:rPr>
              <a:t> </a:t>
            </a:r>
            <a:r>
              <a:rPr sz="1800" spc="-5" dirty="0">
                <a:solidFill>
                  <a:srgbClr val="595959"/>
                </a:solidFill>
                <a:latin typeface="Arial"/>
                <a:cs typeface="Arial"/>
              </a:rPr>
              <a:t>SuperChargers</a:t>
            </a:r>
            <a:endParaRPr sz="1800">
              <a:latin typeface="Arial"/>
              <a:cs typeface="Aria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4725" y="503825"/>
            <a:ext cx="2472055" cy="452120"/>
          </a:xfrm>
          <a:prstGeom prst="rect">
            <a:avLst/>
          </a:prstGeom>
        </p:spPr>
        <p:txBody>
          <a:bodyPr vert="horz" wrap="square" lIns="0" tIns="12700" rIns="0" bIns="0" rtlCol="0">
            <a:spAutoFit/>
          </a:bodyPr>
          <a:lstStyle/>
          <a:p>
            <a:pPr marL="12700">
              <a:lnSpc>
                <a:spcPct val="100000"/>
              </a:lnSpc>
              <a:spcBef>
                <a:spcPts val="100"/>
              </a:spcBef>
            </a:pPr>
            <a:r>
              <a:rPr sz="2800" spc="-5" dirty="0">
                <a:latin typeface="Arial"/>
                <a:cs typeface="Arial"/>
              </a:rPr>
              <a:t>Doing the</a:t>
            </a:r>
            <a:r>
              <a:rPr sz="2800" spc="-95" dirty="0">
                <a:latin typeface="Arial"/>
                <a:cs typeface="Arial"/>
              </a:rPr>
              <a:t> </a:t>
            </a:r>
            <a:r>
              <a:rPr sz="2800" spc="-5" dirty="0">
                <a:latin typeface="Arial"/>
                <a:cs typeface="Arial"/>
              </a:rPr>
              <a:t>Work</a:t>
            </a:r>
            <a:endParaRPr sz="2800">
              <a:latin typeface="Arial"/>
              <a:cs typeface="Arial"/>
            </a:endParaRPr>
          </a:p>
        </p:txBody>
      </p:sp>
      <p:sp>
        <p:nvSpPr>
          <p:cNvPr id="3" name="object 3"/>
          <p:cNvSpPr txBox="1"/>
          <p:nvPr/>
        </p:nvSpPr>
        <p:spPr>
          <a:xfrm>
            <a:off x="384725" y="1216355"/>
            <a:ext cx="724725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95959"/>
                </a:solidFill>
                <a:latin typeface="Arial"/>
                <a:cs typeface="Arial"/>
              </a:rPr>
              <a:t>Assuming we want to do </a:t>
            </a:r>
            <a:r>
              <a:rPr sz="1800" dirty="0">
                <a:solidFill>
                  <a:srgbClr val="595959"/>
                </a:solidFill>
                <a:latin typeface="Arial"/>
                <a:cs typeface="Arial"/>
              </a:rPr>
              <a:t>something multicore, </a:t>
            </a:r>
            <a:r>
              <a:rPr sz="1800" spc="-5" dirty="0">
                <a:solidFill>
                  <a:srgbClr val="595959"/>
                </a:solidFill>
                <a:latin typeface="Arial"/>
                <a:cs typeface="Arial"/>
              </a:rPr>
              <a:t>how do we implement</a:t>
            </a:r>
            <a:r>
              <a:rPr sz="1800" spc="-75" dirty="0">
                <a:solidFill>
                  <a:srgbClr val="595959"/>
                </a:solidFill>
                <a:latin typeface="Arial"/>
                <a:cs typeface="Arial"/>
              </a:rPr>
              <a:t> </a:t>
            </a:r>
            <a:r>
              <a:rPr sz="1800" spc="-5" dirty="0">
                <a:solidFill>
                  <a:srgbClr val="595959"/>
                </a:solidFill>
                <a:latin typeface="Arial"/>
                <a:cs typeface="Arial"/>
              </a:rPr>
              <a:t>it?</a:t>
            </a:r>
            <a:endParaRPr sz="1800">
              <a:latin typeface="Arial"/>
              <a:cs typeface="Aria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472055" cy="452120"/>
          </a:xfrm>
          <a:prstGeom prst="rect">
            <a:avLst/>
          </a:prstGeom>
        </p:spPr>
        <p:txBody>
          <a:bodyPr vert="horz" wrap="square" lIns="0" tIns="12700" rIns="0" bIns="0" rtlCol="0">
            <a:spAutoFit/>
          </a:bodyPr>
          <a:lstStyle/>
          <a:p>
            <a:pPr marL="12700">
              <a:lnSpc>
                <a:spcPct val="100000"/>
              </a:lnSpc>
              <a:spcBef>
                <a:spcPts val="100"/>
              </a:spcBef>
            </a:pPr>
            <a:r>
              <a:rPr spc="-5" dirty="0"/>
              <a:t>Doing the</a:t>
            </a:r>
            <a:r>
              <a:rPr spc="-95" dirty="0"/>
              <a:t> </a:t>
            </a:r>
            <a:r>
              <a:rPr spc="-5" dirty="0"/>
              <a:t>Work</a:t>
            </a:r>
          </a:p>
        </p:txBody>
      </p:sp>
      <p:sp>
        <p:nvSpPr>
          <p:cNvPr id="3" name="object 3"/>
          <p:cNvSpPr txBox="1"/>
          <p:nvPr/>
        </p:nvSpPr>
        <p:spPr>
          <a:xfrm>
            <a:off x="384725" y="1216355"/>
            <a:ext cx="7247255" cy="106997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95959"/>
                </a:solidFill>
                <a:latin typeface="Arial"/>
                <a:cs typeface="Arial"/>
              </a:rPr>
              <a:t>Assuming we want to do </a:t>
            </a:r>
            <a:r>
              <a:rPr sz="1800" dirty="0">
                <a:solidFill>
                  <a:srgbClr val="595959"/>
                </a:solidFill>
                <a:latin typeface="Arial"/>
                <a:cs typeface="Arial"/>
              </a:rPr>
              <a:t>something multicore, </a:t>
            </a:r>
            <a:r>
              <a:rPr sz="1800" spc="-5" dirty="0">
                <a:solidFill>
                  <a:srgbClr val="595959"/>
                </a:solidFill>
                <a:latin typeface="Arial"/>
                <a:cs typeface="Arial"/>
              </a:rPr>
              <a:t>how do we implement</a:t>
            </a:r>
            <a:r>
              <a:rPr sz="1800" spc="-75" dirty="0">
                <a:solidFill>
                  <a:srgbClr val="595959"/>
                </a:solidFill>
                <a:latin typeface="Arial"/>
                <a:cs typeface="Arial"/>
              </a:rPr>
              <a:t> </a:t>
            </a:r>
            <a:r>
              <a:rPr sz="1800" spc="-5" dirty="0">
                <a:solidFill>
                  <a:srgbClr val="595959"/>
                </a:solidFill>
                <a:latin typeface="Arial"/>
                <a:cs typeface="Arial"/>
              </a:rPr>
              <a:t>it?</a:t>
            </a:r>
            <a:endParaRPr sz="1800">
              <a:latin typeface="Arial"/>
              <a:cs typeface="Arial"/>
            </a:endParaRPr>
          </a:p>
          <a:p>
            <a:pPr>
              <a:lnSpc>
                <a:spcPct val="100000"/>
              </a:lnSpc>
              <a:spcBef>
                <a:spcPts val="50"/>
              </a:spcBef>
            </a:pPr>
            <a:endParaRPr sz="1600">
              <a:latin typeface="Times New Roman"/>
              <a:cs typeface="Times New Roman"/>
            </a:endParaRPr>
          </a:p>
          <a:p>
            <a:pPr marL="469900" indent="-367030">
              <a:lnSpc>
                <a:spcPct val="100000"/>
              </a:lnSpc>
              <a:buChar char="●"/>
              <a:tabLst>
                <a:tab pos="469265" algn="l"/>
                <a:tab pos="469900" algn="l"/>
              </a:tabLst>
            </a:pPr>
            <a:r>
              <a:rPr sz="1800" spc="-5" dirty="0">
                <a:solidFill>
                  <a:srgbClr val="595959"/>
                </a:solidFill>
                <a:latin typeface="Arial"/>
                <a:cs typeface="Arial"/>
              </a:rPr>
              <a:t>Spin up </a:t>
            </a:r>
            <a:r>
              <a:rPr sz="1800" dirty="0">
                <a:solidFill>
                  <a:srgbClr val="595959"/>
                </a:solidFill>
                <a:latin typeface="Arial"/>
                <a:cs typeface="Arial"/>
              </a:rPr>
              <a:t>some </a:t>
            </a:r>
            <a:r>
              <a:rPr sz="1800" spc="-5" dirty="0">
                <a:solidFill>
                  <a:srgbClr val="595959"/>
                </a:solidFill>
                <a:latin typeface="Arial"/>
                <a:cs typeface="Arial"/>
              </a:rPr>
              <a:t>purpose built</a:t>
            </a:r>
            <a:r>
              <a:rPr sz="1800" spc="-25" dirty="0">
                <a:solidFill>
                  <a:srgbClr val="595959"/>
                </a:solidFill>
                <a:latin typeface="Arial"/>
                <a:cs typeface="Arial"/>
              </a:rPr>
              <a:t> </a:t>
            </a:r>
            <a:r>
              <a:rPr sz="1800" spc="-5" dirty="0">
                <a:solidFill>
                  <a:srgbClr val="595959"/>
                </a:solidFill>
                <a:latin typeface="Arial"/>
                <a:cs typeface="Arial"/>
              </a:rPr>
              <a:t>threads</a:t>
            </a:r>
            <a:endParaRPr sz="1800">
              <a:latin typeface="Arial"/>
              <a:cs typeface="Arial"/>
            </a:endParaRPr>
          </a:p>
          <a:p>
            <a:pPr marL="927100" lvl="1" indent="-336550">
              <a:lnSpc>
                <a:spcPct val="100000"/>
              </a:lnSpc>
              <a:spcBef>
                <a:spcPts val="330"/>
              </a:spcBef>
              <a:buChar char="○"/>
              <a:tabLst>
                <a:tab pos="926465" algn="l"/>
                <a:tab pos="927100" algn="l"/>
              </a:tabLst>
            </a:pPr>
            <a:r>
              <a:rPr sz="1400" spc="-5" dirty="0">
                <a:solidFill>
                  <a:srgbClr val="595959"/>
                </a:solidFill>
                <a:latin typeface="Arial"/>
                <a:cs typeface="Arial"/>
              </a:rPr>
              <a:t>Works great for I/O bound work, but doesn’t </a:t>
            </a:r>
            <a:r>
              <a:rPr sz="1400" dirty="0">
                <a:solidFill>
                  <a:srgbClr val="595959"/>
                </a:solidFill>
                <a:latin typeface="Arial"/>
                <a:cs typeface="Arial"/>
              </a:rPr>
              <a:t>scale </a:t>
            </a:r>
            <a:r>
              <a:rPr sz="1400" spc="-5" dirty="0">
                <a:solidFill>
                  <a:srgbClr val="595959"/>
                </a:solidFill>
                <a:latin typeface="Arial"/>
                <a:cs typeface="Arial"/>
              </a:rPr>
              <a:t>to arbitrary </a:t>
            </a:r>
            <a:r>
              <a:rPr sz="1400" dirty="0">
                <a:solidFill>
                  <a:srgbClr val="595959"/>
                </a:solidFill>
                <a:latin typeface="Arial"/>
                <a:cs typeface="Arial"/>
              </a:rPr>
              <a:t>core</a:t>
            </a:r>
            <a:r>
              <a:rPr sz="1400" spc="-40" dirty="0">
                <a:solidFill>
                  <a:srgbClr val="595959"/>
                </a:solidFill>
                <a:latin typeface="Arial"/>
                <a:cs typeface="Arial"/>
              </a:rPr>
              <a:t> </a:t>
            </a:r>
            <a:r>
              <a:rPr sz="1400" dirty="0">
                <a:solidFill>
                  <a:srgbClr val="595959"/>
                </a:solidFill>
                <a:latin typeface="Arial"/>
                <a:cs typeface="Arial"/>
              </a:rPr>
              <a:t>counts</a:t>
            </a:r>
            <a:endParaRPr sz="1400">
              <a:latin typeface="Arial"/>
              <a:cs typeface="Aria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472055" cy="452120"/>
          </a:xfrm>
          <a:prstGeom prst="rect">
            <a:avLst/>
          </a:prstGeom>
        </p:spPr>
        <p:txBody>
          <a:bodyPr vert="horz" wrap="square" lIns="0" tIns="12700" rIns="0" bIns="0" rtlCol="0">
            <a:spAutoFit/>
          </a:bodyPr>
          <a:lstStyle/>
          <a:p>
            <a:pPr marL="12700">
              <a:lnSpc>
                <a:spcPct val="100000"/>
              </a:lnSpc>
              <a:spcBef>
                <a:spcPts val="100"/>
              </a:spcBef>
            </a:pPr>
            <a:r>
              <a:rPr spc="-5" dirty="0"/>
              <a:t>Doing the</a:t>
            </a:r>
            <a:r>
              <a:rPr spc="-95" dirty="0"/>
              <a:t> </a:t>
            </a:r>
            <a:r>
              <a:rPr spc="-5" dirty="0"/>
              <a:t>Work</a:t>
            </a:r>
          </a:p>
        </p:txBody>
      </p:sp>
      <p:sp>
        <p:nvSpPr>
          <p:cNvPr id="3" name="object 3"/>
          <p:cNvSpPr txBox="1"/>
          <p:nvPr/>
        </p:nvSpPr>
        <p:spPr>
          <a:xfrm>
            <a:off x="384725" y="1216355"/>
            <a:ext cx="7680325" cy="187960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95959"/>
                </a:solidFill>
                <a:latin typeface="Arial"/>
                <a:cs typeface="Arial"/>
              </a:rPr>
              <a:t>Assuming we want to do </a:t>
            </a:r>
            <a:r>
              <a:rPr sz="1800" dirty="0">
                <a:solidFill>
                  <a:srgbClr val="595959"/>
                </a:solidFill>
                <a:latin typeface="Arial"/>
                <a:cs typeface="Arial"/>
              </a:rPr>
              <a:t>something multicore, </a:t>
            </a:r>
            <a:r>
              <a:rPr sz="1800" spc="-5" dirty="0">
                <a:solidFill>
                  <a:srgbClr val="595959"/>
                </a:solidFill>
                <a:latin typeface="Arial"/>
                <a:cs typeface="Arial"/>
              </a:rPr>
              <a:t>how do we implement</a:t>
            </a:r>
            <a:r>
              <a:rPr sz="1800" spc="-55" dirty="0">
                <a:solidFill>
                  <a:srgbClr val="595959"/>
                </a:solidFill>
                <a:latin typeface="Arial"/>
                <a:cs typeface="Arial"/>
              </a:rPr>
              <a:t> </a:t>
            </a:r>
            <a:r>
              <a:rPr sz="1800" spc="-5" dirty="0">
                <a:solidFill>
                  <a:srgbClr val="595959"/>
                </a:solidFill>
                <a:latin typeface="Arial"/>
                <a:cs typeface="Arial"/>
              </a:rPr>
              <a:t>it?</a:t>
            </a:r>
            <a:endParaRPr sz="1800">
              <a:latin typeface="Arial"/>
              <a:cs typeface="Arial"/>
            </a:endParaRPr>
          </a:p>
          <a:p>
            <a:pPr>
              <a:lnSpc>
                <a:spcPct val="100000"/>
              </a:lnSpc>
              <a:spcBef>
                <a:spcPts val="50"/>
              </a:spcBef>
            </a:pPr>
            <a:endParaRPr sz="1600">
              <a:latin typeface="Times New Roman"/>
              <a:cs typeface="Times New Roman"/>
            </a:endParaRPr>
          </a:p>
          <a:p>
            <a:pPr marL="469900" indent="-367030">
              <a:lnSpc>
                <a:spcPct val="100000"/>
              </a:lnSpc>
              <a:buChar char="●"/>
              <a:tabLst>
                <a:tab pos="469265" algn="l"/>
                <a:tab pos="469900" algn="l"/>
              </a:tabLst>
            </a:pPr>
            <a:r>
              <a:rPr sz="1800" spc="-5" dirty="0">
                <a:solidFill>
                  <a:srgbClr val="595959"/>
                </a:solidFill>
                <a:latin typeface="Arial"/>
                <a:cs typeface="Arial"/>
              </a:rPr>
              <a:t>Spin up </a:t>
            </a:r>
            <a:r>
              <a:rPr sz="1800" dirty="0">
                <a:solidFill>
                  <a:srgbClr val="595959"/>
                </a:solidFill>
                <a:latin typeface="Arial"/>
                <a:cs typeface="Arial"/>
              </a:rPr>
              <a:t>some </a:t>
            </a:r>
            <a:r>
              <a:rPr sz="1800" spc="-5" dirty="0">
                <a:solidFill>
                  <a:srgbClr val="595959"/>
                </a:solidFill>
                <a:latin typeface="Arial"/>
                <a:cs typeface="Arial"/>
              </a:rPr>
              <a:t>purpose built</a:t>
            </a:r>
            <a:r>
              <a:rPr sz="1800" spc="-25" dirty="0">
                <a:solidFill>
                  <a:srgbClr val="595959"/>
                </a:solidFill>
                <a:latin typeface="Arial"/>
                <a:cs typeface="Arial"/>
              </a:rPr>
              <a:t> </a:t>
            </a:r>
            <a:r>
              <a:rPr sz="1800" spc="-5" dirty="0">
                <a:solidFill>
                  <a:srgbClr val="595959"/>
                </a:solidFill>
                <a:latin typeface="Arial"/>
                <a:cs typeface="Arial"/>
              </a:rPr>
              <a:t>threads</a:t>
            </a:r>
            <a:endParaRPr sz="1800">
              <a:latin typeface="Arial"/>
              <a:cs typeface="Arial"/>
            </a:endParaRPr>
          </a:p>
          <a:p>
            <a:pPr marL="927100" lvl="1" indent="-336550">
              <a:lnSpc>
                <a:spcPct val="100000"/>
              </a:lnSpc>
              <a:spcBef>
                <a:spcPts val="330"/>
              </a:spcBef>
              <a:buChar char="○"/>
              <a:tabLst>
                <a:tab pos="926465" algn="l"/>
                <a:tab pos="927100" algn="l"/>
              </a:tabLst>
            </a:pPr>
            <a:r>
              <a:rPr sz="1400" spc="-5" dirty="0">
                <a:solidFill>
                  <a:srgbClr val="595959"/>
                </a:solidFill>
                <a:latin typeface="Arial"/>
                <a:cs typeface="Arial"/>
              </a:rPr>
              <a:t>Works great for I/O bound work, but doesn’t </a:t>
            </a:r>
            <a:r>
              <a:rPr sz="1400" dirty="0">
                <a:solidFill>
                  <a:srgbClr val="595959"/>
                </a:solidFill>
                <a:latin typeface="Arial"/>
                <a:cs typeface="Arial"/>
              </a:rPr>
              <a:t>scale </a:t>
            </a:r>
            <a:r>
              <a:rPr sz="1400" spc="-5" dirty="0">
                <a:solidFill>
                  <a:srgbClr val="595959"/>
                </a:solidFill>
                <a:latin typeface="Arial"/>
                <a:cs typeface="Arial"/>
              </a:rPr>
              <a:t>to arbitrary </a:t>
            </a:r>
            <a:r>
              <a:rPr sz="1400" dirty="0">
                <a:solidFill>
                  <a:srgbClr val="595959"/>
                </a:solidFill>
                <a:latin typeface="Arial"/>
                <a:cs typeface="Arial"/>
              </a:rPr>
              <a:t>core</a:t>
            </a:r>
            <a:r>
              <a:rPr sz="1400" spc="-30" dirty="0">
                <a:solidFill>
                  <a:srgbClr val="595959"/>
                </a:solidFill>
                <a:latin typeface="Arial"/>
                <a:cs typeface="Arial"/>
              </a:rPr>
              <a:t> </a:t>
            </a:r>
            <a:r>
              <a:rPr sz="1400" dirty="0">
                <a:solidFill>
                  <a:srgbClr val="595959"/>
                </a:solidFill>
                <a:latin typeface="Arial"/>
                <a:cs typeface="Arial"/>
              </a:rPr>
              <a:t>counts</a:t>
            </a:r>
            <a:endParaRPr sz="1400">
              <a:latin typeface="Arial"/>
              <a:cs typeface="Arial"/>
            </a:endParaRPr>
          </a:p>
          <a:p>
            <a:pPr marL="469900" indent="-367030">
              <a:lnSpc>
                <a:spcPct val="100000"/>
              </a:lnSpc>
              <a:spcBef>
                <a:spcPts val="254"/>
              </a:spcBef>
              <a:buChar char="●"/>
              <a:tabLst>
                <a:tab pos="469265" algn="l"/>
                <a:tab pos="469900" algn="l"/>
              </a:tabLst>
            </a:pPr>
            <a:r>
              <a:rPr sz="1800" spc="-5" dirty="0">
                <a:solidFill>
                  <a:srgbClr val="595959"/>
                </a:solidFill>
                <a:latin typeface="Arial"/>
                <a:cs typeface="Arial"/>
              </a:rPr>
              <a:t>Divide work into units </a:t>
            </a:r>
            <a:r>
              <a:rPr sz="1800" dirty="0">
                <a:solidFill>
                  <a:srgbClr val="595959"/>
                </a:solidFill>
                <a:latin typeface="Arial"/>
                <a:cs typeface="Arial"/>
              </a:rPr>
              <a:t>(jobs, </a:t>
            </a:r>
            <a:r>
              <a:rPr sz="1800" spc="-5" dirty="0">
                <a:solidFill>
                  <a:srgbClr val="595959"/>
                </a:solidFill>
                <a:latin typeface="Arial"/>
                <a:cs typeface="Arial"/>
              </a:rPr>
              <a:t>tasks) and </a:t>
            </a:r>
            <a:r>
              <a:rPr sz="1800" dirty="0">
                <a:solidFill>
                  <a:srgbClr val="595959"/>
                </a:solidFill>
                <a:latin typeface="Arial"/>
                <a:cs typeface="Arial"/>
              </a:rPr>
              <a:t>schedule </a:t>
            </a:r>
            <a:r>
              <a:rPr sz="1800" spc="-5" dirty="0">
                <a:solidFill>
                  <a:srgbClr val="595959"/>
                </a:solidFill>
                <a:latin typeface="Arial"/>
                <a:cs typeface="Arial"/>
              </a:rPr>
              <a:t>across available</a:t>
            </a:r>
            <a:r>
              <a:rPr sz="1800" spc="-75" dirty="0">
                <a:solidFill>
                  <a:srgbClr val="595959"/>
                </a:solidFill>
                <a:latin typeface="Arial"/>
                <a:cs typeface="Arial"/>
              </a:rPr>
              <a:t> </a:t>
            </a:r>
            <a:r>
              <a:rPr sz="1800" dirty="0">
                <a:solidFill>
                  <a:srgbClr val="595959"/>
                </a:solidFill>
                <a:latin typeface="Arial"/>
                <a:cs typeface="Arial"/>
              </a:rPr>
              <a:t>cores</a:t>
            </a:r>
            <a:endParaRPr sz="1800">
              <a:latin typeface="Arial"/>
              <a:cs typeface="Arial"/>
            </a:endParaRPr>
          </a:p>
          <a:p>
            <a:pPr marL="927100" lvl="1" indent="-336550">
              <a:lnSpc>
                <a:spcPct val="100000"/>
              </a:lnSpc>
              <a:spcBef>
                <a:spcPts val="330"/>
              </a:spcBef>
              <a:buChar char="○"/>
              <a:tabLst>
                <a:tab pos="926465" algn="l"/>
                <a:tab pos="927100" algn="l"/>
              </a:tabLst>
            </a:pPr>
            <a:r>
              <a:rPr sz="1400" dirty="0">
                <a:solidFill>
                  <a:srgbClr val="595959"/>
                </a:solidFill>
                <a:latin typeface="Arial"/>
                <a:cs typeface="Arial"/>
              </a:rPr>
              <a:t>Job</a:t>
            </a:r>
            <a:r>
              <a:rPr sz="1400" spc="-10" dirty="0">
                <a:solidFill>
                  <a:srgbClr val="595959"/>
                </a:solidFill>
                <a:latin typeface="Arial"/>
                <a:cs typeface="Arial"/>
              </a:rPr>
              <a:t> </a:t>
            </a:r>
            <a:r>
              <a:rPr sz="1400" spc="-5" dirty="0">
                <a:solidFill>
                  <a:srgbClr val="595959"/>
                </a:solidFill>
                <a:latin typeface="Arial"/>
                <a:cs typeface="Arial"/>
              </a:rPr>
              <a:t>queue</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Dispatch work FIFO</a:t>
            </a:r>
            <a:r>
              <a:rPr sz="1400" spc="-10" dirty="0">
                <a:solidFill>
                  <a:srgbClr val="595959"/>
                </a:solidFill>
                <a:latin typeface="Arial"/>
                <a:cs typeface="Arial"/>
              </a:rPr>
              <a:t> </a:t>
            </a:r>
            <a:r>
              <a:rPr sz="1400" spc="-5" dirty="0">
                <a:solidFill>
                  <a:srgbClr val="595959"/>
                </a:solidFill>
                <a:latin typeface="Arial"/>
                <a:cs typeface="Arial"/>
              </a:rPr>
              <a:t>order</a:t>
            </a:r>
            <a:endParaRPr sz="1400">
              <a:latin typeface="Arial"/>
              <a:cs typeface="Aria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472055" cy="452120"/>
          </a:xfrm>
          <a:prstGeom prst="rect">
            <a:avLst/>
          </a:prstGeom>
        </p:spPr>
        <p:txBody>
          <a:bodyPr vert="horz" wrap="square" lIns="0" tIns="12700" rIns="0" bIns="0" rtlCol="0">
            <a:spAutoFit/>
          </a:bodyPr>
          <a:lstStyle/>
          <a:p>
            <a:pPr marL="12700">
              <a:lnSpc>
                <a:spcPct val="100000"/>
              </a:lnSpc>
              <a:spcBef>
                <a:spcPts val="100"/>
              </a:spcBef>
            </a:pPr>
            <a:r>
              <a:rPr spc="-5" dirty="0"/>
              <a:t>Doing the</a:t>
            </a:r>
            <a:r>
              <a:rPr spc="-95" dirty="0"/>
              <a:t> </a:t>
            </a:r>
            <a:r>
              <a:rPr spc="-5" dirty="0"/>
              <a:t>Work</a:t>
            </a:r>
          </a:p>
        </p:txBody>
      </p:sp>
      <p:sp>
        <p:nvSpPr>
          <p:cNvPr id="3" name="object 3"/>
          <p:cNvSpPr txBox="1"/>
          <p:nvPr/>
        </p:nvSpPr>
        <p:spPr>
          <a:xfrm>
            <a:off x="384725" y="1216355"/>
            <a:ext cx="7680325" cy="262255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95959"/>
                </a:solidFill>
                <a:latin typeface="Arial"/>
                <a:cs typeface="Arial"/>
              </a:rPr>
              <a:t>Assuming we want to do </a:t>
            </a:r>
            <a:r>
              <a:rPr sz="1800" dirty="0">
                <a:solidFill>
                  <a:srgbClr val="595959"/>
                </a:solidFill>
                <a:latin typeface="Arial"/>
                <a:cs typeface="Arial"/>
              </a:rPr>
              <a:t>something multicore, </a:t>
            </a:r>
            <a:r>
              <a:rPr sz="1800" spc="-5" dirty="0">
                <a:solidFill>
                  <a:srgbClr val="595959"/>
                </a:solidFill>
                <a:latin typeface="Arial"/>
                <a:cs typeface="Arial"/>
              </a:rPr>
              <a:t>how do we implement</a:t>
            </a:r>
            <a:r>
              <a:rPr sz="1800" spc="-55" dirty="0">
                <a:solidFill>
                  <a:srgbClr val="595959"/>
                </a:solidFill>
                <a:latin typeface="Arial"/>
                <a:cs typeface="Arial"/>
              </a:rPr>
              <a:t> </a:t>
            </a:r>
            <a:r>
              <a:rPr sz="1800" spc="-5" dirty="0">
                <a:solidFill>
                  <a:srgbClr val="595959"/>
                </a:solidFill>
                <a:latin typeface="Arial"/>
                <a:cs typeface="Arial"/>
              </a:rPr>
              <a:t>it?</a:t>
            </a:r>
            <a:endParaRPr sz="1800">
              <a:latin typeface="Arial"/>
              <a:cs typeface="Arial"/>
            </a:endParaRPr>
          </a:p>
          <a:p>
            <a:pPr>
              <a:lnSpc>
                <a:spcPct val="100000"/>
              </a:lnSpc>
              <a:spcBef>
                <a:spcPts val="50"/>
              </a:spcBef>
            </a:pPr>
            <a:endParaRPr sz="1600">
              <a:latin typeface="Times New Roman"/>
              <a:cs typeface="Times New Roman"/>
            </a:endParaRPr>
          </a:p>
          <a:p>
            <a:pPr marL="469900" indent="-367030">
              <a:lnSpc>
                <a:spcPct val="100000"/>
              </a:lnSpc>
              <a:buChar char="●"/>
              <a:tabLst>
                <a:tab pos="469265" algn="l"/>
                <a:tab pos="469900" algn="l"/>
              </a:tabLst>
            </a:pPr>
            <a:r>
              <a:rPr sz="1800" spc="-5" dirty="0">
                <a:solidFill>
                  <a:srgbClr val="595959"/>
                </a:solidFill>
                <a:latin typeface="Arial"/>
                <a:cs typeface="Arial"/>
              </a:rPr>
              <a:t>Spin up </a:t>
            </a:r>
            <a:r>
              <a:rPr sz="1800" dirty="0">
                <a:solidFill>
                  <a:srgbClr val="595959"/>
                </a:solidFill>
                <a:latin typeface="Arial"/>
                <a:cs typeface="Arial"/>
              </a:rPr>
              <a:t>some </a:t>
            </a:r>
            <a:r>
              <a:rPr sz="1800" spc="-5" dirty="0">
                <a:solidFill>
                  <a:srgbClr val="595959"/>
                </a:solidFill>
                <a:latin typeface="Arial"/>
                <a:cs typeface="Arial"/>
              </a:rPr>
              <a:t>purpose built</a:t>
            </a:r>
            <a:r>
              <a:rPr sz="1800" spc="-25" dirty="0">
                <a:solidFill>
                  <a:srgbClr val="595959"/>
                </a:solidFill>
                <a:latin typeface="Arial"/>
                <a:cs typeface="Arial"/>
              </a:rPr>
              <a:t> </a:t>
            </a:r>
            <a:r>
              <a:rPr sz="1800" spc="-5" dirty="0">
                <a:solidFill>
                  <a:srgbClr val="595959"/>
                </a:solidFill>
                <a:latin typeface="Arial"/>
                <a:cs typeface="Arial"/>
              </a:rPr>
              <a:t>threads</a:t>
            </a:r>
            <a:endParaRPr sz="1800">
              <a:latin typeface="Arial"/>
              <a:cs typeface="Arial"/>
            </a:endParaRPr>
          </a:p>
          <a:p>
            <a:pPr marL="927100" lvl="1" indent="-336550">
              <a:lnSpc>
                <a:spcPct val="100000"/>
              </a:lnSpc>
              <a:spcBef>
                <a:spcPts val="330"/>
              </a:spcBef>
              <a:buChar char="○"/>
              <a:tabLst>
                <a:tab pos="926465" algn="l"/>
                <a:tab pos="927100" algn="l"/>
              </a:tabLst>
            </a:pPr>
            <a:r>
              <a:rPr sz="1400" spc="-5" dirty="0">
                <a:solidFill>
                  <a:srgbClr val="595959"/>
                </a:solidFill>
                <a:latin typeface="Arial"/>
                <a:cs typeface="Arial"/>
              </a:rPr>
              <a:t>Works great for I/O bound work, but doesn’t </a:t>
            </a:r>
            <a:r>
              <a:rPr sz="1400" dirty="0">
                <a:solidFill>
                  <a:srgbClr val="595959"/>
                </a:solidFill>
                <a:latin typeface="Arial"/>
                <a:cs typeface="Arial"/>
              </a:rPr>
              <a:t>scale </a:t>
            </a:r>
            <a:r>
              <a:rPr sz="1400" spc="-5" dirty="0">
                <a:solidFill>
                  <a:srgbClr val="595959"/>
                </a:solidFill>
                <a:latin typeface="Arial"/>
                <a:cs typeface="Arial"/>
              </a:rPr>
              <a:t>to arbitrary </a:t>
            </a:r>
            <a:r>
              <a:rPr sz="1400" dirty="0">
                <a:solidFill>
                  <a:srgbClr val="595959"/>
                </a:solidFill>
                <a:latin typeface="Arial"/>
                <a:cs typeface="Arial"/>
              </a:rPr>
              <a:t>core</a:t>
            </a:r>
            <a:r>
              <a:rPr sz="1400" spc="-30" dirty="0">
                <a:solidFill>
                  <a:srgbClr val="595959"/>
                </a:solidFill>
                <a:latin typeface="Arial"/>
                <a:cs typeface="Arial"/>
              </a:rPr>
              <a:t> </a:t>
            </a:r>
            <a:r>
              <a:rPr sz="1400" dirty="0">
                <a:solidFill>
                  <a:srgbClr val="595959"/>
                </a:solidFill>
                <a:latin typeface="Arial"/>
                <a:cs typeface="Arial"/>
              </a:rPr>
              <a:t>counts</a:t>
            </a:r>
            <a:endParaRPr sz="1400">
              <a:latin typeface="Arial"/>
              <a:cs typeface="Arial"/>
            </a:endParaRPr>
          </a:p>
          <a:p>
            <a:pPr marL="469900" indent="-367030">
              <a:lnSpc>
                <a:spcPct val="100000"/>
              </a:lnSpc>
              <a:spcBef>
                <a:spcPts val="254"/>
              </a:spcBef>
              <a:buChar char="●"/>
              <a:tabLst>
                <a:tab pos="469265" algn="l"/>
                <a:tab pos="469900" algn="l"/>
              </a:tabLst>
            </a:pPr>
            <a:r>
              <a:rPr sz="1800" spc="-5" dirty="0">
                <a:solidFill>
                  <a:srgbClr val="595959"/>
                </a:solidFill>
                <a:latin typeface="Arial"/>
                <a:cs typeface="Arial"/>
              </a:rPr>
              <a:t>Divide work into units </a:t>
            </a:r>
            <a:r>
              <a:rPr sz="1800" dirty="0">
                <a:solidFill>
                  <a:srgbClr val="595959"/>
                </a:solidFill>
                <a:latin typeface="Arial"/>
                <a:cs typeface="Arial"/>
              </a:rPr>
              <a:t>(jobs, </a:t>
            </a:r>
            <a:r>
              <a:rPr sz="1800" spc="-5" dirty="0">
                <a:solidFill>
                  <a:srgbClr val="595959"/>
                </a:solidFill>
                <a:latin typeface="Arial"/>
                <a:cs typeface="Arial"/>
              </a:rPr>
              <a:t>tasks) and </a:t>
            </a:r>
            <a:r>
              <a:rPr sz="1800" dirty="0">
                <a:solidFill>
                  <a:srgbClr val="595959"/>
                </a:solidFill>
                <a:latin typeface="Arial"/>
                <a:cs typeface="Arial"/>
              </a:rPr>
              <a:t>schedule </a:t>
            </a:r>
            <a:r>
              <a:rPr sz="1800" spc="-5" dirty="0">
                <a:solidFill>
                  <a:srgbClr val="595959"/>
                </a:solidFill>
                <a:latin typeface="Arial"/>
                <a:cs typeface="Arial"/>
              </a:rPr>
              <a:t>across available</a:t>
            </a:r>
            <a:r>
              <a:rPr sz="1800" spc="-75" dirty="0">
                <a:solidFill>
                  <a:srgbClr val="595959"/>
                </a:solidFill>
                <a:latin typeface="Arial"/>
                <a:cs typeface="Arial"/>
              </a:rPr>
              <a:t> </a:t>
            </a:r>
            <a:r>
              <a:rPr sz="1800" dirty="0">
                <a:solidFill>
                  <a:srgbClr val="595959"/>
                </a:solidFill>
                <a:latin typeface="Arial"/>
                <a:cs typeface="Arial"/>
              </a:rPr>
              <a:t>cores</a:t>
            </a:r>
            <a:endParaRPr sz="1800">
              <a:latin typeface="Arial"/>
              <a:cs typeface="Arial"/>
            </a:endParaRPr>
          </a:p>
          <a:p>
            <a:pPr marL="927100" lvl="1" indent="-336550">
              <a:lnSpc>
                <a:spcPct val="100000"/>
              </a:lnSpc>
              <a:spcBef>
                <a:spcPts val="330"/>
              </a:spcBef>
              <a:buChar char="○"/>
              <a:tabLst>
                <a:tab pos="926465" algn="l"/>
                <a:tab pos="927100" algn="l"/>
              </a:tabLst>
            </a:pPr>
            <a:r>
              <a:rPr sz="1400" dirty="0">
                <a:solidFill>
                  <a:srgbClr val="595959"/>
                </a:solidFill>
                <a:latin typeface="Arial"/>
                <a:cs typeface="Arial"/>
              </a:rPr>
              <a:t>Job</a:t>
            </a:r>
            <a:r>
              <a:rPr sz="1400" spc="-10" dirty="0">
                <a:solidFill>
                  <a:srgbClr val="595959"/>
                </a:solidFill>
                <a:latin typeface="Arial"/>
                <a:cs typeface="Arial"/>
              </a:rPr>
              <a:t> </a:t>
            </a:r>
            <a:r>
              <a:rPr sz="1400" spc="-5" dirty="0">
                <a:solidFill>
                  <a:srgbClr val="595959"/>
                </a:solidFill>
                <a:latin typeface="Arial"/>
                <a:cs typeface="Arial"/>
              </a:rPr>
              <a:t>queue</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Dispatch work FIFO</a:t>
            </a:r>
            <a:r>
              <a:rPr sz="1400" spc="-10" dirty="0">
                <a:solidFill>
                  <a:srgbClr val="595959"/>
                </a:solidFill>
                <a:latin typeface="Arial"/>
                <a:cs typeface="Arial"/>
              </a:rPr>
              <a:t> </a:t>
            </a:r>
            <a:r>
              <a:rPr sz="1400" spc="-5" dirty="0">
                <a:solidFill>
                  <a:srgbClr val="595959"/>
                </a:solidFill>
                <a:latin typeface="Arial"/>
                <a:cs typeface="Arial"/>
              </a:rPr>
              <a:t>order</a:t>
            </a:r>
            <a:endParaRPr sz="1400">
              <a:latin typeface="Arial"/>
              <a:cs typeface="Arial"/>
            </a:endParaRPr>
          </a:p>
          <a:p>
            <a:pPr marL="927100" lvl="1" indent="-336550">
              <a:lnSpc>
                <a:spcPct val="100000"/>
              </a:lnSpc>
              <a:spcBef>
                <a:spcPts val="270"/>
              </a:spcBef>
              <a:buChar char="○"/>
              <a:tabLst>
                <a:tab pos="926465" algn="l"/>
                <a:tab pos="927100" algn="l"/>
              </a:tabLst>
            </a:pPr>
            <a:r>
              <a:rPr sz="1400" spc="-5" dirty="0">
                <a:solidFill>
                  <a:srgbClr val="595959"/>
                </a:solidFill>
                <a:latin typeface="Arial"/>
                <a:cs typeface="Arial"/>
              </a:rPr>
              <a:t>Task</a:t>
            </a:r>
            <a:r>
              <a:rPr sz="1400" spc="-10" dirty="0">
                <a:solidFill>
                  <a:srgbClr val="595959"/>
                </a:solidFill>
                <a:latin typeface="Arial"/>
                <a:cs typeface="Arial"/>
              </a:rPr>
              <a:t> </a:t>
            </a:r>
            <a:r>
              <a:rPr sz="1400" spc="-5" dirty="0">
                <a:solidFill>
                  <a:srgbClr val="595959"/>
                </a:solidFill>
                <a:latin typeface="Arial"/>
                <a:cs typeface="Arial"/>
              </a:rPr>
              <a:t>graph</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Account for dependencies between work in </a:t>
            </a:r>
            <a:r>
              <a:rPr sz="1400" dirty="0">
                <a:solidFill>
                  <a:srgbClr val="595959"/>
                </a:solidFill>
                <a:latin typeface="Arial"/>
                <a:cs typeface="Arial"/>
              </a:rPr>
              <a:t>a </a:t>
            </a:r>
            <a:r>
              <a:rPr sz="1400" spc="-5" dirty="0">
                <a:solidFill>
                  <a:srgbClr val="595959"/>
                </a:solidFill>
                <a:latin typeface="Arial"/>
                <a:cs typeface="Arial"/>
              </a:rPr>
              <a:t>DAG of</a:t>
            </a:r>
            <a:r>
              <a:rPr sz="1400" spc="-25" dirty="0">
                <a:solidFill>
                  <a:srgbClr val="595959"/>
                </a:solidFill>
                <a:latin typeface="Arial"/>
                <a:cs typeface="Arial"/>
              </a:rPr>
              <a:t> </a:t>
            </a:r>
            <a:r>
              <a:rPr sz="1400" spc="-5" dirty="0">
                <a:solidFill>
                  <a:srgbClr val="595959"/>
                </a:solidFill>
                <a:latin typeface="Arial"/>
                <a:cs typeface="Arial"/>
              </a:rPr>
              <a:t>work</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Schedule only when dependencies have been</a:t>
            </a:r>
            <a:r>
              <a:rPr sz="1400" spc="-15" dirty="0">
                <a:solidFill>
                  <a:srgbClr val="595959"/>
                </a:solidFill>
                <a:latin typeface="Arial"/>
                <a:cs typeface="Arial"/>
              </a:rPr>
              <a:t> </a:t>
            </a:r>
            <a:r>
              <a:rPr sz="1400" spc="-5" dirty="0">
                <a:solidFill>
                  <a:srgbClr val="595959"/>
                </a:solidFill>
                <a:latin typeface="Arial"/>
                <a:cs typeface="Arial"/>
              </a:rPr>
              <a:t>fulfilled</a:t>
            </a:r>
            <a:endParaRPr sz="1400">
              <a:latin typeface="Arial"/>
              <a:cs typeface="Aria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472055" cy="452120"/>
          </a:xfrm>
          <a:prstGeom prst="rect">
            <a:avLst/>
          </a:prstGeom>
        </p:spPr>
        <p:txBody>
          <a:bodyPr vert="horz" wrap="square" lIns="0" tIns="12700" rIns="0" bIns="0" rtlCol="0">
            <a:spAutoFit/>
          </a:bodyPr>
          <a:lstStyle/>
          <a:p>
            <a:pPr marL="12700">
              <a:lnSpc>
                <a:spcPct val="100000"/>
              </a:lnSpc>
              <a:spcBef>
                <a:spcPts val="100"/>
              </a:spcBef>
            </a:pPr>
            <a:r>
              <a:rPr spc="-5" dirty="0"/>
              <a:t>Doing the</a:t>
            </a:r>
            <a:r>
              <a:rPr spc="-95" dirty="0"/>
              <a:t> </a:t>
            </a:r>
            <a:r>
              <a:rPr spc="-5" dirty="0"/>
              <a:t>Work</a:t>
            </a:r>
          </a:p>
        </p:txBody>
      </p:sp>
      <p:sp>
        <p:nvSpPr>
          <p:cNvPr id="3" name="object 3"/>
          <p:cNvSpPr txBox="1"/>
          <p:nvPr/>
        </p:nvSpPr>
        <p:spPr>
          <a:xfrm>
            <a:off x="384725" y="1216355"/>
            <a:ext cx="7680325" cy="336550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95959"/>
                </a:solidFill>
                <a:latin typeface="Arial"/>
                <a:cs typeface="Arial"/>
              </a:rPr>
              <a:t>Assuming we want to do </a:t>
            </a:r>
            <a:r>
              <a:rPr sz="1800" dirty="0">
                <a:solidFill>
                  <a:srgbClr val="595959"/>
                </a:solidFill>
                <a:latin typeface="Arial"/>
                <a:cs typeface="Arial"/>
              </a:rPr>
              <a:t>something multicore, </a:t>
            </a:r>
            <a:r>
              <a:rPr sz="1800" spc="-5" dirty="0">
                <a:solidFill>
                  <a:srgbClr val="595959"/>
                </a:solidFill>
                <a:latin typeface="Arial"/>
                <a:cs typeface="Arial"/>
              </a:rPr>
              <a:t>how do we implement</a:t>
            </a:r>
            <a:r>
              <a:rPr sz="1800" spc="-55" dirty="0">
                <a:solidFill>
                  <a:srgbClr val="595959"/>
                </a:solidFill>
                <a:latin typeface="Arial"/>
                <a:cs typeface="Arial"/>
              </a:rPr>
              <a:t> </a:t>
            </a:r>
            <a:r>
              <a:rPr sz="1800" spc="-5" dirty="0">
                <a:solidFill>
                  <a:srgbClr val="595959"/>
                </a:solidFill>
                <a:latin typeface="Arial"/>
                <a:cs typeface="Arial"/>
              </a:rPr>
              <a:t>it?</a:t>
            </a:r>
            <a:endParaRPr sz="1800">
              <a:latin typeface="Arial"/>
              <a:cs typeface="Arial"/>
            </a:endParaRPr>
          </a:p>
          <a:p>
            <a:pPr>
              <a:lnSpc>
                <a:spcPct val="100000"/>
              </a:lnSpc>
              <a:spcBef>
                <a:spcPts val="50"/>
              </a:spcBef>
            </a:pPr>
            <a:endParaRPr sz="1600">
              <a:latin typeface="Times New Roman"/>
              <a:cs typeface="Times New Roman"/>
            </a:endParaRPr>
          </a:p>
          <a:p>
            <a:pPr marL="469900" indent="-367030">
              <a:lnSpc>
                <a:spcPct val="100000"/>
              </a:lnSpc>
              <a:buChar char="●"/>
              <a:tabLst>
                <a:tab pos="469265" algn="l"/>
                <a:tab pos="469900" algn="l"/>
              </a:tabLst>
            </a:pPr>
            <a:r>
              <a:rPr sz="1800" spc="-5" dirty="0">
                <a:solidFill>
                  <a:srgbClr val="595959"/>
                </a:solidFill>
                <a:latin typeface="Arial"/>
                <a:cs typeface="Arial"/>
              </a:rPr>
              <a:t>Spin up </a:t>
            </a:r>
            <a:r>
              <a:rPr sz="1800" dirty="0">
                <a:solidFill>
                  <a:srgbClr val="595959"/>
                </a:solidFill>
                <a:latin typeface="Arial"/>
                <a:cs typeface="Arial"/>
              </a:rPr>
              <a:t>some </a:t>
            </a:r>
            <a:r>
              <a:rPr sz="1800" spc="-5" dirty="0">
                <a:solidFill>
                  <a:srgbClr val="595959"/>
                </a:solidFill>
                <a:latin typeface="Arial"/>
                <a:cs typeface="Arial"/>
              </a:rPr>
              <a:t>purpose built</a:t>
            </a:r>
            <a:r>
              <a:rPr sz="1800" spc="-25" dirty="0">
                <a:solidFill>
                  <a:srgbClr val="595959"/>
                </a:solidFill>
                <a:latin typeface="Arial"/>
                <a:cs typeface="Arial"/>
              </a:rPr>
              <a:t> </a:t>
            </a:r>
            <a:r>
              <a:rPr sz="1800" spc="-5" dirty="0">
                <a:solidFill>
                  <a:srgbClr val="595959"/>
                </a:solidFill>
                <a:latin typeface="Arial"/>
                <a:cs typeface="Arial"/>
              </a:rPr>
              <a:t>threads</a:t>
            </a:r>
            <a:endParaRPr sz="1800">
              <a:latin typeface="Arial"/>
              <a:cs typeface="Arial"/>
            </a:endParaRPr>
          </a:p>
          <a:p>
            <a:pPr marL="927100" lvl="1" indent="-336550">
              <a:lnSpc>
                <a:spcPct val="100000"/>
              </a:lnSpc>
              <a:spcBef>
                <a:spcPts val="330"/>
              </a:spcBef>
              <a:buChar char="○"/>
              <a:tabLst>
                <a:tab pos="926465" algn="l"/>
                <a:tab pos="927100" algn="l"/>
              </a:tabLst>
            </a:pPr>
            <a:r>
              <a:rPr sz="1400" spc="-5" dirty="0">
                <a:solidFill>
                  <a:srgbClr val="595959"/>
                </a:solidFill>
                <a:latin typeface="Arial"/>
                <a:cs typeface="Arial"/>
              </a:rPr>
              <a:t>Works great for I/O bound work, but doesn’t </a:t>
            </a:r>
            <a:r>
              <a:rPr sz="1400" dirty="0">
                <a:solidFill>
                  <a:srgbClr val="595959"/>
                </a:solidFill>
                <a:latin typeface="Arial"/>
                <a:cs typeface="Arial"/>
              </a:rPr>
              <a:t>scale </a:t>
            </a:r>
            <a:r>
              <a:rPr sz="1400" spc="-5" dirty="0">
                <a:solidFill>
                  <a:srgbClr val="595959"/>
                </a:solidFill>
                <a:latin typeface="Arial"/>
                <a:cs typeface="Arial"/>
              </a:rPr>
              <a:t>to arbitrary </a:t>
            </a:r>
            <a:r>
              <a:rPr sz="1400" dirty="0">
                <a:solidFill>
                  <a:srgbClr val="595959"/>
                </a:solidFill>
                <a:latin typeface="Arial"/>
                <a:cs typeface="Arial"/>
              </a:rPr>
              <a:t>core</a:t>
            </a:r>
            <a:r>
              <a:rPr sz="1400" spc="-30" dirty="0">
                <a:solidFill>
                  <a:srgbClr val="595959"/>
                </a:solidFill>
                <a:latin typeface="Arial"/>
                <a:cs typeface="Arial"/>
              </a:rPr>
              <a:t> </a:t>
            </a:r>
            <a:r>
              <a:rPr sz="1400" dirty="0">
                <a:solidFill>
                  <a:srgbClr val="595959"/>
                </a:solidFill>
                <a:latin typeface="Arial"/>
                <a:cs typeface="Arial"/>
              </a:rPr>
              <a:t>counts</a:t>
            </a:r>
            <a:endParaRPr sz="1400">
              <a:latin typeface="Arial"/>
              <a:cs typeface="Arial"/>
            </a:endParaRPr>
          </a:p>
          <a:p>
            <a:pPr marL="469900" indent="-367030">
              <a:lnSpc>
                <a:spcPct val="100000"/>
              </a:lnSpc>
              <a:spcBef>
                <a:spcPts val="254"/>
              </a:spcBef>
              <a:buChar char="●"/>
              <a:tabLst>
                <a:tab pos="469265" algn="l"/>
                <a:tab pos="469900" algn="l"/>
              </a:tabLst>
            </a:pPr>
            <a:r>
              <a:rPr sz="1800" spc="-5" dirty="0">
                <a:solidFill>
                  <a:srgbClr val="595959"/>
                </a:solidFill>
                <a:latin typeface="Arial"/>
                <a:cs typeface="Arial"/>
              </a:rPr>
              <a:t>Divide work into units </a:t>
            </a:r>
            <a:r>
              <a:rPr sz="1800" dirty="0">
                <a:solidFill>
                  <a:srgbClr val="595959"/>
                </a:solidFill>
                <a:latin typeface="Arial"/>
                <a:cs typeface="Arial"/>
              </a:rPr>
              <a:t>(jobs, </a:t>
            </a:r>
            <a:r>
              <a:rPr sz="1800" spc="-5" dirty="0">
                <a:solidFill>
                  <a:srgbClr val="595959"/>
                </a:solidFill>
                <a:latin typeface="Arial"/>
                <a:cs typeface="Arial"/>
              </a:rPr>
              <a:t>tasks) and </a:t>
            </a:r>
            <a:r>
              <a:rPr sz="1800" dirty="0">
                <a:solidFill>
                  <a:srgbClr val="595959"/>
                </a:solidFill>
                <a:latin typeface="Arial"/>
                <a:cs typeface="Arial"/>
              </a:rPr>
              <a:t>schedule </a:t>
            </a:r>
            <a:r>
              <a:rPr sz="1800" spc="-5" dirty="0">
                <a:solidFill>
                  <a:srgbClr val="595959"/>
                </a:solidFill>
                <a:latin typeface="Arial"/>
                <a:cs typeface="Arial"/>
              </a:rPr>
              <a:t>across available</a:t>
            </a:r>
            <a:r>
              <a:rPr sz="1800" spc="-75" dirty="0">
                <a:solidFill>
                  <a:srgbClr val="595959"/>
                </a:solidFill>
                <a:latin typeface="Arial"/>
                <a:cs typeface="Arial"/>
              </a:rPr>
              <a:t> </a:t>
            </a:r>
            <a:r>
              <a:rPr sz="1800" dirty="0">
                <a:solidFill>
                  <a:srgbClr val="595959"/>
                </a:solidFill>
                <a:latin typeface="Arial"/>
                <a:cs typeface="Arial"/>
              </a:rPr>
              <a:t>cores</a:t>
            </a:r>
            <a:endParaRPr sz="1800">
              <a:latin typeface="Arial"/>
              <a:cs typeface="Arial"/>
            </a:endParaRPr>
          </a:p>
          <a:p>
            <a:pPr marL="927100" lvl="1" indent="-336550">
              <a:lnSpc>
                <a:spcPct val="100000"/>
              </a:lnSpc>
              <a:spcBef>
                <a:spcPts val="330"/>
              </a:spcBef>
              <a:buChar char="○"/>
              <a:tabLst>
                <a:tab pos="926465" algn="l"/>
                <a:tab pos="927100" algn="l"/>
              </a:tabLst>
            </a:pPr>
            <a:r>
              <a:rPr sz="1400" dirty="0">
                <a:solidFill>
                  <a:srgbClr val="595959"/>
                </a:solidFill>
                <a:latin typeface="Arial"/>
                <a:cs typeface="Arial"/>
              </a:rPr>
              <a:t>Job</a:t>
            </a:r>
            <a:r>
              <a:rPr sz="1400" spc="-10" dirty="0">
                <a:solidFill>
                  <a:srgbClr val="595959"/>
                </a:solidFill>
                <a:latin typeface="Arial"/>
                <a:cs typeface="Arial"/>
              </a:rPr>
              <a:t> </a:t>
            </a:r>
            <a:r>
              <a:rPr sz="1400" spc="-5" dirty="0">
                <a:solidFill>
                  <a:srgbClr val="595959"/>
                </a:solidFill>
                <a:latin typeface="Arial"/>
                <a:cs typeface="Arial"/>
              </a:rPr>
              <a:t>queue</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Dispatch work FIFO</a:t>
            </a:r>
            <a:r>
              <a:rPr sz="1400" spc="-10" dirty="0">
                <a:solidFill>
                  <a:srgbClr val="595959"/>
                </a:solidFill>
                <a:latin typeface="Arial"/>
                <a:cs typeface="Arial"/>
              </a:rPr>
              <a:t> </a:t>
            </a:r>
            <a:r>
              <a:rPr sz="1400" spc="-5" dirty="0">
                <a:solidFill>
                  <a:srgbClr val="595959"/>
                </a:solidFill>
                <a:latin typeface="Arial"/>
                <a:cs typeface="Arial"/>
              </a:rPr>
              <a:t>order</a:t>
            </a:r>
            <a:endParaRPr sz="1400">
              <a:latin typeface="Arial"/>
              <a:cs typeface="Arial"/>
            </a:endParaRPr>
          </a:p>
          <a:p>
            <a:pPr marL="927100" lvl="1" indent="-336550">
              <a:lnSpc>
                <a:spcPct val="100000"/>
              </a:lnSpc>
              <a:spcBef>
                <a:spcPts val="270"/>
              </a:spcBef>
              <a:buChar char="○"/>
              <a:tabLst>
                <a:tab pos="926465" algn="l"/>
                <a:tab pos="927100" algn="l"/>
              </a:tabLst>
            </a:pPr>
            <a:r>
              <a:rPr sz="1400" spc="-5" dirty="0">
                <a:solidFill>
                  <a:srgbClr val="595959"/>
                </a:solidFill>
                <a:latin typeface="Arial"/>
                <a:cs typeface="Arial"/>
              </a:rPr>
              <a:t>Task</a:t>
            </a:r>
            <a:r>
              <a:rPr sz="1400" spc="-10" dirty="0">
                <a:solidFill>
                  <a:srgbClr val="595959"/>
                </a:solidFill>
                <a:latin typeface="Arial"/>
                <a:cs typeface="Arial"/>
              </a:rPr>
              <a:t> </a:t>
            </a:r>
            <a:r>
              <a:rPr sz="1400" spc="-5" dirty="0">
                <a:solidFill>
                  <a:srgbClr val="595959"/>
                </a:solidFill>
                <a:latin typeface="Arial"/>
                <a:cs typeface="Arial"/>
              </a:rPr>
              <a:t>graph</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Account for dependencies between work in </a:t>
            </a:r>
            <a:r>
              <a:rPr sz="1400" dirty="0">
                <a:solidFill>
                  <a:srgbClr val="595959"/>
                </a:solidFill>
                <a:latin typeface="Arial"/>
                <a:cs typeface="Arial"/>
              </a:rPr>
              <a:t>a </a:t>
            </a:r>
            <a:r>
              <a:rPr sz="1400" spc="-5" dirty="0">
                <a:solidFill>
                  <a:srgbClr val="595959"/>
                </a:solidFill>
                <a:latin typeface="Arial"/>
                <a:cs typeface="Arial"/>
              </a:rPr>
              <a:t>DAG of</a:t>
            </a:r>
            <a:r>
              <a:rPr sz="1400" spc="-25" dirty="0">
                <a:solidFill>
                  <a:srgbClr val="595959"/>
                </a:solidFill>
                <a:latin typeface="Arial"/>
                <a:cs typeface="Arial"/>
              </a:rPr>
              <a:t> </a:t>
            </a:r>
            <a:r>
              <a:rPr sz="1400" spc="-5" dirty="0">
                <a:solidFill>
                  <a:srgbClr val="595959"/>
                </a:solidFill>
                <a:latin typeface="Arial"/>
                <a:cs typeface="Arial"/>
              </a:rPr>
              <a:t>work</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Schedule only when dependencies have been</a:t>
            </a:r>
            <a:r>
              <a:rPr sz="1400" spc="-15" dirty="0">
                <a:solidFill>
                  <a:srgbClr val="595959"/>
                </a:solidFill>
                <a:latin typeface="Arial"/>
                <a:cs typeface="Arial"/>
              </a:rPr>
              <a:t> </a:t>
            </a:r>
            <a:r>
              <a:rPr sz="1400" spc="-5" dirty="0">
                <a:solidFill>
                  <a:srgbClr val="595959"/>
                </a:solidFill>
                <a:latin typeface="Arial"/>
                <a:cs typeface="Arial"/>
              </a:rPr>
              <a:t>fulfilled</a:t>
            </a:r>
            <a:endParaRPr sz="1400">
              <a:latin typeface="Arial"/>
              <a:cs typeface="Arial"/>
            </a:endParaRPr>
          </a:p>
          <a:p>
            <a:pPr marL="927100" lvl="1" indent="-336550">
              <a:lnSpc>
                <a:spcPct val="100000"/>
              </a:lnSpc>
              <a:spcBef>
                <a:spcPts val="270"/>
              </a:spcBef>
              <a:buChar char="○"/>
              <a:tabLst>
                <a:tab pos="926465" algn="l"/>
                <a:tab pos="927100" algn="l"/>
              </a:tabLst>
            </a:pPr>
            <a:r>
              <a:rPr sz="1400" dirty="0">
                <a:solidFill>
                  <a:srgbClr val="595959"/>
                </a:solidFill>
                <a:latin typeface="Arial"/>
                <a:cs typeface="Arial"/>
              </a:rPr>
              <a:t>Job</a:t>
            </a:r>
            <a:r>
              <a:rPr sz="1400" spc="-10" dirty="0">
                <a:solidFill>
                  <a:srgbClr val="595959"/>
                </a:solidFill>
                <a:latin typeface="Arial"/>
                <a:cs typeface="Arial"/>
              </a:rPr>
              <a:t> </a:t>
            </a:r>
            <a:r>
              <a:rPr sz="1400" dirty="0">
                <a:solidFill>
                  <a:srgbClr val="595959"/>
                </a:solidFill>
                <a:latin typeface="Arial"/>
                <a:cs typeface="Arial"/>
              </a:rPr>
              <a:t>system</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Dispatch work FIFO order, but allow jobs to wait on other</a:t>
            </a:r>
            <a:r>
              <a:rPr sz="1400" spc="-20" dirty="0">
                <a:solidFill>
                  <a:srgbClr val="595959"/>
                </a:solidFill>
                <a:latin typeface="Arial"/>
                <a:cs typeface="Arial"/>
              </a:rPr>
              <a:t> </a:t>
            </a:r>
            <a:r>
              <a:rPr sz="1400" spc="-5" dirty="0">
                <a:solidFill>
                  <a:srgbClr val="595959"/>
                </a:solidFill>
                <a:latin typeface="Arial"/>
                <a:cs typeface="Arial"/>
              </a:rPr>
              <a:t>jobs</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Dependencies are implicit in </a:t>
            </a:r>
            <a:r>
              <a:rPr sz="1400" dirty="0">
                <a:solidFill>
                  <a:srgbClr val="595959"/>
                </a:solidFill>
                <a:latin typeface="Arial"/>
                <a:cs typeface="Arial"/>
              </a:rPr>
              <a:t>control</a:t>
            </a:r>
            <a:r>
              <a:rPr sz="1400" spc="-15" dirty="0">
                <a:solidFill>
                  <a:srgbClr val="595959"/>
                </a:solidFill>
                <a:latin typeface="Arial"/>
                <a:cs typeface="Arial"/>
              </a:rPr>
              <a:t> </a:t>
            </a:r>
            <a:r>
              <a:rPr sz="1400" spc="-5" dirty="0">
                <a:solidFill>
                  <a:srgbClr val="595959"/>
                </a:solidFill>
                <a:latin typeface="Arial"/>
                <a:cs typeface="Arial"/>
              </a:rPr>
              <a:t>flow</a:t>
            </a:r>
            <a:endParaRPr sz="1400">
              <a:latin typeface="Arial"/>
              <a:cs typeface="Aria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472055" cy="452120"/>
          </a:xfrm>
          <a:prstGeom prst="rect">
            <a:avLst/>
          </a:prstGeom>
        </p:spPr>
        <p:txBody>
          <a:bodyPr vert="horz" wrap="square" lIns="0" tIns="12700" rIns="0" bIns="0" rtlCol="0">
            <a:spAutoFit/>
          </a:bodyPr>
          <a:lstStyle/>
          <a:p>
            <a:pPr marL="12700">
              <a:lnSpc>
                <a:spcPct val="100000"/>
              </a:lnSpc>
              <a:spcBef>
                <a:spcPts val="100"/>
              </a:spcBef>
            </a:pPr>
            <a:r>
              <a:rPr spc="-5" dirty="0"/>
              <a:t>Doing the</a:t>
            </a:r>
            <a:r>
              <a:rPr spc="-95" dirty="0"/>
              <a:t> </a:t>
            </a:r>
            <a:r>
              <a:rPr spc="-5" dirty="0"/>
              <a:t>Work</a:t>
            </a:r>
          </a:p>
        </p:txBody>
      </p:sp>
      <p:sp>
        <p:nvSpPr>
          <p:cNvPr id="3" name="object 3"/>
          <p:cNvSpPr txBox="1"/>
          <p:nvPr/>
        </p:nvSpPr>
        <p:spPr>
          <a:xfrm>
            <a:off x="384725" y="1216355"/>
            <a:ext cx="7680325" cy="336550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95959"/>
                </a:solidFill>
                <a:latin typeface="Arial"/>
                <a:cs typeface="Arial"/>
              </a:rPr>
              <a:t>Assuming we want to do </a:t>
            </a:r>
            <a:r>
              <a:rPr sz="1800" dirty="0">
                <a:solidFill>
                  <a:srgbClr val="595959"/>
                </a:solidFill>
                <a:latin typeface="Arial"/>
                <a:cs typeface="Arial"/>
              </a:rPr>
              <a:t>something multicore, </a:t>
            </a:r>
            <a:r>
              <a:rPr sz="1800" spc="-5" dirty="0">
                <a:solidFill>
                  <a:srgbClr val="595959"/>
                </a:solidFill>
                <a:latin typeface="Arial"/>
                <a:cs typeface="Arial"/>
              </a:rPr>
              <a:t>how do we implement</a:t>
            </a:r>
            <a:r>
              <a:rPr sz="1800" spc="-55" dirty="0">
                <a:solidFill>
                  <a:srgbClr val="595959"/>
                </a:solidFill>
                <a:latin typeface="Arial"/>
                <a:cs typeface="Arial"/>
              </a:rPr>
              <a:t> </a:t>
            </a:r>
            <a:r>
              <a:rPr sz="1800" spc="-5" dirty="0">
                <a:solidFill>
                  <a:srgbClr val="595959"/>
                </a:solidFill>
                <a:latin typeface="Arial"/>
                <a:cs typeface="Arial"/>
              </a:rPr>
              <a:t>it?</a:t>
            </a:r>
            <a:endParaRPr sz="1800">
              <a:latin typeface="Arial"/>
              <a:cs typeface="Arial"/>
            </a:endParaRPr>
          </a:p>
          <a:p>
            <a:pPr>
              <a:lnSpc>
                <a:spcPct val="100000"/>
              </a:lnSpc>
              <a:spcBef>
                <a:spcPts val="50"/>
              </a:spcBef>
            </a:pPr>
            <a:endParaRPr sz="1600">
              <a:latin typeface="Times New Roman"/>
              <a:cs typeface="Times New Roman"/>
            </a:endParaRPr>
          </a:p>
          <a:p>
            <a:pPr marL="469900" indent="-367030">
              <a:lnSpc>
                <a:spcPct val="100000"/>
              </a:lnSpc>
              <a:buChar char="●"/>
              <a:tabLst>
                <a:tab pos="469265" algn="l"/>
                <a:tab pos="469900" algn="l"/>
              </a:tabLst>
            </a:pPr>
            <a:r>
              <a:rPr sz="1800" spc="-5" dirty="0">
                <a:solidFill>
                  <a:srgbClr val="595959"/>
                </a:solidFill>
                <a:latin typeface="Arial"/>
                <a:cs typeface="Arial"/>
              </a:rPr>
              <a:t>Spin up </a:t>
            </a:r>
            <a:r>
              <a:rPr sz="1800" dirty="0">
                <a:solidFill>
                  <a:srgbClr val="595959"/>
                </a:solidFill>
                <a:latin typeface="Arial"/>
                <a:cs typeface="Arial"/>
              </a:rPr>
              <a:t>some </a:t>
            </a:r>
            <a:r>
              <a:rPr sz="1800" spc="-5" dirty="0">
                <a:solidFill>
                  <a:srgbClr val="595959"/>
                </a:solidFill>
                <a:latin typeface="Arial"/>
                <a:cs typeface="Arial"/>
              </a:rPr>
              <a:t>purpose built</a:t>
            </a:r>
            <a:r>
              <a:rPr sz="1800" spc="-25" dirty="0">
                <a:solidFill>
                  <a:srgbClr val="595959"/>
                </a:solidFill>
                <a:latin typeface="Arial"/>
                <a:cs typeface="Arial"/>
              </a:rPr>
              <a:t> </a:t>
            </a:r>
            <a:r>
              <a:rPr sz="1800" spc="-5" dirty="0">
                <a:solidFill>
                  <a:srgbClr val="595959"/>
                </a:solidFill>
                <a:latin typeface="Arial"/>
                <a:cs typeface="Arial"/>
              </a:rPr>
              <a:t>threads</a:t>
            </a:r>
            <a:endParaRPr sz="1800">
              <a:latin typeface="Arial"/>
              <a:cs typeface="Arial"/>
            </a:endParaRPr>
          </a:p>
          <a:p>
            <a:pPr marL="927100" lvl="1" indent="-336550">
              <a:lnSpc>
                <a:spcPct val="100000"/>
              </a:lnSpc>
              <a:spcBef>
                <a:spcPts val="330"/>
              </a:spcBef>
              <a:buChar char="○"/>
              <a:tabLst>
                <a:tab pos="926465" algn="l"/>
                <a:tab pos="927100" algn="l"/>
              </a:tabLst>
            </a:pPr>
            <a:r>
              <a:rPr sz="1400" spc="-5" dirty="0">
                <a:solidFill>
                  <a:srgbClr val="595959"/>
                </a:solidFill>
                <a:latin typeface="Arial"/>
                <a:cs typeface="Arial"/>
              </a:rPr>
              <a:t>Works great for I/O bound work, but doesn’t </a:t>
            </a:r>
            <a:r>
              <a:rPr sz="1400" dirty="0">
                <a:solidFill>
                  <a:srgbClr val="595959"/>
                </a:solidFill>
                <a:latin typeface="Arial"/>
                <a:cs typeface="Arial"/>
              </a:rPr>
              <a:t>scale </a:t>
            </a:r>
            <a:r>
              <a:rPr sz="1400" spc="-5" dirty="0">
                <a:solidFill>
                  <a:srgbClr val="595959"/>
                </a:solidFill>
                <a:latin typeface="Arial"/>
                <a:cs typeface="Arial"/>
              </a:rPr>
              <a:t>to arbitrary </a:t>
            </a:r>
            <a:r>
              <a:rPr sz="1400" dirty="0">
                <a:solidFill>
                  <a:srgbClr val="595959"/>
                </a:solidFill>
                <a:latin typeface="Arial"/>
                <a:cs typeface="Arial"/>
              </a:rPr>
              <a:t>core</a:t>
            </a:r>
            <a:r>
              <a:rPr sz="1400" spc="-30" dirty="0">
                <a:solidFill>
                  <a:srgbClr val="595959"/>
                </a:solidFill>
                <a:latin typeface="Arial"/>
                <a:cs typeface="Arial"/>
              </a:rPr>
              <a:t> </a:t>
            </a:r>
            <a:r>
              <a:rPr sz="1400" dirty="0">
                <a:solidFill>
                  <a:srgbClr val="595959"/>
                </a:solidFill>
                <a:latin typeface="Arial"/>
                <a:cs typeface="Arial"/>
              </a:rPr>
              <a:t>counts</a:t>
            </a:r>
            <a:endParaRPr sz="1400">
              <a:latin typeface="Arial"/>
              <a:cs typeface="Arial"/>
            </a:endParaRPr>
          </a:p>
          <a:p>
            <a:pPr marL="469900" indent="-367030">
              <a:lnSpc>
                <a:spcPct val="100000"/>
              </a:lnSpc>
              <a:spcBef>
                <a:spcPts val="254"/>
              </a:spcBef>
              <a:buChar char="●"/>
              <a:tabLst>
                <a:tab pos="469265" algn="l"/>
                <a:tab pos="469900" algn="l"/>
              </a:tabLst>
            </a:pPr>
            <a:r>
              <a:rPr sz="1800" spc="-5" dirty="0">
                <a:solidFill>
                  <a:srgbClr val="595959"/>
                </a:solidFill>
                <a:latin typeface="Arial"/>
                <a:cs typeface="Arial"/>
              </a:rPr>
              <a:t>Divide work into units </a:t>
            </a:r>
            <a:r>
              <a:rPr sz="1800" dirty="0">
                <a:solidFill>
                  <a:srgbClr val="595959"/>
                </a:solidFill>
                <a:latin typeface="Arial"/>
                <a:cs typeface="Arial"/>
              </a:rPr>
              <a:t>(jobs, </a:t>
            </a:r>
            <a:r>
              <a:rPr sz="1800" spc="-5" dirty="0">
                <a:solidFill>
                  <a:srgbClr val="595959"/>
                </a:solidFill>
                <a:latin typeface="Arial"/>
                <a:cs typeface="Arial"/>
              </a:rPr>
              <a:t>tasks) and </a:t>
            </a:r>
            <a:r>
              <a:rPr sz="1800" dirty="0">
                <a:solidFill>
                  <a:srgbClr val="595959"/>
                </a:solidFill>
                <a:latin typeface="Arial"/>
                <a:cs typeface="Arial"/>
              </a:rPr>
              <a:t>schedule </a:t>
            </a:r>
            <a:r>
              <a:rPr sz="1800" spc="-5" dirty="0">
                <a:solidFill>
                  <a:srgbClr val="595959"/>
                </a:solidFill>
                <a:latin typeface="Arial"/>
                <a:cs typeface="Arial"/>
              </a:rPr>
              <a:t>across available</a:t>
            </a:r>
            <a:r>
              <a:rPr sz="1800" spc="-75" dirty="0">
                <a:solidFill>
                  <a:srgbClr val="595959"/>
                </a:solidFill>
                <a:latin typeface="Arial"/>
                <a:cs typeface="Arial"/>
              </a:rPr>
              <a:t> </a:t>
            </a:r>
            <a:r>
              <a:rPr sz="1800" dirty="0">
                <a:solidFill>
                  <a:srgbClr val="595959"/>
                </a:solidFill>
                <a:latin typeface="Arial"/>
                <a:cs typeface="Arial"/>
              </a:rPr>
              <a:t>cores</a:t>
            </a:r>
            <a:endParaRPr sz="1800">
              <a:latin typeface="Arial"/>
              <a:cs typeface="Arial"/>
            </a:endParaRPr>
          </a:p>
          <a:p>
            <a:pPr marL="927100" lvl="1" indent="-336550">
              <a:lnSpc>
                <a:spcPct val="100000"/>
              </a:lnSpc>
              <a:spcBef>
                <a:spcPts val="330"/>
              </a:spcBef>
              <a:buChar char="○"/>
              <a:tabLst>
                <a:tab pos="926465" algn="l"/>
                <a:tab pos="927100" algn="l"/>
              </a:tabLst>
            </a:pPr>
            <a:r>
              <a:rPr sz="1400" dirty="0">
                <a:solidFill>
                  <a:srgbClr val="595959"/>
                </a:solidFill>
                <a:latin typeface="Arial"/>
                <a:cs typeface="Arial"/>
              </a:rPr>
              <a:t>Job</a:t>
            </a:r>
            <a:r>
              <a:rPr sz="1400" spc="-10" dirty="0">
                <a:solidFill>
                  <a:srgbClr val="595959"/>
                </a:solidFill>
                <a:latin typeface="Arial"/>
                <a:cs typeface="Arial"/>
              </a:rPr>
              <a:t> </a:t>
            </a:r>
            <a:r>
              <a:rPr sz="1400" spc="-5" dirty="0">
                <a:solidFill>
                  <a:srgbClr val="595959"/>
                </a:solidFill>
                <a:latin typeface="Arial"/>
                <a:cs typeface="Arial"/>
              </a:rPr>
              <a:t>queue</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Dispatch work FIFO</a:t>
            </a:r>
            <a:r>
              <a:rPr sz="1400" spc="-10" dirty="0">
                <a:solidFill>
                  <a:srgbClr val="595959"/>
                </a:solidFill>
                <a:latin typeface="Arial"/>
                <a:cs typeface="Arial"/>
              </a:rPr>
              <a:t> </a:t>
            </a:r>
            <a:r>
              <a:rPr sz="1400" spc="-5" dirty="0">
                <a:solidFill>
                  <a:srgbClr val="595959"/>
                </a:solidFill>
                <a:latin typeface="Arial"/>
                <a:cs typeface="Arial"/>
              </a:rPr>
              <a:t>order</a:t>
            </a:r>
            <a:endParaRPr sz="1400">
              <a:latin typeface="Arial"/>
              <a:cs typeface="Arial"/>
            </a:endParaRPr>
          </a:p>
          <a:p>
            <a:pPr marL="927100" lvl="1" indent="-336550">
              <a:lnSpc>
                <a:spcPct val="100000"/>
              </a:lnSpc>
              <a:spcBef>
                <a:spcPts val="270"/>
              </a:spcBef>
              <a:buChar char="○"/>
              <a:tabLst>
                <a:tab pos="926465" algn="l"/>
                <a:tab pos="927100" algn="l"/>
              </a:tabLst>
            </a:pPr>
            <a:r>
              <a:rPr sz="1400" spc="-5" dirty="0">
                <a:solidFill>
                  <a:srgbClr val="595959"/>
                </a:solidFill>
                <a:latin typeface="Arial"/>
                <a:cs typeface="Arial"/>
              </a:rPr>
              <a:t>Task</a:t>
            </a:r>
            <a:r>
              <a:rPr sz="1400" spc="-10" dirty="0">
                <a:solidFill>
                  <a:srgbClr val="595959"/>
                </a:solidFill>
                <a:latin typeface="Arial"/>
                <a:cs typeface="Arial"/>
              </a:rPr>
              <a:t> </a:t>
            </a:r>
            <a:r>
              <a:rPr sz="1400" spc="-5" dirty="0">
                <a:solidFill>
                  <a:srgbClr val="595959"/>
                </a:solidFill>
                <a:latin typeface="Arial"/>
                <a:cs typeface="Arial"/>
              </a:rPr>
              <a:t>graph</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Account for dependencies between work in </a:t>
            </a:r>
            <a:r>
              <a:rPr sz="1400" dirty="0">
                <a:solidFill>
                  <a:srgbClr val="595959"/>
                </a:solidFill>
                <a:latin typeface="Arial"/>
                <a:cs typeface="Arial"/>
              </a:rPr>
              <a:t>a </a:t>
            </a:r>
            <a:r>
              <a:rPr sz="1400" spc="-5" dirty="0">
                <a:solidFill>
                  <a:srgbClr val="595959"/>
                </a:solidFill>
                <a:latin typeface="Arial"/>
                <a:cs typeface="Arial"/>
              </a:rPr>
              <a:t>DAG of</a:t>
            </a:r>
            <a:r>
              <a:rPr sz="1400" spc="-25" dirty="0">
                <a:solidFill>
                  <a:srgbClr val="595959"/>
                </a:solidFill>
                <a:latin typeface="Arial"/>
                <a:cs typeface="Arial"/>
              </a:rPr>
              <a:t> </a:t>
            </a:r>
            <a:r>
              <a:rPr sz="1400" spc="-5" dirty="0">
                <a:solidFill>
                  <a:srgbClr val="595959"/>
                </a:solidFill>
                <a:latin typeface="Arial"/>
                <a:cs typeface="Arial"/>
              </a:rPr>
              <a:t>work</a:t>
            </a:r>
            <a:endParaRPr sz="1400">
              <a:latin typeface="Arial"/>
              <a:cs typeface="Arial"/>
            </a:endParaRPr>
          </a:p>
          <a:p>
            <a:pPr marL="1384300" lvl="2" indent="-336550">
              <a:lnSpc>
                <a:spcPct val="100000"/>
              </a:lnSpc>
              <a:spcBef>
                <a:spcPts val="270"/>
              </a:spcBef>
              <a:buChar char="■"/>
              <a:tabLst>
                <a:tab pos="1383665" algn="l"/>
                <a:tab pos="1384300" algn="l"/>
              </a:tabLst>
            </a:pPr>
            <a:r>
              <a:rPr sz="1400" spc="-5" dirty="0">
                <a:solidFill>
                  <a:srgbClr val="595959"/>
                </a:solidFill>
                <a:latin typeface="Arial"/>
                <a:cs typeface="Arial"/>
              </a:rPr>
              <a:t>Schedule only when dependencies have been</a:t>
            </a:r>
            <a:r>
              <a:rPr sz="1400" spc="-15" dirty="0">
                <a:solidFill>
                  <a:srgbClr val="595959"/>
                </a:solidFill>
                <a:latin typeface="Arial"/>
                <a:cs typeface="Arial"/>
              </a:rPr>
              <a:t> </a:t>
            </a:r>
            <a:r>
              <a:rPr sz="1400" spc="-5" dirty="0">
                <a:solidFill>
                  <a:srgbClr val="595959"/>
                </a:solidFill>
                <a:latin typeface="Arial"/>
                <a:cs typeface="Arial"/>
              </a:rPr>
              <a:t>fulfilled</a:t>
            </a:r>
            <a:endParaRPr sz="1400">
              <a:latin typeface="Arial"/>
              <a:cs typeface="Arial"/>
            </a:endParaRPr>
          </a:p>
          <a:p>
            <a:pPr marL="927100" indent="-336550">
              <a:lnSpc>
                <a:spcPct val="100000"/>
              </a:lnSpc>
              <a:spcBef>
                <a:spcPts val="270"/>
              </a:spcBef>
              <a:buChar char="○"/>
              <a:tabLst>
                <a:tab pos="926465" algn="l"/>
                <a:tab pos="927100" algn="l"/>
              </a:tabLst>
            </a:pPr>
            <a:r>
              <a:rPr sz="1400" b="1" spc="-5" dirty="0">
                <a:solidFill>
                  <a:srgbClr val="595959"/>
                </a:solidFill>
                <a:latin typeface="Arial"/>
                <a:cs typeface="Arial"/>
              </a:rPr>
              <a:t>Job</a:t>
            </a:r>
            <a:r>
              <a:rPr sz="1400" b="1" spc="-10" dirty="0">
                <a:solidFill>
                  <a:srgbClr val="595959"/>
                </a:solidFill>
                <a:latin typeface="Arial"/>
                <a:cs typeface="Arial"/>
              </a:rPr>
              <a:t> </a:t>
            </a:r>
            <a:r>
              <a:rPr sz="1400" b="1" spc="-5" dirty="0">
                <a:solidFill>
                  <a:srgbClr val="595959"/>
                </a:solidFill>
                <a:latin typeface="Arial"/>
                <a:cs typeface="Arial"/>
              </a:rPr>
              <a:t>system</a:t>
            </a:r>
            <a:endParaRPr sz="1400">
              <a:latin typeface="Arial"/>
              <a:cs typeface="Arial"/>
            </a:endParaRPr>
          </a:p>
          <a:p>
            <a:pPr marL="1384300" lvl="1" indent="-336550">
              <a:lnSpc>
                <a:spcPct val="100000"/>
              </a:lnSpc>
              <a:spcBef>
                <a:spcPts val="270"/>
              </a:spcBef>
              <a:buChar char="■"/>
              <a:tabLst>
                <a:tab pos="1383665" algn="l"/>
                <a:tab pos="1384300" algn="l"/>
              </a:tabLst>
            </a:pPr>
            <a:r>
              <a:rPr sz="1400" b="1" spc="-5" dirty="0">
                <a:solidFill>
                  <a:srgbClr val="595959"/>
                </a:solidFill>
                <a:latin typeface="Arial"/>
                <a:cs typeface="Arial"/>
              </a:rPr>
              <a:t>Dispatch work FIFO order, but allow jobs </a:t>
            </a:r>
            <a:r>
              <a:rPr sz="1400" b="1" dirty="0">
                <a:solidFill>
                  <a:srgbClr val="595959"/>
                </a:solidFill>
                <a:latin typeface="Arial"/>
                <a:cs typeface="Arial"/>
              </a:rPr>
              <a:t>to </a:t>
            </a:r>
            <a:r>
              <a:rPr sz="1400" b="1" spc="-5" dirty="0">
                <a:solidFill>
                  <a:srgbClr val="595959"/>
                </a:solidFill>
                <a:latin typeface="Arial"/>
                <a:cs typeface="Arial"/>
              </a:rPr>
              <a:t>wait on other</a:t>
            </a:r>
            <a:r>
              <a:rPr sz="1400" b="1" spc="-30" dirty="0">
                <a:solidFill>
                  <a:srgbClr val="595959"/>
                </a:solidFill>
                <a:latin typeface="Arial"/>
                <a:cs typeface="Arial"/>
              </a:rPr>
              <a:t> </a:t>
            </a:r>
            <a:r>
              <a:rPr sz="1400" b="1" spc="-5" dirty="0">
                <a:solidFill>
                  <a:srgbClr val="595959"/>
                </a:solidFill>
                <a:latin typeface="Arial"/>
                <a:cs typeface="Arial"/>
              </a:rPr>
              <a:t>jobs</a:t>
            </a:r>
            <a:endParaRPr sz="1400">
              <a:latin typeface="Arial"/>
              <a:cs typeface="Arial"/>
            </a:endParaRPr>
          </a:p>
          <a:p>
            <a:pPr marL="1384300" lvl="1" indent="-336550">
              <a:lnSpc>
                <a:spcPct val="100000"/>
              </a:lnSpc>
              <a:spcBef>
                <a:spcPts val="270"/>
              </a:spcBef>
              <a:buChar char="■"/>
              <a:tabLst>
                <a:tab pos="1383665" algn="l"/>
                <a:tab pos="1384300" algn="l"/>
              </a:tabLst>
            </a:pPr>
            <a:r>
              <a:rPr sz="1400" b="1" spc="-5" dirty="0">
                <a:solidFill>
                  <a:srgbClr val="595959"/>
                </a:solidFill>
                <a:latin typeface="Arial"/>
                <a:cs typeface="Arial"/>
              </a:rPr>
              <a:t>Dependencies are implicit in control</a:t>
            </a:r>
            <a:r>
              <a:rPr sz="1400" b="1" spc="-15" dirty="0">
                <a:solidFill>
                  <a:srgbClr val="595959"/>
                </a:solidFill>
                <a:latin typeface="Arial"/>
                <a:cs typeface="Arial"/>
              </a:rPr>
              <a:t> </a:t>
            </a:r>
            <a:r>
              <a:rPr sz="1400" b="1" dirty="0">
                <a:solidFill>
                  <a:srgbClr val="595959"/>
                </a:solidFill>
                <a:latin typeface="Arial"/>
                <a:cs typeface="Arial"/>
              </a:rPr>
              <a:t>flow</a:t>
            </a:r>
            <a:endParaRPr sz="1400">
              <a:latin typeface="Arial"/>
              <a:cs typeface="Arial"/>
            </a:endParaRPr>
          </a:p>
        </p:txBody>
      </p:sp>
      <p:sp>
        <p:nvSpPr>
          <p:cNvPr id="4" name="object 4"/>
          <p:cNvSpPr/>
          <p:nvPr/>
        </p:nvSpPr>
        <p:spPr>
          <a:xfrm>
            <a:off x="2368999" y="3820274"/>
            <a:ext cx="356235" cy="341630"/>
          </a:xfrm>
          <a:custGeom>
            <a:avLst/>
            <a:gdLst/>
            <a:ahLst/>
            <a:cxnLst/>
            <a:rect l="l" t="t" r="r" b="b"/>
            <a:pathLst>
              <a:path w="356235" h="341629">
                <a:moveTo>
                  <a:pt x="177899" y="341399"/>
                </a:moveTo>
                <a:lnTo>
                  <a:pt x="130607" y="335302"/>
                </a:lnTo>
                <a:lnTo>
                  <a:pt x="88110" y="318094"/>
                </a:lnTo>
                <a:lnTo>
                  <a:pt x="52105" y="291403"/>
                </a:lnTo>
                <a:lnTo>
                  <a:pt x="24288" y="256855"/>
                </a:lnTo>
                <a:lnTo>
                  <a:pt x="6354" y="216078"/>
                </a:lnTo>
                <a:lnTo>
                  <a:pt x="0" y="170699"/>
                </a:lnTo>
                <a:lnTo>
                  <a:pt x="6354" y="125321"/>
                </a:lnTo>
                <a:lnTo>
                  <a:pt x="24288" y="84544"/>
                </a:lnTo>
                <a:lnTo>
                  <a:pt x="52105" y="49996"/>
                </a:lnTo>
                <a:lnTo>
                  <a:pt x="88110" y="23305"/>
                </a:lnTo>
                <a:lnTo>
                  <a:pt x="130607" y="6097"/>
                </a:lnTo>
                <a:lnTo>
                  <a:pt x="177899" y="0"/>
                </a:lnTo>
                <a:lnTo>
                  <a:pt x="225192" y="6097"/>
                </a:lnTo>
                <a:lnTo>
                  <a:pt x="267689" y="23305"/>
                </a:lnTo>
                <a:lnTo>
                  <a:pt x="303694" y="49996"/>
                </a:lnTo>
                <a:lnTo>
                  <a:pt x="331511" y="84544"/>
                </a:lnTo>
                <a:lnTo>
                  <a:pt x="349445" y="125321"/>
                </a:lnTo>
                <a:lnTo>
                  <a:pt x="355799" y="170699"/>
                </a:lnTo>
                <a:lnTo>
                  <a:pt x="349445" y="216078"/>
                </a:lnTo>
                <a:lnTo>
                  <a:pt x="331511" y="256855"/>
                </a:lnTo>
                <a:lnTo>
                  <a:pt x="303694" y="291403"/>
                </a:lnTo>
                <a:lnTo>
                  <a:pt x="267689" y="318094"/>
                </a:lnTo>
                <a:lnTo>
                  <a:pt x="225192" y="335302"/>
                </a:lnTo>
                <a:lnTo>
                  <a:pt x="177899" y="341399"/>
                </a:lnTo>
                <a:close/>
              </a:path>
            </a:pathLst>
          </a:custGeom>
          <a:solidFill>
            <a:srgbClr val="EEEEEE"/>
          </a:solidFill>
        </p:spPr>
        <p:txBody>
          <a:bodyPr wrap="square" lIns="0" tIns="0" rIns="0" bIns="0" rtlCol="0"/>
          <a:lstStyle/>
          <a:p>
            <a:endParaRPr/>
          </a:p>
        </p:txBody>
      </p:sp>
      <p:sp>
        <p:nvSpPr>
          <p:cNvPr id="5" name="object 5"/>
          <p:cNvSpPr/>
          <p:nvPr/>
        </p:nvSpPr>
        <p:spPr>
          <a:xfrm>
            <a:off x="2471374" y="3922141"/>
            <a:ext cx="151130" cy="35560"/>
          </a:xfrm>
          <a:custGeom>
            <a:avLst/>
            <a:gdLst/>
            <a:ahLst/>
            <a:cxnLst/>
            <a:rect l="l" t="t" r="r" b="b"/>
            <a:pathLst>
              <a:path w="151130" h="35560">
                <a:moveTo>
                  <a:pt x="18531" y="35562"/>
                </a:moveTo>
                <a:lnTo>
                  <a:pt x="11318" y="34165"/>
                </a:lnTo>
                <a:lnTo>
                  <a:pt x="5427" y="30354"/>
                </a:lnTo>
                <a:lnTo>
                  <a:pt x="1456" y="24702"/>
                </a:lnTo>
                <a:lnTo>
                  <a:pt x="0" y="17781"/>
                </a:lnTo>
                <a:lnTo>
                  <a:pt x="1456" y="10860"/>
                </a:lnTo>
                <a:lnTo>
                  <a:pt x="5427" y="5208"/>
                </a:lnTo>
                <a:lnTo>
                  <a:pt x="11318" y="1397"/>
                </a:lnTo>
                <a:lnTo>
                  <a:pt x="18531" y="0"/>
                </a:lnTo>
                <a:lnTo>
                  <a:pt x="25744" y="1397"/>
                </a:lnTo>
                <a:lnTo>
                  <a:pt x="31634" y="5208"/>
                </a:lnTo>
                <a:lnTo>
                  <a:pt x="35606" y="10860"/>
                </a:lnTo>
                <a:lnTo>
                  <a:pt x="37062" y="17781"/>
                </a:lnTo>
                <a:lnTo>
                  <a:pt x="35606" y="24702"/>
                </a:lnTo>
                <a:lnTo>
                  <a:pt x="31634" y="30354"/>
                </a:lnTo>
                <a:lnTo>
                  <a:pt x="25744" y="34165"/>
                </a:lnTo>
                <a:lnTo>
                  <a:pt x="18531" y="35562"/>
                </a:lnTo>
                <a:close/>
              </a:path>
              <a:path w="151130" h="35560">
                <a:moveTo>
                  <a:pt x="132519" y="35562"/>
                </a:moveTo>
                <a:lnTo>
                  <a:pt x="125306" y="34165"/>
                </a:lnTo>
                <a:lnTo>
                  <a:pt x="119415" y="30354"/>
                </a:lnTo>
                <a:lnTo>
                  <a:pt x="115444" y="24702"/>
                </a:lnTo>
                <a:lnTo>
                  <a:pt x="113987" y="17781"/>
                </a:lnTo>
                <a:lnTo>
                  <a:pt x="115444" y="10860"/>
                </a:lnTo>
                <a:lnTo>
                  <a:pt x="119415" y="5208"/>
                </a:lnTo>
                <a:lnTo>
                  <a:pt x="125306" y="1397"/>
                </a:lnTo>
                <a:lnTo>
                  <a:pt x="132519" y="0"/>
                </a:lnTo>
                <a:lnTo>
                  <a:pt x="139732" y="1397"/>
                </a:lnTo>
                <a:lnTo>
                  <a:pt x="145622" y="5208"/>
                </a:lnTo>
                <a:lnTo>
                  <a:pt x="149594" y="10860"/>
                </a:lnTo>
                <a:lnTo>
                  <a:pt x="151050" y="17781"/>
                </a:lnTo>
                <a:lnTo>
                  <a:pt x="149594" y="24702"/>
                </a:lnTo>
                <a:lnTo>
                  <a:pt x="145622" y="30354"/>
                </a:lnTo>
                <a:lnTo>
                  <a:pt x="139732" y="34165"/>
                </a:lnTo>
                <a:lnTo>
                  <a:pt x="132519" y="35562"/>
                </a:lnTo>
                <a:close/>
              </a:path>
            </a:pathLst>
          </a:custGeom>
          <a:solidFill>
            <a:srgbClr val="BEBEBE"/>
          </a:solidFill>
        </p:spPr>
        <p:txBody>
          <a:bodyPr wrap="square" lIns="0" tIns="0" rIns="0" bIns="0" rtlCol="0"/>
          <a:lstStyle/>
          <a:p>
            <a:endParaRPr/>
          </a:p>
        </p:txBody>
      </p:sp>
      <p:sp>
        <p:nvSpPr>
          <p:cNvPr id="6" name="object 6"/>
          <p:cNvSpPr/>
          <p:nvPr/>
        </p:nvSpPr>
        <p:spPr>
          <a:xfrm>
            <a:off x="2471374" y="3922141"/>
            <a:ext cx="37465" cy="35560"/>
          </a:xfrm>
          <a:custGeom>
            <a:avLst/>
            <a:gdLst/>
            <a:ahLst/>
            <a:cxnLst/>
            <a:rect l="l" t="t" r="r" b="b"/>
            <a:pathLst>
              <a:path w="37464" h="35560">
                <a:moveTo>
                  <a:pt x="0" y="17781"/>
                </a:moveTo>
                <a:lnTo>
                  <a:pt x="1456" y="10860"/>
                </a:lnTo>
                <a:lnTo>
                  <a:pt x="5427" y="5208"/>
                </a:lnTo>
                <a:lnTo>
                  <a:pt x="11318" y="1397"/>
                </a:lnTo>
                <a:lnTo>
                  <a:pt x="18531" y="0"/>
                </a:lnTo>
                <a:lnTo>
                  <a:pt x="25744" y="1397"/>
                </a:lnTo>
                <a:lnTo>
                  <a:pt x="31634" y="5208"/>
                </a:lnTo>
                <a:lnTo>
                  <a:pt x="35606" y="10860"/>
                </a:lnTo>
                <a:lnTo>
                  <a:pt x="37062" y="17781"/>
                </a:lnTo>
                <a:lnTo>
                  <a:pt x="35606" y="24702"/>
                </a:lnTo>
                <a:lnTo>
                  <a:pt x="31634" y="30354"/>
                </a:lnTo>
                <a:lnTo>
                  <a:pt x="25744" y="34165"/>
                </a:lnTo>
                <a:lnTo>
                  <a:pt x="18531" y="35562"/>
                </a:lnTo>
                <a:lnTo>
                  <a:pt x="11318" y="34165"/>
                </a:lnTo>
                <a:lnTo>
                  <a:pt x="5427" y="30354"/>
                </a:lnTo>
                <a:lnTo>
                  <a:pt x="1456" y="24702"/>
                </a:lnTo>
                <a:lnTo>
                  <a:pt x="0" y="17781"/>
                </a:lnTo>
              </a:path>
            </a:pathLst>
          </a:custGeom>
          <a:ln w="9524">
            <a:solidFill>
              <a:srgbClr val="595959"/>
            </a:solidFill>
          </a:ln>
        </p:spPr>
        <p:txBody>
          <a:bodyPr wrap="square" lIns="0" tIns="0" rIns="0" bIns="0" rtlCol="0"/>
          <a:lstStyle/>
          <a:p>
            <a:endParaRPr/>
          </a:p>
        </p:txBody>
      </p:sp>
      <p:sp>
        <p:nvSpPr>
          <p:cNvPr id="7" name="object 7"/>
          <p:cNvSpPr/>
          <p:nvPr/>
        </p:nvSpPr>
        <p:spPr>
          <a:xfrm>
            <a:off x="2585362" y="3922141"/>
            <a:ext cx="37465" cy="35560"/>
          </a:xfrm>
          <a:custGeom>
            <a:avLst/>
            <a:gdLst/>
            <a:ahLst/>
            <a:cxnLst/>
            <a:rect l="l" t="t" r="r" b="b"/>
            <a:pathLst>
              <a:path w="37464" h="35560">
                <a:moveTo>
                  <a:pt x="0" y="17781"/>
                </a:moveTo>
                <a:lnTo>
                  <a:pt x="1456" y="10860"/>
                </a:lnTo>
                <a:lnTo>
                  <a:pt x="5427" y="5208"/>
                </a:lnTo>
                <a:lnTo>
                  <a:pt x="11318" y="1397"/>
                </a:lnTo>
                <a:lnTo>
                  <a:pt x="18531" y="0"/>
                </a:lnTo>
                <a:lnTo>
                  <a:pt x="25744" y="1397"/>
                </a:lnTo>
                <a:lnTo>
                  <a:pt x="31634" y="5208"/>
                </a:lnTo>
                <a:lnTo>
                  <a:pt x="35606" y="10860"/>
                </a:lnTo>
                <a:lnTo>
                  <a:pt x="37062" y="17781"/>
                </a:lnTo>
                <a:lnTo>
                  <a:pt x="35606" y="24702"/>
                </a:lnTo>
                <a:lnTo>
                  <a:pt x="31634" y="30354"/>
                </a:lnTo>
                <a:lnTo>
                  <a:pt x="25744" y="34165"/>
                </a:lnTo>
                <a:lnTo>
                  <a:pt x="18531" y="35562"/>
                </a:lnTo>
                <a:lnTo>
                  <a:pt x="11318" y="34165"/>
                </a:lnTo>
                <a:lnTo>
                  <a:pt x="5427" y="30354"/>
                </a:lnTo>
                <a:lnTo>
                  <a:pt x="1456" y="24702"/>
                </a:lnTo>
                <a:lnTo>
                  <a:pt x="0" y="17781"/>
                </a:lnTo>
              </a:path>
            </a:pathLst>
          </a:custGeom>
          <a:ln w="9524">
            <a:solidFill>
              <a:srgbClr val="595959"/>
            </a:solidFill>
          </a:ln>
        </p:spPr>
        <p:txBody>
          <a:bodyPr wrap="square" lIns="0" tIns="0" rIns="0" bIns="0" rtlCol="0"/>
          <a:lstStyle/>
          <a:p>
            <a:endParaRPr/>
          </a:p>
        </p:txBody>
      </p:sp>
      <p:sp>
        <p:nvSpPr>
          <p:cNvPr id="8" name="object 8"/>
          <p:cNvSpPr/>
          <p:nvPr/>
        </p:nvSpPr>
        <p:spPr>
          <a:xfrm>
            <a:off x="2450476" y="4065418"/>
            <a:ext cx="193040" cy="32384"/>
          </a:xfrm>
          <a:custGeom>
            <a:avLst/>
            <a:gdLst/>
            <a:ahLst/>
            <a:cxnLst/>
            <a:rect l="l" t="t" r="r" b="b"/>
            <a:pathLst>
              <a:path w="193039" h="32385">
                <a:moveTo>
                  <a:pt x="0" y="0"/>
                </a:moveTo>
                <a:lnTo>
                  <a:pt x="48197" y="23828"/>
                </a:lnTo>
                <a:lnTo>
                  <a:pt x="96366" y="31770"/>
                </a:lnTo>
                <a:lnTo>
                  <a:pt x="144507" y="23828"/>
                </a:lnTo>
                <a:lnTo>
                  <a:pt x="192620" y="0"/>
                </a:lnTo>
              </a:path>
            </a:pathLst>
          </a:custGeom>
          <a:ln w="9524">
            <a:solidFill>
              <a:srgbClr val="595959"/>
            </a:solidFill>
          </a:ln>
        </p:spPr>
        <p:txBody>
          <a:bodyPr wrap="square" lIns="0" tIns="0" rIns="0" bIns="0" rtlCol="0"/>
          <a:lstStyle/>
          <a:p>
            <a:endParaRPr/>
          </a:p>
        </p:txBody>
      </p:sp>
      <p:sp>
        <p:nvSpPr>
          <p:cNvPr id="9" name="object 9"/>
          <p:cNvSpPr/>
          <p:nvPr/>
        </p:nvSpPr>
        <p:spPr>
          <a:xfrm>
            <a:off x="2368999" y="3820274"/>
            <a:ext cx="356235" cy="341630"/>
          </a:xfrm>
          <a:custGeom>
            <a:avLst/>
            <a:gdLst/>
            <a:ahLst/>
            <a:cxnLst/>
            <a:rect l="l" t="t" r="r" b="b"/>
            <a:pathLst>
              <a:path w="356235" h="341629">
                <a:moveTo>
                  <a:pt x="0" y="170699"/>
                </a:moveTo>
                <a:lnTo>
                  <a:pt x="6354" y="125321"/>
                </a:lnTo>
                <a:lnTo>
                  <a:pt x="24288" y="84544"/>
                </a:lnTo>
                <a:lnTo>
                  <a:pt x="52105" y="49996"/>
                </a:lnTo>
                <a:lnTo>
                  <a:pt x="88110" y="23305"/>
                </a:lnTo>
                <a:lnTo>
                  <a:pt x="130607" y="6097"/>
                </a:lnTo>
                <a:lnTo>
                  <a:pt x="177899" y="0"/>
                </a:lnTo>
                <a:lnTo>
                  <a:pt x="225192" y="6097"/>
                </a:lnTo>
                <a:lnTo>
                  <a:pt x="267689" y="23305"/>
                </a:lnTo>
                <a:lnTo>
                  <a:pt x="303694" y="49996"/>
                </a:lnTo>
                <a:lnTo>
                  <a:pt x="331511" y="84544"/>
                </a:lnTo>
                <a:lnTo>
                  <a:pt x="349445" y="125321"/>
                </a:lnTo>
                <a:lnTo>
                  <a:pt x="355799" y="170699"/>
                </a:lnTo>
                <a:lnTo>
                  <a:pt x="349445" y="216078"/>
                </a:lnTo>
                <a:lnTo>
                  <a:pt x="331511" y="256855"/>
                </a:lnTo>
                <a:lnTo>
                  <a:pt x="303694" y="291403"/>
                </a:lnTo>
                <a:lnTo>
                  <a:pt x="267689" y="318094"/>
                </a:lnTo>
                <a:lnTo>
                  <a:pt x="225192" y="335302"/>
                </a:lnTo>
                <a:lnTo>
                  <a:pt x="177899" y="341399"/>
                </a:lnTo>
                <a:lnTo>
                  <a:pt x="130607" y="335302"/>
                </a:lnTo>
                <a:lnTo>
                  <a:pt x="88110" y="318094"/>
                </a:lnTo>
                <a:lnTo>
                  <a:pt x="52105" y="291403"/>
                </a:lnTo>
                <a:lnTo>
                  <a:pt x="24288" y="256855"/>
                </a:lnTo>
                <a:lnTo>
                  <a:pt x="6354" y="216078"/>
                </a:lnTo>
                <a:lnTo>
                  <a:pt x="0" y="170699"/>
                </a:lnTo>
                <a:close/>
              </a:path>
            </a:pathLst>
          </a:custGeom>
          <a:ln w="9524">
            <a:solidFill>
              <a:srgbClr val="595959"/>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880870" cy="452120"/>
          </a:xfrm>
          <a:prstGeom prst="rect">
            <a:avLst/>
          </a:prstGeom>
        </p:spPr>
        <p:txBody>
          <a:bodyPr vert="horz" wrap="square" lIns="0" tIns="12700" rIns="0" bIns="0" rtlCol="0">
            <a:spAutoFit/>
          </a:bodyPr>
          <a:lstStyle/>
          <a:p>
            <a:pPr marL="12700">
              <a:lnSpc>
                <a:spcPct val="100000"/>
              </a:lnSpc>
              <a:spcBef>
                <a:spcPts val="100"/>
              </a:spcBef>
            </a:pPr>
            <a:r>
              <a:rPr dirty="0"/>
              <a:t>Job</a:t>
            </a:r>
            <a:r>
              <a:rPr spc="-95" dirty="0"/>
              <a:t> </a:t>
            </a:r>
            <a:r>
              <a:rPr spc="-5" dirty="0"/>
              <a:t>System</a:t>
            </a:r>
          </a:p>
        </p:txBody>
      </p:sp>
      <p:sp>
        <p:nvSpPr>
          <p:cNvPr id="3" name="object 3"/>
          <p:cNvSpPr txBox="1"/>
          <p:nvPr/>
        </p:nvSpPr>
        <p:spPr>
          <a:xfrm>
            <a:off x="475249" y="1176350"/>
            <a:ext cx="7689850" cy="3472179"/>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"Parallelizing the Naughty Dog Engine Using Fibers", Christian</a:t>
            </a:r>
            <a:r>
              <a:rPr sz="1800" spc="-55" dirty="0">
                <a:solidFill>
                  <a:srgbClr val="595959"/>
                </a:solidFill>
                <a:latin typeface="Arial"/>
                <a:cs typeface="Arial"/>
              </a:rPr>
              <a:t> </a:t>
            </a:r>
            <a:r>
              <a:rPr sz="1800" spc="-5" dirty="0">
                <a:solidFill>
                  <a:srgbClr val="595959"/>
                </a:solidFill>
                <a:latin typeface="Arial"/>
                <a:cs typeface="Arial"/>
              </a:rPr>
              <a:t>Gyrling</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Components</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One thread per</a:t>
            </a:r>
            <a:r>
              <a:rPr sz="1400" spc="-10" dirty="0">
                <a:solidFill>
                  <a:srgbClr val="595959"/>
                </a:solidFill>
                <a:latin typeface="Arial"/>
                <a:cs typeface="Arial"/>
              </a:rPr>
              <a:t> </a:t>
            </a:r>
            <a:r>
              <a:rPr sz="1400" dirty="0">
                <a:solidFill>
                  <a:srgbClr val="595959"/>
                </a:solidFill>
                <a:latin typeface="Arial"/>
                <a:cs typeface="Arial"/>
              </a:rPr>
              <a:t>core</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Fiber pool </a:t>
            </a:r>
            <a:r>
              <a:rPr sz="1400" dirty="0">
                <a:solidFill>
                  <a:srgbClr val="595959"/>
                </a:solidFill>
                <a:latin typeface="Arial"/>
                <a:cs typeface="Arial"/>
              </a:rPr>
              <a:t>sufficient </a:t>
            </a:r>
            <a:r>
              <a:rPr sz="1400" spc="-5" dirty="0">
                <a:solidFill>
                  <a:srgbClr val="595959"/>
                </a:solidFill>
                <a:latin typeface="Arial"/>
                <a:cs typeface="Arial"/>
              </a:rPr>
              <a:t>for one fiber per queued/active</a:t>
            </a:r>
            <a:r>
              <a:rPr sz="1400" spc="-20" dirty="0">
                <a:solidFill>
                  <a:srgbClr val="595959"/>
                </a:solidFill>
                <a:latin typeface="Arial"/>
                <a:cs typeface="Arial"/>
              </a:rPr>
              <a:t> </a:t>
            </a:r>
            <a:r>
              <a:rPr sz="1400" spc="-5" dirty="0">
                <a:solidFill>
                  <a:srgbClr val="595959"/>
                </a:solidFill>
                <a:latin typeface="Arial"/>
                <a:cs typeface="Arial"/>
              </a:rPr>
              <a:t>job</a:t>
            </a:r>
            <a:endParaRPr sz="1400">
              <a:latin typeface="Arial"/>
              <a:cs typeface="Arial"/>
            </a:endParaRPr>
          </a:p>
          <a:p>
            <a:pPr marL="836294" lvl="1" indent="-366395">
              <a:lnSpc>
                <a:spcPct val="100000"/>
              </a:lnSpc>
              <a:spcBef>
                <a:spcPts val="655"/>
              </a:spcBef>
              <a:buSzPct val="128571"/>
              <a:buChar char="○"/>
              <a:tabLst>
                <a:tab pos="836294" algn="l"/>
                <a:tab pos="836930" algn="l"/>
              </a:tabLst>
            </a:pPr>
            <a:r>
              <a:rPr sz="1400" dirty="0">
                <a:solidFill>
                  <a:srgbClr val="595959"/>
                </a:solidFill>
                <a:latin typeface="Arial"/>
                <a:cs typeface="Arial"/>
              </a:rPr>
              <a:t>Job</a:t>
            </a:r>
            <a:r>
              <a:rPr sz="1400" spc="-105" dirty="0">
                <a:solidFill>
                  <a:srgbClr val="595959"/>
                </a:solidFill>
                <a:latin typeface="Arial"/>
                <a:cs typeface="Arial"/>
              </a:rPr>
              <a:t> </a:t>
            </a:r>
            <a:r>
              <a:rPr sz="1400" spc="-5" dirty="0">
                <a:solidFill>
                  <a:srgbClr val="595959"/>
                </a:solidFill>
                <a:latin typeface="Arial"/>
                <a:cs typeface="Arial"/>
              </a:rPr>
              <a:t>queue</a:t>
            </a:r>
            <a:endParaRPr sz="1400">
              <a:latin typeface="Arial"/>
              <a:cs typeface="Arial"/>
            </a:endParaRPr>
          </a:p>
          <a:p>
            <a:pPr marL="836294" lvl="1" indent="-335915">
              <a:lnSpc>
                <a:spcPct val="100000"/>
              </a:lnSpc>
              <a:spcBef>
                <a:spcPts val="409"/>
              </a:spcBef>
              <a:buChar char="○"/>
              <a:tabLst>
                <a:tab pos="836294" algn="l"/>
                <a:tab pos="836930" algn="l"/>
              </a:tabLst>
            </a:pPr>
            <a:r>
              <a:rPr sz="1400" spc="-5" dirty="0">
                <a:solidFill>
                  <a:srgbClr val="595959"/>
                </a:solidFill>
                <a:latin typeface="Arial"/>
                <a:cs typeface="Arial"/>
              </a:rPr>
              <a:t>Waiting</a:t>
            </a:r>
            <a:r>
              <a:rPr sz="1400" spc="-100" dirty="0">
                <a:solidFill>
                  <a:srgbClr val="595959"/>
                </a:solidFill>
                <a:latin typeface="Arial"/>
                <a:cs typeface="Arial"/>
              </a:rPr>
              <a:t> </a:t>
            </a:r>
            <a:r>
              <a:rPr sz="1400" spc="-5" dirty="0">
                <a:solidFill>
                  <a:srgbClr val="595959"/>
                </a:solidFill>
                <a:latin typeface="Arial"/>
                <a:cs typeface="Arial"/>
              </a:rPr>
              <a:t>list</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Threads are the </a:t>
            </a:r>
            <a:r>
              <a:rPr sz="1800" dirty="0">
                <a:solidFill>
                  <a:srgbClr val="595959"/>
                </a:solidFill>
                <a:latin typeface="Arial"/>
                <a:cs typeface="Arial"/>
              </a:rPr>
              <a:t>compute resource, </a:t>
            </a:r>
            <a:r>
              <a:rPr sz="1800" spc="-5" dirty="0">
                <a:solidFill>
                  <a:srgbClr val="595959"/>
                </a:solidFill>
                <a:latin typeface="Arial"/>
                <a:cs typeface="Arial"/>
              </a:rPr>
              <a:t>fibers are the</a:t>
            </a:r>
            <a:r>
              <a:rPr sz="1800" spc="-35" dirty="0">
                <a:solidFill>
                  <a:srgbClr val="595959"/>
                </a:solidFill>
                <a:latin typeface="Arial"/>
                <a:cs typeface="Arial"/>
              </a:rPr>
              <a:t> </a:t>
            </a:r>
            <a:r>
              <a:rPr sz="1800" dirty="0">
                <a:solidFill>
                  <a:srgbClr val="595959"/>
                </a:solidFill>
                <a:latin typeface="Arial"/>
                <a:cs typeface="Arial"/>
              </a:rPr>
              <a:t>context</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User adds work to </a:t>
            </a:r>
            <a:r>
              <a:rPr sz="1800" dirty="0">
                <a:solidFill>
                  <a:srgbClr val="595959"/>
                </a:solidFill>
                <a:latin typeface="Arial"/>
                <a:cs typeface="Arial"/>
              </a:rPr>
              <a:t>shared </a:t>
            </a:r>
            <a:r>
              <a:rPr sz="1800" spc="-5" dirty="0">
                <a:solidFill>
                  <a:srgbClr val="595959"/>
                </a:solidFill>
                <a:latin typeface="Arial"/>
                <a:cs typeface="Arial"/>
              </a:rPr>
              <a:t>job</a:t>
            </a:r>
            <a:r>
              <a:rPr sz="1800" spc="-20" dirty="0">
                <a:solidFill>
                  <a:srgbClr val="595959"/>
                </a:solidFill>
                <a:latin typeface="Arial"/>
                <a:cs typeface="Arial"/>
              </a:rPr>
              <a:t> </a:t>
            </a:r>
            <a:r>
              <a:rPr sz="1800" spc="-5" dirty="0">
                <a:solidFill>
                  <a:srgbClr val="595959"/>
                </a:solidFill>
                <a:latin typeface="Arial"/>
                <a:cs typeface="Arial"/>
              </a:rPr>
              <a:t>queue</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User waits for job by pushing </a:t>
            </a:r>
            <a:r>
              <a:rPr sz="1800" dirty="0">
                <a:solidFill>
                  <a:srgbClr val="595959"/>
                </a:solidFill>
                <a:latin typeface="Arial"/>
                <a:cs typeface="Arial"/>
              </a:rPr>
              <a:t>self </a:t>
            </a:r>
            <a:r>
              <a:rPr sz="1800" spc="-5" dirty="0">
                <a:solidFill>
                  <a:srgbClr val="595959"/>
                </a:solidFill>
                <a:latin typeface="Arial"/>
                <a:cs typeface="Arial"/>
              </a:rPr>
              <a:t>to wait list, </a:t>
            </a:r>
            <a:r>
              <a:rPr sz="1800" dirty="0">
                <a:solidFill>
                  <a:srgbClr val="595959"/>
                </a:solidFill>
                <a:latin typeface="Arial"/>
                <a:cs typeface="Arial"/>
              </a:rPr>
              <a:t>switching </a:t>
            </a:r>
            <a:r>
              <a:rPr sz="1800" spc="-5" dirty="0">
                <a:solidFill>
                  <a:srgbClr val="595959"/>
                </a:solidFill>
                <a:latin typeface="Arial"/>
                <a:cs typeface="Arial"/>
              </a:rPr>
              <a:t>to </a:t>
            </a:r>
            <a:r>
              <a:rPr sz="1800" dirty="0">
                <a:solidFill>
                  <a:srgbClr val="595959"/>
                </a:solidFill>
                <a:latin typeface="Arial"/>
                <a:cs typeface="Arial"/>
              </a:rPr>
              <a:t>scheduler</a:t>
            </a:r>
            <a:r>
              <a:rPr sz="1800" spc="-65" dirty="0">
                <a:solidFill>
                  <a:srgbClr val="595959"/>
                </a:solidFill>
                <a:latin typeface="Arial"/>
                <a:cs typeface="Arial"/>
              </a:rPr>
              <a:t> </a:t>
            </a:r>
            <a:r>
              <a:rPr sz="1800" spc="-5" dirty="0">
                <a:solidFill>
                  <a:srgbClr val="595959"/>
                </a:solidFill>
                <a:latin typeface="Arial"/>
                <a:cs typeface="Arial"/>
              </a:rPr>
              <a:t>fiber</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Scheduler:</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Pops </a:t>
            </a:r>
            <a:r>
              <a:rPr sz="1400" dirty="0">
                <a:solidFill>
                  <a:srgbClr val="595959"/>
                </a:solidFill>
                <a:latin typeface="Arial"/>
                <a:cs typeface="Arial"/>
              </a:rPr>
              <a:t>ready </a:t>
            </a:r>
            <a:r>
              <a:rPr sz="1400" spc="-5" dirty="0">
                <a:solidFill>
                  <a:srgbClr val="595959"/>
                </a:solidFill>
                <a:latin typeface="Arial"/>
                <a:cs typeface="Arial"/>
              </a:rPr>
              <a:t>work off wait list and </a:t>
            </a:r>
            <a:r>
              <a:rPr sz="1400" dirty="0">
                <a:solidFill>
                  <a:srgbClr val="595959"/>
                </a:solidFill>
                <a:latin typeface="Arial"/>
                <a:cs typeface="Arial"/>
              </a:rPr>
              <a:t>switches </a:t>
            </a:r>
            <a:r>
              <a:rPr sz="1400" spc="-5" dirty="0">
                <a:solidFill>
                  <a:srgbClr val="595959"/>
                </a:solidFill>
                <a:latin typeface="Arial"/>
                <a:cs typeface="Arial"/>
              </a:rPr>
              <a:t>to its</a:t>
            </a:r>
            <a:r>
              <a:rPr sz="1400" spc="-25" dirty="0">
                <a:solidFill>
                  <a:srgbClr val="595959"/>
                </a:solidFill>
                <a:latin typeface="Arial"/>
                <a:cs typeface="Arial"/>
              </a:rPr>
              <a:t> </a:t>
            </a:r>
            <a:r>
              <a:rPr sz="1400" spc="-5" dirty="0">
                <a:solidFill>
                  <a:srgbClr val="595959"/>
                </a:solidFill>
                <a:latin typeface="Arial"/>
                <a:cs typeface="Arial"/>
              </a:rPr>
              <a:t>fiber</a:t>
            </a:r>
            <a:endParaRPr sz="1400">
              <a:latin typeface="Arial"/>
              <a:cs typeface="Arial"/>
            </a:endParaRPr>
          </a:p>
          <a:p>
            <a:pPr marL="836294" lvl="1" indent="-335915">
              <a:lnSpc>
                <a:spcPct val="100000"/>
              </a:lnSpc>
              <a:spcBef>
                <a:spcPts val="270"/>
              </a:spcBef>
              <a:buChar char="○"/>
              <a:tabLst>
                <a:tab pos="836294" algn="l"/>
                <a:tab pos="836930" algn="l"/>
              </a:tabLst>
            </a:pPr>
            <a:r>
              <a:rPr sz="1400" spc="-5" dirty="0">
                <a:solidFill>
                  <a:srgbClr val="595959"/>
                </a:solidFill>
                <a:latin typeface="Arial"/>
                <a:cs typeface="Arial"/>
              </a:rPr>
              <a:t>Pops work off job queue, assigns fiber, and </a:t>
            </a:r>
            <a:r>
              <a:rPr sz="1400" dirty="0">
                <a:solidFill>
                  <a:srgbClr val="595959"/>
                </a:solidFill>
                <a:latin typeface="Arial"/>
                <a:cs typeface="Arial"/>
              </a:rPr>
              <a:t>switches </a:t>
            </a:r>
            <a:r>
              <a:rPr sz="1400" spc="-5" dirty="0">
                <a:solidFill>
                  <a:srgbClr val="595959"/>
                </a:solidFill>
                <a:latin typeface="Arial"/>
                <a:cs typeface="Arial"/>
              </a:rPr>
              <a:t>to that</a:t>
            </a:r>
            <a:r>
              <a:rPr sz="1400" spc="-25" dirty="0">
                <a:solidFill>
                  <a:srgbClr val="595959"/>
                </a:solidFill>
                <a:latin typeface="Arial"/>
                <a:cs typeface="Arial"/>
              </a:rPr>
              <a:t> </a:t>
            </a:r>
            <a:r>
              <a:rPr sz="1400" spc="-5" dirty="0">
                <a:solidFill>
                  <a:srgbClr val="595959"/>
                </a:solidFill>
                <a:latin typeface="Arial"/>
                <a:cs typeface="Arial"/>
              </a:rPr>
              <a:t>fiber</a:t>
            </a:r>
            <a:endParaRPr sz="1400">
              <a:latin typeface="Arial"/>
              <a:cs typeface="Arial"/>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880870" cy="452120"/>
          </a:xfrm>
          <a:prstGeom prst="rect">
            <a:avLst/>
          </a:prstGeom>
        </p:spPr>
        <p:txBody>
          <a:bodyPr vert="horz" wrap="square" lIns="0" tIns="12700" rIns="0" bIns="0" rtlCol="0">
            <a:spAutoFit/>
          </a:bodyPr>
          <a:lstStyle/>
          <a:p>
            <a:pPr marL="12700">
              <a:lnSpc>
                <a:spcPct val="100000"/>
              </a:lnSpc>
              <a:spcBef>
                <a:spcPts val="100"/>
              </a:spcBef>
            </a:pPr>
            <a:r>
              <a:rPr dirty="0"/>
              <a:t>Job</a:t>
            </a:r>
            <a:r>
              <a:rPr spc="-95" dirty="0"/>
              <a:t> </a:t>
            </a:r>
            <a:r>
              <a:rPr spc="-5" dirty="0"/>
              <a:t>System</a:t>
            </a:r>
          </a:p>
        </p:txBody>
      </p:sp>
      <p:sp>
        <p:nvSpPr>
          <p:cNvPr id="3" name="object 3"/>
          <p:cNvSpPr txBox="1"/>
          <p:nvPr/>
        </p:nvSpPr>
        <p:spPr>
          <a:xfrm>
            <a:off x="384725" y="1216355"/>
            <a:ext cx="6336030" cy="333819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00FF"/>
                </a:solidFill>
                <a:latin typeface="Courier New"/>
                <a:cs typeface="Courier New"/>
              </a:rPr>
              <a:t>void </a:t>
            </a:r>
            <a:r>
              <a:rPr sz="1800" spc="-5" dirty="0">
                <a:solidFill>
                  <a:srgbClr val="595959"/>
                </a:solidFill>
                <a:latin typeface="Courier New"/>
                <a:cs typeface="Courier New"/>
              </a:rPr>
              <a:t>child_job_func(</a:t>
            </a:r>
            <a:r>
              <a:rPr sz="1800" spc="-5" dirty="0">
                <a:solidFill>
                  <a:srgbClr val="0000FF"/>
                </a:solidFill>
                <a:latin typeface="Courier New"/>
                <a:cs typeface="Courier New"/>
              </a:rPr>
              <a:t>void* </a:t>
            </a:r>
            <a:r>
              <a:rPr sz="1800" spc="-5" dirty="0">
                <a:solidFill>
                  <a:srgbClr val="595959"/>
                </a:solidFill>
                <a:latin typeface="Courier New"/>
                <a:cs typeface="Courier New"/>
              </a:rPr>
              <a:t>data() </a:t>
            </a:r>
            <a:r>
              <a:rPr sz="1800" dirty="0">
                <a:solidFill>
                  <a:srgbClr val="595959"/>
                </a:solidFill>
                <a:latin typeface="Courier New"/>
                <a:cs typeface="Courier New"/>
              </a:rPr>
              <a:t>{ </a:t>
            </a:r>
            <a:r>
              <a:rPr sz="1800" spc="-5" dirty="0">
                <a:solidFill>
                  <a:srgbClr val="37761C"/>
                </a:solidFill>
                <a:latin typeface="Courier New"/>
                <a:cs typeface="Courier New"/>
              </a:rPr>
              <a:t>/* ... */</a:t>
            </a:r>
            <a:r>
              <a:rPr sz="1800" spc="-55" dirty="0">
                <a:solidFill>
                  <a:srgbClr val="37761C"/>
                </a:solidFill>
                <a:latin typeface="Courier New"/>
                <a:cs typeface="Courier New"/>
              </a:rPr>
              <a:t> </a:t>
            </a:r>
            <a:r>
              <a:rPr sz="1800" dirty="0">
                <a:solidFill>
                  <a:srgbClr val="595959"/>
                </a:solidFill>
                <a:latin typeface="Courier New"/>
                <a:cs typeface="Courier New"/>
              </a:rPr>
              <a:t>}</a:t>
            </a:r>
            <a:endParaRPr sz="1800">
              <a:latin typeface="Courier New"/>
              <a:cs typeface="Courier New"/>
            </a:endParaRPr>
          </a:p>
          <a:p>
            <a:pPr>
              <a:lnSpc>
                <a:spcPct val="100000"/>
              </a:lnSpc>
              <a:spcBef>
                <a:spcPts val="5"/>
              </a:spcBef>
            </a:pPr>
            <a:endParaRPr sz="1900">
              <a:latin typeface="Times New Roman"/>
              <a:cs typeface="Times New Roman"/>
            </a:endParaRPr>
          </a:p>
          <a:p>
            <a:pPr marL="12700">
              <a:lnSpc>
                <a:spcPct val="100000"/>
              </a:lnSpc>
            </a:pPr>
            <a:r>
              <a:rPr sz="1800" spc="-5" dirty="0">
                <a:solidFill>
                  <a:srgbClr val="0000FF"/>
                </a:solidFill>
                <a:latin typeface="Courier New"/>
                <a:cs typeface="Courier New"/>
              </a:rPr>
              <a:t>void </a:t>
            </a:r>
            <a:r>
              <a:rPr sz="1800" spc="-5" dirty="0">
                <a:solidFill>
                  <a:srgbClr val="595959"/>
                </a:solidFill>
                <a:latin typeface="Courier New"/>
                <a:cs typeface="Courier New"/>
              </a:rPr>
              <a:t>parent_job_func()</a:t>
            </a:r>
            <a:endParaRPr sz="1800">
              <a:latin typeface="Courier New"/>
              <a:cs typeface="Courier New"/>
            </a:endParaRPr>
          </a:p>
          <a:p>
            <a:pPr marL="12700">
              <a:lnSpc>
                <a:spcPct val="100000"/>
              </a:lnSpc>
              <a:spcBef>
                <a:spcPts val="15"/>
              </a:spcBef>
            </a:pPr>
            <a:r>
              <a:rPr sz="1800" dirty="0">
                <a:solidFill>
                  <a:srgbClr val="595959"/>
                </a:solidFill>
                <a:latin typeface="Courier New"/>
                <a:cs typeface="Courier New"/>
              </a:rPr>
              <a:t>{</a:t>
            </a:r>
            <a:endParaRPr sz="1800">
              <a:latin typeface="Courier New"/>
              <a:cs typeface="Courier New"/>
            </a:endParaRPr>
          </a:p>
          <a:p>
            <a:pPr marL="469900" marR="783590">
              <a:lnSpc>
                <a:spcPct val="100699"/>
              </a:lnSpc>
            </a:pPr>
            <a:r>
              <a:rPr sz="1800" spc="-5" dirty="0">
                <a:solidFill>
                  <a:srgbClr val="595959"/>
                </a:solidFill>
                <a:latin typeface="Courier New"/>
                <a:cs typeface="Courier New"/>
              </a:rPr>
              <a:t>job_decl decls[</a:t>
            </a:r>
            <a:r>
              <a:rPr sz="1800" spc="-5" dirty="0">
                <a:solidFill>
                  <a:srgbClr val="BE9000"/>
                </a:solidFill>
                <a:latin typeface="Courier New"/>
                <a:cs typeface="Courier New"/>
              </a:rPr>
              <a:t>100</a:t>
            </a:r>
            <a:r>
              <a:rPr sz="1800" spc="-5" dirty="0">
                <a:solidFill>
                  <a:srgbClr val="595959"/>
                </a:solidFill>
                <a:latin typeface="Courier New"/>
                <a:cs typeface="Courier New"/>
              </a:rPr>
              <a:t>];  decls[...].function </a:t>
            </a:r>
            <a:r>
              <a:rPr sz="1800" dirty="0">
                <a:solidFill>
                  <a:srgbClr val="595959"/>
                </a:solidFill>
                <a:latin typeface="Courier New"/>
                <a:cs typeface="Courier New"/>
              </a:rPr>
              <a:t>= </a:t>
            </a:r>
            <a:r>
              <a:rPr sz="1800" spc="-5" dirty="0">
                <a:solidFill>
                  <a:srgbClr val="595959"/>
                </a:solidFill>
                <a:latin typeface="Courier New"/>
                <a:cs typeface="Courier New"/>
              </a:rPr>
              <a:t>child_job_func;  decls[...].data </a:t>
            </a:r>
            <a:r>
              <a:rPr sz="1800" dirty="0">
                <a:solidFill>
                  <a:srgbClr val="595959"/>
                </a:solidFill>
                <a:latin typeface="Courier New"/>
                <a:cs typeface="Courier New"/>
              </a:rPr>
              <a:t>=</a:t>
            </a:r>
            <a:r>
              <a:rPr sz="1800" spc="-40" dirty="0">
                <a:solidFill>
                  <a:srgbClr val="595959"/>
                </a:solidFill>
                <a:latin typeface="Courier New"/>
                <a:cs typeface="Courier New"/>
              </a:rPr>
              <a:t> </a:t>
            </a:r>
            <a:r>
              <a:rPr sz="1800" spc="-5" dirty="0">
                <a:solidFill>
                  <a:srgbClr val="595959"/>
                </a:solidFill>
                <a:latin typeface="Courier New"/>
                <a:cs typeface="Courier New"/>
              </a:rPr>
              <a:t>child_job_data;</a:t>
            </a:r>
            <a:endParaRPr sz="1800">
              <a:latin typeface="Courier New"/>
              <a:cs typeface="Courier New"/>
            </a:endParaRPr>
          </a:p>
          <a:p>
            <a:pPr>
              <a:lnSpc>
                <a:spcPct val="100000"/>
              </a:lnSpc>
              <a:spcBef>
                <a:spcPts val="5"/>
              </a:spcBef>
            </a:pPr>
            <a:endParaRPr sz="1900">
              <a:latin typeface="Times New Roman"/>
              <a:cs typeface="Times New Roman"/>
            </a:endParaRPr>
          </a:p>
          <a:p>
            <a:pPr marL="469900">
              <a:lnSpc>
                <a:spcPct val="100000"/>
              </a:lnSpc>
            </a:pPr>
            <a:r>
              <a:rPr sz="1800" spc="-5" dirty="0">
                <a:solidFill>
                  <a:srgbClr val="0000FF"/>
                </a:solidFill>
                <a:latin typeface="Courier New"/>
                <a:cs typeface="Courier New"/>
              </a:rPr>
              <a:t>int </a:t>
            </a:r>
            <a:r>
              <a:rPr sz="1800" spc="-5" dirty="0">
                <a:solidFill>
                  <a:srgbClr val="595959"/>
                </a:solidFill>
                <a:latin typeface="Courier New"/>
                <a:cs typeface="Courier New"/>
              </a:rPr>
              <a:t>counter;</a:t>
            </a:r>
            <a:endParaRPr sz="1800">
              <a:latin typeface="Courier New"/>
              <a:cs typeface="Courier New"/>
            </a:endParaRPr>
          </a:p>
          <a:p>
            <a:pPr marL="469900" marR="1742439">
              <a:lnSpc>
                <a:spcPct val="100699"/>
              </a:lnSpc>
            </a:pPr>
            <a:r>
              <a:rPr sz="1800" spc="-5" dirty="0">
                <a:solidFill>
                  <a:srgbClr val="595959"/>
                </a:solidFill>
                <a:latin typeface="Courier New"/>
                <a:cs typeface="Courier New"/>
              </a:rPr>
              <a:t>job_run(decls, </a:t>
            </a:r>
            <a:r>
              <a:rPr sz="1800" spc="-5" dirty="0">
                <a:solidFill>
                  <a:srgbClr val="BE9000"/>
                </a:solidFill>
                <a:latin typeface="Courier New"/>
                <a:cs typeface="Courier New"/>
              </a:rPr>
              <a:t>100</a:t>
            </a:r>
            <a:r>
              <a:rPr sz="1800" spc="-5" dirty="0">
                <a:solidFill>
                  <a:srgbClr val="595959"/>
                </a:solidFill>
                <a:latin typeface="Courier New"/>
                <a:cs typeface="Courier New"/>
              </a:rPr>
              <a:t>, &amp;counter);  job_wait(&amp;counter);</a:t>
            </a:r>
            <a:endParaRPr sz="1800">
              <a:latin typeface="Courier New"/>
              <a:cs typeface="Courier New"/>
            </a:endParaRPr>
          </a:p>
          <a:p>
            <a:pPr marL="12700">
              <a:lnSpc>
                <a:spcPct val="100000"/>
              </a:lnSpc>
              <a:spcBef>
                <a:spcPts val="15"/>
              </a:spcBef>
            </a:pPr>
            <a:r>
              <a:rPr sz="1800" dirty="0">
                <a:solidFill>
                  <a:srgbClr val="595959"/>
                </a:solidFill>
                <a:latin typeface="Courier New"/>
                <a:cs typeface="Courier New"/>
              </a:rPr>
              <a:t>}</a:t>
            </a:r>
            <a:endParaRPr sz="1800">
              <a:latin typeface="Courier New"/>
              <a:cs typeface="Courier New"/>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452370" cy="452120"/>
          </a:xfrm>
          <a:prstGeom prst="rect">
            <a:avLst/>
          </a:prstGeom>
        </p:spPr>
        <p:txBody>
          <a:bodyPr vert="horz" wrap="square" lIns="0" tIns="12700" rIns="0" bIns="0" rtlCol="0">
            <a:spAutoFit/>
          </a:bodyPr>
          <a:lstStyle/>
          <a:p>
            <a:pPr marL="12700">
              <a:lnSpc>
                <a:spcPct val="100000"/>
              </a:lnSpc>
              <a:spcBef>
                <a:spcPts val="100"/>
              </a:spcBef>
            </a:pPr>
            <a:r>
              <a:rPr spc="-5" dirty="0"/>
              <a:t>First</a:t>
            </a:r>
            <a:r>
              <a:rPr spc="-90" dirty="0"/>
              <a:t> </a:t>
            </a:r>
            <a:r>
              <a:rPr spc="-5" dirty="0"/>
              <a:t>homework</a:t>
            </a:r>
          </a:p>
        </p:txBody>
      </p:sp>
      <p:sp>
        <p:nvSpPr>
          <p:cNvPr id="3" name="object 3"/>
          <p:cNvSpPr txBox="1"/>
          <p:nvPr/>
        </p:nvSpPr>
        <p:spPr>
          <a:xfrm>
            <a:off x="475249" y="1176350"/>
            <a:ext cx="7569834" cy="1778000"/>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Sequential </a:t>
            </a:r>
            <a:r>
              <a:rPr sz="1800" dirty="0">
                <a:solidFill>
                  <a:srgbClr val="595959"/>
                </a:solidFill>
                <a:latin typeface="Arial"/>
                <a:cs typeface="Arial"/>
              </a:rPr>
              <a:t>main </a:t>
            </a:r>
            <a:r>
              <a:rPr sz="1800" spc="-5" dirty="0">
                <a:solidFill>
                  <a:srgbClr val="595959"/>
                </a:solidFill>
                <a:latin typeface="Arial"/>
                <a:cs typeface="Arial"/>
              </a:rPr>
              <a:t>loop with wide </a:t>
            </a:r>
            <a:r>
              <a:rPr sz="1800" dirty="0">
                <a:solidFill>
                  <a:srgbClr val="595959"/>
                </a:solidFill>
                <a:latin typeface="Arial"/>
                <a:cs typeface="Arial"/>
              </a:rPr>
              <a:t>sim</a:t>
            </a:r>
            <a:r>
              <a:rPr sz="1800" spc="-25" dirty="0">
                <a:solidFill>
                  <a:srgbClr val="595959"/>
                </a:solidFill>
                <a:latin typeface="Arial"/>
                <a:cs typeface="Arial"/>
              </a:rPr>
              <a:t> </a:t>
            </a:r>
            <a:r>
              <a:rPr sz="1800" spc="-5" dirty="0">
                <a:solidFill>
                  <a:srgbClr val="595959"/>
                </a:solidFill>
                <a:latin typeface="Arial"/>
                <a:cs typeface="Arial"/>
              </a:rPr>
              <a:t>phase</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Use job </a:t>
            </a:r>
            <a:r>
              <a:rPr sz="1800" dirty="0">
                <a:solidFill>
                  <a:srgbClr val="595959"/>
                </a:solidFill>
                <a:latin typeface="Arial"/>
                <a:cs typeface="Arial"/>
              </a:rPr>
              <a:t>system </a:t>
            </a:r>
            <a:r>
              <a:rPr sz="1800" spc="-5" dirty="0">
                <a:solidFill>
                  <a:srgbClr val="595959"/>
                </a:solidFill>
                <a:latin typeface="Arial"/>
                <a:cs typeface="Arial"/>
              </a:rPr>
              <a:t>to </a:t>
            </a:r>
            <a:r>
              <a:rPr sz="1800" dirty="0">
                <a:solidFill>
                  <a:srgbClr val="595959"/>
                </a:solidFill>
                <a:latin typeface="Arial"/>
                <a:cs typeface="Arial"/>
              </a:rPr>
              <a:t>simulate </a:t>
            </a:r>
            <a:r>
              <a:rPr sz="1800" spc="-5" dirty="0">
                <a:solidFill>
                  <a:srgbClr val="595959"/>
                </a:solidFill>
                <a:latin typeface="Arial"/>
                <a:cs typeface="Arial"/>
              </a:rPr>
              <a:t>all game objects in</a:t>
            </a:r>
            <a:r>
              <a:rPr sz="1800" spc="-35" dirty="0">
                <a:solidFill>
                  <a:srgbClr val="595959"/>
                </a:solidFill>
                <a:latin typeface="Arial"/>
                <a:cs typeface="Arial"/>
              </a:rPr>
              <a:t> </a:t>
            </a:r>
            <a:r>
              <a:rPr sz="1800" spc="-5" dirty="0">
                <a:solidFill>
                  <a:srgbClr val="595959"/>
                </a:solidFill>
                <a:latin typeface="Arial"/>
                <a:cs typeface="Arial"/>
              </a:rPr>
              <a:t>parallel</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For homework, </a:t>
            </a:r>
            <a:r>
              <a:rPr sz="1400" dirty="0">
                <a:solidFill>
                  <a:srgbClr val="595959"/>
                </a:solidFill>
                <a:latin typeface="Arial"/>
                <a:cs typeface="Arial"/>
              </a:rPr>
              <a:t>you </a:t>
            </a:r>
            <a:r>
              <a:rPr sz="1400" spc="-5" dirty="0">
                <a:solidFill>
                  <a:srgbClr val="595959"/>
                </a:solidFill>
                <a:latin typeface="Arial"/>
                <a:cs typeface="Arial"/>
              </a:rPr>
              <a:t>will write </a:t>
            </a:r>
            <a:r>
              <a:rPr sz="1400" dirty="0">
                <a:solidFill>
                  <a:srgbClr val="595959"/>
                </a:solidFill>
                <a:latin typeface="Arial"/>
                <a:cs typeface="Arial"/>
              </a:rPr>
              <a:t>a key component, </a:t>
            </a:r>
            <a:r>
              <a:rPr sz="1400" spc="-5" dirty="0">
                <a:solidFill>
                  <a:srgbClr val="595959"/>
                </a:solidFill>
                <a:latin typeface="Arial"/>
                <a:cs typeface="Arial"/>
              </a:rPr>
              <a:t>the thread-safe queue that holds</a:t>
            </a:r>
            <a:r>
              <a:rPr sz="1400" spc="-80" dirty="0">
                <a:solidFill>
                  <a:srgbClr val="595959"/>
                </a:solidFill>
                <a:latin typeface="Arial"/>
                <a:cs typeface="Arial"/>
              </a:rPr>
              <a:t> </a:t>
            </a:r>
            <a:r>
              <a:rPr sz="1400" spc="-5" dirty="0">
                <a:solidFill>
                  <a:srgbClr val="595959"/>
                </a:solidFill>
                <a:latin typeface="Arial"/>
                <a:cs typeface="Arial"/>
              </a:rPr>
              <a:t>work</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Simple </a:t>
            </a:r>
            <a:r>
              <a:rPr sz="1800" dirty="0">
                <a:solidFill>
                  <a:srgbClr val="595959"/>
                </a:solidFill>
                <a:latin typeface="Arial"/>
                <a:cs typeface="Arial"/>
              </a:rPr>
              <a:t>component-based </a:t>
            </a:r>
            <a:r>
              <a:rPr sz="1800" spc="-5" dirty="0">
                <a:solidFill>
                  <a:srgbClr val="595959"/>
                </a:solidFill>
                <a:latin typeface="Arial"/>
                <a:cs typeface="Arial"/>
              </a:rPr>
              <a:t>entity</a:t>
            </a:r>
            <a:r>
              <a:rPr sz="1800" spc="-20" dirty="0">
                <a:solidFill>
                  <a:srgbClr val="595959"/>
                </a:solidFill>
                <a:latin typeface="Arial"/>
                <a:cs typeface="Arial"/>
              </a:rPr>
              <a:t> </a:t>
            </a:r>
            <a:r>
              <a:rPr sz="1800" dirty="0">
                <a:solidFill>
                  <a:srgbClr val="595959"/>
                </a:solidFill>
                <a:latin typeface="Arial"/>
                <a:cs typeface="Arial"/>
              </a:rPr>
              <a:t>system</a:t>
            </a:r>
            <a:endParaRPr sz="1800">
              <a:latin typeface="Arial"/>
              <a:cs typeface="Arial"/>
            </a:endParaRPr>
          </a:p>
          <a:p>
            <a:pPr marL="836294" lvl="1" indent="-335915">
              <a:lnSpc>
                <a:spcPct val="100000"/>
              </a:lnSpc>
              <a:spcBef>
                <a:spcPts val="330"/>
              </a:spcBef>
              <a:buChar char="○"/>
              <a:tabLst>
                <a:tab pos="836294" algn="l"/>
                <a:tab pos="836930" algn="l"/>
              </a:tabLst>
            </a:pPr>
            <a:r>
              <a:rPr sz="1400" spc="-5" dirty="0">
                <a:solidFill>
                  <a:srgbClr val="595959"/>
                </a:solidFill>
                <a:latin typeface="Arial"/>
                <a:cs typeface="Arial"/>
              </a:rPr>
              <a:t>Discussed </a:t>
            </a:r>
            <a:r>
              <a:rPr sz="1400" dirty="0">
                <a:solidFill>
                  <a:srgbClr val="595959"/>
                </a:solidFill>
                <a:latin typeface="Arial"/>
                <a:cs typeface="Arial"/>
              </a:rPr>
              <a:t>more </a:t>
            </a:r>
            <a:r>
              <a:rPr sz="1400" spc="-5" dirty="0">
                <a:solidFill>
                  <a:srgbClr val="595959"/>
                </a:solidFill>
                <a:latin typeface="Arial"/>
                <a:cs typeface="Arial"/>
              </a:rPr>
              <a:t>next</a:t>
            </a:r>
            <a:r>
              <a:rPr sz="1400" spc="-15" dirty="0">
                <a:solidFill>
                  <a:srgbClr val="595959"/>
                </a:solidFill>
                <a:latin typeface="Arial"/>
                <a:cs typeface="Arial"/>
              </a:rPr>
              <a:t> </a:t>
            </a:r>
            <a:r>
              <a:rPr sz="1400" dirty="0">
                <a:solidFill>
                  <a:srgbClr val="595959"/>
                </a:solidFill>
                <a:latin typeface="Arial"/>
                <a:cs typeface="Arial"/>
              </a:rPr>
              <a:t>class</a:t>
            </a:r>
            <a:endParaRPr sz="1400">
              <a:latin typeface="Arial"/>
              <a:cs typeface="Arial"/>
            </a:endParaRPr>
          </a:p>
          <a:p>
            <a:pPr marL="379095" indent="-366395">
              <a:lnSpc>
                <a:spcPct val="100000"/>
              </a:lnSpc>
              <a:spcBef>
                <a:spcPts val="254"/>
              </a:spcBef>
              <a:buChar char="●"/>
              <a:tabLst>
                <a:tab pos="379095" algn="l"/>
                <a:tab pos="379730" algn="l"/>
              </a:tabLst>
            </a:pPr>
            <a:r>
              <a:rPr sz="1800" spc="-5" dirty="0">
                <a:solidFill>
                  <a:srgbClr val="595959"/>
                </a:solidFill>
                <a:latin typeface="Arial"/>
                <a:cs typeface="Arial"/>
              </a:rPr>
              <a:t>Let’s walk through the </a:t>
            </a:r>
            <a:r>
              <a:rPr sz="1800" dirty="0">
                <a:solidFill>
                  <a:srgbClr val="595959"/>
                </a:solidFill>
                <a:latin typeface="Arial"/>
                <a:cs typeface="Arial"/>
              </a:rPr>
              <a:t>code</a:t>
            </a:r>
            <a:r>
              <a:rPr sz="1800" spc="-15" dirty="0">
                <a:solidFill>
                  <a:srgbClr val="595959"/>
                </a:solidFill>
                <a:latin typeface="Arial"/>
                <a:cs typeface="Arial"/>
              </a:rPr>
              <a:t> </a:t>
            </a:r>
            <a:r>
              <a:rPr sz="1800" spc="-5" dirty="0">
                <a:solidFill>
                  <a:srgbClr val="595959"/>
                </a:solidFill>
                <a:latin typeface="Arial"/>
                <a:cs typeface="Arial"/>
              </a:rPr>
              <a:t>together...</a:t>
            </a:r>
            <a:endParaRPr sz="1800">
              <a:latin typeface="Arial"/>
              <a:cs typeface="Aria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544320" cy="452120"/>
          </a:xfrm>
          <a:prstGeom prst="rect">
            <a:avLst/>
          </a:prstGeom>
        </p:spPr>
        <p:txBody>
          <a:bodyPr vert="horz" wrap="square" lIns="0" tIns="12700" rIns="0" bIns="0" rtlCol="0">
            <a:spAutoFit/>
          </a:bodyPr>
          <a:lstStyle/>
          <a:p>
            <a:pPr marL="12700">
              <a:lnSpc>
                <a:spcPct val="100000"/>
              </a:lnSpc>
              <a:spcBef>
                <a:spcPts val="100"/>
              </a:spcBef>
            </a:pPr>
            <a:r>
              <a:rPr spc="-5" dirty="0"/>
              <a:t>Summary</a:t>
            </a:r>
          </a:p>
        </p:txBody>
      </p:sp>
      <p:sp>
        <p:nvSpPr>
          <p:cNvPr id="3" name="object 3"/>
          <p:cNvSpPr txBox="1"/>
          <p:nvPr/>
        </p:nvSpPr>
        <p:spPr>
          <a:xfrm>
            <a:off x="475249" y="1176350"/>
            <a:ext cx="3910329" cy="1282700"/>
          </a:xfrm>
          <a:prstGeom prst="rect">
            <a:avLst/>
          </a:prstGeom>
        </p:spPr>
        <p:txBody>
          <a:bodyPr vert="horz" wrap="square" lIns="0" tIns="52704" rIns="0" bIns="0" rtlCol="0">
            <a:spAutoFit/>
          </a:bodyPr>
          <a:lstStyle/>
          <a:p>
            <a:pPr marL="379095" indent="-366395">
              <a:lnSpc>
                <a:spcPct val="100000"/>
              </a:lnSpc>
              <a:spcBef>
                <a:spcPts val="414"/>
              </a:spcBef>
              <a:buChar char="●"/>
              <a:tabLst>
                <a:tab pos="379095" algn="l"/>
                <a:tab pos="379730" algn="l"/>
              </a:tabLst>
            </a:pPr>
            <a:r>
              <a:rPr sz="1800" spc="-5" dirty="0">
                <a:solidFill>
                  <a:srgbClr val="595959"/>
                </a:solidFill>
                <a:latin typeface="Arial"/>
                <a:cs typeface="Arial"/>
              </a:rPr>
              <a:t>Structure of the </a:t>
            </a:r>
            <a:r>
              <a:rPr sz="1800" dirty="0">
                <a:solidFill>
                  <a:srgbClr val="595959"/>
                </a:solidFill>
                <a:latin typeface="Arial"/>
                <a:cs typeface="Arial"/>
              </a:rPr>
              <a:t>main</a:t>
            </a:r>
            <a:r>
              <a:rPr sz="1800" spc="-30" dirty="0">
                <a:solidFill>
                  <a:srgbClr val="595959"/>
                </a:solidFill>
                <a:latin typeface="Arial"/>
                <a:cs typeface="Arial"/>
              </a:rPr>
              <a:t> </a:t>
            </a:r>
            <a:r>
              <a:rPr sz="1800" spc="-5" dirty="0">
                <a:solidFill>
                  <a:srgbClr val="595959"/>
                </a:solidFill>
                <a:latin typeface="Arial"/>
                <a:cs typeface="Arial"/>
              </a:rPr>
              <a:t>loop</a:t>
            </a:r>
            <a:endParaRPr sz="1800">
              <a:latin typeface="Arial"/>
              <a:cs typeface="Arial"/>
            </a:endParaRPr>
          </a:p>
          <a:p>
            <a:pPr marL="379095" indent="-366395">
              <a:lnSpc>
                <a:spcPct val="100000"/>
              </a:lnSpc>
              <a:spcBef>
                <a:spcPts val="315"/>
              </a:spcBef>
              <a:buChar char="●"/>
              <a:tabLst>
                <a:tab pos="379095" algn="l"/>
                <a:tab pos="379730" algn="l"/>
              </a:tabLst>
            </a:pPr>
            <a:r>
              <a:rPr sz="1800" spc="-5" dirty="0">
                <a:solidFill>
                  <a:srgbClr val="595959"/>
                </a:solidFill>
                <a:latin typeface="Arial"/>
                <a:cs typeface="Arial"/>
              </a:rPr>
              <a:t>Time</a:t>
            </a:r>
            <a:endParaRPr sz="1800">
              <a:latin typeface="Arial"/>
              <a:cs typeface="Arial"/>
            </a:endParaRPr>
          </a:p>
          <a:p>
            <a:pPr marL="379095" indent="-366395">
              <a:lnSpc>
                <a:spcPct val="100000"/>
              </a:lnSpc>
              <a:spcBef>
                <a:spcPts val="315"/>
              </a:spcBef>
              <a:buChar char="●"/>
              <a:tabLst>
                <a:tab pos="379095" algn="l"/>
                <a:tab pos="379730" algn="l"/>
              </a:tabLst>
            </a:pPr>
            <a:r>
              <a:rPr sz="1800" dirty="0">
                <a:solidFill>
                  <a:srgbClr val="595959"/>
                </a:solidFill>
                <a:latin typeface="Arial"/>
                <a:cs typeface="Arial"/>
              </a:rPr>
              <a:t>Modes</a:t>
            </a:r>
            <a:endParaRPr sz="1800">
              <a:latin typeface="Arial"/>
              <a:cs typeface="Arial"/>
            </a:endParaRPr>
          </a:p>
          <a:p>
            <a:pPr marL="379095" indent="-366395">
              <a:lnSpc>
                <a:spcPct val="100000"/>
              </a:lnSpc>
              <a:spcBef>
                <a:spcPts val="315"/>
              </a:spcBef>
              <a:buChar char="●"/>
              <a:tabLst>
                <a:tab pos="379095" algn="l"/>
                <a:tab pos="379730" algn="l"/>
              </a:tabLst>
            </a:pPr>
            <a:r>
              <a:rPr sz="1800" dirty="0">
                <a:solidFill>
                  <a:srgbClr val="595959"/>
                </a:solidFill>
                <a:latin typeface="Arial"/>
                <a:cs typeface="Arial"/>
              </a:rPr>
              <a:t>Multicore </a:t>
            </a:r>
            <a:r>
              <a:rPr sz="1800" spc="-5" dirty="0">
                <a:solidFill>
                  <a:srgbClr val="595959"/>
                </a:solidFill>
                <a:latin typeface="Arial"/>
                <a:cs typeface="Arial"/>
              </a:rPr>
              <a:t>options and </a:t>
            </a:r>
            <a:r>
              <a:rPr sz="1800" dirty="0">
                <a:solidFill>
                  <a:srgbClr val="595959"/>
                </a:solidFill>
                <a:latin typeface="Arial"/>
                <a:cs typeface="Arial"/>
              </a:rPr>
              <a:t>a </a:t>
            </a:r>
            <a:r>
              <a:rPr sz="1800" spc="-5" dirty="0">
                <a:solidFill>
                  <a:srgbClr val="595959"/>
                </a:solidFill>
                <a:latin typeface="Arial"/>
                <a:cs typeface="Arial"/>
              </a:rPr>
              <a:t>job</a:t>
            </a:r>
            <a:r>
              <a:rPr sz="1800" spc="-95" dirty="0">
                <a:solidFill>
                  <a:srgbClr val="595959"/>
                </a:solidFill>
                <a:latin typeface="Arial"/>
                <a:cs typeface="Arial"/>
              </a:rPr>
              <a:t> </a:t>
            </a:r>
            <a:r>
              <a:rPr sz="1800" dirty="0">
                <a:solidFill>
                  <a:srgbClr val="595959"/>
                </a:solidFill>
                <a:latin typeface="Arial"/>
                <a:cs typeface="Arial"/>
              </a:rPr>
              <a:t>system</a:t>
            </a:r>
            <a:endParaRPr sz="1800">
              <a:latin typeface="Arial"/>
              <a:cs typeface="Aria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4725" y="503825"/>
            <a:ext cx="1940560" cy="452120"/>
          </a:xfrm>
          <a:prstGeom prst="rect">
            <a:avLst/>
          </a:prstGeom>
        </p:spPr>
        <p:txBody>
          <a:bodyPr vert="horz" wrap="square" lIns="0" tIns="12700" rIns="0" bIns="0" rtlCol="0">
            <a:spAutoFit/>
          </a:bodyPr>
          <a:lstStyle/>
          <a:p>
            <a:pPr marL="12700">
              <a:lnSpc>
                <a:spcPct val="100000"/>
              </a:lnSpc>
              <a:spcBef>
                <a:spcPts val="100"/>
              </a:spcBef>
            </a:pPr>
            <a:r>
              <a:rPr sz="2800" spc="-10" dirty="0">
                <a:latin typeface="Arial"/>
                <a:cs typeface="Arial"/>
              </a:rPr>
              <a:t>End</a:t>
            </a:r>
            <a:r>
              <a:rPr sz="2800" spc="-90" dirty="0">
                <a:latin typeface="Arial"/>
                <a:cs typeface="Arial"/>
              </a:rPr>
              <a:t> </a:t>
            </a:r>
            <a:r>
              <a:rPr sz="2800" spc="-5" dirty="0">
                <a:latin typeface="Arial"/>
                <a:cs typeface="Arial"/>
              </a:rPr>
              <a:t>Lecture</a:t>
            </a:r>
            <a:endParaRPr sz="2800" dirty="0">
              <a:latin typeface="Arial"/>
              <a:cs typeface="Arial"/>
            </a:endParaRPr>
          </a:p>
        </p:txBody>
      </p:sp>
      <p:sp>
        <p:nvSpPr>
          <p:cNvPr id="3" name="object 3"/>
          <p:cNvSpPr txBox="1"/>
          <p:nvPr/>
        </p:nvSpPr>
        <p:spPr>
          <a:xfrm>
            <a:off x="384725" y="1216355"/>
            <a:ext cx="7279005" cy="299720"/>
          </a:xfrm>
          <a:prstGeom prst="rect">
            <a:avLst/>
          </a:prstGeom>
        </p:spPr>
        <p:txBody>
          <a:bodyPr vert="horz" wrap="square" lIns="0" tIns="12700" rIns="0" bIns="0" rtlCol="0">
            <a:spAutoFit/>
          </a:bodyPr>
          <a:lstStyle/>
          <a:p>
            <a:pPr marL="12700">
              <a:lnSpc>
                <a:spcPct val="100000"/>
              </a:lnSpc>
              <a:spcBef>
                <a:spcPts val="100"/>
              </a:spcBef>
            </a:pPr>
            <a:r>
              <a:rPr sz="1800" u="heavy" spc="-5" dirty="0">
                <a:solidFill>
                  <a:srgbClr val="0097A7"/>
                </a:solidFill>
                <a:uFill>
                  <a:solidFill>
                    <a:srgbClr val="0097A7"/>
                  </a:solidFill>
                </a:uFill>
                <a:latin typeface="Arial"/>
                <a:cs typeface="Arial"/>
                <a:hlinkClick r:id="rId2"/>
              </a:rPr>
              <a:t>http://gdcvault.com/play/1022186/Parallelizing-the-Naughty-Dog-Engine</a:t>
            </a:r>
            <a:endParaRPr sz="1800" dirty="0">
              <a:latin typeface="Arial"/>
              <a:cs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7A7"/>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875</TotalTime>
  <Words>2651</Words>
  <Application>Microsoft Office PowerPoint</Application>
  <PresentationFormat>On-screen Show (16:9)</PresentationFormat>
  <Paragraphs>520</Paragraphs>
  <Slides>55</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ArialMT</vt:lpstr>
      <vt:lpstr>Baskerville</vt:lpstr>
      <vt:lpstr>Calibri</vt:lpstr>
      <vt:lpstr>Courier New</vt:lpstr>
      <vt:lpstr>Gill Sans</vt:lpstr>
      <vt:lpstr>Times New Roman</vt:lpstr>
      <vt:lpstr>Office Theme</vt:lpstr>
      <vt:lpstr>Game Architecture Main Loop  and a little bit about entities</vt:lpstr>
      <vt:lpstr>Today’s Agenda</vt:lpstr>
      <vt:lpstr>What’s this main loop thing?</vt:lpstr>
      <vt:lpstr>PowerPoint Presentation</vt:lpstr>
      <vt:lpstr>PowerPoint Presentation</vt:lpstr>
      <vt:lpstr>What’s this main loop thing?</vt:lpstr>
      <vt:lpstr>What’s this main loop thing?</vt:lpstr>
      <vt:lpstr>What’s this main loop thing?</vt:lpstr>
      <vt:lpstr>What’s this main loop thing?</vt:lpstr>
      <vt:lpstr>What’s this main loop thing?</vt:lpstr>
      <vt:lpstr>What’s this main loop thing?</vt:lpstr>
      <vt:lpstr>What’s this main loop thing?</vt:lpstr>
      <vt:lpstr>What’s this main loop thing?</vt:lpstr>
      <vt:lpstr>Simple main loop</vt:lpstr>
      <vt:lpstr>PowerPoint Presentation</vt:lpstr>
      <vt:lpstr>PowerPoint Presentation</vt:lpstr>
      <vt:lpstr>PowerPoint Presentation</vt:lpstr>
      <vt:lpstr>PowerPoint Presentation</vt:lpstr>
      <vt:lpstr>Time</vt:lpstr>
      <vt:lpstr>Time</vt:lpstr>
      <vt:lpstr>Time</vt:lpstr>
      <vt:lpstr>Time</vt:lpstr>
      <vt:lpstr>Time</vt:lpstr>
      <vt:lpstr>Time</vt:lpstr>
      <vt:lpstr>Time</vt:lpstr>
      <vt:lpstr>Modes</vt:lpstr>
      <vt:lpstr>Modes 2</vt:lpstr>
      <vt:lpstr>Modes: One Approach</vt:lpstr>
      <vt:lpstr>A brief diversion on game objects and entities </vt:lpstr>
      <vt:lpstr>Single-Rooted Hierarchy</vt:lpstr>
      <vt:lpstr>Single-Rooted Hierarchy</vt:lpstr>
      <vt:lpstr>PowerPoint Presentation</vt:lpstr>
      <vt:lpstr>PowerPoint Presentation</vt:lpstr>
      <vt:lpstr>PowerPoint Presentation</vt:lpstr>
      <vt:lpstr>Component-Based Entities</vt:lpstr>
      <vt:lpstr>Component-Based Entities</vt:lpstr>
      <vt:lpstr>Component-Based Entities</vt:lpstr>
      <vt:lpstr>Back to the mainloop</vt:lpstr>
      <vt:lpstr>Multicore</vt:lpstr>
      <vt:lpstr>Go Wide</vt:lpstr>
      <vt:lpstr>Go Fully Asynchronous</vt:lpstr>
      <vt:lpstr>Go Fully Asynchronous</vt:lpstr>
      <vt:lpstr>Hybrid Approach</vt:lpstr>
      <vt:lpstr>Hybrid Approach</vt:lpstr>
      <vt:lpstr>PowerPoint Presentation</vt:lpstr>
      <vt:lpstr>Doing the Work</vt:lpstr>
      <vt:lpstr>Doing the Work</vt:lpstr>
      <vt:lpstr>Doing the Work</vt:lpstr>
      <vt:lpstr>Doing the Work</vt:lpstr>
      <vt:lpstr>Doing the Work</vt:lpstr>
      <vt:lpstr>Job System</vt:lpstr>
      <vt:lpstr>Job System</vt:lpstr>
      <vt:lpstr>First homework</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Architecture Main Loop</dc:title>
  <dc:creator>Chang, Benjamin Chia-Ming</dc:creator>
  <cp:lastModifiedBy>Chang, Benjamin Chia-Ming</cp:lastModifiedBy>
  <cp:revision>5</cp:revision>
  <dcterms:created xsi:type="dcterms:W3CDTF">2019-01-14T08:30:00Z</dcterms:created>
  <dcterms:modified xsi:type="dcterms:W3CDTF">2019-01-15T02:54:37Z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