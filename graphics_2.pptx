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85" r:id="rId15"/>
    <p:sldId id="286" r:id="rId16"/>
    <p:sldId id="287" r:id="rId17"/>
    <p:sldId id="288" r:id="rId18"/>
    <p:sldId id="300" r:id="rId19"/>
    <p:sldId id="289" r:id="rId20"/>
    <p:sldId id="291" r:id="rId21"/>
    <p:sldId id="299" r:id="rId22"/>
    <p:sldId id="292" r:id="rId23"/>
    <p:sldId id="313" r:id="rId24"/>
    <p:sldId id="302" r:id="rId25"/>
    <p:sldId id="303" r:id="rId26"/>
    <p:sldId id="293" r:id="rId27"/>
    <p:sldId id="304" r:id="rId28"/>
    <p:sldId id="305" r:id="rId29"/>
    <p:sldId id="290" r:id="rId30"/>
    <p:sldId id="307" r:id="rId31"/>
    <p:sldId id="308" r:id="rId32"/>
    <p:sldId id="309" r:id="rId33"/>
    <p:sldId id="295" r:id="rId34"/>
    <p:sldId id="296" r:id="rId35"/>
    <p:sldId id="297" r:id="rId36"/>
    <p:sldId id="298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311" r:id="rId53"/>
    <p:sldId id="310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90" autoAdjust="0"/>
    <p:restoredTop sz="84019" autoAdjust="0"/>
  </p:normalViewPr>
  <p:slideViewPr>
    <p:cSldViewPr snapToGrid="0">
      <p:cViewPr varScale="1">
        <p:scale>
          <a:sx n="75" d="100"/>
          <a:sy n="75" d="100"/>
        </p:scale>
        <p:origin x="71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927E88-3467-4346-A80B-C61DFDA85AFC}" type="datetimeFigureOut">
              <a:rPr lang="en-US" smtClean="0"/>
              <a:t>2/11/2019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9DC9E-971A-4827-A85F-64A8CD0C1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5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29DC9E-971A-4827-A85F-64A8CD0C190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46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used on the currently active vertex buffer on the currently active vertex array object</a:t>
            </a:r>
          </a:p>
        </p:txBody>
      </p:sp>
    </p:spTree>
    <p:extLst>
      <p:ext uri="{BB962C8B-B14F-4D97-AF65-F5344CB8AC3E}">
        <p14:creationId xmlns:p14="http://schemas.microsoft.com/office/powerpoint/2010/main" val="3305303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if no qualifier is specified, then the var has no linkage to the app or shaders running on other pipeline stages</a:t>
            </a:r>
          </a:p>
          <a:p>
            <a:r>
              <a:t>uniforms are read-only within the shader</a:t>
            </a:r>
          </a:p>
        </p:txBody>
      </p:sp>
    </p:spTree>
    <p:extLst>
      <p:ext uri="{BB962C8B-B14F-4D97-AF65-F5344CB8AC3E}">
        <p14:creationId xmlns:p14="http://schemas.microsoft.com/office/powerpoint/2010/main" val="1626238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3" name="Shape 13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 double! :-( reserved for future use</a:t>
            </a:r>
          </a:p>
          <a:p>
            <a:r>
              <a:t>for mats, columns then rows</a:t>
            </a:r>
          </a:p>
          <a:p>
            <a:r>
              <a:t>everything is floats, except ivec (signed int) and bvec (bool)</a:t>
            </a:r>
          </a:p>
          <a:p>
            <a:r>
              <a:t>samplers are handles to textures</a:t>
            </a:r>
          </a:p>
          <a:p>
            <a:r>
              <a:t>1D arrays can’t be initialized in the shader for WebGL</a:t>
            </a:r>
          </a:p>
        </p:txBody>
      </p:sp>
    </p:spTree>
    <p:extLst>
      <p:ext uri="{BB962C8B-B14F-4D97-AF65-F5344CB8AC3E}">
        <p14:creationId xmlns:p14="http://schemas.microsoft.com/office/powerpoint/2010/main" val="2775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1" name="Shape 14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discard is used to *not* draw a given fragment</a:t>
            </a:r>
          </a:p>
        </p:txBody>
      </p:sp>
    </p:spTree>
    <p:extLst>
      <p:ext uri="{BB962C8B-B14F-4D97-AF65-F5344CB8AC3E}">
        <p14:creationId xmlns:p14="http://schemas.microsoft.com/office/powerpoint/2010/main" val="4116770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floor - value equal to the nearest integer that is less than or equal to x</a:t>
            </a:r>
          </a:p>
          <a:p>
            <a:r>
              <a:t>trunc - value equal to the nearest integer to x whose absolute value is not larger than the absolute value of x</a:t>
            </a:r>
          </a:p>
          <a:p>
            <a:r>
              <a:t>fract: x - floor(x)</a:t>
            </a:r>
          </a:p>
          <a:p>
            <a:r>
              <a:t>mix: linear blend</a:t>
            </a:r>
          </a:p>
          <a:p>
            <a:r>
              <a:t>reflect, incidence and normal vector</a:t>
            </a:r>
          </a:p>
          <a:p>
            <a:r>
              <a:t>refract takes an index of refraction</a:t>
            </a:r>
          </a:p>
        </p:txBody>
      </p:sp>
    </p:spTree>
    <p:extLst>
      <p:ext uri="{BB962C8B-B14F-4D97-AF65-F5344CB8AC3E}">
        <p14:creationId xmlns:p14="http://schemas.microsoft.com/office/powerpoint/2010/main" val="1124441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B00D-0F8E-48A5-B885-B29EC8D40FD0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7699-3CC7-48A1-B285-3A08C5223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78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B00D-0F8E-48A5-B885-B29EC8D40FD0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7699-3CC7-48A1-B285-3A08C5223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9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B00D-0F8E-48A5-B885-B29EC8D40FD0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7699-3CC7-48A1-B285-3A08C5223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7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B00D-0F8E-48A5-B885-B29EC8D40FD0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7699-3CC7-48A1-B285-3A08C5223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B00D-0F8E-48A5-B885-B29EC8D40FD0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7699-3CC7-48A1-B285-3A08C5223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523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B00D-0F8E-48A5-B885-B29EC8D40FD0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7699-3CC7-48A1-B285-3A08C5223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165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B00D-0F8E-48A5-B885-B29EC8D40FD0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7699-3CC7-48A1-B285-3A08C5223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78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B00D-0F8E-48A5-B885-B29EC8D40FD0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7699-3CC7-48A1-B285-3A08C5223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56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B00D-0F8E-48A5-B885-B29EC8D40FD0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7699-3CC7-48A1-B285-3A08C5223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6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B00D-0F8E-48A5-B885-B29EC8D40FD0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7699-3CC7-48A1-B285-3A08C5223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7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B00D-0F8E-48A5-B885-B29EC8D40FD0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7699-3CC7-48A1-B285-3A08C5223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70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Baskerville"/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1190625" y="1946672"/>
            <a:ext cx="9810750" cy="4018359"/>
          </a:xfrm>
          <a:prstGeom prst="rect">
            <a:avLst/>
          </a:prstGeom>
        </p:spPr>
        <p:txBody>
          <a:bodyPr/>
          <a:lstStyle>
            <a:lvl1pPr>
              <a:spcBef>
                <a:spcPts val="1687"/>
              </a:spcBef>
            </a:lvl1pPr>
            <a:lvl2pPr>
              <a:spcBef>
                <a:spcPts val="1687"/>
              </a:spcBef>
            </a:lvl2pPr>
            <a:lvl3pPr>
              <a:spcBef>
                <a:spcPts val="1687"/>
              </a:spcBef>
            </a:lvl3pPr>
            <a:lvl4pPr>
              <a:spcBef>
                <a:spcPts val="1687"/>
              </a:spcBef>
            </a:lvl4pPr>
            <a:lvl5pPr>
              <a:spcBef>
                <a:spcPts val="1687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153054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0B00D-0F8E-48A5-B885-B29EC8D40FD0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B7699-3CC7-48A1-B285-3A08C5223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716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Graphics Part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Shaders</a:t>
            </a:r>
            <a:r>
              <a:rPr lang="en-US" dirty="0" smtClean="0"/>
              <a:t>  and GLSL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684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6" y="626078"/>
            <a:ext cx="731119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Coordinate</a:t>
            </a:r>
            <a:r>
              <a:rPr spc="-113" dirty="0"/>
              <a:t> </a:t>
            </a:r>
            <a:r>
              <a:rPr spc="-7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826260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Handedness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World</a:t>
            </a:r>
            <a:r>
              <a:rPr sz="1867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67"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r>
              <a:rPr sz="1867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510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429768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Coordinate</a:t>
            </a:r>
            <a:r>
              <a:rPr spc="-113" dirty="0"/>
              <a:t> </a:t>
            </a:r>
            <a:r>
              <a:rPr spc="-7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891453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Handedness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World</a:t>
            </a:r>
            <a:r>
              <a:rPr sz="1867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67"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r>
              <a:rPr sz="1867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578798"/>
            <a:ext cx="4614333" cy="6836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Handedness determines the direction of the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cross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product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result.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567" y="2505898"/>
            <a:ext cx="4887805" cy="6836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Assuming positive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right,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and positive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y 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up…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02257" y="3432997"/>
            <a:ext cx="4668520" cy="135028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4808" marR="440256" indent="-447875">
              <a:lnSpc>
                <a:spcPct val="116100"/>
              </a:lnSpc>
              <a:spcBef>
                <a:spcPts val="13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right-handed system,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67" spc="-1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z-axis  comes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out of the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screen.</a:t>
            </a:r>
            <a:endParaRPr sz="1867">
              <a:latin typeface="Arial"/>
              <a:cs typeface="Arial"/>
            </a:endParaRPr>
          </a:p>
          <a:p>
            <a:pPr marL="464808" marR="6773" indent="-447875">
              <a:lnSpc>
                <a:spcPct val="116100"/>
              </a:lnSpc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left-handed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system,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z-axis</a:t>
            </a:r>
            <a:r>
              <a:rPr sz="1867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goes  into the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screen.</a:t>
            </a:r>
            <a:endParaRPr sz="1867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56892" y="3335459"/>
            <a:ext cx="3391899" cy="3070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97367" y="6626504"/>
            <a:ext cx="1308947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</a:t>
            </a:r>
            <a:r>
              <a:rPr sz="800" spc="-107" dirty="0">
                <a:latin typeface="Arial"/>
                <a:cs typeface="Arial"/>
              </a:rPr>
              <a:t> </a:t>
            </a:r>
            <a:r>
              <a:rPr sz="800" spc="-7" dirty="0">
                <a:latin typeface="Arial"/>
                <a:cs typeface="Arial"/>
              </a:rPr>
              <a:t>Wikipedia</a:t>
            </a:r>
            <a:endParaRPr sz="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7020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5283984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Coordinate</a:t>
            </a:r>
            <a:r>
              <a:rPr spc="-113" dirty="0"/>
              <a:t> </a:t>
            </a:r>
            <a:r>
              <a:rPr spc="-7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7" y="1578798"/>
            <a:ext cx="1889760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Handedness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World</a:t>
            </a:r>
            <a:r>
              <a:rPr sz="1867" b="1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67"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r>
              <a:rPr sz="1867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578797"/>
            <a:ext cx="4839547" cy="10169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World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the highest order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coordinate  system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which describes absolute positions for  all objects in the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game.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6001" y="3506867"/>
            <a:ext cx="7315199" cy="2641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97367" y="6626504"/>
            <a:ext cx="2245360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 </a:t>
            </a:r>
            <a:r>
              <a:rPr sz="800" dirty="0">
                <a:latin typeface="Arial"/>
                <a:cs typeface="Arial"/>
              </a:rPr>
              <a:t>Marco </a:t>
            </a:r>
            <a:r>
              <a:rPr sz="800" spc="-7" dirty="0">
                <a:latin typeface="Arial"/>
                <a:cs typeface="Arial"/>
              </a:rPr>
              <a:t>Alamia </a:t>
            </a:r>
            <a:r>
              <a:rPr sz="800" dirty="0">
                <a:latin typeface="Arial"/>
                <a:cs typeface="Arial"/>
              </a:rPr>
              <a:t>via </a:t>
            </a:r>
            <a:r>
              <a:rPr sz="800" spc="-7" dirty="0">
                <a:latin typeface="Arial"/>
                <a:cs typeface="Arial"/>
              </a:rPr>
              <a:t>Coding</a:t>
            </a:r>
            <a:r>
              <a:rPr sz="800" spc="-120" dirty="0">
                <a:latin typeface="Arial"/>
                <a:cs typeface="Arial"/>
              </a:rPr>
              <a:t> </a:t>
            </a:r>
            <a:r>
              <a:rPr sz="800" spc="-7" dirty="0">
                <a:latin typeface="Arial"/>
                <a:cs typeface="Arial"/>
              </a:rPr>
              <a:t>Labs</a:t>
            </a:r>
            <a:endParaRPr sz="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76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6" y="626078"/>
            <a:ext cx="502519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Coordinate</a:t>
            </a:r>
            <a:r>
              <a:rPr spc="-113" dirty="0"/>
              <a:t> </a:t>
            </a:r>
            <a:r>
              <a:rPr spc="-7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7" y="1578798"/>
            <a:ext cx="1905000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Handedness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World</a:t>
            </a:r>
            <a:r>
              <a:rPr sz="1867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67" b="1" spc="-1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578798"/>
            <a:ext cx="5011420" cy="6836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Model space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coordinate system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local to</a:t>
            </a:r>
            <a:r>
              <a:rPr sz="1867"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 single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object in the game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world.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567" y="2505897"/>
            <a:ext cx="5074072" cy="10169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origin is the origin point of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model,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and is  typically user defined. It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could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be the exact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center, a corner,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bottom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center;</a:t>
            </a:r>
            <a:r>
              <a:rPr sz="1867" spc="-1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anywhere.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82801" y="3845834"/>
            <a:ext cx="7619999" cy="2336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97367" y="6626504"/>
            <a:ext cx="2245360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 </a:t>
            </a:r>
            <a:r>
              <a:rPr sz="800" dirty="0">
                <a:latin typeface="Arial"/>
                <a:cs typeface="Arial"/>
              </a:rPr>
              <a:t>Marco </a:t>
            </a:r>
            <a:r>
              <a:rPr sz="800" spc="-7" dirty="0">
                <a:latin typeface="Arial"/>
                <a:cs typeface="Arial"/>
              </a:rPr>
              <a:t>Alamia </a:t>
            </a:r>
            <a:r>
              <a:rPr sz="800" dirty="0">
                <a:latin typeface="Arial"/>
                <a:cs typeface="Arial"/>
              </a:rPr>
              <a:t>via </a:t>
            </a:r>
            <a:r>
              <a:rPr sz="800" spc="-7" dirty="0">
                <a:latin typeface="Arial"/>
                <a:cs typeface="Arial"/>
              </a:rPr>
              <a:t>Coding</a:t>
            </a:r>
            <a:r>
              <a:rPr sz="800" spc="-120" dirty="0">
                <a:latin typeface="Arial"/>
                <a:cs typeface="Arial"/>
              </a:rPr>
              <a:t> </a:t>
            </a:r>
            <a:r>
              <a:rPr sz="800" spc="-7" dirty="0">
                <a:latin typeface="Arial"/>
                <a:cs typeface="Arial"/>
              </a:rPr>
              <a:t>Labs</a:t>
            </a:r>
            <a:endParaRPr sz="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0908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6" y="626078"/>
            <a:ext cx="530986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Coordinate</a:t>
            </a:r>
            <a:r>
              <a:rPr spc="-113" dirty="0"/>
              <a:t> </a:t>
            </a:r>
            <a:r>
              <a:rPr spc="-7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826260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Handedness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World</a:t>
            </a:r>
            <a:r>
              <a:rPr sz="1867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67"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r>
              <a:rPr sz="1867" b="1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578797"/>
            <a:ext cx="4995333" cy="10169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just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View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describes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coordinate system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of 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camera,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with the origin being the position of  the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camera.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567" y="2836098"/>
            <a:ext cx="4678680" cy="6836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Transforming into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view space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an essential  part of the graphics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pipeline.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1967" y="3847465"/>
            <a:ext cx="6893112" cy="2560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97367" y="6626504"/>
            <a:ext cx="2245360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 </a:t>
            </a:r>
            <a:r>
              <a:rPr sz="800" dirty="0">
                <a:latin typeface="Arial"/>
                <a:cs typeface="Arial"/>
              </a:rPr>
              <a:t>Marco </a:t>
            </a:r>
            <a:r>
              <a:rPr sz="800" spc="-7" dirty="0">
                <a:latin typeface="Arial"/>
                <a:cs typeface="Arial"/>
              </a:rPr>
              <a:t>Alamia </a:t>
            </a:r>
            <a:r>
              <a:rPr sz="800" dirty="0">
                <a:latin typeface="Arial"/>
                <a:cs typeface="Arial"/>
              </a:rPr>
              <a:t>via </a:t>
            </a:r>
            <a:r>
              <a:rPr sz="800" spc="-7" dirty="0">
                <a:latin typeface="Arial"/>
                <a:cs typeface="Arial"/>
              </a:rPr>
              <a:t>Coding</a:t>
            </a:r>
            <a:r>
              <a:rPr sz="800" spc="-120" dirty="0">
                <a:latin typeface="Arial"/>
                <a:cs typeface="Arial"/>
              </a:rPr>
              <a:t> </a:t>
            </a:r>
            <a:r>
              <a:rPr sz="800" spc="-7" dirty="0">
                <a:latin typeface="Arial"/>
                <a:cs typeface="Arial"/>
              </a:rPr>
              <a:t>Labs</a:t>
            </a:r>
            <a:endParaRPr sz="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203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5378875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Scene</a:t>
            </a:r>
            <a:r>
              <a:rPr spc="-113" dirty="0"/>
              <a:t> </a:t>
            </a:r>
            <a:r>
              <a:rPr spc="-7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5" y="1568467"/>
            <a:ext cx="6405880" cy="1702174"/>
          </a:xfrm>
          <a:prstGeom prst="rect">
            <a:avLst/>
          </a:prstGeom>
        </p:spPr>
        <p:txBody>
          <a:bodyPr vert="horz" wrap="square" lIns="0" tIns="70272" rIns="0" bIns="0" rtlCol="0">
            <a:spAutoFit/>
          </a:bodyPr>
          <a:lstStyle/>
          <a:p>
            <a:pPr marL="505447" indent="-488514">
              <a:spcBef>
                <a:spcPts val="552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How do we describe objects in the</a:t>
            </a:r>
            <a:r>
              <a:rPr sz="2400" spc="-7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scene?</a:t>
            </a:r>
            <a:endParaRPr sz="240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How do we describe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scene</a:t>
            </a:r>
            <a:r>
              <a:rPr sz="2400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topology?</a:t>
            </a:r>
            <a:endParaRPr sz="240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How do we describe where things</a:t>
            </a:r>
            <a:r>
              <a:rPr sz="2400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are?</a:t>
            </a:r>
            <a:endParaRPr sz="240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How do we describe how we see</a:t>
            </a:r>
            <a:r>
              <a:rPr sz="2400" b="1" spc="-9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95959"/>
                </a:solidFill>
                <a:latin typeface="Arial"/>
                <a:cs typeface="Arial"/>
              </a:rPr>
              <a:t>things?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9984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384337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Virtual</a:t>
            </a:r>
            <a:r>
              <a:rPr spc="-113" dirty="0"/>
              <a:t> </a:t>
            </a:r>
            <a:r>
              <a:rPr spc="-7" dirty="0"/>
              <a:t>Camera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5" y="1549744"/>
            <a:ext cx="8056880" cy="222137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virtual camera can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created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with three</a:t>
            </a:r>
            <a:r>
              <a:rPr sz="2400" spc="-1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components: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position.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forward, or ‘look-at’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vector.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 up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vector.</a:t>
            </a:r>
            <a:endParaRPr sz="1867" dirty="0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It also needs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frustum.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frustum defines the bounds that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camera can</a:t>
            </a:r>
            <a:r>
              <a:rPr sz="1867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 smtClean="0">
                <a:solidFill>
                  <a:srgbClr val="595959"/>
                </a:solidFill>
                <a:latin typeface="Arial"/>
                <a:cs typeface="Arial"/>
              </a:rPr>
              <a:t>see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7624794" y="3250830"/>
            <a:ext cx="4340044" cy="28043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195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8" y="626078"/>
            <a:ext cx="4197055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Transformations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68468"/>
            <a:ext cx="9217660" cy="2554010"/>
          </a:xfrm>
          <a:prstGeom prst="rect">
            <a:avLst/>
          </a:prstGeom>
        </p:spPr>
        <p:txBody>
          <a:bodyPr vert="horz" wrap="square" lIns="0" tIns="70272" rIns="0" bIns="0" rtlCol="0">
            <a:spAutoFit/>
          </a:bodyPr>
          <a:lstStyle/>
          <a:p>
            <a:pPr marL="505447" indent="-488514">
              <a:spcBef>
                <a:spcPts val="552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Our goal is to get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something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from the world to the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screen.</a:t>
            </a:r>
            <a:r>
              <a:rPr sz="2400" spc="58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How?</a:t>
            </a:r>
            <a:endParaRPr sz="240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We need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series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of transformations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(matrices)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Model -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 from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into world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View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 from world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Projection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 from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view space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clip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space.</a:t>
            </a:r>
            <a:endParaRPr sz="1867">
              <a:latin typeface="Arial"/>
              <a:cs typeface="Arial"/>
            </a:endParaRPr>
          </a:p>
          <a:p>
            <a:pPr marL="111503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i="1" spc="-7" dirty="0">
                <a:solidFill>
                  <a:srgbClr val="595959"/>
                </a:solidFill>
                <a:latin typeface="Arial"/>
                <a:cs typeface="Arial"/>
              </a:rPr>
              <a:t>Viewport 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67" i="1" spc="-7" dirty="0">
                <a:solidFill>
                  <a:srgbClr val="595959"/>
                </a:solidFill>
                <a:latin typeface="Arial"/>
                <a:cs typeface="Arial"/>
              </a:rPr>
              <a:t>Transform from NDC to 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screen</a:t>
            </a:r>
            <a:r>
              <a:rPr sz="1867" i="1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space.</a:t>
            </a:r>
            <a:endParaRPr sz="1867">
              <a:latin typeface="Arial"/>
              <a:cs typeface="Arial"/>
            </a:endParaRPr>
          </a:p>
          <a:p>
            <a:pPr marL="1724617" lvl="1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This is done in the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hardware.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5111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642267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Calculating the </a:t>
            </a:r>
            <a:r>
              <a:rPr spc="-13" dirty="0"/>
              <a:t>View</a:t>
            </a:r>
            <a:r>
              <a:rPr spc="-120" dirty="0"/>
              <a:t> </a:t>
            </a:r>
            <a:r>
              <a:rPr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68467"/>
            <a:ext cx="10014373" cy="2392235"/>
          </a:xfrm>
          <a:prstGeom prst="rect">
            <a:avLst/>
          </a:prstGeom>
        </p:spPr>
        <p:txBody>
          <a:bodyPr vert="horz" wrap="square" lIns="0" tIns="70272" rIns="0" bIns="0" rtlCol="0">
            <a:spAutoFit/>
          </a:bodyPr>
          <a:lstStyle/>
          <a:p>
            <a:pPr marL="505447" indent="-488514">
              <a:spcBef>
                <a:spcPts val="552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view matrix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transforms the world into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camera</a:t>
            </a:r>
            <a:r>
              <a:rPr sz="2400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r>
              <a:rPr sz="2400" dirty="0" smtClean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r>
              <a:rPr lang="en-US" sz="240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</a:p>
          <a:p>
            <a:pPr marL="962647" lvl="1" indent="-488514">
              <a:spcBef>
                <a:spcPts val="552"/>
              </a:spcBef>
              <a:buChar char="●"/>
              <a:tabLst>
                <a:tab pos="505447" algn="l"/>
                <a:tab pos="506294" algn="l"/>
              </a:tabLst>
            </a:pPr>
            <a:r>
              <a:rPr lang="en-US" sz="2400" dirty="0" smtClean="0">
                <a:solidFill>
                  <a:srgbClr val="595959"/>
                </a:solidFill>
                <a:latin typeface="Arial"/>
                <a:cs typeface="Arial"/>
              </a:rPr>
              <a:t>(remember, OpenGL is egocentric)</a:t>
            </a:r>
            <a:endParaRPr sz="2400" dirty="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This essentially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means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applying the inverse of the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camera’s</a:t>
            </a:r>
            <a:r>
              <a:rPr sz="24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transform.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Translation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Orientation</a:t>
            </a:r>
            <a:endParaRPr sz="1867" dirty="0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Translation is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easy: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28099" y="3828634"/>
            <a:ext cx="2935799" cy="2263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6928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5743787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Calculating the </a:t>
            </a:r>
            <a:r>
              <a:rPr spc="-13" dirty="0"/>
              <a:t>View</a:t>
            </a:r>
            <a:r>
              <a:rPr spc="-120" dirty="0"/>
              <a:t> </a:t>
            </a:r>
            <a:r>
              <a:rPr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68468"/>
            <a:ext cx="10046545" cy="3064855"/>
          </a:xfrm>
          <a:prstGeom prst="rect">
            <a:avLst/>
          </a:prstGeom>
        </p:spPr>
        <p:txBody>
          <a:bodyPr vert="horz" wrap="square" lIns="0" tIns="70272" rIns="0" bIns="0" rtlCol="0">
            <a:spAutoFit/>
          </a:bodyPr>
          <a:lstStyle/>
          <a:p>
            <a:pPr marL="505447" indent="-488514">
              <a:spcBef>
                <a:spcPts val="552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Orientation is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little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trickier.</a:t>
            </a:r>
            <a:endParaRPr sz="2400">
              <a:latin typeface="Arial"/>
              <a:cs typeface="Arial"/>
            </a:endParaRPr>
          </a:p>
          <a:p>
            <a:pPr marL="505447" marR="6773" indent="-488514">
              <a:lnSpc>
                <a:spcPct val="114599"/>
              </a:lnSpc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Recall that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rows (or columns)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transformation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matrix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are orthogonal 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vectors representing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orientation.</a:t>
            </a:r>
            <a:endParaRPr sz="240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Find them for the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camera!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Given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direction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(z)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(eye -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at) and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up</a:t>
            </a:r>
            <a:r>
              <a:rPr sz="1867" b="1" spc="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vector…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Cross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direction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up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get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right</a:t>
            </a:r>
            <a:r>
              <a:rPr sz="1867" b="1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(x)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Cross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right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(x)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direction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(z)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get an accurate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up</a:t>
            </a:r>
            <a:r>
              <a:rPr sz="1867" b="1" spc="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(y)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stick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‘em in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matrix: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41934" y="3657100"/>
            <a:ext cx="2728132" cy="24347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45644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5743787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Calculating the </a:t>
            </a:r>
            <a:r>
              <a:rPr spc="-13" dirty="0"/>
              <a:t>View</a:t>
            </a:r>
            <a:r>
              <a:rPr spc="-120" dirty="0"/>
              <a:t> </a:t>
            </a:r>
            <a:r>
              <a:rPr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49744"/>
            <a:ext cx="8602980" cy="262918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But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wait!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That describes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transformation from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camera space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world</a:t>
            </a:r>
            <a:r>
              <a:rPr sz="1867" spc="-1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We want world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camera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space.</a:t>
            </a:r>
            <a:endParaRPr sz="1867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Solution: invert the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matrix.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It’s orthogonal,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so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inverse is just the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transpose.</a:t>
            </a:r>
            <a:endParaRPr sz="1867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Finally,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combine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translation.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translation is pre-multiplied with the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orientation.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4596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5743787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Calculating the </a:t>
            </a:r>
            <a:r>
              <a:rPr spc="-13" dirty="0"/>
              <a:t>View</a:t>
            </a:r>
            <a:r>
              <a:rPr spc="-120" dirty="0"/>
              <a:t> </a:t>
            </a:r>
            <a:r>
              <a:rPr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49745"/>
            <a:ext cx="3463713" cy="1813573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So,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given: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Camera position</a:t>
            </a:r>
            <a:r>
              <a:rPr sz="1867" spc="-1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(eye)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Right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vector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(x)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Up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vector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(y)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Forward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vector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(z)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1268" y="3701933"/>
            <a:ext cx="7469465" cy="2004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68358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5741529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Order of</a:t>
            </a:r>
            <a:r>
              <a:rPr spc="-127" dirty="0"/>
              <a:t> </a:t>
            </a:r>
            <a:r>
              <a:rPr dirty="0"/>
              <a:t>Multiplication?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68468"/>
            <a:ext cx="8531013" cy="3569865"/>
          </a:xfrm>
          <a:prstGeom prst="rect">
            <a:avLst/>
          </a:prstGeom>
        </p:spPr>
        <p:txBody>
          <a:bodyPr vert="horz" wrap="square" lIns="0" tIns="70272" rIns="0" bIns="0" rtlCol="0">
            <a:spAutoFit/>
          </a:bodyPr>
          <a:lstStyle/>
          <a:p>
            <a:pPr marL="505447" indent="-488514">
              <a:spcBef>
                <a:spcPts val="552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This depends on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your matrix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layout and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multiplication</a:t>
            </a:r>
            <a:r>
              <a:rPr sz="2400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code.</a:t>
            </a:r>
            <a:endParaRPr sz="2400" dirty="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*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B: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Row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major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layout and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rows * B columns</a:t>
            </a:r>
            <a:r>
              <a:rPr sz="1867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Column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major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layout and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columns * B</a:t>
            </a:r>
            <a:r>
              <a:rPr sz="1867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rows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Pre-multiplication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local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Post-multiplication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world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Row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major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layout and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columns * B rows</a:t>
            </a:r>
            <a:r>
              <a:rPr sz="1867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Column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major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layout and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rows * B</a:t>
            </a:r>
            <a:r>
              <a:rPr sz="1867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columns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Pre-multiplication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67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world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Post-multiplication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67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local</a:t>
            </a:r>
            <a:endParaRPr sz="186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1123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4947072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Programmable</a:t>
            </a:r>
            <a:r>
              <a:rPr spc="-113" dirty="0"/>
              <a:t> </a:t>
            </a:r>
            <a:r>
              <a:rPr spc="-7" dirty="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26701" y="15348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421629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Specification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6701" y="2114600"/>
            <a:ext cx="2938780" cy="306132"/>
          </a:xfrm>
          <a:prstGeom prst="rect">
            <a:avLst/>
          </a:prstGeom>
          <a:solidFill>
            <a:srgbClr val="93C47D"/>
          </a:solidFill>
          <a:ln w="19049">
            <a:solidFill>
              <a:srgbClr val="0000FF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711182">
              <a:spcBef>
                <a:spcPts val="147"/>
              </a:spcBef>
            </a:pPr>
            <a:r>
              <a:rPr sz="1867" spc="-7" dirty="0">
                <a:latin typeface="Arial"/>
                <a:cs typeface="Arial"/>
              </a:rPr>
              <a:t>Vertex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Shader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901" y="26944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836486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Tessellation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6701" y="32742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533387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Geometry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6901" y="3853996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231134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33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Post-Processing</a:t>
            </a:r>
            <a:endParaRPr sz="186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26901" y="4433801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468195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Primitive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Assembly</a:t>
            </a:r>
            <a:endParaRPr sz="1867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26901" y="50136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777221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Rasterization</a:t>
            </a:r>
            <a:endParaRPr sz="1867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6901" y="5593401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54693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Fragment</a:t>
            </a:r>
            <a:r>
              <a:rPr sz="1867" spc="-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26701" y="61732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19134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Per-Sampler</a:t>
            </a:r>
            <a:r>
              <a:rPr sz="1867" spc="-4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Operations</a:t>
            </a:r>
            <a:endParaRPr sz="1867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02534" y="1858499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6002534" y="2438201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6002534" y="3018001"/>
            <a:ext cx="172199" cy="268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6002534" y="3597801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6009801" y="4177601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6010001" y="4757401"/>
            <a:ext cx="172199" cy="2689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6010001" y="5337199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6010001" y="5917001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7905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6" y="626078"/>
            <a:ext cx="580655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Programmable</a:t>
            </a:r>
            <a:r>
              <a:rPr spc="-113" dirty="0"/>
              <a:t> </a:t>
            </a:r>
            <a:r>
              <a:rPr spc="-7" dirty="0"/>
              <a:t>Shaders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49744"/>
            <a:ext cx="10323407" cy="289861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Miniature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programs which operate on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vertex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and fragment</a:t>
            </a:r>
            <a:r>
              <a:rPr sz="2400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data.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Vertex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shader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outputs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vertex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position in homogenous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clip space,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and per-vertex</a:t>
            </a:r>
            <a:r>
              <a:rPr sz="1867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values.</a:t>
            </a:r>
            <a:endParaRPr sz="1867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gl_Position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Fragment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shader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outputs fragment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color(s).</a:t>
            </a:r>
            <a:endParaRPr sz="1867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gl_FragColor</a:t>
            </a:r>
            <a:endParaRPr sz="1867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And possibly depth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information.</a:t>
            </a:r>
            <a:endParaRPr sz="1867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There are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many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built-in functions for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common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operations.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See the OpenGL or HLSL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reference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pages for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list.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146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424518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Shading</a:t>
            </a:r>
            <a:r>
              <a:rPr spc="-113" dirty="0"/>
              <a:t> </a:t>
            </a:r>
            <a:r>
              <a:rPr spc="-7" dirty="0"/>
              <a:t>Languages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49745"/>
            <a:ext cx="7444740" cy="230338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Most shading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languages are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C-like.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GLSL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OpenGL Shading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Language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HLSL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High Level Shading Language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(DirectX)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Cg</a:t>
            </a:r>
            <a:endParaRPr sz="1867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They are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compiled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 bytecode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similar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400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assembly.</a:t>
            </a:r>
            <a:endParaRPr sz="240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GPU execution units execute the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bytecode.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222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371602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OpenGL</a:t>
            </a:r>
            <a:r>
              <a:rPr spc="-127" dirty="0"/>
              <a:t> </a:t>
            </a:r>
            <a:r>
              <a:rPr spc="-7" dirty="0"/>
              <a:t>Shaders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5" y="1549744"/>
            <a:ext cx="9999979" cy="3306418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OpenGL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manages shaders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shader</a:t>
            </a:r>
            <a:r>
              <a:rPr sz="2400" b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objects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glCreateShader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glShaderSource</a:t>
            </a:r>
            <a:endParaRPr sz="1867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Shader </a:t>
            </a: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programs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are pairings of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vertex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and fragment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shaders.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glCreateProgram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glAttachShader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glLinkProgram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glUseProgram</a:t>
            </a:r>
            <a:endParaRPr sz="1867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Fun fact: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shaders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are usually not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compiled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until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actually use</a:t>
            </a:r>
            <a:r>
              <a:rPr sz="2400" spc="-1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them.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5999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124544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GLSL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49745"/>
            <a:ext cx="9163473" cy="357585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Program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variable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qualifiers.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Font typeface="Arial"/>
              <a:buChar char="○"/>
              <a:tabLst>
                <a:tab pos="1115031" algn="l"/>
                <a:tab pos="1115879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- 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per-element input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value,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like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position.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Font typeface="Arial"/>
              <a:buChar char="○"/>
              <a:tabLst>
                <a:tab pos="1115031" algn="l"/>
                <a:tab pos="1115879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out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- 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per-element output, like fragment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color.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Font typeface="Arial"/>
              <a:buChar char="○"/>
              <a:tabLst>
                <a:tab pos="1115031" algn="l"/>
                <a:tab pos="1115879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uniform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- 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per-object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constant,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like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model-view-projection matrix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67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texture.</a:t>
            </a:r>
            <a:endParaRPr sz="1867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Basic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types.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C++ like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- void,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float, int,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bool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Vectors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- vec2, vec3, vec4,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ivec2,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Matrices - mat2, mat3,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mat4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Textures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sampler2D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Arrays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e.g.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float[5]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367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124544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GLSL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5" y="1549745"/>
            <a:ext cx="8989907" cy="364503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Control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flow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Mostly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same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C/C++.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Notable addition is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discard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, which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rejects a current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fragment from</a:t>
            </a:r>
            <a:r>
              <a:rPr sz="1867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drawing.</a:t>
            </a:r>
            <a:endParaRPr sz="1867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Built-in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functions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Trig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- sin, cos,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tan, asin, acos,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atan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Math -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pow, exp, log, exp2, log2,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sqrt,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inversesqrt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many more -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dot,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cross,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normalize,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clamp, mix, step, reflect,</a:t>
            </a:r>
            <a:r>
              <a:rPr sz="1867" spc="-1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867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Texture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lookup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texture2D(sampler2D,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vec2)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There are others, but this is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most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often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used.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133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398791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Vertex</a:t>
            </a:r>
            <a:r>
              <a:rPr spc="-120" dirty="0"/>
              <a:t> </a:t>
            </a:r>
            <a:r>
              <a:rPr spc="-7" dirty="0"/>
              <a:t>Shaders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5" y="1549744"/>
            <a:ext cx="8468360" cy="364503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Modern vertex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shaders: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Animate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vertex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positions.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vertex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positions into homogenous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clip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Pass through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(and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possibly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manipulate)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per-vertex</a:t>
            </a:r>
            <a:r>
              <a:rPr sz="1867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attributes.</a:t>
            </a:r>
            <a:endParaRPr sz="1867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And that’s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really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about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it…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Fragment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shaders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get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more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interesting.</a:t>
            </a:r>
            <a:endParaRPr sz="1867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They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be leveraged for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optimization.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It’s possible to use built-in hardware interpolation 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your</a:t>
            </a:r>
            <a:r>
              <a:rPr sz="1867" spc="-6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advantage.</a:t>
            </a:r>
            <a:endParaRPr sz="1867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Perform heavy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calculations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vertex, rather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than</a:t>
            </a:r>
            <a:r>
              <a:rPr sz="1867" spc="-1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per-fragment.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This is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really 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last-resort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optimization.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3831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3592689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967" y="1624518"/>
            <a:ext cx="9034779" cy="465323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Courier New"/>
                <a:cs typeface="Courier New"/>
              </a:rPr>
              <a:t>#version</a:t>
            </a:r>
            <a:r>
              <a:rPr sz="1867" spc="-13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Courier New"/>
                <a:cs typeface="Courier New"/>
              </a:rPr>
              <a:t>400</a:t>
            </a:r>
            <a:endParaRPr sz="1867" dirty="0">
              <a:latin typeface="Courier New"/>
              <a:cs typeface="Courier New"/>
            </a:endParaRPr>
          </a:p>
          <a:p>
            <a:pPr marL="16933" marR="3033531">
              <a:lnSpc>
                <a:spcPct val="232100"/>
              </a:lnSpc>
            </a:pPr>
            <a:r>
              <a:rPr sz="1867" spc="-7" dirty="0">
                <a:solidFill>
                  <a:srgbClr val="595959"/>
                </a:solidFill>
                <a:latin typeface="Courier New"/>
                <a:cs typeface="Courier New"/>
              </a:rPr>
              <a:t>layout (location </a:t>
            </a:r>
            <a:r>
              <a:rPr sz="1867" dirty="0">
                <a:solidFill>
                  <a:srgbClr val="595959"/>
                </a:solidFill>
                <a:latin typeface="Courier New"/>
                <a:cs typeface="Courier New"/>
              </a:rPr>
              <a:t>= </a:t>
            </a:r>
            <a:r>
              <a:rPr sz="1867" spc="-7" dirty="0">
                <a:solidFill>
                  <a:srgbClr val="595959"/>
                </a:solidFill>
                <a:latin typeface="Courier New"/>
                <a:cs typeface="Courier New"/>
              </a:rPr>
              <a:t>0) in vec3 in_position</a:t>
            </a:r>
            <a:r>
              <a:rPr sz="1867" spc="-7" dirty="0">
                <a:solidFill>
                  <a:srgbClr val="595959"/>
                </a:solidFill>
                <a:latin typeface="Courier New"/>
                <a:cs typeface="Courier New"/>
              </a:rPr>
              <a:t>;  uniform vec3</a:t>
            </a:r>
            <a:r>
              <a:rPr sz="1867" spc="-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67" spc="-7" dirty="0" err="1" smtClean="0">
                <a:solidFill>
                  <a:srgbClr val="595959"/>
                </a:solidFill>
                <a:latin typeface="Courier New"/>
                <a:cs typeface="Courier New"/>
              </a:rPr>
              <a:t>u_color</a:t>
            </a:r>
            <a:r>
              <a:rPr sz="1867" spc="-7" dirty="0" smtClean="0">
                <a:solidFill>
                  <a:srgbClr val="595959"/>
                </a:solidFill>
                <a:latin typeface="Courier New"/>
                <a:cs typeface="Courier New"/>
              </a:rPr>
              <a:t>;</a:t>
            </a:r>
            <a:endParaRPr sz="1867" dirty="0" smtClean="0">
              <a:latin typeface="Courier New"/>
              <a:cs typeface="Courier New"/>
            </a:endParaRPr>
          </a:p>
          <a:p>
            <a:pPr marL="16933" marR="6304122">
              <a:lnSpc>
                <a:spcPct val="232100"/>
              </a:lnSpc>
            </a:pPr>
            <a:r>
              <a:rPr sz="1867" spc="-7" dirty="0" smtClean="0">
                <a:solidFill>
                  <a:srgbClr val="595959"/>
                </a:solidFill>
                <a:latin typeface="Courier New"/>
                <a:cs typeface="Courier New"/>
              </a:rPr>
              <a:t>out vec3</a:t>
            </a:r>
            <a:r>
              <a:rPr sz="1867" spc="-120" dirty="0" smtClean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67" spc="-7" dirty="0" err="1" smtClean="0">
                <a:solidFill>
                  <a:srgbClr val="595959"/>
                </a:solidFill>
                <a:latin typeface="Courier New"/>
                <a:cs typeface="Courier New"/>
              </a:rPr>
              <a:t>out_color</a:t>
            </a:r>
            <a:r>
              <a:rPr sz="1867" spc="-7" dirty="0" smtClean="0">
                <a:solidFill>
                  <a:srgbClr val="595959"/>
                </a:solidFill>
                <a:latin typeface="Courier New"/>
                <a:cs typeface="Courier New"/>
              </a:rPr>
              <a:t>;  void</a:t>
            </a:r>
            <a:r>
              <a:rPr sz="1867" spc="-33" dirty="0" smtClean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67" spc="-7" dirty="0" smtClean="0">
                <a:solidFill>
                  <a:srgbClr val="595959"/>
                </a:solidFill>
                <a:latin typeface="Courier New"/>
                <a:cs typeface="Courier New"/>
              </a:rPr>
              <a:t>main(void)</a:t>
            </a:r>
            <a:endParaRPr sz="1867" dirty="0" smtClean="0">
              <a:latin typeface="Courier New"/>
              <a:cs typeface="Courier New"/>
            </a:endParaRPr>
          </a:p>
          <a:p>
            <a:pPr marL="16933">
              <a:spcBef>
                <a:spcPts val="360"/>
              </a:spcBef>
            </a:pPr>
            <a:r>
              <a:rPr sz="1867" dirty="0" smtClean="0">
                <a:solidFill>
                  <a:srgbClr val="595959"/>
                </a:solidFill>
                <a:latin typeface="Courier New"/>
                <a:cs typeface="Courier New"/>
              </a:rPr>
              <a:t>{</a:t>
            </a:r>
            <a:endParaRPr sz="1867" dirty="0">
              <a:latin typeface="Courier New"/>
              <a:cs typeface="Courier New"/>
            </a:endParaRPr>
          </a:p>
          <a:p>
            <a:pPr marL="626518" marR="2708418">
              <a:lnSpc>
                <a:spcPct val="116100"/>
              </a:lnSpc>
            </a:pPr>
            <a:r>
              <a:rPr sz="1867" spc="-7" dirty="0">
                <a:solidFill>
                  <a:srgbClr val="595959"/>
                </a:solidFill>
                <a:latin typeface="Courier New"/>
                <a:cs typeface="Courier New"/>
              </a:rPr>
              <a:t>// Do something with color and position.  out_color</a:t>
            </a:r>
            <a:r>
              <a:rPr sz="1867" spc="-7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67" dirty="0">
                <a:solidFill>
                  <a:srgbClr val="595959"/>
                </a:solidFill>
                <a:latin typeface="Courier New"/>
                <a:cs typeface="Courier New"/>
              </a:rPr>
              <a:t>= </a:t>
            </a:r>
            <a:r>
              <a:rPr sz="1867" spc="-7" dirty="0">
                <a:solidFill>
                  <a:srgbClr val="595959"/>
                </a:solidFill>
                <a:latin typeface="Courier New"/>
                <a:cs typeface="Courier New"/>
              </a:rPr>
              <a:t>vec4(1.0, 0.0, 0.0,</a:t>
            </a:r>
            <a:r>
              <a:rPr sz="1867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Courier New"/>
                <a:cs typeface="Courier New"/>
              </a:rPr>
              <a:t>1.0);</a:t>
            </a:r>
            <a:endParaRPr sz="1867" dirty="0">
              <a:latin typeface="Courier New"/>
              <a:cs typeface="Courier New"/>
            </a:endParaRPr>
          </a:p>
          <a:p>
            <a:pPr marL="626518">
              <a:spcBef>
                <a:spcPts val="360"/>
              </a:spcBef>
            </a:pPr>
            <a:r>
              <a:rPr sz="1867" spc="-7" dirty="0">
                <a:solidFill>
                  <a:srgbClr val="595959"/>
                </a:solidFill>
                <a:latin typeface="Courier New"/>
                <a:cs typeface="Courier New"/>
              </a:rPr>
              <a:t>// Assign gl_Position</a:t>
            </a:r>
            <a:r>
              <a:rPr sz="1867" spc="-7" dirty="0">
                <a:solidFill>
                  <a:srgbClr val="595959"/>
                </a:solidFill>
                <a:latin typeface="Courier New"/>
                <a:cs typeface="Courier New"/>
              </a:rPr>
              <a:t> as position in homogenous clip</a:t>
            </a:r>
            <a:r>
              <a:rPr sz="1867" spc="-87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Courier New"/>
                <a:cs typeface="Courier New"/>
              </a:rPr>
              <a:t>space.</a:t>
            </a:r>
            <a:endParaRPr sz="1867" dirty="0">
              <a:latin typeface="Courier New"/>
              <a:cs typeface="Courier New"/>
            </a:endParaRPr>
          </a:p>
          <a:p>
            <a:pPr marL="16933">
              <a:spcBef>
                <a:spcPts val="360"/>
              </a:spcBef>
            </a:pPr>
            <a:r>
              <a:rPr sz="1867" dirty="0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sz="1867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96046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94560"/>
            <a:ext cx="109829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 smtClean="0"/>
              <a:t>Set active VBO with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glBindBuffer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Copy data into the bound VBO with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glBufferData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Specify which vertex attribute index to use, and the structure of the data with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glVertexAttribPointer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/>
              <a:t>()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Enable the attribute with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glEnableVertexAttribArray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marL="342900" indent="-342900">
              <a:buAutoNum type="arabicPeriod"/>
            </a:pP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611120" y="995680"/>
            <a:ext cx="7223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Steps to set up vertex data buffers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73828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lVertexAttribPointer(GLuint index,  GLint size,  GLenum type,  GLboolean normalized,  GLsizei stride,  const GLvoid * pointer);"/>
          <p:cNvSpPr txBox="1"/>
          <p:nvPr/>
        </p:nvSpPr>
        <p:spPr>
          <a:xfrm>
            <a:off x="1524000" y="2550919"/>
            <a:ext cx="7928264" cy="2214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marL="892937" indent="-892937">
              <a:spcBef>
                <a:spcPts val="3375"/>
              </a:spcBef>
              <a:defRPr sz="3300">
                <a:latin typeface="+mn-lt"/>
                <a:ea typeface="+mn-ea"/>
                <a:cs typeface="+mn-cs"/>
                <a:sym typeface="Baskerville"/>
              </a:defRPr>
            </a:pPr>
            <a:r>
              <a:rPr sz="2320" dirty="0" err="1">
                <a:latin typeface="Courier New"/>
                <a:ea typeface="Courier New"/>
                <a:cs typeface="Courier New"/>
                <a:sym typeface="Courier New"/>
              </a:rPr>
              <a:t>glVertexAttribPointer</a:t>
            </a:r>
            <a:r>
              <a:rPr sz="232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sz="2320" dirty="0" err="1">
                <a:latin typeface="Courier New"/>
                <a:ea typeface="Courier New"/>
                <a:cs typeface="Courier New"/>
                <a:sym typeface="Courier New"/>
              </a:rPr>
              <a:t>GLuint</a:t>
            </a:r>
            <a:r>
              <a:rPr sz="2320" dirty="0">
                <a:latin typeface="Courier New"/>
                <a:ea typeface="Courier New"/>
                <a:cs typeface="Courier New"/>
                <a:sym typeface="Courier New"/>
              </a:rPr>
              <a:t> index, </a:t>
            </a:r>
            <a:br>
              <a:rPr sz="232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sz="2320" dirty="0" err="1">
                <a:latin typeface="Courier New"/>
                <a:ea typeface="Courier New"/>
                <a:cs typeface="Courier New"/>
                <a:sym typeface="Courier New"/>
              </a:rPr>
              <a:t>GLint</a:t>
            </a:r>
            <a:r>
              <a:rPr sz="2320" dirty="0">
                <a:latin typeface="Courier New"/>
                <a:ea typeface="Courier New"/>
                <a:cs typeface="Courier New"/>
                <a:sym typeface="Courier New"/>
              </a:rPr>
              <a:t> size, </a:t>
            </a:r>
            <a:br>
              <a:rPr sz="232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sz="2320" dirty="0" err="1">
                <a:latin typeface="Courier New"/>
                <a:ea typeface="Courier New"/>
                <a:cs typeface="Courier New"/>
                <a:sym typeface="Courier New"/>
              </a:rPr>
              <a:t>GLenum</a:t>
            </a:r>
            <a:r>
              <a:rPr sz="2320" dirty="0">
                <a:latin typeface="Courier New"/>
                <a:ea typeface="Courier New"/>
                <a:cs typeface="Courier New"/>
                <a:sym typeface="Courier New"/>
              </a:rPr>
              <a:t> type, </a:t>
            </a:r>
            <a:br>
              <a:rPr sz="232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sz="2320" dirty="0" err="1">
                <a:latin typeface="Courier New"/>
                <a:ea typeface="Courier New"/>
                <a:cs typeface="Courier New"/>
                <a:sym typeface="Courier New"/>
              </a:rPr>
              <a:t>GLboolean</a:t>
            </a:r>
            <a:r>
              <a:rPr sz="2320" dirty="0">
                <a:latin typeface="Courier New"/>
                <a:ea typeface="Courier New"/>
                <a:cs typeface="Courier New"/>
                <a:sym typeface="Courier New"/>
              </a:rPr>
              <a:t> normalized, </a:t>
            </a:r>
            <a:br>
              <a:rPr sz="232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sz="2320" dirty="0" err="1">
                <a:latin typeface="Courier New"/>
                <a:ea typeface="Courier New"/>
                <a:cs typeface="Courier New"/>
                <a:sym typeface="Courier New"/>
              </a:rPr>
              <a:t>GLsizei</a:t>
            </a:r>
            <a:r>
              <a:rPr sz="2320" dirty="0">
                <a:latin typeface="Courier New"/>
                <a:ea typeface="Courier New"/>
                <a:cs typeface="Courier New"/>
                <a:sym typeface="Courier New"/>
              </a:rPr>
              <a:t> stride, </a:t>
            </a:r>
            <a:br>
              <a:rPr sz="232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sz="2320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sz="232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sz="2320" dirty="0" err="1">
                <a:latin typeface="Courier New"/>
                <a:ea typeface="Courier New"/>
                <a:cs typeface="Courier New"/>
                <a:sym typeface="Courier New"/>
              </a:rPr>
              <a:t>GLvoid</a:t>
            </a:r>
            <a:r>
              <a:rPr sz="2320" dirty="0">
                <a:latin typeface="Courier New"/>
                <a:ea typeface="Courier New"/>
                <a:cs typeface="Courier New"/>
                <a:sym typeface="Courier New"/>
              </a:rPr>
              <a:t> * pointer);</a:t>
            </a:r>
          </a:p>
        </p:txBody>
      </p:sp>
      <p:sp>
        <p:nvSpPr>
          <p:cNvPr id="99" name="which attribute how many values value type GL_FALSE…"/>
          <p:cNvSpPr txBox="1"/>
          <p:nvPr/>
        </p:nvSpPr>
        <p:spPr>
          <a:xfrm>
            <a:off x="7545363" y="2550919"/>
            <a:ext cx="3813802" cy="2214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algn="r">
              <a:defRPr sz="3300">
                <a:latin typeface="+mn-lt"/>
                <a:ea typeface="+mn-ea"/>
                <a:cs typeface="+mn-cs"/>
                <a:sym typeface="Baskerville"/>
              </a:defRPr>
            </a:pPr>
            <a:r>
              <a:rPr sz="2320" dirty="0"/>
              <a:t>which attribute</a:t>
            </a:r>
            <a:br>
              <a:rPr sz="2320" dirty="0"/>
            </a:br>
            <a:r>
              <a:rPr sz="2320" dirty="0"/>
              <a:t>how many values</a:t>
            </a:r>
            <a:br>
              <a:rPr sz="2320" dirty="0"/>
            </a:br>
            <a:r>
              <a:rPr sz="2320" dirty="0"/>
              <a:t>value type</a:t>
            </a:r>
            <a:br>
              <a:rPr sz="2320" dirty="0"/>
            </a:br>
            <a:r>
              <a:rPr sz="2320" dirty="0"/>
              <a:t>GL_FALSE</a:t>
            </a:r>
          </a:p>
          <a:p>
            <a:pPr algn="r">
              <a:defRPr sz="3300">
                <a:latin typeface="+mn-lt"/>
                <a:ea typeface="+mn-ea"/>
                <a:cs typeface="+mn-cs"/>
                <a:sym typeface="Baskerville"/>
              </a:defRPr>
            </a:pPr>
            <a:r>
              <a:rPr sz="2320" dirty="0"/>
              <a:t>size of individual vertex</a:t>
            </a:r>
            <a:br>
              <a:rPr sz="2320" dirty="0"/>
            </a:br>
            <a:r>
              <a:rPr sz="2320" dirty="0"/>
              <a:t>offset from beginning of vertex</a:t>
            </a:r>
          </a:p>
        </p:txBody>
      </p:sp>
      <p:sp>
        <p:nvSpPr>
          <p:cNvPr id="100" name="Oval"/>
          <p:cNvSpPr/>
          <p:nvPr/>
        </p:nvSpPr>
        <p:spPr>
          <a:xfrm>
            <a:off x="6575872" y="2300439"/>
            <a:ext cx="1249595" cy="892969"/>
          </a:xfrm>
          <a:prstGeom prst="ellips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</p:spTree>
    <p:extLst>
      <p:ext uri="{BB962C8B-B14F-4D97-AF65-F5344CB8AC3E}">
        <p14:creationId xmlns:p14="http://schemas.microsoft.com/office/powerpoint/2010/main" val="425313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Data Qualifi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Data Qualifiers</a:t>
            </a:r>
          </a:p>
        </p:txBody>
      </p:sp>
      <p:sp>
        <p:nvSpPr>
          <p:cNvPr id="105" name="layout – sets correspondence between an attribute pointer and a shader variable…"/>
          <p:cNvSpPr txBox="1">
            <a:spLocks noGrp="1"/>
          </p:cNvSpPr>
          <p:nvPr>
            <p:ph type="body" idx="1"/>
          </p:nvPr>
        </p:nvSpPr>
        <p:spPr>
          <a:xfrm>
            <a:off x="2416969" y="1946672"/>
            <a:ext cx="7358063" cy="471487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586787" indent="-363553">
              <a:defRPr sz="3700"/>
            </a:pPr>
            <a:r>
              <a:rPr>
                <a:latin typeface="Courier New"/>
                <a:ea typeface="Courier New"/>
                <a:cs typeface="Courier New"/>
                <a:sym typeface="Courier New"/>
              </a:rPr>
              <a:t>layout</a:t>
            </a:r>
            <a:r>
              <a:t> – sets correspondence between an attribute pointer and a shader variable</a:t>
            </a:r>
          </a:p>
          <a:p>
            <a:pPr marL="586787" indent="-363553">
              <a:defRPr sz="3700"/>
            </a:pPr>
            <a:r>
              <a:rPr>
                <a:latin typeface="Courier New"/>
                <a:ea typeface="Courier New"/>
                <a:cs typeface="Courier New"/>
                <a:sym typeface="Courier New"/>
              </a:rPr>
              <a:t>uniform</a:t>
            </a:r>
            <a:r>
              <a:t> – read-only value that does not change across the primitive being processed. Data that is constant for this given draw call (time, texture maps, model’s transform, view matrix, etc.)</a:t>
            </a:r>
          </a:p>
          <a:p>
            <a:pPr marL="586787" indent="-363553">
              <a:defRPr sz="3700"/>
            </a:pPr>
            <a:r>
              <a:rPr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t> – incoming data from a previous stage in the process</a:t>
            </a:r>
          </a:p>
          <a:p>
            <a:pPr marL="586787" indent="-363553">
              <a:defRPr sz="3700"/>
            </a:pPr>
            <a:r>
              <a:rPr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t> – data that will be sent to the next stage in the process</a:t>
            </a:r>
          </a:p>
        </p:txBody>
      </p:sp>
    </p:spTree>
    <p:extLst>
      <p:ext uri="{BB962C8B-B14F-4D97-AF65-F5344CB8AC3E}">
        <p14:creationId xmlns:p14="http://schemas.microsoft.com/office/powerpoint/2010/main" val="240991822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build="p" bldLvl="5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552958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Example: </a:t>
            </a:r>
            <a:r>
              <a:rPr spc="-7" dirty="0"/>
              <a:t>Linking</a:t>
            </a:r>
            <a:r>
              <a:rPr spc="-113" dirty="0"/>
              <a:t> </a:t>
            </a:r>
            <a:r>
              <a:rPr spc="-7" dirty="0"/>
              <a:t>Shaders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967" y="1624517"/>
            <a:ext cx="5032587" cy="22902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Vertex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shader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declarations:</a:t>
            </a:r>
            <a:endParaRPr sz="1867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1867">
              <a:latin typeface="Times New Roman"/>
              <a:cs typeface="Times New Roman"/>
            </a:endParaRPr>
          </a:p>
          <a:p>
            <a:pPr marL="16933" marR="6773">
              <a:lnSpc>
                <a:spcPct val="114599"/>
              </a:lnSpc>
            </a:pPr>
            <a:r>
              <a:rPr sz="1600" b="1" spc="-7" dirty="0">
                <a:solidFill>
                  <a:srgbClr val="595959"/>
                </a:solidFill>
                <a:latin typeface="Courier New"/>
                <a:cs typeface="Courier New"/>
              </a:rPr>
              <a:t>layout(location </a:t>
            </a:r>
            <a:r>
              <a:rPr sz="1600" b="1" dirty="0">
                <a:solidFill>
                  <a:srgbClr val="595959"/>
                </a:solidFill>
                <a:latin typeface="Courier New"/>
                <a:cs typeface="Courier New"/>
              </a:rPr>
              <a:t>= </a:t>
            </a:r>
            <a:r>
              <a:rPr sz="1600" b="1" spc="-7" dirty="0">
                <a:solidFill>
                  <a:srgbClr val="595959"/>
                </a:solidFill>
                <a:latin typeface="Courier New"/>
                <a:cs typeface="Courier New"/>
              </a:rPr>
              <a:t>0) in vec3 in_position;  layout(location </a:t>
            </a:r>
            <a:r>
              <a:rPr sz="1600" b="1" dirty="0">
                <a:solidFill>
                  <a:srgbClr val="595959"/>
                </a:solidFill>
                <a:latin typeface="Courier New"/>
                <a:cs typeface="Courier New"/>
              </a:rPr>
              <a:t>= </a:t>
            </a:r>
            <a:r>
              <a:rPr sz="1600" b="1" spc="-7" dirty="0">
                <a:solidFill>
                  <a:srgbClr val="595959"/>
                </a:solidFill>
                <a:latin typeface="Courier New"/>
                <a:cs typeface="Courier New"/>
              </a:rPr>
              <a:t>1) in vec3 in_color;  layout(location </a:t>
            </a:r>
            <a:r>
              <a:rPr sz="1600" b="1" dirty="0">
                <a:solidFill>
                  <a:srgbClr val="595959"/>
                </a:solidFill>
                <a:latin typeface="Courier New"/>
                <a:cs typeface="Courier New"/>
              </a:rPr>
              <a:t>= </a:t>
            </a:r>
            <a:r>
              <a:rPr sz="1600" b="1" spc="-7" dirty="0">
                <a:solidFill>
                  <a:srgbClr val="595959"/>
                </a:solidFill>
                <a:latin typeface="Courier New"/>
                <a:cs typeface="Courier New"/>
              </a:rPr>
              <a:t>2) in vec2</a:t>
            </a:r>
            <a:r>
              <a:rPr sz="1600" b="1" spc="-1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600" b="1" spc="-7" dirty="0">
                <a:solidFill>
                  <a:srgbClr val="595959"/>
                </a:solidFill>
                <a:latin typeface="Courier New"/>
                <a:cs typeface="Courier New"/>
              </a:rPr>
              <a:t>in_texcoord;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7"/>
              </a:spcBef>
            </a:pPr>
            <a:endParaRPr sz="2067">
              <a:latin typeface="Times New Roman"/>
              <a:cs typeface="Times New Roman"/>
            </a:endParaRPr>
          </a:p>
          <a:p>
            <a:pPr marL="16933"/>
            <a:r>
              <a:rPr sz="1600" b="1" spc="-7" dirty="0">
                <a:solidFill>
                  <a:srgbClr val="595959"/>
                </a:solidFill>
                <a:latin typeface="Courier New"/>
                <a:cs typeface="Courier New"/>
              </a:rPr>
              <a:t>out vec3</a:t>
            </a:r>
            <a:r>
              <a:rPr sz="1600" b="1" spc="-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600" b="1" spc="-7" dirty="0">
                <a:solidFill>
                  <a:srgbClr val="595959"/>
                </a:solidFill>
                <a:latin typeface="Courier New"/>
                <a:cs typeface="Courier New"/>
              </a:rPr>
              <a:t>color;</a:t>
            </a:r>
            <a:endParaRPr sz="1600">
              <a:latin typeface="Courier New"/>
              <a:cs typeface="Courier New"/>
            </a:endParaRPr>
          </a:p>
          <a:p>
            <a:pPr marL="16933">
              <a:spcBef>
                <a:spcPts val="280"/>
              </a:spcBef>
            </a:pPr>
            <a:r>
              <a:rPr sz="1600" b="1" spc="-7" dirty="0">
                <a:solidFill>
                  <a:srgbClr val="595959"/>
                </a:solidFill>
                <a:latin typeface="Courier New"/>
                <a:cs typeface="Courier New"/>
              </a:rPr>
              <a:t>out vec2</a:t>
            </a:r>
            <a:r>
              <a:rPr sz="1600" b="1" spc="-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600" b="1" spc="-7" dirty="0">
                <a:solidFill>
                  <a:srgbClr val="595959"/>
                </a:solidFill>
                <a:latin typeface="Courier New"/>
                <a:cs typeface="Courier New"/>
              </a:rPr>
              <a:t>texcoord0;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8" y="1624517"/>
            <a:ext cx="3245273" cy="11635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Fragment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shader</a:t>
            </a:r>
            <a:r>
              <a:rPr sz="1867" spc="-1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declarations:</a:t>
            </a:r>
            <a:endParaRPr sz="1867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2133">
              <a:latin typeface="Times New Roman"/>
              <a:cs typeface="Times New Roman"/>
            </a:endParaRPr>
          </a:p>
          <a:p>
            <a:pPr marL="16933"/>
            <a:r>
              <a:rPr sz="1600" b="1" spc="-7" dirty="0">
                <a:solidFill>
                  <a:srgbClr val="595959"/>
                </a:solidFill>
                <a:latin typeface="Courier New"/>
                <a:cs typeface="Courier New"/>
              </a:rPr>
              <a:t>in vec3</a:t>
            </a:r>
            <a:r>
              <a:rPr sz="1600" b="1" spc="-27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600" b="1" spc="-7" dirty="0">
                <a:solidFill>
                  <a:srgbClr val="595959"/>
                </a:solidFill>
                <a:latin typeface="Courier New"/>
                <a:cs typeface="Courier New"/>
              </a:rPr>
              <a:t>color;</a:t>
            </a:r>
            <a:endParaRPr sz="1600">
              <a:latin typeface="Courier New"/>
              <a:cs typeface="Courier New"/>
            </a:endParaRPr>
          </a:p>
          <a:p>
            <a:pPr marL="16933">
              <a:spcBef>
                <a:spcPts val="280"/>
              </a:spcBef>
            </a:pPr>
            <a:r>
              <a:rPr sz="1600" b="1" spc="-7" dirty="0">
                <a:solidFill>
                  <a:srgbClr val="595959"/>
                </a:solidFill>
                <a:latin typeface="Courier New"/>
                <a:cs typeface="Courier New"/>
              </a:rPr>
              <a:t>in vec2</a:t>
            </a:r>
            <a:r>
              <a:rPr sz="1600" b="1" spc="-33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600" b="1" spc="-7" dirty="0">
                <a:solidFill>
                  <a:srgbClr val="595959"/>
                </a:solidFill>
                <a:latin typeface="Courier New"/>
                <a:cs typeface="Courier New"/>
              </a:rPr>
              <a:t>texcoord0;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48333" y="2443474"/>
            <a:ext cx="3774440" cy="1042247"/>
          </a:xfrm>
          <a:custGeom>
            <a:avLst/>
            <a:gdLst/>
            <a:ahLst/>
            <a:cxnLst/>
            <a:rect l="l" t="t" r="r" b="b"/>
            <a:pathLst>
              <a:path w="2830829" h="781685">
                <a:moveTo>
                  <a:pt x="0" y="781294"/>
                </a:moveTo>
                <a:lnTo>
                  <a:pt x="283060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6316899" y="2423253"/>
            <a:ext cx="61807" cy="40640"/>
          </a:xfrm>
          <a:custGeom>
            <a:avLst/>
            <a:gdLst/>
            <a:ahLst/>
            <a:cxnLst/>
            <a:rect l="l" t="t" r="r" b="b"/>
            <a:pathLst>
              <a:path w="46354" h="30480">
                <a:moveTo>
                  <a:pt x="8371" y="30331"/>
                </a:moveTo>
                <a:lnTo>
                  <a:pt x="0" y="0"/>
                </a:lnTo>
                <a:lnTo>
                  <a:pt x="45853" y="3664"/>
                </a:lnTo>
                <a:lnTo>
                  <a:pt x="8371" y="3033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316899" y="2423253"/>
            <a:ext cx="61807" cy="40640"/>
          </a:xfrm>
          <a:custGeom>
            <a:avLst/>
            <a:gdLst/>
            <a:ahLst/>
            <a:cxnLst/>
            <a:rect l="l" t="t" r="r" b="b"/>
            <a:pathLst>
              <a:path w="46354" h="30480">
                <a:moveTo>
                  <a:pt x="8371" y="30331"/>
                </a:moveTo>
                <a:lnTo>
                  <a:pt x="45853" y="3664"/>
                </a:lnTo>
                <a:lnTo>
                  <a:pt x="0" y="0"/>
                </a:lnTo>
                <a:lnTo>
                  <a:pt x="8371" y="30331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2973032" y="2794202"/>
            <a:ext cx="3374813" cy="966047"/>
          </a:xfrm>
          <a:custGeom>
            <a:avLst/>
            <a:gdLst/>
            <a:ahLst/>
            <a:cxnLst/>
            <a:rect l="l" t="t" r="r" b="b"/>
            <a:pathLst>
              <a:path w="2531110" h="724535">
                <a:moveTo>
                  <a:pt x="0" y="724373"/>
                </a:moveTo>
                <a:lnTo>
                  <a:pt x="2530756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341602" y="2774033"/>
            <a:ext cx="61807" cy="40640"/>
          </a:xfrm>
          <a:custGeom>
            <a:avLst/>
            <a:gdLst/>
            <a:ahLst/>
            <a:cxnLst/>
            <a:rect l="l" t="t" r="r" b="b"/>
            <a:pathLst>
              <a:path w="46354" h="30480">
                <a:moveTo>
                  <a:pt x="8658" y="30250"/>
                </a:moveTo>
                <a:lnTo>
                  <a:pt x="0" y="0"/>
                </a:lnTo>
                <a:lnTo>
                  <a:pt x="45885" y="3230"/>
                </a:lnTo>
                <a:lnTo>
                  <a:pt x="8658" y="3025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341602" y="2774033"/>
            <a:ext cx="61807" cy="40640"/>
          </a:xfrm>
          <a:custGeom>
            <a:avLst/>
            <a:gdLst/>
            <a:ahLst/>
            <a:cxnLst/>
            <a:rect l="l" t="t" r="r" b="b"/>
            <a:pathLst>
              <a:path w="46354" h="30480">
                <a:moveTo>
                  <a:pt x="8658" y="30250"/>
                </a:moveTo>
                <a:lnTo>
                  <a:pt x="45885" y="3230"/>
                </a:lnTo>
                <a:lnTo>
                  <a:pt x="0" y="0"/>
                </a:lnTo>
                <a:lnTo>
                  <a:pt x="8658" y="3025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5678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creen"/>
          <p:cNvSpPr/>
          <p:nvPr/>
        </p:nvSpPr>
        <p:spPr>
          <a:xfrm>
            <a:off x="9442650" y="3292464"/>
            <a:ext cx="942547" cy="892969"/>
          </a:xfrm>
          <a:prstGeom prst="rect">
            <a:avLst/>
          </a:prstGeom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sz="3600">
                <a:latin typeface="+mn-lt"/>
                <a:ea typeface="+mn-ea"/>
                <a:cs typeface="+mn-cs"/>
                <a:sym typeface="Baskerville"/>
              </a:defRPr>
            </a:lvl1pPr>
          </a:lstStyle>
          <a:p>
            <a:r>
              <a:rPr sz="2531"/>
              <a:t>screen</a:t>
            </a:r>
          </a:p>
        </p:txBody>
      </p:sp>
      <p:sp>
        <p:nvSpPr>
          <p:cNvPr id="110" name="CPU"/>
          <p:cNvSpPr/>
          <p:nvPr/>
        </p:nvSpPr>
        <p:spPr>
          <a:xfrm>
            <a:off x="1995433" y="1171965"/>
            <a:ext cx="942547" cy="892969"/>
          </a:xfrm>
          <a:prstGeom prst="rect">
            <a:avLst/>
          </a:prstGeom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sz="3600">
                <a:latin typeface="+mn-lt"/>
                <a:ea typeface="+mn-ea"/>
                <a:cs typeface="+mn-cs"/>
                <a:sym typeface="Baskerville"/>
              </a:defRPr>
            </a:lvl1pPr>
          </a:lstStyle>
          <a:p>
            <a:r>
              <a:rPr sz="2531"/>
              <a:t>CPU</a:t>
            </a:r>
          </a:p>
        </p:txBody>
      </p:sp>
      <p:sp>
        <p:nvSpPr>
          <p:cNvPr id="111" name="Rectangle"/>
          <p:cNvSpPr/>
          <p:nvPr/>
        </p:nvSpPr>
        <p:spPr>
          <a:xfrm>
            <a:off x="3435316" y="1376159"/>
            <a:ext cx="5321368" cy="4105682"/>
          </a:xfrm>
          <a:prstGeom prst="rect">
            <a:avLst/>
          </a:prstGeom>
          <a:solidFill>
            <a:srgbClr val="DCDEE0"/>
          </a:solidFill>
          <a:ln w="381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600">
                <a:latin typeface="+mn-lt"/>
                <a:ea typeface="+mn-ea"/>
                <a:cs typeface="+mn-cs"/>
                <a:sym typeface="Baskerville"/>
              </a:defRPr>
            </a:pPr>
            <a:endParaRPr sz="2531"/>
          </a:p>
        </p:txBody>
      </p:sp>
      <p:sp>
        <p:nvSpPr>
          <p:cNvPr id="112" name="Rectangle"/>
          <p:cNvSpPr/>
          <p:nvPr/>
        </p:nvSpPr>
        <p:spPr>
          <a:xfrm>
            <a:off x="3556551" y="2913590"/>
            <a:ext cx="2291621" cy="232276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600">
                <a:latin typeface="+mn-lt"/>
                <a:ea typeface="+mn-ea"/>
                <a:cs typeface="+mn-cs"/>
                <a:sym typeface="Baskerville"/>
              </a:defRPr>
            </a:pPr>
            <a:endParaRPr sz="2531"/>
          </a:p>
        </p:txBody>
      </p:sp>
      <p:sp>
        <p:nvSpPr>
          <p:cNvPr id="113" name="Shader Program"/>
          <p:cNvSpPr txBox="1"/>
          <p:nvPr/>
        </p:nvSpPr>
        <p:spPr>
          <a:xfrm>
            <a:off x="4809628" y="923107"/>
            <a:ext cx="1128963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Baskerville"/>
              </a:defRPr>
            </a:lvl1pPr>
          </a:lstStyle>
          <a:p>
            <a:r>
              <a:rPr sz="1266"/>
              <a:t>Shader Program</a:t>
            </a:r>
          </a:p>
        </p:txBody>
      </p:sp>
      <p:sp>
        <p:nvSpPr>
          <p:cNvPr id="114" name="Vertex…"/>
          <p:cNvSpPr txBox="1"/>
          <p:nvPr/>
        </p:nvSpPr>
        <p:spPr>
          <a:xfrm>
            <a:off x="4201714" y="2106030"/>
            <a:ext cx="992259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3600">
                <a:latin typeface="+mn-lt"/>
                <a:ea typeface="+mn-ea"/>
                <a:cs typeface="+mn-cs"/>
                <a:sym typeface="Baskerville"/>
              </a:defRPr>
            </a:pPr>
            <a:r>
              <a:rPr sz="2531"/>
              <a:t>Vertex</a:t>
            </a:r>
          </a:p>
          <a:p>
            <a:pPr>
              <a:defRPr sz="3600">
                <a:latin typeface="+mn-lt"/>
                <a:ea typeface="+mn-ea"/>
                <a:cs typeface="+mn-cs"/>
                <a:sym typeface="Baskerville"/>
              </a:defRPr>
            </a:pPr>
            <a:r>
              <a:rPr sz="2531"/>
              <a:t>Shader</a:t>
            </a:r>
          </a:p>
        </p:txBody>
      </p:sp>
      <p:sp>
        <p:nvSpPr>
          <p:cNvPr id="115" name="Fragment…"/>
          <p:cNvSpPr txBox="1"/>
          <p:nvPr/>
        </p:nvSpPr>
        <p:spPr>
          <a:xfrm>
            <a:off x="6788702" y="2106030"/>
            <a:ext cx="1333635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3600">
                <a:latin typeface="+mn-lt"/>
                <a:ea typeface="+mn-ea"/>
                <a:cs typeface="+mn-cs"/>
                <a:sym typeface="Baskerville"/>
              </a:defRPr>
            </a:pPr>
            <a:r>
              <a:rPr sz="2531"/>
              <a:t>Fragment</a:t>
            </a:r>
          </a:p>
          <a:p>
            <a:pPr>
              <a:defRPr sz="3600">
                <a:latin typeface="+mn-lt"/>
                <a:ea typeface="+mn-ea"/>
                <a:cs typeface="+mn-cs"/>
                <a:sym typeface="Baskerville"/>
              </a:defRPr>
            </a:pPr>
            <a:r>
              <a:rPr sz="2531"/>
              <a:t>Shader</a:t>
            </a:r>
          </a:p>
        </p:txBody>
      </p:sp>
      <p:sp>
        <p:nvSpPr>
          <p:cNvPr id="116" name="Rectangle"/>
          <p:cNvSpPr/>
          <p:nvPr/>
        </p:nvSpPr>
        <p:spPr>
          <a:xfrm>
            <a:off x="6343828" y="2913590"/>
            <a:ext cx="2291622" cy="232276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600">
                <a:latin typeface="+mn-lt"/>
                <a:ea typeface="+mn-ea"/>
                <a:cs typeface="+mn-cs"/>
                <a:sym typeface="Baskerville"/>
              </a:defRPr>
            </a:pPr>
            <a:endParaRPr sz="2531"/>
          </a:p>
        </p:txBody>
      </p:sp>
      <p:sp>
        <p:nvSpPr>
          <p:cNvPr id="117" name="in: “this” vert in…"/>
          <p:cNvSpPr txBox="1"/>
          <p:nvPr/>
        </p:nvSpPr>
        <p:spPr>
          <a:xfrm>
            <a:off x="3673633" y="2929799"/>
            <a:ext cx="1983300" cy="626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lnSpc>
                <a:spcPct val="80000"/>
              </a:lnSpc>
              <a:defRPr sz="3200">
                <a:latin typeface="+mn-lt"/>
                <a:ea typeface="+mn-ea"/>
                <a:cs typeface="+mn-cs"/>
                <a:sym typeface="Baskerville"/>
              </a:defRPr>
            </a:pPr>
            <a:r>
              <a:rPr sz="2250"/>
              <a:t>in: “this” vert in </a:t>
            </a:r>
          </a:p>
          <a:p>
            <a:pPr>
              <a:lnSpc>
                <a:spcPct val="80000"/>
              </a:lnSpc>
              <a:defRPr sz="3200">
                <a:latin typeface="+mn-lt"/>
                <a:ea typeface="+mn-ea"/>
                <a:cs typeface="+mn-cs"/>
                <a:sym typeface="Baskerville"/>
              </a:defRPr>
            </a:pPr>
            <a:r>
              <a:rPr sz="2250"/>
              <a:t>model space</a:t>
            </a:r>
          </a:p>
        </p:txBody>
      </p:sp>
      <p:sp>
        <p:nvSpPr>
          <p:cNvPr id="118" name="Line"/>
          <p:cNvSpPr/>
          <p:nvPr/>
        </p:nvSpPr>
        <p:spPr>
          <a:xfrm>
            <a:off x="2959341" y="1853539"/>
            <a:ext cx="714292" cy="136008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19" name="uniform…"/>
          <p:cNvSpPr txBox="1"/>
          <p:nvPr/>
        </p:nvSpPr>
        <p:spPr>
          <a:xfrm>
            <a:off x="5489507" y="1365477"/>
            <a:ext cx="1243995" cy="695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lnSpc>
                <a:spcPct val="80000"/>
              </a:lnSpc>
              <a:defRPr sz="3600">
                <a:latin typeface="+mn-lt"/>
                <a:ea typeface="+mn-ea"/>
                <a:cs typeface="+mn-cs"/>
                <a:sym typeface="Baskerville"/>
              </a:defRPr>
            </a:pPr>
            <a:r>
              <a:rPr sz="2531"/>
              <a:t>uniform</a:t>
            </a:r>
          </a:p>
          <a:p>
            <a:pPr>
              <a:lnSpc>
                <a:spcPct val="80000"/>
              </a:lnSpc>
              <a:defRPr sz="3600">
                <a:latin typeface="+mn-lt"/>
                <a:ea typeface="+mn-ea"/>
                <a:cs typeface="+mn-cs"/>
                <a:sym typeface="Baskerville"/>
              </a:defRPr>
            </a:pPr>
            <a:r>
              <a:rPr sz="2531"/>
              <a:t>variables</a:t>
            </a:r>
          </a:p>
        </p:txBody>
      </p:sp>
      <p:sp>
        <p:nvSpPr>
          <p:cNvPr id="120" name="Line"/>
          <p:cNvSpPr/>
          <p:nvPr/>
        </p:nvSpPr>
        <p:spPr>
          <a:xfrm>
            <a:off x="6738827" y="1929682"/>
            <a:ext cx="404943" cy="21920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1" name="Line"/>
          <p:cNvSpPr/>
          <p:nvPr/>
        </p:nvSpPr>
        <p:spPr>
          <a:xfrm flipH="1">
            <a:off x="5079425" y="1929682"/>
            <a:ext cx="404942" cy="21920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2" name="out: vert in screen…"/>
          <p:cNvSpPr txBox="1"/>
          <p:nvPr/>
        </p:nvSpPr>
        <p:spPr>
          <a:xfrm>
            <a:off x="3557408" y="3547322"/>
            <a:ext cx="2289907" cy="1180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lnSpc>
                <a:spcPct val="80000"/>
              </a:lnSpc>
              <a:defRPr sz="3200">
                <a:latin typeface="+mn-lt"/>
                <a:ea typeface="+mn-ea"/>
                <a:cs typeface="+mn-cs"/>
                <a:sym typeface="Baskerville"/>
              </a:defRPr>
            </a:pPr>
            <a:r>
              <a:rPr sz="2250"/>
              <a:t>out: vert in screen</a:t>
            </a:r>
          </a:p>
          <a:p>
            <a:pPr>
              <a:lnSpc>
                <a:spcPct val="80000"/>
              </a:lnSpc>
              <a:defRPr sz="3200">
                <a:latin typeface="+mn-lt"/>
                <a:ea typeface="+mn-ea"/>
                <a:cs typeface="+mn-cs"/>
                <a:sym typeface="Baskerville"/>
              </a:defRPr>
            </a:pPr>
            <a:r>
              <a:rPr sz="2250"/>
              <a:t>space, plus vert</a:t>
            </a:r>
          </a:p>
          <a:p>
            <a:pPr>
              <a:lnSpc>
                <a:spcPct val="80000"/>
              </a:lnSpc>
              <a:defRPr sz="3200">
                <a:latin typeface="+mn-lt"/>
                <a:ea typeface="+mn-ea"/>
                <a:cs typeface="+mn-cs"/>
                <a:sym typeface="Baskerville"/>
              </a:defRPr>
            </a:pPr>
            <a:r>
              <a:rPr sz="2250"/>
              <a:t>data to be</a:t>
            </a:r>
          </a:p>
          <a:p>
            <a:pPr>
              <a:lnSpc>
                <a:spcPct val="80000"/>
              </a:lnSpc>
              <a:defRPr sz="3200">
                <a:latin typeface="+mn-lt"/>
                <a:ea typeface="+mn-ea"/>
                <a:cs typeface="+mn-cs"/>
                <a:sym typeface="Baskerville"/>
              </a:defRPr>
            </a:pPr>
            <a:r>
              <a:rPr sz="2250"/>
              <a:t>interpolated</a:t>
            </a:r>
          </a:p>
        </p:txBody>
      </p:sp>
      <p:sp>
        <p:nvSpPr>
          <p:cNvPr id="123" name="in: interpolated values for “this”…"/>
          <p:cNvSpPr txBox="1"/>
          <p:nvPr/>
        </p:nvSpPr>
        <p:spPr>
          <a:xfrm>
            <a:off x="6380822" y="2918053"/>
            <a:ext cx="2178161" cy="1006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lnSpc>
                <a:spcPct val="80000"/>
              </a:lnSpc>
              <a:defRPr sz="3600">
                <a:latin typeface="+mn-lt"/>
                <a:ea typeface="+mn-ea"/>
                <a:cs typeface="+mn-cs"/>
                <a:sym typeface="Baskerville"/>
              </a:defRPr>
            </a:pPr>
            <a:r>
              <a:rPr sz="2531"/>
              <a:t>in: interpolated</a:t>
            </a:r>
            <a:br>
              <a:rPr sz="2531"/>
            </a:br>
            <a:r>
              <a:rPr sz="2531"/>
              <a:t>values for “this”</a:t>
            </a:r>
          </a:p>
          <a:p>
            <a:pPr>
              <a:lnSpc>
                <a:spcPct val="80000"/>
              </a:lnSpc>
              <a:defRPr sz="3600">
                <a:latin typeface="+mn-lt"/>
                <a:ea typeface="+mn-ea"/>
                <a:cs typeface="+mn-cs"/>
                <a:sym typeface="Baskerville"/>
              </a:defRPr>
            </a:pPr>
            <a:r>
              <a:rPr sz="2531"/>
              <a:t>pixel</a:t>
            </a:r>
          </a:p>
        </p:txBody>
      </p:sp>
      <p:sp>
        <p:nvSpPr>
          <p:cNvPr id="124" name="Line"/>
          <p:cNvSpPr/>
          <p:nvPr/>
        </p:nvSpPr>
        <p:spPr>
          <a:xfrm flipV="1">
            <a:off x="5784819" y="3343062"/>
            <a:ext cx="627943" cy="65918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" name="gl_Position"/>
          <p:cNvSpPr txBox="1"/>
          <p:nvPr/>
        </p:nvSpPr>
        <p:spPr>
          <a:xfrm>
            <a:off x="3806896" y="4734099"/>
            <a:ext cx="1562480" cy="383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lnSpc>
                <a:spcPct val="80000"/>
              </a:lnSpc>
              <a:defRPr sz="3600" b="1">
                <a:latin typeface="+mn-lt"/>
                <a:ea typeface="+mn-ea"/>
                <a:cs typeface="+mn-cs"/>
                <a:sym typeface="Baskerville"/>
              </a:defRPr>
            </a:lvl1pPr>
          </a:lstStyle>
          <a:p>
            <a:r>
              <a:rPr sz="2531"/>
              <a:t>gl_Position</a:t>
            </a:r>
          </a:p>
        </p:txBody>
      </p:sp>
      <p:sp>
        <p:nvSpPr>
          <p:cNvPr id="126" name="Line"/>
          <p:cNvSpPr/>
          <p:nvPr/>
        </p:nvSpPr>
        <p:spPr>
          <a:xfrm flipV="1">
            <a:off x="8561476" y="3845321"/>
            <a:ext cx="855534" cy="85553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7" name="out: color"/>
          <p:cNvSpPr txBox="1"/>
          <p:nvPr/>
        </p:nvSpPr>
        <p:spPr>
          <a:xfrm>
            <a:off x="6788702" y="4434334"/>
            <a:ext cx="1348639" cy="383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lnSpc>
                <a:spcPct val="80000"/>
              </a:lnSpc>
              <a:defRPr sz="3600">
                <a:latin typeface="+mn-lt"/>
                <a:ea typeface="+mn-ea"/>
                <a:cs typeface="+mn-cs"/>
                <a:sym typeface="Baskerville"/>
              </a:defRPr>
            </a:lvl1pPr>
          </a:lstStyle>
          <a:p>
            <a:r>
              <a:rPr sz="2531"/>
              <a:t>out: color</a:t>
            </a:r>
          </a:p>
        </p:txBody>
      </p:sp>
      <p:sp>
        <p:nvSpPr>
          <p:cNvPr id="128" name="Line"/>
          <p:cNvSpPr/>
          <p:nvPr/>
        </p:nvSpPr>
        <p:spPr>
          <a:xfrm>
            <a:off x="2959341" y="1540115"/>
            <a:ext cx="2497982" cy="2022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</p:spTree>
    <p:extLst>
      <p:ext uri="{BB962C8B-B14F-4D97-AF65-F5344CB8AC3E}">
        <p14:creationId xmlns:p14="http://schemas.microsoft.com/office/powerpoint/2010/main" val="1479496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yp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</a:t>
            </a:r>
          </a:p>
        </p:txBody>
      </p:sp>
      <p:graphicFrame>
        <p:nvGraphicFramePr>
          <p:cNvPr id="131" name="Table"/>
          <p:cNvGraphicFramePr/>
          <p:nvPr/>
        </p:nvGraphicFramePr>
        <p:xfrm>
          <a:off x="2783086" y="2089547"/>
          <a:ext cx="6616899" cy="4170159"/>
        </p:xfrm>
        <a:graphic>
          <a:graphicData uri="http://schemas.openxmlformats.org/drawingml/2006/table">
            <a:tbl>
              <a:tblPr/>
              <a:tblGrid>
                <a:gridCol w="220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5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5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737">
                <a:tc>
                  <a:txBody>
                    <a:bodyPr/>
                    <a:lstStyle/>
                    <a:p>
                      <a:pPr lvl="1" indent="0">
                        <a:spcBef>
                          <a:spcPts val="2400"/>
                        </a:spcBef>
                        <a:defRPr sz="26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rPr sz="1800"/>
                        <a:t>void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indent="0">
                        <a:spcBef>
                          <a:spcPts val="2400"/>
                        </a:spcBef>
                        <a:defRPr sz="26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rPr sz="1800"/>
                        <a:t>mat4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bvec2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737">
                <a:tc>
                  <a:txBody>
                    <a:bodyPr/>
                    <a:lstStyle/>
                    <a:p>
                      <a:pPr lvl="1" indent="0">
                        <a:spcBef>
                          <a:spcPts val="2400"/>
                        </a:spcBef>
                        <a:defRPr sz="26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rPr sz="1800"/>
                        <a:t>float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vec2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bvec3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737">
                <a:tc>
                  <a:txBody>
                    <a:bodyPr/>
                    <a:lstStyle/>
                    <a:p>
                      <a:pPr lvl="1" indent="0">
                        <a:spcBef>
                          <a:spcPts val="2400"/>
                        </a:spcBef>
                        <a:defRPr sz="26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rPr sz="1800"/>
                        <a:t>int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vec3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bvec4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737">
                <a:tc>
                  <a:txBody>
                    <a:bodyPr/>
                    <a:lstStyle/>
                    <a:p>
                      <a:pPr lvl="1" indent="0">
                        <a:spcBef>
                          <a:spcPts val="2400"/>
                        </a:spcBef>
                        <a:defRPr sz="26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rPr sz="1800"/>
                        <a:t>void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vec4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sampler2D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737">
                <a:tc>
                  <a:txBody>
                    <a:bodyPr/>
                    <a:lstStyle/>
                    <a:p>
                      <a:pPr lvl="1" indent="0">
                        <a:spcBef>
                          <a:spcPts val="2400"/>
                        </a:spcBef>
                        <a:defRPr sz="26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rPr sz="1800"/>
                        <a:t>bool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ivec2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struct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737">
                <a:tc>
                  <a:txBody>
                    <a:bodyPr/>
                    <a:lstStyle/>
                    <a:p>
                      <a:pPr lvl="1" indent="0">
                        <a:spcBef>
                          <a:spcPts val="2400"/>
                        </a:spcBef>
                        <a:defRPr sz="26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rPr sz="1800"/>
                        <a:t>mat2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ivec3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float x[5];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5737">
                <a:tc>
                  <a:txBody>
                    <a:bodyPr/>
                    <a:lstStyle/>
                    <a:p>
                      <a:pPr lvl="1" indent="0">
                        <a:spcBef>
                          <a:spcPts val="2400"/>
                        </a:spcBef>
                        <a:defRPr sz="26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rPr sz="1800"/>
                        <a:t>mat3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ivec4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635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635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1570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6" y="626078"/>
            <a:ext cx="345959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Vector</a:t>
            </a:r>
            <a:r>
              <a:rPr spc="-120" dirty="0"/>
              <a:t> </a:t>
            </a:r>
            <a:r>
              <a:rPr spc="-7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49745"/>
            <a:ext cx="8881533" cy="39144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Shading language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vector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types offer different access</a:t>
            </a:r>
            <a:r>
              <a:rPr sz="2400" spc="-1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patterns.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{ x, y, z, w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}, typically used for positions or</a:t>
            </a:r>
            <a:r>
              <a:rPr sz="1867" spc="-6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normals.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{ r,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g, b,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}, typically used for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colors.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{ s,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t, p,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q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}, typically used for texture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coordinates.</a:t>
            </a:r>
            <a:endParaRPr sz="1867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Swizzling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By definition,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rearranging components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vector.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Given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vector = vec4(1.0,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2.0, 3.0,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4.0)</a:t>
            </a:r>
            <a:endParaRPr sz="1867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vector.xxxx = {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1.0, 1.0, 1.0, 1.0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}</a:t>
            </a:r>
            <a:endParaRPr sz="1867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vector.wzyx = {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4.0, 3.0, 2.0, 1.0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}</a:t>
            </a:r>
            <a:endParaRPr sz="1867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vector.yyzz = {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3.0, 3.0, 4.0, 4.0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}</a:t>
            </a:r>
            <a:endParaRPr sz="1867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so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on...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729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tru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Structure</a:t>
            </a:r>
          </a:p>
        </p:txBody>
      </p:sp>
      <p:sp>
        <p:nvSpPr>
          <p:cNvPr id="139" name="statements and declaration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statements and declarations</a:t>
            </a:r>
          </a:p>
          <a:p>
            <a:r>
              <a:t>function definitions</a:t>
            </a:r>
          </a:p>
          <a:p>
            <a:r>
              <a:t>selection (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t>-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t> and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t>-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t>-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t>)</a:t>
            </a:r>
          </a:p>
          <a:p>
            <a:r>
              <a:t>iteration (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t>,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t>, and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do</a:t>
            </a:r>
            <a:r>
              <a:t>-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t>)</a:t>
            </a:r>
          </a:p>
          <a:p>
            <a:r>
              <a:t>jumps (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discard</a:t>
            </a:r>
            <a:r>
              <a:t>,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t>,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t>, and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3024085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build="p" bldLvl="5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Built-in Func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Built-in Functions</a:t>
            </a:r>
          </a:p>
        </p:txBody>
      </p:sp>
      <p:sp>
        <p:nvSpPr>
          <p:cNvPr id="144" name="radians(deg)…"/>
          <p:cNvSpPr txBox="1">
            <a:spLocks noGrp="1"/>
          </p:cNvSpPr>
          <p:nvPr>
            <p:ph type="body" idx="1"/>
          </p:nvPr>
        </p:nvSpPr>
        <p:spPr>
          <a:xfrm>
            <a:off x="2416969" y="1933659"/>
            <a:ext cx="7358063" cy="4777384"/>
          </a:xfrm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>
              <a:spcBef>
                <a:spcPts val="703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radians(deg)</a:t>
            </a:r>
          </a:p>
          <a:p>
            <a:pPr>
              <a:spcBef>
                <a:spcPts val="703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degrees(rad)</a:t>
            </a:r>
          </a:p>
          <a:p>
            <a:pPr>
              <a:spcBef>
                <a:spcPts val="703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sin(angle)</a:t>
            </a:r>
          </a:p>
          <a:p>
            <a:pPr>
              <a:spcBef>
                <a:spcPts val="703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cos(angle)</a:t>
            </a:r>
          </a:p>
          <a:p>
            <a:pPr>
              <a:spcBef>
                <a:spcPts val="703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tan(angle)</a:t>
            </a:r>
          </a:p>
          <a:p>
            <a:pPr>
              <a:spcBef>
                <a:spcPts val="703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asin(x)</a:t>
            </a:r>
          </a:p>
          <a:p>
            <a:pPr>
              <a:spcBef>
                <a:spcPts val="703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acos(x)</a:t>
            </a:r>
          </a:p>
          <a:p>
            <a:pPr>
              <a:spcBef>
                <a:spcPts val="703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atan(y,x)</a:t>
            </a:r>
          </a:p>
          <a:p>
            <a:pPr>
              <a:spcBef>
                <a:spcPts val="703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atan(y_over_x)</a:t>
            </a:r>
          </a:p>
          <a:p>
            <a:pPr>
              <a:spcBef>
                <a:spcPts val="703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pow(x,y)</a:t>
            </a:r>
          </a:p>
          <a:p>
            <a:pPr>
              <a:spcBef>
                <a:spcPts val="703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exp(x)</a:t>
            </a:r>
          </a:p>
          <a:p>
            <a:pPr>
              <a:spcBef>
                <a:spcPts val="703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log(x)</a:t>
            </a:r>
          </a:p>
          <a:p>
            <a:pPr>
              <a:spcBef>
                <a:spcPts val="703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exp2(x)</a:t>
            </a:r>
          </a:p>
          <a:p>
            <a:pPr>
              <a:spcBef>
                <a:spcPts val="703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log2(x)</a:t>
            </a:r>
          </a:p>
          <a:p>
            <a:pPr>
              <a:spcBef>
                <a:spcPts val="703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sqrt(x)</a:t>
            </a:r>
          </a:p>
          <a:p>
            <a:pPr>
              <a:spcBef>
                <a:spcPts val="703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inversesqrt(x)</a:t>
            </a:r>
          </a:p>
        </p:txBody>
      </p:sp>
    </p:spTree>
    <p:extLst>
      <p:ext uri="{BB962C8B-B14F-4D97-AF65-F5344CB8AC3E}">
        <p14:creationId xmlns:p14="http://schemas.microsoft.com/office/powerpoint/2010/main" val="2550181575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Built-in Func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Built-in Functions</a:t>
            </a:r>
          </a:p>
        </p:txBody>
      </p:sp>
      <p:sp>
        <p:nvSpPr>
          <p:cNvPr id="147" name="abs(x)…"/>
          <p:cNvSpPr txBox="1">
            <a:spLocks noGrp="1"/>
          </p:cNvSpPr>
          <p:nvPr>
            <p:ph type="body" idx="1"/>
          </p:nvPr>
        </p:nvSpPr>
        <p:spPr>
          <a:xfrm>
            <a:off x="2416969" y="1946672"/>
            <a:ext cx="7358063" cy="477738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abs(x)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sign(x)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floor(x)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ceil(x)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fract(x)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mod(x, y)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min(x, y)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max(x, y)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clamp(x, minVal, maxVal)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mix(x, y, a)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step(edge, x)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smoothstep(edge0, edge1, x)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length(v)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distance(v0, v1)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dot(v0, v1)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cross(v0, v1)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normalize(v)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reflect(i, n)</a:t>
            </a:r>
          </a:p>
          <a:p>
            <a:pPr marL="527531" indent="-304297">
              <a:spcBef>
                <a:spcPts val="703"/>
              </a:spcBef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refract(i, n, eta)</a:t>
            </a:r>
          </a:p>
        </p:txBody>
      </p:sp>
    </p:spTree>
    <p:extLst>
      <p:ext uri="{BB962C8B-B14F-4D97-AF65-F5344CB8AC3E}">
        <p14:creationId xmlns:p14="http://schemas.microsoft.com/office/powerpoint/2010/main" val="102130106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276860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Shader</a:t>
            </a:r>
            <a:r>
              <a:rPr spc="-120" dirty="0"/>
              <a:t> </a:t>
            </a:r>
            <a:r>
              <a:rPr spc="-7" dirty="0"/>
              <a:t>Units</a:t>
            </a:r>
          </a:p>
        </p:txBody>
      </p:sp>
      <p:sp>
        <p:nvSpPr>
          <p:cNvPr id="3" name="object 3"/>
          <p:cNvSpPr/>
          <p:nvPr/>
        </p:nvSpPr>
        <p:spPr>
          <a:xfrm>
            <a:off x="4084833" y="1561467"/>
            <a:ext cx="0" cy="4947072"/>
          </a:xfrm>
          <a:custGeom>
            <a:avLst/>
            <a:gdLst/>
            <a:ahLst/>
            <a:cxnLst/>
            <a:rect l="l" t="t" r="r" b="b"/>
            <a:pathLst>
              <a:path h="3710304">
                <a:moveTo>
                  <a:pt x="0" y="0"/>
                </a:moveTo>
                <a:lnTo>
                  <a:pt x="0" y="37100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8160499" y="1561467"/>
            <a:ext cx="0" cy="4947072"/>
          </a:xfrm>
          <a:custGeom>
            <a:avLst/>
            <a:gdLst/>
            <a:ahLst/>
            <a:cxnLst/>
            <a:rect l="l" t="t" r="r" b="b"/>
            <a:pathLst>
              <a:path h="3710304">
                <a:moveTo>
                  <a:pt x="0" y="0"/>
                </a:moveTo>
                <a:lnTo>
                  <a:pt x="0" y="37100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772989" y="1578285"/>
            <a:ext cx="5012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i="1" dirty="0">
                <a:latin typeface="Arial"/>
                <a:cs typeface="Arial"/>
              </a:rPr>
              <a:t>t </a:t>
            </a:r>
            <a:r>
              <a:rPr sz="1867" dirty="0">
                <a:latin typeface="Arial"/>
                <a:cs typeface="Arial"/>
              </a:rPr>
              <a:t>=</a:t>
            </a:r>
            <a:r>
              <a:rPr sz="1867" spc="-1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0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45256" y="1578285"/>
            <a:ext cx="5012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i="1" dirty="0">
                <a:latin typeface="Arial"/>
                <a:cs typeface="Arial"/>
              </a:rPr>
              <a:t>t </a:t>
            </a:r>
            <a:r>
              <a:rPr sz="1867" dirty="0">
                <a:latin typeface="Arial"/>
                <a:cs typeface="Arial"/>
              </a:rPr>
              <a:t>=</a:t>
            </a:r>
            <a:r>
              <a:rPr sz="1867" spc="-1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1</a:t>
            </a:r>
            <a:endParaRPr sz="186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17523" y="1578285"/>
            <a:ext cx="5012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i="1" dirty="0">
                <a:latin typeface="Arial"/>
                <a:cs typeface="Arial"/>
              </a:rPr>
              <a:t>t </a:t>
            </a:r>
            <a:r>
              <a:rPr sz="1867" dirty="0">
                <a:latin typeface="Arial"/>
                <a:cs typeface="Arial"/>
              </a:rPr>
              <a:t>=</a:t>
            </a:r>
            <a:r>
              <a:rPr sz="1867" spc="-1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2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6007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276860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Shader</a:t>
            </a:r>
            <a:r>
              <a:rPr spc="-120" dirty="0"/>
              <a:t> </a:t>
            </a:r>
            <a:r>
              <a:rPr spc="-7" dirty="0"/>
              <a:t>Units</a:t>
            </a:r>
          </a:p>
        </p:txBody>
      </p:sp>
      <p:sp>
        <p:nvSpPr>
          <p:cNvPr id="3" name="object 3"/>
          <p:cNvSpPr/>
          <p:nvPr/>
        </p:nvSpPr>
        <p:spPr>
          <a:xfrm>
            <a:off x="1024334" y="2098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1024334" y="2098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460161" y="2400917"/>
            <a:ext cx="1126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Input</a:t>
            </a:r>
            <a:r>
              <a:rPr sz="1867" spc="-10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Data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334" y="3151299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1024334" y="3151299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1460161" y="3453585"/>
            <a:ext cx="1126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Input</a:t>
            </a:r>
            <a:r>
              <a:rPr sz="1867" spc="-10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Data</a:t>
            </a:r>
            <a:endParaRPr sz="1867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24334" y="4203966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024334" y="4203966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1460161" y="4506251"/>
            <a:ext cx="1126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Input</a:t>
            </a:r>
            <a:r>
              <a:rPr sz="1867" spc="-10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Data</a:t>
            </a:r>
            <a:endParaRPr sz="1867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24334" y="5256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1024334" y="5256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1460161" y="5558918"/>
            <a:ext cx="1126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Input</a:t>
            </a:r>
            <a:r>
              <a:rPr sz="1867" spc="-10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Data</a:t>
            </a:r>
            <a:endParaRPr sz="1867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084833" y="1561467"/>
            <a:ext cx="0" cy="4947072"/>
          </a:xfrm>
          <a:custGeom>
            <a:avLst/>
            <a:gdLst/>
            <a:ahLst/>
            <a:cxnLst/>
            <a:rect l="l" t="t" r="r" b="b"/>
            <a:pathLst>
              <a:path h="3710304">
                <a:moveTo>
                  <a:pt x="0" y="0"/>
                </a:moveTo>
                <a:lnTo>
                  <a:pt x="0" y="37100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8160499" y="1561467"/>
            <a:ext cx="0" cy="4947072"/>
          </a:xfrm>
          <a:custGeom>
            <a:avLst/>
            <a:gdLst/>
            <a:ahLst/>
            <a:cxnLst/>
            <a:rect l="l" t="t" r="r" b="b"/>
            <a:pathLst>
              <a:path h="3710304">
                <a:moveTo>
                  <a:pt x="0" y="0"/>
                </a:moveTo>
                <a:lnTo>
                  <a:pt x="0" y="37100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 txBox="1"/>
          <p:nvPr/>
        </p:nvSpPr>
        <p:spPr>
          <a:xfrm>
            <a:off x="1772989" y="1578285"/>
            <a:ext cx="5012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i="1" dirty="0">
                <a:latin typeface="Arial"/>
                <a:cs typeface="Arial"/>
              </a:rPr>
              <a:t>t </a:t>
            </a:r>
            <a:r>
              <a:rPr sz="1867" dirty="0">
                <a:latin typeface="Arial"/>
                <a:cs typeface="Arial"/>
              </a:rPr>
              <a:t>=</a:t>
            </a:r>
            <a:r>
              <a:rPr sz="1867" spc="-1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0</a:t>
            </a:r>
            <a:endParaRPr sz="1867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45256" y="1578285"/>
            <a:ext cx="5012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i="1" dirty="0">
                <a:latin typeface="Arial"/>
                <a:cs typeface="Arial"/>
              </a:rPr>
              <a:t>t </a:t>
            </a:r>
            <a:r>
              <a:rPr sz="1867" dirty="0">
                <a:latin typeface="Arial"/>
                <a:cs typeface="Arial"/>
              </a:rPr>
              <a:t>=</a:t>
            </a:r>
            <a:r>
              <a:rPr sz="1867" spc="-1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1</a:t>
            </a:r>
            <a:endParaRPr sz="1867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17523" y="1578285"/>
            <a:ext cx="5012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i="1" dirty="0">
                <a:latin typeface="Arial"/>
                <a:cs typeface="Arial"/>
              </a:rPr>
              <a:t>t </a:t>
            </a:r>
            <a:r>
              <a:rPr sz="1867" dirty="0">
                <a:latin typeface="Arial"/>
                <a:cs typeface="Arial"/>
              </a:rPr>
              <a:t>=</a:t>
            </a:r>
            <a:r>
              <a:rPr sz="1867" spc="-1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2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119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276860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Shader</a:t>
            </a:r>
            <a:r>
              <a:rPr spc="-120" dirty="0"/>
              <a:t> </a:t>
            </a:r>
            <a:r>
              <a:rPr spc="-7" dirty="0"/>
              <a:t>Units</a:t>
            </a:r>
          </a:p>
        </p:txBody>
      </p:sp>
      <p:sp>
        <p:nvSpPr>
          <p:cNvPr id="3" name="object 3"/>
          <p:cNvSpPr/>
          <p:nvPr/>
        </p:nvSpPr>
        <p:spPr>
          <a:xfrm>
            <a:off x="1024334" y="2098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1024334" y="2098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460161" y="2400917"/>
            <a:ext cx="1126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Input</a:t>
            </a:r>
            <a:r>
              <a:rPr sz="1867" spc="-10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Data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334" y="3151299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1024334" y="3151299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1460161" y="3453585"/>
            <a:ext cx="1126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Input</a:t>
            </a:r>
            <a:r>
              <a:rPr sz="1867" spc="-10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Data</a:t>
            </a:r>
            <a:endParaRPr sz="1867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24334" y="4203966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024334" y="4203966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1460161" y="4506251"/>
            <a:ext cx="1126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Input</a:t>
            </a:r>
            <a:r>
              <a:rPr sz="1867" spc="-10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Data</a:t>
            </a:r>
            <a:endParaRPr sz="1867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24334" y="5256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1024334" y="5256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1460161" y="5558918"/>
            <a:ext cx="1126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Input</a:t>
            </a:r>
            <a:r>
              <a:rPr sz="1867" spc="-10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Data</a:t>
            </a:r>
            <a:endParaRPr sz="1867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96601" y="2098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4A7D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5096601" y="2098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 txBox="1"/>
          <p:nvPr/>
        </p:nvSpPr>
        <p:spPr>
          <a:xfrm>
            <a:off x="5315219" y="2261218"/>
            <a:ext cx="1557867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 indent="380990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"/>
                <a:cs typeface="Arial"/>
              </a:rPr>
              <a:t>Shader  Execution</a:t>
            </a:r>
            <a:r>
              <a:rPr sz="1867" spc="-12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Unit</a:t>
            </a:r>
            <a:endParaRPr sz="1867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096601" y="3151299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4A7D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5096601" y="3151299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 txBox="1"/>
          <p:nvPr/>
        </p:nvSpPr>
        <p:spPr>
          <a:xfrm>
            <a:off x="5315219" y="3313885"/>
            <a:ext cx="1557867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 indent="380990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"/>
                <a:cs typeface="Arial"/>
              </a:rPr>
              <a:t>Shader  Execution</a:t>
            </a:r>
            <a:r>
              <a:rPr sz="1867" spc="-12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Unit</a:t>
            </a:r>
            <a:endParaRPr sz="1867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96601" y="4203966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4A7D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5096601" y="4203966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 txBox="1"/>
          <p:nvPr/>
        </p:nvSpPr>
        <p:spPr>
          <a:xfrm>
            <a:off x="5315219" y="4366551"/>
            <a:ext cx="1557867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 indent="380990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"/>
                <a:cs typeface="Arial"/>
              </a:rPr>
              <a:t>Shader  Execution</a:t>
            </a:r>
            <a:r>
              <a:rPr sz="1867" spc="-12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Unit</a:t>
            </a:r>
            <a:endParaRPr sz="1867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96601" y="5256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4A7D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5096601" y="5256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 txBox="1"/>
          <p:nvPr/>
        </p:nvSpPr>
        <p:spPr>
          <a:xfrm>
            <a:off x="5315219" y="5419218"/>
            <a:ext cx="1557867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 indent="380990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"/>
                <a:cs typeface="Arial"/>
              </a:rPr>
              <a:t>Shader  Execution</a:t>
            </a:r>
            <a:r>
              <a:rPr sz="1867" spc="-12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Unit</a:t>
            </a:r>
            <a:endParaRPr sz="1867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084833" y="1561467"/>
            <a:ext cx="0" cy="4947072"/>
          </a:xfrm>
          <a:custGeom>
            <a:avLst/>
            <a:gdLst/>
            <a:ahLst/>
            <a:cxnLst/>
            <a:rect l="l" t="t" r="r" b="b"/>
            <a:pathLst>
              <a:path h="3710304">
                <a:moveTo>
                  <a:pt x="0" y="0"/>
                </a:moveTo>
                <a:lnTo>
                  <a:pt x="0" y="37100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8160499" y="1561467"/>
            <a:ext cx="0" cy="4947072"/>
          </a:xfrm>
          <a:custGeom>
            <a:avLst/>
            <a:gdLst/>
            <a:ahLst/>
            <a:cxnLst/>
            <a:rect l="l" t="t" r="r" b="b"/>
            <a:pathLst>
              <a:path h="3710304">
                <a:moveTo>
                  <a:pt x="0" y="0"/>
                </a:moveTo>
                <a:lnTo>
                  <a:pt x="0" y="37100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3201066" y="2217234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4" h="525144">
                <a:moveTo>
                  <a:pt x="1025849" y="524699"/>
                </a:move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3201066" y="2217234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4" h="525144">
                <a:moveTo>
                  <a:pt x="0" y="131174"/>
                </a:move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3201066" y="3269900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4" h="525144">
                <a:moveTo>
                  <a:pt x="1025849" y="524699"/>
                </a:move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3201066" y="3269900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4" h="525144">
                <a:moveTo>
                  <a:pt x="0" y="131174"/>
                </a:move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3201066" y="4322566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4" h="525145">
                <a:moveTo>
                  <a:pt x="1025849" y="524699"/>
                </a:move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3201066" y="4322566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4" h="525145">
                <a:moveTo>
                  <a:pt x="0" y="131174"/>
                </a:move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3201066" y="5375233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4" h="525145">
                <a:moveTo>
                  <a:pt x="1025849" y="524699"/>
                </a:move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3201066" y="5375233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4" h="525145">
                <a:moveTo>
                  <a:pt x="0" y="131174"/>
                </a:move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 txBox="1"/>
          <p:nvPr/>
        </p:nvSpPr>
        <p:spPr>
          <a:xfrm>
            <a:off x="1772989" y="1578285"/>
            <a:ext cx="5012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i="1" dirty="0">
                <a:latin typeface="Arial"/>
                <a:cs typeface="Arial"/>
              </a:rPr>
              <a:t>t </a:t>
            </a:r>
            <a:r>
              <a:rPr sz="1867" dirty="0">
                <a:latin typeface="Arial"/>
                <a:cs typeface="Arial"/>
              </a:rPr>
              <a:t>=</a:t>
            </a:r>
            <a:r>
              <a:rPr sz="1867" spc="-1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0</a:t>
            </a:r>
            <a:endParaRPr sz="1867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45256" y="1578285"/>
            <a:ext cx="5012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i="1" dirty="0">
                <a:latin typeface="Arial"/>
                <a:cs typeface="Arial"/>
              </a:rPr>
              <a:t>t </a:t>
            </a:r>
            <a:r>
              <a:rPr sz="1867" dirty="0">
                <a:latin typeface="Arial"/>
                <a:cs typeface="Arial"/>
              </a:rPr>
              <a:t>=</a:t>
            </a:r>
            <a:r>
              <a:rPr sz="1867" spc="-1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1</a:t>
            </a:r>
            <a:endParaRPr sz="1867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917523" y="1578285"/>
            <a:ext cx="5012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i="1" dirty="0">
                <a:latin typeface="Arial"/>
                <a:cs typeface="Arial"/>
              </a:rPr>
              <a:t>t </a:t>
            </a:r>
            <a:r>
              <a:rPr sz="1867" dirty="0">
                <a:latin typeface="Arial"/>
                <a:cs typeface="Arial"/>
              </a:rPr>
              <a:t>=</a:t>
            </a:r>
            <a:r>
              <a:rPr sz="1867" spc="-1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2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4137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276860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Shader</a:t>
            </a:r>
            <a:r>
              <a:rPr spc="-120" dirty="0"/>
              <a:t> </a:t>
            </a:r>
            <a:r>
              <a:rPr spc="-7" dirty="0"/>
              <a:t>Units</a:t>
            </a:r>
          </a:p>
        </p:txBody>
      </p:sp>
      <p:sp>
        <p:nvSpPr>
          <p:cNvPr id="3" name="object 3"/>
          <p:cNvSpPr/>
          <p:nvPr/>
        </p:nvSpPr>
        <p:spPr>
          <a:xfrm>
            <a:off x="1024334" y="2098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1024334" y="2098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460161" y="2400917"/>
            <a:ext cx="1126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Input</a:t>
            </a:r>
            <a:r>
              <a:rPr sz="1867" spc="-10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Data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334" y="3151299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1024334" y="3151299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1460161" y="3453585"/>
            <a:ext cx="1126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Input</a:t>
            </a:r>
            <a:r>
              <a:rPr sz="1867" spc="-10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Data</a:t>
            </a:r>
            <a:endParaRPr sz="1867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24334" y="4203966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024334" y="4203966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1460161" y="4506251"/>
            <a:ext cx="1126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Input</a:t>
            </a:r>
            <a:r>
              <a:rPr sz="1867" spc="-10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Data</a:t>
            </a:r>
            <a:endParaRPr sz="1867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24334" y="5256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1024334" y="5256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1460161" y="5558918"/>
            <a:ext cx="1126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Input</a:t>
            </a:r>
            <a:r>
              <a:rPr sz="1867" spc="-10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Data</a:t>
            </a:r>
            <a:endParaRPr sz="1867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96601" y="2098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4A7D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5096601" y="2098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 txBox="1"/>
          <p:nvPr/>
        </p:nvSpPr>
        <p:spPr>
          <a:xfrm>
            <a:off x="5315219" y="2261218"/>
            <a:ext cx="1557867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 indent="380990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"/>
                <a:cs typeface="Arial"/>
              </a:rPr>
              <a:t>Shader  Execution</a:t>
            </a:r>
            <a:r>
              <a:rPr sz="1867" spc="-12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Unit</a:t>
            </a:r>
            <a:endParaRPr sz="1867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096601" y="3151299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4A7D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5096601" y="3151299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4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 txBox="1"/>
          <p:nvPr/>
        </p:nvSpPr>
        <p:spPr>
          <a:xfrm>
            <a:off x="5315219" y="3313885"/>
            <a:ext cx="1557867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 indent="380990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"/>
                <a:cs typeface="Arial"/>
              </a:rPr>
              <a:t>Shader  Execution</a:t>
            </a:r>
            <a:r>
              <a:rPr sz="1867" spc="-12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Unit</a:t>
            </a:r>
            <a:endParaRPr sz="1867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96601" y="4203966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4A7D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5096601" y="4203966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 txBox="1"/>
          <p:nvPr/>
        </p:nvSpPr>
        <p:spPr>
          <a:xfrm>
            <a:off x="5315219" y="4366551"/>
            <a:ext cx="1557867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 indent="380990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"/>
                <a:cs typeface="Arial"/>
              </a:rPr>
              <a:t>Shader  Execution</a:t>
            </a:r>
            <a:r>
              <a:rPr sz="1867" spc="-12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Unit</a:t>
            </a:r>
            <a:endParaRPr sz="1867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96601" y="5256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B4A7D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5096601" y="5256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5" h="702945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 txBox="1"/>
          <p:nvPr/>
        </p:nvSpPr>
        <p:spPr>
          <a:xfrm>
            <a:off x="5315219" y="5419218"/>
            <a:ext cx="1557867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 indent="380990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"/>
                <a:cs typeface="Arial"/>
              </a:rPr>
              <a:t>Shader  Execution</a:t>
            </a:r>
            <a:r>
              <a:rPr sz="1867" spc="-12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Unit</a:t>
            </a:r>
            <a:endParaRPr sz="1867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168867" y="2098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4" h="702944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9168867" y="2098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4" h="702944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 txBox="1"/>
          <p:nvPr/>
        </p:nvSpPr>
        <p:spPr>
          <a:xfrm>
            <a:off x="9795700" y="2400917"/>
            <a:ext cx="745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Output</a:t>
            </a:r>
            <a:endParaRPr sz="1867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168867" y="3151299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4" h="702944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9168867" y="3151299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4" h="702944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 txBox="1"/>
          <p:nvPr/>
        </p:nvSpPr>
        <p:spPr>
          <a:xfrm>
            <a:off x="9795700" y="3453585"/>
            <a:ext cx="745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Output</a:t>
            </a:r>
            <a:endParaRPr sz="1867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168867" y="4203966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4" h="702945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9168867" y="4203966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4" h="702945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 txBox="1"/>
          <p:nvPr/>
        </p:nvSpPr>
        <p:spPr>
          <a:xfrm>
            <a:off x="9795700" y="4506251"/>
            <a:ext cx="745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Output</a:t>
            </a:r>
            <a:endParaRPr sz="1867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168867" y="5256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4" h="702945">
                <a:moveTo>
                  <a:pt x="1381997" y="702599"/>
                </a:move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9168867" y="5256633"/>
            <a:ext cx="1998980" cy="937260"/>
          </a:xfrm>
          <a:custGeom>
            <a:avLst/>
            <a:gdLst/>
            <a:ahLst/>
            <a:cxnLst/>
            <a:rect l="l" t="t" r="r" b="b"/>
            <a:pathLst>
              <a:path w="1499234" h="702945">
                <a:moveTo>
                  <a:pt x="0" y="117102"/>
                </a:moveTo>
                <a:lnTo>
                  <a:pt x="9202" y="71520"/>
                </a:lnTo>
                <a:lnTo>
                  <a:pt x="34298" y="34298"/>
                </a:lnTo>
                <a:lnTo>
                  <a:pt x="71520" y="9202"/>
                </a:lnTo>
                <a:lnTo>
                  <a:pt x="117102" y="0"/>
                </a:lnTo>
                <a:lnTo>
                  <a:pt x="1381997" y="0"/>
                </a:lnTo>
                <a:lnTo>
                  <a:pt x="1426810" y="8913"/>
                </a:lnTo>
                <a:lnTo>
                  <a:pt x="1464801" y="34298"/>
                </a:lnTo>
                <a:lnTo>
                  <a:pt x="1490186" y="72289"/>
                </a:lnTo>
                <a:lnTo>
                  <a:pt x="1499099" y="117102"/>
                </a:lnTo>
                <a:lnTo>
                  <a:pt x="1499099" y="585497"/>
                </a:lnTo>
                <a:lnTo>
                  <a:pt x="1489897" y="631079"/>
                </a:lnTo>
                <a:lnTo>
                  <a:pt x="1464801" y="668301"/>
                </a:lnTo>
                <a:lnTo>
                  <a:pt x="1427579" y="693397"/>
                </a:lnTo>
                <a:lnTo>
                  <a:pt x="1381997" y="702599"/>
                </a:lnTo>
                <a:lnTo>
                  <a:pt x="117102" y="702599"/>
                </a:lnTo>
                <a:lnTo>
                  <a:pt x="71520" y="693397"/>
                </a:lnTo>
                <a:lnTo>
                  <a:pt x="34298" y="668301"/>
                </a:lnTo>
                <a:lnTo>
                  <a:pt x="9202" y="631079"/>
                </a:lnTo>
                <a:lnTo>
                  <a:pt x="0" y="585497"/>
                </a:lnTo>
                <a:lnTo>
                  <a:pt x="0" y="1171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 txBox="1"/>
          <p:nvPr/>
        </p:nvSpPr>
        <p:spPr>
          <a:xfrm>
            <a:off x="9795700" y="5558918"/>
            <a:ext cx="745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Output</a:t>
            </a:r>
            <a:endParaRPr sz="1867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084833" y="1561467"/>
            <a:ext cx="0" cy="4947072"/>
          </a:xfrm>
          <a:custGeom>
            <a:avLst/>
            <a:gdLst/>
            <a:ahLst/>
            <a:cxnLst/>
            <a:rect l="l" t="t" r="r" b="b"/>
            <a:pathLst>
              <a:path h="3710304">
                <a:moveTo>
                  <a:pt x="0" y="0"/>
                </a:moveTo>
                <a:lnTo>
                  <a:pt x="0" y="37100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8160499" y="1561467"/>
            <a:ext cx="0" cy="4947072"/>
          </a:xfrm>
          <a:custGeom>
            <a:avLst/>
            <a:gdLst/>
            <a:ahLst/>
            <a:cxnLst/>
            <a:rect l="l" t="t" r="r" b="b"/>
            <a:pathLst>
              <a:path h="3710304">
                <a:moveTo>
                  <a:pt x="0" y="0"/>
                </a:moveTo>
                <a:lnTo>
                  <a:pt x="0" y="37100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3201066" y="2217234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4" h="525144">
                <a:moveTo>
                  <a:pt x="1025849" y="524699"/>
                </a:move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3201066" y="2217234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4" h="525144">
                <a:moveTo>
                  <a:pt x="0" y="131174"/>
                </a:move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3201066" y="3269900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4" h="525144">
                <a:moveTo>
                  <a:pt x="1025849" y="524699"/>
                </a:move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3201066" y="3269900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4" h="525144">
                <a:moveTo>
                  <a:pt x="0" y="131174"/>
                </a:move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3201066" y="4322566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4" h="525145">
                <a:moveTo>
                  <a:pt x="1025849" y="524699"/>
                </a:move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3201066" y="4322566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4" h="525145">
                <a:moveTo>
                  <a:pt x="0" y="131174"/>
                </a:move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/>
          <p:nvPr/>
        </p:nvSpPr>
        <p:spPr>
          <a:xfrm>
            <a:off x="3201066" y="5375233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4" h="525145">
                <a:moveTo>
                  <a:pt x="1025849" y="524699"/>
                </a:move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8" name="object 48"/>
          <p:cNvSpPr/>
          <p:nvPr/>
        </p:nvSpPr>
        <p:spPr>
          <a:xfrm>
            <a:off x="3201066" y="5375233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4" h="525145">
                <a:moveTo>
                  <a:pt x="0" y="131174"/>
                </a:move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/>
          <p:nvPr/>
        </p:nvSpPr>
        <p:spPr>
          <a:xfrm>
            <a:off x="7273333" y="2217234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5" h="525144">
                <a:moveTo>
                  <a:pt x="1025849" y="524699"/>
                </a:move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0" name="object 50"/>
          <p:cNvSpPr/>
          <p:nvPr/>
        </p:nvSpPr>
        <p:spPr>
          <a:xfrm>
            <a:off x="7273333" y="2217234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5" h="525144">
                <a:moveTo>
                  <a:pt x="0" y="131174"/>
                </a:move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/>
          <p:nvPr/>
        </p:nvSpPr>
        <p:spPr>
          <a:xfrm>
            <a:off x="7301701" y="3269900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5" h="525144">
                <a:moveTo>
                  <a:pt x="1025849" y="524699"/>
                </a:move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2" name="object 52"/>
          <p:cNvSpPr/>
          <p:nvPr/>
        </p:nvSpPr>
        <p:spPr>
          <a:xfrm>
            <a:off x="7301701" y="3269900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5" h="525144">
                <a:moveTo>
                  <a:pt x="0" y="131174"/>
                </a:move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/>
          <p:nvPr/>
        </p:nvSpPr>
        <p:spPr>
          <a:xfrm>
            <a:off x="7273333" y="4322566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5" h="525145">
                <a:moveTo>
                  <a:pt x="1025849" y="524699"/>
                </a:move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4" name="object 54"/>
          <p:cNvSpPr/>
          <p:nvPr/>
        </p:nvSpPr>
        <p:spPr>
          <a:xfrm>
            <a:off x="7273333" y="4322566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5" h="525145">
                <a:moveTo>
                  <a:pt x="0" y="131174"/>
                </a:move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5" name="object 55"/>
          <p:cNvSpPr/>
          <p:nvPr/>
        </p:nvSpPr>
        <p:spPr>
          <a:xfrm>
            <a:off x="7273333" y="5375233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5" h="525145">
                <a:moveTo>
                  <a:pt x="1025849" y="524699"/>
                </a:move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6" name="object 56"/>
          <p:cNvSpPr/>
          <p:nvPr/>
        </p:nvSpPr>
        <p:spPr>
          <a:xfrm>
            <a:off x="7273333" y="5375233"/>
            <a:ext cx="1717887" cy="700193"/>
          </a:xfrm>
          <a:custGeom>
            <a:avLst/>
            <a:gdLst/>
            <a:ahLst/>
            <a:cxnLst/>
            <a:rect l="l" t="t" r="r" b="b"/>
            <a:pathLst>
              <a:path w="1288415" h="525145">
                <a:moveTo>
                  <a:pt x="0" y="131174"/>
                </a:moveTo>
                <a:lnTo>
                  <a:pt x="1025849" y="131174"/>
                </a:lnTo>
                <a:lnTo>
                  <a:pt x="1025849" y="0"/>
                </a:lnTo>
                <a:lnTo>
                  <a:pt x="1288199" y="262349"/>
                </a:lnTo>
                <a:lnTo>
                  <a:pt x="1025849" y="524699"/>
                </a:lnTo>
                <a:lnTo>
                  <a:pt x="1025849" y="393524"/>
                </a:lnTo>
                <a:lnTo>
                  <a:pt x="0" y="393524"/>
                </a:lnTo>
                <a:lnTo>
                  <a:pt x="0" y="131174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7" name="object 57"/>
          <p:cNvSpPr txBox="1"/>
          <p:nvPr/>
        </p:nvSpPr>
        <p:spPr>
          <a:xfrm>
            <a:off x="1772989" y="1578285"/>
            <a:ext cx="5012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i="1" dirty="0">
                <a:latin typeface="Arial"/>
                <a:cs typeface="Arial"/>
              </a:rPr>
              <a:t>t </a:t>
            </a:r>
            <a:r>
              <a:rPr sz="1867" dirty="0">
                <a:latin typeface="Arial"/>
                <a:cs typeface="Arial"/>
              </a:rPr>
              <a:t>=</a:t>
            </a:r>
            <a:r>
              <a:rPr sz="1867" spc="-1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0</a:t>
            </a:r>
            <a:endParaRPr sz="1867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845256" y="1578285"/>
            <a:ext cx="5012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i="1" dirty="0">
                <a:latin typeface="Arial"/>
                <a:cs typeface="Arial"/>
              </a:rPr>
              <a:t>t </a:t>
            </a:r>
            <a:r>
              <a:rPr sz="1867" dirty="0">
                <a:latin typeface="Arial"/>
                <a:cs typeface="Arial"/>
              </a:rPr>
              <a:t>=</a:t>
            </a:r>
            <a:r>
              <a:rPr sz="1867" spc="-1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1</a:t>
            </a:r>
            <a:endParaRPr sz="1867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917523" y="1578285"/>
            <a:ext cx="5012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i="1" dirty="0">
                <a:latin typeface="Arial"/>
                <a:cs typeface="Arial"/>
              </a:rPr>
              <a:t>t </a:t>
            </a:r>
            <a:r>
              <a:rPr sz="1867" dirty="0">
                <a:latin typeface="Arial"/>
                <a:cs typeface="Arial"/>
              </a:rPr>
              <a:t>=</a:t>
            </a:r>
            <a:r>
              <a:rPr sz="1867" spc="-1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2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1279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4947072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Programmable</a:t>
            </a:r>
            <a:r>
              <a:rPr spc="-113" dirty="0"/>
              <a:t> </a:t>
            </a:r>
            <a:r>
              <a:rPr spc="-7" dirty="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26701" y="15348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421629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Specification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6701" y="21146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71118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901" y="2694400"/>
            <a:ext cx="2938780" cy="306132"/>
          </a:xfrm>
          <a:prstGeom prst="rect">
            <a:avLst/>
          </a:prstGeom>
          <a:solidFill>
            <a:srgbClr val="93C47D"/>
          </a:solidFill>
          <a:ln w="19049">
            <a:solidFill>
              <a:srgbClr val="0000FF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836486">
              <a:spcBef>
                <a:spcPts val="147"/>
              </a:spcBef>
            </a:pPr>
            <a:r>
              <a:rPr sz="1867" spc="-7" dirty="0">
                <a:latin typeface="Arial"/>
                <a:cs typeface="Arial"/>
              </a:rPr>
              <a:t>Tessellation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6701" y="3274200"/>
            <a:ext cx="2938780" cy="306132"/>
          </a:xfrm>
          <a:prstGeom prst="rect">
            <a:avLst/>
          </a:prstGeom>
          <a:solidFill>
            <a:srgbClr val="93C47D"/>
          </a:solidFill>
          <a:ln w="19049">
            <a:solidFill>
              <a:srgbClr val="0000FF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533387">
              <a:spcBef>
                <a:spcPts val="147"/>
              </a:spcBef>
            </a:pPr>
            <a:r>
              <a:rPr sz="1867" spc="-7" dirty="0">
                <a:latin typeface="Arial"/>
                <a:cs typeface="Arial"/>
              </a:rPr>
              <a:t>Geometry</a:t>
            </a:r>
            <a:r>
              <a:rPr sz="1867" spc="-2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Shader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6901" y="3853996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231134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33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Post-Processing</a:t>
            </a:r>
            <a:endParaRPr sz="186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26901" y="4433801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468195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Primitive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Assembly</a:t>
            </a:r>
            <a:endParaRPr sz="1867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26901" y="50136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777221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Rasterization</a:t>
            </a:r>
            <a:endParaRPr sz="1867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6901" y="5593401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54693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Fragment</a:t>
            </a:r>
            <a:r>
              <a:rPr sz="1867" spc="-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26701" y="61732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19134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Per-Sampler</a:t>
            </a:r>
            <a:r>
              <a:rPr sz="1867" spc="-4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Operations</a:t>
            </a:r>
            <a:endParaRPr sz="1867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02534" y="1858499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6002534" y="2438201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6002534" y="3018001"/>
            <a:ext cx="172199" cy="268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6002534" y="3597801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6009801" y="4177601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6010001" y="4757401"/>
            <a:ext cx="172199" cy="2689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6010001" y="5337199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6010001" y="5917001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35987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4947072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Programmable</a:t>
            </a:r>
            <a:r>
              <a:rPr spc="-113" dirty="0"/>
              <a:t> </a:t>
            </a:r>
            <a:r>
              <a:rPr spc="-7" dirty="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26701" y="15348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421629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Specification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6701" y="21146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71118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901" y="26944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836486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Tessellation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6701" y="32742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533387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Geometry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6901" y="3853996"/>
            <a:ext cx="2938780" cy="306132"/>
          </a:xfrm>
          <a:prstGeom prst="rect">
            <a:avLst/>
          </a:prstGeom>
          <a:solidFill>
            <a:srgbClr val="A4C1F4"/>
          </a:solidFill>
          <a:ln w="19049">
            <a:solidFill>
              <a:srgbClr val="0000FF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231134">
              <a:spcBef>
                <a:spcPts val="147"/>
              </a:spcBef>
            </a:pPr>
            <a:r>
              <a:rPr sz="1867" spc="-7" dirty="0">
                <a:latin typeface="Arial"/>
                <a:cs typeface="Arial"/>
              </a:rPr>
              <a:t>Vertex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Post-Processing</a:t>
            </a:r>
            <a:endParaRPr sz="186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26901" y="4433801"/>
            <a:ext cx="2938780" cy="306132"/>
          </a:xfrm>
          <a:prstGeom prst="rect">
            <a:avLst/>
          </a:prstGeom>
          <a:solidFill>
            <a:srgbClr val="A4C1F4"/>
          </a:solidFill>
          <a:ln w="19049">
            <a:solidFill>
              <a:srgbClr val="0000FF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468195">
              <a:spcBef>
                <a:spcPts val="147"/>
              </a:spcBef>
            </a:pPr>
            <a:r>
              <a:rPr sz="1867" spc="-7" dirty="0">
                <a:latin typeface="Arial"/>
                <a:cs typeface="Arial"/>
              </a:rPr>
              <a:t>Primitive</a:t>
            </a:r>
            <a:r>
              <a:rPr sz="1867" spc="-2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Assembly</a:t>
            </a:r>
            <a:endParaRPr sz="1867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26901" y="50136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777221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Rasterization</a:t>
            </a:r>
            <a:endParaRPr sz="1867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6901" y="5593401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54693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Fragment</a:t>
            </a:r>
            <a:r>
              <a:rPr sz="1867" spc="-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26701" y="61732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19134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Per-Sampler</a:t>
            </a:r>
            <a:r>
              <a:rPr sz="1867" spc="-4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Operations</a:t>
            </a:r>
            <a:endParaRPr sz="1867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02534" y="1858499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6002534" y="2438201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6002534" y="3018001"/>
            <a:ext cx="172199" cy="268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6002534" y="3597801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6009801" y="4177601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6010001" y="4757401"/>
            <a:ext cx="172199" cy="2689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6010001" y="5337199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6010001" y="5917001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983668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5894493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Post-process </a:t>
            </a:r>
            <a:r>
              <a:rPr spc="-7" dirty="0"/>
              <a:t>and</a:t>
            </a:r>
            <a:r>
              <a:rPr spc="-113" dirty="0"/>
              <a:t> </a:t>
            </a:r>
            <a:r>
              <a:rPr spc="-7" dirty="0"/>
              <a:t>Assembly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7" y="1578798"/>
            <a:ext cx="2545080" cy="1705061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Clipping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Perspective</a:t>
            </a:r>
            <a:r>
              <a:rPr sz="1867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Divide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Viewport</a:t>
            </a:r>
            <a:r>
              <a:rPr sz="1867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Primitive</a:t>
            </a:r>
            <a:r>
              <a:rPr sz="1867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Assembly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Culling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11512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5894493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Post-process </a:t>
            </a:r>
            <a:r>
              <a:rPr spc="-7" dirty="0"/>
              <a:t>and</a:t>
            </a:r>
            <a:r>
              <a:rPr spc="-113" dirty="0"/>
              <a:t> </a:t>
            </a:r>
            <a:r>
              <a:rPr spc="-7" dirty="0"/>
              <a:t>Assembly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7" y="1578798"/>
            <a:ext cx="2545080" cy="1705061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Clipping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Perspective</a:t>
            </a:r>
            <a:r>
              <a:rPr sz="1867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Divide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Viewport</a:t>
            </a:r>
            <a:r>
              <a:rPr sz="1867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Primitive</a:t>
            </a:r>
            <a:r>
              <a:rPr sz="1867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Assembly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Culling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578797"/>
            <a:ext cx="4827693" cy="290417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46566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Vertex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shaders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outputs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vertex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positions in  homogenous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clip space,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which is designed to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make clipping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simple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67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possible.</a:t>
            </a:r>
            <a:endParaRPr sz="1867">
              <a:latin typeface="Arial"/>
              <a:cs typeface="Arial"/>
            </a:endParaRPr>
          </a:p>
          <a:p>
            <a:pPr>
              <a:spcBef>
                <a:spcPts val="27"/>
              </a:spcBef>
            </a:pPr>
            <a:endParaRPr>
              <a:latin typeface="Times New Roman"/>
              <a:cs typeface="Times New Roman"/>
            </a:endParaRPr>
          </a:p>
          <a:p>
            <a:pPr marL="16933" marR="6773">
              <a:lnSpc>
                <a:spcPct val="116100"/>
              </a:lnSpc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Portions of primitives outside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view volume 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are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clipped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and new primitives are</a:t>
            </a:r>
            <a:r>
              <a:rPr sz="1867" spc="-1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generated.</a:t>
            </a:r>
            <a:endParaRPr sz="1867">
              <a:latin typeface="Arial"/>
              <a:cs typeface="Arial"/>
            </a:endParaRPr>
          </a:p>
          <a:p>
            <a:pPr>
              <a:spcBef>
                <a:spcPts val="27"/>
              </a:spcBef>
            </a:pPr>
            <a:endParaRPr>
              <a:latin typeface="Times New Roman"/>
              <a:cs typeface="Times New Roman"/>
            </a:endParaRPr>
          </a:p>
          <a:p>
            <a:pPr marL="16933" marR="316645">
              <a:lnSpc>
                <a:spcPct val="116100"/>
              </a:lnSpc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Primitives which fall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completely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outside the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volume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culled.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8301" y="3563901"/>
            <a:ext cx="5689599" cy="2641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97367" y="6626504"/>
            <a:ext cx="1556173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 Khronos</a:t>
            </a:r>
            <a:r>
              <a:rPr sz="800" spc="-107" dirty="0">
                <a:latin typeface="Arial"/>
                <a:cs typeface="Arial"/>
              </a:rPr>
              <a:t> </a:t>
            </a:r>
            <a:r>
              <a:rPr sz="800" spc="-7" dirty="0">
                <a:latin typeface="Arial"/>
                <a:cs typeface="Arial"/>
              </a:rPr>
              <a:t>Group</a:t>
            </a:r>
            <a:endParaRPr sz="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39806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5894493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Post-process </a:t>
            </a:r>
            <a:r>
              <a:rPr spc="-7" dirty="0"/>
              <a:t>and</a:t>
            </a:r>
            <a:r>
              <a:rPr spc="-113" dirty="0"/>
              <a:t> </a:t>
            </a:r>
            <a:r>
              <a:rPr spc="-7" dirty="0"/>
              <a:t>Assembly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2584873" cy="1705061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Clipping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Perspective</a:t>
            </a:r>
            <a:r>
              <a:rPr sz="1867" b="1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Divide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Viewport</a:t>
            </a:r>
            <a:r>
              <a:rPr sz="1867" spc="-7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Primitive</a:t>
            </a:r>
            <a:r>
              <a:rPr sz="1867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Assembly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Culling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578798"/>
            <a:ext cx="4892887" cy="6836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This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simply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divides each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clip space</a:t>
            </a:r>
            <a:r>
              <a:rPr sz="1867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coordinate  component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by the 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w</a:t>
            </a:r>
            <a:r>
              <a:rPr sz="1867" i="1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value.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568" y="3699698"/>
            <a:ext cx="4418753" cy="6836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Recall how this 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w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value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was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set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up by our  projection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matrix.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98534" y="2762301"/>
            <a:ext cx="4422532" cy="46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7956688" y="4803967"/>
            <a:ext cx="2306225" cy="763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071723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5894493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Post-process </a:t>
            </a:r>
            <a:r>
              <a:rPr spc="-7" dirty="0"/>
              <a:t>and</a:t>
            </a:r>
            <a:r>
              <a:rPr spc="-113" dirty="0"/>
              <a:t> </a:t>
            </a:r>
            <a:r>
              <a:rPr spc="-7" dirty="0"/>
              <a:t>Assembly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7" y="1578798"/>
            <a:ext cx="2716107" cy="1705061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Clipping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Perspective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Divide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Viewport</a:t>
            </a:r>
            <a:r>
              <a:rPr sz="1867" b="1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Transform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Primitive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Assembly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Culling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02257" y="1578797"/>
            <a:ext cx="4775200" cy="1022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4808" marR="6773" indent="-447875">
              <a:lnSpc>
                <a:spcPct val="116100"/>
              </a:lnSpc>
              <a:spcBef>
                <a:spcPts val="13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Transforms the NDC 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y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coordinates 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screen space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coordinates.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Viewport is defined by four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values: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32851" y="2881818"/>
            <a:ext cx="215392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( 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x, y, </a:t>
            </a:r>
            <a:r>
              <a:rPr sz="1867" i="1" spc="-7" dirty="0">
                <a:solidFill>
                  <a:srgbClr val="595959"/>
                </a:solidFill>
                <a:latin typeface="Arial"/>
                <a:cs typeface="Arial"/>
              </a:rPr>
              <a:t>width, height</a:t>
            </a:r>
            <a:r>
              <a:rPr sz="1867" i="1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02258" y="3432998"/>
            <a:ext cx="4516967" cy="6836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4808" marR="6773" indent="-447875">
              <a:lnSpc>
                <a:spcPct val="116100"/>
              </a:lnSpc>
              <a:spcBef>
                <a:spcPts val="13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transformation here is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simply</a:t>
            </a:r>
            <a:r>
              <a:rPr sz="1867" spc="-1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from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range ( 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-1, 1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)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( x : </a:t>
            </a:r>
            <a:r>
              <a:rPr sz="1867" i="1" spc="-7" dirty="0">
                <a:solidFill>
                  <a:srgbClr val="595959"/>
                </a:solidFill>
                <a:latin typeface="Arial"/>
                <a:cs typeface="Arial"/>
              </a:rPr>
              <a:t>width, 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y : </a:t>
            </a:r>
            <a:r>
              <a:rPr sz="1867" i="1" spc="-7" dirty="0">
                <a:solidFill>
                  <a:srgbClr val="595959"/>
                </a:solidFill>
                <a:latin typeface="Arial"/>
                <a:cs typeface="Arial"/>
              </a:rPr>
              <a:t>height</a:t>
            </a:r>
            <a:r>
              <a:rPr sz="1867" i="1" spc="-16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58616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5894493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Post-process </a:t>
            </a:r>
            <a:r>
              <a:rPr spc="-7" dirty="0"/>
              <a:t>and</a:t>
            </a:r>
            <a:r>
              <a:rPr spc="-113" dirty="0"/>
              <a:t> </a:t>
            </a:r>
            <a:r>
              <a:rPr spc="-7" dirty="0"/>
              <a:t>Assembly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2664460" cy="1705061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Clipping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Perspective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Divide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Viewport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Primitive</a:t>
            </a:r>
            <a:r>
              <a:rPr sz="1867" b="1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Assembly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Culling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578798"/>
            <a:ext cx="4691380" cy="12992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Literally, gather together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sets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vertices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that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make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up each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primitive.</a:t>
            </a:r>
            <a:endParaRPr sz="1867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33">
              <a:latin typeface="Times New Roman"/>
              <a:cs typeface="Times New Roman"/>
            </a:endParaRPr>
          </a:p>
          <a:p>
            <a:pPr marL="626518" indent="-448722">
              <a:spcBef>
                <a:spcPts val="7"/>
              </a:spcBef>
              <a:buChar char="●"/>
              <a:tabLst>
                <a:tab pos="625671" algn="l"/>
                <a:tab pos="626518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Points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2257" y="2853853"/>
            <a:ext cx="3190240" cy="9157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074393" indent="-427556">
              <a:spcBef>
                <a:spcPts val="360"/>
              </a:spcBef>
              <a:buChar char="○"/>
              <a:tabLst>
                <a:tab pos="1073546" algn="l"/>
                <a:tab pos="1075240" algn="l"/>
              </a:tabLst>
            </a:pPr>
            <a:r>
              <a:rPr sz="1600" spc="-7" dirty="0">
                <a:solidFill>
                  <a:srgbClr val="595959"/>
                </a:solidFill>
                <a:latin typeface="Arial"/>
                <a:cs typeface="Arial"/>
              </a:rPr>
              <a:t>One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vert </a:t>
            </a:r>
            <a:r>
              <a:rPr sz="1600" spc="-7" dirty="0">
                <a:solidFill>
                  <a:srgbClr val="595959"/>
                </a:solidFill>
                <a:latin typeface="Arial"/>
                <a:cs typeface="Arial"/>
              </a:rPr>
              <a:t>per</a:t>
            </a:r>
            <a:r>
              <a:rPr sz="1600" spc="-8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7" dirty="0">
                <a:solidFill>
                  <a:srgbClr val="595959"/>
                </a:solidFill>
                <a:latin typeface="Arial"/>
                <a:cs typeface="Arial"/>
              </a:rPr>
              <a:t>primitive.</a:t>
            </a:r>
            <a:endParaRPr sz="1600">
              <a:latin typeface="Arial"/>
              <a:cs typeface="Arial"/>
            </a:endParaRPr>
          </a:p>
          <a:p>
            <a:pPr marL="464808" indent="-447875">
              <a:spcBef>
                <a:spcPts val="272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Lines</a:t>
            </a:r>
            <a:endParaRPr sz="1867">
              <a:latin typeface="Arial"/>
              <a:cs typeface="Arial"/>
            </a:endParaRPr>
          </a:p>
          <a:p>
            <a:pPr marL="1074393" lvl="1" indent="-427556">
              <a:spcBef>
                <a:spcPts val="367"/>
              </a:spcBef>
              <a:buChar char="○"/>
              <a:tabLst>
                <a:tab pos="1073546" algn="l"/>
                <a:tab pos="1075240" algn="l"/>
              </a:tabLst>
            </a:pPr>
            <a:r>
              <a:rPr sz="1600" spc="-7" dirty="0">
                <a:solidFill>
                  <a:srgbClr val="595959"/>
                </a:solidFill>
                <a:latin typeface="Arial"/>
                <a:cs typeface="Arial"/>
              </a:rPr>
              <a:t>Two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verts </a:t>
            </a:r>
            <a:r>
              <a:rPr sz="1600" spc="-7" dirty="0">
                <a:solidFill>
                  <a:srgbClr val="595959"/>
                </a:solidFill>
                <a:latin typeface="Arial"/>
                <a:cs typeface="Arial"/>
              </a:rPr>
              <a:t>per</a:t>
            </a:r>
            <a:r>
              <a:rPr sz="1600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7" dirty="0">
                <a:solidFill>
                  <a:srgbClr val="595959"/>
                </a:solidFill>
                <a:latin typeface="Arial"/>
                <a:cs typeface="Arial"/>
              </a:rPr>
              <a:t>primitive.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02257" y="3715897"/>
            <a:ext cx="3335867" cy="657510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464808" indent="-447875">
              <a:spcBef>
                <a:spcPts val="567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Triangles</a:t>
            </a:r>
            <a:endParaRPr sz="1867">
              <a:latin typeface="Arial"/>
              <a:cs typeface="Arial"/>
            </a:endParaRPr>
          </a:p>
          <a:p>
            <a:pPr marL="1074393" lvl="1" indent="-427556">
              <a:spcBef>
                <a:spcPts val="367"/>
              </a:spcBef>
              <a:buChar char="○"/>
              <a:tabLst>
                <a:tab pos="1073546" algn="l"/>
                <a:tab pos="1075240" algn="l"/>
              </a:tabLst>
            </a:pPr>
            <a:r>
              <a:rPr sz="1600" spc="-7" dirty="0">
                <a:solidFill>
                  <a:srgbClr val="595959"/>
                </a:solidFill>
                <a:latin typeface="Arial"/>
                <a:cs typeface="Arial"/>
              </a:rPr>
              <a:t>Three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verts </a:t>
            </a:r>
            <a:r>
              <a:rPr sz="1600" spc="-7" dirty="0">
                <a:solidFill>
                  <a:srgbClr val="595959"/>
                </a:solidFill>
                <a:latin typeface="Arial"/>
                <a:cs typeface="Arial"/>
              </a:rPr>
              <a:t>per</a:t>
            </a:r>
            <a:r>
              <a:rPr sz="1600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7" dirty="0">
                <a:solidFill>
                  <a:srgbClr val="595959"/>
                </a:solidFill>
                <a:latin typeface="Arial"/>
                <a:cs typeface="Arial"/>
              </a:rPr>
              <a:t>primitive.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10831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5894493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Post-process </a:t>
            </a:r>
            <a:r>
              <a:rPr spc="-7" dirty="0"/>
              <a:t>and</a:t>
            </a:r>
            <a:r>
              <a:rPr spc="-113" dirty="0"/>
              <a:t> </a:t>
            </a:r>
            <a:r>
              <a:rPr spc="-7" dirty="0"/>
              <a:t>Assembly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7" y="1578798"/>
            <a:ext cx="2545080" cy="1705061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Clipping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Perspective</a:t>
            </a:r>
            <a:r>
              <a:rPr sz="1867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Divide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Viewport</a:t>
            </a:r>
            <a:r>
              <a:rPr sz="1867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Primitive</a:t>
            </a:r>
            <a:r>
              <a:rPr sz="1867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Assembly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Culling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4294967295"/>
          </p:nvPr>
        </p:nvSpPr>
        <p:spPr>
          <a:xfrm flipH="1">
            <a:off x="5323840" y="1222322"/>
            <a:ext cx="4511040" cy="408487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2000" spc="-7" dirty="0"/>
              <a:t>If backface </a:t>
            </a:r>
            <a:r>
              <a:rPr sz="2000" dirty="0"/>
              <a:t>culling </a:t>
            </a:r>
            <a:r>
              <a:rPr sz="2000" spc="-7" dirty="0"/>
              <a:t>is enabled, this discards  primitives which are facing away from the  </a:t>
            </a:r>
            <a:r>
              <a:rPr sz="2000" dirty="0"/>
              <a:t>camera.</a:t>
            </a: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2000" dirty="0">
              <a:cs typeface="Times New Roman"/>
            </a:endParaRPr>
          </a:p>
          <a:p>
            <a:pPr marL="16933" marR="164248">
              <a:lnSpc>
                <a:spcPct val="116100"/>
              </a:lnSpc>
            </a:pPr>
            <a:r>
              <a:rPr sz="2000" spc="-7" dirty="0"/>
              <a:t>Test by </a:t>
            </a:r>
            <a:r>
              <a:rPr sz="2000" dirty="0"/>
              <a:t>calculating </a:t>
            </a:r>
            <a:r>
              <a:rPr sz="2000" spc="-7" dirty="0"/>
              <a:t>the </a:t>
            </a:r>
            <a:r>
              <a:rPr sz="2000" dirty="0"/>
              <a:t>signed </a:t>
            </a:r>
            <a:r>
              <a:rPr sz="2000" spc="-7" dirty="0"/>
              <a:t>area of</a:t>
            </a:r>
            <a:r>
              <a:rPr sz="2000" spc="-120" dirty="0"/>
              <a:t> </a:t>
            </a:r>
            <a:r>
              <a:rPr sz="2000" spc="-7" dirty="0"/>
              <a:t>the  triangle using the </a:t>
            </a:r>
            <a:r>
              <a:rPr sz="2000" dirty="0"/>
              <a:t>cross</a:t>
            </a:r>
            <a:r>
              <a:rPr sz="2000" spc="-33" dirty="0"/>
              <a:t> </a:t>
            </a:r>
            <a:r>
              <a:rPr sz="2000" spc="-7" dirty="0"/>
              <a:t>product.</a:t>
            </a: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2000" dirty="0">
              <a:cs typeface="Times New Roman"/>
            </a:endParaRPr>
          </a:p>
          <a:p>
            <a:pPr marL="626518" indent="-448722">
              <a:lnSpc>
                <a:spcPct val="100000"/>
              </a:lnSpc>
              <a:buChar char="●"/>
              <a:tabLst>
                <a:tab pos="625671" algn="l"/>
                <a:tab pos="626518" algn="l"/>
              </a:tabLst>
            </a:pPr>
            <a:r>
              <a:rPr sz="2000" spc="-7" dirty="0"/>
              <a:t>Positive </a:t>
            </a:r>
            <a:r>
              <a:rPr sz="2000" dirty="0"/>
              <a:t>- </a:t>
            </a:r>
            <a:r>
              <a:rPr sz="2000" spc="-7" dirty="0"/>
              <a:t>front</a:t>
            </a:r>
            <a:r>
              <a:rPr sz="2000" spc="-133" dirty="0"/>
              <a:t> </a:t>
            </a:r>
            <a:r>
              <a:rPr sz="2000" spc="-7" dirty="0"/>
              <a:t>face.</a:t>
            </a:r>
          </a:p>
          <a:p>
            <a:pPr marL="626518" indent="-448722">
              <a:lnSpc>
                <a:spcPct val="100000"/>
              </a:lnSpc>
              <a:spcBef>
                <a:spcPts val="360"/>
              </a:spcBef>
              <a:buChar char="●"/>
              <a:tabLst>
                <a:tab pos="625671" algn="l"/>
                <a:tab pos="626518" algn="l"/>
              </a:tabLst>
            </a:pPr>
            <a:r>
              <a:rPr sz="2000" spc="-7" dirty="0"/>
              <a:t>Negative </a:t>
            </a:r>
            <a:r>
              <a:rPr sz="2000" dirty="0"/>
              <a:t>- </a:t>
            </a:r>
            <a:r>
              <a:rPr sz="2000" spc="-7" dirty="0"/>
              <a:t>back</a:t>
            </a:r>
            <a:r>
              <a:rPr sz="2000" spc="-27" dirty="0"/>
              <a:t> </a:t>
            </a:r>
            <a:r>
              <a:rPr sz="2000" spc="-7" dirty="0"/>
              <a:t>face.</a:t>
            </a: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2000" dirty="0">
              <a:cs typeface="Times New Roman"/>
            </a:endParaRPr>
          </a:p>
          <a:p>
            <a:pPr marL="16933">
              <a:lnSpc>
                <a:spcPct val="100000"/>
              </a:lnSpc>
            </a:pPr>
            <a:r>
              <a:rPr sz="2000" spc="-7" dirty="0"/>
              <a:t>glCullFace </a:t>
            </a:r>
            <a:r>
              <a:rPr sz="2000" dirty="0"/>
              <a:t>can change </a:t>
            </a:r>
            <a:r>
              <a:rPr sz="2000" spc="-7" dirty="0"/>
              <a:t>the </a:t>
            </a:r>
            <a:r>
              <a:rPr sz="2000" dirty="0"/>
              <a:t>culling</a:t>
            </a:r>
            <a:r>
              <a:rPr sz="2000" spc="-93" dirty="0"/>
              <a:t> </a:t>
            </a:r>
            <a:r>
              <a:rPr sz="2000" dirty="0"/>
              <a:t>mode.</a:t>
            </a:r>
          </a:p>
        </p:txBody>
      </p:sp>
    </p:spTree>
    <p:extLst>
      <p:ext uri="{BB962C8B-B14F-4D97-AF65-F5344CB8AC3E}">
        <p14:creationId xmlns:p14="http://schemas.microsoft.com/office/powerpoint/2010/main" val="6855898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4947072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Programmable</a:t>
            </a:r>
            <a:r>
              <a:rPr spc="-113" dirty="0"/>
              <a:t> </a:t>
            </a:r>
            <a:r>
              <a:rPr spc="-7" dirty="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26701" y="15348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421629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Specification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6701" y="21146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71118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901" y="26944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836486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Tessellation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6701" y="32742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533387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Geometry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6901" y="3853996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231134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33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Post-Processing</a:t>
            </a:r>
            <a:endParaRPr sz="186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26901" y="4433801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468195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Primitive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Assembly</a:t>
            </a:r>
            <a:endParaRPr sz="1867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26901" y="5013600"/>
            <a:ext cx="2938780" cy="306132"/>
          </a:xfrm>
          <a:prstGeom prst="rect">
            <a:avLst/>
          </a:prstGeom>
          <a:solidFill>
            <a:srgbClr val="A4C1F4"/>
          </a:solidFill>
          <a:ln w="19049">
            <a:solidFill>
              <a:srgbClr val="0000FF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777221">
              <a:spcBef>
                <a:spcPts val="147"/>
              </a:spcBef>
            </a:pPr>
            <a:r>
              <a:rPr sz="1867" spc="-7" dirty="0">
                <a:latin typeface="Arial"/>
                <a:cs typeface="Arial"/>
              </a:rPr>
              <a:t>Rasterization</a:t>
            </a:r>
            <a:endParaRPr sz="1867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6901" y="5593401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54693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Fragment</a:t>
            </a:r>
            <a:r>
              <a:rPr sz="1867" spc="-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26701" y="61732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19134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Per-Sampler</a:t>
            </a:r>
            <a:r>
              <a:rPr sz="1867" spc="-4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Operations</a:t>
            </a:r>
            <a:endParaRPr sz="1867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02534" y="1858499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6002534" y="2438201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6002534" y="3018001"/>
            <a:ext cx="172199" cy="268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6002534" y="3597801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6009801" y="4177601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6010001" y="4757401"/>
            <a:ext cx="172199" cy="2689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6010001" y="5337199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6010001" y="5917001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112996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355103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Rasterization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5" y="1568467"/>
            <a:ext cx="10372512" cy="33880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5447" marR="6773" indent="-488514">
              <a:lnSpc>
                <a:spcPct val="114599"/>
              </a:lnSpc>
              <a:spcBef>
                <a:spcPts val="133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Rasterization is the process of breaking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primitive into discrete elements 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called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fragments.</a:t>
            </a:r>
            <a:endParaRPr sz="240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short,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it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be accomplished using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signed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distances to</a:t>
            </a:r>
            <a:r>
              <a:rPr sz="2400" spc="-6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lines.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Inside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triangle is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considered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be the positive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side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of its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edge.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Compute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signed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distance from fragment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center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each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edge.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If all three distances are positive, the fragment is inside the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triangle.</a:t>
            </a:r>
            <a:endParaRPr sz="1867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There are faster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ways.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Tile based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rasterization.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Hierarchical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rasterization.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02267" y="3130650"/>
            <a:ext cx="2235199" cy="28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97367" y="6626504"/>
            <a:ext cx="1330959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</a:t>
            </a:r>
            <a:r>
              <a:rPr sz="800" spc="-107" dirty="0">
                <a:latin typeface="Arial"/>
                <a:cs typeface="Arial"/>
              </a:rPr>
              <a:t> </a:t>
            </a:r>
            <a:r>
              <a:rPr sz="800" spc="-7" dirty="0">
                <a:latin typeface="Arial"/>
                <a:cs typeface="Arial"/>
              </a:rPr>
              <a:t>Wikibooks</a:t>
            </a:r>
            <a:endParaRPr sz="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89744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263906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Interpolation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68468"/>
            <a:ext cx="10098193" cy="8665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5447" marR="6773" indent="-488514">
              <a:lnSpc>
                <a:spcPct val="114599"/>
              </a:lnSpc>
              <a:spcBef>
                <a:spcPts val="133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Outputs from the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vertex shaders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need to be interpolated over the entire  primitive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surface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before being passed to the fragment</a:t>
            </a:r>
            <a:r>
              <a:rPr sz="2400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shader.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4258" y="2416997"/>
            <a:ext cx="8779087" cy="1027824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○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It turns out for perspective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correct result, you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need to interpolate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values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over</a:t>
            </a:r>
            <a:r>
              <a:rPr sz="1867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i="1" spc="-7" dirty="0">
                <a:solidFill>
                  <a:srgbClr val="595959"/>
                </a:solidFill>
                <a:latin typeface="Arial"/>
                <a:cs typeface="Arial"/>
              </a:rPr>
              <a:t>w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○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For example, 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u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/ 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w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or 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v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i="1" spc="-7" dirty="0">
                <a:solidFill>
                  <a:srgbClr val="595959"/>
                </a:solidFill>
                <a:latin typeface="Arial"/>
                <a:cs typeface="Arial"/>
              </a:rPr>
              <a:t>w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○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multiply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interpolated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result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by </a:t>
            </a:r>
            <a:r>
              <a:rPr sz="1867" i="1" spc="-7" dirty="0">
                <a:solidFill>
                  <a:srgbClr val="595959"/>
                </a:solidFill>
                <a:latin typeface="Arial"/>
                <a:cs typeface="Arial"/>
              </a:rPr>
              <a:t>w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11729" y="3555433"/>
            <a:ext cx="2581632" cy="222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6408691" y="5580118"/>
            <a:ext cx="98213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"/>
                <a:cs typeface="Arial"/>
              </a:rPr>
              <a:t>( </a:t>
            </a:r>
            <a:r>
              <a:rPr sz="1867" spc="-7" dirty="0">
                <a:latin typeface="Arial"/>
                <a:cs typeface="Arial"/>
              </a:rPr>
              <a:t>1, 0, </a:t>
            </a:r>
            <a:r>
              <a:rPr sz="1867" dirty="0">
                <a:latin typeface="Arial"/>
                <a:cs typeface="Arial"/>
              </a:rPr>
              <a:t>0</a:t>
            </a:r>
            <a:r>
              <a:rPr sz="1867" spc="-12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)</a:t>
            </a:r>
            <a:endParaRPr sz="186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11558" y="3143685"/>
            <a:ext cx="98213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"/>
                <a:cs typeface="Arial"/>
              </a:rPr>
              <a:t>( </a:t>
            </a:r>
            <a:r>
              <a:rPr sz="1867" spc="-7" dirty="0">
                <a:latin typeface="Arial"/>
                <a:cs typeface="Arial"/>
              </a:rPr>
              <a:t>0, 0, </a:t>
            </a:r>
            <a:r>
              <a:rPr sz="1867" dirty="0">
                <a:latin typeface="Arial"/>
                <a:cs typeface="Arial"/>
              </a:rPr>
              <a:t>1</a:t>
            </a:r>
            <a:r>
              <a:rPr sz="1867" spc="-12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)</a:t>
            </a:r>
            <a:endParaRPr sz="186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08624" y="5580118"/>
            <a:ext cx="98213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"/>
                <a:cs typeface="Arial"/>
              </a:rPr>
              <a:t>( </a:t>
            </a:r>
            <a:r>
              <a:rPr sz="1867" spc="-7" dirty="0">
                <a:latin typeface="Arial"/>
                <a:cs typeface="Arial"/>
              </a:rPr>
              <a:t>0, 1, </a:t>
            </a:r>
            <a:r>
              <a:rPr sz="1867" dirty="0">
                <a:latin typeface="Arial"/>
                <a:cs typeface="Arial"/>
              </a:rPr>
              <a:t>0</a:t>
            </a:r>
            <a:r>
              <a:rPr sz="1867" spc="-12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)</a:t>
            </a:r>
            <a:endParaRPr sz="1867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367" y="6626504"/>
            <a:ext cx="1529080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 Alec</a:t>
            </a:r>
            <a:r>
              <a:rPr sz="800" spc="-107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Jacobson</a:t>
            </a:r>
            <a:endParaRPr sz="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65931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5082539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Barycentric</a:t>
            </a:r>
            <a:r>
              <a:rPr spc="-113" dirty="0"/>
              <a:t> </a:t>
            </a:r>
            <a:r>
              <a:rPr spc="-7" dirty="0"/>
              <a:t>Coordinates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49744"/>
            <a:ext cx="9897533" cy="1813573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Coordinates which describe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point within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simplex.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value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coordinate can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viewed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67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percentage.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Multiply/add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vertex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by its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corresponding coordinate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get interior</a:t>
            </a:r>
            <a:r>
              <a:rPr sz="1867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point.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For example,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center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triangle has barycentric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coordinates (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0.33, 0.33, 0.33</a:t>
            </a:r>
            <a:r>
              <a:rPr sz="1867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centerpoint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the average of all three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vertices</a:t>
            </a:r>
            <a:r>
              <a:rPr sz="1867" dirty="0" smtClean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79196" y="3487901"/>
            <a:ext cx="3340059" cy="25929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97367" y="6626504"/>
            <a:ext cx="1308947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</a:t>
            </a:r>
            <a:r>
              <a:rPr sz="800" spc="-107" dirty="0">
                <a:latin typeface="Arial"/>
                <a:cs typeface="Arial"/>
              </a:rPr>
              <a:t> </a:t>
            </a:r>
            <a:r>
              <a:rPr sz="800" spc="-7" dirty="0">
                <a:latin typeface="Arial"/>
                <a:cs typeface="Arial"/>
              </a:rPr>
              <a:t>Wikipedia</a:t>
            </a:r>
            <a:endParaRPr sz="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39768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6" y="626078"/>
            <a:ext cx="388631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Z/Stencil</a:t>
            </a:r>
            <a:r>
              <a:rPr spc="-127" dirty="0"/>
              <a:t> </a:t>
            </a:r>
            <a:r>
              <a:rPr spc="-7" dirty="0"/>
              <a:t>Tests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49744"/>
            <a:ext cx="10796693" cy="364503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Shading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multiple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fragments for the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same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pixel is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called</a:t>
            </a:r>
            <a:r>
              <a:rPr sz="2400" spc="6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overdraw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More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overdraw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means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worse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performance.</a:t>
            </a:r>
            <a:endParaRPr sz="1867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Early Z/Stencil tests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can reject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fragments from going to the fragment</a:t>
            </a:r>
            <a:r>
              <a:rPr sz="24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shader.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Z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test is also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known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as depth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test.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There are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some conditions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which prevent these early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tests:</a:t>
            </a:r>
            <a:endParaRPr sz="1867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Alpha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blending</a:t>
            </a:r>
            <a:endParaRPr sz="1867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Pixel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shaders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which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reject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based on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depth</a:t>
            </a:r>
            <a:endParaRPr sz="1867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Pixel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shaders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which write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custom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depth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values</a:t>
            </a:r>
            <a:endParaRPr sz="1867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Late Z/Stencil tests are the original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implementation.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These tests occur after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shading, so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may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throw out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completed</a:t>
            </a:r>
            <a:r>
              <a:rPr sz="1867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work.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22721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4947072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Programmable</a:t>
            </a:r>
            <a:r>
              <a:rPr spc="-113" dirty="0"/>
              <a:t> </a:t>
            </a:r>
            <a:r>
              <a:rPr spc="-7" dirty="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26701" y="15348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421629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Specification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6701" y="21146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71118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901" y="26944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836486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Tessellation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6701" y="32742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533387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Geometry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6901" y="3853996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231134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33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Post-Processing</a:t>
            </a:r>
            <a:endParaRPr sz="186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26901" y="4433801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468195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Primitive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Assembly</a:t>
            </a:r>
            <a:endParaRPr sz="1867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26901" y="50136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777221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Rasterization</a:t>
            </a:r>
            <a:endParaRPr sz="1867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6901" y="5593401"/>
            <a:ext cx="2938780" cy="306132"/>
          </a:xfrm>
          <a:prstGeom prst="rect">
            <a:avLst/>
          </a:prstGeom>
          <a:solidFill>
            <a:srgbClr val="93C47D"/>
          </a:solidFill>
          <a:ln w="19049">
            <a:solidFill>
              <a:srgbClr val="0000FF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546932">
              <a:spcBef>
                <a:spcPts val="147"/>
              </a:spcBef>
            </a:pPr>
            <a:r>
              <a:rPr sz="1867" spc="-7" dirty="0">
                <a:latin typeface="Arial"/>
                <a:cs typeface="Arial"/>
              </a:rPr>
              <a:t>Fragment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Shader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26701" y="61732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19134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Per-Sampler</a:t>
            </a:r>
            <a:r>
              <a:rPr sz="1867" spc="-4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Operations</a:t>
            </a:r>
            <a:endParaRPr sz="1867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02534" y="1858499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6002534" y="2438201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6002534" y="3018001"/>
            <a:ext cx="172199" cy="268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6002534" y="3597801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6009801" y="4177601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6010001" y="4757401"/>
            <a:ext cx="172199" cy="2689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6010001" y="5337199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6010001" y="5917001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115871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474991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Fragment</a:t>
            </a:r>
            <a:r>
              <a:rPr spc="-127" dirty="0"/>
              <a:t> </a:t>
            </a:r>
            <a:r>
              <a:rPr spc="-7" dirty="0"/>
              <a:t>Shaders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5" y="1549744"/>
            <a:ext cx="5227320" cy="418390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Modern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fragment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shaders</a:t>
            </a:r>
            <a:r>
              <a:rPr sz="2400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perform: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Lighting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Complex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post-processing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SSAO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Blur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Depth-of-Field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Bloom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Anti-aliasing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Texture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sampling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Normal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distortions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Color grading and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tonemapping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 err="1" smtClean="0">
                <a:solidFill>
                  <a:srgbClr val="595959"/>
                </a:solidFill>
                <a:latin typeface="Arial"/>
                <a:cs typeface="Arial"/>
              </a:rPr>
              <a:t>Downsampling</a:t>
            </a:r>
            <a:endParaRPr lang="en-US" sz="1867" spc="-7" dirty="0" smtClean="0">
              <a:solidFill>
                <a:srgbClr val="595959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99148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HW3 – Textured Cube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305" y="2139580"/>
            <a:ext cx="3734124" cy="310160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18" y="2139580"/>
            <a:ext cx="3412509" cy="31016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936" y="2139580"/>
            <a:ext cx="3452159" cy="3116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1218" y="5443268"/>
            <a:ext cx="2056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Unlit, textured cube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17936" y="5443268"/>
            <a:ext cx="3350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Unlit, Warhol conceptual art cube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419071" y="5443268"/>
            <a:ext cx="1832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Lit, textured cube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7372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324188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Tips and</a:t>
            </a:r>
            <a:r>
              <a:rPr spc="-127" dirty="0"/>
              <a:t> </a:t>
            </a:r>
            <a:r>
              <a:rPr spc="-7" dirty="0"/>
              <a:t>Tricks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68467"/>
            <a:ext cx="10665460" cy="4836815"/>
          </a:xfrm>
          <a:prstGeom prst="rect">
            <a:avLst/>
          </a:prstGeom>
        </p:spPr>
        <p:txBody>
          <a:bodyPr vert="horz" wrap="square" lIns="0" tIns="70272" rIns="0" bIns="0" rtlCol="0">
            <a:spAutoFit/>
          </a:bodyPr>
          <a:lstStyle/>
          <a:p>
            <a:pPr marL="505447" indent="-488514">
              <a:spcBef>
                <a:spcPts val="552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Use transpose argument in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your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glUniform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*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calls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2400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 smtClean="0">
                <a:solidFill>
                  <a:srgbClr val="595959"/>
                </a:solidFill>
                <a:latin typeface="Arial"/>
                <a:cs typeface="Arial"/>
              </a:rPr>
              <a:t>matrices</a:t>
            </a:r>
            <a:r>
              <a:rPr lang="en-US" sz="2400" dirty="0" smtClean="0">
                <a:solidFill>
                  <a:srgbClr val="595959"/>
                </a:solidFill>
                <a:latin typeface="Arial"/>
                <a:cs typeface="Arial"/>
              </a:rPr>
              <a:t> if needed, instead of transposing the matrix manually </a:t>
            </a:r>
            <a:endParaRPr sz="2400" dirty="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Binding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textures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OpenGL has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multiple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texture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units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(up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67" spc="-7" dirty="0">
                <a:solidFill>
                  <a:srgbClr val="595959"/>
                </a:solidFill>
                <a:latin typeface="Courier New"/>
                <a:cs typeface="Courier New"/>
              </a:rPr>
              <a:t>GL_MAX_COMBINED_TEXTURE_IMAGE_UNITS</a:t>
            </a:r>
            <a:r>
              <a:rPr sz="1867" spc="-473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bind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texture,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you’ll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use the following API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calls: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glActiveTexture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Activates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texture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unit.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glBindTexture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Binds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texture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resource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texture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target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(different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unit).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glUniform1i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Assigns the active texture unit to uniform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location.</a:t>
            </a:r>
            <a:endParaRPr sz="1867" dirty="0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Clue: Pay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very close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attention to the type of the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cube</a:t>
            </a:r>
            <a:r>
              <a:rPr sz="2400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indices.</a:t>
            </a:r>
            <a:endParaRPr sz="2400" dirty="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Vertex array objects wrap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vertex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and index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buffers.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So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create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and bind an array object first, then fill out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buffers.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Use the array object 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recall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buffer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state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at draw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time.</a:t>
            </a:r>
            <a:endParaRPr sz="1867" dirty="0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When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have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something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drawing, use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color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 debug the</a:t>
            </a:r>
            <a:r>
              <a:rPr sz="2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rest.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1514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2699</Words>
  <Application>Microsoft Office PowerPoint</Application>
  <PresentationFormat>Widescreen</PresentationFormat>
  <Paragraphs>523</Paragraphs>
  <Slides>53</Slides>
  <Notes>6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Arial</vt:lpstr>
      <vt:lpstr>Baskerville</vt:lpstr>
      <vt:lpstr>Calibri</vt:lpstr>
      <vt:lpstr>Calibri Light</vt:lpstr>
      <vt:lpstr>Courier New</vt:lpstr>
      <vt:lpstr>Gill Sans</vt:lpstr>
      <vt:lpstr>Times New Roman</vt:lpstr>
      <vt:lpstr>Office Theme</vt:lpstr>
      <vt:lpstr>Graphics Part 2</vt:lpstr>
      <vt:lpstr>Coordinate Systems</vt:lpstr>
      <vt:lpstr>Coordinate Systems</vt:lpstr>
      <vt:lpstr>Coordinate Systems</vt:lpstr>
      <vt:lpstr>Coordinate Systems</vt:lpstr>
      <vt:lpstr>Coordinate Systems</vt:lpstr>
      <vt:lpstr>Scene Representation</vt:lpstr>
      <vt:lpstr>Virtual Camera</vt:lpstr>
      <vt:lpstr>Transformations</vt:lpstr>
      <vt:lpstr>Calculating the View Matrix</vt:lpstr>
      <vt:lpstr>Calculating the View Matrix</vt:lpstr>
      <vt:lpstr>Calculating the View Matrix</vt:lpstr>
      <vt:lpstr>Calculating the View Matrix</vt:lpstr>
      <vt:lpstr>Order of Multiplication?</vt:lpstr>
      <vt:lpstr>Programmable Pipeline</vt:lpstr>
      <vt:lpstr>Programmable Shaders</vt:lpstr>
      <vt:lpstr>Shading Languages</vt:lpstr>
      <vt:lpstr>OpenGL Shaders</vt:lpstr>
      <vt:lpstr>GLSL</vt:lpstr>
      <vt:lpstr>GLSL</vt:lpstr>
      <vt:lpstr>Vertex Shaders</vt:lpstr>
      <vt:lpstr>Example</vt:lpstr>
      <vt:lpstr>PowerPoint Presentation</vt:lpstr>
      <vt:lpstr>PowerPoint Presentation</vt:lpstr>
      <vt:lpstr>Data Qualifiers</vt:lpstr>
      <vt:lpstr>Example: Linking Shaders</vt:lpstr>
      <vt:lpstr>PowerPoint Presentation</vt:lpstr>
      <vt:lpstr>Types</vt:lpstr>
      <vt:lpstr>Vector Types</vt:lpstr>
      <vt:lpstr>Structure</vt:lpstr>
      <vt:lpstr>Built-in Functions</vt:lpstr>
      <vt:lpstr>Built-in Functions</vt:lpstr>
      <vt:lpstr>Shader Units</vt:lpstr>
      <vt:lpstr>Shader Units</vt:lpstr>
      <vt:lpstr>Shader Units</vt:lpstr>
      <vt:lpstr>Shader Units</vt:lpstr>
      <vt:lpstr>Programmable Pipeline</vt:lpstr>
      <vt:lpstr>Programmable Pipeline</vt:lpstr>
      <vt:lpstr>Post-process and Assembly</vt:lpstr>
      <vt:lpstr>Post-process and Assembly</vt:lpstr>
      <vt:lpstr>Post-process and Assembly</vt:lpstr>
      <vt:lpstr>Post-process and Assembly</vt:lpstr>
      <vt:lpstr>Post-process and Assembly</vt:lpstr>
      <vt:lpstr>Post-process and Assembly</vt:lpstr>
      <vt:lpstr>Programmable Pipeline</vt:lpstr>
      <vt:lpstr>Rasterization</vt:lpstr>
      <vt:lpstr>Interpolation</vt:lpstr>
      <vt:lpstr>Barycentric Coordinates</vt:lpstr>
      <vt:lpstr>Z/Stencil Tests</vt:lpstr>
      <vt:lpstr>Programmable Pipeline</vt:lpstr>
      <vt:lpstr>Fragment Shaders</vt:lpstr>
      <vt:lpstr>HW3 – Textured Cube</vt:lpstr>
      <vt:lpstr>Tips and Tricks</vt:lpstr>
    </vt:vector>
  </TitlesOfParts>
  <Company>Rensselaer Polytechnic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Graphics Part 2</dc:title>
  <dc:creator>Chang, Benjamin Chia-Ming</dc:creator>
  <cp:lastModifiedBy>Chang, Benjamin Chia-Ming</cp:lastModifiedBy>
  <cp:revision>10</cp:revision>
  <dcterms:created xsi:type="dcterms:W3CDTF">2019-02-11T01:36:03Z</dcterms:created>
  <dcterms:modified xsi:type="dcterms:W3CDTF">2019-02-11T18:26:15Z</dcterms:modified>
</cp:coreProperties>
</file>