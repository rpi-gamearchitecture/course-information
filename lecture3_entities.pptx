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11.jpg" ContentType="image/jpe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sldIdLst>
    <p:sldId id="257" r:id="rId2"/>
    <p:sldId id="289"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90" r:id="rId34"/>
    <p:sldId id="291" r:id="rId35"/>
    <p:sldId id="355"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45" r:id="rId58"/>
    <p:sldId id="313" r:id="rId59"/>
    <p:sldId id="314" r:id="rId60"/>
    <p:sldId id="315" r:id="rId61"/>
    <p:sldId id="324" r:id="rId62"/>
    <p:sldId id="325" r:id="rId63"/>
    <p:sldId id="326" r:id="rId64"/>
    <p:sldId id="327" r:id="rId65"/>
    <p:sldId id="328" r:id="rId66"/>
    <p:sldId id="329" r:id="rId67"/>
    <p:sldId id="330" r:id="rId68"/>
    <p:sldId id="346" r:id="rId69"/>
    <p:sldId id="347" r:id="rId70"/>
    <p:sldId id="348" r:id="rId71"/>
    <p:sldId id="354" r:id="rId72"/>
    <p:sldId id="338" r:id="rId73"/>
    <p:sldId id="339" r:id="rId74"/>
    <p:sldId id="341" r:id="rId75"/>
    <p:sldId id="350" r:id="rId76"/>
    <p:sldId id="349" r:id="rId77"/>
    <p:sldId id="340" r:id="rId78"/>
    <p:sldId id="351" r:id="rId79"/>
    <p:sldId id="352" r:id="rId80"/>
    <p:sldId id="353" r:id="rId81"/>
    <p:sldId id="342" r:id="rId82"/>
    <p:sldId id="343"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73487" autoAdjust="0"/>
  </p:normalViewPr>
  <p:slideViewPr>
    <p:cSldViewPr snapToGrid="0">
      <p:cViewPr varScale="1">
        <p:scale>
          <a:sx n="65" d="100"/>
          <a:sy n="65" d="100"/>
        </p:scale>
        <p:origin x="138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2AEC22-1B5E-4A6A-9248-2ABA727AA6F6}" type="datetimeFigureOut">
              <a:rPr lang="en-US" smtClean="0"/>
              <a:t>1/17/2019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C1BDAA-E9D6-43AB-9B00-794D14FF3CD5}" type="slidenum">
              <a:rPr lang="en-US" smtClean="0"/>
              <a:t>‹#›</a:t>
            </a:fld>
            <a:endParaRPr lang="en-US"/>
          </a:p>
        </p:txBody>
      </p:sp>
    </p:spTree>
    <p:extLst>
      <p:ext uri="{BB962C8B-B14F-4D97-AF65-F5344CB8AC3E}">
        <p14:creationId xmlns:p14="http://schemas.microsoft.com/office/powerpoint/2010/main" val="3804362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Shape 57"/>
          <p:cNvSpPr>
            <a:spLocks noGrp="1" noRot="1" noChangeAspect="1"/>
          </p:cNvSpPr>
          <p:nvPr>
            <p:ph type="sldImg"/>
          </p:nvPr>
        </p:nvSpPr>
        <p:spPr>
          <a:prstGeom prst="rect">
            <a:avLst/>
          </a:prstGeom>
        </p:spPr>
        <p:txBody>
          <a:bodyPr/>
          <a:lstStyle/>
          <a:p>
            <a:endParaRPr/>
          </a:p>
        </p:txBody>
      </p:sp>
      <p:sp>
        <p:nvSpPr>
          <p:cNvPr id="58" name="Shape 58"/>
          <p:cNvSpPr>
            <a:spLocks noGrp="1"/>
          </p:cNvSpPr>
          <p:nvPr>
            <p:ph type="body" sz="quarter" idx="1"/>
          </p:nvPr>
        </p:nvSpPr>
        <p:spPr>
          <a:prstGeom prst="rect">
            <a:avLst/>
          </a:prstGeom>
        </p:spPr>
        <p:txBody>
          <a:bodyPr/>
          <a:lstStyle/>
          <a:p>
            <a:r>
              <a:rPr dirty="0"/>
              <a:t>game engines need a collection of runtime software components that provide the framework upon which the game can be constructed. There’s no standard name for this collection, but Jason Gregory calls them Gameplay Foundational Systems and so shall I.</a:t>
            </a:r>
          </a:p>
          <a:p>
            <a:r>
              <a:rPr dirty="0"/>
              <a:t>Objects need to communicate with each other and signal changes in the game world</a:t>
            </a:r>
          </a:p>
          <a:p>
            <a:r>
              <a:rPr dirty="0"/>
              <a:t>object updating not as trivial as it sounds – it’s where all the disparate systems have to merge</a:t>
            </a:r>
          </a:p>
        </p:txBody>
      </p:sp>
    </p:spTree>
    <p:extLst>
      <p:ext uri="{BB962C8B-B14F-4D97-AF65-F5344CB8AC3E}">
        <p14:creationId xmlns:p14="http://schemas.microsoft.com/office/powerpoint/2010/main" val="2277492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73"/>
          <p:cNvSpPr>
            <a:spLocks noGrp="1" noRot="1" noChangeAspect="1"/>
          </p:cNvSpPr>
          <p:nvPr>
            <p:ph type="sldImg"/>
          </p:nvPr>
        </p:nvSpPr>
        <p:spPr>
          <a:prstGeom prst="rect">
            <a:avLst/>
          </a:prstGeom>
        </p:spPr>
        <p:txBody>
          <a:bodyPr/>
          <a:lstStyle/>
          <a:p>
            <a:endParaRPr/>
          </a:p>
        </p:txBody>
      </p:sp>
      <p:sp>
        <p:nvSpPr>
          <p:cNvPr id="74" name="Shape 74"/>
          <p:cNvSpPr>
            <a:spLocks noGrp="1"/>
          </p:cNvSpPr>
          <p:nvPr>
            <p:ph type="body" sz="quarter" idx="1"/>
          </p:nvPr>
        </p:nvSpPr>
        <p:spPr>
          <a:prstGeom prst="rect">
            <a:avLst/>
          </a:prstGeom>
        </p:spPr>
        <p:txBody>
          <a:bodyPr/>
          <a:lstStyle/>
          <a:p>
            <a:r>
              <a:rPr dirty="0" smtClean="0"/>
              <a:t>games can have thousands of objects operating at runtime, and we need to be able to identify particular objects or search for it. Human-readable names are great, but we must at least consider the performance costs of using strings at runtime. Integer IDs are the most efficient, but not human-readable. Using hashed string identifiers is a good compromise</a:t>
            </a:r>
          </a:p>
          <a:p>
            <a:r>
              <a:rPr dirty="0" smtClean="0"/>
              <a:t>we may want to find all the objects of a particular type, or query along an arbitrary criteria (e.g. return all objects within 20 meters of the player’s radius)</a:t>
            </a:r>
          </a:p>
          <a:p>
            <a:r>
              <a:rPr dirty="0" err="1" smtClean="0"/>
              <a:t>fsm</a:t>
            </a:r>
            <a:r>
              <a:rPr dirty="0" smtClean="0"/>
              <a:t> - delegates (function pointers if using C++), closure, and introspection</a:t>
            </a:r>
          </a:p>
          <a:p>
            <a:r>
              <a:rPr dirty="0" smtClean="0"/>
              <a:t>Remote Procedural Calls, state synchronization? I know a great joke about UDP, but you might not get it (</a:t>
            </a:r>
            <a:r>
              <a:rPr dirty="0" err="1" smtClean="0"/>
              <a:t>wakka</a:t>
            </a:r>
            <a:r>
              <a:rPr dirty="0" smtClean="0"/>
              <a:t> </a:t>
            </a:r>
            <a:r>
              <a:rPr dirty="0" err="1" smtClean="0"/>
              <a:t>wakka</a:t>
            </a:r>
            <a:r>
              <a:rPr dirty="0" smtClean="0"/>
              <a:t>)</a:t>
            </a:r>
          </a:p>
          <a:p>
            <a:r>
              <a:rPr dirty="0" smtClean="0"/>
              <a:t>okay, let’s start with classic OOP</a:t>
            </a:r>
            <a:endParaRPr dirty="0"/>
          </a:p>
        </p:txBody>
      </p:sp>
    </p:spTree>
    <p:extLst>
      <p:ext uri="{BB962C8B-B14F-4D97-AF65-F5344CB8AC3E}">
        <p14:creationId xmlns:p14="http://schemas.microsoft.com/office/powerpoint/2010/main" val="4207448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Shape 214"/>
          <p:cNvSpPr>
            <a:spLocks noGrp="1" noRot="1" noChangeAspect="1"/>
          </p:cNvSpPr>
          <p:nvPr>
            <p:ph type="sldImg"/>
          </p:nvPr>
        </p:nvSpPr>
        <p:spPr>
          <a:prstGeom prst="rect">
            <a:avLst/>
          </a:prstGeom>
        </p:spPr>
        <p:txBody>
          <a:bodyPr/>
          <a:lstStyle/>
          <a:p>
            <a:endParaRPr/>
          </a:p>
        </p:txBody>
      </p:sp>
      <p:sp>
        <p:nvSpPr>
          <p:cNvPr id="215" name="Shape 215"/>
          <p:cNvSpPr>
            <a:spLocks noGrp="1"/>
          </p:cNvSpPr>
          <p:nvPr>
            <p:ph type="body" sz="quarter" idx="1"/>
          </p:nvPr>
        </p:nvSpPr>
        <p:spPr>
          <a:prstGeom prst="rect">
            <a:avLst/>
          </a:prstGeom>
        </p:spPr>
        <p:txBody>
          <a:bodyPr/>
          <a:lstStyle/>
          <a:p>
            <a:r>
              <a:t>implementation of MI is not straightforward. C++ supports it, but it’s not for the faint of heart. Stuff is ugly behind the scenes. Virtual inheritance hoop jumping to get things working</a:t>
            </a:r>
          </a:p>
          <a:p>
            <a:r>
              <a:t>what about interfaces?</a:t>
            </a:r>
          </a:p>
        </p:txBody>
      </p:sp>
    </p:spTree>
    <p:extLst>
      <p:ext uri="{BB962C8B-B14F-4D97-AF65-F5344CB8AC3E}">
        <p14:creationId xmlns:p14="http://schemas.microsoft.com/office/powerpoint/2010/main" val="1374495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Shape 250"/>
          <p:cNvSpPr>
            <a:spLocks noGrp="1" noRot="1" noChangeAspect="1"/>
          </p:cNvSpPr>
          <p:nvPr>
            <p:ph type="sldImg"/>
          </p:nvPr>
        </p:nvSpPr>
        <p:spPr>
          <a:prstGeom prst="rect">
            <a:avLst/>
          </a:prstGeom>
        </p:spPr>
        <p:txBody>
          <a:bodyPr/>
          <a:lstStyle/>
          <a:p>
            <a:endParaRPr/>
          </a:p>
        </p:txBody>
      </p:sp>
      <p:sp>
        <p:nvSpPr>
          <p:cNvPr id="251" name="Shape 251"/>
          <p:cNvSpPr>
            <a:spLocks noGrp="1"/>
          </p:cNvSpPr>
          <p:nvPr>
            <p:ph type="body" sz="quarter" idx="1"/>
          </p:nvPr>
        </p:nvSpPr>
        <p:spPr>
          <a:prstGeom prst="rect">
            <a:avLst/>
          </a:prstGeom>
        </p:spPr>
        <p:txBody>
          <a:bodyPr/>
          <a:lstStyle/>
          <a:p>
            <a:r>
              <a:t>some developers allow a limited form of multiple inheritance, where a class can have multiple parents but only one grandparent, in effect meaning that classes only inherit from one class in the main hierarchy, but also from any number of mixin classes, which are standalone and have no base class. These are classes designed to make implementation of certain functionality easier in subclasses, but which is not designed to be used by itself. (interfaces are contracts, no implementation) This way, common functionality an be factored out into one of these mix-in classes and patched into the hierarchy where needed. But even here, you can get bubble-up effects, which negates encapsulation. This is when a feature moves up towards the root in order to share code between unrelated objects. Hey, more stuff needs to float, so move the floatation code further up the hierarchy - even though certain derived classes can’t float, it prevents duplicate code</a:t>
            </a:r>
          </a:p>
          <a:p>
            <a:r>
              <a:t>Mixins are not interfaces. They are multiple inheritance. With a prettier name. This is not to say that mixins are bad. Multiple inheritance isn't bad. The way C++ resolves multiple inheritance is what everyone gets all worked up about.</a:t>
            </a:r>
          </a:p>
        </p:txBody>
      </p:sp>
    </p:spTree>
    <p:extLst>
      <p:ext uri="{BB962C8B-B14F-4D97-AF65-F5344CB8AC3E}">
        <p14:creationId xmlns:p14="http://schemas.microsoft.com/office/powerpoint/2010/main" val="2924820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Shape 250"/>
          <p:cNvSpPr>
            <a:spLocks noGrp="1" noRot="1" noChangeAspect="1"/>
          </p:cNvSpPr>
          <p:nvPr>
            <p:ph type="sldImg"/>
          </p:nvPr>
        </p:nvSpPr>
        <p:spPr>
          <a:prstGeom prst="rect">
            <a:avLst/>
          </a:prstGeom>
        </p:spPr>
        <p:txBody>
          <a:bodyPr/>
          <a:lstStyle/>
          <a:p>
            <a:endParaRPr/>
          </a:p>
        </p:txBody>
      </p:sp>
      <p:sp>
        <p:nvSpPr>
          <p:cNvPr id="251" name="Shape 251"/>
          <p:cNvSpPr>
            <a:spLocks noGrp="1"/>
          </p:cNvSpPr>
          <p:nvPr>
            <p:ph type="body" sz="quarter" idx="1"/>
          </p:nvPr>
        </p:nvSpPr>
        <p:spPr>
          <a:prstGeom prst="rect">
            <a:avLst/>
          </a:prstGeom>
        </p:spPr>
        <p:txBody>
          <a:bodyPr/>
          <a:lstStyle/>
          <a:p>
            <a:r>
              <a:t>some developers allow a limited form of multiple inheritance, where a class can have multiple parents but only one grandparent, in effect meaning that classes only inherit from one class in the main hierarchy, but also from any number of mixin classes, which are standalone and have no base class. These are classes designed to make implementation of certain functionality easier in subclasses, but which is not designed to be used by itself. (interfaces are contracts, no implementation) This way, common functionality an be factored out into one of these mix-in classes and patched into the hierarchy where needed. But even here, you can get bubble-up effects, which negates encapsulation. This is when a feature moves up towards the root in order to share code between unrelated objects. Hey, more stuff needs to float, so move the floatation code further up the hierarchy - even though certain derived classes can’t float, it prevents duplicate code</a:t>
            </a:r>
          </a:p>
          <a:p>
            <a:r>
              <a:t>Mixins are not interfaces. They are multiple inheritance. With a prettier name. This is not to say that mixins are bad. Multiple inheritance isn't bad. The way C++ resolves multiple inheritance is what everyone gets all worked up about.</a:t>
            </a:r>
          </a:p>
        </p:txBody>
      </p:sp>
    </p:spTree>
    <p:extLst>
      <p:ext uri="{BB962C8B-B14F-4D97-AF65-F5344CB8AC3E}">
        <p14:creationId xmlns:p14="http://schemas.microsoft.com/office/powerpoint/2010/main" val="3684069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C1BDAA-E9D6-43AB-9B00-794D14FF3CD5}" type="slidenum">
              <a:rPr lang="en-US" smtClean="0"/>
              <a:t>36</a:t>
            </a:fld>
            <a:endParaRPr lang="en-US"/>
          </a:p>
        </p:txBody>
      </p:sp>
    </p:spTree>
    <p:extLst>
      <p:ext uri="{BB962C8B-B14F-4D97-AF65-F5344CB8AC3E}">
        <p14:creationId xmlns:p14="http://schemas.microsoft.com/office/powerpoint/2010/main" val="2583173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Shape 258"/>
          <p:cNvSpPr>
            <a:spLocks noGrp="1" noRot="1" noChangeAspect="1"/>
          </p:cNvSpPr>
          <p:nvPr>
            <p:ph type="sldImg"/>
          </p:nvPr>
        </p:nvSpPr>
        <p:spPr>
          <a:prstGeom prst="rect">
            <a:avLst/>
          </a:prstGeom>
        </p:spPr>
        <p:txBody>
          <a:bodyPr/>
          <a:lstStyle/>
          <a:p>
            <a:endParaRPr/>
          </a:p>
        </p:txBody>
      </p:sp>
      <p:sp>
        <p:nvSpPr>
          <p:cNvPr id="259" name="Shape 259"/>
          <p:cNvSpPr>
            <a:spLocks noGrp="1"/>
          </p:cNvSpPr>
          <p:nvPr>
            <p:ph type="body" sz="quarter" idx="1"/>
          </p:nvPr>
        </p:nvSpPr>
        <p:spPr>
          <a:prstGeom prst="rect">
            <a:avLst/>
          </a:prstGeom>
        </p:spPr>
        <p:txBody>
          <a:bodyPr/>
          <a:lstStyle/>
          <a:p>
            <a:r>
              <a:t>the arcade game Hydro Thunder used a simple object model in C. The object types were: player boat, floating boost icons, ambient animated objects (animals on the side of the track), the water surface, ramps, waterfalls, particle effects, race track sectors (2D polygonal regions connected together which defined the watery region where boats could race), static geometry (terrain, foliage, etc) and HUD elements</a:t>
            </a:r>
          </a:p>
        </p:txBody>
      </p:sp>
    </p:spTree>
    <p:extLst>
      <p:ext uri="{BB962C8B-B14F-4D97-AF65-F5344CB8AC3E}">
        <p14:creationId xmlns:p14="http://schemas.microsoft.com/office/powerpoint/2010/main" val="4169238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Shape 262"/>
          <p:cNvSpPr>
            <a:spLocks noGrp="1" noRot="1" noChangeAspect="1"/>
          </p:cNvSpPr>
          <p:nvPr>
            <p:ph type="sldImg"/>
          </p:nvPr>
        </p:nvSpPr>
        <p:spPr>
          <a:prstGeom prst="rect">
            <a:avLst/>
          </a:prstGeom>
        </p:spPr>
        <p:txBody>
          <a:bodyPr/>
          <a:lstStyle/>
          <a:p>
            <a:endParaRPr/>
          </a:p>
        </p:txBody>
      </p:sp>
      <p:sp>
        <p:nvSpPr>
          <p:cNvPr id="263" name="Shape 263"/>
          <p:cNvSpPr>
            <a:spLocks noGrp="1"/>
          </p:cNvSpPr>
          <p:nvPr>
            <p:ph type="body" sz="quarter" idx="1"/>
          </p:nvPr>
        </p:nvSpPr>
        <p:spPr>
          <a:prstGeom prst="rect">
            <a:avLst/>
          </a:prstGeom>
        </p:spPr>
        <p:txBody>
          <a:bodyPr/>
          <a:lstStyle/>
          <a:p>
            <a:r>
              <a:t>ownership-based entity: there was a single World_t object, which represented a particular track, that contained pointers to arrays of various kinds of game objects. The static geom was a single mesh, and the water surface, waterfalls, and particles had custom data structures, but the dynamic elements were instances of a general-purpose WorldOb struct. This object contained pointers to custom data and functions, so while it’s not technically object-oriented, it does have rudimentary implementations of inheritance and polymorphism. The function pointers are effectively virtual functions</a:t>
            </a:r>
          </a:p>
        </p:txBody>
      </p:sp>
    </p:spTree>
    <p:extLst>
      <p:ext uri="{BB962C8B-B14F-4D97-AF65-F5344CB8AC3E}">
        <p14:creationId xmlns:p14="http://schemas.microsoft.com/office/powerpoint/2010/main" val="1301451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Shape 351"/>
          <p:cNvSpPr>
            <a:spLocks noGrp="1" noRot="1" noChangeAspect="1"/>
          </p:cNvSpPr>
          <p:nvPr>
            <p:ph type="sldImg"/>
          </p:nvPr>
        </p:nvSpPr>
        <p:spPr>
          <a:prstGeom prst="rect">
            <a:avLst/>
          </a:prstGeom>
        </p:spPr>
        <p:txBody>
          <a:bodyPr/>
          <a:lstStyle/>
          <a:p>
            <a:endParaRPr/>
          </a:p>
        </p:txBody>
      </p:sp>
      <p:sp>
        <p:nvSpPr>
          <p:cNvPr id="352" name="Shape 352"/>
          <p:cNvSpPr>
            <a:spLocks noGrp="1"/>
          </p:cNvSpPr>
          <p:nvPr>
            <p:ph type="body" sz="quarter" idx="1"/>
          </p:nvPr>
        </p:nvSpPr>
        <p:spPr>
          <a:prstGeom prst="rect">
            <a:avLst/>
          </a:prstGeom>
        </p:spPr>
        <p:txBody>
          <a:bodyPr/>
          <a:lstStyle/>
          <a:p>
            <a:r>
              <a:rPr dirty="0"/>
              <a:t>programmers tend to naturally think in an object-centric view, with objects that contain code and data - attributes and methods. But it’s also possible to think primarily in terms of attributes, rather than objects. First we define the set of all properties that it’s possible for an object to have, and for each one, build a table containing the values of that property, keyed by </a:t>
            </a:r>
            <a:r>
              <a:rPr dirty="0" err="1"/>
              <a:t>objectID</a:t>
            </a:r>
            <a:endParaRPr dirty="0"/>
          </a:p>
        </p:txBody>
      </p:sp>
    </p:spTree>
    <p:extLst>
      <p:ext uri="{BB962C8B-B14F-4D97-AF65-F5344CB8AC3E}">
        <p14:creationId xmlns:p14="http://schemas.microsoft.com/office/powerpoint/2010/main" val="4215662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Shape 363"/>
          <p:cNvSpPr>
            <a:spLocks noGrp="1" noRot="1" noChangeAspect="1"/>
          </p:cNvSpPr>
          <p:nvPr>
            <p:ph type="sldImg"/>
          </p:nvPr>
        </p:nvSpPr>
        <p:spPr>
          <a:prstGeom prst="rect">
            <a:avLst/>
          </a:prstGeom>
        </p:spPr>
        <p:txBody>
          <a:bodyPr/>
          <a:lstStyle/>
          <a:p>
            <a:endParaRPr/>
          </a:p>
        </p:txBody>
      </p:sp>
      <p:sp>
        <p:nvSpPr>
          <p:cNvPr id="364" name="Shape 364"/>
          <p:cNvSpPr>
            <a:spLocks noGrp="1"/>
          </p:cNvSpPr>
          <p:nvPr>
            <p:ph type="body" sz="quarter" idx="1"/>
          </p:nvPr>
        </p:nvSpPr>
        <p:spPr>
          <a:prstGeom prst="rect">
            <a:avLst/>
          </a:prstGeom>
        </p:spPr>
        <p:txBody>
          <a:bodyPr/>
          <a:lstStyle/>
          <a:p>
            <a:r>
              <a:t>Used in Deus Ex 2, and the later Thief series of games. This design is akin to a relational database, with each attribute as a column or a separate table, with the objectID as the primary key. But objects are behavior in addition to data, so where do we implement the behavior?</a:t>
            </a:r>
          </a:p>
        </p:txBody>
      </p:sp>
    </p:spTree>
    <p:extLst>
      <p:ext uri="{BB962C8B-B14F-4D97-AF65-F5344CB8AC3E}">
        <p14:creationId xmlns:p14="http://schemas.microsoft.com/office/powerpoint/2010/main" val="3936433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Shape 368"/>
          <p:cNvSpPr>
            <a:spLocks noGrp="1" noRot="1" noChangeAspect="1"/>
          </p:cNvSpPr>
          <p:nvPr>
            <p:ph type="sldImg"/>
          </p:nvPr>
        </p:nvSpPr>
        <p:spPr>
          <a:prstGeom prst="rect">
            <a:avLst/>
          </a:prstGeom>
        </p:spPr>
        <p:txBody>
          <a:bodyPr/>
          <a:lstStyle/>
          <a:p>
            <a:endParaRPr/>
          </a:p>
        </p:txBody>
      </p:sp>
      <p:sp>
        <p:nvSpPr>
          <p:cNvPr id="369" name="Shape 369"/>
          <p:cNvSpPr>
            <a:spLocks noGrp="1"/>
          </p:cNvSpPr>
          <p:nvPr>
            <p:ph type="body" sz="quarter" idx="1"/>
          </p:nvPr>
        </p:nvSpPr>
        <p:spPr>
          <a:prstGeom prst="rect">
            <a:avLst/>
          </a:prstGeom>
        </p:spPr>
        <p:txBody>
          <a:bodyPr/>
          <a:lstStyle/>
          <a:p>
            <a:r>
              <a:t>cons: you need to write your own debugger, because your IDE’s debugger won’t be able to inspect all the properties of an object at once</a:t>
            </a:r>
          </a:p>
          <a:p>
            <a:r>
              <a:t>pros: more memory efficient, because we’re only storing data that’s in use (as opposed to objects with unused members), but is also more cache friendly because it can be stored contiguously in memory</a:t>
            </a:r>
          </a:p>
        </p:txBody>
      </p:sp>
    </p:spTree>
    <p:extLst>
      <p:ext uri="{BB962C8B-B14F-4D97-AF65-F5344CB8AC3E}">
        <p14:creationId xmlns:p14="http://schemas.microsoft.com/office/powerpoint/2010/main" val="18993481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Shape 374"/>
          <p:cNvSpPr>
            <a:spLocks noGrp="1" noRot="1" noChangeAspect="1"/>
          </p:cNvSpPr>
          <p:nvPr>
            <p:ph type="sldImg"/>
          </p:nvPr>
        </p:nvSpPr>
        <p:spPr>
          <a:prstGeom prst="rect">
            <a:avLst/>
          </a:prstGeom>
        </p:spPr>
        <p:txBody>
          <a:bodyPr/>
          <a:lstStyle/>
          <a:p>
            <a:endParaRPr/>
          </a:p>
        </p:txBody>
      </p:sp>
      <p:sp>
        <p:nvSpPr>
          <p:cNvPr id="375" name="Shape 375"/>
          <p:cNvSpPr>
            <a:spLocks noGrp="1"/>
          </p:cNvSpPr>
          <p:nvPr>
            <p:ph type="body" sz="quarter" idx="1"/>
          </p:nvPr>
        </p:nvSpPr>
        <p:spPr>
          <a:prstGeom prst="rect">
            <a:avLst/>
          </a:prstGeom>
        </p:spPr>
        <p:txBody>
          <a:bodyPr/>
          <a:lstStyle/>
          <a:p>
            <a:r>
              <a:t>on modern hardware (especially consoles), the cost of accessing memory is far higher than performing calculations (on a PS3, a cache miss is the cost of many calculations - like 4-figure many), and by storing data contiguously we can reduce cache misses, because when we load one element of a data array, a large number of its neighboring elements are loaded into the same cache line</a:t>
            </a:r>
          </a:p>
        </p:txBody>
      </p:sp>
    </p:spTree>
    <p:extLst>
      <p:ext uri="{BB962C8B-B14F-4D97-AF65-F5344CB8AC3E}">
        <p14:creationId xmlns:p14="http://schemas.microsoft.com/office/powerpoint/2010/main" val="3824747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Shape 385"/>
          <p:cNvSpPr>
            <a:spLocks noGrp="1" noRot="1" noChangeAspect="1"/>
          </p:cNvSpPr>
          <p:nvPr>
            <p:ph type="sldImg"/>
          </p:nvPr>
        </p:nvSpPr>
        <p:spPr>
          <a:prstGeom prst="rect">
            <a:avLst/>
          </a:prstGeom>
        </p:spPr>
        <p:txBody>
          <a:bodyPr/>
          <a:lstStyle/>
          <a:p>
            <a:endParaRPr/>
          </a:p>
        </p:txBody>
      </p:sp>
      <p:sp>
        <p:nvSpPr>
          <p:cNvPr id="386" name="Shape 386"/>
          <p:cNvSpPr>
            <a:spLocks noGrp="1"/>
          </p:cNvSpPr>
          <p:nvPr>
            <p:ph type="body" sz="quarter" idx="1"/>
          </p:nvPr>
        </p:nvSpPr>
        <p:spPr>
          <a:prstGeom prst="rect">
            <a:avLst/>
          </a:prstGeom>
        </p:spPr>
        <p:txBody>
          <a:bodyPr/>
          <a:lstStyle/>
          <a:p>
            <a:r>
              <a:t>state and how to share it</a:t>
            </a:r>
          </a:p>
        </p:txBody>
      </p:sp>
    </p:spTree>
    <p:extLst>
      <p:ext uri="{BB962C8B-B14F-4D97-AF65-F5344CB8AC3E}">
        <p14:creationId xmlns:p14="http://schemas.microsoft.com/office/powerpoint/2010/main" val="4240080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 name="Shape 432"/>
          <p:cNvSpPr>
            <a:spLocks noGrp="1" noRot="1" noChangeAspect="1"/>
          </p:cNvSpPr>
          <p:nvPr>
            <p:ph type="sldImg"/>
          </p:nvPr>
        </p:nvSpPr>
        <p:spPr>
          <a:prstGeom prst="rect">
            <a:avLst/>
          </a:prstGeom>
        </p:spPr>
        <p:txBody>
          <a:bodyPr/>
          <a:lstStyle/>
          <a:p>
            <a:endParaRPr/>
          </a:p>
        </p:txBody>
      </p:sp>
      <p:sp>
        <p:nvSpPr>
          <p:cNvPr id="433" name="Shape 433"/>
          <p:cNvSpPr>
            <a:spLocks noGrp="1"/>
          </p:cNvSpPr>
          <p:nvPr>
            <p:ph type="body" sz="quarter" idx="1"/>
          </p:nvPr>
        </p:nvSpPr>
        <p:spPr>
          <a:prstGeom prst="rect">
            <a:avLst/>
          </a:prstGeom>
        </p:spPr>
        <p:txBody>
          <a:bodyPr/>
          <a:lstStyle/>
          <a:p>
            <a:r>
              <a:t>at runtime, we need various ways to find game objects - by id, by type, by some arbitrary criteria. Once an object has been found, we need a way to refer to it</a:t>
            </a:r>
          </a:p>
        </p:txBody>
      </p:sp>
    </p:spTree>
    <p:extLst>
      <p:ext uri="{BB962C8B-B14F-4D97-AF65-F5344CB8AC3E}">
        <p14:creationId xmlns:p14="http://schemas.microsoft.com/office/powerpoint/2010/main" val="36945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Shape 437"/>
          <p:cNvSpPr>
            <a:spLocks noGrp="1" noRot="1" noChangeAspect="1"/>
          </p:cNvSpPr>
          <p:nvPr>
            <p:ph type="sldImg"/>
          </p:nvPr>
        </p:nvSpPr>
        <p:spPr>
          <a:prstGeom prst="rect">
            <a:avLst/>
          </a:prstGeom>
        </p:spPr>
        <p:txBody>
          <a:bodyPr/>
          <a:lstStyle/>
          <a:p>
            <a:endParaRPr/>
          </a:p>
        </p:txBody>
      </p:sp>
      <p:sp>
        <p:nvSpPr>
          <p:cNvPr id="438" name="Shape 438"/>
          <p:cNvSpPr>
            <a:spLocks noGrp="1"/>
          </p:cNvSpPr>
          <p:nvPr>
            <p:ph type="body" sz="quarter" idx="1"/>
          </p:nvPr>
        </p:nvSpPr>
        <p:spPr>
          <a:prstGeom prst="rect">
            <a:avLst/>
          </a:prstGeom>
        </p:spPr>
        <p:txBody>
          <a:bodyPr/>
          <a:lstStyle/>
          <a:p>
            <a:r>
              <a:t>the most straightforward way to implement an object reference is via a pointer, but they suffer from a number of problems</a:t>
            </a:r>
          </a:p>
          <a:p>
            <a:r>
              <a:t>orphan - every object should have an owner - another object that’s responsible for managing its lifetime, but pointers don’t give the programmer any help in enforcing this rule</a:t>
            </a:r>
          </a:p>
          <a:p>
            <a:r>
              <a:t>stale - if an object is deleted, we should null-out any and all pointers to that object, but if we forget to...    trying to read or write to a stale pointer will crash, or at least really screw things up - tough to track down</a:t>
            </a:r>
          </a:p>
          <a:p>
            <a:r>
              <a:t>also, fragmentation</a:t>
            </a:r>
          </a:p>
        </p:txBody>
      </p:sp>
    </p:spTree>
    <p:extLst>
      <p:ext uri="{BB962C8B-B14F-4D97-AF65-F5344CB8AC3E}">
        <p14:creationId xmlns:p14="http://schemas.microsoft.com/office/powerpoint/2010/main" val="4025532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 name="Shape 494"/>
          <p:cNvSpPr>
            <a:spLocks noGrp="1" noRot="1" noChangeAspect="1"/>
          </p:cNvSpPr>
          <p:nvPr>
            <p:ph type="sldImg"/>
          </p:nvPr>
        </p:nvSpPr>
        <p:spPr>
          <a:prstGeom prst="rect">
            <a:avLst/>
          </a:prstGeom>
        </p:spPr>
        <p:txBody>
          <a:bodyPr/>
          <a:lstStyle/>
          <a:p>
            <a:endParaRPr/>
          </a:p>
        </p:txBody>
      </p:sp>
      <p:sp>
        <p:nvSpPr>
          <p:cNvPr id="495" name="Shape 495"/>
          <p:cNvSpPr>
            <a:spLocks noGrp="1"/>
          </p:cNvSpPr>
          <p:nvPr>
            <p:ph type="body" sz="quarter" idx="1"/>
          </p:nvPr>
        </p:nvSpPr>
        <p:spPr>
          <a:prstGeom prst="rect">
            <a:avLst/>
          </a:prstGeom>
        </p:spPr>
        <p:txBody>
          <a:bodyPr/>
          <a:lstStyle/>
          <a:p>
            <a:r>
              <a:t>empty block of memory, load something, load more things, deallocate a few things, after some time, stuff’s scattered all about and something might not be able to be allocated because there aren’t enough contiguous bytes. Yes there’s virtual memory, but consoles won’t use it because of the performance overhead. You can try a a stack or a pool allocator, but more often than not, differently-sized objects are being allocated and freed in an unpredictable order. You should periodically defrag, which isn’t difficult, but we’re moving allocated memory which will affect pointers. There is no general-purpose pointer relocator</a:t>
            </a:r>
          </a:p>
        </p:txBody>
      </p:sp>
    </p:spTree>
    <p:extLst>
      <p:ext uri="{BB962C8B-B14F-4D97-AF65-F5344CB8AC3E}">
        <p14:creationId xmlns:p14="http://schemas.microsoft.com/office/powerpoint/2010/main" val="2864151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Shape 499"/>
          <p:cNvSpPr>
            <a:spLocks noGrp="1" noRot="1" noChangeAspect="1"/>
          </p:cNvSpPr>
          <p:nvPr>
            <p:ph type="sldImg"/>
          </p:nvPr>
        </p:nvSpPr>
        <p:spPr>
          <a:prstGeom prst="rect">
            <a:avLst/>
          </a:prstGeom>
        </p:spPr>
        <p:txBody>
          <a:bodyPr/>
          <a:lstStyle/>
          <a:p>
            <a:endParaRPr/>
          </a:p>
        </p:txBody>
      </p:sp>
      <p:sp>
        <p:nvSpPr>
          <p:cNvPr id="500" name="Shape 500"/>
          <p:cNvSpPr>
            <a:spLocks noGrp="1"/>
          </p:cNvSpPr>
          <p:nvPr>
            <p:ph type="body" sz="quarter" idx="1"/>
          </p:nvPr>
        </p:nvSpPr>
        <p:spPr>
          <a:prstGeom prst="rect">
            <a:avLst/>
          </a:prstGeom>
        </p:spPr>
        <p:txBody>
          <a:bodyPr/>
          <a:lstStyle/>
          <a:p>
            <a:r>
              <a:rPr dirty="0"/>
              <a:t>ref counting - smart pointers coordinating with one another to determine the number of references to a particular object. When the number of smart pointers that reference a particular object drops to zero, we know the object is no longer needed and can be deleted</a:t>
            </a:r>
          </a:p>
          <a:p>
            <a:r>
              <a:rPr dirty="0"/>
              <a:t>problems come up like type safety, exception handling, and sometimes high running </a:t>
            </a:r>
            <a:r>
              <a:rPr dirty="0" smtClean="0"/>
              <a:t>costs</a:t>
            </a:r>
            <a:endParaRPr dirty="0"/>
          </a:p>
        </p:txBody>
      </p:sp>
    </p:spTree>
    <p:extLst>
      <p:ext uri="{BB962C8B-B14F-4D97-AF65-F5344CB8AC3E}">
        <p14:creationId xmlns:p14="http://schemas.microsoft.com/office/powerpoint/2010/main" val="17604105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Shape 504"/>
          <p:cNvSpPr>
            <a:spLocks noGrp="1" noRot="1" noChangeAspect="1"/>
          </p:cNvSpPr>
          <p:nvPr>
            <p:ph type="sldImg"/>
          </p:nvPr>
        </p:nvSpPr>
        <p:spPr>
          <a:prstGeom prst="rect">
            <a:avLst/>
          </a:prstGeom>
        </p:spPr>
        <p:txBody>
          <a:bodyPr/>
          <a:lstStyle/>
          <a:p>
            <a:endParaRPr/>
          </a:p>
        </p:txBody>
      </p:sp>
      <p:sp>
        <p:nvSpPr>
          <p:cNvPr id="505" name="Shape 505"/>
          <p:cNvSpPr>
            <a:spLocks noGrp="1"/>
          </p:cNvSpPr>
          <p:nvPr>
            <p:ph type="body" sz="quarter" idx="1"/>
          </p:nvPr>
        </p:nvSpPr>
        <p:spPr>
          <a:prstGeom prst="rect">
            <a:avLst/>
          </a:prstGeom>
        </p:spPr>
        <p:txBody>
          <a:bodyPr/>
          <a:lstStyle/>
          <a:p>
            <a:r>
              <a:rPr dirty="0"/>
              <a:t>The Boost C++ template library provides six different varieties</a:t>
            </a:r>
          </a:p>
          <a:p>
            <a:r>
              <a:rPr dirty="0"/>
              <a:t>C++11 provides </a:t>
            </a:r>
            <a:r>
              <a:rPr dirty="0" err="1"/>
              <a:t>std</a:t>
            </a:r>
            <a:r>
              <a:rPr dirty="0"/>
              <a:t>::</a:t>
            </a:r>
            <a:r>
              <a:rPr dirty="0" err="1"/>
              <a:t>unique_ptr</a:t>
            </a:r>
            <a:r>
              <a:rPr dirty="0"/>
              <a:t>, as well as improvements to </a:t>
            </a:r>
            <a:r>
              <a:rPr dirty="0" err="1"/>
              <a:t>std</a:t>
            </a:r>
            <a:r>
              <a:rPr dirty="0"/>
              <a:t>::</a:t>
            </a:r>
            <a:r>
              <a:rPr dirty="0" err="1"/>
              <a:t>shared_ptr</a:t>
            </a:r>
            <a:r>
              <a:rPr dirty="0"/>
              <a:t> and </a:t>
            </a:r>
            <a:r>
              <a:rPr dirty="0" err="1"/>
              <a:t>std</a:t>
            </a:r>
            <a:r>
              <a:rPr dirty="0"/>
              <a:t>::</a:t>
            </a:r>
            <a:r>
              <a:rPr dirty="0" err="1"/>
              <a:t>weak_ptr</a:t>
            </a:r>
            <a:r>
              <a:rPr dirty="0"/>
              <a:t> from TR1. </a:t>
            </a:r>
            <a:r>
              <a:rPr dirty="0" err="1"/>
              <a:t>std</a:t>
            </a:r>
            <a:r>
              <a:rPr dirty="0"/>
              <a:t>::</a:t>
            </a:r>
            <a:r>
              <a:rPr dirty="0" err="1"/>
              <a:t>auto_ptr</a:t>
            </a:r>
            <a:r>
              <a:rPr dirty="0"/>
              <a:t> is deprecated.</a:t>
            </a:r>
          </a:p>
        </p:txBody>
      </p:sp>
    </p:spTree>
    <p:extLst>
      <p:ext uri="{BB962C8B-B14F-4D97-AF65-F5344CB8AC3E}">
        <p14:creationId xmlns:p14="http://schemas.microsoft.com/office/powerpoint/2010/main" val="1931106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 name="Shape 526"/>
          <p:cNvSpPr>
            <a:spLocks noGrp="1" noRot="1" noChangeAspect="1"/>
          </p:cNvSpPr>
          <p:nvPr>
            <p:ph type="sldImg"/>
          </p:nvPr>
        </p:nvSpPr>
        <p:spPr>
          <a:prstGeom prst="rect">
            <a:avLst/>
          </a:prstGeom>
        </p:spPr>
        <p:txBody>
          <a:bodyPr/>
          <a:lstStyle/>
          <a:p>
            <a:endParaRPr/>
          </a:p>
        </p:txBody>
      </p:sp>
      <p:sp>
        <p:nvSpPr>
          <p:cNvPr id="527" name="Shape 527"/>
          <p:cNvSpPr>
            <a:spLocks noGrp="1"/>
          </p:cNvSpPr>
          <p:nvPr>
            <p:ph type="body" sz="quarter" idx="1"/>
          </p:nvPr>
        </p:nvSpPr>
        <p:spPr>
          <a:prstGeom prst="rect">
            <a:avLst/>
          </a:prstGeom>
        </p:spPr>
        <p:txBody>
          <a:bodyPr/>
          <a:lstStyle/>
          <a:p>
            <a:r>
              <a:rPr dirty="0"/>
              <a:t>acts like a smart pointer in many ways, but is easier to implement as is less prone to problems. Basically an integer index into a global handle table, which contains pointers to the objects which the handle refers to. to create a handle, we search the table for the address of the object in question and store its index in the handle. To dereference, the code indexes the appropriate slot and dereferences the pointer it finds there. If an object is deleted, it can null out its entry in the table. Supports memory relocation. Still prone to referencing stale objects, so you could also include a unique </a:t>
            </a:r>
            <a:r>
              <a:rPr dirty="0" err="1"/>
              <a:t>objectID</a:t>
            </a:r>
            <a:r>
              <a:rPr dirty="0"/>
              <a:t> in each handle</a:t>
            </a:r>
          </a:p>
          <a:p>
            <a:r>
              <a:rPr dirty="0"/>
              <a:t>-stop-</a:t>
            </a:r>
          </a:p>
        </p:txBody>
      </p:sp>
    </p:spTree>
    <p:extLst>
      <p:ext uri="{BB962C8B-B14F-4D97-AF65-F5344CB8AC3E}">
        <p14:creationId xmlns:p14="http://schemas.microsoft.com/office/powerpoint/2010/main" val="3946942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 name="Shape 531"/>
          <p:cNvSpPr>
            <a:spLocks noGrp="1" noRot="1" noChangeAspect="1"/>
          </p:cNvSpPr>
          <p:nvPr>
            <p:ph type="sldImg"/>
          </p:nvPr>
        </p:nvSpPr>
        <p:spPr>
          <a:prstGeom prst="rect">
            <a:avLst/>
          </a:prstGeom>
        </p:spPr>
        <p:txBody>
          <a:bodyPr/>
          <a:lstStyle/>
          <a:p>
            <a:endParaRPr/>
          </a:p>
        </p:txBody>
      </p:sp>
      <p:sp>
        <p:nvSpPr>
          <p:cNvPr id="532" name="Shape 532"/>
          <p:cNvSpPr>
            <a:spLocks noGrp="1"/>
          </p:cNvSpPr>
          <p:nvPr>
            <p:ph type="body" sz="quarter" idx="1"/>
          </p:nvPr>
        </p:nvSpPr>
        <p:spPr>
          <a:prstGeom prst="rect">
            <a:avLst/>
          </a:prstGeom>
        </p:spPr>
        <p:txBody>
          <a:bodyPr/>
          <a:lstStyle/>
          <a:p>
            <a:r>
              <a:rPr dirty="0"/>
              <a:t>we need ways to find game objects at runtime, the simplest of which is to find a particular game object by its unique id, but there’s many more</a:t>
            </a:r>
          </a:p>
          <a:p>
            <a:r>
              <a:rPr dirty="0"/>
              <a:t>for maximum flexibility, we could imagine a general-purpose object database with the ability to perform arbitrary queries using arbitrary search criteria, and perform the searches quickly and efficiently, making maximal use of all available resources</a:t>
            </a:r>
          </a:p>
          <a:p>
            <a:r>
              <a:rPr dirty="0"/>
              <a:t>in reality, this blissful combination of flexibility and speed isn’t possible, so developers decide which types of queries are most likely to be needed during development and implement specialized data structures to accelerate those particular queries</a:t>
            </a:r>
          </a:p>
        </p:txBody>
      </p:sp>
    </p:spTree>
    <p:extLst>
      <p:ext uri="{BB962C8B-B14F-4D97-AF65-F5344CB8AC3E}">
        <p14:creationId xmlns:p14="http://schemas.microsoft.com/office/powerpoint/2010/main" val="35307512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 name="Shape 412"/>
          <p:cNvSpPr>
            <a:spLocks noGrp="1" noRot="1" noChangeAspect="1"/>
          </p:cNvSpPr>
          <p:nvPr>
            <p:ph type="sldImg"/>
          </p:nvPr>
        </p:nvSpPr>
        <p:spPr>
          <a:prstGeom prst="rect">
            <a:avLst/>
          </a:prstGeom>
        </p:spPr>
        <p:txBody>
          <a:bodyPr/>
          <a:lstStyle/>
          <a:p>
            <a:endParaRPr/>
          </a:p>
        </p:txBody>
      </p:sp>
      <p:sp>
        <p:nvSpPr>
          <p:cNvPr id="413" name="Shape 413"/>
          <p:cNvSpPr>
            <a:spLocks noGrp="1"/>
          </p:cNvSpPr>
          <p:nvPr>
            <p:ph type="body" sz="quarter" idx="1"/>
          </p:nvPr>
        </p:nvSpPr>
        <p:spPr>
          <a:prstGeom prst="rect">
            <a:avLst/>
          </a:prstGeom>
        </p:spPr>
        <p:txBody>
          <a:bodyPr/>
          <a:lstStyle/>
          <a:p>
            <a:r>
              <a:t>A real game will have hundreds of these boxes</a:t>
            </a:r>
          </a:p>
          <a:p>
            <a:r>
              <a:t>sound talking to input?</a:t>
            </a:r>
          </a:p>
        </p:txBody>
      </p:sp>
    </p:spTree>
    <p:extLst>
      <p:ext uri="{BB962C8B-B14F-4D97-AF65-F5344CB8AC3E}">
        <p14:creationId xmlns:p14="http://schemas.microsoft.com/office/powerpoint/2010/main" val="6584068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C1BDAA-E9D6-43AB-9B00-794D14FF3CD5}" type="slidenum">
              <a:rPr lang="en-US" smtClean="0"/>
              <a:t>71</a:t>
            </a:fld>
            <a:endParaRPr lang="en-US"/>
          </a:p>
        </p:txBody>
      </p:sp>
    </p:spTree>
    <p:extLst>
      <p:ext uri="{BB962C8B-B14F-4D97-AF65-F5344CB8AC3E}">
        <p14:creationId xmlns:p14="http://schemas.microsoft.com/office/powerpoint/2010/main" val="37562461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C1BDAA-E9D6-43AB-9B00-794D14FF3CD5}" type="slidenum">
              <a:rPr lang="en-US" smtClean="0"/>
              <a:t>76</a:t>
            </a:fld>
            <a:endParaRPr lang="en-US"/>
          </a:p>
        </p:txBody>
      </p:sp>
    </p:spTree>
    <p:extLst>
      <p:ext uri="{BB962C8B-B14F-4D97-AF65-F5344CB8AC3E}">
        <p14:creationId xmlns:p14="http://schemas.microsoft.com/office/powerpoint/2010/main" val="3939662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0B918DC-E856-44D9-A762-352C170D85B3}" type="datetimeFigureOut">
              <a:rPr lang="en-US" smtClean="0"/>
              <a:t>1/17/2019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F990D2-7195-4514-8590-DDBE2F8CDA23}" type="slidenum">
              <a:rPr lang="en-US" smtClean="0"/>
              <a:t>‹#›</a:t>
            </a:fld>
            <a:endParaRPr lang="en-US"/>
          </a:p>
        </p:txBody>
      </p:sp>
    </p:spTree>
    <p:extLst>
      <p:ext uri="{BB962C8B-B14F-4D97-AF65-F5344CB8AC3E}">
        <p14:creationId xmlns:p14="http://schemas.microsoft.com/office/powerpoint/2010/main" val="893928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B918DC-E856-44D9-A762-352C170D85B3}" type="datetimeFigureOut">
              <a:rPr lang="en-US" smtClean="0"/>
              <a:t>1/17/2019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F990D2-7195-4514-8590-DDBE2F8CDA23}" type="slidenum">
              <a:rPr lang="en-US" smtClean="0"/>
              <a:t>‹#›</a:t>
            </a:fld>
            <a:endParaRPr lang="en-US"/>
          </a:p>
        </p:txBody>
      </p:sp>
    </p:spTree>
    <p:extLst>
      <p:ext uri="{BB962C8B-B14F-4D97-AF65-F5344CB8AC3E}">
        <p14:creationId xmlns:p14="http://schemas.microsoft.com/office/powerpoint/2010/main" val="3203164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0B918DC-E856-44D9-A762-352C170D85B3}" type="datetimeFigureOut">
              <a:rPr lang="en-US" smtClean="0"/>
              <a:t>1/17/2019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F990D2-7195-4514-8590-DDBE2F8CDA23}" type="slidenum">
              <a:rPr lang="en-US" smtClean="0"/>
              <a:t>‹#›</a:t>
            </a:fld>
            <a:endParaRPr lang="en-US"/>
          </a:p>
        </p:txBody>
      </p:sp>
    </p:spTree>
    <p:extLst>
      <p:ext uri="{BB962C8B-B14F-4D97-AF65-F5344CB8AC3E}">
        <p14:creationId xmlns:p14="http://schemas.microsoft.com/office/powerpoint/2010/main" val="3792247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0B918DC-E856-44D9-A762-352C170D85B3}" type="datetimeFigureOut">
              <a:rPr lang="en-US" smtClean="0"/>
              <a:t>1/17/2019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F990D2-7195-4514-8590-DDBE2F8CDA23}" type="slidenum">
              <a:rPr lang="en-US" smtClean="0"/>
              <a:t>‹#›</a:t>
            </a:fld>
            <a:endParaRPr lang="en-US"/>
          </a:p>
        </p:txBody>
      </p:sp>
    </p:spTree>
    <p:extLst>
      <p:ext uri="{BB962C8B-B14F-4D97-AF65-F5344CB8AC3E}">
        <p14:creationId xmlns:p14="http://schemas.microsoft.com/office/powerpoint/2010/main" val="2513744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0B918DC-E856-44D9-A762-352C170D85B3}" type="datetimeFigureOut">
              <a:rPr lang="en-US" smtClean="0"/>
              <a:t>1/17/2019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F990D2-7195-4514-8590-DDBE2F8CDA23}" type="slidenum">
              <a:rPr lang="en-US" smtClean="0"/>
              <a:t>‹#›</a:t>
            </a:fld>
            <a:endParaRPr lang="en-US"/>
          </a:p>
        </p:txBody>
      </p:sp>
    </p:spTree>
    <p:extLst>
      <p:ext uri="{BB962C8B-B14F-4D97-AF65-F5344CB8AC3E}">
        <p14:creationId xmlns:p14="http://schemas.microsoft.com/office/powerpoint/2010/main" val="3596743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0B918DC-E856-44D9-A762-352C170D85B3}" type="datetimeFigureOut">
              <a:rPr lang="en-US" smtClean="0"/>
              <a:t>1/17/2019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F990D2-7195-4514-8590-DDBE2F8CDA23}" type="slidenum">
              <a:rPr lang="en-US" smtClean="0"/>
              <a:t>‹#›</a:t>
            </a:fld>
            <a:endParaRPr lang="en-US"/>
          </a:p>
        </p:txBody>
      </p:sp>
    </p:spTree>
    <p:extLst>
      <p:ext uri="{BB962C8B-B14F-4D97-AF65-F5344CB8AC3E}">
        <p14:creationId xmlns:p14="http://schemas.microsoft.com/office/powerpoint/2010/main" val="1100006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B918DC-E856-44D9-A762-352C170D85B3}" type="datetimeFigureOut">
              <a:rPr lang="en-US" smtClean="0"/>
              <a:t>1/17/2019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F990D2-7195-4514-8590-DDBE2F8CDA23}" type="slidenum">
              <a:rPr lang="en-US" smtClean="0"/>
              <a:t>‹#›</a:t>
            </a:fld>
            <a:endParaRPr lang="en-US"/>
          </a:p>
        </p:txBody>
      </p:sp>
    </p:spTree>
    <p:extLst>
      <p:ext uri="{BB962C8B-B14F-4D97-AF65-F5344CB8AC3E}">
        <p14:creationId xmlns:p14="http://schemas.microsoft.com/office/powerpoint/2010/main" val="644177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0B918DC-E856-44D9-A762-352C170D85B3}" type="datetimeFigureOut">
              <a:rPr lang="en-US" smtClean="0"/>
              <a:t>1/17/2019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F990D2-7195-4514-8590-DDBE2F8CDA23}" type="slidenum">
              <a:rPr lang="en-US" smtClean="0"/>
              <a:t>‹#›</a:t>
            </a:fld>
            <a:endParaRPr lang="en-US"/>
          </a:p>
        </p:txBody>
      </p:sp>
    </p:spTree>
    <p:extLst>
      <p:ext uri="{BB962C8B-B14F-4D97-AF65-F5344CB8AC3E}">
        <p14:creationId xmlns:p14="http://schemas.microsoft.com/office/powerpoint/2010/main" val="3291574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0B918DC-E856-44D9-A762-352C170D85B3}" type="datetimeFigureOut">
              <a:rPr lang="en-US" smtClean="0"/>
              <a:t>1/17/2019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F990D2-7195-4514-8590-DDBE2F8CDA23}" type="slidenum">
              <a:rPr lang="en-US" smtClean="0"/>
              <a:t>‹#›</a:t>
            </a:fld>
            <a:endParaRPr lang="en-US"/>
          </a:p>
        </p:txBody>
      </p:sp>
    </p:spTree>
    <p:extLst>
      <p:ext uri="{BB962C8B-B14F-4D97-AF65-F5344CB8AC3E}">
        <p14:creationId xmlns:p14="http://schemas.microsoft.com/office/powerpoint/2010/main" val="3358851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B918DC-E856-44D9-A762-352C170D85B3}" type="datetimeFigureOut">
              <a:rPr lang="en-US" smtClean="0"/>
              <a:t>1/17/2019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F990D2-7195-4514-8590-DDBE2F8CDA23}" type="slidenum">
              <a:rPr lang="en-US" smtClean="0"/>
              <a:t>‹#›</a:t>
            </a:fld>
            <a:endParaRPr lang="en-US"/>
          </a:p>
        </p:txBody>
      </p:sp>
    </p:spTree>
    <p:extLst>
      <p:ext uri="{BB962C8B-B14F-4D97-AF65-F5344CB8AC3E}">
        <p14:creationId xmlns:p14="http://schemas.microsoft.com/office/powerpoint/2010/main" val="819222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B918DC-E856-44D9-A762-352C170D85B3}" type="datetimeFigureOut">
              <a:rPr lang="en-US" smtClean="0"/>
              <a:t>1/17/2019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F990D2-7195-4514-8590-DDBE2F8CDA23}" type="slidenum">
              <a:rPr lang="en-US" smtClean="0"/>
              <a:t>‹#›</a:t>
            </a:fld>
            <a:endParaRPr lang="en-US"/>
          </a:p>
        </p:txBody>
      </p:sp>
    </p:spTree>
    <p:extLst>
      <p:ext uri="{BB962C8B-B14F-4D97-AF65-F5344CB8AC3E}">
        <p14:creationId xmlns:p14="http://schemas.microsoft.com/office/powerpoint/2010/main" val="294184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bg>
      <p:bgPr>
        <a:solidFill>
          <a:srgbClr val="FFFFFF"/>
        </a:solidFill>
        <a:effectLst/>
      </p:bgPr>
    </p:bg>
    <p:spTree>
      <p:nvGrpSpPr>
        <p:cNvPr id="1" name=""/>
        <p:cNvGrpSpPr/>
        <p:nvPr/>
      </p:nvGrpSpPr>
      <p:grpSpPr>
        <a:xfrm>
          <a:off x="0" y="0"/>
          <a:ext cx="0" cy="0"/>
          <a:chOff x="0" y="0"/>
          <a:chExt cx="0" cy="0"/>
        </a:xfrm>
      </p:grpSpPr>
      <p:sp>
        <p:nvSpPr>
          <p:cNvPr id="20" name="Title Text"/>
          <p:cNvSpPr txBox="1">
            <a:spLocks noGrp="1"/>
          </p:cNvSpPr>
          <p:nvPr>
            <p:ph type="title"/>
          </p:nvPr>
        </p:nvSpPr>
        <p:spPr>
          <a:xfrm>
            <a:off x="1190625" y="178594"/>
            <a:ext cx="9810750" cy="1714500"/>
          </a:xfrm>
          <a:prstGeom prst="rect">
            <a:avLst/>
          </a:prstGeom>
        </p:spPr>
        <p:txBody>
          <a:bodyPr/>
          <a:lstStyle>
            <a:lvl1pPr marL="0" marR="0" defTabSz="410751">
              <a:defRPr sz="5906">
                <a:solidFill>
                  <a:srgbClr val="000000"/>
                </a:solidFill>
                <a:uFillTx/>
                <a:latin typeface="+mj-lt"/>
                <a:ea typeface="+mj-ea"/>
                <a:cs typeface="+mj-cs"/>
                <a:sym typeface="Baskerville"/>
              </a:defRPr>
            </a:lvl1pPr>
          </a:lstStyle>
          <a:p>
            <a:r>
              <a:t>Title Text</a:t>
            </a:r>
          </a:p>
        </p:txBody>
      </p:sp>
      <p:sp>
        <p:nvSpPr>
          <p:cNvPr id="21" name="Body Level One…"/>
          <p:cNvSpPr txBox="1">
            <a:spLocks noGrp="1"/>
          </p:cNvSpPr>
          <p:nvPr>
            <p:ph type="body" idx="1"/>
          </p:nvPr>
        </p:nvSpPr>
        <p:spPr>
          <a:xfrm>
            <a:off x="1190625" y="1946672"/>
            <a:ext cx="9810750" cy="4018359"/>
          </a:xfrm>
          <a:prstGeom prst="rect">
            <a:avLst/>
          </a:prstGeom>
        </p:spPr>
        <p:txBody>
          <a:bodyPr anchor="ctr"/>
          <a:lstStyle>
            <a:lvl1pPr marL="625056" marR="0" indent="-401822" defTabSz="410751">
              <a:spcBef>
                <a:spcPts val="1687"/>
              </a:spcBef>
              <a:defRPr sz="2953">
                <a:solidFill>
                  <a:srgbClr val="000000"/>
                </a:solidFill>
                <a:uFillTx/>
                <a:latin typeface="+mj-lt"/>
                <a:ea typeface="+mj-ea"/>
                <a:cs typeface="+mj-cs"/>
                <a:sym typeface="Baskerville"/>
              </a:defRPr>
            </a:lvl1pPr>
            <a:lvl2pPr marL="937584" marR="0" indent="-401822" defTabSz="410751">
              <a:spcBef>
                <a:spcPts val="1687"/>
              </a:spcBef>
              <a:buChar char="•"/>
              <a:defRPr sz="2953">
                <a:solidFill>
                  <a:srgbClr val="000000"/>
                </a:solidFill>
                <a:uFillTx/>
                <a:latin typeface="+mj-lt"/>
                <a:ea typeface="+mj-ea"/>
                <a:cs typeface="+mj-cs"/>
                <a:sym typeface="Baskerville"/>
              </a:defRPr>
            </a:lvl2pPr>
            <a:lvl3pPr marL="1250112" marR="0" indent="-401822" defTabSz="410751">
              <a:spcBef>
                <a:spcPts val="1687"/>
              </a:spcBef>
              <a:defRPr sz="2953">
                <a:solidFill>
                  <a:srgbClr val="000000"/>
                </a:solidFill>
                <a:uFillTx/>
                <a:latin typeface="+mj-lt"/>
                <a:ea typeface="+mj-ea"/>
                <a:cs typeface="+mj-cs"/>
                <a:sym typeface="Baskerville"/>
              </a:defRPr>
            </a:lvl3pPr>
            <a:lvl4pPr marL="1562640" marR="0" indent="-401822" defTabSz="410751">
              <a:spcBef>
                <a:spcPts val="1687"/>
              </a:spcBef>
              <a:buChar char="•"/>
              <a:defRPr sz="2953">
                <a:solidFill>
                  <a:srgbClr val="000000"/>
                </a:solidFill>
                <a:uFillTx/>
                <a:latin typeface="+mj-lt"/>
                <a:ea typeface="+mj-ea"/>
                <a:cs typeface="+mj-cs"/>
                <a:sym typeface="Baskerville"/>
              </a:defRPr>
            </a:lvl4pPr>
            <a:lvl5pPr marL="1875168" marR="0" indent="-401822" defTabSz="410751">
              <a:spcBef>
                <a:spcPts val="1687"/>
              </a:spcBef>
              <a:buChar char="•"/>
              <a:defRPr sz="2953">
                <a:solidFill>
                  <a:srgbClr val="000000"/>
                </a:solidFill>
                <a:uFillTx/>
                <a:latin typeface="+mj-lt"/>
                <a:ea typeface="+mj-ea"/>
                <a:cs typeface="+mj-cs"/>
                <a:sym typeface="Baskerville"/>
              </a:defRPr>
            </a:lvl5p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xfrm>
            <a:off x="5929312" y="6509742"/>
            <a:ext cx="321469" cy="258961"/>
          </a:xfrm>
          <a:prstGeom prst="rect">
            <a:avLst/>
          </a:prstGeom>
        </p:spPr>
        <p:txBody>
          <a:bodyPr/>
          <a:lstStyle>
            <a:lvl1pPr defTabSz="410751">
              <a:defRPr>
                <a:solidFill>
                  <a:srgbClr val="000000"/>
                </a:solidFill>
                <a:uFillTx/>
                <a:latin typeface="Gill Sans"/>
                <a:ea typeface="Gill Sans"/>
                <a:cs typeface="Gill Sans"/>
                <a:sym typeface="Gill Sans"/>
              </a:defRPr>
            </a:lvl1pPr>
          </a:lstStyle>
          <a:p>
            <a:fld id="{86CB4B4D-7CA3-9044-876B-883B54F8677D}" type="slidenum">
              <a:t>‹#›</a:t>
            </a:fld>
            <a:endParaRPr/>
          </a:p>
        </p:txBody>
      </p:sp>
    </p:spTree>
    <p:extLst>
      <p:ext uri="{BB962C8B-B14F-4D97-AF65-F5344CB8AC3E}">
        <p14:creationId xmlns:p14="http://schemas.microsoft.com/office/powerpoint/2010/main" val="427874249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B918DC-E856-44D9-A762-352C170D85B3}" type="datetimeFigureOut">
              <a:rPr lang="en-US" smtClean="0"/>
              <a:t>1/17/2019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F990D2-7195-4514-8590-DDBE2F8CDA23}" type="slidenum">
              <a:rPr lang="en-US" smtClean="0"/>
              <a:t>‹#›</a:t>
            </a:fld>
            <a:endParaRPr lang="en-US"/>
          </a:p>
        </p:txBody>
      </p:sp>
    </p:spTree>
    <p:extLst>
      <p:ext uri="{BB962C8B-B14F-4D97-AF65-F5344CB8AC3E}">
        <p14:creationId xmlns:p14="http://schemas.microsoft.com/office/powerpoint/2010/main" val="3600586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2.ti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Game Architecture"/>
          <p:cNvSpPr txBox="1">
            <a:spLocks noGrp="1"/>
          </p:cNvSpPr>
          <p:nvPr>
            <p:ph type="ctrTitle"/>
          </p:nvPr>
        </p:nvSpPr>
        <p:spPr>
          <a:prstGeom prst="rect">
            <a:avLst/>
          </a:prstGeom>
        </p:spPr>
        <p:txBody>
          <a:bodyPr/>
          <a:lstStyle/>
          <a:p>
            <a:r>
              <a:t>Game Architecture</a:t>
            </a:r>
          </a:p>
        </p:txBody>
      </p:sp>
      <p:sp>
        <p:nvSpPr>
          <p:cNvPr id="56" name="1/29/18: Entity Systems"/>
          <p:cNvSpPr txBox="1">
            <a:spLocks noGrp="1"/>
          </p:cNvSpPr>
          <p:nvPr>
            <p:ph type="subTitle" sz="quarter" idx="1"/>
          </p:nvPr>
        </p:nvSpPr>
        <p:spPr>
          <a:prstGeom prst="rect">
            <a:avLst/>
          </a:prstGeom>
        </p:spPr>
        <p:txBody>
          <a:bodyPr/>
          <a:lstStyle/>
          <a:p>
            <a:r>
              <a:rPr lang="en-US" dirty="0" smtClean="0"/>
              <a:t>Objects, Entities, and Game Subsystems</a:t>
            </a:r>
            <a:endParaRPr dirty="0"/>
          </a:p>
        </p:txBody>
      </p:sp>
    </p:spTree>
    <p:extLst>
      <p:ext uri="{BB962C8B-B14F-4D97-AF65-F5344CB8AC3E}">
        <p14:creationId xmlns:p14="http://schemas.microsoft.com/office/powerpoint/2010/main" val="17987466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Object Systems"/>
          <p:cNvSpPr txBox="1">
            <a:spLocks noGrp="1"/>
          </p:cNvSpPr>
          <p:nvPr>
            <p:ph type="title"/>
          </p:nvPr>
        </p:nvSpPr>
        <p:spPr>
          <a:prstGeom prst="rect">
            <a:avLst/>
          </a:prstGeom>
        </p:spPr>
        <p:txBody>
          <a:bodyPr/>
          <a:lstStyle/>
          <a:p>
            <a:r>
              <a:t>Object Systems</a:t>
            </a:r>
          </a:p>
        </p:txBody>
      </p:sp>
      <p:sp>
        <p:nvSpPr>
          <p:cNvPr id="71" name="Spawning and destroying game objects…"/>
          <p:cNvSpPr txBox="1">
            <a:spLocks noGrp="1"/>
          </p:cNvSpPr>
          <p:nvPr>
            <p:ph type="body" idx="1"/>
          </p:nvPr>
        </p:nvSpPr>
        <p:spPr>
          <a:prstGeom prst="rect">
            <a:avLst/>
          </a:prstGeom>
        </p:spPr>
        <p:txBody>
          <a:bodyPr/>
          <a:lstStyle/>
          <a:p>
            <a:r>
              <a:t>Spawning and destroying game objects</a:t>
            </a:r>
          </a:p>
          <a:p>
            <a:r>
              <a:t>Ability to define new object types</a:t>
            </a:r>
          </a:p>
          <a:p>
            <a:r>
              <a:t>Unique object IDs</a:t>
            </a:r>
          </a:p>
          <a:p>
            <a:r>
              <a:t>Game object queries</a:t>
            </a:r>
          </a:p>
          <a:p>
            <a:r>
              <a:t>FSM support</a:t>
            </a:r>
          </a:p>
          <a:p>
            <a:r>
              <a:t>Network replication</a:t>
            </a:r>
          </a:p>
        </p:txBody>
      </p:sp>
      <p:pic>
        <p:nvPicPr>
          <p:cNvPr id="72" name="droppedImage.png" descr="droppedImage.png"/>
          <p:cNvPicPr>
            <a:picLocks noChangeAspect="1"/>
          </p:cNvPicPr>
          <p:nvPr/>
        </p:nvPicPr>
        <p:blipFill>
          <a:blip r:embed="rId3">
            <a:extLst/>
          </a:blip>
          <a:stretch>
            <a:fillRect/>
          </a:stretch>
        </p:blipFill>
        <p:spPr>
          <a:xfrm>
            <a:off x="6908602" y="4491633"/>
            <a:ext cx="2232422" cy="2232422"/>
          </a:xfrm>
          <a:prstGeom prst="rect">
            <a:avLst/>
          </a:prstGeom>
          <a:ln w="12700">
            <a:miter lim="400000"/>
          </a:ln>
        </p:spPr>
      </p:pic>
    </p:spTree>
    <p:extLst>
      <p:ext uri="{BB962C8B-B14F-4D97-AF65-F5344CB8AC3E}">
        <p14:creationId xmlns:p14="http://schemas.microsoft.com/office/powerpoint/2010/main" val="1472828408"/>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71">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7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7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7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7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71">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71">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build="p" bldLvl="5" animBg="1" advAuto="0"/>
      <p:bldP spid="72" grpId="0"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87764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What </a:t>
            </a:r>
            <a:r>
              <a:rPr sz="3733" dirty="0"/>
              <a:t>can </a:t>
            </a:r>
            <a:r>
              <a:rPr sz="3733" spc="-7" dirty="0"/>
              <a:t>an entity</a:t>
            </a:r>
            <a:r>
              <a:rPr sz="3733" spc="-133" dirty="0"/>
              <a:t> </a:t>
            </a:r>
            <a:r>
              <a:rPr sz="3733" spc="-7" dirty="0"/>
              <a:t>do?</a:t>
            </a:r>
            <a:endParaRPr sz="3733" dirty="0"/>
          </a:p>
        </p:txBody>
      </p:sp>
      <p:sp>
        <p:nvSpPr>
          <p:cNvPr id="3" name="object 3"/>
          <p:cNvSpPr txBox="1"/>
          <p:nvPr/>
        </p:nvSpPr>
        <p:spPr>
          <a:xfrm>
            <a:off x="674658" y="1624518"/>
            <a:ext cx="1350433" cy="304421"/>
          </a:xfrm>
          <a:prstGeom prst="rect">
            <a:avLst/>
          </a:prstGeom>
        </p:spPr>
        <p:txBody>
          <a:bodyPr vert="horz" wrap="square" lIns="0" tIns="16933" rIns="0" bIns="0" rtlCol="0">
            <a:spAutoFit/>
          </a:bodyPr>
          <a:lstStyle/>
          <a:p>
            <a:pPr marL="464808" indent="-447875">
              <a:spcBef>
                <a:spcPts val="133"/>
              </a:spcBef>
              <a:buChar char="●"/>
              <a:tabLst>
                <a:tab pos="463962" algn="l"/>
                <a:tab pos="465655" algn="l"/>
              </a:tabLst>
            </a:pPr>
            <a:r>
              <a:rPr sz="1867" spc="-7" dirty="0">
                <a:solidFill>
                  <a:srgbClr val="595959"/>
                </a:solidFill>
                <a:latin typeface="Arial"/>
                <a:cs typeface="Arial"/>
              </a:rPr>
              <a:t>Animate</a:t>
            </a:r>
            <a:endParaRPr sz="1867">
              <a:latin typeface="Arial"/>
              <a:cs typeface="Arial"/>
            </a:endParaRPr>
          </a:p>
        </p:txBody>
      </p:sp>
      <p:sp>
        <p:nvSpPr>
          <p:cNvPr id="4" name="object 4"/>
          <p:cNvSpPr/>
          <p:nvPr/>
        </p:nvSpPr>
        <p:spPr>
          <a:xfrm>
            <a:off x="8105634" y="2346083"/>
            <a:ext cx="2008332" cy="2165832"/>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29051499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87764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What </a:t>
            </a:r>
            <a:r>
              <a:rPr sz="3733" dirty="0"/>
              <a:t>can </a:t>
            </a:r>
            <a:r>
              <a:rPr sz="3733" spc="-7" dirty="0"/>
              <a:t>an entity</a:t>
            </a:r>
            <a:r>
              <a:rPr sz="3733" spc="-133" dirty="0"/>
              <a:t> </a:t>
            </a:r>
            <a:r>
              <a:rPr sz="3733" spc="-7" dirty="0"/>
              <a:t>do?</a:t>
            </a:r>
            <a:endParaRPr sz="3733"/>
          </a:p>
        </p:txBody>
      </p:sp>
      <p:sp>
        <p:nvSpPr>
          <p:cNvPr id="3" name="object 3"/>
          <p:cNvSpPr txBox="1"/>
          <p:nvPr/>
        </p:nvSpPr>
        <p:spPr>
          <a:xfrm>
            <a:off x="674658" y="1578798"/>
            <a:ext cx="1888913" cy="689205"/>
          </a:xfrm>
          <a:prstGeom prst="rect">
            <a:avLst/>
          </a:prstGeom>
        </p:spPr>
        <p:txBody>
          <a:bodyPr vert="horz" wrap="square" lIns="0" tIns="62653" rIns="0" bIns="0" rtlCol="0">
            <a:spAutoFit/>
          </a:bodyPr>
          <a:lstStyle/>
          <a:p>
            <a:pPr marL="464808" indent="-447875">
              <a:spcBef>
                <a:spcPts val="493"/>
              </a:spcBef>
              <a:buChar char="●"/>
              <a:tabLst>
                <a:tab pos="463962" algn="l"/>
                <a:tab pos="465655" algn="l"/>
              </a:tabLst>
            </a:pPr>
            <a:r>
              <a:rPr sz="1867" spc="-7" dirty="0">
                <a:solidFill>
                  <a:srgbClr val="595959"/>
                </a:solidFill>
                <a:latin typeface="Arial"/>
                <a:cs typeface="Arial"/>
              </a:rPr>
              <a:t>Animate</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Follow </a:t>
            </a:r>
            <a:r>
              <a:rPr sz="1867" dirty="0">
                <a:solidFill>
                  <a:srgbClr val="595959"/>
                </a:solidFill>
                <a:latin typeface="Arial"/>
                <a:cs typeface="Arial"/>
              </a:rPr>
              <a:t>a</a:t>
            </a:r>
            <a:r>
              <a:rPr sz="1867" spc="-120" dirty="0">
                <a:solidFill>
                  <a:srgbClr val="595959"/>
                </a:solidFill>
                <a:latin typeface="Arial"/>
                <a:cs typeface="Arial"/>
              </a:rPr>
              <a:t> </a:t>
            </a:r>
            <a:r>
              <a:rPr sz="1867" spc="-7" dirty="0">
                <a:solidFill>
                  <a:srgbClr val="595959"/>
                </a:solidFill>
                <a:latin typeface="Arial"/>
                <a:cs typeface="Arial"/>
              </a:rPr>
              <a:t>path</a:t>
            </a:r>
            <a:endParaRPr sz="1867">
              <a:latin typeface="Arial"/>
              <a:cs typeface="Arial"/>
            </a:endParaRPr>
          </a:p>
        </p:txBody>
      </p:sp>
      <p:sp>
        <p:nvSpPr>
          <p:cNvPr id="4" name="object 4"/>
          <p:cNvSpPr/>
          <p:nvPr/>
        </p:nvSpPr>
        <p:spPr>
          <a:xfrm>
            <a:off x="8174587" y="2493769"/>
            <a:ext cx="1870432" cy="1870432"/>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2632165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87764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What </a:t>
            </a:r>
            <a:r>
              <a:rPr sz="3733" dirty="0"/>
              <a:t>can </a:t>
            </a:r>
            <a:r>
              <a:rPr sz="3733" spc="-7" dirty="0"/>
              <a:t>an entity</a:t>
            </a:r>
            <a:r>
              <a:rPr sz="3733" spc="-133" dirty="0"/>
              <a:t> </a:t>
            </a:r>
            <a:r>
              <a:rPr sz="3733" spc="-7" dirty="0"/>
              <a:t>do?</a:t>
            </a:r>
            <a:endParaRPr sz="3733"/>
          </a:p>
        </p:txBody>
      </p:sp>
      <p:sp>
        <p:nvSpPr>
          <p:cNvPr id="3" name="object 3"/>
          <p:cNvSpPr txBox="1"/>
          <p:nvPr/>
        </p:nvSpPr>
        <p:spPr>
          <a:xfrm>
            <a:off x="674658" y="1578797"/>
            <a:ext cx="1888913" cy="1027824"/>
          </a:xfrm>
          <a:prstGeom prst="rect">
            <a:avLst/>
          </a:prstGeom>
        </p:spPr>
        <p:txBody>
          <a:bodyPr vert="horz" wrap="square" lIns="0" tIns="62653" rIns="0" bIns="0" rtlCol="0">
            <a:spAutoFit/>
          </a:bodyPr>
          <a:lstStyle/>
          <a:p>
            <a:pPr marL="464808" indent="-447875">
              <a:spcBef>
                <a:spcPts val="493"/>
              </a:spcBef>
              <a:buChar char="●"/>
              <a:tabLst>
                <a:tab pos="463962" algn="l"/>
                <a:tab pos="465655" algn="l"/>
              </a:tabLst>
            </a:pPr>
            <a:r>
              <a:rPr sz="1867" spc="-7" dirty="0">
                <a:solidFill>
                  <a:srgbClr val="595959"/>
                </a:solidFill>
                <a:latin typeface="Arial"/>
                <a:cs typeface="Arial"/>
              </a:rPr>
              <a:t>Animate</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Follow </a:t>
            </a:r>
            <a:r>
              <a:rPr sz="1867" dirty="0">
                <a:solidFill>
                  <a:srgbClr val="595959"/>
                </a:solidFill>
                <a:latin typeface="Arial"/>
                <a:cs typeface="Arial"/>
              </a:rPr>
              <a:t>a</a:t>
            </a:r>
            <a:r>
              <a:rPr sz="1867" spc="-120" dirty="0">
                <a:solidFill>
                  <a:srgbClr val="595959"/>
                </a:solidFill>
                <a:latin typeface="Arial"/>
                <a:cs typeface="Arial"/>
              </a:rPr>
              <a:t> </a:t>
            </a:r>
            <a:r>
              <a:rPr sz="1867" spc="-7" dirty="0">
                <a:solidFill>
                  <a:srgbClr val="595959"/>
                </a:solidFill>
                <a:latin typeface="Arial"/>
                <a:cs typeface="Arial"/>
              </a:rPr>
              <a:t>path</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Attack</a:t>
            </a:r>
            <a:endParaRPr sz="1867">
              <a:latin typeface="Arial"/>
              <a:cs typeface="Arial"/>
            </a:endParaRPr>
          </a:p>
        </p:txBody>
      </p:sp>
      <p:sp>
        <p:nvSpPr>
          <p:cNvPr id="4" name="object 4"/>
          <p:cNvSpPr/>
          <p:nvPr/>
        </p:nvSpPr>
        <p:spPr>
          <a:xfrm>
            <a:off x="7630233" y="2038333"/>
            <a:ext cx="2959099" cy="2781299"/>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2424865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87764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What </a:t>
            </a:r>
            <a:r>
              <a:rPr sz="3733" dirty="0"/>
              <a:t>can </a:t>
            </a:r>
            <a:r>
              <a:rPr sz="3733" spc="-7" dirty="0"/>
              <a:t>an entity</a:t>
            </a:r>
            <a:r>
              <a:rPr sz="3733" spc="-133" dirty="0"/>
              <a:t> </a:t>
            </a:r>
            <a:r>
              <a:rPr sz="3733" spc="-7" dirty="0"/>
              <a:t>do?</a:t>
            </a:r>
            <a:endParaRPr sz="3733"/>
          </a:p>
        </p:txBody>
      </p:sp>
      <p:sp>
        <p:nvSpPr>
          <p:cNvPr id="3" name="object 3"/>
          <p:cNvSpPr txBox="1"/>
          <p:nvPr/>
        </p:nvSpPr>
        <p:spPr>
          <a:xfrm>
            <a:off x="674658" y="1578798"/>
            <a:ext cx="1888913" cy="1366442"/>
          </a:xfrm>
          <a:prstGeom prst="rect">
            <a:avLst/>
          </a:prstGeom>
        </p:spPr>
        <p:txBody>
          <a:bodyPr vert="horz" wrap="square" lIns="0" tIns="62653" rIns="0" bIns="0" rtlCol="0">
            <a:spAutoFit/>
          </a:bodyPr>
          <a:lstStyle/>
          <a:p>
            <a:pPr marL="464808" indent="-447875">
              <a:spcBef>
                <a:spcPts val="493"/>
              </a:spcBef>
              <a:buChar char="●"/>
              <a:tabLst>
                <a:tab pos="463962" algn="l"/>
                <a:tab pos="465655" algn="l"/>
              </a:tabLst>
            </a:pPr>
            <a:r>
              <a:rPr sz="1867" spc="-7" dirty="0">
                <a:solidFill>
                  <a:srgbClr val="595959"/>
                </a:solidFill>
                <a:latin typeface="Arial"/>
                <a:cs typeface="Arial"/>
              </a:rPr>
              <a:t>Animate</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Follow </a:t>
            </a:r>
            <a:r>
              <a:rPr sz="1867" dirty="0">
                <a:solidFill>
                  <a:srgbClr val="595959"/>
                </a:solidFill>
                <a:latin typeface="Arial"/>
                <a:cs typeface="Arial"/>
              </a:rPr>
              <a:t>a</a:t>
            </a:r>
            <a:r>
              <a:rPr sz="1867" spc="-120" dirty="0">
                <a:solidFill>
                  <a:srgbClr val="595959"/>
                </a:solidFill>
                <a:latin typeface="Arial"/>
                <a:cs typeface="Arial"/>
              </a:rPr>
              <a:t> </a:t>
            </a:r>
            <a:r>
              <a:rPr sz="1867" spc="-7" dirty="0">
                <a:solidFill>
                  <a:srgbClr val="595959"/>
                </a:solidFill>
                <a:latin typeface="Arial"/>
                <a:cs typeface="Arial"/>
              </a:rPr>
              <a:t>path</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Attack</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Explode</a:t>
            </a:r>
            <a:endParaRPr sz="1867">
              <a:latin typeface="Arial"/>
              <a:cs typeface="Arial"/>
            </a:endParaRPr>
          </a:p>
        </p:txBody>
      </p:sp>
      <p:sp>
        <p:nvSpPr>
          <p:cNvPr id="4" name="object 4"/>
          <p:cNvSpPr/>
          <p:nvPr/>
        </p:nvSpPr>
        <p:spPr>
          <a:xfrm>
            <a:off x="7839801" y="2544234"/>
            <a:ext cx="2539999" cy="2539999"/>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3638415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87764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What </a:t>
            </a:r>
            <a:r>
              <a:rPr sz="3733" dirty="0"/>
              <a:t>can </a:t>
            </a:r>
            <a:r>
              <a:rPr sz="3733" spc="-7" dirty="0"/>
              <a:t>an entity</a:t>
            </a:r>
            <a:r>
              <a:rPr sz="3733" spc="-133" dirty="0"/>
              <a:t> </a:t>
            </a:r>
            <a:r>
              <a:rPr sz="3733" spc="-7" dirty="0"/>
              <a:t>do?</a:t>
            </a:r>
            <a:endParaRPr sz="3733"/>
          </a:p>
        </p:txBody>
      </p:sp>
      <p:sp>
        <p:nvSpPr>
          <p:cNvPr id="3" name="object 3"/>
          <p:cNvSpPr txBox="1"/>
          <p:nvPr/>
        </p:nvSpPr>
        <p:spPr>
          <a:xfrm>
            <a:off x="674658" y="1578798"/>
            <a:ext cx="2903220" cy="1705061"/>
          </a:xfrm>
          <a:prstGeom prst="rect">
            <a:avLst/>
          </a:prstGeom>
        </p:spPr>
        <p:txBody>
          <a:bodyPr vert="horz" wrap="square" lIns="0" tIns="62653" rIns="0" bIns="0" rtlCol="0">
            <a:spAutoFit/>
          </a:bodyPr>
          <a:lstStyle/>
          <a:p>
            <a:pPr marL="464808" indent="-447875">
              <a:spcBef>
                <a:spcPts val="493"/>
              </a:spcBef>
              <a:buChar char="●"/>
              <a:tabLst>
                <a:tab pos="463962" algn="l"/>
                <a:tab pos="465655" algn="l"/>
              </a:tabLst>
            </a:pPr>
            <a:r>
              <a:rPr sz="1867" spc="-7" dirty="0">
                <a:solidFill>
                  <a:srgbClr val="595959"/>
                </a:solidFill>
                <a:latin typeface="Arial"/>
                <a:cs typeface="Arial"/>
              </a:rPr>
              <a:t>Animate</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Follow </a:t>
            </a:r>
            <a:r>
              <a:rPr sz="1867" dirty="0">
                <a:solidFill>
                  <a:srgbClr val="595959"/>
                </a:solidFill>
                <a:latin typeface="Arial"/>
                <a:cs typeface="Arial"/>
              </a:rPr>
              <a:t>a</a:t>
            </a:r>
            <a:r>
              <a:rPr sz="1867" spc="-27" dirty="0">
                <a:solidFill>
                  <a:srgbClr val="595959"/>
                </a:solidFill>
                <a:latin typeface="Arial"/>
                <a:cs typeface="Arial"/>
              </a:rPr>
              <a:t> </a:t>
            </a:r>
            <a:r>
              <a:rPr sz="1867" spc="-7" dirty="0">
                <a:solidFill>
                  <a:srgbClr val="595959"/>
                </a:solidFill>
                <a:latin typeface="Arial"/>
                <a:cs typeface="Arial"/>
              </a:rPr>
              <a:t>path</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Attack</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Explode</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Become </a:t>
            </a:r>
            <a:r>
              <a:rPr sz="1867" dirty="0">
                <a:solidFill>
                  <a:srgbClr val="595959"/>
                </a:solidFill>
                <a:latin typeface="Arial"/>
                <a:cs typeface="Arial"/>
              </a:rPr>
              <a:t>visible (or</a:t>
            </a:r>
            <a:r>
              <a:rPr sz="1867" spc="-127" dirty="0">
                <a:solidFill>
                  <a:srgbClr val="595959"/>
                </a:solidFill>
                <a:latin typeface="Arial"/>
                <a:cs typeface="Arial"/>
              </a:rPr>
              <a:t> </a:t>
            </a:r>
            <a:r>
              <a:rPr sz="1867" spc="-7" dirty="0">
                <a:solidFill>
                  <a:srgbClr val="595959"/>
                </a:solidFill>
                <a:latin typeface="Arial"/>
                <a:cs typeface="Arial"/>
              </a:rPr>
              <a:t>not)</a:t>
            </a:r>
            <a:endParaRPr sz="1867">
              <a:latin typeface="Arial"/>
              <a:cs typeface="Arial"/>
            </a:endParaRPr>
          </a:p>
        </p:txBody>
      </p:sp>
    </p:spTree>
    <p:extLst>
      <p:ext uri="{BB962C8B-B14F-4D97-AF65-F5344CB8AC3E}">
        <p14:creationId xmlns:p14="http://schemas.microsoft.com/office/powerpoint/2010/main" val="4070733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87764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What </a:t>
            </a:r>
            <a:r>
              <a:rPr sz="3733" dirty="0"/>
              <a:t>can </a:t>
            </a:r>
            <a:r>
              <a:rPr sz="3733" spc="-7" dirty="0"/>
              <a:t>an entity</a:t>
            </a:r>
            <a:r>
              <a:rPr sz="3733" spc="-133" dirty="0"/>
              <a:t> </a:t>
            </a:r>
            <a:r>
              <a:rPr sz="3733" spc="-7" dirty="0"/>
              <a:t>do?</a:t>
            </a:r>
            <a:endParaRPr sz="3733"/>
          </a:p>
        </p:txBody>
      </p:sp>
      <p:sp>
        <p:nvSpPr>
          <p:cNvPr id="3" name="object 3"/>
          <p:cNvSpPr txBox="1"/>
          <p:nvPr/>
        </p:nvSpPr>
        <p:spPr>
          <a:xfrm>
            <a:off x="674658" y="1578797"/>
            <a:ext cx="2903220" cy="2043679"/>
          </a:xfrm>
          <a:prstGeom prst="rect">
            <a:avLst/>
          </a:prstGeom>
        </p:spPr>
        <p:txBody>
          <a:bodyPr vert="horz" wrap="square" lIns="0" tIns="62653" rIns="0" bIns="0" rtlCol="0">
            <a:spAutoFit/>
          </a:bodyPr>
          <a:lstStyle/>
          <a:p>
            <a:pPr marL="464808" indent="-447875">
              <a:spcBef>
                <a:spcPts val="493"/>
              </a:spcBef>
              <a:buChar char="●"/>
              <a:tabLst>
                <a:tab pos="463962" algn="l"/>
                <a:tab pos="465655" algn="l"/>
              </a:tabLst>
            </a:pPr>
            <a:r>
              <a:rPr sz="1867" spc="-7" dirty="0">
                <a:solidFill>
                  <a:srgbClr val="595959"/>
                </a:solidFill>
                <a:latin typeface="Arial"/>
                <a:cs typeface="Arial"/>
              </a:rPr>
              <a:t>Animate</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Follow </a:t>
            </a:r>
            <a:r>
              <a:rPr sz="1867" dirty="0">
                <a:solidFill>
                  <a:srgbClr val="595959"/>
                </a:solidFill>
                <a:latin typeface="Arial"/>
                <a:cs typeface="Arial"/>
              </a:rPr>
              <a:t>a</a:t>
            </a:r>
            <a:r>
              <a:rPr sz="1867" spc="-27" dirty="0">
                <a:solidFill>
                  <a:srgbClr val="595959"/>
                </a:solidFill>
                <a:latin typeface="Arial"/>
                <a:cs typeface="Arial"/>
              </a:rPr>
              <a:t> </a:t>
            </a:r>
            <a:r>
              <a:rPr sz="1867" spc="-7" dirty="0">
                <a:solidFill>
                  <a:srgbClr val="595959"/>
                </a:solidFill>
                <a:latin typeface="Arial"/>
                <a:cs typeface="Arial"/>
              </a:rPr>
              <a:t>path</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Attack</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Explode</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Become </a:t>
            </a:r>
            <a:r>
              <a:rPr sz="1867" dirty="0">
                <a:solidFill>
                  <a:srgbClr val="595959"/>
                </a:solidFill>
                <a:latin typeface="Arial"/>
                <a:cs typeface="Arial"/>
              </a:rPr>
              <a:t>visible (or</a:t>
            </a:r>
            <a:r>
              <a:rPr sz="1867" spc="-127" dirty="0">
                <a:solidFill>
                  <a:srgbClr val="595959"/>
                </a:solidFill>
                <a:latin typeface="Arial"/>
                <a:cs typeface="Arial"/>
              </a:rPr>
              <a:t> </a:t>
            </a:r>
            <a:r>
              <a:rPr sz="1867" spc="-7" dirty="0">
                <a:solidFill>
                  <a:srgbClr val="595959"/>
                </a:solidFill>
                <a:latin typeface="Arial"/>
                <a:cs typeface="Arial"/>
              </a:rPr>
              <a:t>not)</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Be</a:t>
            </a:r>
            <a:r>
              <a:rPr sz="1867" spc="-13" dirty="0">
                <a:solidFill>
                  <a:srgbClr val="595959"/>
                </a:solidFill>
                <a:latin typeface="Arial"/>
                <a:cs typeface="Arial"/>
              </a:rPr>
              <a:t> </a:t>
            </a:r>
            <a:r>
              <a:rPr sz="1867" dirty="0">
                <a:solidFill>
                  <a:srgbClr val="595959"/>
                </a:solidFill>
                <a:latin typeface="Arial"/>
                <a:cs typeface="Arial"/>
              </a:rPr>
              <a:t>selected</a:t>
            </a:r>
            <a:endParaRPr sz="1867">
              <a:latin typeface="Arial"/>
              <a:cs typeface="Arial"/>
            </a:endParaRPr>
          </a:p>
        </p:txBody>
      </p:sp>
      <p:sp>
        <p:nvSpPr>
          <p:cNvPr id="4" name="object 4"/>
          <p:cNvSpPr/>
          <p:nvPr/>
        </p:nvSpPr>
        <p:spPr>
          <a:xfrm>
            <a:off x="6443199" y="1429050"/>
            <a:ext cx="5333200" cy="3999900"/>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3824798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87764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What </a:t>
            </a:r>
            <a:r>
              <a:rPr sz="3733" dirty="0"/>
              <a:t>can </a:t>
            </a:r>
            <a:r>
              <a:rPr sz="3733" spc="-7" dirty="0"/>
              <a:t>an entity</a:t>
            </a:r>
            <a:r>
              <a:rPr sz="3733" spc="-133" dirty="0"/>
              <a:t> </a:t>
            </a:r>
            <a:r>
              <a:rPr sz="3733" spc="-7" dirty="0"/>
              <a:t>do?</a:t>
            </a:r>
            <a:endParaRPr sz="3733"/>
          </a:p>
        </p:txBody>
      </p:sp>
      <p:sp>
        <p:nvSpPr>
          <p:cNvPr id="3" name="object 3"/>
          <p:cNvSpPr txBox="1"/>
          <p:nvPr/>
        </p:nvSpPr>
        <p:spPr>
          <a:xfrm>
            <a:off x="674658" y="1578798"/>
            <a:ext cx="2903220" cy="2382298"/>
          </a:xfrm>
          <a:prstGeom prst="rect">
            <a:avLst/>
          </a:prstGeom>
        </p:spPr>
        <p:txBody>
          <a:bodyPr vert="horz" wrap="square" lIns="0" tIns="62653" rIns="0" bIns="0" rtlCol="0">
            <a:spAutoFit/>
          </a:bodyPr>
          <a:lstStyle/>
          <a:p>
            <a:pPr marL="464808" indent="-447875">
              <a:spcBef>
                <a:spcPts val="493"/>
              </a:spcBef>
              <a:buChar char="●"/>
              <a:tabLst>
                <a:tab pos="463962" algn="l"/>
                <a:tab pos="465655" algn="l"/>
              </a:tabLst>
            </a:pPr>
            <a:r>
              <a:rPr sz="1867" spc="-7" dirty="0">
                <a:solidFill>
                  <a:srgbClr val="595959"/>
                </a:solidFill>
                <a:latin typeface="Arial"/>
                <a:cs typeface="Arial"/>
              </a:rPr>
              <a:t>Animate</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Follow </a:t>
            </a:r>
            <a:r>
              <a:rPr sz="1867" dirty="0">
                <a:solidFill>
                  <a:srgbClr val="595959"/>
                </a:solidFill>
                <a:latin typeface="Arial"/>
                <a:cs typeface="Arial"/>
              </a:rPr>
              <a:t>a</a:t>
            </a:r>
            <a:r>
              <a:rPr sz="1867" spc="-27" dirty="0">
                <a:solidFill>
                  <a:srgbClr val="595959"/>
                </a:solidFill>
                <a:latin typeface="Arial"/>
                <a:cs typeface="Arial"/>
              </a:rPr>
              <a:t> </a:t>
            </a:r>
            <a:r>
              <a:rPr sz="1867" spc="-7" dirty="0">
                <a:solidFill>
                  <a:srgbClr val="595959"/>
                </a:solidFill>
                <a:latin typeface="Arial"/>
                <a:cs typeface="Arial"/>
              </a:rPr>
              <a:t>path</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Attack</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Explode</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Become </a:t>
            </a:r>
            <a:r>
              <a:rPr sz="1867" dirty="0">
                <a:solidFill>
                  <a:srgbClr val="595959"/>
                </a:solidFill>
                <a:latin typeface="Arial"/>
                <a:cs typeface="Arial"/>
              </a:rPr>
              <a:t>visible (or</a:t>
            </a:r>
            <a:r>
              <a:rPr sz="1867" spc="-127" dirty="0">
                <a:solidFill>
                  <a:srgbClr val="595959"/>
                </a:solidFill>
                <a:latin typeface="Arial"/>
                <a:cs typeface="Arial"/>
              </a:rPr>
              <a:t> </a:t>
            </a:r>
            <a:r>
              <a:rPr sz="1867" spc="-7" dirty="0">
                <a:solidFill>
                  <a:srgbClr val="595959"/>
                </a:solidFill>
                <a:latin typeface="Arial"/>
                <a:cs typeface="Arial"/>
              </a:rPr>
              <a:t>not)</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Be</a:t>
            </a:r>
            <a:r>
              <a:rPr sz="1867" spc="-13" dirty="0">
                <a:solidFill>
                  <a:srgbClr val="595959"/>
                </a:solidFill>
                <a:latin typeface="Arial"/>
                <a:cs typeface="Arial"/>
              </a:rPr>
              <a:t> </a:t>
            </a:r>
            <a:r>
              <a:rPr sz="1867" dirty="0">
                <a:solidFill>
                  <a:srgbClr val="595959"/>
                </a:solidFill>
                <a:latin typeface="Arial"/>
                <a:cs typeface="Arial"/>
              </a:rPr>
              <a:t>selected</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Get picked</a:t>
            </a:r>
            <a:r>
              <a:rPr sz="1867" spc="-27" dirty="0">
                <a:solidFill>
                  <a:srgbClr val="595959"/>
                </a:solidFill>
                <a:latin typeface="Arial"/>
                <a:cs typeface="Arial"/>
              </a:rPr>
              <a:t> </a:t>
            </a:r>
            <a:r>
              <a:rPr sz="1867" spc="-7" dirty="0">
                <a:solidFill>
                  <a:srgbClr val="595959"/>
                </a:solidFill>
                <a:latin typeface="Arial"/>
                <a:cs typeface="Arial"/>
              </a:rPr>
              <a:t>up</a:t>
            </a:r>
            <a:endParaRPr sz="1867">
              <a:latin typeface="Arial"/>
              <a:cs typeface="Arial"/>
            </a:endParaRPr>
          </a:p>
        </p:txBody>
      </p:sp>
      <p:sp>
        <p:nvSpPr>
          <p:cNvPr id="4" name="object 4"/>
          <p:cNvSpPr/>
          <p:nvPr/>
        </p:nvSpPr>
        <p:spPr>
          <a:xfrm>
            <a:off x="6443199" y="1195831"/>
            <a:ext cx="5333199" cy="5236816"/>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62492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87764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What </a:t>
            </a:r>
            <a:r>
              <a:rPr sz="3733" dirty="0"/>
              <a:t>can </a:t>
            </a:r>
            <a:r>
              <a:rPr sz="3733" spc="-7" dirty="0"/>
              <a:t>an entity</a:t>
            </a:r>
            <a:r>
              <a:rPr sz="3733" spc="-133" dirty="0"/>
              <a:t> </a:t>
            </a:r>
            <a:r>
              <a:rPr sz="3733" spc="-7" dirty="0"/>
              <a:t>do?</a:t>
            </a:r>
            <a:endParaRPr sz="3733"/>
          </a:p>
        </p:txBody>
      </p:sp>
      <p:sp>
        <p:nvSpPr>
          <p:cNvPr id="3" name="object 3"/>
          <p:cNvSpPr txBox="1"/>
          <p:nvPr/>
        </p:nvSpPr>
        <p:spPr>
          <a:xfrm>
            <a:off x="674658" y="1578797"/>
            <a:ext cx="2903220" cy="2720915"/>
          </a:xfrm>
          <a:prstGeom prst="rect">
            <a:avLst/>
          </a:prstGeom>
        </p:spPr>
        <p:txBody>
          <a:bodyPr vert="horz" wrap="square" lIns="0" tIns="62653" rIns="0" bIns="0" rtlCol="0">
            <a:spAutoFit/>
          </a:bodyPr>
          <a:lstStyle/>
          <a:p>
            <a:pPr marL="464808" indent="-447875">
              <a:spcBef>
                <a:spcPts val="493"/>
              </a:spcBef>
              <a:buChar char="●"/>
              <a:tabLst>
                <a:tab pos="463962" algn="l"/>
                <a:tab pos="465655" algn="l"/>
              </a:tabLst>
            </a:pPr>
            <a:r>
              <a:rPr sz="1867" spc="-7" dirty="0">
                <a:solidFill>
                  <a:srgbClr val="595959"/>
                </a:solidFill>
                <a:latin typeface="Arial"/>
                <a:cs typeface="Arial"/>
              </a:rPr>
              <a:t>Animate</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Follow </a:t>
            </a:r>
            <a:r>
              <a:rPr sz="1867" dirty="0">
                <a:solidFill>
                  <a:srgbClr val="595959"/>
                </a:solidFill>
                <a:latin typeface="Arial"/>
                <a:cs typeface="Arial"/>
              </a:rPr>
              <a:t>a</a:t>
            </a:r>
            <a:r>
              <a:rPr sz="1867" spc="-27" dirty="0">
                <a:solidFill>
                  <a:srgbClr val="595959"/>
                </a:solidFill>
                <a:latin typeface="Arial"/>
                <a:cs typeface="Arial"/>
              </a:rPr>
              <a:t> </a:t>
            </a:r>
            <a:r>
              <a:rPr sz="1867" spc="-7" dirty="0">
                <a:solidFill>
                  <a:srgbClr val="595959"/>
                </a:solidFill>
                <a:latin typeface="Arial"/>
                <a:cs typeface="Arial"/>
              </a:rPr>
              <a:t>path</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Attack</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Explode</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Become </a:t>
            </a:r>
            <a:r>
              <a:rPr sz="1867" dirty="0">
                <a:solidFill>
                  <a:srgbClr val="595959"/>
                </a:solidFill>
                <a:latin typeface="Arial"/>
                <a:cs typeface="Arial"/>
              </a:rPr>
              <a:t>visible (or</a:t>
            </a:r>
            <a:r>
              <a:rPr sz="1867" spc="-127" dirty="0">
                <a:solidFill>
                  <a:srgbClr val="595959"/>
                </a:solidFill>
                <a:latin typeface="Arial"/>
                <a:cs typeface="Arial"/>
              </a:rPr>
              <a:t> </a:t>
            </a:r>
            <a:r>
              <a:rPr sz="1867" spc="-7" dirty="0">
                <a:solidFill>
                  <a:srgbClr val="595959"/>
                </a:solidFill>
                <a:latin typeface="Arial"/>
                <a:cs typeface="Arial"/>
              </a:rPr>
              <a:t>not)</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Be</a:t>
            </a:r>
            <a:r>
              <a:rPr sz="1867" spc="-13" dirty="0">
                <a:solidFill>
                  <a:srgbClr val="595959"/>
                </a:solidFill>
                <a:latin typeface="Arial"/>
                <a:cs typeface="Arial"/>
              </a:rPr>
              <a:t> </a:t>
            </a:r>
            <a:r>
              <a:rPr sz="1867" dirty="0">
                <a:solidFill>
                  <a:srgbClr val="595959"/>
                </a:solidFill>
                <a:latin typeface="Arial"/>
                <a:cs typeface="Arial"/>
              </a:rPr>
              <a:t>selected</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Get picked</a:t>
            </a:r>
            <a:r>
              <a:rPr sz="1867" spc="-27" dirty="0">
                <a:solidFill>
                  <a:srgbClr val="595959"/>
                </a:solidFill>
                <a:latin typeface="Arial"/>
                <a:cs typeface="Arial"/>
              </a:rPr>
              <a:t> </a:t>
            </a:r>
            <a:r>
              <a:rPr sz="1867" spc="-7" dirty="0">
                <a:solidFill>
                  <a:srgbClr val="595959"/>
                </a:solidFill>
                <a:latin typeface="Arial"/>
                <a:cs typeface="Arial"/>
              </a:rPr>
              <a:t>up</a:t>
            </a:r>
            <a:endParaRPr sz="1867">
              <a:latin typeface="Arial"/>
              <a:cs typeface="Arial"/>
            </a:endParaRPr>
          </a:p>
          <a:p>
            <a:pPr marL="464808" indent="-447875">
              <a:spcBef>
                <a:spcPts val="360"/>
              </a:spcBef>
              <a:buChar char="●"/>
              <a:tabLst>
                <a:tab pos="463962" algn="l"/>
                <a:tab pos="465655" algn="l"/>
              </a:tabLst>
            </a:pPr>
            <a:r>
              <a:rPr sz="1867" dirty="0">
                <a:solidFill>
                  <a:srgbClr val="595959"/>
                </a:solidFill>
                <a:latin typeface="Arial"/>
                <a:cs typeface="Arial"/>
              </a:rPr>
              <a:t>Make</a:t>
            </a:r>
            <a:r>
              <a:rPr sz="1867" spc="-20" dirty="0">
                <a:solidFill>
                  <a:srgbClr val="595959"/>
                </a:solidFill>
                <a:latin typeface="Arial"/>
                <a:cs typeface="Arial"/>
              </a:rPr>
              <a:t> </a:t>
            </a:r>
            <a:r>
              <a:rPr sz="1867" dirty="0">
                <a:solidFill>
                  <a:srgbClr val="595959"/>
                </a:solidFill>
                <a:latin typeface="Arial"/>
                <a:cs typeface="Arial"/>
              </a:rPr>
              <a:t>sounds</a:t>
            </a:r>
            <a:endParaRPr sz="1867">
              <a:latin typeface="Arial"/>
              <a:cs typeface="Arial"/>
            </a:endParaRPr>
          </a:p>
        </p:txBody>
      </p:sp>
      <p:sp>
        <p:nvSpPr>
          <p:cNvPr id="4" name="object 4"/>
          <p:cNvSpPr/>
          <p:nvPr/>
        </p:nvSpPr>
        <p:spPr>
          <a:xfrm>
            <a:off x="6443199" y="197610"/>
            <a:ext cx="5333199" cy="6462791"/>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2041574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6167120" cy="591551"/>
          </a:xfrm>
          <a:prstGeom prst="rect">
            <a:avLst/>
          </a:prstGeom>
        </p:spPr>
        <p:txBody>
          <a:bodyPr vert="horz" wrap="square" lIns="0" tIns="16933" rIns="0" bIns="0" rtlCol="0" anchor="ctr">
            <a:spAutoFit/>
          </a:bodyPr>
          <a:lstStyle/>
          <a:p>
            <a:pPr marL="16933">
              <a:lnSpc>
                <a:spcPct val="100000"/>
              </a:lnSpc>
              <a:spcBef>
                <a:spcPts val="133"/>
              </a:spcBef>
            </a:pPr>
            <a:r>
              <a:rPr lang="en-US" sz="3733" spc="-7" dirty="0" smtClean="0"/>
              <a:t>In General</a:t>
            </a:r>
            <a:endParaRPr sz="3733" dirty="0"/>
          </a:p>
        </p:txBody>
      </p:sp>
      <p:sp>
        <p:nvSpPr>
          <p:cNvPr id="3" name="object 3"/>
          <p:cNvSpPr txBox="1"/>
          <p:nvPr/>
        </p:nvSpPr>
        <p:spPr>
          <a:xfrm>
            <a:off x="674658" y="1578798"/>
            <a:ext cx="4533900" cy="1027824"/>
          </a:xfrm>
          <a:prstGeom prst="rect">
            <a:avLst/>
          </a:prstGeom>
        </p:spPr>
        <p:txBody>
          <a:bodyPr vert="horz" wrap="square" lIns="0" tIns="62653" rIns="0" bIns="0" rtlCol="0">
            <a:spAutoFit/>
          </a:bodyPr>
          <a:lstStyle/>
          <a:p>
            <a:pPr marL="464808" indent="-447875">
              <a:spcBef>
                <a:spcPts val="493"/>
              </a:spcBef>
              <a:buChar char="●"/>
              <a:tabLst>
                <a:tab pos="463962" algn="l"/>
                <a:tab pos="465655" algn="l"/>
              </a:tabLst>
            </a:pPr>
            <a:r>
              <a:rPr sz="1867" spc="-7" dirty="0">
                <a:solidFill>
                  <a:srgbClr val="595959"/>
                </a:solidFill>
                <a:latin typeface="Arial"/>
                <a:cs typeface="Arial"/>
              </a:rPr>
              <a:t>Entities </a:t>
            </a:r>
            <a:r>
              <a:rPr sz="1867" dirty="0">
                <a:solidFill>
                  <a:srgbClr val="595959"/>
                </a:solidFill>
                <a:latin typeface="Arial"/>
                <a:cs typeface="Arial"/>
              </a:rPr>
              <a:t>can </a:t>
            </a:r>
            <a:r>
              <a:rPr sz="1867" spc="-7" dirty="0">
                <a:solidFill>
                  <a:srgbClr val="595959"/>
                </a:solidFill>
                <a:latin typeface="Arial"/>
                <a:cs typeface="Arial"/>
              </a:rPr>
              <a:t>do lots of different</a:t>
            </a:r>
            <a:r>
              <a:rPr sz="1867" spc="-87" dirty="0">
                <a:solidFill>
                  <a:srgbClr val="595959"/>
                </a:solidFill>
                <a:latin typeface="Arial"/>
                <a:cs typeface="Arial"/>
              </a:rPr>
              <a:t> </a:t>
            </a:r>
            <a:r>
              <a:rPr sz="1867" spc="-7" dirty="0">
                <a:solidFill>
                  <a:srgbClr val="595959"/>
                </a:solidFill>
                <a:latin typeface="Arial"/>
                <a:cs typeface="Arial"/>
              </a:rPr>
              <a:t>things.</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We are going to have lots of</a:t>
            </a:r>
            <a:r>
              <a:rPr sz="1867" spc="-53" dirty="0">
                <a:solidFill>
                  <a:srgbClr val="595959"/>
                </a:solidFill>
                <a:latin typeface="Arial"/>
                <a:cs typeface="Arial"/>
              </a:rPr>
              <a:t> </a:t>
            </a:r>
            <a:r>
              <a:rPr sz="1867" spc="-7" dirty="0">
                <a:solidFill>
                  <a:srgbClr val="595959"/>
                </a:solidFill>
                <a:latin typeface="Arial"/>
                <a:cs typeface="Arial"/>
              </a:rPr>
              <a:t>them.</a:t>
            </a:r>
            <a:endParaRPr sz="1867">
              <a:latin typeface="Arial"/>
              <a:cs typeface="Arial"/>
            </a:endParaRPr>
          </a:p>
          <a:p>
            <a:pPr marL="464808" indent="-447875">
              <a:spcBef>
                <a:spcPts val="360"/>
              </a:spcBef>
              <a:buChar char="●"/>
              <a:tabLst>
                <a:tab pos="463962" algn="l"/>
                <a:tab pos="465655" algn="l"/>
              </a:tabLst>
            </a:pPr>
            <a:r>
              <a:rPr sz="1867" spc="-7" dirty="0">
                <a:solidFill>
                  <a:srgbClr val="595959"/>
                </a:solidFill>
                <a:latin typeface="Arial"/>
                <a:cs typeface="Arial"/>
              </a:rPr>
              <a:t>Not all of them will do the </a:t>
            </a:r>
            <a:r>
              <a:rPr sz="1867" dirty="0">
                <a:solidFill>
                  <a:srgbClr val="595959"/>
                </a:solidFill>
                <a:latin typeface="Arial"/>
                <a:cs typeface="Arial"/>
              </a:rPr>
              <a:t>same</a:t>
            </a:r>
            <a:r>
              <a:rPr sz="1867" spc="-93" dirty="0">
                <a:solidFill>
                  <a:srgbClr val="595959"/>
                </a:solidFill>
                <a:latin typeface="Arial"/>
                <a:cs typeface="Arial"/>
              </a:rPr>
              <a:t> </a:t>
            </a:r>
            <a:r>
              <a:rPr sz="1867" spc="-7" dirty="0">
                <a:solidFill>
                  <a:srgbClr val="595959"/>
                </a:solidFill>
                <a:latin typeface="Arial"/>
                <a:cs typeface="Arial"/>
              </a:rPr>
              <a:t>things.</a:t>
            </a:r>
            <a:endParaRPr sz="1867">
              <a:latin typeface="Arial"/>
              <a:cs typeface="Arial"/>
            </a:endParaRPr>
          </a:p>
        </p:txBody>
      </p:sp>
    </p:spTree>
    <p:extLst>
      <p:ext uri="{BB962C8B-B14F-4D97-AF65-F5344CB8AC3E}">
        <p14:creationId xmlns:p14="http://schemas.microsoft.com/office/powerpoint/2010/main" val="3916289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369062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What is the</a:t>
            </a:r>
            <a:r>
              <a:rPr sz="3733" spc="-133" dirty="0"/>
              <a:t> </a:t>
            </a:r>
            <a:r>
              <a:rPr sz="3733" spc="-7" dirty="0"/>
              <a:t>goal?</a:t>
            </a:r>
            <a:endParaRPr sz="3733"/>
          </a:p>
        </p:txBody>
      </p:sp>
      <p:sp>
        <p:nvSpPr>
          <p:cNvPr id="3" name="object 3"/>
          <p:cNvSpPr txBox="1"/>
          <p:nvPr/>
        </p:nvSpPr>
        <p:spPr>
          <a:xfrm>
            <a:off x="674657" y="1578798"/>
            <a:ext cx="4966547" cy="1683580"/>
          </a:xfrm>
          <a:prstGeom prst="rect">
            <a:avLst/>
          </a:prstGeom>
        </p:spPr>
        <p:txBody>
          <a:bodyPr vert="horz" wrap="square" lIns="0" tIns="16933" rIns="0" bIns="0" rtlCol="0">
            <a:spAutoFit/>
          </a:bodyPr>
          <a:lstStyle/>
          <a:p>
            <a:pPr marL="464808" marR="224361" indent="-447875">
              <a:lnSpc>
                <a:spcPct val="116100"/>
              </a:lnSpc>
              <a:spcBef>
                <a:spcPts val="133"/>
              </a:spcBef>
              <a:buChar char="●"/>
              <a:tabLst>
                <a:tab pos="463962" algn="l"/>
                <a:tab pos="465655" algn="l"/>
              </a:tabLst>
            </a:pPr>
            <a:r>
              <a:rPr sz="1867" spc="-7" dirty="0">
                <a:solidFill>
                  <a:srgbClr val="595959"/>
                </a:solidFill>
                <a:latin typeface="Arial"/>
                <a:cs typeface="Arial"/>
              </a:rPr>
              <a:t>We want </a:t>
            </a:r>
            <a:r>
              <a:rPr sz="1867" dirty="0">
                <a:solidFill>
                  <a:srgbClr val="595959"/>
                </a:solidFill>
                <a:latin typeface="Arial"/>
                <a:cs typeface="Arial"/>
              </a:rPr>
              <a:t>some kind </a:t>
            </a:r>
            <a:r>
              <a:rPr sz="1867" spc="-7" dirty="0">
                <a:solidFill>
                  <a:srgbClr val="595959"/>
                </a:solidFill>
                <a:latin typeface="Arial"/>
                <a:cs typeface="Arial"/>
              </a:rPr>
              <a:t>of abstraction to  </a:t>
            </a:r>
            <a:r>
              <a:rPr sz="1867" dirty="0">
                <a:solidFill>
                  <a:srgbClr val="595959"/>
                </a:solidFill>
                <a:latin typeface="Arial"/>
                <a:cs typeface="Arial"/>
              </a:rPr>
              <a:t>simplify </a:t>
            </a:r>
            <a:r>
              <a:rPr sz="1867" spc="-7" dirty="0">
                <a:solidFill>
                  <a:srgbClr val="595959"/>
                </a:solidFill>
                <a:latin typeface="Arial"/>
                <a:cs typeface="Arial"/>
              </a:rPr>
              <a:t>interactions among our </a:t>
            </a:r>
            <a:r>
              <a:rPr sz="1867" dirty="0">
                <a:solidFill>
                  <a:srgbClr val="595959"/>
                </a:solidFill>
                <a:latin typeface="Arial"/>
                <a:cs typeface="Arial"/>
              </a:rPr>
              <a:t>many  varied </a:t>
            </a:r>
            <a:r>
              <a:rPr sz="1867" spc="-7" dirty="0">
                <a:solidFill>
                  <a:srgbClr val="595959"/>
                </a:solidFill>
                <a:latin typeface="Arial"/>
                <a:cs typeface="Arial"/>
              </a:rPr>
              <a:t>entities and higher level</a:t>
            </a:r>
            <a:r>
              <a:rPr sz="1867" spc="-120" dirty="0">
                <a:solidFill>
                  <a:srgbClr val="595959"/>
                </a:solidFill>
                <a:latin typeface="Arial"/>
                <a:cs typeface="Arial"/>
              </a:rPr>
              <a:t> </a:t>
            </a:r>
            <a:r>
              <a:rPr sz="1867" dirty="0">
                <a:solidFill>
                  <a:srgbClr val="595959"/>
                </a:solidFill>
                <a:latin typeface="Arial"/>
                <a:cs typeface="Arial"/>
              </a:rPr>
              <a:t>systems..</a:t>
            </a:r>
            <a:endParaRPr sz="1867">
              <a:latin typeface="Arial"/>
              <a:cs typeface="Arial"/>
            </a:endParaRPr>
          </a:p>
          <a:p>
            <a:pPr marL="464808" marR="6773" indent="-447875">
              <a:lnSpc>
                <a:spcPct val="116100"/>
              </a:lnSpc>
              <a:buChar char="●"/>
              <a:tabLst>
                <a:tab pos="463962" algn="l"/>
                <a:tab pos="465655" algn="l"/>
              </a:tabLst>
            </a:pPr>
            <a:r>
              <a:rPr sz="1867" spc="-7" dirty="0">
                <a:solidFill>
                  <a:srgbClr val="595959"/>
                </a:solidFill>
                <a:latin typeface="Arial"/>
                <a:cs typeface="Arial"/>
              </a:rPr>
              <a:t>And we don’t want to pay too </a:t>
            </a:r>
            <a:r>
              <a:rPr sz="1867" dirty="0">
                <a:solidFill>
                  <a:srgbClr val="595959"/>
                </a:solidFill>
                <a:latin typeface="Arial"/>
                <a:cs typeface="Arial"/>
              </a:rPr>
              <a:t>much </a:t>
            </a:r>
            <a:r>
              <a:rPr sz="1867" spc="-7" dirty="0">
                <a:solidFill>
                  <a:srgbClr val="595959"/>
                </a:solidFill>
                <a:latin typeface="Arial"/>
                <a:cs typeface="Arial"/>
              </a:rPr>
              <a:t>for that  abstraction.</a:t>
            </a:r>
            <a:endParaRPr sz="1867">
              <a:latin typeface="Arial"/>
              <a:cs typeface="Arial"/>
            </a:endParaRPr>
          </a:p>
        </p:txBody>
      </p:sp>
    </p:spTree>
    <p:extLst>
      <p:ext uri="{BB962C8B-B14F-4D97-AF65-F5344CB8AC3E}">
        <p14:creationId xmlns:p14="http://schemas.microsoft.com/office/powerpoint/2010/main" val="20971328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369062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What is the</a:t>
            </a:r>
            <a:r>
              <a:rPr sz="3733" spc="-133" dirty="0"/>
              <a:t> </a:t>
            </a:r>
            <a:r>
              <a:rPr sz="3733" spc="-7" dirty="0"/>
              <a:t>goal?</a:t>
            </a:r>
            <a:endParaRPr sz="3733"/>
          </a:p>
        </p:txBody>
      </p:sp>
      <p:sp>
        <p:nvSpPr>
          <p:cNvPr id="3" name="object 3"/>
          <p:cNvSpPr txBox="1"/>
          <p:nvPr/>
        </p:nvSpPr>
        <p:spPr>
          <a:xfrm>
            <a:off x="674657" y="1578798"/>
            <a:ext cx="4966547" cy="2016877"/>
          </a:xfrm>
          <a:prstGeom prst="rect">
            <a:avLst/>
          </a:prstGeom>
        </p:spPr>
        <p:txBody>
          <a:bodyPr vert="horz" wrap="square" lIns="0" tIns="16933" rIns="0" bIns="0" rtlCol="0">
            <a:spAutoFit/>
          </a:bodyPr>
          <a:lstStyle/>
          <a:p>
            <a:pPr marL="464808" marR="217588" indent="-447875">
              <a:lnSpc>
                <a:spcPct val="116100"/>
              </a:lnSpc>
              <a:spcBef>
                <a:spcPts val="133"/>
              </a:spcBef>
              <a:buChar char="●"/>
              <a:tabLst>
                <a:tab pos="463962" algn="l"/>
                <a:tab pos="465655" algn="l"/>
              </a:tabLst>
            </a:pPr>
            <a:r>
              <a:rPr sz="1867" b="1" spc="-7" dirty="0">
                <a:solidFill>
                  <a:srgbClr val="595959"/>
                </a:solidFill>
                <a:latin typeface="Arial"/>
                <a:cs typeface="Arial"/>
              </a:rPr>
              <a:t>We want some kind of abstraction </a:t>
            </a:r>
            <a:r>
              <a:rPr sz="1867" b="1" dirty="0">
                <a:solidFill>
                  <a:srgbClr val="595959"/>
                </a:solidFill>
                <a:latin typeface="Arial"/>
                <a:cs typeface="Arial"/>
              </a:rPr>
              <a:t>to  </a:t>
            </a:r>
            <a:r>
              <a:rPr sz="1867" b="1" spc="-7" dirty="0">
                <a:solidFill>
                  <a:srgbClr val="595959"/>
                </a:solidFill>
                <a:latin typeface="Arial"/>
                <a:cs typeface="Arial"/>
              </a:rPr>
              <a:t>simplify interactions among our many  varied entities and higher level  systems.</a:t>
            </a:r>
            <a:endParaRPr sz="1867">
              <a:latin typeface="Arial"/>
              <a:cs typeface="Arial"/>
            </a:endParaRPr>
          </a:p>
          <a:p>
            <a:pPr marL="464808" marR="6773" indent="-447875">
              <a:lnSpc>
                <a:spcPct val="116100"/>
              </a:lnSpc>
              <a:buChar char="●"/>
              <a:tabLst>
                <a:tab pos="463962" algn="l"/>
                <a:tab pos="465655" algn="l"/>
              </a:tabLst>
            </a:pPr>
            <a:r>
              <a:rPr sz="1867" spc="-7" dirty="0">
                <a:solidFill>
                  <a:srgbClr val="595959"/>
                </a:solidFill>
                <a:latin typeface="Arial"/>
                <a:cs typeface="Arial"/>
              </a:rPr>
              <a:t>And we don’t want to pay too </a:t>
            </a:r>
            <a:r>
              <a:rPr sz="1867" dirty="0">
                <a:solidFill>
                  <a:srgbClr val="595959"/>
                </a:solidFill>
                <a:latin typeface="Arial"/>
                <a:cs typeface="Arial"/>
              </a:rPr>
              <a:t>much </a:t>
            </a:r>
            <a:r>
              <a:rPr sz="1867" spc="-7" dirty="0">
                <a:solidFill>
                  <a:srgbClr val="595959"/>
                </a:solidFill>
                <a:latin typeface="Arial"/>
                <a:cs typeface="Arial"/>
              </a:rPr>
              <a:t>for that  abstraction.</a:t>
            </a:r>
            <a:endParaRPr sz="1867">
              <a:latin typeface="Arial"/>
              <a:cs typeface="Arial"/>
            </a:endParaRPr>
          </a:p>
        </p:txBody>
      </p:sp>
      <p:sp>
        <p:nvSpPr>
          <p:cNvPr id="4" name="object 4"/>
          <p:cNvSpPr txBox="1">
            <a:spLocks noGrp="1"/>
          </p:cNvSpPr>
          <p:nvPr>
            <p:ph sz="half" idx="4294967295"/>
          </p:nvPr>
        </p:nvSpPr>
        <p:spPr>
          <a:xfrm>
            <a:off x="0" y="0"/>
            <a:ext cx="0" cy="153408449"/>
          </a:xfrm>
          <a:prstGeom prst="rect">
            <a:avLst/>
          </a:prstGeom>
        </p:spPr>
        <p:txBody>
          <a:bodyPr vert="horz" wrap="square" lIns="0" tIns="16933" rIns="0" bIns="0" rtlCol="0">
            <a:spAutoFit/>
          </a:bodyPr>
          <a:lstStyle/>
          <a:p>
            <a:pPr marL="16933">
              <a:lnSpc>
                <a:spcPct val="100000"/>
              </a:lnSpc>
              <a:spcBef>
                <a:spcPts val="133"/>
              </a:spcBef>
            </a:pPr>
            <a:r>
              <a:rPr spc="-7" dirty="0"/>
              <a:t>Examples of</a:t>
            </a:r>
            <a:r>
              <a:rPr spc="-13" dirty="0"/>
              <a:t> </a:t>
            </a:r>
            <a:r>
              <a:rPr spc="-7" dirty="0"/>
              <a:t>interactions:</a:t>
            </a:r>
          </a:p>
          <a:p>
            <a:pPr>
              <a:lnSpc>
                <a:spcPct val="100000"/>
              </a:lnSpc>
              <a:spcBef>
                <a:spcPts val="27"/>
              </a:spcBef>
            </a:pPr>
            <a:endParaRPr sz="1800">
              <a:latin typeface="Times New Roman"/>
              <a:cs typeface="Times New Roman"/>
            </a:endParaRPr>
          </a:p>
          <a:p>
            <a:pPr marL="626518" marR="274313" indent="-448722">
              <a:lnSpc>
                <a:spcPct val="116100"/>
              </a:lnSpc>
              <a:buChar char="●"/>
              <a:tabLst>
                <a:tab pos="625671" algn="l"/>
                <a:tab pos="626518" algn="l"/>
              </a:tabLst>
            </a:pPr>
            <a:r>
              <a:rPr spc="-7" dirty="0"/>
              <a:t>The </a:t>
            </a:r>
            <a:r>
              <a:rPr dirty="0"/>
              <a:t>main </a:t>
            </a:r>
            <a:r>
              <a:rPr spc="-7" dirty="0"/>
              <a:t>loop triggers an update telling  everything that needs to be updated to  update and everything that needs to be  drawn to</a:t>
            </a:r>
            <a:r>
              <a:rPr spc="-13" dirty="0"/>
              <a:t> </a:t>
            </a:r>
            <a:r>
              <a:rPr spc="-7" dirty="0"/>
              <a:t>draw.</a:t>
            </a:r>
          </a:p>
          <a:p>
            <a:pPr marL="626518" marR="6773" indent="-448722">
              <a:lnSpc>
                <a:spcPct val="116100"/>
              </a:lnSpc>
              <a:buChar char="●"/>
              <a:tabLst>
                <a:tab pos="625671" algn="l"/>
                <a:tab pos="626518" algn="l"/>
              </a:tabLst>
            </a:pPr>
            <a:r>
              <a:rPr spc="-7" dirty="0"/>
              <a:t>During the update we </a:t>
            </a:r>
            <a:r>
              <a:rPr dirty="0"/>
              <a:t>see </a:t>
            </a:r>
            <a:r>
              <a:rPr spc="-7" dirty="0"/>
              <a:t>that Pacman  has picked up </a:t>
            </a:r>
            <a:r>
              <a:rPr dirty="0"/>
              <a:t>a </a:t>
            </a:r>
            <a:r>
              <a:rPr spc="-7" dirty="0"/>
              <a:t>power-pellet. The pellet is  </a:t>
            </a:r>
            <a:r>
              <a:rPr dirty="0"/>
              <a:t>consumed, a sound </a:t>
            </a:r>
            <a:r>
              <a:rPr spc="-7" dirty="0"/>
              <a:t>is played, the </a:t>
            </a:r>
            <a:r>
              <a:rPr dirty="0"/>
              <a:t>music  changes, </a:t>
            </a:r>
            <a:r>
              <a:rPr spc="-7" dirty="0"/>
              <a:t>the </a:t>
            </a:r>
            <a:r>
              <a:rPr dirty="0"/>
              <a:t>score </a:t>
            </a:r>
            <a:r>
              <a:rPr spc="-7" dirty="0"/>
              <a:t>is updated, the ghosts  </a:t>
            </a:r>
            <a:r>
              <a:rPr dirty="0"/>
              <a:t>switch </a:t>
            </a:r>
            <a:r>
              <a:rPr spc="-7" dirty="0"/>
              <a:t>to their fleeing </a:t>
            </a:r>
            <a:r>
              <a:rPr dirty="0"/>
              <a:t>states, a </a:t>
            </a:r>
            <a:r>
              <a:rPr spc="-7" dirty="0"/>
              <a:t>timer is  </a:t>
            </a:r>
            <a:r>
              <a:rPr dirty="0"/>
              <a:t>started.</a:t>
            </a:r>
          </a:p>
        </p:txBody>
      </p:sp>
    </p:spTree>
    <p:extLst>
      <p:ext uri="{BB962C8B-B14F-4D97-AF65-F5344CB8AC3E}">
        <p14:creationId xmlns:p14="http://schemas.microsoft.com/office/powerpoint/2010/main" val="21644657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369062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What is the</a:t>
            </a:r>
            <a:r>
              <a:rPr sz="3733" spc="-133" dirty="0"/>
              <a:t> </a:t>
            </a:r>
            <a:r>
              <a:rPr sz="3733" spc="-7" dirty="0"/>
              <a:t>goal?</a:t>
            </a:r>
            <a:endParaRPr sz="3733"/>
          </a:p>
        </p:txBody>
      </p:sp>
      <p:sp>
        <p:nvSpPr>
          <p:cNvPr id="3" name="object 3"/>
          <p:cNvSpPr txBox="1"/>
          <p:nvPr/>
        </p:nvSpPr>
        <p:spPr>
          <a:xfrm>
            <a:off x="674658" y="1578798"/>
            <a:ext cx="4847167" cy="1683580"/>
          </a:xfrm>
          <a:prstGeom prst="rect">
            <a:avLst/>
          </a:prstGeom>
        </p:spPr>
        <p:txBody>
          <a:bodyPr vert="horz" wrap="square" lIns="0" tIns="16933" rIns="0" bIns="0" rtlCol="0">
            <a:spAutoFit/>
          </a:bodyPr>
          <a:lstStyle/>
          <a:p>
            <a:pPr marL="464808" marR="104137" indent="-447875">
              <a:lnSpc>
                <a:spcPct val="116100"/>
              </a:lnSpc>
              <a:spcBef>
                <a:spcPts val="133"/>
              </a:spcBef>
              <a:buChar char="●"/>
              <a:tabLst>
                <a:tab pos="463962" algn="l"/>
                <a:tab pos="465655" algn="l"/>
              </a:tabLst>
            </a:pPr>
            <a:r>
              <a:rPr sz="1867" spc="-7" dirty="0">
                <a:solidFill>
                  <a:srgbClr val="595959"/>
                </a:solidFill>
                <a:latin typeface="Arial"/>
                <a:cs typeface="Arial"/>
              </a:rPr>
              <a:t>We want </a:t>
            </a:r>
            <a:r>
              <a:rPr sz="1867" dirty="0">
                <a:solidFill>
                  <a:srgbClr val="595959"/>
                </a:solidFill>
                <a:latin typeface="Arial"/>
                <a:cs typeface="Arial"/>
              </a:rPr>
              <a:t>some kind </a:t>
            </a:r>
            <a:r>
              <a:rPr sz="1867" spc="-7" dirty="0">
                <a:solidFill>
                  <a:srgbClr val="595959"/>
                </a:solidFill>
                <a:latin typeface="Arial"/>
                <a:cs typeface="Arial"/>
              </a:rPr>
              <a:t>of abstraction to  </a:t>
            </a:r>
            <a:r>
              <a:rPr sz="1867" dirty="0">
                <a:solidFill>
                  <a:srgbClr val="595959"/>
                </a:solidFill>
                <a:latin typeface="Arial"/>
                <a:cs typeface="Arial"/>
              </a:rPr>
              <a:t>simplify </a:t>
            </a:r>
            <a:r>
              <a:rPr sz="1867" spc="-7" dirty="0">
                <a:solidFill>
                  <a:srgbClr val="595959"/>
                </a:solidFill>
                <a:latin typeface="Arial"/>
                <a:cs typeface="Arial"/>
              </a:rPr>
              <a:t>interactions among our </a:t>
            </a:r>
            <a:r>
              <a:rPr sz="1867" dirty="0">
                <a:solidFill>
                  <a:srgbClr val="595959"/>
                </a:solidFill>
                <a:latin typeface="Arial"/>
                <a:cs typeface="Arial"/>
              </a:rPr>
              <a:t>many  varied </a:t>
            </a:r>
            <a:r>
              <a:rPr sz="1867" spc="-7" dirty="0">
                <a:solidFill>
                  <a:srgbClr val="595959"/>
                </a:solidFill>
                <a:latin typeface="Arial"/>
                <a:cs typeface="Arial"/>
              </a:rPr>
              <a:t>entities and higher level</a:t>
            </a:r>
            <a:r>
              <a:rPr sz="1867" spc="-120" dirty="0">
                <a:solidFill>
                  <a:srgbClr val="595959"/>
                </a:solidFill>
                <a:latin typeface="Arial"/>
                <a:cs typeface="Arial"/>
              </a:rPr>
              <a:t> </a:t>
            </a:r>
            <a:r>
              <a:rPr sz="1867" dirty="0">
                <a:solidFill>
                  <a:srgbClr val="595959"/>
                </a:solidFill>
                <a:latin typeface="Arial"/>
                <a:cs typeface="Arial"/>
              </a:rPr>
              <a:t>systems..</a:t>
            </a:r>
            <a:endParaRPr sz="1867">
              <a:latin typeface="Arial"/>
              <a:cs typeface="Arial"/>
            </a:endParaRPr>
          </a:p>
          <a:p>
            <a:pPr marL="464808" marR="6773" indent="-447875">
              <a:lnSpc>
                <a:spcPct val="116100"/>
              </a:lnSpc>
              <a:buChar char="●"/>
              <a:tabLst>
                <a:tab pos="463962" algn="l"/>
                <a:tab pos="465655" algn="l"/>
              </a:tabLst>
            </a:pPr>
            <a:r>
              <a:rPr sz="1867" b="1" spc="-7" dirty="0">
                <a:solidFill>
                  <a:srgbClr val="595959"/>
                </a:solidFill>
                <a:latin typeface="Arial"/>
                <a:cs typeface="Arial"/>
              </a:rPr>
              <a:t>And we don’t want </a:t>
            </a:r>
            <a:r>
              <a:rPr sz="1867" b="1" dirty="0">
                <a:solidFill>
                  <a:srgbClr val="595959"/>
                </a:solidFill>
                <a:latin typeface="Arial"/>
                <a:cs typeface="Arial"/>
              </a:rPr>
              <a:t>to </a:t>
            </a:r>
            <a:r>
              <a:rPr sz="1867" b="1" spc="-7" dirty="0">
                <a:solidFill>
                  <a:srgbClr val="595959"/>
                </a:solidFill>
                <a:latin typeface="Arial"/>
                <a:cs typeface="Arial"/>
              </a:rPr>
              <a:t>pay </a:t>
            </a:r>
            <a:r>
              <a:rPr sz="1867" b="1" dirty="0">
                <a:solidFill>
                  <a:srgbClr val="595959"/>
                </a:solidFill>
                <a:latin typeface="Arial"/>
                <a:cs typeface="Arial"/>
              </a:rPr>
              <a:t>too </a:t>
            </a:r>
            <a:r>
              <a:rPr sz="1867" b="1" spc="-7" dirty="0">
                <a:solidFill>
                  <a:srgbClr val="595959"/>
                </a:solidFill>
                <a:latin typeface="Arial"/>
                <a:cs typeface="Arial"/>
              </a:rPr>
              <a:t>much</a:t>
            </a:r>
            <a:r>
              <a:rPr sz="1867" b="1" spc="-113" dirty="0">
                <a:solidFill>
                  <a:srgbClr val="595959"/>
                </a:solidFill>
                <a:latin typeface="Arial"/>
                <a:cs typeface="Arial"/>
              </a:rPr>
              <a:t> </a:t>
            </a:r>
            <a:r>
              <a:rPr sz="1867" b="1" dirty="0">
                <a:solidFill>
                  <a:srgbClr val="595959"/>
                </a:solidFill>
                <a:latin typeface="Arial"/>
                <a:cs typeface="Arial"/>
              </a:rPr>
              <a:t>for  that</a:t>
            </a:r>
            <a:r>
              <a:rPr sz="1867" b="1" spc="-13" dirty="0">
                <a:solidFill>
                  <a:srgbClr val="595959"/>
                </a:solidFill>
                <a:latin typeface="Arial"/>
                <a:cs typeface="Arial"/>
              </a:rPr>
              <a:t> </a:t>
            </a:r>
            <a:r>
              <a:rPr sz="1867" b="1" spc="-7" dirty="0">
                <a:solidFill>
                  <a:srgbClr val="595959"/>
                </a:solidFill>
                <a:latin typeface="Arial"/>
                <a:cs typeface="Arial"/>
              </a:rPr>
              <a:t>abstraction.</a:t>
            </a:r>
            <a:endParaRPr sz="1867">
              <a:latin typeface="Arial"/>
              <a:cs typeface="Arial"/>
            </a:endParaRPr>
          </a:p>
        </p:txBody>
      </p:sp>
      <p:sp>
        <p:nvSpPr>
          <p:cNvPr id="4" name="object 4"/>
          <p:cNvSpPr txBox="1"/>
          <p:nvPr/>
        </p:nvSpPr>
        <p:spPr>
          <a:xfrm>
            <a:off x="6540567" y="1624517"/>
            <a:ext cx="3995420" cy="1597211"/>
          </a:xfrm>
          <a:prstGeom prst="rect">
            <a:avLst/>
          </a:prstGeom>
        </p:spPr>
        <p:txBody>
          <a:bodyPr vert="horz" wrap="square" lIns="0" tIns="16933" rIns="0" bIns="0" rtlCol="0">
            <a:spAutoFit/>
          </a:bodyPr>
          <a:lstStyle/>
          <a:p>
            <a:pPr marL="16933">
              <a:spcBef>
                <a:spcPts val="133"/>
              </a:spcBef>
            </a:pPr>
            <a:r>
              <a:rPr sz="1867" spc="-7" dirty="0">
                <a:solidFill>
                  <a:srgbClr val="595959"/>
                </a:solidFill>
                <a:latin typeface="Arial"/>
                <a:cs typeface="Arial"/>
              </a:rPr>
              <a:t>That </a:t>
            </a:r>
            <a:r>
              <a:rPr sz="1867" dirty="0">
                <a:solidFill>
                  <a:srgbClr val="595959"/>
                </a:solidFill>
                <a:latin typeface="Arial"/>
                <a:cs typeface="Arial"/>
              </a:rPr>
              <a:t>cost can come </a:t>
            </a:r>
            <a:r>
              <a:rPr sz="1867" spc="-7" dirty="0">
                <a:solidFill>
                  <a:srgbClr val="595959"/>
                </a:solidFill>
                <a:latin typeface="Arial"/>
                <a:cs typeface="Arial"/>
              </a:rPr>
              <a:t>in different</a:t>
            </a:r>
            <a:r>
              <a:rPr sz="1867" spc="-133" dirty="0">
                <a:solidFill>
                  <a:srgbClr val="595959"/>
                </a:solidFill>
                <a:latin typeface="Arial"/>
                <a:cs typeface="Arial"/>
              </a:rPr>
              <a:t> </a:t>
            </a:r>
            <a:r>
              <a:rPr sz="1867" spc="-7" dirty="0">
                <a:solidFill>
                  <a:srgbClr val="595959"/>
                </a:solidFill>
                <a:latin typeface="Arial"/>
                <a:cs typeface="Arial"/>
              </a:rPr>
              <a:t>forms:</a:t>
            </a:r>
            <a:endParaRPr sz="1867">
              <a:latin typeface="Arial"/>
              <a:cs typeface="Arial"/>
            </a:endParaRPr>
          </a:p>
          <a:p>
            <a:pPr>
              <a:spcBef>
                <a:spcPts val="7"/>
              </a:spcBef>
            </a:pPr>
            <a:endParaRPr sz="2133">
              <a:latin typeface="Times New Roman"/>
              <a:cs typeface="Times New Roman"/>
            </a:endParaRPr>
          </a:p>
          <a:p>
            <a:pPr marL="626518" indent="-448722">
              <a:buChar char="●"/>
              <a:tabLst>
                <a:tab pos="625671" algn="l"/>
                <a:tab pos="626518" algn="l"/>
              </a:tabLst>
            </a:pPr>
            <a:r>
              <a:rPr sz="1867" dirty="0">
                <a:solidFill>
                  <a:srgbClr val="595959"/>
                </a:solidFill>
                <a:latin typeface="Arial"/>
                <a:cs typeface="Arial"/>
              </a:rPr>
              <a:t>Maintenance</a:t>
            </a:r>
            <a:endParaRPr sz="1867">
              <a:latin typeface="Arial"/>
              <a:cs typeface="Arial"/>
            </a:endParaRPr>
          </a:p>
          <a:p>
            <a:pPr marL="626518" indent="-448722">
              <a:spcBef>
                <a:spcPts val="360"/>
              </a:spcBef>
              <a:buChar char="●"/>
              <a:tabLst>
                <a:tab pos="625671" algn="l"/>
                <a:tab pos="626518" algn="l"/>
              </a:tabLst>
            </a:pPr>
            <a:r>
              <a:rPr sz="1867" spc="-7" dirty="0">
                <a:solidFill>
                  <a:srgbClr val="595959"/>
                </a:solidFill>
                <a:latin typeface="Arial"/>
                <a:cs typeface="Arial"/>
              </a:rPr>
              <a:t>Performance</a:t>
            </a:r>
            <a:endParaRPr sz="1867">
              <a:latin typeface="Arial"/>
              <a:cs typeface="Arial"/>
            </a:endParaRPr>
          </a:p>
          <a:p>
            <a:pPr marL="626518" indent="-448722">
              <a:spcBef>
                <a:spcPts val="360"/>
              </a:spcBef>
              <a:buChar char="●"/>
              <a:tabLst>
                <a:tab pos="625671" algn="l"/>
                <a:tab pos="626518" algn="l"/>
              </a:tabLst>
            </a:pPr>
            <a:r>
              <a:rPr sz="1867" spc="-7" dirty="0">
                <a:solidFill>
                  <a:srgbClr val="595959"/>
                </a:solidFill>
                <a:latin typeface="Arial"/>
                <a:cs typeface="Arial"/>
              </a:rPr>
              <a:t>Flexibility</a:t>
            </a:r>
            <a:endParaRPr sz="1867">
              <a:latin typeface="Arial"/>
              <a:cs typeface="Arial"/>
            </a:endParaRPr>
          </a:p>
        </p:txBody>
      </p:sp>
    </p:spTree>
    <p:extLst>
      <p:ext uri="{BB962C8B-B14F-4D97-AF65-F5344CB8AC3E}">
        <p14:creationId xmlns:p14="http://schemas.microsoft.com/office/powerpoint/2010/main" val="1289970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7405"/>
            <a:ext cx="4037753"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Let’s </a:t>
            </a:r>
            <a:r>
              <a:rPr sz="3733" dirty="0"/>
              <a:t>make a</a:t>
            </a:r>
            <a:r>
              <a:rPr sz="3733" spc="-133" dirty="0"/>
              <a:t> </a:t>
            </a:r>
            <a:r>
              <a:rPr sz="3733" spc="-7" dirty="0"/>
              <a:t>game</a:t>
            </a:r>
            <a:endParaRPr sz="3733"/>
          </a:p>
        </p:txBody>
      </p:sp>
      <p:sp>
        <p:nvSpPr>
          <p:cNvPr id="3" name="object 3"/>
          <p:cNvSpPr txBox="1"/>
          <p:nvPr/>
        </p:nvSpPr>
        <p:spPr>
          <a:xfrm>
            <a:off x="512967" y="1578797"/>
            <a:ext cx="5127413" cy="4458058"/>
          </a:xfrm>
          <a:prstGeom prst="rect">
            <a:avLst/>
          </a:prstGeom>
        </p:spPr>
        <p:txBody>
          <a:bodyPr vert="horz" wrap="square" lIns="0" tIns="16933" rIns="0" bIns="0" rtlCol="0">
            <a:spAutoFit/>
          </a:bodyPr>
          <a:lstStyle/>
          <a:p>
            <a:pPr marL="16933" marR="511374">
              <a:lnSpc>
                <a:spcPct val="116100"/>
              </a:lnSpc>
              <a:spcBef>
                <a:spcPts val="133"/>
              </a:spcBef>
            </a:pPr>
            <a:r>
              <a:rPr sz="1867" b="1" spc="-7" dirty="0">
                <a:solidFill>
                  <a:srgbClr val="595959"/>
                </a:solidFill>
                <a:latin typeface="Arial"/>
                <a:cs typeface="Arial"/>
              </a:rPr>
              <a:t>ShootyGuy</a:t>
            </a:r>
            <a:r>
              <a:rPr sz="1867" spc="-7" dirty="0">
                <a:solidFill>
                  <a:srgbClr val="595959"/>
                </a:solidFill>
                <a:latin typeface="Arial"/>
                <a:cs typeface="Arial"/>
              </a:rPr>
              <a:t>: </a:t>
            </a:r>
            <a:r>
              <a:rPr sz="1867" dirty="0">
                <a:solidFill>
                  <a:srgbClr val="595959"/>
                </a:solidFill>
                <a:latin typeface="Arial"/>
                <a:cs typeface="Arial"/>
              </a:rPr>
              <a:t>A </a:t>
            </a:r>
            <a:r>
              <a:rPr sz="1867" spc="-7" dirty="0">
                <a:solidFill>
                  <a:srgbClr val="595959"/>
                </a:solidFill>
                <a:latin typeface="Arial"/>
                <a:cs typeface="Arial"/>
              </a:rPr>
              <a:t>fast-paced 2D arena fighting  game with </a:t>
            </a:r>
            <a:r>
              <a:rPr sz="1867" dirty="0">
                <a:solidFill>
                  <a:srgbClr val="595959"/>
                </a:solidFill>
                <a:latin typeface="Arial"/>
                <a:cs typeface="Arial"/>
              </a:rPr>
              <a:t>retro </a:t>
            </a:r>
            <a:r>
              <a:rPr sz="1867" spc="-7" dirty="0">
                <a:solidFill>
                  <a:srgbClr val="595959"/>
                </a:solidFill>
                <a:latin typeface="Arial"/>
                <a:cs typeface="Arial"/>
              </a:rPr>
              <a:t>graphics and</a:t>
            </a:r>
            <a:r>
              <a:rPr sz="1867" spc="-47" dirty="0">
                <a:solidFill>
                  <a:srgbClr val="595959"/>
                </a:solidFill>
                <a:latin typeface="Arial"/>
                <a:cs typeface="Arial"/>
              </a:rPr>
              <a:t> </a:t>
            </a:r>
            <a:r>
              <a:rPr sz="1867" dirty="0">
                <a:solidFill>
                  <a:srgbClr val="595959"/>
                </a:solidFill>
                <a:latin typeface="Arial"/>
                <a:cs typeface="Arial"/>
              </a:rPr>
              <a:t>sound!</a:t>
            </a:r>
            <a:endParaRPr sz="1867">
              <a:latin typeface="Arial"/>
              <a:cs typeface="Arial"/>
            </a:endParaRPr>
          </a:p>
          <a:p>
            <a:pPr>
              <a:spcBef>
                <a:spcPts val="27"/>
              </a:spcBef>
            </a:pPr>
            <a:endParaRPr>
              <a:latin typeface="Times New Roman"/>
              <a:cs typeface="Times New Roman"/>
            </a:endParaRPr>
          </a:p>
          <a:p>
            <a:pPr marL="16933" marR="19472">
              <a:lnSpc>
                <a:spcPct val="116100"/>
              </a:lnSpc>
            </a:pPr>
            <a:r>
              <a:rPr sz="1867" spc="-7" dirty="0">
                <a:solidFill>
                  <a:srgbClr val="595959"/>
                </a:solidFill>
                <a:latin typeface="Arial"/>
                <a:cs typeface="Arial"/>
              </a:rPr>
              <a:t>The player will face </a:t>
            </a:r>
            <a:r>
              <a:rPr sz="1867" dirty="0">
                <a:solidFill>
                  <a:srgbClr val="595959"/>
                </a:solidFill>
                <a:latin typeface="Arial"/>
                <a:cs typeface="Arial"/>
              </a:rPr>
              <a:t>a variety </a:t>
            </a:r>
            <a:r>
              <a:rPr sz="1867" spc="-7" dirty="0">
                <a:solidFill>
                  <a:srgbClr val="595959"/>
                </a:solidFill>
                <a:latin typeface="Arial"/>
                <a:cs typeface="Arial"/>
              </a:rPr>
              <a:t>of exciting enemies  and</a:t>
            </a:r>
            <a:r>
              <a:rPr sz="1867" spc="-13" dirty="0">
                <a:solidFill>
                  <a:srgbClr val="595959"/>
                </a:solidFill>
                <a:latin typeface="Arial"/>
                <a:cs typeface="Arial"/>
              </a:rPr>
              <a:t> </a:t>
            </a:r>
            <a:r>
              <a:rPr sz="1867" spc="-7" dirty="0">
                <a:solidFill>
                  <a:srgbClr val="595959"/>
                </a:solidFill>
                <a:latin typeface="Arial"/>
                <a:cs typeface="Arial"/>
              </a:rPr>
              <a:t>obstacles:</a:t>
            </a:r>
            <a:endParaRPr sz="1867">
              <a:latin typeface="Arial"/>
              <a:cs typeface="Arial"/>
            </a:endParaRPr>
          </a:p>
          <a:p>
            <a:pPr>
              <a:spcBef>
                <a:spcPts val="27"/>
              </a:spcBef>
            </a:pPr>
            <a:endParaRPr>
              <a:latin typeface="Times New Roman"/>
              <a:cs typeface="Times New Roman"/>
            </a:endParaRPr>
          </a:p>
          <a:p>
            <a:pPr marL="16933" marR="6773">
              <a:lnSpc>
                <a:spcPct val="116100"/>
              </a:lnSpc>
            </a:pPr>
            <a:r>
              <a:rPr sz="1867" b="1" spc="-7" dirty="0">
                <a:solidFill>
                  <a:srgbClr val="595959"/>
                </a:solidFill>
                <a:latin typeface="Arial"/>
                <a:cs typeface="Arial"/>
              </a:rPr>
              <a:t>MeleeGuy</a:t>
            </a:r>
            <a:r>
              <a:rPr sz="1867" spc="-7" dirty="0">
                <a:solidFill>
                  <a:srgbClr val="595959"/>
                </a:solidFill>
                <a:latin typeface="Arial"/>
                <a:cs typeface="Arial"/>
              </a:rPr>
              <a:t>: Chases and attacks player in front of  him when in</a:t>
            </a:r>
            <a:r>
              <a:rPr sz="1867" spc="-13" dirty="0">
                <a:solidFill>
                  <a:srgbClr val="595959"/>
                </a:solidFill>
                <a:latin typeface="Arial"/>
                <a:cs typeface="Arial"/>
              </a:rPr>
              <a:t> </a:t>
            </a:r>
            <a:r>
              <a:rPr sz="1867" dirty="0">
                <a:solidFill>
                  <a:srgbClr val="595959"/>
                </a:solidFill>
                <a:latin typeface="Arial"/>
                <a:cs typeface="Arial"/>
              </a:rPr>
              <a:t>range.</a:t>
            </a:r>
            <a:endParaRPr sz="1867">
              <a:latin typeface="Arial"/>
              <a:cs typeface="Arial"/>
            </a:endParaRPr>
          </a:p>
          <a:p>
            <a:pPr>
              <a:spcBef>
                <a:spcPts val="33"/>
              </a:spcBef>
            </a:pPr>
            <a:endParaRPr>
              <a:latin typeface="Times New Roman"/>
              <a:cs typeface="Times New Roman"/>
            </a:endParaRPr>
          </a:p>
          <a:p>
            <a:pPr marL="16933" marR="284473">
              <a:lnSpc>
                <a:spcPct val="116100"/>
              </a:lnSpc>
            </a:pPr>
            <a:r>
              <a:rPr sz="1867" b="1" spc="-7" dirty="0">
                <a:solidFill>
                  <a:srgbClr val="595959"/>
                </a:solidFill>
                <a:latin typeface="Arial"/>
                <a:cs typeface="Arial"/>
              </a:rPr>
              <a:t>ShootyGuy</a:t>
            </a:r>
            <a:r>
              <a:rPr sz="1867" spc="-7" dirty="0">
                <a:solidFill>
                  <a:srgbClr val="595959"/>
                </a:solidFill>
                <a:latin typeface="Arial"/>
                <a:cs typeface="Arial"/>
              </a:rPr>
              <a:t>: Patrols around and </a:t>
            </a:r>
            <a:r>
              <a:rPr sz="1867" dirty="0">
                <a:solidFill>
                  <a:srgbClr val="595959"/>
                </a:solidFill>
                <a:latin typeface="Arial"/>
                <a:cs typeface="Arial"/>
              </a:rPr>
              <a:t>shoots </a:t>
            </a:r>
            <a:r>
              <a:rPr sz="1867" spc="-7" dirty="0">
                <a:solidFill>
                  <a:srgbClr val="595959"/>
                </a:solidFill>
                <a:latin typeface="Arial"/>
                <a:cs typeface="Arial"/>
              </a:rPr>
              <a:t>at the  player when</a:t>
            </a:r>
            <a:r>
              <a:rPr sz="1867" spc="-13" dirty="0">
                <a:solidFill>
                  <a:srgbClr val="595959"/>
                </a:solidFill>
                <a:latin typeface="Arial"/>
                <a:cs typeface="Arial"/>
              </a:rPr>
              <a:t> </a:t>
            </a:r>
            <a:r>
              <a:rPr sz="1867" dirty="0">
                <a:solidFill>
                  <a:srgbClr val="595959"/>
                </a:solidFill>
                <a:latin typeface="Arial"/>
                <a:cs typeface="Arial"/>
              </a:rPr>
              <a:t>seen.</a:t>
            </a:r>
            <a:endParaRPr sz="1867">
              <a:latin typeface="Arial"/>
              <a:cs typeface="Arial"/>
            </a:endParaRPr>
          </a:p>
          <a:p>
            <a:pPr>
              <a:spcBef>
                <a:spcPts val="27"/>
              </a:spcBef>
            </a:pPr>
            <a:endParaRPr>
              <a:latin typeface="Times New Roman"/>
              <a:cs typeface="Times New Roman"/>
            </a:endParaRPr>
          </a:p>
          <a:p>
            <a:pPr marL="16933" marR="242987">
              <a:lnSpc>
                <a:spcPct val="116100"/>
              </a:lnSpc>
            </a:pPr>
            <a:r>
              <a:rPr sz="1867" b="1" spc="-7" dirty="0">
                <a:solidFill>
                  <a:srgbClr val="595959"/>
                </a:solidFill>
                <a:latin typeface="Arial"/>
                <a:cs typeface="Arial"/>
              </a:rPr>
              <a:t>BombGuy</a:t>
            </a:r>
            <a:r>
              <a:rPr sz="1867" spc="-7" dirty="0">
                <a:solidFill>
                  <a:srgbClr val="595959"/>
                </a:solidFill>
                <a:latin typeface="Arial"/>
                <a:cs typeface="Arial"/>
              </a:rPr>
              <a:t>: Hides until player nearby and then  explodes after </a:t>
            </a:r>
            <a:r>
              <a:rPr sz="1867" dirty="0">
                <a:solidFill>
                  <a:srgbClr val="595959"/>
                </a:solidFill>
                <a:latin typeface="Arial"/>
                <a:cs typeface="Arial"/>
              </a:rPr>
              <a:t>a short</a:t>
            </a:r>
            <a:r>
              <a:rPr sz="1867" spc="-33" dirty="0">
                <a:solidFill>
                  <a:srgbClr val="595959"/>
                </a:solidFill>
                <a:latin typeface="Arial"/>
                <a:cs typeface="Arial"/>
              </a:rPr>
              <a:t> </a:t>
            </a:r>
            <a:r>
              <a:rPr sz="1867" spc="-7" dirty="0">
                <a:solidFill>
                  <a:srgbClr val="595959"/>
                </a:solidFill>
                <a:latin typeface="Arial"/>
                <a:cs typeface="Arial"/>
              </a:rPr>
              <a:t>delay.</a:t>
            </a:r>
            <a:endParaRPr sz="1867">
              <a:latin typeface="Arial"/>
              <a:cs typeface="Arial"/>
            </a:endParaRPr>
          </a:p>
        </p:txBody>
      </p:sp>
    </p:spTree>
    <p:extLst>
      <p:ext uri="{BB962C8B-B14F-4D97-AF65-F5344CB8AC3E}">
        <p14:creationId xmlns:p14="http://schemas.microsoft.com/office/powerpoint/2010/main" val="14248977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879686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The </a:t>
            </a:r>
            <a:r>
              <a:rPr sz="3733" spc="-13" dirty="0"/>
              <a:t>ShootyGuy </a:t>
            </a:r>
            <a:r>
              <a:rPr sz="3733" spc="-7" dirty="0"/>
              <a:t>entity </a:t>
            </a:r>
            <a:r>
              <a:rPr sz="3733" dirty="0"/>
              <a:t>model</a:t>
            </a:r>
            <a:r>
              <a:rPr sz="3733" spc="-120" dirty="0"/>
              <a:t> </a:t>
            </a:r>
            <a:r>
              <a:rPr sz="3733" dirty="0"/>
              <a:t>(Inheritance)</a:t>
            </a:r>
            <a:endParaRPr sz="3733"/>
          </a:p>
        </p:txBody>
      </p:sp>
      <p:sp>
        <p:nvSpPr>
          <p:cNvPr id="3" name="object 3"/>
          <p:cNvSpPr txBox="1"/>
          <p:nvPr/>
        </p:nvSpPr>
        <p:spPr>
          <a:xfrm>
            <a:off x="674657" y="1578797"/>
            <a:ext cx="4958080" cy="2350173"/>
          </a:xfrm>
          <a:prstGeom prst="rect">
            <a:avLst/>
          </a:prstGeom>
        </p:spPr>
        <p:txBody>
          <a:bodyPr vert="horz" wrap="square" lIns="0" tIns="16933" rIns="0" bIns="0" rtlCol="0">
            <a:spAutoFit/>
          </a:bodyPr>
          <a:lstStyle/>
          <a:p>
            <a:pPr marL="464808" marR="573179" indent="-447875" algn="just">
              <a:lnSpc>
                <a:spcPct val="116100"/>
              </a:lnSpc>
              <a:spcBef>
                <a:spcPts val="133"/>
              </a:spcBef>
              <a:buChar char="●"/>
              <a:tabLst>
                <a:tab pos="465655" algn="l"/>
              </a:tabLst>
            </a:pPr>
            <a:r>
              <a:rPr sz="1867" spc="-7" dirty="0">
                <a:solidFill>
                  <a:srgbClr val="595959"/>
                </a:solidFill>
                <a:latin typeface="Arial"/>
                <a:cs typeface="Arial"/>
              </a:rPr>
              <a:t>In C++ the goto </a:t>
            </a:r>
            <a:r>
              <a:rPr sz="1867" dirty="0">
                <a:solidFill>
                  <a:srgbClr val="595959"/>
                </a:solidFill>
                <a:latin typeface="Arial"/>
                <a:cs typeface="Arial"/>
              </a:rPr>
              <a:t>strategy </a:t>
            </a:r>
            <a:r>
              <a:rPr sz="1867" spc="-7" dirty="0">
                <a:solidFill>
                  <a:srgbClr val="595959"/>
                </a:solidFill>
                <a:latin typeface="Arial"/>
                <a:cs typeface="Arial"/>
              </a:rPr>
              <a:t>for</a:t>
            </a:r>
            <a:r>
              <a:rPr sz="1867" spc="-113" dirty="0">
                <a:solidFill>
                  <a:srgbClr val="595959"/>
                </a:solidFill>
                <a:latin typeface="Arial"/>
                <a:cs typeface="Arial"/>
              </a:rPr>
              <a:t> </a:t>
            </a:r>
            <a:r>
              <a:rPr sz="1867" dirty="0">
                <a:solidFill>
                  <a:srgbClr val="595959"/>
                </a:solidFill>
                <a:latin typeface="Arial"/>
                <a:cs typeface="Arial"/>
              </a:rPr>
              <a:t>modeling  relationships </a:t>
            </a:r>
            <a:r>
              <a:rPr sz="1867" spc="-7" dirty="0">
                <a:solidFill>
                  <a:srgbClr val="595959"/>
                </a:solidFill>
                <a:latin typeface="Arial"/>
                <a:cs typeface="Arial"/>
              </a:rPr>
              <a:t>between </a:t>
            </a:r>
            <a:r>
              <a:rPr sz="1867" dirty="0">
                <a:solidFill>
                  <a:srgbClr val="595959"/>
                </a:solidFill>
                <a:latin typeface="Arial"/>
                <a:cs typeface="Arial"/>
              </a:rPr>
              <a:t>closely related  </a:t>
            </a:r>
            <a:r>
              <a:rPr sz="1867" spc="-7" dirty="0">
                <a:solidFill>
                  <a:srgbClr val="595959"/>
                </a:solidFill>
                <a:latin typeface="Arial"/>
                <a:cs typeface="Arial"/>
              </a:rPr>
              <a:t>types is</a:t>
            </a:r>
            <a:r>
              <a:rPr sz="1867" spc="-20" dirty="0">
                <a:solidFill>
                  <a:srgbClr val="595959"/>
                </a:solidFill>
                <a:latin typeface="Arial"/>
                <a:cs typeface="Arial"/>
              </a:rPr>
              <a:t> </a:t>
            </a:r>
            <a:r>
              <a:rPr sz="1867" spc="-7" dirty="0">
                <a:solidFill>
                  <a:srgbClr val="595959"/>
                </a:solidFill>
                <a:latin typeface="Arial"/>
                <a:cs typeface="Arial"/>
              </a:rPr>
              <a:t>inheritance.</a:t>
            </a:r>
            <a:endParaRPr sz="1867">
              <a:latin typeface="Arial"/>
              <a:cs typeface="Arial"/>
            </a:endParaRPr>
          </a:p>
          <a:p>
            <a:pPr marL="464808" marR="6773" indent="-447875">
              <a:lnSpc>
                <a:spcPct val="116100"/>
              </a:lnSpc>
              <a:buChar char="●"/>
              <a:tabLst>
                <a:tab pos="463962" algn="l"/>
                <a:tab pos="465655" algn="l"/>
              </a:tabLst>
            </a:pPr>
            <a:r>
              <a:rPr sz="1867" spc="-7" dirty="0">
                <a:solidFill>
                  <a:srgbClr val="595959"/>
                </a:solidFill>
                <a:latin typeface="Arial"/>
                <a:cs typeface="Arial"/>
              </a:rPr>
              <a:t>And we </a:t>
            </a:r>
            <a:r>
              <a:rPr sz="1867" dirty="0">
                <a:solidFill>
                  <a:srgbClr val="595959"/>
                </a:solidFill>
                <a:latin typeface="Arial"/>
                <a:cs typeface="Arial"/>
              </a:rPr>
              <a:t>can </a:t>
            </a:r>
            <a:r>
              <a:rPr sz="1867" spc="-7" dirty="0">
                <a:solidFill>
                  <a:srgbClr val="595959"/>
                </a:solidFill>
                <a:latin typeface="Arial"/>
                <a:cs typeface="Arial"/>
              </a:rPr>
              <a:t>take advantage of  polymorphism to give us </a:t>
            </a:r>
            <a:r>
              <a:rPr sz="1867" dirty="0">
                <a:solidFill>
                  <a:srgbClr val="595959"/>
                </a:solidFill>
                <a:latin typeface="Arial"/>
                <a:cs typeface="Arial"/>
              </a:rPr>
              <a:t>some </a:t>
            </a:r>
            <a:r>
              <a:rPr sz="1867" spc="-7" dirty="0">
                <a:solidFill>
                  <a:srgbClr val="595959"/>
                </a:solidFill>
                <a:latin typeface="Arial"/>
                <a:cs typeface="Arial"/>
              </a:rPr>
              <a:t>of the  generic interaction we’re after </a:t>
            </a:r>
            <a:r>
              <a:rPr sz="1867" dirty="0">
                <a:solidFill>
                  <a:srgbClr val="595959"/>
                </a:solidFill>
                <a:latin typeface="Arial"/>
                <a:cs typeface="Arial"/>
              </a:rPr>
              <a:t>(i.e. </a:t>
            </a:r>
            <a:r>
              <a:rPr sz="1867" spc="-7" dirty="0">
                <a:solidFill>
                  <a:srgbClr val="595959"/>
                </a:solidFill>
                <a:latin typeface="Arial"/>
                <a:cs typeface="Arial"/>
              </a:rPr>
              <a:t>abstract  </a:t>
            </a:r>
            <a:r>
              <a:rPr sz="1867" i="1" spc="-7" dirty="0">
                <a:solidFill>
                  <a:srgbClr val="595959"/>
                </a:solidFill>
                <a:latin typeface="Arial"/>
                <a:cs typeface="Arial"/>
              </a:rPr>
              <a:t>update </a:t>
            </a:r>
            <a:r>
              <a:rPr sz="1867" spc="-7" dirty="0">
                <a:solidFill>
                  <a:srgbClr val="595959"/>
                </a:solidFill>
                <a:latin typeface="Arial"/>
                <a:cs typeface="Arial"/>
              </a:rPr>
              <a:t>and </a:t>
            </a:r>
            <a:r>
              <a:rPr sz="1867" i="1" spc="-7" dirty="0">
                <a:solidFill>
                  <a:srgbClr val="595959"/>
                </a:solidFill>
                <a:latin typeface="Arial"/>
                <a:cs typeface="Arial"/>
              </a:rPr>
              <a:t>draw</a:t>
            </a:r>
            <a:r>
              <a:rPr sz="1867" i="1" spc="-13" dirty="0">
                <a:solidFill>
                  <a:srgbClr val="595959"/>
                </a:solidFill>
                <a:latin typeface="Arial"/>
                <a:cs typeface="Arial"/>
              </a:rPr>
              <a:t> </a:t>
            </a:r>
            <a:r>
              <a:rPr sz="1867" dirty="0">
                <a:solidFill>
                  <a:srgbClr val="595959"/>
                </a:solidFill>
                <a:latin typeface="Arial"/>
                <a:cs typeface="Arial"/>
              </a:rPr>
              <a:t>methods).</a:t>
            </a:r>
            <a:endParaRPr sz="1867">
              <a:latin typeface="Arial"/>
              <a:cs typeface="Arial"/>
            </a:endParaRPr>
          </a:p>
        </p:txBody>
      </p:sp>
    </p:spTree>
    <p:extLst>
      <p:ext uri="{BB962C8B-B14F-4D97-AF65-F5344CB8AC3E}">
        <p14:creationId xmlns:p14="http://schemas.microsoft.com/office/powerpoint/2010/main" val="1702988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879686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The </a:t>
            </a:r>
            <a:r>
              <a:rPr sz="3733" spc="-13" dirty="0"/>
              <a:t>ShootyGuy </a:t>
            </a:r>
            <a:r>
              <a:rPr sz="3733" spc="-7" dirty="0"/>
              <a:t>entity </a:t>
            </a:r>
            <a:r>
              <a:rPr sz="3733" dirty="0"/>
              <a:t>model</a:t>
            </a:r>
            <a:r>
              <a:rPr sz="3733" spc="-120" dirty="0"/>
              <a:t> </a:t>
            </a:r>
            <a:r>
              <a:rPr sz="3733" dirty="0"/>
              <a:t>(Inheritance)</a:t>
            </a:r>
            <a:endParaRPr sz="3733"/>
          </a:p>
        </p:txBody>
      </p:sp>
      <p:sp>
        <p:nvSpPr>
          <p:cNvPr id="3" name="object 3"/>
          <p:cNvSpPr/>
          <p:nvPr/>
        </p:nvSpPr>
        <p:spPr>
          <a:xfrm>
            <a:off x="769633" y="2653367"/>
            <a:ext cx="2801620" cy="1474047"/>
          </a:xfrm>
          <a:custGeom>
            <a:avLst/>
            <a:gdLst/>
            <a:ahLst/>
            <a:cxnLst/>
            <a:rect l="l" t="t" r="r" b="b"/>
            <a:pathLst>
              <a:path w="2101215" h="1105535">
                <a:moveTo>
                  <a:pt x="1916346" y="1105499"/>
                </a:moveTo>
                <a:lnTo>
                  <a:pt x="184253" y="1105499"/>
                </a:lnTo>
                <a:lnTo>
                  <a:pt x="135271" y="1098918"/>
                </a:lnTo>
                <a:lnTo>
                  <a:pt x="91257" y="1080343"/>
                </a:lnTo>
                <a:lnTo>
                  <a:pt x="53966" y="1051533"/>
                </a:lnTo>
                <a:lnTo>
                  <a:pt x="25156" y="1014242"/>
                </a:lnTo>
                <a:lnTo>
                  <a:pt x="6581" y="970228"/>
                </a:lnTo>
                <a:lnTo>
                  <a:pt x="0" y="921246"/>
                </a:lnTo>
                <a:lnTo>
                  <a:pt x="0" y="184253"/>
                </a:lnTo>
                <a:lnTo>
                  <a:pt x="6581" y="135271"/>
                </a:lnTo>
                <a:lnTo>
                  <a:pt x="25156" y="91257"/>
                </a:lnTo>
                <a:lnTo>
                  <a:pt x="53966" y="53966"/>
                </a:lnTo>
                <a:lnTo>
                  <a:pt x="91257" y="25156"/>
                </a:lnTo>
                <a:lnTo>
                  <a:pt x="135271" y="6581"/>
                </a:lnTo>
                <a:lnTo>
                  <a:pt x="184253" y="0"/>
                </a:lnTo>
                <a:lnTo>
                  <a:pt x="1916346" y="0"/>
                </a:lnTo>
                <a:lnTo>
                  <a:pt x="1986857" y="14025"/>
                </a:lnTo>
                <a:lnTo>
                  <a:pt x="2046633" y="53966"/>
                </a:lnTo>
                <a:lnTo>
                  <a:pt x="2086574" y="113742"/>
                </a:lnTo>
                <a:lnTo>
                  <a:pt x="2100599" y="184253"/>
                </a:lnTo>
                <a:lnTo>
                  <a:pt x="2100599" y="921246"/>
                </a:lnTo>
                <a:lnTo>
                  <a:pt x="2094018" y="970228"/>
                </a:lnTo>
                <a:lnTo>
                  <a:pt x="2075443" y="1014242"/>
                </a:lnTo>
                <a:lnTo>
                  <a:pt x="2046633" y="1051533"/>
                </a:lnTo>
                <a:lnTo>
                  <a:pt x="2009342" y="1080343"/>
                </a:lnTo>
                <a:lnTo>
                  <a:pt x="1965328" y="1098918"/>
                </a:lnTo>
                <a:lnTo>
                  <a:pt x="1916346" y="1105499"/>
                </a:lnTo>
                <a:close/>
              </a:path>
            </a:pathLst>
          </a:custGeom>
          <a:solidFill>
            <a:srgbClr val="EEEEEE"/>
          </a:solidFill>
        </p:spPr>
        <p:txBody>
          <a:bodyPr wrap="square" lIns="0" tIns="0" rIns="0" bIns="0" rtlCol="0"/>
          <a:lstStyle/>
          <a:p>
            <a:endParaRPr sz="2400"/>
          </a:p>
        </p:txBody>
      </p:sp>
      <p:sp>
        <p:nvSpPr>
          <p:cNvPr id="4" name="object 4"/>
          <p:cNvSpPr/>
          <p:nvPr/>
        </p:nvSpPr>
        <p:spPr>
          <a:xfrm>
            <a:off x="769633" y="2653367"/>
            <a:ext cx="2801620" cy="1474047"/>
          </a:xfrm>
          <a:custGeom>
            <a:avLst/>
            <a:gdLst/>
            <a:ahLst/>
            <a:cxnLst/>
            <a:rect l="l" t="t" r="r" b="b"/>
            <a:pathLst>
              <a:path w="2101215" h="1105535">
                <a:moveTo>
                  <a:pt x="0" y="184253"/>
                </a:moveTo>
                <a:lnTo>
                  <a:pt x="6581" y="135271"/>
                </a:lnTo>
                <a:lnTo>
                  <a:pt x="25156" y="91257"/>
                </a:lnTo>
                <a:lnTo>
                  <a:pt x="53966" y="53966"/>
                </a:lnTo>
                <a:lnTo>
                  <a:pt x="91257" y="25156"/>
                </a:lnTo>
                <a:lnTo>
                  <a:pt x="135271" y="6581"/>
                </a:lnTo>
                <a:lnTo>
                  <a:pt x="184253" y="0"/>
                </a:lnTo>
                <a:lnTo>
                  <a:pt x="1916346" y="0"/>
                </a:lnTo>
                <a:lnTo>
                  <a:pt x="1986857" y="14025"/>
                </a:lnTo>
                <a:lnTo>
                  <a:pt x="2046633" y="53966"/>
                </a:lnTo>
                <a:lnTo>
                  <a:pt x="2086574" y="113742"/>
                </a:lnTo>
                <a:lnTo>
                  <a:pt x="2100599" y="184253"/>
                </a:lnTo>
                <a:lnTo>
                  <a:pt x="2100599" y="921246"/>
                </a:lnTo>
                <a:lnTo>
                  <a:pt x="2094018" y="970228"/>
                </a:lnTo>
                <a:lnTo>
                  <a:pt x="2075443" y="1014242"/>
                </a:lnTo>
                <a:lnTo>
                  <a:pt x="2046633" y="1051533"/>
                </a:lnTo>
                <a:lnTo>
                  <a:pt x="2009342" y="1080343"/>
                </a:lnTo>
                <a:lnTo>
                  <a:pt x="1965328" y="1098918"/>
                </a:lnTo>
                <a:lnTo>
                  <a:pt x="1916346" y="1105499"/>
                </a:lnTo>
                <a:lnTo>
                  <a:pt x="184253" y="1105499"/>
                </a:lnTo>
                <a:lnTo>
                  <a:pt x="135271" y="1098918"/>
                </a:lnTo>
                <a:lnTo>
                  <a:pt x="91257" y="1080343"/>
                </a:lnTo>
                <a:lnTo>
                  <a:pt x="53966" y="1051533"/>
                </a:lnTo>
                <a:lnTo>
                  <a:pt x="25156"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5" name="object 5"/>
          <p:cNvSpPr txBox="1"/>
          <p:nvPr/>
        </p:nvSpPr>
        <p:spPr>
          <a:xfrm>
            <a:off x="938955" y="2813206"/>
            <a:ext cx="1231053"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bomb_guy</a:t>
            </a:r>
            <a:endParaRPr sz="1867">
              <a:latin typeface="Arial"/>
              <a:cs typeface="Arial"/>
            </a:endParaRPr>
          </a:p>
        </p:txBody>
      </p:sp>
      <p:sp>
        <p:nvSpPr>
          <p:cNvPr id="6" name="object 6"/>
          <p:cNvSpPr txBox="1"/>
          <p:nvPr/>
        </p:nvSpPr>
        <p:spPr>
          <a:xfrm>
            <a:off x="938955" y="3372006"/>
            <a:ext cx="2129367" cy="595035"/>
          </a:xfrm>
          <a:prstGeom prst="rect">
            <a:avLst/>
          </a:prstGeom>
        </p:spPr>
        <p:txBody>
          <a:bodyPr vert="horz" wrap="square" lIns="0" tIns="30480" rIns="0" bIns="0" rtlCol="0">
            <a:spAutoFit/>
          </a:bodyPr>
          <a:lstStyle/>
          <a:p>
            <a:pPr marL="16933" marR="6773">
              <a:lnSpc>
                <a:spcPts val="2200"/>
              </a:lnSpc>
              <a:spcBef>
                <a:spcPts val="240"/>
              </a:spcBef>
            </a:pPr>
            <a:r>
              <a:rPr sz="1867" spc="-7" dirty="0">
                <a:latin typeface="Arial"/>
                <a:cs typeface="Arial"/>
              </a:rPr>
              <a:t>hide_or_show  damage_all_around</a:t>
            </a:r>
            <a:endParaRPr sz="1867">
              <a:latin typeface="Arial"/>
              <a:cs typeface="Arial"/>
            </a:endParaRPr>
          </a:p>
        </p:txBody>
      </p:sp>
      <p:sp>
        <p:nvSpPr>
          <p:cNvPr id="7" name="object 7"/>
          <p:cNvSpPr/>
          <p:nvPr/>
        </p:nvSpPr>
        <p:spPr>
          <a:xfrm>
            <a:off x="6169633" y="4744350"/>
            <a:ext cx="2591647" cy="1474047"/>
          </a:xfrm>
          <a:custGeom>
            <a:avLst/>
            <a:gdLst/>
            <a:ahLst/>
            <a:cxnLst/>
            <a:rect l="l" t="t" r="r" b="b"/>
            <a:pathLst>
              <a:path w="1943734" h="1105535">
                <a:moveTo>
                  <a:pt x="1759146" y="1105499"/>
                </a:moveTo>
                <a:lnTo>
                  <a:pt x="184253" y="1105499"/>
                </a:lnTo>
                <a:lnTo>
                  <a:pt x="135271" y="1098918"/>
                </a:lnTo>
                <a:lnTo>
                  <a:pt x="91257" y="1080343"/>
                </a:lnTo>
                <a:lnTo>
                  <a:pt x="53966" y="1051533"/>
                </a:lnTo>
                <a:lnTo>
                  <a:pt x="25156" y="1014242"/>
                </a:lnTo>
                <a:lnTo>
                  <a:pt x="6581" y="970228"/>
                </a:lnTo>
                <a:lnTo>
                  <a:pt x="0" y="921246"/>
                </a:lnTo>
                <a:lnTo>
                  <a:pt x="0" y="184253"/>
                </a:lnTo>
                <a:lnTo>
                  <a:pt x="6581" y="135271"/>
                </a:lnTo>
                <a:lnTo>
                  <a:pt x="25156" y="91257"/>
                </a:lnTo>
                <a:lnTo>
                  <a:pt x="53966" y="53966"/>
                </a:lnTo>
                <a:lnTo>
                  <a:pt x="91257" y="25156"/>
                </a:lnTo>
                <a:lnTo>
                  <a:pt x="135271" y="6581"/>
                </a:lnTo>
                <a:lnTo>
                  <a:pt x="184253" y="0"/>
                </a:lnTo>
                <a:lnTo>
                  <a:pt x="1759146"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6" y="1105499"/>
                </a:lnTo>
                <a:close/>
              </a:path>
            </a:pathLst>
          </a:custGeom>
          <a:solidFill>
            <a:srgbClr val="EEEEEE"/>
          </a:solidFill>
        </p:spPr>
        <p:txBody>
          <a:bodyPr wrap="square" lIns="0" tIns="0" rIns="0" bIns="0" rtlCol="0"/>
          <a:lstStyle/>
          <a:p>
            <a:endParaRPr sz="2400"/>
          </a:p>
        </p:txBody>
      </p:sp>
      <p:sp>
        <p:nvSpPr>
          <p:cNvPr id="8" name="object 8"/>
          <p:cNvSpPr/>
          <p:nvPr/>
        </p:nvSpPr>
        <p:spPr>
          <a:xfrm>
            <a:off x="6169633" y="4744350"/>
            <a:ext cx="2591647" cy="1474047"/>
          </a:xfrm>
          <a:custGeom>
            <a:avLst/>
            <a:gdLst/>
            <a:ahLst/>
            <a:cxnLst/>
            <a:rect l="l" t="t" r="r" b="b"/>
            <a:pathLst>
              <a:path w="1943734" h="1105535">
                <a:moveTo>
                  <a:pt x="0" y="184253"/>
                </a:moveTo>
                <a:lnTo>
                  <a:pt x="6581" y="135271"/>
                </a:lnTo>
                <a:lnTo>
                  <a:pt x="25156" y="91257"/>
                </a:lnTo>
                <a:lnTo>
                  <a:pt x="53966" y="53966"/>
                </a:lnTo>
                <a:lnTo>
                  <a:pt x="91257" y="25156"/>
                </a:lnTo>
                <a:lnTo>
                  <a:pt x="135271" y="6581"/>
                </a:lnTo>
                <a:lnTo>
                  <a:pt x="184253" y="0"/>
                </a:lnTo>
                <a:lnTo>
                  <a:pt x="1759146"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6" y="1105499"/>
                </a:lnTo>
                <a:lnTo>
                  <a:pt x="184253" y="1105499"/>
                </a:lnTo>
                <a:lnTo>
                  <a:pt x="135271" y="1098918"/>
                </a:lnTo>
                <a:lnTo>
                  <a:pt x="91257" y="1080343"/>
                </a:lnTo>
                <a:lnTo>
                  <a:pt x="53966" y="1051533"/>
                </a:lnTo>
                <a:lnTo>
                  <a:pt x="25156"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9" name="object 9"/>
          <p:cNvSpPr txBox="1"/>
          <p:nvPr/>
        </p:nvSpPr>
        <p:spPr>
          <a:xfrm>
            <a:off x="6338955" y="4904189"/>
            <a:ext cx="1363980"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shooty_guy</a:t>
            </a:r>
            <a:endParaRPr sz="1867">
              <a:latin typeface="Arial"/>
              <a:cs typeface="Arial"/>
            </a:endParaRPr>
          </a:p>
        </p:txBody>
      </p:sp>
      <p:sp>
        <p:nvSpPr>
          <p:cNvPr id="10" name="object 10"/>
          <p:cNvSpPr txBox="1"/>
          <p:nvPr/>
        </p:nvSpPr>
        <p:spPr>
          <a:xfrm>
            <a:off x="6338955" y="5462989"/>
            <a:ext cx="1313180" cy="595035"/>
          </a:xfrm>
          <a:prstGeom prst="rect">
            <a:avLst/>
          </a:prstGeom>
        </p:spPr>
        <p:txBody>
          <a:bodyPr vert="horz" wrap="square" lIns="0" tIns="30480" rIns="0" bIns="0" rtlCol="0">
            <a:spAutoFit/>
          </a:bodyPr>
          <a:lstStyle/>
          <a:p>
            <a:pPr marL="16933" marR="6773">
              <a:lnSpc>
                <a:spcPts val="2200"/>
              </a:lnSpc>
              <a:spcBef>
                <a:spcPts val="240"/>
              </a:spcBef>
            </a:pPr>
            <a:r>
              <a:rPr sz="1867" spc="-7" dirty="0">
                <a:latin typeface="Arial"/>
                <a:cs typeface="Arial"/>
              </a:rPr>
              <a:t>patrol_ai  </a:t>
            </a:r>
            <a:r>
              <a:rPr sz="1867" dirty="0">
                <a:latin typeface="Arial"/>
                <a:cs typeface="Arial"/>
              </a:rPr>
              <a:t>shoot_bullet</a:t>
            </a:r>
            <a:endParaRPr sz="1867">
              <a:latin typeface="Arial"/>
              <a:cs typeface="Arial"/>
            </a:endParaRPr>
          </a:p>
        </p:txBody>
      </p:sp>
      <p:sp>
        <p:nvSpPr>
          <p:cNvPr id="11" name="object 11"/>
          <p:cNvSpPr/>
          <p:nvPr/>
        </p:nvSpPr>
        <p:spPr>
          <a:xfrm>
            <a:off x="3103633" y="4744350"/>
            <a:ext cx="2591647" cy="1474047"/>
          </a:xfrm>
          <a:custGeom>
            <a:avLst/>
            <a:gdLst/>
            <a:ahLst/>
            <a:cxnLst/>
            <a:rect l="l" t="t" r="r" b="b"/>
            <a:pathLst>
              <a:path w="1943735" h="1105535">
                <a:moveTo>
                  <a:pt x="1759146" y="1105499"/>
                </a:moveTo>
                <a:lnTo>
                  <a:pt x="184253" y="1105499"/>
                </a:lnTo>
                <a:lnTo>
                  <a:pt x="135271" y="1098918"/>
                </a:lnTo>
                <a:lnTo>
                  <a:pt x="91257" y="1080343"/>
                </a:lnTo>
                <a:lnTo>
                  <a:pt x="53966" y="1051533"/>
                </a:lnTo>
                <a:lnTo>
                  <a:pt x="25156" y="1014242"/>
                </a:lnTo>
                <a:lnTo>
                  <a:pt x="6581" y="970228"/>
                </a:lnTo>
                <a:lnTo>
                  <a:pt x="0" y="921246"/>
                </a:lnTo>
                <a:lnTo>
                  <a:pt x="0" y="184253"/>
                </a:lnTo>
                <a:lnTo>
                  <a:pt x="6581" y="135271"/>
                </a:lnTo>
                <a:lnTo>
                  <a:pt x="25156" y="91257"/>
                </a:lnTo>
                <a:lnTo>
                  <a:pt x="53966" y="53966"/>
                </a:lnTo>
                <a:lnTo>
                  <a:pt x="91257" y="25156"/>
                </a:lnTo>
                <a:lnTo>
                  <a:pt x="135271" y="6581"/>
                </a:lnTo>
                <a:lnTo>
                  <a:pt x="184253" y="0"/>
                </a:lnTo>
                <a:lnTo>
                  <a:pt x="1759146"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6" y="1105499"/>
                </a:lnTo>
                <a:close/>
              </a:path>
            </a:pathLst>
          </a:custGeom>
          <a:solidFill>
            <a:srgbClr val="EEEEEE"/>
          </a:solidFill>
        </p:spPr>
        <p:txBody>
          <a:bodyPr wrap="square" lIns="0" tIns="0" rIns="0" bIns="0" rtlCol="0"/>
          <a:lstStyle/>
          <a:p>
            <a:endParaRPr sz="2400"/>
          </a:p>
        </p:txBody>
      </p:sp>
      <p:sp>
        <p:nvSpPr>
          <p:cNvPr id="12" name="object 12"/>
          <p:cNvSpPr/>
          <p:nvPr/>
        </p:nvSpPr>
        <p:spPr>
          <a:xfrm>
            <a:off x="3103633" y="4744350"/>
            <a:ext cx="2591647" cy="1474047"/>
          </a:xfrm>
          <a:custGeom>
            <a:avLst/>
            <a:gdLst/>
            <a:ahLst/>
            <a:cxnLst/>
            <a:rect l="l" t="t" r="r" b="b"/>
            <a:pathLst>
              <a:path w="1943735" h="1105535">
                <a:moveTo>
                  <a:pt x="0" y="184253"/>
                </a:moveTo>
                <a:lnTo>
                  <a:pt x="6581" y="135271"/>
                </a:lnTo>
                <a:lnTo>
                  <a:pt x="25156" y="91257"/>
                </a:lnTo>
                <a:lnTo>
                  <a:pt x="53966" y="53966"/>
                </a:lnTo>
                <a:lnTo>
                  <a:pt x="91257" y="25156"/>
                </a:lnTo>
                <a:lnTo>
                  <a:pt x="135271" y="6581"/>
                </a:lnTo>
                <a:lnTo>
                  <a:pt x="184253" y="0"/>
                </a:lnTo>
                <a:lnTo>
                  <a:pt x="1759146"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6" y="1105499"/>
                </a:lnTo>
                <a:lnTo>
                  <a:pt x="184253" y="1105499"/>
                </a:lnTo>
                <a:lnTo>
                  <a:pt x="135271" y="1098918"/>
                </a:lnTo>
                <a:lnTo>
                  <a:pt x="91257" y="1080343"/>
                </a:lnTo>
                <a:lnTo>
                  <a:pt x="53966" y="1051533"/>
                </a:lnTo>
                <a:lnTo>
                  <a:pt x="25156"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13" name="object 13"/>
          <p:cNvSpPr txBox="1"/>
          <p:nvPr/>
        </p:nvSpPr>
        <p:spPr>
          <a:xfrm>
            <a:off x="3272955" y="4904189"/>
            <a:ext cx="1259840"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melee_guy</a:t>
            </a:r>
            <a:endParaRPr sz="1867">
              <a:latin typeface="Arial"/>
              <a:cs typeface="Arial"/>
            </a:endParaRPr>
          </a:p>
        </p:txBody>
      </p:sp>
      <p:sp>
        <p:nvSpPr>
          <p:cNvPr id="14" name="object 14"/>
          <p:cNvSpPr txBox="1"/>
          <p:nvPr/>
        </p:nvSpPr>
        <p:spPr>
          <a:xfrm>
            <a:off x="3272955" y="5462989"/>
            <a:ext cx="1681480" cy="595035"/>
          </a:xfrm>
          <a:prstGeom prst="rect">
            <a:avLst/>
          </a:prstGeom>
        </p:spPr>
        <p:txBody>
          <a:bodyPr vert="horz" wrap="square" lIns="0" tIns="30480" rIns="0" bIns="0" rtlCol="0">
            <a:spAutoFit/>
          </a:bodyPr>
          <a:lstStyle/>
          <a:p>
            <a:pPr marL="16933" marR="6773">
              <a:lnSpc>
                <a:spcPts val="2200"/>
              </a:lnSpc>
              <a:spcBef>
                <a:spcPts val="240"/>
              </a:spcBef>
            </a:pPr>
            <a:r>
              <a:rPr sz="1867" dirty="0">
                <a:latin typeface="Arial"/>
                <a:cs typeface="Arial"/>
              </a:rPr>
              <a:t>chase_ai  </a:t>
            </a:r>
            <a:r>
              <a:rPr sz="1867" spc="-7" dirty="0">
                <a:latin typeface="Arial"/>
                <a:cs typeface="Arial"/>
              </a:rPr>
              <a:t>damage_ahead</a:t>
            </a:r>
            <a:endParaRPr sz="1867">
              <a:latin typeface="Arial"/>
              <a:cs typeface="Arial"/>
            </a:endParaRPr>
          </a:p>
        </p:txBody>
      </p:sp>
      <p:sp>
        <p:nvSpPr>
          <p:cNvPr id="15" name="object 15"/>
          <p:cNvSpPr/>
          <p:nvPr/>
        </p:nvSpPr>
        <p:spPr>
          <a:xfrm>
            <a:off x="6051366" y="2653367"/>
            <a:ext cx="2591647" cy="1176020"/>
          </a:xfrm>
          <a:custGeom>
            <a:avLst/>
            <a:gdLst/>
            <a:ahLst/>
            <a:cxnLst/>
            <a:rect l="l" t="t" r="r" b="b"/>
            <a:pathLst>
              <a:path w="1943735" h="882014">
                <a:moveTo>
                  <a:pt x="1796446" y="881699"/>
                </a:moveTo>
                <a:lnTo>
                  <a:pt x="146952" y="881699"/>
                </a:lnTo>
                <a:lnTo>
                  <a:pt x="100504" y="874208"/>
                </a:lnTo>
                <a:lnTo>
                  <a:pt x="60164" y="853346"/>
                </a:lnTo>
                <a:lnTo>
                  <a:pt x="28353" y="821535"/>
                </a:lnTo>
                <a:lnTo>
                  <a:pt x="7491" y="781195"/>
                </a:lnTo>
                <a:lnTo>
                  <a:pt x="0" y="734746"/>
                </a:lnTo>
                <a:lnTo>
                  <a:pt x="0" y="146952"/>
                </a:ln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close/>
              </a:path>
            </a:pathLst>
          </a:custGeom>
          <a:solidFill>
            <a:srgbClr val="EEEEEE"/>
          </a:solidFill>
        </p:spPr>
        <p:txBody>
          <a:bodyPr wrap="square" lIns="0" tIns="0" rIns="0" bIns="0" rtlCol="0"/>
          <a:lstStyle/>
          <a:p>
            <a:endParaRPr sz="2400"/>
          </a:p>
        </p:txBody>
      </p:sp>
      <p:sp>
        <p:nvSpPr>
          <p:cNvPr id="16" name="object 16"/>
          <p:cNvSpPr/>
          <p:nvPr/>
        </p:nvSpPr>
        <p:spPr>
          <a:xfrm>
            <a:off x="6051366" y="2653367"/>
            <a:ext cx="2591647" cy="1176020"/>
          </a:xfrm>
          <a:custGeom>
            <a:avLst/>
            <a:gdLst/>
            <a:ahLst/>
            <a:cxnLst/>
            <a:rect l="l" t="t" r="r" b="b"/>
            <a:pathLst>
              <a:path w="1943735" h="882014">
                <a:moveTo>
                  <a:pt x="0" y="146952"/>
                </a:move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lnTo>
                  <a:pt x="146952" y="881699"/>
                </a:lnTo>
                <a:lnTo>
                  <a:pt x="100504" y="874208"/>
                </a:lnTo>
                <a:lnTo>
                  <a:pt x="60164" y="853346"/>
                </a:lnTo>
                <a:lnTo>
                  <a:pt x="28353" y="821535"/>
                </a:lnTo>
                <a:lnTo>
                  <a:pt x="7491" y="781195"/>
                </a:lnTo>
                <a:lnTo>
                  <a:pt x="0" y="734746"/>
                </a:lnTo>
                <a:lnTo>
                  <a:pt x="0" y="146952"/>
                </a:lnTo>
                <a:close/>
              </a:path>
            </a:pathLst>
          </a:custGeom>
          <a:ln w="9524">
            <a:solidFill>
              <a:srgbClr val="595959"/>
            </a:solidFill>
          </a:ln>
        </p:spPr>
        <p:txBody>
          <a:bodyPr wrap="square" lIns="0" tIns="0" rIns="0" bIns="0" rtlCol="0"/>
          <a:lstStyle/>
          <a:p>
            <a:endParaRPr sz="2400"/>
          </a:p>
        </p:txBody>
      </p:sp>
      <p:sp>
        <p:nvSpPr>
          <p:cNvPr id="17" name="object 17"/>
          <p:cNvSpPr txBox="1"/>
          <p:nvPr/>
        </p:nvSpPr>
        <p:spPr>
          <a:xfrm>
            <a:off x="6206122" y="2798639"/>
            <a:ext cx="1891453"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moveable_entity</a:t>
            </a:r>
            <a:endParaRPr sz="1867">
              <a:latin typeface="Arial"/>
              <a:cs typeface="Arial"/>
            </a:endParaRPr>
          </a:p>
        </p:txBody>
      </p:sp>
      <p:sp>
        <p:nvSpPr>
          <p:cNvPr id="18" name="object 18"/>
          <p:cNvSpPr txBox="1"/>
          <p:nvPr/>
        </p:nvSpPr>
        <p:spPr>
          <a:xfrm>
            <a:off x="6206122" y="3357439"/>
            <a:ext cx="613833" cy="304421"/>
          </a:xfrm>
          <a:prstGeom prst="rect">
            <a:avLst/>
          </a:prstGeom>
        </p:spPr>
        <p:txBody>
          <a:bodyPr vert="horz" wrap="square" lIns="0" tIns="16933" rIns="0" bIns="0" rtlCol="0">
            <a:spAutoFit/>
          </a:bodyPr>
          <a:lstStyle/>
          <a:p>
            <a:pPr marL="16933">
              <a:spcBef>
                <a:spcPts val="133"/>
              </a:spcBef>
            </a:pPr>
            <a:r>
              <a:rPr sz="1867" dirty="0">
                <a:latin typeface="Arial"/>
                <a:cs typeface="Arial"/>
              </a:rPr>
              <a:t>move</a:t>
            </a:r>
            <a:endParaRPr sz="1867">
              <a:latin typeface="Arial"/>
              <a:cs typeface="Arial"/>
            </a:endParaRPr>
          </a:p>
        </p:txBody>
      </p:sp>
      <p:sp>
        <p:nvSpPr>
          <p:cNvPr id="19" name="object 19"/>
          <p:cNvSpPr/>
          <p:nvPr/>
        </p:nvSpPr>
        <p:spPr>
          <a:xfrm>
            <a:off x="5220032" y="1482783"/>
            <a:ext cx="949960" cy="545253"/>
          </a:xfrm>
          <a:custGeom>
            <a:avLst/>
            <a:gdLst/>
            <a:ahLst/>
            <a:cxnLst/>
            <a:rect l="l" t="t" r="r" b="b"/>
            <a:pathLst>
              <a:path w="712470" h="408940">
                <a:moveTo>
                  <a:pt x="6440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close/>
              </a:path>
            </a:pathLst>
          </a:custGeom>
          <a:solidFill>
            <a:srgbClr val="EEEEEE"/>
          </a:solidFill>
        </p:spPr>
        <p:txBody>
          <a:bodyPr wrap="square" lIns="0" tIns="0" rIns="0" bIns="0" rtlCol="0"/>
          <a:lstStyle/>
          <a:p>
            <a:endParaRPr sz="2400"/>
          </a:p>
        </p:txBody>
      </p:sp>
      <p:sp>
        <p:nvSpPr>
          <p:cNvPr id="20" name="object 20"/>
          <p:cNvSpPr/>
          <p:nvPr/>
        </p:nvSpPr>
        <p:spPr>
          <a:xfrm>
            <a:off x="5220032" y="1482783"/>
            <a:ext cx="949960" cy="545253"/>
          </a:xfrm>
          <a:custGeom>
            <a:avLst/>
            <a:gdLst/>
            <a:ahLst/>
            <a:cxnLst/>
            <a:rect l="l" t="t" r="r" b="b"/>
            <a:pathLst>
              <a:path w="712470" h="408940">
                <a:moveTo>
                  <a:pt x="0" y="68101"/>
                </a:move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21" name="object 21"/>
          <p:cNvSpPr txBox="1"/>
          <p:nvPr/>
        </p:nvSpPr>
        <p:spPr>
          <a:xfrm>
            <a:off x="5343995" y="1597262"/>
            <a:ext cx="666327"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entity</a:t>
            </a:r>
            <a:endParaRPr sz="1867">
              <a:latin typeface="Arial"/>
              <a:cs typeface="Arial"/>
            </a:endParaRPr>
          </a:p>
        </p:txBody>
      </p:sp>
      <p:sp>
        <p:nvSpPr>
          <p:cNvPr id="22" name="object 22"/>
          <p:cNvSpPr/>
          <p:nvPr/>
        </p:nvSpPr>
        <p:spPr>
          <a:xfrm>
            <a:off x="2245061" y="2027583"/>
            <a:ext cx="3450167" cy="612987"/>
          </a:xfrm>
          <a:custGeom>
            <a:avLst/>
            <a:gdLst/>
            <a:ahLst/>
            <a:cxnLst/>
            <a:rect l="l" t="t" r="r" b="b"/>
            <a:pathLst>
              <a:path w="2587625" h="459739">
                <a:moveTo>
                  <a:pt x="2587329" y="0"/>
                </a:moveTo>
                <a:lnTo>
                  <a:pt x="0" y="459212"/>
                </a:lnTo>
              </a:path>
            </a:pathLst>
          </a:custGeom>
          <a:ln w="9524">
            <a:solidFill>
              <a:srgbClr val="595959"/>
            </a:solidFill>
          </a:ln>
        </p:spPr>
        <p:txBody>
          <a:bodyPr wrap="square" lIns="0" tIns="0" rIns="0" bIns="0" rtlCol="0"/>
          <a:lstStyle/>
          <a:p>
            <a:endParaRPr sz="2400"/>
          </a:p>
        </p:txBody>
      </p:sp>
      <p:sp>
        <p:nvSpPr>
          <p:cNvPr id="23" name="object 23"/>
          <p:cNvSpPr/>
          <p:nvPr/>
        </p:nvSpPr>
        <p:spPr>
          <a:xfrm>
            <a:off x="2188313" y="2619213"/>
            <a:ext cx="60960" cy="41487"/>
          </a:xfrm>
          <a:custGeom>
            <a:avLst/>
            <a:gdLst/>
            <a:ahLst/>
            <a:cxnLst/>
            <a:rect l="l" t="t" r="r" b="b"/>
            <a:pathLst>
              <a:path w="45719" h="31114">
                <a:moveTo>
                  <a:pt x="45309" y="30981"/>
                </a:moveTo>
                <a:lnTo>
                  <a:pt x="0" y="23044"/>
                </a:lnTo>
                <a:lnTo>
                  <a:pt x="39810" y="0"/>
                </a:lnTo>
                <a:lnTo>
                  <a:pt x="45309" y="30981"/>
                </a:lnTo>
                <a:close/>
              </a:path>
            </a:pathLst>
          </a:custGeom>
          <a:solidFill>
            <a:srgbClr val="595959"/>
          </a:solidFill>
        </p:spPr>
        <p:txBody>
          <a:bodyPr wrap="square" lIns="0" tIns="0" rIns="0" bIns="0" rtlCol="0"/>
          <a:lstStyle/>
          <a:p>
            <a:endParaRPr sz="2400"/>
          </a:p>
        </p:txBody>
      </p:sp>
      <p:sp>
        <p:nvSpPr>
          <p:cNvPr id="24" name="object 24"/>
          <p:cNvSpPr/>
          <p:nvPr/>
        </p:nvSpPr>
        <p:spPr>
          <a:xfrm>
            <a:off x="2188313" y="2619213"/>
            <a:ext cx="60960" cy="41487"/>
          </a:xfrm>
          <a:custGeom>
            <a:avLst/>
            <a:gdLst/>
            <a:ahLst/>
            <a:cxnLst/>
            <a:rect l="l" t="t" r="r" b="b"/>
            <a:pathLst>
              <a:path w="45719" h="31114">
                <a:moveTo>
                  <a:pt x="39810" y="0"/>
                </a:moveTo>
                <a:lnTo>
                  <a:pt x="0" y="23044"/>
                </a:lnTo>
                <a:lnTo>
                  <a:pt x="45309" y="30981"/>
                </a:lnTo>
                <a:lnTo>
                  <a:pt x="39810" y="0"/>
                </a:lnTo>
                <a:close/>
              </a:path>
            </a:pathLst>
          </a:custGeom>
          <a:ln w="9524">
            <a:solidFill>
              <a:srgbClr val="595959"/>
            </a:solidFill>
          </a:ln>
        </p:spPr>
        <p:txBody>
          <a:bodyPr wrap="square" lIns="0" tIns="0" rIns="0" bIns="0" rtlCol="0"/>
          <a:lstStyle/>
          <a:p>
            <a:endParaRPr sz="2400"/>
          </a:p>
        </p:txBody>
      </p:sp>
      <p:sp>
        <p:nvSpPr>
          <p:cNvPr id="25" name="object 25"/>
          <p:cNvSpPr/>
          <p:nvPr/>
        </p:nvSpPr>
        <p:spPr>
          <a:xfrm>
            <a:off x="5694832" y="2027583"/>
            <a:ext cx="1581573" cy="599440"/>
          </a:xfrm>
          <a:custGeom>
            <a:avLst/>
            <a:gdLst/>
            <a:ahLst/>
            <a:cxnLst/>
            <a:rect l="l" t="t" r="r" b="b"/>
            <a:pathLst>
              <a:path w="1186179" h="449580">
                <a:moveTo>
                  <a:pt x="0" y="0"/>
                </a:moveTo>
                <a:lnTo>
                  <a:pt x="1185553" y="448960"/>
                </a:lnTo>
              </a:path>
            </a:pathLst>
          </a:custGeom>
          <a:ln w="9524">
            <a:solidFill>
              <a:srgbClr val="595959"/>
            </a:solidFill>
          </a:ln>
        </p:spPr>
        <p:txBody>
          <a:bodyPr wrap="square" lIns="0" tIns="0" rIns="0" bIns="0" rtlCol="0"/>
          <a:lstStyle/>
          <a:p>
            <a:endParaRPr sz="2400"/>
          </a:p>
        </p:txBody>
      </p:sp>
      <p:sp>
        <p:nvSpPr>
          <p:cNvPr id="26" name="object 26"/>
          <p:cNvSpPr/>
          <p:nvPr/>
        </p:nvSpPr>
        <p:spPr>
          <a:xfrm>
            <a:off x="7268142" y="2606579"/>
            <a:ext cx="61807" cy="40640"/>
          </a:xfrm>
          <a:custGeom>
            <a:avLst/>
            <a:gdLst/>
            <a:ahLst/>
            <a:cxnLst/>
            <a:rect l="l" t="t" r="r" b="b"/>
            <a:pathLst>
              <a:path w="46354" h="30480">
                <a:moveTo>
                  <a:pt x="45995" y="30021"/>
                </a:moveTo>
                <a:lnTo>
                  <a:pt x="0" y="29426"/>
                </a:lnTo>
                <a:lnTo>
                  <a:pt x="11143" y="0"/>
                </a:lnTo>
                <a:lnTo>
                  <a:pt x="45995" y="30021"/>
                </a:lnTo>
                <a:close/>
              </a:path>
            </a:pathLst>
          </a:custGeom>
          <a:solidFill>
            <a:srgbClr val="595959"/>
          </a:solidFill>
        </p:spPr>
        <p:txBody>
          <a:bodyPr wrap="square" lIns="0" tIns="0" rIns="0" bIns="0" rtlCol="0"/>
          <a:lstStyle/>
          <a:p>
            <a:endParaRPr sz="2400"/>
          </a:p>
        </p:txBody>
      </p:sp>
      <p:sp>
        <p:nvSpPr>
          <p:cNvPr id="27" name="object 27"/>
          <p:cNvSpPr/>
          <p:nvPr/>
        </p:nvSpPr>
        <p:spPr>
          <a:xfrm>
            <a:off x="7268142" y="2606579"/>
            <a:ext cx="61807" cy="40640"/>
          </a:xfrm>
          <a:custGeom>
            <a:avLst/>
            <a:gdLst/>
            <a:ahLst/>
            <a:cxnLst/>
            <a:rect l="l" t="t" r="r" b="b"/>
            <a:pathLst>
              <a:path w="46354" h="30480">
                <a:moveTo>
                  <a:pt x="0" y="29426"/>
                </a:moveTo>
                <a:lnTo>
                  <a:pt x="45995" y="30021"/>
                </a:lnTo>
                <a:lnTo>
                  <a:pt x="11143" y="0"/>
                </a:lnTo>
                <a:lnTo>
                  <a:pt x="0" y="29426"/>
                </a:lnTo>
                <a:close/>
              </a:path>
            </a:pathLst>
          </a:custGeom>
          <a:ln w="9524">
            <a:solidFill>
              <a:srgbClr val="595959"/>
            </a:solidFill>
          </a:ln>
        </p:spPr>
        <p:txBody>
          <a:bodyPr wrap="square" lIns="0" tIns="0" rIns="0" bIns="0" rtlCol="0"/>
          <a:lstStyle/>
          <a:p>
            <a:endParaRPr sz="2400"/>
          </a:p>
        </p:txBody>
      </p:sp>
      <p:sp>
        <p:nvSpPr>
          <p:cNvPr id="28" name="object 28"/>
          <p:cNvSpPr/>
          <p:nvPr/>
        </p:nvSpPr>
        <p:spPr>
          <a:xfrm>
            <a:off x="7346966" y="3828966"/>
            <a:ext cx="109220" cy="839893"/>
          </a:xfrm>
          <a:custGeom>
            <a:avLst/>
            <a:gdLst/>
            <a:ahLst/>
            <a:cxnLst/>
            <a:rect l="l" t="t" r="r" b="b"/>
            <a:pathLst>
              <a:path w="81914" h="629920">
                <a:moveTo>
                  <a:pt x="0" y="0"/>
                </a:moveTo>
                <a:lnTo>
                  <a:pt x="81467" y="629722"/>
                </a:lnTo>
              </a:path>
            </a:pathLst>
          </a:custGeom>
          <a:ln w="9524">
            <a:solidFill>
              <a:srgbClr val="595959"/>
            </a:solidFill>
          </a:ln>
        </p:spPr>
        <p:txBody>
          <a:bodyPr wrap="square" lIns="0" tIns="0" rIns="0" bIns="0" rtlCol="0"/>
          <a:lstStyle/>
          <a:p>
            <a:endParaRPr sz="2400"/>
          </a:p>
        </p:txBody>
      </p:sp>
      <p:sp>
        <p:nvSpPr>
          <p:cNvPr id="29" name="object 29"/>
          <p:cNvSpPr/>
          <p:nvPr/>
        </p:nvSpPr>
        <p:spPr>
          <a:xfrm>
            <a:off x="7434786" y="4665906"/>
            <a:ext cx="42333" cy="60113"/>
          </a:xfrm>
          <a:custGeom>
            <a:avLst/>
            <a:gdLst/>
            <a:ahLst/>
            <a:cxnLst/>
            <a:rect l="l" t="t" r="r" b="b"/>
            <a:pathLst>
              <a:path w="31750" h="45085">
                <a:moveTo>
                  <a:pt x="21148" y="44886"/>
                </a:moveTo>
                <a:lnTo>
                  <a:pt x="0" y="4036"/>
                </a:lnTo>
                <a:lnTo>
                  <a:pt x="31205" y="0"/>
                </a:lnTo>
                <a:lnTo>
                  <a:pt x="21148" y="44886"/>
                </a:lnTo>
                <a:close/>
              </a:path>
            </a:pathLst>
          </a:custGeom>
          <a:solidFill>
            <a:srgbClr val="595959"/>
          </a:solidFill>
        </p:spPr>
        <p:txBody>
          <a:bodyPr wrap="square" lIns="0" tIns="0" rIns="0" bIns="0" rtlCol="0"/>
          <a:lstStyle/>
          <a:p>
            <a:endParaRPr sz="2400"/>
          </a:p>
        </p:txBody>
      </p:sp>
      <p:sp>
        <p:nvSpPr>
          <p:cNvPr id="30" name="object 30"/>
          <p:cNvSpPr/>
          <p:nvPr/>
        </p:nvSpPr>
        <p:spPr>
          <a:xfrm>
            <a:off x="7434786" y="4665906"/>
            <a:ext cx="42333" cy="60113"/>
          </a:xfrm>
          <a:custGeom>
            <a:avLst/>
            <a:gdLst/>
            <a:ahLst/>
            <a:cxnLst/>
            <a:rect l="l" t="t" r="r" b="b"/>
            <a:pathLst>
              <a:path w="31750" h="45085">
                <a:moveTo>
                  <a:pt x="0" y="4036"/>
                </a:moveTo>
                <a:lnTo>
                  <a:pt x="21148" y="44886"/>
                </a:lnTo>
                <a:lnTo>
                  <a:pt x="31205" y="0"/>
                </a:lnTo>
                <a:lnTo>
                  <a:pt x="0" y="4036"/>
                </a:lnTo>
                <a:close/>
              </a:path>
            </a:pathLst>
          </a:custGeom>
          <a:ln w="9524">
            <a:solidFill>
              <a:srgbClr val="595959"/>
            </a:solidFill>
          </a:ln>
        </p:spPr>
        <p:txBody>
          <a:bodyPr wrap="square" lIns="0" tIns="0" rIns="0" bIns="0" rtlCol="0"/>
          <a:lstStyle/>
          <a:p>
            <a:endParaRPr sz="2400"/>
          </a:p>
        </p:txBody>
      </p:sp>
      <p:sp>
        <p:nvSpPr>
          <p:cNvPr id="31" name="object 31"/>
          <p:cNvSpPr/>
          <p:nvPr/>
        </p:nvSpPr>
        <p:spPr>
          <a:xfrm>
            <a:off x="4472139" y="3828966"/>
            <a:ext cx="2875280" cy="893233"/>
          </a:xfrm>
          <a:custGeom>
            <a:avLst/>
            <a:gdLst/>
            <a:ahLst/>
            <a:cxnLst/>
            <a:rect l="l" t="t" r="r" b="b"/>
            <a:pathLst>
              <a:path w="2156460" h="669925">
                <a:moveTo>
                  <a:pt x="2156120" y="0"/>
                </a:moveTo>
                <a:lnTo>
                  <a:pt x="0" y="669453"/>
                </a:lnTo>
              </a:path>
            </a:pathLst>
          </a:custGeom>
          <a:ln w="9524">
            <a:solidFill>
              <a:srgbClr val="595959"/>
            </a:solidFill>
          </a:ln>
        </p:spPr>
        <p:txBody>
          <a:bodyPr wrap="square" lIns="0" tIns="0" rIns="0" bIns="0" rtlCol="0"/>
          <a:lstStyle/>
          <a:p>
            <a:endParaRPr sz="2400"/>
          </a:p>
        </p:txBody>
      </p:sp>
      <p:sp>
        <p:nvSpPr>
          <p:cNvPr id="32" name="object 32"/>
          <p:cNvSpPr/>
          <p:nvPr/>
        </p:nvSpPr>
        <p:spPr>
          <a:xfrm>
            <a:off x="4417098" y="4701537"/>
            <a:ext cx="61807" cy="40640"/>
          </a:xfrm>
          <a:custGeom>
            <a:avLst/>
            <a:gdLst/>
            <a:ahLst/>
            <a:cxnLst/>
            <a:rect l="l" t="t" r="r" b="b"/>
            <a:pathLst>
              <a:path w="46354" h="30479">
                <a:moveTo>
                  <a:pt x="45946" y="30050"/>
                </a:moveTo>
                <a:lnTo>
                  <a:pt x="0" y="27842"/>
                </a:lnTo>
                <a:lnTo>
                  <a:pt x="36615" y="0"/>
                </a:lnTo>
                <a:lnTo>
                  <a:pt x="45946" y="30050"/>
                </a:lnTo>
                <a:close/>
              </a:path>
            </a:pathLst>
          </a:custGeom>
          <a:solidFill>
            <a:srgbClr val="595959"/>
          </a:solidFill>
        </p:spPr>
        <p:txBody>
          <a:bodyPr wrap="square" lIns="0" tIns="0" rIns="0" bIns="0" rtlCol="0"/>
          <a:lstStyle/>
          <a:p>
            <a:endParaRPr sz="2400"/>
          </a:p>
        </p:txBody>
      </p:sp>
      <p:sp>
        <p:nvSpPr>
          <p:cNvPr id="33" name="object 33"/>
          <p:cNvSpPr/>
          <p:nvPr/>
        </p:nvSpPr>
        <p:spPr>
          <a:xfrm>
            <a:off x="4417098" y="4701537"/>
            <a:ext cx="61807" cy="40640"/>
          </a:xfrm>
          <a:custGeom>
            <a:avLst/>
            <a:gdLst/>
            <a:ahLst/>
            <a:cxnLst/>
            <a:rect l="l" t="t" r="r" b="b"/>
            <a:pathLst>
              <a:path w="46354" h="30479">
                <a:moveTo>
                  <a:pt x="36615" y="0"/>
                </a:moveTo>
                <a:lnTo>
                  <a:pt x="0" y="27842"/>
                </a:lnTo>
                <a:lnTo>
                  <a:pt x="45946" y="30050"/>
                </a:lnTo>
                <a:lnTo>
                  <a:pt x="36615" y="0"/>
                </a:lnTo>
                <a:close/>
              </a:path>
            </a:pathLst>
          </a:custGeom>
          <a:ln w="9524">
            <a:solidFill>
              <a:srgbClr val="595959"/>
            </a:solidFill>
          </a:ln>
        </p:spPr>
        <p:txBody>
          <a:bodyPr wrap="square" lIns="0" tIns="0" rIns="0" bIns="0" rtlCol="0"/>
          <a:lstStyle/>
          <a:p>
            <a:endParaRPr sz="2400"/>
          </a:p>
        </p:txBody>
      </p:sp>
      <p:sp>
        <p:nvSpPr>
          <p:cNvPr id="34" name="object 34"/>
          <p:cNvSpPr/>
          <p:nvPr/>
        </p:nvSpPr>
        <p:spPr>
          <a:xfrm>
            <a:off x="9004899" y="4893566"/>
            <a:ext cx="2591647" cy="1176020"/>
          </a:xfrm>
          <a:custGeom>
            <a:avLst/>
            <a:gdLst/>
            <a:ahLst/>
            <a:cxnLst/>
            <a:rect l="l" t="t" r="r" b="b"/>
            <a:pathLst>
              <a:path w="1943734" h="882014">
                <a:moveTo>
                  <a:pt x="1796446" y="881699"/>
                </a:moveTo>
                <a:lnTo>
                  <a:pt x="146952" y="881699"/>
                </a:lnTo>
                <a:lnTo>
                  <a:pt x="100504" y="874208"/>
                </a:lnTo>
                <a:lnTo>
                  <a:pt x="60164" y="853346"/>
                </a:lnTo>
                <a:lnTo>
                  <a:pt x="28353" y="821535"/>
                </a:lnTo>
                <a:lnTo>
                  <a:pt x="7491" y="781195"/>
                </a:lnTo>
                <a:lnTo>
                  <a:pt x="0" y="734746"/>
                </a:lnTo>
                <a:lnTo>
                  <a:pt x="0" y="146952"/>
                </a:ln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close/>
              </a:path>
            </a:pathLst>
          </a:custGeom>
          <a:solidFill>
            <a:srgbClr val="EEEEEE"/>
          </a:solidFill>
        </p:spPr>
        <p:txBody>
          <a:bodyPr wrap="square" lIns="0" tIns="0" rIns="0" bIns="0" rtlCol="0"/>
          <a:lstStyle/>
          <a:p>
            <a:endParaRPr sz="2400"/>
          </a:p>
        </p:txBody>
      </p:sp>
      <p:sp>
        <p:nvSpPr>
          <p:cNvPr id="35" name="object 35"/>
          <p:cNvSpPr/>
          <p:nvPr/>
        </p:nvSpPr>
        <p:spPr>
          <a:xfrm>
            <a:off x="9004901" y="4893566"/>
            <a:ext cx="2591647" cy="1176020"/>
          </a:xfrm>
          <a:custGeom>
            <a:avLst/>
            <a:gdLst/>
            <a:ahLst/>
            <a:cxnLst/>
            <a:rect l="l" t="t" r="r" b="b"/>
            <a:pathLst>
              <a:path w="1943734" h="882014">
                <a:moveTo>
                  <a:pt x="0" y="146952"/>
                </a:move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lnTo>
                  <a:pt x="146952" y="881699"/>
                </a:lnTo>
                <a:lnTo>
                  <a:pt x="100504" y="874208"/>
                </a:lnTo>
                <a:lnTo>
                  <a:pt x="60164" y="853346"/>
                </a:lnTo>
                <a:lnTo>
                  <a:pt x="28353" y="821535"/>
                </a:lnTo>
                <a:lnTo>
                  <a:pt x="7491" y="781195"/>
                </a:lnTo>
                <a:lnTo>
                  <a:pt x="0" y="734746"/>
                </a:lnTo>
                <a:lnTo>
                  <a:pt x="0" y="146952"/>
                </a:lnTo>
                <a:close/>
              </a:path>
            </a:pathLst>
          </a:custGeom>
          <a:ln w="9524">
            <a:solidFill>
              <a:srgbClr val="595959"/>
            </a:solidFill>
          </a:ln>
        </p:spPr>
        <p:txBody>
          <a:bodyPr wrap="square" lIns="0" tIns="0" rIns="0" bIns="0" rtlCol="0"/>
          <a:lstStyle/>
          <a:p>
            <a:endParaRPr sz="2400"/>
          </a:p>
        </p:txBody>
      </p:sp>
      <p:sp>
        <p:nvSpPr>
          <p:cNvPr id="36" name="object 36"/>
          <p:cNvSpPr txBox="1"/>
          <p:nvPr/>
        </p:nvSpPr>
        <p:spPr>
          <a:xfrm>
            <a:off x="9159655" y="5038839"/>
            <a:ext cx="665479"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bullet</a:t>
            </a:r>
            <a:endParaRPr sz="1867">
              <a:latin typeface="Arial"/>
              <a:cs typeface="Arial"/>
            </a:endParaRPr>
          </a:p>
        </p:txBody>
      </p:sp>
      <p:sp>
        <p:nvSpPr>
          <p:cNvPr id="37" name="object 37"/>
          <p:cNvSpPr txBox="1"/>
          <p:nvPr/>
        </p:nvSpPr>
        <p:spPr>
          <a:xfrm>
            <a:off x="9159655" y="5597639"/>
            <a:ext cx="1602740" cy="304421"/>
          </a:xfrm>
          <a:prstGeom prst="rect">
            <a:avLst/>
          </a:prstGeom>
        </p:spPr>
        <p:txBody>
          <a:bodyPr vert="horz" wrap="square" lIns="0" tIns="16933" rIns="0" bIns="0" rtlCol="0">
            <a:spAutoFit/>
          </a:bodyPr>
          <a:lstStyle/>
          <a:p>
            <a:pPr marL="16933">
              <a:spcBef>
                <a:spcPts val="133"/>
              </a:spcBef>
            </a:pPr>
            <a:r>
              <a:rPr sz="1867" spc="-7" dirty="0">
                <a:latin typeface="Arial"/>
                <a:cs typeface="Arial"/>
              </a:rPr>
              <a:t>damage_touch</a:t>
            </a:r>
            <a:endParaRPr sz="1867">
              <a:latin typeface="Arial"/>
              <a:cs typeface="Arial"/>
            </a:endParaRPr>
          </a:p>
        </p:txBody>
      </p:sp>
      <p:sp>
        <p:nvSpPr>
          <p:cNvPr id="38" name="object 38"/>
          <p:cNvSpPr/>
          <p:nvPr/>
        </p:nvSpPr>
        <p:spPr>
          <a:xfrm>
            <a:off x="7346966" y="3828965"/>
            <a:ext cx="2882053" cy="1039707"/>
          </a:xfrm>
          <a:custGeom>
            <a:avLst/>
            <a:gdLst/>
            <a:ahLst/>
            <a:cxnLst/>
            <a:rect l="l" t="t" r="r" b="b"/>
            <a:pathLst>
              <a:path w="2161540" h="779779">
                <a:moveTo>
                  <a:pt x="0" y="0"/>
                </a:moveTo>
                <a:lnTo>
                  <a:pt x="2161436" y="779217"/>
                </a:lnTo>
              </a:path>
            </a:pathLst>
          </a:custGeom>
          <a:ln w="9524">
            <a:solidFill>
              <a:srgbClr val="595959"/>
            </a:solidFill>
          </a:ln>
        </p:spPr>
        <p:txBody>
          <a:bodyPr wrap="square" lIns="0" tIns="0" rIns="0" bIns="0" rtlCol="0"/>
          <a:lstStyle/>
          <a:p>
            <a:endParaRPr sz="2400"/>
          </a:p>
        </p:txBody>
      </p:sp>
      <p:sp>
        <p:nvSpPr>
          <p:cNvPr id="39" name="object 39"/>
          <p:cNvSpPr/>
          <p:nvPr/>
        </p:nvSpPr>
        <p:spPr>
          <a:xfrm>
            <a:off x="10221769" y="4848190"/>
            <a:ext cx="61807" cy="39793"/>
          </a:xfrm>
          <a:custGeom>
            <a:avLst/>
            <a:gdLst/>
            <a:ahLst/>
            <a:cxnLst/>
            <a:rect l="l" t="t" r="r" b="b"/>
            <a:pathLst>
              <a:path w="46354" h="29845">
                <a:moveTo>
                  <a:pt x="0" y="29600"/>
                </a:moveTo>
                <a:lnTo>
                  <a:pt x="10670" y="0"/>
                </a:lnTo>
                <a:lnTo>
                  <a:pt x="45999" y="29460"/>
                </a:lnTo>
                <a:lnTo>
                  <a:pt x="0" y="29600"/>
                </a:lnTo>
                <a:close/>
              </a:path>
            </a:pathLst>
          </a:custGeom>
          <a:solidFill>
            <a:srgbClr val="595959"/>
          </a:solidFill>
        </p:spPr>
        <p:txBody>
          <a:bodyPr wrap="square" lIns="0" tIns="0" rIns="0" bIns="0" rtlCol="0"/>
          <a:lstStyle/>
          <a:p>
            <a:endParaRPr sz="2400"/>
          </a:p>
        </p:txBody>
      </p:sp>
      <p:sp>
        <p:nvSpPr>
          <p:cNvPr id="40" name="object 40"/>
          <p:cNvSpPr/>
          <p:nvPr/>
        </p:nvSpPr>
        <p:spPr>
          <a:xfrm>
            <a:off x="10221769" y="4848190"/>
            <a:ext cx="61807" cy="39793"/>
          </a:xfrm>
          <a:custGeom>
            <a:avLst/>
            <a:gdLst/>
            <a:ahLst/>
            <a:cxnLst/>
            <a:rect l="l" t="t" r="r" b="b"/>
            <a:pathLst>
              <a:path w="46354" h="29845">
                <a:moveTo>
                  <a:pt x="0" y="29600"/>
                </a:moveTo>
                <a:lnTo>
                  <a:pt x="45999" y="29460"/>
                </a:lnTo>
                <a:lnTo>
                  <a:pt x="10670" y="0"/>
                </a:lnTo>
                <a:lnTo>
                  <a:pt x="0" y="29600"/>
                </a:lnTo>
                <a:close/>
              </a:path>
            </a:pathLst>
          </a:custGeom>
          <a:ln w="9524">
            <a:solidFill>
              <a:srgbClr val="595959"/>
            </a:solidFill>
          </a:ln>
        </p:spPr>
        <p:txBody>
          <a:bodyPr wrap="square" lIns="0" tIns="0" rIns="0" bIns="0" rtlCol="0"/>
          <a:lstStyle/>
          <a:p>
            <a:endParaRPr sz="2400"/>
          </a:p>
        </p:txBody>
      </p:sp>
    </p:spTree>
    <p:extLst>
      <p:ext uri="{BB962C8B-B14F-4D97-AF65-F5344CB8AC3E}">
        <p14:creationId xmlns:p14="http://schemas.microsoft.com/office/powerpoint/2010/main" val="3189663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879686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The </a:t>
            </a:r>
            <a:r>
              <a:rPr sz="3733" spc="-13" dirty="0"/>
              <a:t>ShootyGuy </a:t>
            </a:r>
            <a:r>
              <a:rPr sz="3733" spc="-7" dirty="0"/>
              <a:t>entity </a:t>
            </a:r>
            <a:r>
              <a:rPr sz="3733" dirty="0"/>
              <a:t>model</a:t>
            </a:r>
            <a:r>
              <a:rPr sz="3733" spc="-120" dirty="0"/>
              <a:t> </a:t>
            </a:r>
            <a:r>
              <a:rPr sz="3733" dirty="0"/>
              <a:t>(Inheritance)</a:t>
            </a:r>
            <a:endParaRPr sz="3733"/>
          </a:p>
        </p:txBody>
      </p:sp>
      <p:sp>
        <p:nvSpPr>
          <p:cNvPr id="3" name="object 3"/>
          <p:cNvSpPr txBox="1"/>
          <p:nvPr/>
        </p:nvSpPr>
        <p:spPr>
          <a:xfrm>
            <a:off x="512968" y="1625871"/>
            <a:ext cx="5154505" cy="4423369"/>
          </a:xfrm>
          <a:prstGeom prst="rect">
            <a:avLst/>
          </a:prstGeom>
        </p:spPr>
        <p:txBody>
          <a:bodyPr vert="horz" wrap="square" lIns="0" tIns="16933" rIns="0" bIns="0" rtlCol="0">
            <a:spAutoFit/>
          </a:bodyPr>
          <a:lstStyle/>
          <a:p>
            <a:pPr marL="16933">
              <a:lnSpc>
                <a:spcPts val="1907"/>
              </a:lnSpc>
              <a:spcBef>
                <a:spcPts val="133"/>
              </a:spcBef>
            </a:pPr>
            <a:r>
              <a:rPr sz="1600" spc="-7" dirty="0">
                <a:solidFill>
                  <a:srgbClr val="0000FF"/>
                </a:solidFill>
                <a:latin typeface="Courier New"/>
                <a:cs typeface="Courier New"/>
              </a:rPr>
              <a:t>struct </a:t>
            </a:r>
            <a:r>
              <a:rPr sz="1600" spc="-7" dirty="0">
                <a:solidFill>
                  <a:srgbClr val="76A5AE"/>
                </a:solidFill>
                <a:latin typeface="Courier New"/>
                <a:cs typeface="Courier New"/>
              </a:rPr>
              <a:t>ga_entity </a:t>
            </a:r>
            <a:r>
              <a:rPr sz="1600" dirty="0">
                <a:solidFill>
                  <a:srgbClr val="595959"/>
                </a:solidFill>
                <a:latin typeface="Courier New"/>
                <a:cs typeface="Courier New"/>
              </a:rPr>
              <a:t>{</a:t>
            </a:r>
            <a:endParaRPr sz="1600">
              <a:latin typeface="Courier New"/>
              <a:cs typeface="Courier New"/>
            </a:endParaRPr>
          </a:p>
          <a:p>
            <a:pPr marL="626518">
              <a:lnSpc>
                <a:spcPts val="1900"/>
              </a:lnSpc>
            </a:pPr>
            <a:r>
              <a:rPr sz="1600" spc="-7" dirty="0">
                <a:solidFill>
                  <a:srgbClr val="0000FF"/>
                </a:solidFill>
                <a:latin typeface="Courier New"/>
                <a:cs typeface="Courier New"/>
              </a:rPr>
              <a:t>virtual void </a:t>
            </a:r>
            <a:r>
              <a:rPr sz="1600" spc="-7" dirty="0">
                <a:solidFill>
                  <a:srgbClr val="76A5AE"/>
                </a:solidFill>
                <a:latin typeface="Courier New"/>
                <a:cs typeface="Courier New"/>
              </a:rPr>
              <a:t>update() </a:t>
            </a:r>
            <a:r>
              <a:rPr sz="1600" dirty="0">
                <a:latin typeface="Courier New"/>
                <a:cs typeface="Courier New"/>
              </a:rPr>
              <a:t>=</a:t>
            </a:r>
            <a:r>
              <a:rPr sz="1600" spc="-27" dirty="0">
                <a:latin typeface="Courier New"/>
                <a:cs typeface="Courier New"/>
              </a:rPr>
              <a:t> </a:t>
            </a:r>
            <a:r>
              <a:rPr sz="1600" spc="-7" dirty="0">
                <a:latin typeface="Courier New"/>
                <a:cs typeface="Courier New"/>
              </a:rPr>
              <a:t>0;</a:t>
            </a:r>
            <a:endParaRPr sz="1600">
              <a:latin typeface="Courier New"/>
              <a:cs typeface="Courier New"/>
            </a:endParaRPr>
          </a:p>
          <a:p>
            <a:pPr marL="16933">
              <a:lnSpc>
                <a:spcPts val="1907"/>
              </a:lnSpc>
            </a:pPr>
            <a:r>
              <a:rPr sz="1600" spc="-7" dirty="0">
                <a:solidFill>
                  <a:srgbClr val="595959"/>
                </a:solidFill>
                <a:latin typeface="Courier New"/>
                <a:cs typeface="Courier New"/>
              </a:rPr>
              <a:t>};</a:t>
            </a:r>
            <a:endParaRPr sz="1600">
              <a:latin typeface="Courier New"/>
              <a:cs typeface="Courier New"/>
            </a:endParaRPr>
          </a:p>
          <a:p>
            <a:pPr>
              <a:spcBef>
                <a:spcPts val="40"/>
              </a:spcBef>
            </a:pPr>
            <a:endParaRPr sz="1600">
              <a:latin typeface="Times New Roman"/>
              <a:cs typeface="Times New Roman"/>
            </a:endParaRPr>
          </a:p>
          <a:p>
            <a:pPr marL="16933">
              <a:lnSpc>
                <a:spcPts val="1907"/>
              </a:lnSpc>
            </a:pPr>
            <a:r>
              <a:rPr sz="1600" spc="-7" dirty="0">
                <a:solidFill>
                  <a:srgbClr val="0000FF"/>
                </a:solidFill>
                <a:latin typeface="Courier New"/>
                <a:cs typeface="Courier New"/>
              </a:rPr>
              <a:t>struct </a:t>
            </a:r>
            <a:r>
              <a:rPr sz="1600" spc="-7" dirty="0">
                <a:solidFill>
                  <a:srgbClr val="76A5AE"/>
                </a:solidFill>
                <a:latin typeface="Courier New"/>
                <a:cs typeface="Courier New"/>
              </a:rPr>
              <a:t>ga_bomb_guy </a:t>
            </a:r>
            <a:r>
              <a:rPr sz="1600" dirty="0">
                <a:solidFill>
                  <a:srgbClr val="76A5AE"/>
                </a:solidFill>
                <a:latin typeface="Courier New"/>
                <a:cs typeface="Courier New"/>
              </a:rPr>
              <a:t>:</a:t>
            </a:r>
            <a:r>
              <a:rPr sz="1600" spc="-120" dirty="0">
                <a:solidFill>
                  <a:srgbClr val="76A5AE"/>
                </a:solidFill>
                <a:latin typeface="Courier New"/>
                <a:cs typeface="Courier New"/>
              </a:rPr>
              <a:t> </a:t>
            </a:r>
            <a:r>
              <a:rPr sz="1600" spc="-7" dirty="0">
                <a:solidFill>
                  <a:srgbClr val="76A5AE"/>
                </a:solidFill>
                <a:latin typeface="Courier New"/>
                <a:cs typeface="Courier New"/>
              </a:rPr>
              <a:t>ga_entity</a:t>
            </a:r>
            <a:endParaRPr sz="1600">
              <a:latin typeface="Courier New"/>
              <a:cs typeface="Courier New"/>
            </a:endParaRPr>
          </a:p>
          <a:p>
            <a:pPr marL="16933">
              <a:lnSpc>
                <a:spcPts val="1900"/>
              </a:lnSpc>
            </a:pPr>
            <a:r>
              <a:rPr sz="1600" dirty="0">
                <a:solidFill>
                  <a:srgbClr val="595959"/>
                </a:solidFill>
                <a:latin typeface="Courier New"/>
                <a:cs typeface="Courier New"/>
              </a:rPr>
              <a:t>{</a:t>
            </a:r>
            <a:endParaRPr sz="1600">
              <a:latin typeface="Courier New"/>
              <a:cs typeface="Courier New"/>
            </a:endParaRPr>
          </a:p>
          <a:p>
            <a:pPr marL="626518" marR="981262">
              <a:lnSpc>
                <a:spcPts val="1907"/>
              </a:lnSpc>
              <a:spcBef>
                <a:spcPts val="60"/>
              </a:spcBef>
            </a:pPr>
            <a:r>
              <a:rPr sz="1600" spc="-7" dirty="0">
                <a:solidFill>
                  <a:srgbClr val="76A5AE"/>
                </a:solidFill>
                <a:latin typeface="Courier New"/>
                <a:cs typeface="Courier New"/>
              </a:rPr>
              <a:t>void </a:t>
            </a:r>
            <a:r>
              <a:rPr sz="1600" spc="-7" dirty="0">
                <a:solidFill>
                  <a:srgbClr val="595959"/>
                </a:solidFill>
                <a:latin typeface="Courier New"/>
                <a:cs typeface="Courier New"/>
              </a:rPr>
              <a:t>hide_or_show(</a:t>
            </a:r>
            <a:r>
              <a:rPr sz="1600" spc="-7" dirty="0">
                <a:solidFill>
                  <a:srgbClr val="0000FF"/>
                </a:solidFill>
                <a:latin typeface="Courier New"/>
                <a:cs typeface="Courier New"/>
              </a:rPr>
              <a:t>bool </a:t>
            </a:r>
            <a:r>
              <a:rPr sz="1600" spc="-7" dirty="0">
                <a:solidFill>
                  <a:srgbClr val="595959"/>
                </a:solidFill>
                <a:latin typeface="Courier New"/>
                <a:cs typeface="Courier New"/>
              </a:rPr>
              <a:t>show);  </a:t>
            </a:r>
            <a:r>
              <a:rPr sz="1600" spc="-7" dirty="0">
                <a:solidFill>
                  <a:srgbClr val="76A5AE"/>
                </a:solidFill>
                <a:latin typeface="Courier New"/>
                <a:cs typeface="Courier New"/>
              </a:rPr>
              <a:t>void</a:t>
            </a:r>
            <a:r>
              <a:rPr sz="1600" spc="-27" dirty="0">
                <a:solidFill>
                  <a:srgbClr val="76A5AE"/>
                </a:solidFill>
                <a:latin typeface="Courier New"/>
                <a:cs typeface="Courier New"/>
              </a:rPr>
              <a:t> </a:t>
            </a:r>
            <a:r>
              <a:rPr sz="1600" spc="-7" dirty="0">
                <a:solidFill>
                  <a:srgbClr val="595959"/>
                </a:solidFill>
                <a:latin typeface="Courier New"/>
                <a:cs typeface="Courier New"/>
              </a:rPr>
              <a:t>damage_all_around();</a:t>
            </a:r>
            <a:endParaRPr sz="1600">
              <a:latin typeface="Courier New"/>
              <a:cs typeface="Courier New"/>
            </a:endParaRPr>
          </a:p>
          <a:p>
            <a:pPr>
              <a:spcBef>
                <a:spcPts val="53"/>
              </a:spcBef>
            </a:pPr>
            <a:endParaRPr sz="1533">
              <a:latin typeface="Times New Roman"/>
              <a:cs typeface="Times New Roman"/>
            </a:endParaRPr>
          </a:p>
          <a:p>
            <a:pPr marL="626518">
              <a:lnSpc>
                <a:spcPts val="1907"/>
              </a:lnSpc>
            </a:pPr>
            <a:r>
              <a:rPr sz="1600" spc="-7" dirty="0">
                <a:solidFill>
                  <a:srgbClr val="76A5AE"/>
                </a:solidFill>
                <a:latin typeface="Courier New"/>
                <a:cs typeface="Courier New"/>
              </a:rPr>
              <a:t>void </a:t>
            </a:r>
            <a:r>
              <a:rPr sz="1600" spc="-7" dirty="0">
                <a:solidFill>
                  <a:srgbClr val="595959"/>
                </a:solidFill>
                <a:latin typeface="Courier New"/>
                <a:cs typeface="Courier New"/>
              </a:rPr>
              <a:t>update()</a:t>
            </a:r>
            <a:r>
              <a:rPr sz="1600" spc="-13" dirty="0">
                <a:solidFill>
                  <a:srgbClr val="595959"/>
                </a:solidFill>
                <a:latin typeface="Courier New"/>
                <a:cs typeface="Courier New"/>
              </a:rPr>
              <a:t> </a:t>
            </a:r>
            <a:r>
              <a:rPr sz="1600" spc="-7" dirty="0">
                <a:solidFill>
                  <a:srgbClr val="0000FF"/>
                </a:solidFill>
                <a:latin typeface="Courier New"/>
                <a:cs typeface="Courier New"/>
              </a:rPr>
              <a:t>override</a:t>
            </a:r>
            <a:endParaRPr sz="1600">
              <a:latin typeface="Courier New"/>
              <a:cs typeface="Courier New"/>
            </a:endParaRPr>
          </a:p>
          <a:p>
            <a:pPr marL="626518">
              <a:lnSpc>
                <a:spcPts val="1900"/>
              </a:lnSpc>
            </a:pPr>
            <a:r>
              <a:rPr sz="1600" dirty="0">
                <a:solidFill>
                  <a:srgbClr val="595959"/>
                </a:solidFill>
                <a:latin typeface="Courier New"/>
                <a:cs typeface="Courier New"/>
              </a:rPr>
              <a:t>{</a:t>
            </a:r>
            <a:endParaRPr sz="1600">
              <a:latin typeface="Courier New"/>
              <a:cs typeface="Courier New"/>
            </a:endParaRPr>
          </a:p>
          <a:p>
            <a:pPr marL="1236102">
              <a:lnSpc>
                <a:spcPts val="1900"/>
              </a:lnSpc>
            </a:pPr>
            <a:r>
              <a:rPr sz="1600" spc="-7" dirty="0">
                <a:solidFill>
                  <a:srgbClr val="0000FF"/>
                </a:solidFill>
                <a:latin typeface="Courier New"/>
                <a:cs typeface="Courier New"/>
              </a:rPr>
              <a:t>if</a:t>
            </a:r>
            <a:r>
              <a:rPr sz="1600" spc="-87" dirty="0">
                <a:solidFill>
                  <a:srgbClr val="0000FF"/>
                </a:solidFill>
                <a:latin typeface="Courier New"/>
                <a:cs typeface="Courier New"/>
              </a:rPr>
              <a:t> </a:t>
            </a:r>
            <a:r>
              <a:rPr sz="1600" spc="-7" dirty="0">
                <a:solidFill>
                  <a:srgbClr val="595959"/>
                </a:solidFill>
                <a:latin typeface="Courier New"/>
                <a:cs typeface="Courier New"/>
              </a:rPr>
              <a:t>(</a:t>
            </a:r>
            <a:r>
              <a:rPr sz="1600" spc="-7" dirty="0">
                <a:solidFill>
                  <a:srgbClr val="76A5AE"/>
                </a:solidFill>
                <a:latin typeface="Courier New"/>
                <a:cs typeface="Courier New"/>
              </a:rPr>
              <a:t>physics</a:t>
            </a:r>
            <a:r>
              <a:rPr sz="1600" spc="-7" dirty="0">
                <a:solidFill>
                  <a:srgbClr val="595959"/>
                </a:solidFill>
                <a:latin typeface="Courier New"/>
                <a:cs typeface="Courier New"/>
              </a:rPr>
              <a:t>::is_player_nearby())</a:t>
            </a:r>
            <a:endParaRPr sz="1600">
              <a:latin typeface="Courier New"/>
              <a:cs typeface="Courier New"/>
            </a:endParaRPr>
          </a:p>
          <a:p>
            <a:pPr marL="1236102">
              <a:lnSpc>
                <a:spcPts val="1900"/>
              </a:lnSpc>
            </a:pPr>
            <a:r>
              <a:rPr sz="1600" dirty="0">
                <a:solidFill>
                  <a:srgbClr val="595959"/>
                </a:solidFill>
                <a:latin typeface="Courier New"/>
                <a:cs typeface="Courier New"/>
              </a:rPr>
              <a:t>{</a:t>
            </a:r>
            <a:endParaRPr sz="1600">
              <a:latin typeface="Courier New"/>
              <a:cs typeface="Courier New"/>
            </a:endParaRPr>
          </a:p>
          <a:p>
            <a:pPr marL="1845687" marR="859345">
              <a:lnSpc>
                <a:spcPts val="1907"/>
              </a:lnSpc>
              <a:spcBef>
                <a:spcPts val="60"/>
              </a:spcBef>
            </a:pPr>
            <a:r>
              <a:rPr sz="1600" spc="-7" dirty="0">
                <a:solidFill>
                  <a:srgbClr val="595959"/>
                </a:solidFill>
                <a:latin typeface="Courier New"/>
                <a:cs typeface="Courier New"/>
              </a:rPr>
              <a:t>hide_or_show(</a:t>
            </a:r>
            <a:r>
              <a:rPr sz="1600" spc="-7" dirty="0">
                <a:solidFill>
                  <a:srgbClr val="0000FF"/>
                </a:solidFill>
                <a:latin typeface="Courier New"/>
                <a:cs typeface="Courier New"/>
              </a:rPr>
              <a:t>true</a:t>
            </a:r>
            <a:r>
              <a:rPr sz="1600" spc="-7" dirty="0">
                <a:solidFill>
                  <a:srgbClr val="595959"/>
                </a:solidFill>
                <a:latin typeface="Courier New"/>
                <a:cs typeface="Courier New"/>
              </a:rPr>
              <a:t>);  damage_all_around();</a:t>
            </a:r>
            <a:endParaRPr sz="1600">
              <a:latin typeface="Courier New"/>
              <a:cs typeface="Courier New"/>
            </a:endParaRPr>
          </a:p>
          <a:p>
            <a:pPr marL="1236102">
              <a:lnSpc>
                <a:spcPts val="1820"/>
              </a:lnSpc>
            </a:pPr>
            <a:r>
              <a:rPr sz="1600" dirty="0">
                <a:solidFill>
                  <a:srgbClr val="595959"/>
                </a:solidFill>
                <a:latin typeface="Courier New"/>
                <a:cs typeface="Courier New"/>
              </a:rPr>
              <a:t>}</a:t>
            </a:r>
            <a:endParaRPr sz="1600">
              <a:latin typeface="Courier New"/>
              <a:cs typeface="Courier New"/>
            </a:endParaRPr>
          </a:p>
          <a:p>
            <a:pPr marL="626518">
              <a:lnSpc>
                <a:spcPts val="1900"/>
              </a:lnSpc>
            </a:pPr>
            <a:r>
              <a:rPr sz="1600" dirty="0">
                <a:solidFill>
                  <a:srgbClr val="595959"/>
                </a:solidFill>
                <a:latin typeface="Courier New"/>
                <a:cs typeface="Courier New"/>
              </a:rPr>
              <a:t>}</a:t>
            </a:r>
            <a:endParaRPr sz="1600">
              <a:latin typeface="Courier New"/>
              <a:cs typeface="Courier New"/>
            </a:endParaRPr>
          </a:p>
          <a:p>
            <a:pPr marL="16933">
              <a:lnSpc>
                <a:spcPts val="1907"/>
              </a:lnSpc>
            </a:pPr>
            <a:r>
              <a:rPr sz="1600" spc="-7" dirty="0">
                <a:solidFill>
                  <a:srgbClr val="595959"/>
                </a:solidFill>
                <a:latin typeface="Courier New"/>
                <a:cs typeface="Courier New"/>
              </a:rPr>
              <a:t>};</a:t>
            </a:r>
            <a:endParaRPr sz="1600">
              <a:latin typeface="Courier New"/>
              <a:cs typeface="Courier New"/>
            </a:endParaRPr>
          </a:p>
        </p:txBody>
      </p:sp>
    </p:spTree>
    <p:extLst>
      <p:ext uri="{BB962C8B-B14F-4D97-AF65-F5344CB8AC3E}">
        <p14:creationId xmlns:p14="http://schemas.microsoft.com/office/powerpoint/2010/main" val="1303140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1743287" cy="591551"/>
          </a:xfrm>
          <a:prstGeom prst="rect">
            <a:avLst/>
          </a:prstGeom>
        </p:spPr>
        <p:txBody>
          <a:bodyPr vert="horz" wrap="square" lIns="0" tIns="16933" rIns="0" bIns="0" rtlCol="0" anchor="ctr">
            <a:spAutoFit/>
          </a:bodyPr>
          <a:lstStyle/>
          <a:p>
            <a:pPr marL="16933">
              <a:lnSpc>
                <a:spcPct val="100000"/>
              </a:lnSpc>
              <a:spcBef>
                <a:spcPts val="133"/>
              </a:spcBef>
            </a:pPr>
            <a:r>
              <a:rPr sz="3733" spc="-13" dirty="0"/>
              <a:t>Ship</a:t>
            </a:r>
            <a:r>
              <a:rPr sz="3733" spc="-120" dirty="0"/>
              <a:t> </a:t>
            </a:r>
            <a:r>
              <a:rPr sz="3733" spc="-7" dirty="0"/>
              <a:t>it!?</a:t>
            </a:r>
            <a:endParaRPr sz="3733"/>
          </a:p>
        </p:txBody>
      </p:sp>
      <p:sp>
        <p:nvSpPr>
          <p:cNvPr id="3" name="object 3"/>
          <p:cNvSpPr txBox="1"/>
          <p:nvPr/>
        </p:nvSpPr>
        <p:spPr>
          <a:xfrm>
            <a:off x="674658" y="1578798"/>
            <a:ext cx="4943687" cy="1350284"/>
          </a:xfrm>
          <a:prstGeom prst="rect">
            <a:avLst/>
          </a:prstGeom>
        </p:spPr>
        <p:txBody>
          <a:bodyPr vert="horz" wrap="square" lIns="0" tIns="16933" rIns="0" bIns="0" rtlCol="0">
            <a:spAutoFit/>
          </a:bodyPr>
          <a:lstStyle/>
          <a:p>
            <a:pPr marL="464808" marR="6773" indent="-447875">
              <a:lnSpc>
                <a:spcPct val="116100"/>
              </a:lnSpc>
              <a:spcBef>
                <a:spcPts val="133"/>
              </a:spcBef>
              <a:buChar char="●"/>
              <a:tabLst>
                <a:tab pos="463962" algn="l"/>
                <a:tab pos="465655" algn="l"/>
              </a:tabLst>
            </a:pPr>
            <a:r>
              <a:rPr sz="1867" spc="-7" dirty="0">
                <a:solidFill>
                  <a:srgbClr val="595959"/>
                </a:solidFill>
                <a:latin typeface="Arial"/>
                <a:cs typeface="Arial"/>
              </a:rPr>
              <a:t>What happens when </a:t>
            </a:r>
            <a:r>
              <a:rPr sz="1867" dirty="0">
                <a:solidFill>
                  <a:srgbClr val="595959"/>
                </a:solidFill>
                <a:latin typeface="Arial"/>
                <a:cs typeface="Arial"/>
              </a:rPr>
              <a:t>your </a:t>
            </a:r>
            <a:r>
              <a:rPr sz="1867" spc="-7" dirty="0">
                <a:solidFill>
                  <a:srgbClr val="595959"/>
                </a:solidFill>
                <a:latin typeface="Arial"/>
                <a:cs typeface="Arial"/>
              </a:rPr>
              <a:t>designer </a:t>
            </a:r>
            <a:r>
              <a:rPr sz="1867" dirty="0">
                <a:solidFill>
                  <a:srgbClr val="595959"/>
                </a:solidFill>
                <a:latin typeface="Arial"/>
                <a:cs typeface="Arial"/>
              </a:rPr>
              <a:t>comes  </a:t>
            </a:r>
            <a:r>
              <a:rPr sz="1867" spc="-7" dirty="0">
                <a:solidFill>
                  <a:srgbClr val="595959"/>
                </a:solidFill>
                <a:latin typeface="Arial"/>
                <a:cs typeface="Arial"/>
              </a:rPr>
              <a:t>back and asks for </a:t>
            </a:r>
            <a:r>
              <a:rPr sz="1867" dirty="0">
                <a:solidFill>
                  <a:srgbClr val="595959"/>
                </a:solidFill>
                <a:latin typeface="Arial"/>
                <a:cs typeface="Arial"/>
              </a:rPr>
              <a:t>a </a:t>
            </a:r>
            <a:r>
              <a:rPr sz="1867" spc="-7" dirty="0">
                <a:solidFill>
                  <a:srgbClr val="595959"/>
                </a:solidFill>
                <a:latin typeface="Arial"/>
                <a:cs typeface="Arial"/>
              </a:rPr>
              <a:t>new bullet that </a:t>
            </a:r>
            <a:r>
              <a:rPr sz="1867" dirty="0">
                <a:solidFill>
                  <a:srgbClr val="595959"/>
                </a:solidFill>
                <a:latin typeface="Arial"/>
                <a:cs typeface="Arial"/>
              </a:rPr>
              <a:t>chases  </a:t>
            </a:r>
            <a:r>
              <a:rPr sz="1867" spc="-7" dirty="0">
                <a:solidFill>
                  <a:srgbClr val="595959"/>
                </a:solidFill>
                <a:latin typeface="Arial"/>
                <a:cs typeface="Arial"/>
              </a:rPr>
              <a:t>the player like </a:t>
            </a:r>
            <a:r>
              <a:rPr sz="1867" dirty="0">
                <a:solidFill>
                  <a:srgbClr val="595959"/>
                </a:solidFill>
                <a:latin typeface="Arial"/>
                <a:cs typeface="Arial"/>
              </a:rPr>
              <a:t>melee_guy </a:t>
            </a:r>
            <a:r>
              <a:rPr sz="1867" spc="-7" dirty="0">
                <a:solidFill>
                  <a:srgbClr val="595959"/>
                </a:solidFill>
                <a:latin typeface="Arial"/>
                <a:cs typeface="Arial"/>
              </a:rPr>
              <a:t>and explodes  like</a:t>
            </a:r>
            <a:r>
              <a:rPr sz="1867" spc="-13" dirty="0">
                <a:solidFill>
                  <a:srgbClr val="595959"/>
                </a:solidFill>
                <a:latin typeface="Arial"/>
                <a:cs typeface="Arial"/>
              </a:rPr>
              <a:t> </a:t>
            </a:r>
            <a:r>
              <a:rPr sz="1867" spc="-7" dirty="0">
                <a:solidFill>
                  <a:srgbClr val="595959"/>
                </a:solidFill>
                <a:latin typeface="Arial"/>
                <a:cs typeface="Arial"/>
              </a:rPr>
              <a:t>bomb_guy?</a:t>
            </a:r>
            <a:endParaRPr sz="1867">
              <a:latin typeface="Arial"/>
              <a:cs typeface="Arial"/>
            </a:endParaRPr>
          </a:p>
        </p:txBody>
      </p:sp>
    </p:spTree>
    <p:extLst>
      <p:ext uri="{BB962C8B-B14F-4D97-AF65-F5344CB8AC3E}">
        <p14:creationId xmlns:p14="http://schemas.microsoft.com/office/powerpoint/2010/main" val="3864120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879686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The </a:t>
            </a:r>
            <a:r>
              <a:rPr sz="3733" spc="-13" dirty="0"/>
              <a:t>ShootyGuy </a:t>
            </a:r>
            <a:r>
              <a:rPr sz="3733" spc="-7" dirty="0"/>
              <a:t>entity </a:t>
            </a:r>
            <a:r>
              <a:rPr sz="3733" dirty="0"/>
              <a:t>model</a:t>
            </a:r>
            <a:r>
              <a:rPr sz="3733" spc="-120" dirty="0"/>
              <a:t> </a:t>
            </a:r>
            <a:r>
              <a:rPr sz="3733" dirty="0"/>
              <a:t>(Inheritance)</a:t>
            </a:r>
            <a:endParaRPr sz="3733"/>
          </a:p>
        </p:txBody>
      </p:sp>
      <p:sp>
        <p:nvSpPr>
          <p:cNvPr id="3" name="object 3"/>
          <p:cNvSpPr/>
          <p:nvPr/>
        </p:nvSpPr>
        <p:spPr>
          <a:xfrm>
            <a:off x="769633" y="2653367"/>
            <a:ext cx="2801620" cy="1474047"/>
          </a:xfrm>
          <a:custGeom>
            <a:avLst/>
            <a:gdLst/>
            <a:ahLst/>
            <a:cxnLst/>
            <a:rect l="l" t="t" r="r" b="b"/>
            <a:pathLst>
              <a:path w="2101215" h="1105535">
                <a:moveTo>
                  <a:pt x="1916346" y="1105499"/>
                </a:moveTo>
                <a:lnTo>
                  <a:pt x="184253" y="1105499"/>
                </a:lnTo>
                <a:lnTo>
                  <a:pt x="135271" y="1098918"/>
                </a:lnTo>
                <a:lnTo>
                  <a:pt x="91257" y="1080343"/>
                </a:lnTo>
                <a:lnTo>
                  <a:pt x="53966" y="1051533"/>
                </a:lnTo>
                <a:lnTo>
                  <a:pt x="25156" y="1014242"/>
                </a:lnTo>
                <a:lnTo>
                  <a:pt x="6581" y="970228"/>
                </a:lnTo>
                <a:lnTo>
                  <a:pt x="0" y="921246"/>
                </a:lnTo>
                <a:lnTo>
                  <a:pt x="0" y="184253"/>
                </a:lnTo>
                <a:lnTo>
                  <a:pt x="6581" y="135271"/>
                </a:lnTo>
                <a:lnTo>
                  <a:pt x="25156" y="91257"/>
                </a:lnTo>
                <a:lnTo>
                  <a:pt x="53966" y="53966"/>
                </a:lnTo>
                <a:lnTo>
                  <a:pt x="91257" y="25156"/>
                </a:lnTo>
                <a:lnTo>
                  <a:pt x="135271" y="6581"/>
                </a:lnTo>
                <a:lnTo>
                  <a:pt x="184253" y="0"/>
                </a:lnTo>
                <a:lnTo>
                  <a:pt x="1916346" y="0"/>
                </a:lnTo>
                <a:lnTo>
                  <a:pt x="1986857" y="14025"/>
                </a:lnTo>
                <a:lnTo>
                  <a:pt x="2046633" y="53966"/>
                </a:lnTo>
                <a:lnTo>
                  <a:pt x="2086574" y="113742"/>
                </a:lnTo>
                <a:lnTo>
                  <a:pt x="2100599" y="184253"/>
                </a:lnTo>
                <a:lnTo>
                  <a:pt x="2100599" y="921246"/>
                </a:lnTo>
                <a:lnTo>
                  <a:pt x="2094018" y="970228"/>
                </a:lnTo>
                <a:lnTo>
                  <a:pt x="2075443" y="1014242"/>
                </a:lnTo>
                <a:lnTo>
                  <a:pt x="2046633" y="1051533"/>
                </a:lnTo>
                <a:lnTo>
                  <a:pt x="2009342" y="1080343"/>
                </a:lnTo>
                <a:lnTo>
                  <a:pt x="1965328" y="1098918"/>
                </a:lnTo>
                <a:lnTo>
                  <a:pt x="1916346" y="1105499"/>
                </a:lnTo>
                <a:close/>
              </a:path>
            </a:pathLst>
          </a:custGeom>
          <a:solidFill>
            <a:srgbClr val="EEEEEE"/>
          </a:solidFill>
        </p:spPr>
        <p:txBody>
          <a:bodyPr wrap="square" lIns="0" tIns="0" rIns="0" bIns="0" rtlCol="0"/>
          <a:lstStyle/>
          <a:p>
            <a:endParaRPr sz="2400"/>
          </a:p>
        </p:txBody>
      </p:sp>
      <p:sp>
        <p:nvSpPr>
          <p:cNvPr id="4" name="object 4"/>
          <p:cNvSpPr/>
          <p:nvPr/>
        </p:nvSpPr>
        <p:spPr>
          <a:xfrm>
            <a:off x="769633" y="2653367"/>
            <a:ext cx="2801620" cy="1474047"/>
          </a:xfrm>
          <a:custGeom>
            <a:avLst/>
            <a:gdLst/>
            <a:ahLst/>
            <a:cxnLst/>
            <a:rect l="l" t="t" r="r" b="b"/>
            <a:pathLst>
              <a:path w="2101215" h="1105535">
                <a:moveTo>
                  <a:pt x="0" y="184253"/>
                </a:moveTo>
                <a:lnTo>
                  <a:pt x="6581" y="135271"/>
                </a:lnTo>
                <a:lnTo>
                  <a:pt x="25156" y="91257"/>
                </a:lnTo>
                <a:lnTo>
                  <a:pt x="53966" y="53966"/>
                </a:lnTo>
                <a:lnTo>
                  <a:pt x="91257" y="25156"/>
                </a:lnTo>
                <a:lnTo>
                  <a:pt x="135271" y="6581"/>
                </a:lnTo>
                <a:lnTo>
                  <a:pt x="184253" y="0"/>
                </a:lnTo>
                <a:lnTo>
                  <a:pt x="1916346" y="0"/>
                </a:lnTo>
                <a:lnTo>
                  <a:pt x="1986857" y="14025"/>
                </a:lnTo>
                <a:lnTo>
                  <a:pt x="2046633" y="53966"/>
                </a:lnTo>
                <a:lnTo>
                  <a:pt x="2086574" y="113742"/>
                </a:lnTo>
                <a:lnTo>
                  <a:pt x="2100599" y="184253"/>
                </a:lnTo>
                <a:lnTo>
                  <a:pt x="2100599" y="921246"/>
                </a:lnTo>
                <a:lnTo>
                  <a:pt x="2094018" y="970228"/>
                </a:lnTo>
                <a:lnTo>
                  <a:pt x="2075443" y="1014242"/>
                </a:lnTo>
                <a:lnTo>
                  <a:pt x="2046633" y="1051533"/>
                </a:lnTo>
                <a:lnTo>
                  <a:pt x="2009342" y="1080343"/>
                </a:lnTo>
                <a:lnTo>
                  <a:pt x="1965328" y="1098918"/>
                </a:lnTo>
                <a:lnTo>
                  <a:pt x="1916346" y="1105499"/>
                </a:lnTo>
                <a:lnTo>
                  <a:pt x="184253" y="1105499"/>
                </a:lnTo>
                <a:lnTo>
                  <a:pt x="135271" y="1098918"/>
                </a:lnTo>
                <a:lnTo>
                  <a:pt x="91257" y="1080343"/>
                </a:lnTo>
                <a:lnTo>
                  <a:pt x="53966" y="1051533"/>
                </a:lnTo>
                <a:lnTo>
                  <a:pt x="25156"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5" name="object 5"/>
          <p:cNvSpPr txBox="1"/>
          <p:nvPr/>
        </p:nvSpPr>
        <p:spPr>
          <a:xfrm>
            <a:off x="938955" y="2813206"/>
            <a:ext cx="1231053"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bomb_guy</a:t>
            </a:r>
            <a:endParaRPr sz="1867">
              <a:latin typeface="Arial"/>
              <a:cs typeface="Arial"/>
            </a:endParaRPr>
          </a:p>
        </p:txBody>
      </p:sp>
      <p:sp>
        <p:nvSpPr>
          <p:cNvPr id="6" name="object 6"/>
          <p:cNvSpPr txBox="1"/>
          <p:nvPr/>
        </p:nvSpPr>
        <p:spPr>
          <a:xfrm>
            <a:off x="938955" y="3372006"/>
            <a:ext cx="2129367" cy="595035"/>
          </a:xfrm>
          <a:prstGeom prst="rect">
            <a:avLst/>
          </a:prstGeom>
        </p:spPr>
        <p:txBody>
          <a:bodyPr vert="horz" wrap="square" lIns="0" tIns="30480" rIns="0" bIns="0" rtlCol="0">
            <a:spAutoFit/>
          </a:bodyPr>
          <a:lstStyle/>
          <a:p>
            <a:pPr marL="16933" marR="6773">
              <a:lnSpc>
                <a:spcPts val="2200"/>
              </a:lnSpc>
              <a:spcBef>
                <a:spcPts val="240"/>
              </a:spcBef>
            </a:pPr>
            <a:r>
              <a:rPr sz="1867" spc="-7" dirty="0">
                <a:latin typeface="Arial"/>
                <a:cs typeface="Arial"/>
              </a:rPr>
              <a:t>hide_or_show  damage_all_around</a:t>
            </a:r>
            <a:endParaRPr sz="1867">
              <a:latin typeface="Arial"/>
              <a:cs typeface="Arial"/>
            </a:endParaRPr>
          </a:p>
        </p:txBody>
      </p:sp>
      <p:sp>
        <p:nvSpPr>
          <p:cNvPr id="7" name="object 7"/>
          <p:cNvSpPr/>
          <p:nvPr/>
        </p:nvSpPr>
        <p:spPr>
          <a:xfrm>
            <a:off x="9286666" y="3367083"/>
            <a:ext cx="2591647" cy="1474047"/>
          </a:xfrm>
          <a:custGeom>
            <a:avLst/>
            <a:gdLst/>
            <a:ahLst/>
            <a:cxnLst/>
            <a:rect l="l" t="t" r="r" b="b"/>
            <a:pathLst>
              <a:path w="1943734" h="1105535">
                <a:moveTo>
                  <a:pt x="1759145" y="1105499"/>
                </a:moveTo>
                <a:lnTo>
                  <a:pt x="184253" y="1105499"/>
                </a:lnTo>
                <a:lnTo>
                  <a:pt x="135271" y="1098918"/>
                </a:lnTo>
                <a:lnTo>
                  <a:pt x="91257" y="1080343"/>
                </a:lnTo>
                <a:lnTo>
                  <a:pt x="53966" y="1051533"/>
                </a:lnTo>
                <a:lnTo>
                  <a:pt x="25155" y="1014242"/>
                </a:lnTo>
                <a:lnTo>
                  <a:pt x="6581" y="970228"/>
                </a:lnTo>
                <a:lnTo>
                  <a:pt x="0" y="921246"/>
                </a:lnTo>
                <a:lnTo>
                  <a:pt x="0" y="184253"/>
                </a:lnTo>
                <a:lnTo>
                  <a:pt x="6581" y="135271"/>
                </a:lnTo>
                <a:lnTo>
                  <a:pt x="25155" y="91257"/>
                </a:lnTo>
                <a:lnTo>
                  <a:pt x="53966" y="53966"/>
                </a:lnTo>
                <a:lnTo>
                  <a:pt x="91257" y="25156"/>
                </a:lnTo>
                <a:lnTo>
                  <a:pt x="135271" y="6581"/>
                </a:lnTo>
                <a:lnTo>
                  <a:pt x="184253" y="0"/>
                </a:lnTo>
                <a:lnTo>
                  <a:pt x="1759145"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5" y="1105499"/>
                </a:lnTo>
                <a:close/>
              </a:path>
            </a:pathLst>
          </a:custGeom>
          <a:solidFill>
            <a:srgbClr val="EEEEEE"/>
          </a:solidFill>
        </p:spPr>
        <p:txBody>
          <a:bodyPr wrap="square" lIns="0" tIns="0" rIns="0" bIns="0" rtlCol="0"/>
          <a:lstStyle/>
          <a:p>
            <a:endParaRPr sz="2400"/>
          </a:p>
        </p:txBody>
      </p:sp>
      <p:sp>
        <p:nvSpPr>
          <p:cNvPr id="8" name="object 8"/>
          <p:cNvSpPr/>
          <p:nvPr/>
        </p:nvSpPr>
        <p:spPr>
          <a:xfrm>
            <a:off x="9286666" y="3367083"/>
            <a:ext cx="2591647" cy="1474047"/>
          </a:xfrm>
          <a:custGeom>
            <a:avLst/>
            <a:gdLst/>
            <a:ahLst/>
            <a:cxnLst/>
            <a:rect l="l" t="t" r="r" b="b"/>
            <a:pathLst>
              <a:path w="1943734" h="1105535">
                <a:moveTo>
                  <a:pt x="0" y="184253"/>
                </a:moveTo>
                <a:lnTo>
                  <a:pt x="6581" y="135271"/>
                </a:lnTo>
                <a:lnTo>
                  <a:pt x="25155" y="91257"/>
                </a:lnTo>
                <a:lnTo>
                  <a:pt x="53966" y="53966"/>
                </a:lnTo>
                <a:lnTo>
                  <a:pt x="91257" y="25156"/>
                </a:lnTo>
                <a:lnTo>
                  <a:pt x="135271" y="6581"/>
                </a:lnTo>
                <a:lnTo>
                  <a:pt x="184253" y="0"/>
                </a:lnTo>
                <a:lnTo>
                  <a:pt x="1759145"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5" y="1105499"/>
                </a:lnTo>
                <a:lnTo>
                  <a:pt x="184253" y="1105499"/>
                </a:lnTo>
                <a:lnTo>
                  <a:pt x="135271" y="1098918"/>
                </a:lnTo>
                <a:lnTo>
                  <a:pt x="91257" y="1080343"/>
                </a:lnTo>
                <a:lnTo>
                  <a:pt x="53966" y="1051533"/>
                </a:lnTo>
                <a:lnTo>
                  <a:pt x="25155"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9" name="object 9"/>
          <p:cNvSpPr txBox="1"/>
          <p:nvPr/>
        </p:nvSpPr>
        <p:spPr>
          <a:xfrm>
            <a:off x="9455989" y="3526922"/>
            <a:ext cx="1363980"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shooty_guy</a:t>
            </a:r>
            <a:endParaRPr sz="1867">
              <a:latin typeface="Arial"/>
              <a:cs typeface="Arial"/>
            </a:endParaRPr>
          </a:p>
        </p:txBody>
      </p:sp>
      <p:sp>
        <p:nvSpPr>
          <p:cNvPr id="10" name="object 10"/>
          <p:cNvSpPr txBox="1"/>
          <p:nvPr/>
        </p:nvSpPr>
        <p:spPr>
          <a:xfrm>
            <a:off x="9455989" y="4085722"/>
            <a:ext cx="1313180" cy="595035"/>
          </a:xfrm>
          <a:prstGeom prst="rect">
            <a:avLst/>
          </a:prstGeom>
        </p:spPr>
        <p:txBody>
          <a:bodyPr vert="horz" wrap="square" lIns="0" tIns="30480" rIns="0" bIns="0" rtlCol="0">
            <a:spAutoFit/>
          </a:bodyPr>
          <a:lstStyle/>
          <a:p>
            <a:pPr marL="16933" marR="6773">
              <a:lnSpc>
                <a:spcPts val="2200"/>
              </a:lnSpc>
              <a:spcBef>
                <a:spcPts val="240"/>
              </a:spcBef>
            </a:pPr>
            <a:r>
              <a:rPr sz="1867" spc="-7" dirty="0">
                <a:latin typeface="Arial"/>
                <a:cs typeface="Arial"/>
              </a:rPr>
              <a:t>patrol_ai  </a:t>
            </a:r>
            <a:r>
              <a:rPr sz="1867" dirty="0">
                <a:latin typeface="Arial"/>
                <a:cs typeface="Arial"/>
              </a:rPr>
              <a:t>shoot_bullet</a:t>
            </a:r>
            <a:endParaRPr sz="1867">
              <a:latin typeface="Arial"/>
              <a:cs typeface="Arial"/>
            </a:endParaRPr>
          </a:p>
        </p:txBody>
      </p:sp>
      <p:sp>
        <p:nvSpPr>
          <p:cNvPr id="11" name="object 11"/>
          <p:cNvSpPr/>
          <p:nvPr/>
        </p:nvSpPr>
        <p:spPr>
          <a:xfrm>
            <a:off x="6432550" y="4478550"/>
            <a:ext cx="2591647" cy="1474047"/>
          </a:xfrm>
          <a:custGeom>
            <a:avLst/>
            <a:gdLst/>
            <a:ahLst/>
            <a:cxnLst/>
            <a:rect l="l" t="t" r="r" b="b"/>
            <a:pathLst>
              <a:path w="1943734" h="1105535">
                <a:moveTo>
                  <a:pt x="1759145" y="1105499"/>
                </a:moveTo>
                <a:lnTo>
                  <a:pt x="184253" y="1105499"/>
                </a:lnTo>
                <a:lnTo>
                  <a:pt x="135271" y="1098918"/>
                </a:lnTo>
                <a:lnTo>
                  <a:pt x="91257" y="1080343"/>
                </a:lnTo>
                <a:lnTo>
                  <a:pt x="53966" y="1051533"/>
                </a:lnTo>
                <a:lnTo>
                  <a:pt x="25156" y="1014242"/>
                </a:lnTo>
                <a:lnTo>
                  <a:pt x="6581" y="970228"/>
                </a:lnTo>
                <a:lnTo>
                  <a:pt x="0" y="921246"/>
                </a:lnTo>
                <a:lnTo>
                  <a:pt x="0" y="184253"/>
                </a:lnTo>
                <a:lnTo>
                  <a:pt x="6581" y="135271"/>
                </a:lnTo>
                <a:lnTo>
                  <a:pt x="25156" y="91257"/>
                </a:lnTo>
                <a:lnTo>
                  <a:pt x="53966" y="53966"/>
                </a:lnTo>
                <a:lnTo>
                  <a:pt x="91257" y="25156"/>
                </a:lnTo>
                <a:lnTo>
                  <a:pt x="135271" y="6581"/>
                </a:lnTo>
                <a:lnTo>
                  <a:pt x="184253" y="0"/>
                </a:lnTo>
                <a:lnTo>
                  <a:pt x="1759145"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5" y="1105499"/>
                </a:lnTo>
                <a:close/>
              </a:path>
            </a:pathLst>
          </a:custGeom>
          <a:solidFill>
            <a:srgbClr val="EEEEEE"/>
          </a:solidFill>
        </p:spPr>
        <p:txBody>
          <a:bodyPr wrap="square" lIns="0" tIns="0" rIns="0" bIns="0" rtlCol="0"/>
          <a:lstStyle/>
          <a:p>
            <a:endParaRPr sz="2400"/>
          </a:p>
        </p:txBody>
      </p:sp>
      <p:sp>
        <p:nvSpPr>
          <p:cNvPr id="12" name="object 12"/>
          <p:cNvSpPr/>
          <p:nvPr/>
        </p:nvSpPr>
        <p:spPr>
          <a:xfrm>
            <a:off x="6432550" y="4478550"/>
            <a:ext cx="2591647" cy="1474047"/>
          </a:xfrm>
          <a:custGeom>
            <a:avLst/>
            <a:gdLst/>
            <a:ahLst/>
            <a:cxnLst/>
            <a:rect l="l" t="t" r="r" b="b"/>
            <a:pathLst>
              <a:path w="1943734" h="1105535">
                <a:moveTo>
                  <a:pt x="0" y="184253"/>
                </a:moveTo>
                <a:lnTo>
                  <a:pt x="6581" y="135271"/>
                </a:lnTo>
                <a:lnTo>
                  <a:pt x="25156" y="91257"/>
                </a:lnTo>
                <a:lnTo>
                  <a:pt x="53966" y="53966"/>
                </a:lnTo>
                <a:lnTo>
                  <a:pt x="91257" y="25156"/>
                </a:lnTo>
                <a:lnTo>
                  <a:pt x="135271" y="6581"/>
                </a:lnTo>
                <a:lnTo>
                  <a:pt x="184253" y="0"/>
                </a:lnTo>
                <a:lnTo>
                  <a:pt x="1759145"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5" y="1105499"/>
                </a:lnTo>
                <a:lnTo>
                  <a:pt x="184253" y="1105499"/>
                </a:lnTo>
                <a:lnTo>
                  <a:pt x="135271" y="1098918"/>
                </a:lnTo>
                <a:lnTo>
                  <a:pt x="91257" y="1080343"/>
                </a:lnTo>
                <a:lnTo>
                  <a:pt x="53966" y="1051533"/>
                </a:lnTo>
                <a:lnTo>
                  <a:pt x="25156"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13" name="object 13"/>
          <p:cNvSpPr/>
          <p:nvPr/>
        </p:nvSpPr>
        <p:spPr>
          <a:xfrm>
            <a:off x="7842599" y="1803899"/>
            <a:ext cx="2591647" cy="1176020"/>
          </a:xfrm>
          <a:custGeom>
            <a:avLst/>
            <a:gdLst/>
            <a:ahLst/>
            <a:cxnLst/>
            <a:rect l="l" t="t" r="r" b="b"/>
            <a:pathLst>
              <a:path w="1943734" h="882014">
                <a:moveTo>
                  <a:pt x="1796446" y="881699"/>
                </a:moveTo>
                <a:lnTo>
                  <a:pt x="146952" y="881699"/>
                </a:lnTo>
                <a:lnTo>
                  <a:pt x="100504" y="874208"/>
                </a:lnTo>
                <a:lnTo>
                  <a:pt x="60164" y="853346"/>
                </a:lnTo>
                <a:lnTo>
                  <a:pt x="28353" y="821535"/>
                </a:lnTo>
                <a:lnTo>
                  <a:pt x="7491" y="781195"/>
                </a:lnTo>
                <a:lnTo>
                  <a:pt x="0" y="734746"/>
                </a:lnTo>
                <a:lnTo>
                  <a:pt x="0" y="146952"/>
                </a:ln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close/>
              </a:path>
            </a:pathLst>
          </a:custGeom>
          <a:solidFill>
            <a:srgbClr val="EEEEEE"/>
          </a:solidFill>
        </p:spPr>
        <p:txBody>
          <a:bodyPr wrap="square" lIns="0" tIns="0" rIns="0" bIns="0" rtlCol="0"/>
          <a:lstStyle/>
          <a:p>
            <a:endParaRPr sz="2400"/>
          </a:p>
        </p:txBody>
      </p:sp>
      <p:sp>
        <p:nvSpPr>
          <p:cNvPr id="14" name="object 14"/>
          <p:cNvSpPr/>
          <p:nvPr/>
        </p:nvSpPr>
        <p:spPr>
          <a:xfrm>
            <a:off x="7842599" y="1803899"/>
            <a:ext cx="2591647" cy="1176020"/>
          </a:xfrm>
          <a:custGeom>
            <a:avLst/>
            <a:gdLst/>
            <a:ahLst/>
            <a:cxnLst/>
            <a:rect l="l" t="t" r="r" b="b"/>
            <a:pathLst>
              <a:path w="1943734" h="882014">
                <a:moveTo>
                  <a:pt x="0" y="146952"/>
                </a:move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lnTo>
                  <a:pt x="146952" y="881699"/>
                </a:lnTo>
                <a:lnTo>
                  <a:pt x="100504" y="874208"/>
                </a:lnTo>
                <a:lnTo>
                  <a:pt x="60164" y="853346"/>
                </a:lnTo>
                <a:lnTo>
                  <a:pt x="28353" y="821535"/>
                </a:lnTo>
                <a:lnTo>
                  <a:pt x="7491" y="781195"/>
                </a:lnTo>
                <a:lnTo>
                  <a:pt x="0" y="734746"/>
                </a:lnTo>
                <a:lnTo>
                  <a:pt x="0" y="146952"/>
                </a:lnTo>
                <a:close/>
              </a:path>
            </a:pathLst>
          </a:custGeom>
          <a:ln w="9524">
            <a:solidFill>
              <a:srgbClr val="595959"/>
            </a:solidFill>
          </a:ln>
        </p:spPr>
        <p:txBody>
          <a:bodyPr wrap="square" lIns="0" tIns="0" rIns="0" bIns="0" rtlCol="0"/>
          <a:lstStyle/>
          <a:p>
            <a:endParaRPr sz="2400"/>
          </a:p>
        </p:txBody>
      </p:sp>
      <p:sp>
        <p:nvSpPr>
          <p:cNvPr id="15" name="object 15"/>
          <p:cNvSpPr/>
          <p:nvPr/>
        </p:nvSpPr>
        <p:spPr>
          <a:xfrm>
            <a:off x="5220032" y="1482783"/>
            <a:ext cx="949960" cy="545253"/>
          </a:xfrm>
          <a:custGeom>
            <a:avLst/>
            <a:gdLst/>
            <a:ahLst/>
            <a:cxnLst/>
            <a:rect l="l" t="t" r="r" b="b"/>
            <a:pathLst>
              <a:path w="712470" h="408940">
                <a:moveTo>
                  <a:pt x="6440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close/>
              </a:path>
            </a:pathLst>
          </a:custGeom>
          <a:solidFill>
            <a:srgbClr val="EEEEEE"/>
          </a:solidFill>
        </p:spPr>
        <p:txBody>
          <a:bodyPr wrap="square" lIns="0" tIns="0" rIns="0" bIns="0" rtlCol="0"/>
          <a:lstStyle/>
          <a:p>
            <a:endParaRPr sz="2400"/>
          </a:p>
        </p:txBody>
      </p:sp>
      <p:sp>
        <p:nvSpPr>
          <p:cNvPr id="16" name="object 16"/>
          <p:cNvSpPr/>
          <p:nvPr/>
        </p:nvSpPr>
        <p:spPr>
          <a:xfrm>
            <a:off x="5220032" y="1482783"/>
            <a:ext cx="949960" cy="545253"/>
          </a:xfrm>
          <a:custGeom>
            <a:avLst/>
            <a:gdLst/>
            <a:ahLst/>
            <a:cxnLst/>
            <a:rect l="l" t="t" r="r" b="b"/>
            <a:pathLst>
              <a:path w="712470" h="408940">
                <a:moveTo>
                  <a:pt x="0" y="68101"/>
                </a:move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17" name="object 17"/>
          <p:cNvSpPr txBox="1"/>
          <p:nvPr/>
        </p:nvSpPr>
        <p:spPr>
          <a:xfrm>
            <a:off x="5343996" y="1529833"/>
            <a:ext cx="4544905" cy="1298048"/>
          </a:xfrm>
          <a:prstGeom prst="rect">
            <a:avLst/>
          </a:prstGeom>
        </p:spPr>
        <p:txBody>
          <a:bodyPr vert="horz" wrap="square" lIns="0" tIns="83820" rIns="0" bIns="0" rtlCol="0">
            <a:spAutoFit/>
          </a:bodyPr>
          <a:lstStyle/>
          <a:p>
            <a:pPr marL="16933">
              <a:spcBef>
                <a:spcPts val="660"/>
              </a:spcBef>
            </a:pPr>
            <a:r>
              <a:rPr sz="1867" b="1" spc="-7" dirty="0">
                <a:latin typeface="Arial"/>
                <a:cs typeface="Arial"/>
              </a:rPr>
              <a:t>entity</a:t>
            </a:r>
            <a:endParaRPr sz="1867">
              <a:latin typeface="Arial"/>
              <a:cs typeface="Arial"/>
            </a:endParaRPr>
          </a:p>
          <a:p>
            <a:pPr marL="2669473">
              <a:spcBef>
                <a:spcPts val="533"/>
              </a:spcBef>
            </a:pPr>
            <a:r>
              <a:rPr sz="1867" b="1" spc="-7" dirty="0">
                <a:latin typeface="Arial"/>
                <a:cs typeface="Arial"/>
              </a:rPr>
              <a:t>moveable_entity</a:t>
            </a:r>
            <a:endParaRPr sz="1867">
              <a:latin typeface="Arial"/>
              <a:cs typeface="Arial"/>
            </a:endParaRPr>
          </a:p>
          <a:p>
            <a:pPr>
              <a:spcBef>
                <a:spcPts val="13"/>
              </a:spcBef>
            </a:pPr>
            <a:endParaRPr sz="1867">
              <a:latin typeface="Times New Roman"/>
              <a:cs typeface="Times New Roman"/>
            </a:endParaRPr>
          </a:p>
          <a:p>
            <a:pPr marL="2669473"/>
            <a:r>
              <a:rPr sz="1867" dirty="0">
                <a:latin typeface="Arial"/>
                <a:cs typeface="Arial"/>
              </a:rPr>
              <a:t>move</a:t>
            </a:r>
            <a:endParaRPr sz="1867">
              <a:latin typeface="Arial"/>
              <a:cs typeface="Arial"/>
            </a:endParaRPr>
          </a:p>
        </p:txBody>
      </p:sp>
      <p:sp>
        <p:nvSpPr>
          <p:cNvPr id="18" name="object 18"/>
          <p:cNvSpPr/>
          <p:nvPr/>
        </p:nvSpPr>
        <p:spPr>
          <a:xfrm>
            <a:off x="2245061" y="2027583"/>
            <a:ext cx="3450167" cy="612987"/>
          </a:xfrm>
          <a:custGeom>
            <a:avLst/>
            <a:gdLst/>
            <a:ahLst/>
            <a:cxnLst/>
            <a:rect l="l" t="t" r="r" b="b"/>
            <a:pathLst>
              <a:path w="2587625" h="459739">
                <a:moveTo>
                  <a:pt x="2587329" y="0"/>
                </a:moveTo>
                <a:lnTo>
                  <a:pt x="0" y="459212"/>
                </a:lnTo>
              </a:path>
            </a:pathLst>
          </a:custGeom>
          <a:ln w="9524">
            <a:solidFill>
              <a:srgbClr val="595959"/>
            </a:solidFill>
          </a:ln>
        </p:spPr>
        <p:txBody>
          <a:bodyPr wrap="square" lIns="0" tIns="0" rIns="0" bIns="0" rtlCol="0"/>
          <a:lstStyle/>
          <a:p>
            <a:endParaRPr sz="2400"/>
          </a:p>
        </p:txBody>
      </p:sp>
      <p:sp>
        <p:nvSpPr>
          <p:cNvPr id="19" name="object 19"/>
          <p:cNvSpPr/>
          <p:nvPr/>
        </p:nvSpPr>
        <p:spPr>
          <a:xfrm>
            <a:off x="2188313" y="2619213"/>
            <a:ext cx="60960" cy="41487"/>
          </a:xfrm>
          <a:custGeom>
            <a:avLst/>
            <a:gdLst/>
            <a:ahLst/>
            <a:cxnLst/>
            <a:rect l="l" t="t" r="r" b="b"/>
            <a:pathLst>
              <a:path w="45719" h="31114">
                <a:moveTo>
                  <a:pt x="45309" y="30981"/>
                </a:moveTo>
                <a:lnTo>
                  <a:pt x="0" y="23044"/>
                </a:lnTo>
                <a:lnTo>
                  <a:pt x="39810" y="0"/>
                </a:lnTo>
                <a:lnTo>
                  <a:pt x="45309" y="30981"/>
                </a:lnTo>
                <a:close/>
              </a:path>
            </a:pathLst>
          </a:custGeom>
          <a:solidFill>
            <a:srgbClr val="595959"/>
          </a:solidFill>
        </p:spPr>
        <p:txBody>
          <a:bodyPr wrap="square" lIns="0" tIns="0" rIns="0" bIns="0" rtlCol="0"/>
          <a:lstStyle/>
          <a:p>
            <a:endParaRPr sz="2400"/>
          </a:p>
        </p:txBody>
      </p:sp>
      <p:sp>
        <p:nvSpPr>
          <p:cNvPr id="20" name="object 20"/>
          <p:cNvSpPr/>
          <p:nvPr/>
        </p:nvSpPr>
        <p:spPr>
          <a:xfrm>
            <a:off x="2188313" y="2619213"/>
            <a:ext cx="60960" cy="41487"/>
          </a:xfrm>
          <a:custGeom>
            <a:avLst/>
            <a:gdLst/>
            <a:ahLst/>
            <a:cxnLst/>
            <a:rect l="l" t="t" r="r" b="b"/>
            <a:pathLst>
              <a:path w="45719" h="31114">
                <a:moveTo>
                  <a:pt x="39810" y="0"/>
                </a:moveTo>
                <a:lnTo>
                  <a:pt x="0" y="23044"/>
                </a:lnTo>
                <a:lnTo>
                  <a:pt x="45309" y="30981"/>
                </a:lnTo>
                <a:lnTo>
                  <a:pt x="39810" y="0"/>
                </a:lnTo>
                <a:close/>
              </a:path>
            </a:pathLst>
          </a:custGeom>
          <a:ln w="9524">
            <a:solidFill>
              <a:srgbClr val="595959"/>
            </a:solidFill>
          </a:ln>
        </p:spPr>
        <p:txBody>
          <a:bodyPr wrap="square" lIns="0" tIns="0" rIns="0" bIns="0" rtlCol="0"/>
          <a:lstStyle/>
          <a:p>
            <a:endParaRPr sz="2400"/>
          </a:p>
        </p:txBody>
      </p:sp>
      <p:sp>
        <p:nvSpPr>
          <p:cNvPr id="21" name="object 21"/>
          <p:cNvSpPr/>
          <p:nvPr/>
        </p:nvSpPr>
        <p:spPr>
          <a:xfrm>
            <a:off x="9138200" y="2979501"/>
            <a:ext cx="1370753" cy="368300"/>
          </a:xfrm>
          <a:custGeom>
            <a:avLst/>
            <a:gdLst/>
            <a:ahLst/>
            <a:cxnLst/>
            <a:rect l="l" t="t" r="r" b="b"/>
            <a:pathLst>
              <a:path w="1028065" h="276225">
                <a:moveTo>
                  <a:pt x="0" y="0"/>
                </a:moveTo>
                <a:lnTo>
                  <a:pt x="1027803" y="275884"/>
                </a:lnTo>
              </a:path>
            </a:pathLst>
          </a:custGeom>
          <a:ln w="9524">
            <a:solidFill>
              <a:srgbClr val="595959"/>
            </a:solidFill>
          </a:ln>
        </p:spPr>
        <p:txBody>
          <a:bodyPr wrap="square" lIns="0" tIns="0" rIns="0" bIns="0" rtlCol="0"/>
          <a:lstStyle/>
          <a:p>
            <a:endParaRPr sz="2400"/>
          </a:p>
        </p:txBody>
      </p:sp>
      <p:sp>
        <p:nvSpPr>
          <p:cNvPr id="22" name="object 22"/>
          <p:cNvSpPr/>
          <p:nvPr/>
        </p:nvSpPr>
        <p:spPr>
          <a:xfrm>
            <a:off x="10503166" y="3327085"/>
            <a:ext cx="61807" cy="40640"/>
          </a:xfrm>
          <a:custGeom>
            <a:avLst/>
            <a:gdLst/>
            <a:ahLst/>
            <a:cxnLst/>
            <a:rect l="l" t="t" r="r" b="b"/>
            <a:pathLst>
              <a:path w="46354" h="30480">
                <a:moveTo>
                  <a:pt x="0" y="30389"/>
                </a:moveTo>
                <a:lnTo>
                  <a:pt x="8157" y="0"/>
                </a:lnTo>
                <a:lnTo>
                  <a:pt x="45826" y="26400"/>
                </a:lnTo>
                <a:lnTo>
                  <a:pt x="0" y="30389"/>
                </a:lnTo>
                <a:close/>
              </a:path>
            </a:pathLst>
          </a:custGeom>
          <a:solidFill>
            <a:srgbClr val="595959"/>
          </a:solidFill>
        </p:spPr>
        <p:txBody>
          <a:bodyPr wrap="square" lIns="0" tIns="0" rIns="0" bIns="0" rtlCol="0"/>
          <a:lstStyle/>
          <a:p>
            <a:endParaRPr sz="2400"/>
          </a:p>
        </p:txBody>
      </p:sp>
      <p:sp>
        <p:nvSpPr>
          <p:cNvPr id="23" name="object 23"/>
          <p:cNvSpPr/>
          <p:nvPr/>
        </p:nvSpPr>
        <p:spPr>
          <a:xfrm>
            <a:off x="10503166" y="3327085"/>
            <a:ext cx="61807" cy="40640"/>
          </a:xfrm>
          <a:custGeom>
            <a:avLst/>
            <a:gdLst/>
            <a:ahLst/>
            <a:cxnLst/>
            <a:rect l="l" t="t" r="r" b="b"/>
            <a:pathLst>
              <a:path w="46354" h="30480">
                <a:moveTo>
                  <a:pt x="0" y="30389"/>
                </a:moveTo>
                <a:lnTo>
                  <a:pt x="45826" y="26400"/>
                </a:lnTo>
                <a:lnTo>
                  <a:pt x="8157" y="0"/>
                </a:lnTo>
                <a:lnTo>
                  <a:pt x="0" y="30389"/>
                </a:lnTo>
                <a:close/>
              </a:path>
            </a:pathLst>
          </a:custGeom>
          <a:ln w="9524">
            <a:solidFill>
              <a:srgbClr val="595959"/>
            </a:solidFill>
          </a:ln>
        </p:spPr>
        <p:txBody>
          <a:bodyPr wrap="square" lIns="0" tIns="0" rIns="0" bIns="0" rtlCol="0"/>
          <a:lstStyle/>
          <a:p>
            <a:endParaRPr sz="2400"/>
          </a:p>
        </p:txBody>
      </p:sp>
      <p:sp>
        <p:nvSpPr>
          <p:cNvPr id="24" name="object 24"/>
          <p:cNvSpPr/>
          <p:nvPr/>
        </p:nvSpPr>
        <p:spPr>
          <a:xfrm>
            <a:off x="7780404" y="2979500"/>
            <a:ext cx="1358053" cy="1444413"/>
          </a:xfrm>
          <a:custGeom>
            <a:avLst/>
            <a:gdLst/>
            <a:ahLst/>
            <a:cxnLst/>
            <a:rect l="l" t="t" r="r" b="b"/>
            <a:pathLst>
              <a:path w="1018540" h="1083310">
                <a:moveTo>
                  <a:pt x="1018346" y="0"/>
                </a:moveTo>
                <a:lnTo>
                  <a:pt x="0" y="1082769"/>
                </a:lnTo>
              </a:path>
            </a:pathLst>
          </a:custGeom>
          <a:ln w="9524">
            <a:solidFill>
              <a:srgbClr val="595959"/>
            </a:solidFill>
          </a:ln>
        </p:spPr>
        <p:txBody>
          <a:bodyPr wrap="square" lIns="0" tIns="0" rIns="0" bIns="0" rtlCol="0"/>
          <a:lstStyle/>
          <a:p>
            <a:endParaRPr sz="2400"/>
          </a:p>
        </p:txBody>
      </p:sp>
      <p:sp>
        <p:nvSpPr>
          <p:cNvPr id="25" name="object 25"/>
          <p:cNvSpPr/>
          <p:nvPr/>
        </p:nvSpPr>
        <p:spPr>
          <a:xfrm>
            <a:off x="7740920" y="4408821"/>
            <a:ext cx="55033" cy="56727"/>
          </a:xfrm>
          <a:custGeom>
            <a:avLst/>
            <a:gdLst/>
            <a:ahLst/>
            <a:cxnLst/>
            <a:rect l="l" t="t" r="r" b="b"/>
            <a:pathLst>
              <a:path w="41275" h="42545">
                <a:moveTo>
                  <a:pt x="0" y="42266"/>
                </a:moveTo>
                <a:lnTo>
                  <a:pt x="18153" y="0"/>
                </a:lnTo>
                <a:lnTo>
                  <a:pt x="41073" y="21557"/>
                </a:lnTo>
                <a:lnTo>
                  <a:pt x="0" y="42266"/>
                </a:lnTo>
                <a:close/>
              </a:path>
            </a:pathLst>
          </a:custGeom>
          <a:solidFill>
            <a:srgbClr val="595959"/>
          </a:solidFill>
        </p:spPr>
        <p:txBody>
          <a:bodyPr wrap="square" lIns="0" tIns="0" rIns="0" bIns="0" rtlCol="0"/>
          <a:lstStyle/>
          <a:p>
            <a:endParaRPr sz="2400"/>
          </a:p>
        </p:txBody>
      </p:sp>
      <p:sp>
        <p:nvSpPr>
          <p:cNvPr id="26" name="object 26"/>
          <p:cNvSpPr/>
          <p:nvPr/>
        </p:nvSpPr>
        <p:spPr>
          <a:xfrm>
            <a:off x="7740920" y="4408821"/>
            <a:ext cx="55033" cy="56727"/>
          </a:xfrm>
          <a:custGeom>
            <a:avLst/>
            <a:gdLst/>
            <a:ahLst/>
            <a:cxnLst/>
            <a:rect l="l" t="t" r="r" b="b"/>
            <a:pathLst>
              <a:path w="41275" h="42545">
                <a:moveTo>
                  <a:pt x="18153" y="0"/>
                </a:moveTo>
                <a:lnTo>
                  <a:pt x="0" y="42266"/>
                </a:lnTo>
                <a:lnTo>
                  <a:pt x="41073" y="21557"/>
                </a:lnTo>
                <a:lnTo>
                  <a:pt x="18153" y="0"/>
                </a:lnTo>
                <a:close/>
              </a:path>
            </a:pathLst>
          </a:custGeom>
          <a:ln w="9524">
            <a:solidFill>
              <a:srgbClr val="595959"/>
            </a:solidFill>
          </a:ln>
        </p:spPr>
        <p:txBody>
          <a:bodyPr wrap="square" lIns="0" tIns="0" rIns="0" bIns="0" rtlCol="0"/>
          <a:lstStyle/>
          <a:p>
            <a:endParaRPr sz="2400"/>
          </a:p>
        </p:txBody>
      </p:sp>
      <p:sp>
        <p:nvSpPr>
          <p:cNvPr id="27" name="object 27"/>
          <p:cNvSpPr/>
          <p:nvPr/>
        </p:nvSpPr>
        <p:spPr>
          <a:xfrm>
            <a:off x="4079350" y="3215783"/>
            <a:ext cx="2591647" cy="1176020"/>
          </a:xfrm>
          <a:custGeom>
            <a:avLst/>
            <a:gdLst/>
            <a:ahLst/>
            <a:cxnLst/>
            <a:rect l="l" t="t" r="r" b="b"/>
            <a:pathLst>
              <a:path w="1943735" h="882014">
                <a:moveTo>
                  <a:pt x="1796446" y="881699"/>
                </a:moveTo>
                <a:lnTo>
                  <a:pt x="146952" y="881699"/>
                </a:lnTo>
                <a:lnTo>
                  <a:pt x="100504" y="874208"/>
                </a:lnTo>
                <a:lnTo>
                  <a:pt x="60164" y="853346"/>
                </a:lnTo>
                <a:lnTo>
                  <a:pt x="28353" y="821535"/>
                </a:lnTo>
                <a:lnTo>
                  <a:pt x="7491" y="781195"/>
                </a:lnTo>
                <a:lnTo>
                  <a:pt x="0" y="734746"/>
                </a:lnTo>
                <a:lnTo>
                  <a:pt x="0" y="146952"/>
                </a:ln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close/>
              </a:path>
            </a:pathLst>
          </a:custGeom>
          <a:solidFill>
            <a:srgbClr val="EEEEEE"/>
          </a:solidFill>
        </p:spPr>
        <p:txBody>
          <a:bodyPr wrap="square" lIns="0" tIns="0" rIns="0" bIns="0" rtlCol="0"/>
          <a:lstStyle/>
          <a:p>
            <a:endParaRPr sz="2400"/>
          </a:p>
        </p:txBody>
      </p:sp>
      <p:sp>
        <p:nvSpPr>
          <p:cNvPr id="28" name="object 28"/>
          <p:cNvSpPr/>
          <p:nvPr/>
        </p:nvSpPr>
        <p:spPr>
          <a:xfrm>
            <a:off x="4079350" y="3215783"/>
            <a:ext cx="2591647" cy="1176020"/>
          </a:xfrm>
          <a:custGeom>
            <a:avLst/>
            <a:gdLst/>
            <a:ahLst/>
            <a:cxnLst/>
            <a:rect l="l" t="t" r="r" b="b"/>
            <a:pathLst>
              <a:path w="1943735" h="882014">
                <a:moveTo>
                  <a:pt x="0" y="146952"/>
                </a:move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lnTo>
                  <a:pt x="146952" y="881699"/>
                </a:lnTo>
                <a:lnTo>
                  <a:pt x="100504" y="874208"/>
                </a:lnTo>
                <a:lnTo>
                  <a:pt x="60164" y="853346"/>
                </a:lnTo>
                <a:lnTo>
                  <a:pt x="28353" y="821535"/>
                </a:lnTo>
                <a:lnTo>
                  <a:pt x="7491" y="781195"/>
                </a:lnTo>
                <a:lnTo>
                  <a:pt x="0" y="734746"/>
                </a:lnTo>
                <a:lnTo>
                  <a:pt x="0" y="146952"/>
                </a:lnTo>
                <a:close/>
              </a:path>
            </a:pathLst>
          </a:custGeom>
          <a:ln w="9524">
            <a:solidFill>
              <a:srgbClr val="595959"/>
            </a:solidFill>
          </a:ln>
        </p:spPr>
        <p:txBody>
          <a:bodyPr wrap="square" lIns="0" tIns="0" rIns="0" bIns="0" rtlCol="0"/>
          <a:lstStyle/>
          <a:p>
            <a:endParaRPr sz="2400"/>
          </a:p>
        </p:txBody>
      </p:sp>
      <p:sp>
        <p:nvSpPr>
          <p:cNvPr id="29" name="object 29"/>
          <p:cNvSpPr txBox="1"/>
          <p:nvPr/>
        </p:nvSpPr>
        <p:spPr>
          <a:xfrm>
            <a:off x="4234105" y="3361055"/>
            <a:ext cx="665479"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bullet</a:t>
            </a:r>
            <a:endParaRPr sz="1867">
              <a:latin typeface="Arial"/>
              <a:cs typeface="Arial"/>
            </a:endParaRPr>
          </a:p>
        </p:txBody>
      </p:sp>
      <p:sp>
        <p:nvSpPr>
          <p:cNvPr id="30" name="object 30"/>
          <p:cNvSpPr txBox="1"/>
          <p:nvPr/>
        </p:nvSpPr>
        <p:spPr>
          <a:xfrm>
            <a:off x="4234105" y="3919855"/>
            <a:ext cx="1602740" cy="304421"/>
          </a:xfrm>
          <a:prstGeom prst="rect">
            <a:avLst/>
          </a:prstGeom>
        </p:spPr>
        <p:txBody>
          <a:bodyPr vert="horz" wrap="square" lIns="0" tIns="16933" rIns="0" bIns="0" rtlCol="0">
            <a:spAutoFit/>
          </a:bodyPr>
          <a:lstStyle/>
          <a:p>
            <a:pPr marL="16933">
              <a:spcBef>
                <a:spcPts val="133"/>
              </a:spcBef>
            </a:pPr>
            <a:r>
              <a:rPr sz="1867" spc="-7" dirty="0">
                <a:latin typeface="Arial"/>
                <a:cs typeface="Arial"/>
              </a:rPr>
              <a:t>damage_touch</a:t>
            </a:r>
            <a:endParaRPr sz="1867">
              <a:latin typeface="Arial"/>
              <a:cs typeface="Arial"/>
            </a:endParaRPr>
          </a:p>
        </p:txBody>
      </p:sp>
      <p:sp>
        <p:nvSpPr>
          <p:cNvPr id="31" name="object 31"/>
          <p:cNvSpPr/>
          <p:nvPr/>
        </p:nvSpPr>
        <p:spPr>
          <a:xfrm>
            <a:off x="5451050" y="2979500"/>
            <a:ext cx="3687233" cy="231987"/>
          </a:xfrm>
          <a:custGeom>
            <a:avLst/>
            <a:gdLst/>
            <a:ahLst/>
            <a:cxnLst/>
            <a:rect l="l" t="t" r="r" b="b"/>
            <a:pathLst>
              <a:path w="2765425" h="173989">
                <a:moveTo>
                  <a:pt x="2765362" y="0"/>
                </a:moveTo>
                <a:lnTo>
                  <a:pt x="0" y="173716"/>
                </a:lnTo>
              </a:path>
            </a:pathLst>
          </a:custGeom>
          <a:ln w="9524">
            <a:solidFill>
              <a:srgbClr val="595959"/>
            </a:solidFill>
          </a:ln>
        </p:spPr>
        <p:txBody>
          <a:bodyPr wrap="square" lIns="0" tIns="0" rIns="0" bIns="0" rtlCol="0"/>
          <a:lstStyle/>
          <a:p>
            <a:endParaRPr sz="2400"/>
          </a:p>
        </p:txBody>
      </p:sp>
      <p:sp>
        <p:nvSpPr>
          <p:cNvPr id="32" name="object 32"/>
          <p:cNvSpPr/>
          <p:nvPr/>
        </p:nvSpPr>
        <p:spPr>
          <a:xfrm>
            <a:off x="5393529" y="3190187"/>
            <a:ext cx="59267" cy="42333"/>
          </a:xfrm>
          <a:custGeom>
            <a:avLst/>
            <a:gdLst/>
            <a:ahLst/>
            <a:cxnLst/>
            <a:rect l="l" t="t" r="r" b="b"/>
            <a:pathLst>
              <a:path w="44450" h="31750">
                <a:moveTo>
                  <a:pt x="44126" y="31403"/>
                </a:moveTo>
                <a:lnTo>
                  <a:pt x="0" y="18411"/>
                </a:lnTo>
                <a:lnTo>
                  <a:pt x="42153" y="0"/>
                </a:lnTo>
                <a:lnTo>
                  <a:pt x="44126" y="31403"/>
                </a:lnTo>
                <a:close/>
              </a:path>
            </a:pathLst>
          </a:custGeom>
          <a:solidFill>
            <a:srgbClr val="595959"/>
          </a:solidFill>
        </p:spPr>
        <p:txBody>
          <a:bodyPr wrap="square" lIns="0" tIns="0" rIns="0" bIns="0" rtlCol="0"/>
          <a:lstStyle/>
          <a:p>
            <a:endParaRPr sz="2400"/>
          </a:p>
        </p:txBody>
      </p:sp>
      <p:sp>
        <p:nvSpPr>
          <p:cNvPr id="33" name="object 33"/>
          <p:cNvSpPr/>
          <p:nvPr/>
        </p:nvSpPr>
        <p:spPr>
          <a:xfrm>
            <a:off x="5393529" y="3190187"/>
            <a:ext cx="59267" cy="42333"/>
          </a:xfrm>
          <a:custGeom>
            <a:avLst/>
            <a:gdLst/>
            <a:ahLst/>
            <a:cxnLst/>
            <a:rect l="l" t="t" r="r" b="b"/>
            <a:pathLst>
              <a:path w="44450" h="31750">
                <a:moveTo>
                  <a:pt x="42153" y="0"/>
                </a:moveTo>
                <a:lnTo>
                  <a:pt x="0" y="18411"/>
                </a:lnTo>
                <a:lnTo>
                  <a:pt x="44126" y="31403"/>
                </a:lnTo>
                <a:lnTo>
                  <a:pt x="42153" y="0"/>
                </a:lnTo>
                <a:close/>
              </a:path>
            </a:pathLst>
          </a:custGeom>
          <a:ln w="9524">
            <a:solidFill>
              <a:srgbClr val="595959"/>
            </a:solidFill>
          </a:ln>
        </p:spPr>
        <p:txBody>
          <a:bodyPr wrap="square" lIns="0" tIns="0" rIns="0" bIns="0" rtlCol="0"/>
          <a:lstStyle/>
          <a:p>
            <a:endParaRPr sz="2400"/>
          </a:p>
        </p:txBody>
      </p:sp>
      <p:sp>
        <p:nvSpPr>
          <p:cNvPr id="34" name="object 34"/>
          <p:cNvSpPr/>
          <p:nvPr/>
        </p:nvSpPr>
        <p:spPr>
          <a:xfrm>
            <a:off x="3121966" y="5952566"/>
            <a:ext cx="2801620" cy="625687"/>
          </a:xfrm>
          <a:custGeom>
            <a:avLst/>
            <a:gdLst/>
            <a:ahLst/>
            <a:cxnLst/>
            <a:rect l="l" t="t" r="r" b="b"/>
            <a:pathLst>
              <a:path w="2101215" h="469264">
                <a:moveTo>
                  <a:pt x="2022398" y="469199"/>
                </a:moveTo>
                <a:lnTo>
                  <a:pt x="78201" y="469199"/>
                </a:lnTo>
                <a:lnTo>
                  <a:pt x="47761" y="463054"/>
                </a:lnTo>
                <a:lnTo>
                  <a:pt x="22904" y="446295"/>
                </a:lnTo>
                <a:lnTo>
                  <a:pt x="6145" y="421438"/>
                </a:lnTo>
                <a:lnTo>
                  <a:pt x="0" y="390998"/>
                </a:lnTo>
                <a:lnTo>
                  <a:pt x="0" y="78201"/>
                </a:lnTo>
                <a:lnTo>
                  <a:pt x="6145" y="47761"/>
                </a:lnTo>
                <a:lnTo>
                  <a:pt x="22904" y="22904"/>
                </a:lnTo>
                <a:lnTo>
                  <a:pt x="47761" y="6145"/>
                </a:lnTo>
                <a:lnTo>
                  <a:pt x="78201" y="0"/>
                </a:lnTo>
                <a:lnTo>
                  <a:pt x="2022398" y="0"/>
                </a:lnTo>
                <a:lnTo>
                  <a:pt x="2065784" y="13138"/>
                </a:lnTo>
                <a:lnTo>
                  <a:pt x="2094647" y="48275"/>
                </a:lnTo>
                <a:lnTo>
                  <a:pt x="2100599" y="78201"/>
                </a:lnTo>
                <a:lnTo>
                  <a:pt x="2100599" y="390998"/>
                </a:lnTo>
                <a:lnTo>
                  <a:pt x="2094454" y="421438"/>
                </a:lnTo>
                <a:lnTo>
                  <a:pt x="2077695" y="446295"/>
                </a:lnTo>
                <a:lnTo>
                  <a:pt x="2052838" y="463054"/>
                </a:lnTo>
                <a:lnTo>
                  <a:pt x="2022398" y="469199"/>
                </a:lnTo>
                <a:close/>
              </a:path>
            </a:pathLst>
          </a:custGeom>
          <a:solidFill>
            <a:srgbClr val="EEEEEE"/>
          </a:solidFill>
        </p:spPr>
        <p:txBody>
          <a:bodyPr wrap="square" lIns="0" tIns="0" rIns="0" bIns="0" rtlCol="0"/>
          <a:lstStyle/>
          <a:p>
            <a:endParaRPr sz="2400"/>
          </a:p>
        </p:txBody>
      </p:sp>
      <p:sp>
        <p:nvSpPr>
          <p:cNvPr id="35" name="object 35"/>
          <p:cNvSpPr/>
          <p:nvPr/>
        </p:nvSpPr>
        <p:spPr>
          <a:xfrm>
            <a:off x="3121966" y="5952567"/>
            <a:ext cx="2801620" cy="625687"/>
          </a:xfrm>
          <a:custGeom>
            <a:avLst/>
            <a:gdLst/>
            <a:ahLst/>
            <a:cxnLst/>
            <a:rect l="l" t="t" r="r" b="b"/>
            <a:pathLst>
              <a:path w="2101215" h="469264">
                <a:moveTo>
                  <a:pt x="0" y="78201"/>
                </a:moveTo>
                <a:lnTo>
                  <a:pt x="6145" y="47761"/>
                </a:lnTo>
                <a:lnTo>
                  <a:pt x="22904" y="22904"/>
                </a:lnTo>
                <a:lnTo>
                  <a:pt x="47761" y="6145"/>
                </a:lnTo>
                <a:lnTo>
                  <a:pt x="78201" y="0"/>
                </a:lnTo>
                <a:lnTo>
                  <a:pt x="2022398" y="0"/>
                </a:lnTo>
                <a:lnTo>
                  <a:pt x="2065784" y="13138"/>
                </a:lnTo>
                <a:lnTo>
                  <a:pt x="2094647" y="48275"/>
                </a:lnTo>
                <a:lnTo>
                  <a:pt x="2100599" y="78201"/>
                </a:lnTo>
                <a:lnTo>
                  <a:pt x="2100599" y="390998"/>
                </a:lnTo>
                <a:lnTo>
                  <a:pt x="2094454" y="421438"/>
                </a:lnTo>
                <a:lnTo>
                  <a:pt x="2077695" y="446295"/>
                </a:lnTo>
                <a:lnTo>
                  <a:pt x="2052838" y="463054"/>
                </a:lnTo>
                <a:lnTo>
                  <a:pt x="2022398" y="469199"/>
                </a:lnTo>
                <a:lnTo>
                  <a:pt x="78201" y="469199"/>
                </a:lnTo>
                <a:lnTo>
                  <a:pt x="47761" y="463054"/>
                </a:lnTo>
                <a:lnTo>
                  <a:pt x="22904" y="446295"/>
                </a:lnTo>
                <a:lnTo>
                  <a:pt x="6145" y="421438"/>
                </a:lnTo>
                <a:lnTo>
                  <a:pt x="0" y="390998"/>
                </a:lnTo>
                <a:lnTo>
                  <a:pt x="0" y="78201"/>
                </a:lnTo>
                <a:close/>
              </a:path>
            </a:pathLst>
          </a:custGeom>
          <a:ln w="9524">
            <a:solidFill>
              <a:srgbClr val="FF0000"/>
            </a:solidFill>
          </a:ln>
        </p:spPr>
        <p:txBody>
          <a:bodyPr wrap="square" lIns="0" tIns="0" rIns="0" bIns="0" rtlCol="0"/>
          <a:lstStyle/>
          <a:p>
            <a:endParaRPr sz="2400"/>
          </a:p>
        </p:txBody>
      </p:sp>
      <p:sp>
        <p:nvSpPr>
          <p:cNvPr id="36" name="object 36"/>
          <p:cNvSpPr txBox="1"/>
          <p:nvPr/>
        </p:nvSpPr>
        <p:spPr>
          <a:xfrm>
            <a:off x="3249873" y="4638389"/>
            <a:ext cx="5033433" cy="1771553"/>
          </a:xfrm>
          <a:prstGeom prst="rect">
            <a:avLst/>
          </a:prstGeom>
        </p:spPr>
        <p:txBody>
          <a:bodyPr vert="horz" wrap="square" lIns="0" tIns="16933" rIns="0" bIns="0" rtlCol="0">
            <a:spAutoFit/>
          </a:bodyPr>
          <a:lstStyle/>
          <a:p>
            <a:pPr marL="3368802">
              <a:spcBef>
                <a:spcPts val="133"/>
              </a:spcBef>
            </a:pPr>
            <a:r>
              <a:rPr sz="1867" b="1" spc="-7" dirty="0">
                <a:latin typeface="Arial"/>
                <a:cs typeface="Arial"/>
              </a:rPr>
              <a:t>melee_guy</a:t>
            </a:r>
            <a:endParaRPr sz="1867">
              <a:latin typeface="Arial"/>
              <a:cs typeface="Arial"/>
            </a:endParaRPr>
          </a:p>
          <a:p>
            <a:pPr>
              <a:spcBef>
                <a:spcPts val="40"/>
              </a:spcBef>
            </a:pPr>
            <a:endParaRPr sz="1933">
              <a:latin typeface="Times New Roman"/>
              <a:cs typeface="Times New Roman"/>
            </a:endParaRPr>
          </a:p>
          <a:p>
            <a:pPr marL="3368802" marR="6773">
              <a:lnSpc>
                <a:spcPts val="2200"/>
              </a:lnSpc>
            </a:pPr>
            <a:r>
              <a:rPr sz="1867" dirty="0">
                <a:latin typeface="Arial"/>
                <a:cs typeface="Arial"/>
              </a:rPr>
              <a:t>chase_ai  </a:t>
            </a:r>
            <a:r>
              <a:rPr sz="1867" spc="-7" dirty="0">
                <a:latin typeface="Arial"/>
                <a:cs typeface="Arial"/>
              </a:rPr>
              <a:t>damage_ahead</a:t>
            </a:r>
            <a:endParaRPr sz="1867">
              <a:latin typeface="Arial"/>
              <a:cs typeface="Arial"/>
            </a:endParaRPr>
          </a:p>
          <a:p>
            <a:pPr>
              <a:lnSpc>
                <a:spcPct val="100000"/>
              </a:lnSpc>
            </a:pPr>
            <a:endParaRPr sz="2067">
              <a:latin typeface="Times New Roman"/>
              <a:cs typeface="Times New Roman"/>
            </a:endParaRPr>
          </a:p>
          <a:p>
            <a:pPr marL="16933"/>
            <a:r>
              <a:rPr sz="1867" b="1" spc="-7" dirty="0">
                <a:latin typeface="Arial"/>
                <a:cs typeface="Arial"/>
              </a:rPr>
              <a:t>chase_bomb_bullet</a:t>
            </a:r>
            <a:endParaRPr sz="1867">
              <a:latin typeface="Arial"/>
              <a:cs typeface="Arial"/>
            </a:endParaRPr>
          </a:p>
        </p:txBody>
      </p:sp>
      <p:sp>
        <p:nvSpPr>
          <p:cNvPr id="37" name="object 37"/>
          <p:cNvSpPr/>
          <p:nvPr/>
        </p:nvSpPr>
        <p:spPr>
          <a:xfrm>
            <a:off x="2170034" y="4127367"/>
            <a:ext cx="2292773" cy="1778847"/>
          </a:xfrm>
          <a:custGeom>
            <a:avLst/>
            <a:gdLst/>
            <a:ahLst/>
            <a:cxnLst/>
            <a:rect l="l" t="t" r="r" b="b"/>
            <a:pathLst>
              <a:path w="1719579" h="1334135">
                <a:moveTo>
                  <a:pt x="0" y="0"/>
                </a:moveTo>
                <a:lnTo>
                  <a:pt x="1719147" y="1333866"/>
                </a:lnTo>
              </a:path>
            </a:pathLst>
          </a:custGeom>
          <a:ln w="9524">
            <a:solidFill>
              <a:srgbClr val="FF0000"/>
            </a:solidFill>
          </a:ln>
        </p:spPr>
        <p:txBody>
          <a:bodyPr wrap="square" lIns="0" tIns="0" rIns="0" bIns="0" rtlCol="0"/>
          <a:lstStyle/>
          <a:p>
            <a:endParaRPr sz="2400"/>
          </a:p>
        </p:txBody>
      </p:sp>
      <p:sp>
        <p:nvSpPr>
          <p:cNvPr id="38" name="object 38"/>
          <p:cNvSpPr/>
          <p:nvPr/>
        </p:nvSpPr>
        <p:spPr>
          <a:xfrm>
            <a:off x="4449370" y="5889282"/>
            <a:ext cx="58420" cy="52493"/>
          </a:xfrm>
          <a:custGeom>
            <a:avLst/>
            <a:gdLst/>
            <a:ahLst/>
            <a:cxnLst/>
            <a:rect l="l" t="t" r="r" b="b"/>
            <a:pathLst>
              <a:path w="43814" h="39370">
                <a:moveTo>
                  <a:pt x="43795" y="38927"/>
                </a:moveTo>
                <a:lnTo>
                  <a:pt x="0" y="24860"/>
                </a:lnTo>
                <a:lnTo>
                  <a:pt x="19288" y="0"/>
                </a:lnTo>
                <a:lnTo>
                  <a:pt x="43795" y="38927"/>
                </a:lnTo>
                <a:close/>
              </a:path>
            </a:pathLst>
          </a:custGeom>
          <a:solidFill>
            <a:srgbClr val="FF0000"/>
          </a:solidFill>
        </p:spPr>
        <p:txBody>
          <a:bodyPr wrap="square" lIns="0" tIns="0" rIns="0" bIns="0" rtlCol="0"/>
          <a:lstStyle/>
          <a:p>
            <a:endParaRPr sz="2400"/>
          </a:p>
        </p:txBody>
      </p:sp>
      <p:sp>
        <p:nvSpPr>
          <p:cNvPr id="39" name="object 39"/>
          <p:cNvSpPr/>
          <p:nvPr/>
        </p:nvSpPr>
        <p:spPr>
          <a:xfrm>
            <a:off x="4449370" y="5889282"/>
            <a:ext cx="58420" cy="52493"/>
          </a:xfrm>
          <a:custGeom>
            <a:avLst/>
            <a:gdLst/>
            <a:ahLst/>
            <a:cxnLst/>
            <a:rect l="l" t="t" r="r" b="b"/>
            <a:pathLst>
              <a:path w="43814" h="39370">
                <a:moveTo>
                  <a:pt x="0" y="24860"/>
                </a:moveTo>
                <a:lnTo>
                  <a:pt x="43795" y="38927"/>
                </a:lnTo>
                <a:lnTo>
                  <a:pt x="19288" y="0"/>
                </a:lnTo>
                <a:lnTo>
                  <a:pt x="0" y="24860"/>
                </a:lnTo>
                <a:close/>
              </a:path>
            </a:pathLst>
          </a:custGeom>
          <a:ln w="9524">
            <a:solidFill>
              <a:srgbClr val="FF0000"/>
            </a:solidFill>
          </a:ln>
        </p:spPr>
        <p:txBody>
          <a:bodyPr wrap="square" lIns="0" tIns="0" rIns="0" bIns="0" rtlCol="0"/>
          <a:lstStyle/>
          <a:p>
            <a:endParaRPr sz="2400"/>
          </a:p>
        </p:txBody>
      </p:sp>
      <p:sp>
        <p:nvSpPr>
          <p:cNvPr id="40" name="object 40"/>
          <p:cNvSpPr/>
          <p:nvPr/>
        </p:nvSpPr>
        <p:spPr>
          <a:xfrm>
            <a:off x="6169632" y="1755183"/>
            <a:ext cx="1601893" cy="609600"/>
          </a:xfrm>
          <a:custGeom>
            <a:avLst/>
            <a:gdLst/>
            <a:ahLst/>
            <a:cxnLst/>
            <a:rect l="l" t="t" r="r" b="b"/>
            <a:pathLst>
              <a:path w="1201420" h="457200">
                <a:moveTo>
                  <a:pt x="0" y="0"/>
                </a:moveTo>
                <a:lnTo>
                  <a:pt x="1201184" y="456978"/>
                </a:lnTo>
              </a:path>
            </a:pathLst>
          </a:custGeom>
          <a:ln w="9524">
            <a:solidFill>
              <a:srgbClr val="595959"/>
            </a:solidFill>
          </a:ln>
        </p:spPr>
        <p:txBody>
          <a:bodyPr wrap="square" lIns="0" tIns="0" rIns="0" bIns="0" rtlCol="0"/>
          <a:lstStyle/>
          <a:p>
            <a:endParaRPr sz="2400"/>
          </a:p>
        </p:txBody>
      </p:sp>
      <p:sp>
        <p:nvSpPr>
          <p:cNvPr id="41" name="object 41"/>
          <p:cNvSpPr/>
          <p:nvPr/>
        </p:nvSpPr>
        <p:spPr>
          <a:xfrm>
            <a:off x="7763754" y="2344881"/>
            <a:ext cx="61807" cy="40640"/>
          </a:xfrm>
          <a:custGeom>
            <a:avLst/>
            <a:gdLst/>
            <a:ahLst/>
            <a:cxnLst/>
            <a:rect l="l" t="t" r="r" b="b"/>
            <a:pathLst>
              <a:path w="46354" h="30480">
                <a:moveTo>
                  <a:pt x="45994" y="30074"/>
                </a:moveTo>
                <a:lnTo>
                  <a:pt x="0" y="29409"/>
                </a:lnTo>
                <a:lnTo>
                  <a:pt x="11188" y="0"/>
                </a:lnTo>
                <a:lnTo>
                  <a:pt x="45994" y="30074"/>
                </a:lnTo>
                <a:close/>
              </a:path>
            </a:pathLst>
          </a:custGeom>
          <a:solidFill>
            <a:srgbClr val="595959"/>
          </a:solidFill>
        </p:spPr>
        <p:txBody>
          <a:bodyPr wrap="square" lIns="0" tIns="0" rIns="0" bIns="0" rtlCol="0"/>
          <a:lstStyle/>
          <a:p>
            <a:endParaRPr sz="2400"/>
          </a:p>
        </p:txBody>
      </p:sp>
      <p:sp>
        <p:nvSpPr>
          <p:cNvPr id="42" name="object 42"/>
          <p:cNvSpPr/>
          <p:nvPr/>
        </p:nvSpPr>
        <p:spPr>
          <a:xfrm>
            <a:off x="7763754" y="2344881"/>
            <a:ext cx="61807" cy="40640"/>
          </a:xfrm>
          <a:custGeom>
            <a:avLst/>
            <a:gdLst/>
            <a:ahLst/>
            <a:cxnLst/>
            <a:rect l="l" t="t" r="r" b="b"/>
            <a:pathLst>
              <a:path w="46354" h="30480">
                <a:moveTo>
                  <a:pt x="0" y="29409"/>
                </a:moveTo>
                <a:lnTo>
                  <a:pt x="45994" y="30074"/>
                </a:lnTo>
                <a:lnTo>
                  <a:pt x="11188" y="0"/>
                </a:lnTo>
                <a:lnTo>
                  <a:pt x="0" y="29409"/>
                </a:lnTo>
                <a:close/>
              </a:path>
            </a:pathLst>
          </a:custGeom>
          <a:ln w="9524">
            <a:solidFill>
              <a:srgbClr val="595959"/>
            </a:solidFill>
          </a:ln>
        </p:spPr>
        <p:txBody>
          <a:bodyPr wrap="square" lIns="0" tIns="0" rIns="0" bIns="0" rtlCol="0"/>
          <a:lstStyle/>
          <a:p>
            <a:endParaRPr sz="2400"/>
          </a:p>
        </p:txBody>
      </p:sp>
      <p:sp>
        <p:nvSpPr>
          <p:cNvPr id="43" name="object 43"/>
          <p:cNvSpPr/>
          <p:nvPr/>
        </p:nvSpPr>
        <p:spPr>
          <a:xfrm>
            <a:off x="4593637" y="5215550"/>
            <a:ext cx="1838960" cy="710353"/>
          </a:xfrm>
          <a:custGeom>
            <a:avLst/>
            <a:gdLst/>
            <a:ahLst/>
            <a:cxnLst/>
            <a:rect l="l" t="t" r="r" b="b"/>
            <a:pathLst>
              <a:path w="1379220" h="532764">
                <a:moveTo>
                  <a:pt x="1379183" y="0"/>
                </a:moveTo>
                <a:lnTo>
                  <a:pt x="0" y="532321"/>
                </a:lnTo>
              </a:path>
            </a:pathLst>
          </a:custGeom>
          <a:ln w="9524">
            <a:solidFill>
              <a:srgbClr val="FF0000"/>
            </a:solidFill>
          </a:ln>
        </p:spPr>
        <p:txBody>
          <a:bodyPr wrap="square" lIns="0" tIns="0" rIns="0" bIns="0" rtlCol="0"/>
          <a:lstStyle/>
          <a:p>
            <a:endParaRPr sz="2400"/>
          </a:p>
        </p:txBody>
      </p:sp>
      <p:sp>
        <p:nvSpPr>
          <p:cNvPr id="44" name="object 44"/>
          <p:cNvSpPr/>
          <p:nvPr/>
        </p:nvSpPr>
        <p:spPr>
          <a:xfrm>
            <a:off x="4539871" y="5905741"/>
            <a:ext cx="61807" cy="40640"/>
          </a:xfrm>
          <a:custGeom>
            <a:avLst/>
            <a:gdLst/>
            <a:ahLst/>
            <a:cxnLst/>
            <a:rect l="l" t="t" r="r" b="b"/>
            <a:pathLst>
              <a:path w="46354" h="30479">
                <a:moveTo>
                  <a:pt x="0" y="30241"/>
                </a:moveTo>
                <a:lnTo>
                  <a:pt x="34660" y="0"/>
                </a:lnTo>
                <a:lnTo>
                  <a:pt x="45991" y="29354"/>
                </a:lnTo>
                <a:lnTo>
                  <a:pt x="0" y="30241"/>
                </a:lnTo>
                <a:close/>
              </a:path>
            </a:pathLst>
          </a:custGeom>
          <a:solidFill>
            <a:srgbClr val="FF0000"/>
          </a:solidFill>
        </p:spPr>
        <p:txBody>
          <a:bodyPr wrap="square" lIns="0" tIns="0" rIns="0" bIns="0" rtlCol="0"/>
          <a:lstStyle/>
          <a:p>
            <a:endParaRPr sz="2400"/>
          </a:p>
        </p:txBody>
      </p:sp>
      <p:sp>
        <p:nvSpPr>
          <p:cNvPr id="45" name="object 45"/>
          <p:cNvSpPr/>
          <p:nvPr/>
        </p:nvSpPr>
        <p:spPr>
          <a:xfrm>
            <a:off x="4539871" y="5905741"/>
            <a:ext cx="61807" cy="40640"/>
          </a:xfrm>
          <a:custGeom>
            <a:avLst/>
            <a:gdLst/>
            <a:ahLst/>
            <a:cxnLst/>
            <a:rect l="l" t="t" r="r" b="b"/>
            <a:pathLst>
              <a:path w="46354" h="30479">
                <a:moveTo>
                  <a:pt x="34660" y="0"/>
                </a:moveTo>
                <a:lnTo>
                  <a:pt x="0" y="30241"/>
                </a:lnTo>
                <a:lnTo>
                  <a:pt x="45991" y="29354"/>
                </a:lnTo>
                <a:lnTo>
                  <a:pt x="34660" y="0"/>
                </a:lnTo>
                <a:close/>
              </a:path>
            </a:pathLst>
          </a:custGeom>
          <a:ln w="9524">
            <a:solidFill>
              <a:srgbClr val="FF0000"/>
            </a:solidFill>
          </a:ln>
        </p:spPr>
        <p:txBody>
          <a:bodyPr wrap="square" lIns="0" tIns="0" rIns="0" bIns="0" rtlCol="0"/>
          <a:lstStyle/>
          <a:p>
            <a:endParaRPr sz="2400"/>
          </a:p>
        </p:txBody>
      </p:sp>
    </p:spTree>
    <p:extLst>
      <p:ext uri="{BB962C8B-B14F-4D97-AF65-F5344CB8AC3E}">
        <p14:creationId xmlns:p14="http://schemas.microsoft.com/office/powerpoint/2010/main" val="1269465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642272"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The diamond of</a:t>
            </a:r>
            <a:r>
              <a:rPr sz="3733" spc="-120" dirty="0"/>
              <a:t> </a:t>
            </a:r>
            <a:r>
              <a:rPr sz="3733" spc="-7" dirty="0"/>
              <a:t>death</a:t>
            </a:r>
            <a:endParaRPr sz="3733"/>
          </a:p>
        </p:txBody>
      </p:sp>
      <p:sp>
        <p:nvSpPr>
          <p:cNvPr id="3" name="object 3"/>
          <p:cNvSpPr txBox="1"/>
          <p:nvPr/>
        </p:nvSpPr>
        <p:spPr>
          <a:xfrm>
            <a:off x="512967" y="1625872"/>
            <a:ext cx="6985000" cy="4892857"/>
          </a:xfrm>
          <a:prstGeom prst="rect">
            <a:avLst/>
          </a:prstGeom>
        </p:spPr>
        <p:txBody>
          <a:bodyPr vert="horz" wrap="square" lIns="0" tIns="16933" rIns="0" bIns="0" rtlCol="0">
            <a:spAutoFit/>
          </a:bodyPr>
          <a:lstStyle/>
          <a:p>
            <a:pPr marL="16933">
              <a:lnSpc>
                <a:spcPts val="1907"/>
              </a:lnSpc>
              <a:spcBef>
                <a:spcPts val="133"/>
              </a:spcBef>
            </a:pPr>
            <a:r>
              <a:rPr sz="1600" spc="-7" dirty="0">
                <a:solidFill>
                  <a:srgbClr val="0000FF"/>
                </a:solidFill>
                <a:latin typeface="Courier New"/>
                <a:cs typeface="Courier New"/>
              </a:rPr>
              <a:t>struct </a:t>
            </a:r>
            <a:r>
              <a:rPr sz="1600" spc="-7" dirty="0">
                <a:solidFill>
                  <a:srgbClr val="76A5AE"/>
                </a:solidFill>
                <a:latin typeface="Courier New"/>
                <a:cs typeface="Courier New"/>
              </a:rPr>
              <a:t>ga_entity</a:t>
            </a:r>
            <a:r>
              <a:rPr sz="1600" dirty="0">
                <a:solidFill>
                  <a:srgbClr val="76A5AE"/>
                </a:solidFill>
                <a:latin typeface="Courier New"/>
                <a:cs typeface="Courier New"/>
              </a:rPr>
              <a:t> </a:t>
            </a:r>
            <a:r>
              <a:rPr sz="1600" dirty="0">
                <a:solidFill>
                  <a:srgbClr val="595959"/>
                </a:solidFill>
                <a:latin typeface="Courier New"/>
                <a:cs typeface="Courier New"/>
              </a:rPr>
              <a:t>{</a:t>
            </a:r>
            <a:endParaRPr sz="1600">
              <a:latin typeface="Courier New"/>
              <a:cs typeface="Courier New"/>
            </a:endParaRPr>
          </a:p>
          <a:p>
            <a:pPr marL="626518" marR="3176614">
              <a:lnSpc>
                <a:spcPts val="1907"/>
              </a:lnSpc>
              <a:spcBef>
                <a:spcPts val="60"/>
              </a:spcBef>
            </a:pPr>
            <a:r>
              <a:rPr sz="1600" spc="-7" dirty="0">
                <a:solidFill>
                  <a:srgbClr val="0000FF"/>
                </a:solidFill>
                <a:latin typeface="Courier New"/>
                <a:cs typeface="Courier New"/>
              </a:rPr>
              <a:t>virtual void </a:t>
            </a:r>
            <a:r>
              <a:rPr sz="1600" spc="-7" dirty="0">
                <a:solidFill>
                  <a:srgbClr val="76A5AE"/>
                </a:solidFill>
                <a:latin typeface="Courier New"/>
                <a:cs typeface="Courier New"/>
              </a:rPr>
              <a:t>update() </a:t>
            </a:r>
            <a:r>
              <a:rPr sz="1600" dirty="0">
                <a:latin typeface="Courier New"/>
                <a:cs typeface="Courier New"/>
              </a:rPr>
              <a:t>= </a:t>
            </a:r>
            <a:r>
              <a:rPr sz="1600" spc="-7" dirty="0">
                <a:latin typeface="Courier New"/>
                <a:cs typeface="Courier New"/>
              </a:rPr>
              <a:t>0;  </a:t>
            </a:r>
            <a:r>
              <a:rPr sz="1600" spc="-7" dirty="0">
                <a:solidFill>
                  <a:srgbClr val="0000FF"/>
                </a:solidFill>
                <a:latin typeface="Courier New"/>
                <a:cs typeface="Courier New"/>
              </a:rPr>
              <a:t>virtual void </a:t>
            </a:r>
            <a:r>
              <a:rPr sz="1600" spc="-7" dirty="0">
                <a:solidFill>
                  <a:srgbClr val="76A5AE"/>
                </a:solidFill>
                <a:latin typeface="Courier New"/>
                <a:cs typeface="Courier New"/>
              </a:rPr>
              <a:t>draw() </a:t>
            </a:r>
            <a:r>
              <a:rPr sz="1600" dirty="0">
                <a:latin typeface="Courier New"/>
                <a:cs typeface="Courier New"/>
              </a:rPr>
              <a:t>=</a:t>
            </a:r>
            <a:r>
              <a:rPr sz="1600" spc="-73" dirty="0">
                <a:latin typeface="Courier New"/>
                <a:cs typeface="Courier New"/>
              </a:rPr>
              <a:t> </a:t>
            </a:r>
            <a:r>
              <a:rPr sz="1600" spc="-7" dirty="0">
                <a:latin typeface="Courier New"/>
                <a:cs typeface="Courier New"/>
              </a:rPr>
              <a:t>0;</a:t>
            </a:r>
            <a:endParaRPr sz="1600">
              <a:latin typeface="Courier New"/>
              <a:cs typeface="Courier New"/>
            </a:endParaRPr>
          </a:p>
          <a:p>
            <a:pPr marL="16933">
              <a:lnSpc>
                <a:spcPts val="1833"/>
              </a:lnSpc>
            </a:pPr>
            <a:r>
              <a:rPr sz="1600" spc="-7" dirty="0">
                <a:solidFill>
                  <a:srgbClr val="595959"/>
                </a:solidFill>
                <a:latin typeface="Courier New"/>
                <a:cs typeface="Courier New"/>
              </a:rPr>
              <a:t>};</a:t>
            </a:r>
            <a:endParaRPr sz="1600">
              <a:latin typeface="Courier New"/>
              <a:cs typeface="Courier New"/>
            </a:endParaRPr>
          </a:p>
          <a:p>
            <a:pPr>
              <a:spcBef>
                <a:spcPts val="40"/>
              </a:spcBef>
            </a:pPr>
            <a:endParaRPr sz="1667">
              <a:latin typeface="Times New Roman"/>
              <a:cs typeface="Times New Roman"/>
            </a:endParaRPr>
          </a:p>
          <a:p>
            <a:pPr marL="626518" marR="6773" indent="-609585">
              <a:lnSpc>
                <a:spcPts val="1907"/>
              </a:lnSpc>
            </a:pPr>
            <a:r>
              <a:rPr sz="1600" spc="-7" dirty="0">
                <a:solidFill>
                  <a:srgbClr val="0000FF"/>
                </a:solidFill>
                <a:latin typeface="Courier New"/>
                <a:cs typeface="Courier New"/>
              </a:rPr>
              <a:t>struct </a:t>
            </a:r>
            <a:r>
              <a:rPr sz="1600" spc="-7" dirty="0">
                <a:solidFill>
                  <a:srgbClr val="76A5AE"/>
                </a:solidFill>
                <a:latin typeface="Courier New"/>
                <a:cs typeface="Courier New"/>
              </a:rPr>
              <a:t>ga_chase_bomb_bullet </a:t>
            </a:r>
            <a:r>
              <a:rPr sz="1600" dirty="0">
                <a:solidFill>
                  <a:srgbClr val="76A5AE"/>
                </a:solidFill>
                <a:latin typeface="Courier New"/>
                <a:cs typeface="Courier New"/>
              </a:rPr>
              <a:t>: </a:t>
            </a:r>
            <a:r>
              <a:rPr sz="1600" spc="-7" dirty="0">
                <a:solidFill>
                  <a:srgbClr val="76A5AE"/>
                </a:solidFill>
                <a:latin typeface="Courier New"/>
                <a:cs typeface="Courier New"/>
              </a:rPr>
              <a:t>ga_melee_guy, ga_bomb_guy </a:t>
            </a:r>
            <a:r>
              <a:rPr sz="1600" dirty="0">
                <a:solidFill>
                  <a:srgbClr val="595959"/>
                </a:solidFill>
                <a:latin typeface="Courier New"/>
                <a:cs typeface="Courier New"/>
              </a:rPr>
              <a:t>{  </a:t>
            </a:r>
            <a:r>
              <a:rPr sz="1600" spc="-7" dirty="0">
                <a:solidFill>
                  <a:srgbClr val="76A5AE"/>
                </a:solidFill>
                <a:latin typeface="Courier New"/>
                <a:cs typeface="Courier New"/>
              </a:rPr>
              <a:t>void </a:t>
            </a:r>
            <a:r>
              <a:rPr sz="1600" spc="-7" dirty="0">
                <a:solidFill>
                  <a:srgbClr val="595959"/>
                </a:solidFill>
                <a:latin typeface="Courier New"/>
                <a:cs typeface="Courier New"/>
              </a:rPr>
              <a:t>update() </a:t>
            </a:r>
            <a:r>
              <a:rPr sz="1600" spc="-7" dirty="0">
                <a:solidFill>
                  <a:srgbClr val="0000FF"/>
                </a:solidFill>
                <a:latin typeface="Courier New"/>
                <a:cs typeface="Courier New"/>
              </a:rPr>
              <a:t>override</a:t>
            </a:r>
            <a:endParaRPr sz="1600">
              <a:latin typeface="Courier New"/>
              <a:cs typeface="Courier New"/>
            </a:endParaRPr>
          </a:p>
          <a:p>
            <a:pPr marL="626518">
              <a:lnSpc>
                <a:spcPts val="1820"/>
              </a:lnSpc>
            </a:pPr>
            <a:r>
              <a:rPr sz="1600" dirty="0">
                <a:solidFill>
                  <a:srgbClr val="595959"/>
                </a:solidFill>
                <a:latin typeface="Courier New"/>
                <a:cs typeface="Courier New"/>
              </a:rPr>
              <a:t>{</a:t>
            </a:r>
            <a:endParaRPr sz="1600">
              <a:latin typeface="Courier New"/>
              <a:cs typeface="Courier New"/>
            </a:endParaRPr>
          </a:p>
          <a:p>
            <a:pPr marL="1236102" marR="2201278">
              <a:lnSpc>
                <a:spcPts val="1907"/>
              </a:lnSpc>
              <a:spcBef>
                <a:spcPts val="67"/>
              </a:spcBef>
            </a:pPr>
            <a:r>
              <a:rPr sz="1600" spc="-7" dirty="0">
                <a:solidFill>
                  <a:srgbClr val="93C47D"/>
                </a:solidFill>
                <a:latin typeface="Courier New"/>
                <a:cs typeface="Courier New"/>
              </a:rPr>
              <a:t>// ?!?  </a:t>
            </a:r>
            <a:r>
              <a:rPr sz="1600" spc="-7" dirty="0">
                <a:solidFill>
                  <a:srgbClr val="76A5AE"/>
                </a:solidFill>
                <a:latin typeface="Courier New"/>
                <a:cs typeface="Courier New"/>
              </a:rPr>
              <a:t>ga_moveable_entity</a:t>
            </a:r>
            <a:r>
              <a:rPr sz="1600" spc="-7" dirty="0">
                <a:solidFill>
                  <a:srgbClr val="595959"/>
                </a:solidFill>
                <a:latin typeface="Courier New"/>
                <a:cs typeface="Courier New"/>
              </a:rPr>
              <a:t>::update()</a:t>
            </a:r>
            <a:r>
              <a:rPr sz="1600" spc="-7" dirty="0">
                <a:solidFill>
                  <a:srgbClr val="76A5AE"/>
                </a:solidFill>
                <a:latin typeface="Courier New"/>
                <a:cs typeface="Courier New"/>
              </a:rPr>
              <a:t>;  ga_bomb_guy</a:t>
            </a:r>
            <a:r>
              <a:rPr sz="1600" spc="-7" dirty="0">
                <a:solidFill>
                  <a:srgbClr val="595959"/>
                </a:solidFill>
                <a:latin typeface="Courier New"/>
                <a:cs typeface="Courier New"/>
              </a:rPr>
              <a:t>::update();</a:t>
            </a:r>
            <a:endParaRPr sz="1600">
              <a:latin typeface="Courier New"/>
              <a:cs typeface="Courier New"/>
            </a:endParaRPr>
          </a:p>
          <a:p>
            <a:pPr marL="626518">
              <a:lnSpc>
                <a:spcPts val="1827"/>
              </a:lnSpc>
            </a:pPr>
            <a:r>
              <a:rPr sz="1600" dirty="0">
                <a:solidFill>
                  <a:srgbClr val="595959"/>
                </a:solidFill>
                <a:latin typeface="Courier New"/>
                <a:cs typeface="Courier New"/>
              </a:rPr>
              <a:t>}</a:t>
            </a:r>
            <a:endParaRPr sz="1600">
              <a:latin typeface="Courier New"/>
              <a:cs typeface="Courier New"/>
            </a:endParaRPr>
          </a:p>
          <a:p>
            <a:pPr>
              <a:spcBef>
                <a:spcPts val="40"/>
              </a:spcBef>
            </a:pPr>
            <a:endParaRPr sz="1600">
              <a:latin typeface="Times New Roman"/>
              <a:cs typeface="Times New Roman"/>
            </a:endParaRPr>
          </a:p>
          <a:p>
            <a:pPr marL="626518">
              <a:lnSpc>
                <a:spcPts val="1913"/>
              </a:lnSpc>
            </a:pPr>
            <a:r>
              <a:rPr sz="1600" spc="-7" dirty="0">
                <a:solidFill>
                  <a:srgbClr val="76A5AE"/>
                </a:solidFill>
                <a:latin typeface="Courier New"/>
                <a:cs typeface="Courier New"/>
              </a:rPr>
              <a:t>void </a:t>
            </a:r>
            <a:r>
              <a:rPr sz="1600" spc="-7" dirty="0">
                <a:solidFill>
                  <a:srgbClr val="595959"/>
                </a:solidFill>
                <a:latin typeface="Courier New"/>
                <a:cs typeface="Courier New"/>
              </a:rPr>
              <a:t>draw() </a:t>
            </a:r>
            <a:r>
              <a:rPr sz="1600" spc="-7" dirty="0">
                <a:solidFill>
                  <a:srgbClr val="0000FF"/>
                </a:solidFill>
                <a:latin typeface="Courier New"/>
                <a:cs typeface="Courier New"/>
              </a:rPr>
              <a:t>override</a:t>
            </a:r>
            <a:endParaRPr sz="1600">
              <a:latin typeface="Courier New"/>
              <a:cs typeface="Courier New"/>
            </a:endParaRPr>
          </a:p>
          <a:p>
            <a:pPr marL="626518">
              <a:lnSpc>
                <a:spcPts val="1900"/>
              </a:lnSpc>
            </a:pPr>
            <a:r>
              <a:rPr sz="1600" dirty="0">
                <a:solidFill>
                  <a:srgbClr val="595959"/>
                </a:solidFill>
                <a:latin typeface="Courier New"/>
                <a:cs typeface="Courier New"/>
              </a:rPr>
              <a:t>{</a:t>
            </a:r>
            <a:endParaRPr sz="1600">
              <a:latin typeface="Courier New"/>
              <a:cs typeface="Courier New"/>
            </a:endParaRPr>
          </a:p>
          <a:p>
            <a:pPr marL="1236102">
              <a:lnSpc>
                <a:spcPts val="1900"/>
              </a:lnSpc>
            </a:pPr>
            <a:r>
              <a:rPr sz="1600" spc="-7" dirty="0">
                <a:solidFill>
                  <a:srgbClr val="93C47D"/>
                </a:solidFill>
                <a:latin typeface="Courier New"/>
                <a:cs typeface="Courier New"/>
              </a:rPr>
              <a:t>//</a:t>
            </a:r>
            <a:r>
              <a:rPr sz="1600" spc="-13" dirty="0">
                <a:solidFill>
                  <a:srgbClr val="93C47D"/>
                </a:solidFill>
                <a:latin typeface="Courier New"/>
                <a:cs typeface="Courier New"/>
              </a:rPr>
              <a:t> </a:t>
            </a:r>
            <a:r>
              <a:rPr sz="1600" spc="-7" dirty="0">
                <a:solidFill>
                  <a:srgbClr val="93C47D"/>
                </a:solidFill>
                <a:latin typeface="Courier New"/>
                <a:cs typeface="Courier New"/>
              </a:rPr>
              <a:t>?!?!?</a:t>
            </a:r>
            <a:endParaRPr sz="1600">
              <a:latin typeface="Courier New"/>
              <a:cs typeface="Courier New"/>
            </a:endParaRPr>
          </a:p>
          <a:p>
            <a:pPr marL="1236102" marR="2445112">
              <a:lnSpc>
                <a:spcPts val="1907"/>
              </a:lnSpc>
              <a:spcBef>
                <a:spcPts val="67"/>
              </a:spcBef>
            </a:pPr>
            <a:r>
              <a:rPr sz="1600" spc="-7" dirty="0">
                <a:solidFill>
                  <a:srgbClr val="76A5AE"/>
                </a:solidFill>
                <a:latin typeface="Courier New"/>
                <a:cs typeface="Courier New"/>
              </a:rPr>
              <a:t>ga_moveable_entity</a:t>
            </a:r>
            <a:r>
              <a:rPr sz="1600" spc="-7" dirty="0">
                <a:solidFill>
                  <a:srgbClr val="595959"/>
                </a:solidFill>
                <a:latin typeface="Courier New"/>
                <a:cs typeface="Courier New"/>
              </a:rPr>
              <a:t>::draw()</a:t>
            </a:r>
            <a:r>
              <a:rPr sz="1600" spc="-7" dirty="0">
                <a:solidFill>
                  <a:srgbClr val="76A5AE"/>
                </a:solidFill>
                <a:latin typeface="Courier New"/>
                <a:cs typeface="Courier New"/>
              </a:rPr>
              <a:t>;  ga_bomb_guy</a:t>
            </a:r>
            <a:r>
              <a:rPr sz="1600" spc="-7" dirty="0">
                <a:solidFill>
                  <a:srgbClr val="595959"/>
                </a:solidFill>
                <a:latin typeface="Courier New"/>
                <a:cs typeface="Courier New"/>
              </a:rPr>
              <a:t>::draw();</a:t>
            </a:r>
            <a:endParaRPr sz="1600">
              <a:latin typeface="Courier New"/>
              <a:cs typeface="Courier New"/>
            </a:endParaRPr>
          </a:p>
          <a:p>
            <a:pPr marL="626518">
              <a:lnSpc>
                <a:spcPts val="1820"/>
              </a:lnSpc>
            </a:pPr>
            <a:r>
              <a:rPr sz="1600" dirty="0">
                <a:solidFill>
                  <a:srgbClr val="595959"/>
                </a:solidFill>
                <a:latin typeface="Courier New"/>
                <a:cs typeface="Courier New"/>
              </a:rPr>
              <a:t>}</a:t>
            </a:r>
            <a:endParaRPr sz="1600">
              <a:latin typeface="Courier New"/>
              <a:cs typeface="Courier New"/>
            </a:endParaRPr>
          </a:p>
          <a:p>
            <a:pPr marL="16933">
              <a:lnSpc>
                <a:spcPts val="1907"/>
              </a:lnSpc>
            </a:pPr>
            <a:r>
              <a:rPr sz="1600" spc="-7" dirty="0">
                <a:solidFill>
                  <a:srgbClr val="595959"/>
                </a:solidFill>
                <a:latin typeface="Courier New"/>
                <a:cs typeface="Courier New"/>
              </a:rPr>
              <a:t>};</a:t>
            </a:r>
            <a:endParaRPr sz="1600">
              <a:latin typeface="Courier New"/>
              <a:cs typeface="Courier New"/>
            </a:endParaRPr>
          </a:p>
        </p:txBody>
      </p:sp>
    </p:spTree>
    <p:extLst>
      <p:ext uri="{BB962C8B-B14F-4D97-AF65-F5344CB8AC3E}">
        <p14:creationId xmlns:p14="http://schemas.microsoft.com/office/powerpoint/2010/main" val="660485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1743287" cy="591551"/>
          </a:xfrm>
          <a:prstGeom prst="rect">
            <a:avLst/>
          </a:prstGeom>
        </p:spPr>
        <p:txBody>
          <a:bodyPr vert="horz" wrap="square" lIns="0" tIns="16933" rIns="0" bIns="0" rtlCol="0" anchor="ctr">
            <a:spAutoFit/>
          </a:bodyPr>
          <a:lstStyle/>
          <a:p>
            <a:pPr marL="16933">
              <a:lnSpc>
                <a:spcPct val="100000"/>
              </a:lnSpc>
              <a:spcBef>
                <a:spcPts val="133"/>
              </a:spcBef>
            </a:pPr>
            <a:r>
              <a:rPr sz="3733" spc="-13" dirty="0"/>
              <a:t>Ship</a:t>
            </a:r>
            <a:r>
              <a:rPr sz="3733" spc="-120" dirty="0"/>
              <a:t> </a:t>
            </a:r>
            <a:r>
              <a:rPr sz="3733" spc="-7" dirty="0"/>
              <a:t>it!?</a:t>
            </a:r>
            <a:endParaRPr sz="3733"/>
          </a:p>
        </p:txBody>
      </p:sp>
      <p:sp>
        <p:nvSpPr>
          <p:cNvPr id="3" name="object 3"/>
          <p:cNvSpPr txBox="1"/>
          <p:nvPr/>
        </p:nvSpPr>
        <p:spPr>
          <a:xfrm>
            <a:off x="674658" y="1578798"/>
            <a:ext cx="4943687" cy="2016877"/>
          </a:xfrm>
          <a:prstGeom prst="rect">
            <a:avLst/>
          </a:prstGeom>
        </p:spPr>
        <p:txBody>
          <a:bodyPr vert="horz" wrap="square" lIns="0" tIns="16933" rIns="0" bIns="0" rtlCol="0">
            <a:spAutoFit/>
          </a:bodyPr>
          <a:lstStyle/>
          <a:p>
            <a:pPr marL="464808" marR="6773" indent="-447875">
              <a:lnSpc>
                <a:spcPct val="116100"/>
              </a:lnSpc>
              <a:spcBef>
                <a:spcPts val="133"/>
              </a:spcBef>
              <a:buChar char="●"/>
              <a:tabLst>
                <a:tab pos="463962" algn="l"/>
                <a:tab pos="465655" algn="l"/>
              </a:tabLst>
            </a:pPr>
            <a:r>
              <a:rPr sz="1867" spc="-7" dirty="0">
                <a:solidFill>
                  <a:srgbClr val="595959"/>
                </a:solidFill>
                <a:latin typeface="Arial"/>
                <a:cs typeface="Arial"/>
              </a:rPr>
              <a:t>What happens when </a:t>
            </a:r>
            <a:r>
              <a:rPr sz="1867" dirty="0">
                <a:solidFill>
                  <a:srgbClr val="595959"/>
                </a:solidFill>
                <a:latin typeface="Arial"/>
                <a:cs typeface="Arial"/>
              </a:rPr>
              <a:t>your </a:t>
            </a:r>
            <a:r>
              <a:rPr sz="1867" spc="-7" dirty="0">
                <a:solidFill>
                  <a:srgbClr val="595959"/>
                </a:solidFill>
                <a:latin typeface="Arial"/>
                <a:cs typeface="Arial"/>
              </a:rPr>
              <a:t>designer </a:t>
            </a:r>
            <a:r>
              <a:rPr sz="1867" dirty="0">
                <a:solidFill>
                  <a:srgbClr val="595959"/>
                </a:solidFill>
                <a:latin typeface="Arial"/>
                <a:cs typeface="Arial"/>
              </a:rPr>
              <a:t>comes  </a:t>
            </a:r>
            <a:r>
              <a:rPr sz="1867" spc="-7" dirty="0">
                <a:solidFill>
                  <a:srgbClr val="595959"/>
                </a:solidFill>
                <a:latin typeface="Arial"/>
                <a:cs typeface="Arial"/>
              </a:rPr>
              <a:t>back and asks for </a:t>
            </a:r>
            <a:r>
              <a:rPr sz="1867" dirty="0">
                <a:solidFill>
                  <a:srgbClr val="595959"/>
                </a:solidFill>
                <a:latin typeface="Arial"/>
                <a:cs typeface="Arial"/>
              </a:rPr>
              <a:t>a </a:t>
            </a:r>
            <a:r>
              <a:rPr sz="1867" spc="-7" dirty="0">
                <a:solidFill>
                  <a:srgbClr val="595959"/>
                </a:solidFill>
                <a:latin typeface="Arial"/>
                <a:cs typeface="Arial"/>
              </a:rPr>
              <a:t>new bullet that </a:t>
            </a:r>
            <a:r>
              <a:rPr sz="1867" dirty="0">
                <a:solidFill>
                  <a:srgbClr val="595959"/>
                </a:solidFill>
                <a:latin typeface="Arial"/>
                <a:cs typeface="Arial"/>
              </a:rPr>
              <a:t>chases  </a:t>
            </a:r>
            <a:r>
              <a:rPr sz="1867" spc="-7" dirty="0">
                <a:solidFill>
                  <a:srgbClr val="595959"/>
                </a:solidFill>
                <a:latin typeface="Arial"/>
                <a:cs typeface="Arial"/>
              </a:rPr>
              <a:t>the player like </a:t>
            </a:r>
            <a:r>
              <a:rPr sz="1867" dirty="0">
                <a:solidFill>
                  <a:srgbClr val="595959"/>
                </a:solidFill>
                <a:latin typeface="Arial"/>
                <a:cs typeface="Arial"/>
              </a:rPr>
              <a:t>melee_guy </a:t>
            </a:r>
            <a:r>
              <a:rPr sz="1867" spc="-7" dirty="0">
                <a:solidFill>
                  <a:srgbClr val="595959"/>
                </a:solidFill>
                <a:latin typeface="Arial"/>
                <a:cs typeface="Arial"/>
              </a:rPr>
              <a:t>and explodes  like</a:t>
            </a:r>
            <a:r>
              <a:rPr sz="1867" spc="-13" dirty="0">
                <a:solidFill>
                  <a:srgbClr val="595959"/>
                </a:solidFill>
                <a:latin typeface="Arial"/>
                <a:cs typeface="Arial"/>
              </a:rPr>
              <a:t> </a:t>
            </a:r>
            <a:r>
              <a:rPr sz="1867" spc="-7" dirty="0">
                <a:solidFill>
                  <a:srgbClr val="595959"/>
                </a:solidFill>
                <a:latin typeface="Arial"/>
                <a:cs typeface="Arial"/>
              </a:rPr>
              <a:t>bomb_guy?</a:t>
            </a:r>
            <a:endParaRPr sz="1867">
              <a:latin typeface="Arial"/>
              <a:cs typeface="Arial"/>
            </a:endParaRPr>
          </a:p>
          <a:p>
            <a:pPr marL="464808" marR="71965" indent="-447875">
              <a:lnSpc>
                <a:spcPct val="116100"/>
              </a:lnSpc>
              <a:buChar char="●"/>
              <a:tabLst>
                <a:tab pos="463962" algn="l"/>
                <a:tab pos="465655" algn="l"/>
              </a:tabLst>
            </a:pPr>
            <a:r>
              <a:rPr sz="1867" spc="-7" dirty="0">
                <a:solidFill>
                  <a:srgbClr val="595959"/>
                </a:solidFill>
                <a:latin typeface="Arial"/>
                <a:cs typeface="Arial"/>
              </a:rPr>
              <a:t>What about an enemy that </a:t>
            </a:r>
            <a:r>
              <a:rPr sz="1867" dirty="0">
                <a:solidFill>
                  <a:srgbClr val="595959"/>
                </a:solidFill>
                <a:latin typeface="Arial"/>
                <a:cs typeface="Arial"/>
              </a:rPr>
              <a:t>can </a:t>
            </a:r>
            <a:r>
              <a:rPr sz="1867" spc="-7" dirty="0">
                <a:solidFill>
                  <a:srgbClr val="595959"/>
                </a:solidFill>
                <a:latin typeface="Arial"/>
                <a:cs typeface="Arial"/>
              </a:rPr>
              <a:t>both </a:t>
            </a:r>
            <a:r>
              <a:rPr sz="1867" dirty="0">
                <a:solidFill>
                  <a:srgbClr val="595959"/>
                </a:solidFill>
                <a:latin typeface="Arial"/>
                <a:cs typeface="Arial"/>
              </a:rPr>
              <a:t>shoot  </a:t>
            </a:r>
            <a:r>
              <a:rPr sz="1867" spc="-7" dirty="0">
                <a:solidFill>
                  <a:srgbClr val="595959"/>
                </a:solidFill>
                <a:latin typeface="Arial"/>
                <a:cs typeface="Arial"/>
              </a:rPr>
              <a:t>and</a:t>
            </a:r>
            <a:r>
              <a:rPr sz="1867" spc="-13" dirty="0">
                <a:solidFill>
                  <a:srgbClr val="595959"/>
                </a:solidFill>
                <a:latin typeface="Arial"/>
                <a:cs typeface="Arial"/>
              </a:rPr>
              <a:t> </a:t>
            </a:r>
            <a:r>
              <a:rPr sz="1867" spc="-7" dirty="0">
                <a:solidFill>
                  <a:srgbClr val="595959"/>
                </a:solidFill>
                <a:latin typeface="Arial"/>
                <a:cs typeface="Arial"/>
              </a:rPr>
              <a:t>punch?</a:t>
            </a:r>
            <a:endParaRPr sz="1867">
              <a:latin typeface="Arial"/>
              <a:cs typeface="Arial"/>
            </a:endParaRPr>
          </a:p>
        </p:txBody>
      </p:sp>
    </p:spTree>
    <p:extLst>
      <p:ext uri="{BB962C8B-B14F-4D97-AF65-F5344CB8AC3E}">
        <p14:creationId xmlns:p14="http://schemas.microsoft.com/office/powerpoint/2010/main" val="39213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879686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The </a:t>
            </a:r>
            <a:r>
              <a:rPr sz="3733" spc="-13" dirty="0"/>
              <a:t>ShootyGuy </a:t>
            </a:r>
            <a:r>
              <a:rPr sz="3733" spc="-7" dirty="0"/>
              <a:t>entity </a:t>
            </a:r>
            <a:r>
              <a:rPr sz="3733" dirty="0"/>
              <a:t>model</a:t>
            </a:r>
            <a:r>
              <a:rPr sz="3733" spc="-120" dirty="0"/>
              <a:t> </a:t>
            </a:r>
            <a:r>
              <a:rPr sz="3733" dirty="0"/>
              <a:t>(Inheritance)</a:t>
            </a:r>
            <a:endParaRPr sz="3733"/>
          </a:p>
        </p:txBody>
      </p:sp>
      <p:sp>
        <p:nvSpPr>
          <p:cNvPr id="3" name="object 3"/>
          <p:cNvSpPr/>
          <p:nvPr/>
        </p:nvSpPr>
        <p:spPr>
          <a:xfrm>
            <a:off x="641599" y="2503299"/>
            <a:ext cx="2801620" cy="1474047"/>
          </a:xfrm>
          <a:custGeom>
            <a:avLst/>
            <a:gdLst/>
            <a:ahLst/>
            <a:cxnLst/>
            <a:rect l="l" t="t" r="r" b="b"/>
            <a:pathLst>
              <a:path w="2101215" h="1105535">
                <a:moveTo>
                  <a:pt x="1916346" y="1105499"/>
                </a:moveTo>
                <a:lnTo>
                  <a:pt x="184253" y="1105499"/>
                </a:lnTo>
                <a:lnTo>
                  <a:pt x="135271" y="1098918"/>
                </a:lnTo>
                <a:lnTo>
                  <a:pt x="91257" y="1080343"/>
                </a:lnTo>
                <a:lnTo>
                  <a:pt x="53966" y="1051533"/>
                </a:lnTo>
                <a:lnTo>
                  <a:pt x="25156" y="1014242"/>
                </a:lnTo>
                <a:lnTo>
                  <a:pt x="6581" y="970228"/>
                </a:lnTo>
                <a:lnTo>
                  <a:pt x="0" y="921246"/>
                </a:lnTo>
                <a:lnTo>
                  <a:pt x="0" y="184253"/>
                </a:lnTo>
                <a:lnTo>
                  <a:pt x="6581" y="135271"/>
                </a:lnTo>
                <a:lnTo>
                  <a:pt x="25156" y="91257"/>
                </a:lnTo>
                <a:lnTo>
                  <a:pt x="53966" y="53966"/>
                </a:lnTo>
                <a:lnTo>
                  <a:pt x="91257" y="25156"/>
                </a:lnTo>
                <a:lnTo>
                  <a:pt x="135271" y="6581"/>
                </a:lnTo>
                <a:lnTo>
                  <a:pt x="184253" y="0"/>
                </a:lnTo>
                <a:lnTo>
                  <a:pt x="1916346" y="0"/>
                </a:lnTo>
                <a:lnTo>
                  <a:pt x="1986857" y="14025"/>
                </a:lnTo>
                <a:lnTo>
                  <a:pt x="2046633" y="53966"/>
                </a:lnTo>
                <a:lnTo>
                  <a:pt x="2086574" y="113742"/>
                </a:lnTo>
                <a:lnTo>
                  <a:pt x="2100599" y="184253"/>
                </a:lnTo>
                <a:lnTo>
                  <a:pt x="2100599" y="921246"/>
                </a:lnTo>
                <a:lnTo>
                  <a:pt x="2094018" y="970228"/>
                </a:lnTo>
                <a:lnTo>
                  <a:pt x="2075443" y="1014242"/>
                </a:lnTo>
                <a:lnTo>
                  <a:pt x="2046633" y="1051533"/>
                </a:lnTo>
                <a:lnTo>
                  <a:pt x="2009342" y="1080343"/>
                </a:lnTo>
                <a:lnTo>
                  <a:pt x="1965328" y="1098918"/>
                </a:lnTo>
                <a:lnTo>
                  <a:pt x="1916346" y="1105499"/>
                </a:lnTo>
                <a:close/>
              </a:path>
            </a:pathLst>
          </a:custGeom>
          <a:solidFill>
            <a:srgbClr val="EEEEEE"/>
          </a:solidFill>
        </p:spPr>
        <p:txBody>
          <a:bodyPr wrap="square" lIns="0" tIns="0" rIns="0" bIns="0" rtlCol="0"/>
          <a:lstStyle/>
          <a:p>
            <a:endParaRPr sz="2400"/>
          </a:p>
        </p:txBody>
      </p:sp>
      <p:sp>
        <p:nvSpPr>
          <p:cNvPr id="4" name="object 4"/>
          <p:cNvSpPr/>
          <p:nvPr/>
        </p:nvSpPr>
        <p:spPr>
          <a:xfrm>
            <a:off x="641599" y="2503299"/>
            <a:ext cx="2801620" cy="1474047"/>
          </a:xfrm>
          <a:custGeom>
            <a:avLst/>
            <a:gdLst/>
            <a:ahLst/>
            <a:cxnLst/>
            <a:rect l="l" t="t" r="r" b="b"/>
            <a:pathLst>
              <a:path w="2101215" h="1105535">
                <a:moveTo>
                  <a:pt x="0" y="184253"/>
                </a:moveTo>
                <a:lnTo>
                  <a:pt x="6581" y="135271"/>
                </a:lnTo>
                <a:lnTo>
                  <a:pt x="25156" y="91257"/>
                </a:lnTo>
                <a:lnTo>
                  <a:pt x="53966" y="53966"/>
                </a:lnTo>
                <a:lnTo>
                  <a:pt x="91257" y="25156"/>
                </a:lnTo>
                <a:lnTo>
                  <a:pt x="135271" y="6581"/>
                </a:lnTo>
                <a:lnTo>
                  <a:pt x="184253" y="0"/>
                </a:lnTo>
                <a:lnTo>
                  <a:pt x="1916346" y="0"/>
                </a:lnTo>
                <a:lnTo>
                  <a:pt x="1986857" y="14025"/>
                </a:lnTo>
                <a:lnTo>
                  <a:pt x="2046633" y="53966"/>
                </a:lnTo>
                <a:lnTo>
                  <a:pt x="2086574" y="113742"/>
                </a:lnTo>
                <a:lnTo>
                  <a:pt x="2100599" y="184253"/>
                </a:lnTo>
                <a:lnTo>
                  <a:pt x="2100599" y="921246"/>
                </a:lnTo>
                <a:lnTo>
                  <a:pt x="2094018" y="970228"/>
                </a:lnTo>
                <a:lnTo>
                  <a:pt x="2075443" y="1014242"/>
                </a:lnTo>
                <a:lnTo>
                  <a:pt x="2046633" y="1051533"/>
                </a:lnTo>
                <a:lnTo>
                  <a:pt x="2009342" y="1080343"/>
                </a:lnTo>
                <a:lnTo>
                  <a:pt x="1965328" y="1098918"/>
                </a:lnTo>
                <a:lnTo>
                  <a:pt x="1916346" y="1105499"/>
                </a:lnTo>
                <a:lnTo>
                  <a:pt x="184253" y="1105499"/>
                </a:lnTo>
                <a:lnTo>
                  <a:pt x="135271" y="1098918"/>
                </a:lnTo>
                <a:lnTo>
                  <a:pt x="91257" y="1080343"/>
                </a:lnTo>
                <a:lnTo>
                  <a:pt x="53966" y="1051533"/>
                </a:lnTo>
                <a:lnTo>
                  <a:pt x="25156"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5" name="object 5"/>
          <p:cNvSpPr txBox="1"/>
          <p:nvPr/>
        </p:nvSpPr>
        <p:spPr>
          <a:xfrm>
            <a:off x="810922" y="2663139"/>
            <a:ext cx="1231053"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bomb_guy</a:t>
            </a:r>
            <a:endParaRPr sz="1867">
              <a:latin typeface="Arial"/>
              <a:cs typeface="Arial"/>
            </a:endParaRPr>
          </a:p>
        </p:txBody>
      </p:sp>
      <p:sp>
        <p:nvSpPr>
          <p:cNvPr id="6" name="object 6"/>
          <p:cNvSpPr txBox="1"/>
          <p:nvPr/>
        </p:nvSpPr>
        <p:spPr>
          <a:xfrm>
            <a:off x="810922" y="3221939"/>
            <a:ext cx="2129367" cy="595035"/>
          </a:xfrm>
          <a:prstGeom prst="rect">
            <a:avLst/>
          </a:prstGeom>
        </p:spPr>
        <p:txBody>
          <a:bodyPr vert="horz" wrap="square" lIns="0" tIns="30480" rIns="0" bIns="0" rtlCol="0">
            <a:spAutoFit/>
          </a:bodyPr>
          <a:lstStyle/>
          <a:p>
            <a:pPr marL="16933" marR="6773">
              <a:lnSpc>
                <a:spcPts val="2200"/>
              </a:lnSpc>
              <a:spcBef>
                <a:spcPts val="240"/>
              </a:spcBef>
            </a:pPr>
            <a:r>
              <a:rPr sz="1867" spc="-7" dirty="0">
                <a:latin typeface="Arial"/>
                <a:cs typeface="Arial"/>
              </a:rPr>
              <a:t>hide_or_show  damage_all_around</a:t>
            </a:r>
            <a:endParaRPr sz="1867">
              <a:latin typeface="Arial"/>
              <a:cs typeface="Arial"/>
            </a:endParaRPr>
          </a:p>
        </p:txBody>
      </p:sp>
      <p:sp>
        <p:nvSpPr>
          <p:cNvPr id="7" name="object 7"/>
          <p:cNvSpPr/>
          <p:nvPr/>
        </p:nvSpPr>
        <p:spPr>
          <a:xfrm>
            <a:off x="9286666" y="3367083"/>
            <a:ext cx="2591647" cy="1474047"/>
          </a:xfrm>
          <a:custGeom>
            <a:avLst/>
            <a:gdLst/>
            <a:ahLst/>
            <a:cxnLst/>
            <a:rect l="l" t="t" r="r" b="b"/>
            <a:pathLst>
              <a:path w="1943734" h="1105535">
                <a:moveTo>
                  <a:pt x="1759145" y="1105499"/>
                </a:moveTo>
                <a:lnTo>
                  <a:pt x="184253" y="1105499"/>
                </a:lnTo>
                <a:lnTo>
                  <a:pt x="135271" y="1098918"/>
                </a:lnTo>
                <a:lnTo>
                  <a:pt x="91257" y="1080343"/>
                </a:lnTo>
                <a:lnTo>
                  <a:pt x="53966" y="1051533"/>
                </a:lnTo>
                <a:lnTo>
                  <a:pt x="25155" y="1014242"/>
                </a:lnTo>
                <a:lnTo>
                  <a:pt x="6581" y="970228"/>
                </a:lnTo>
                <a:lnTo>
                  <a:pt x="0" y="921246"/>
                </a:lnTo>
                <a:lnTo>
                  <a:pt x="0" y="184253"/>
                </a:lnTo>
                <a:lnTo>
                  <a:pt x="6581" y="135271"/>
                </a:lnTo>
                <a:lnTo>
                  <a:pt x="25155" y="91257"/>
                </a:lnTo>
                <a:lnTo>
                  <a:pt x="53966" y="53966"/>
                </a:lnTo>
                <a:lnTo>
                  <a:pt x="91257" y="25156"/>
                </a:lnTo>
                <a:lnTo>
                  <a:pt x="135271" y="6581"/>
                </a:lnTo>
                <a:lnTo>
                  <a:pt x="184253" y="0"/>
                </a:lnTo>
                <a:lnTo>
                  <a:pt x="1759145"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5" y="1105499"/>
                </a:lnTo>
                <a:close/>
              </a:path>
            </a:pathLst>
          </a:custGeom>
          <a:solidFill>
            <a:srgbClr val="EEEEEE"/>
          </a:solidFill>
        </p:spPr>
        <p:txBody>
          <a:bodyPr wrap="square" lIns="0" tIns="0" rIns="0" bIns="0" rtlCol="0"/>
          <a:lstStyle/>
          <a:p>
            <a:endParaRPr sz="2400"/>
          </a:p>
        </p:txBody>
      </p:sp>
      <p:sp>
        <p:nvSpPr>
          <p:cNvPr id="8" name="object 8"/>
          <p:cNvSpPr/>
          <p:nvPr/>
        </p:nvSpPr>
        <p:spPr>
          <a:xfrm>
            <a:off x="9286666" y="3367083"/>
            <a:ext cx="2591647" cy="1474047"/>
          </a:xfrm>
          <a:custGeom>
            <a:avLst/>
            <a:gdLst/>
            <a:ahLst/>
            <a:cxnLst/>
            <a:rect l="l" t="t" r="r" b="b"/>
            <a:pathLst>
              <a:path w="1943734" h="1105535">
                <a:moveTo>
                  <a:pt x="0" y="184253"/>
                </a:moveTo>
                <a:lnTo>
                  <a:pt x="6581" y="135271"/>
                </a:lnTo>
                <a:lnTo>
                  <a:pt x="25155" y="91257"/>
                </a:lnTo>
                <a:lnTo>
                  <a:pt x="53966" y="53966"/>
                </a:lnTo>
                <a:lnTo>
                  <a:pt x="91257" y="25156"/>
                </a:lnTo>
                <a:lnTo>
                  <a:pt x="135271" y="6581"/>
                </a:lnTo>
                <a:lnTo>
                  <a:pt x="184253" y="0"/>
                </a:lnTo>
                <a:lnTo>
                  <a:pt x="1759145"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5" y="1105499"/>
                </a:lnTo>
                <a:lnTo>
                  <a:pt x="184253" y="1105499"/>
                </a:lnTo>
                <a:lnTo>
                  <a:pt x="135271" y="1098918"/>
                </a:lnTo>
                <a:lnTo>
                  <a:pt x="91257" y="1080343"/>
                </a:lnTo>
                <a:lnTo>
                  <a:pt x="53966" y="1051533"/>
                </a:lnTo>
                <a:lnTo>
                  <a:pt x="25155"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9" name="object 9"/>
          <p:cNvSpPr txBox="1"/>
          <p:nvPr/>
        </p:nvSpPr>
        <p:spPr>
          <a:xfrm>
            <a:off x="9455989" y="3526922"/>
            <a:ext cx="1363980"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shooty_guy</a:t>
            </a:r>
            <a:endParaRPr sz="1867">
              <a:latin typeface="Arial"/>
              <a:cs typeface="Arial"/>
            </a:endParaRPr>
          </a:p>
        </p:txBody>
      </p:sp>
      <p:sp>
        <p:nvSpPr>
          <p:cNvPr id="10" name="object 10"/>
          <p:cNvSpPr txBox="1"/>
          <p:nvPr/>
        </p:nvSpPr>
        <p:spPr>
          <a:xfrm>
            <a:off x="9455989" y="4085722"/>
            <a:ext cx="1313180" cy="595035"/>
          </a:xfrm>
          <a:prstGeom prst="rect">
            <a:avLst/>
          </a:prstGeom>
        </p:spPr>
        <p:txBody>
          <a:bodyPr vert="horz" wrap="square" lIns="0" tIns="30480" rIns="0" bIns="0" rtlCol="0">
            <a:spAutoFit/>
          </a:bodyPr>
          <a:lstStyle/>
          <a:p>
            <a:pPr marL="16933" marR="6773">
              <a:lnSpc>
                <a:spcPts val="2200"/>
              </a:lnSpc>
              <a:spcBef>
                <a:spcPts val="240"/>
              </a:spcBef>
            </a:pPr>
            <a:r>
              <a:rPr sz="1867" spc="-7" dirty="0">
                <a:latin typeface="Arial"/>
                <a:cs typeface="Arial"/>
              </a:rPr>
              <a:t>patrol_ai  </a:t>
            </a:r>
            <a:r>
              <a:rPr sz="1867" dirty="0">
                <a:latin typeface="Arial"/>
                <a:cs typeface="Arial"/>
              </a:rPr>
              <a:t>shoot_bullet</a:t>
            </a:r>
            <a:endParaRPr sz="1867">
              <a:latin typeface="Arial"/>
              <a:cs typeface="Arial"/>
            </a:endParaRPr>
          </a:p>
        </p:txBody>
      </p:sp>
      <p:sp>
        <p:nvSpPr>
          <p:cNvPr id="11" name="object 11"/>
          <p:cNvSpPr/>
          <p:nvPr/>
        </p:nvSpPr>
        <p:spPr>
          <a:xfrm>
            <a:off x="6215733" y="3501099"/>
            <a:ext cx="2591647" cy="1474047"/>
          </a:xfrm>
          <a:custGeom>
            <a:avLst/>
            <a:gdLst/>
            <a:ahLst/>
            <a:cxnLst/>
            <a:rect l="l" t="t" r="r" b="b"/>
            <a:pathLst>
              <a:path w="1943734" h="1105535">
                <a:moveTo>
                  <a:pt x="1759146" y="1105499"/>
                </a:moveTo>
                <a:lnTo>
                  <a:pt x="184253" y="1105499"/>
                </a:lnTo>
                <a:lnTo>
                  <a:pt x="135271" y="1098918"/>
                </a:lnTo>
                <a:lnTo>
                  <a:pt x="91257" y="1080343"/>
                </a:lnTo>
                <a:lnTo>
                  <a:pt x="53966" y="1051533"/>
                </a:lnTo>
                <a:lnTo>
                  <a:pt x="25156" y="1014242"/>
                </a:lnTo>
                <a:lnTo>
                  <a:pt x="6581" y="970228"/>
                </a:lnTo>
                <a:lnTo>
                  <a:pt x="0" y="921246"/>
                </a:lnTo>
                <a:lnTo>
                  <a:pt x="0" y="184253"/>
                </a:lnTo>
                <a:lnTo>
                  <a:pt x="6581" y="135271"/>
                </a:lnTo>
                <a:lnTo>
                  <a:pt x="25156" y="91257"/>
                </a:lnTo>
                <a:lnTo>
                  <a:pt x="53966" y="53966"/>
                </a:lnTo>
                <a:lnTo>
                  <a:pt x="91257" y="25156"/>
                </a:lnTo>
                <a:lnTo>
                  <a:pt x="135271" y="6581"/>
                </a:lnTo>
                <a:lnTo>
                  <a:pt x="184253" y="0"/>
                </a:lnTo>
                <a:lnTo>
                  <a:pt x="1759146"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6" y="1105499"/>
                </a:lnTo>
                <a:close/>
              </a:path>
            </a:pathLst>
          </a:custGeom>
          <a:solidFill>
            <a:srgbClr val="EEEEEE"/>
          </a:solidFill>
        </p:spPr>
        <p:txBody>
          <a:bodyPr wrap="square" lIns="0" tIns="0" rIns="0" bIns="0" rtlCol="0"/>
          <a:lstStyle/>
          <a:p>
            <a:endParaRPr sz="2400"/>
          </a:p>
        </p:txBody>
      </p:sp>
      <p:sp>
        <p:nvSpPr>
          <p:cNvPr id="12" name="object 12"/>
          <p:cNvSpPr/>
          <p:nvPr/>
        </p:nvSpPr>
        <p:spPr>
          <a:xfrm>
            <a:off x="6215733" y="3501099"/>
            <a:ext cx="2591647" cy="1474047"/>
          </a:xfrm>
          <a:custGeom>
            <a:avLst/>
            <a:gdLst/>
            <a:ahLst/>
            <a:cxnLst/>
            <a:rect l="l" t="t" r="r" b="b"/>
            <a:pathLst>
              <a:path w="1943734" h="1105535">
                <a:moveTo>
                  <a:pt x="0" y="184253"/>
                </a:moveTo>
                <a:lnTo>
                  <a:pt x="6581" y="135271"/>
                </a:lnTo>
                <a:lnTo>
                  <a:pt x="25156" y="91257"/>
                </a:lnTo>
                <a:lnTo>
                  <a:pt x="53966" y="53966"/>
                </a:lnTo>
                <a:lnTo>
                  <a:pt x="91257" y="25156"/>
                </a:lnTo>
                <a:lnTo>
                  <a:pt x="135271" y="6581"/>
                </a:lnTo>
                <a:lnTo>
                  <a:pt x="184253" y="0"/>
                </a:lnTo>
                <a:lnTo>
                  <a:pt x="1759146"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6" y="1105499"/>
                </a:lnTo>
                <a:lnTo>
                  <a:pt x="184253" y="1105499"/>
                </a:lnTo>
                <a:lnTo>
                  <a:pt x="135271" y="1098918"/>
                </a:lnTo>
                <a:lnTo>
                  <a:pt x="91257" y="1080343"/>
                </a:lnTo>
                <a:lnTo>
                  <a:pt x="53966" y="1051533"/>
                </a:lnTo>
                <a:lnTo>
                  <a:pt x="25156"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13" name="object 13"/>
          <p:cNvSpPr txBox="1"/>
          <p:nvPr/>
        </p:nvSpPr>
        <p:spPr>
          <a:xfrm>
            <a:off x="6385055" y="3660939"/>
            <a:ext cx="1259840"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melee_guy</a:t>
            </a:r>
            <a:endParaRPr sz="1867">
              <a:latin typeface="Arial"/>
              <a:cs typeface="Arial"/>
            </a:endParaRPr>
          </a:p>
        </p:txBody>
      </p:sp>
      <p:sp>
        <p:nvSpPr>
          <p:cNvPr id="14" name="object 14"/>
          <p:cNvSpPr txBox="1"/>
          <p:nvPr/>
        </p:nvSpPr>
        <p:spPr>
          <a:xfrm>
            <a:off x="6385055" y="4219739"/>
            <a:ext cx="1681480" cy="595035"/>
          </a:xfrm>
          <a:prstGeom prst="rect">
            <a:avLst/>
          </a:prstGeom>
        </p:spPr>
        <p:txBody>
          <a:bodyPr vert="horz" wrap="square" lIns="0" tIns="30480" rIns="0" bIns="0" rtlCol="0">
            <a:spAutoFit/>
          </a:bodyPr>
          <a:lstStyle/>
          <a:p>
            <a:pPr marL="16933" marR="6773">
              <a:lnSpc>
                <a:spcPts val="2200"/>
              </a:lnSpc>
              <a:spcBef>
                <a:spcPts val="240"/>
              </a:spcBef>
            </a:pPr>
            <a:r>
              <a:rPr sz="1867" dirty="0">
                <a:latin typeface="Arial"/>
                <a:cs typeface="Arial"/>
              </a:rPr>
              <a:t>chase_ai  </a:t>
            </a:r>
            <a:r>
              <a:rPr sz="1867" spc="-7" dirty="0">
                <a:latin typeface="Arial"/>
                <a:cs typeface="Arial"/>
              </a:rPr>
              <a:t>damage_ahead</a:t>
            </a:r>
            <a:endParaRPr sz="1867">
              <a:latin typeface="Arial"/>
              <a:cs typeface="Arial"/>
            </a:endParaRPr>
          </a:p>
        </p:txBody>
      </p:sp>
      <p:sp>
        <p:nvSpPr>
          <p:cNvPr id="15" name="object 15"/>
          <p:cNvSpPr/>
          <p:nvPr/>
        </p:nvSpPr>
        <p:spPr>
          <a:xfrm>
            <a:off x="7842599" y="1803899"/>
            <a:ext cx="2591647" cy="1176020"/>
          </a:xfrm>
          <a:custGeom>
            <a:avLst/>
            <a:gdLst/>
            <a:ahLst/>
            <a:cxnLst/>
            <a:rect l="l" t="t" r="r" b="b"/>
            <a:pathLst>
              <a:path w="1943734" h="882014">
                <a:moveTo>
                  <a:pt x="1796446" y="881699"/>
                </a:moveTo>
                <a:lnTo>
                  <a:pt x="146952" y="881699"/>
                </a:lnTo>
                <a:lnTo>
                  <a:pt x="100504" y="874208"/>
                </a:lnTo>
                <a:lnTo>
                  <a:pt x="60164" y="853346"/>
                </a:lnTo>
                <a:lnTo>
                  <a:pt x="28353" y="821535"/>
                </a:lnTo>
                <a:lnTo>
                  <a:pt x="7491" y="781195"/>
                </a:lnTo>
                <a:lnTo>
                  <a:pt x="0" y="734746"/>
                </a:lnTo>
                <a:lnTo>
                  <a:pt x="0" y="146952"/>
                </a:ln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close/>
              </a:path>
            </a:pathLst>
          </a:custGeom>
          <a:solidFill>
            <a:srgbClr val="EEEEEE"/>
          </a:solidFill>
        </p:spPr>
        <p:txBody>
          <a:bodyPr wrap="square" lIns="0" tIns="0" rIns="0" bIns="0" rtlCol="0"/>
          <a:lstStyle/>
          <a:p>
            <a:endParaRPr sz="2400"/>
          </a:p>
        </p:txBody>
      </p:sp>
      <p:sp>
        <p:nvSpPr>
          <p:cNvPr id="16" name="object 16"/>
          <p:cNvSpPr/>
          <p:nvPr/>
        </p:nvSpPr>
        <p:spPr>
          <a:xfrm>
            <a:off x="7842599" y="1803899"/>
            <a:ext cx="2591647" cy="1176020"/>
          </a:xfrm>
          <a:custGeom>
            <a:avLst/>
            <a:gdLst/>
            <a:ahLst/>
            <a:cxnLst/>
            <a:rect l="l" t="t" r="r" b="b"/>
            <a:pathLst>
              <a:path w="1943734" h="882014">
                <a:moveTo>
                  <a:pt x="0" y="146952"/>
                </a:move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lnTo>
                  <a:pt x="146952" y="881699"/>
                </a:lnTo>
                <a:lnTo>
                  <a:pt x="100504" y="874208"/>
                </a:lnTo>
                <a:lnTo>
                  <a:pt x="60164" y="853346"/>
                </a:lnTo>
                <a:lnTo>
                  <a:pt x="28353" y="821535"/>
                </a:lnTo>
                <a:lnTo>
                  <a:pt x="7491" y="781195"/>
                </a:lnTo>
                <a:lnTo>
                  <a:pt x="0" y="734746"/>
                </a:lnTo>
                <a:lnTo>
                  <a:pt x="0" y="146952"/>
                </a:lnTo>
                <a:close/>
              </a:path>
            </a:pathLst>
          </a:custGeom>
          <a:ln w="9524">
            <a:solidFill>
              <a:srgbClr val="595959"/>
            </a:solidFill>
          </a:ln>
        </p:spPr>
        <p:txBody>
          <a:bodyPr wrap="square" lIns="0" tIns="0" rIns="0" bIns="0" rtlCol="0"/>
          <a:lstStyle/>
          <a:p>
            <a:endParaRPr sz="2400"/>
          </a:p>
        </p:txBody>
      </p:sp>
      <p:sp>
        <p:nvSpPr>
          <p:cNvPr id="17" name="object 17"/>
          <p:cNvSpPr txBox="1"/>
          <p:nvPr/>
        </p:nvSpPr>
        <p:spPr>
          <a:xfrm>
            <a:off x="7997356" y="2507973"/>
            <a:ext cx="613833" cy="304421"/>
          </a:xfrm>
          <a:prstGeom prst="rect">
            <a:avLst/>
          </a:prstGeom>
        </p:spPr>
        <p:txBody>
          <a:bodyPr vert="horz" wrap="square" lIns="0" tIns="16933" rIns="0" bIns="0" rtlCol="0">
            <a:spAutoFit/>
          </a:bodyPr>
          <a:lstStyle/>
          <a:p>
            <a:pPr marL="16933">
              <a:spcBef>
                <a:spcPts val="133"/>
              </a:spcBef>
            </a:pPr>
            <a:r>
              <a:rPr sz="1867" dirty="0">
                <a:latin typeface="Arial"/>
                <a:cs typeface="Arial"/>
              </a:rPr>
              <a:t>move</a:t>
            </a:r>
            <a:endParaRPr sz="1867">
              <a:latin typeface="Arial"/>
              <a:cs typeface="Arial"/>
            </a:endParaRPr>
          </a:p>
        </p:txBody>
      </p:sp>
      <p:sp>
        <p:nvSpPr>
          <p:cNvPr id="18" name="object 18"/>
          <p:cNvSpPr/>
          <p:nvPr/>
        </p:nvSpPr>
        <p:spPr>
          <a:xfrm>
            <a:off x="5220032" y="1482783"/>
            <a:ext cx="949960" cy="545253"/>
          </a:xfrm>
          <a:custGeom>
            <a:avLst/>
            <a:gdLst/>
            <a:ahLst/>
            <a:cxnLst/>
            <a:rect l="l" t="t" r="r" b="b"/>
            <a:pathLst>
              <a:path w="712470" h="408940">
                <a:moveTo>
                  <a:pt x="6440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close/>
              </a:path>
            </a:pathLst>
          </a:custGeom>
          <a:solidFill>
            <a:srgbClr val="EEEEEE"/>
          </a:solidFill>
        </p:spPr>
        <p:txBody>
          <a:bodyPr wrap="square" lIns="0" tIns="0" rIns="0" bIns="0" rtlCol="0"/>
          <a:lstStyle/>
          <a:p>
            <a:endParaRPr sz="2400"/>
          </a:p>
        </p:txBody>
      </p:sp>
      <p:sp>
        <p:nvSpPr>
          <p:cNvPr id="19" name="object 19"/>
          <p:cNvSpPr/>
          <p:nvPr/>
        </p:nvSpPr>
        <p:spPr>
          <a:xfrm>
            <a:off x="5220032" y="1482783"/>
            <a:ext cx="949960" cy="545253"/>
          </a:xfrm>
          <a:custGeom>
            <a:avLst/>
            <a:gdLst/>
            <a:ahLst/>
            <a:cxnLst/>
            <a:rect l="l" t="t" r="r" b="b"/>
            <a:pathLst>
              <a:path w="712470" h="408940">
                <a:moveTo>
                  <a:pt x="0" y="68101"/>
                </a:move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20" name="object 20"/>
          <p:cNvSpPr txBox="1"/>
          <p:nvPr/>
        </p:nvSpPr>
        <p:spPr>
          <a:xfrm>
            <a:off x="5343996" y="1529832"/>
            <a:ext cx="4544905" cy="723403"/>
          </a:xfrm>
          <a:prstGeom prst="rect">
            <a:avLst/>
          </a:prstGeom>
        </p:spPr>
        <p:txBody>
          <a:bodyPr vert="horz" wrap="square" lIns="0" tIns="83820" rIns="0" bIns="0" rtlCol="0">
            <a:spAutoFit/>
          </a:bodyPr>
          <a:lstStyle/>
          <a:p>
            <a:pPr marL="16933">
              <a:spcBef>
                <a:spcPts val="660"/>
              </a:spcBef>
            </a:pPr>
            <a:r>
              <a:rPr sz="1867" b="1" spc="-7" dirty="0">
                <a:latin typeface="Arial"/>
                <a:cs typeface="Arial"/>
              </a:rPr>
              <a:t>entity</a:t>
            </a:r>
            <a:endParaRPr sz="1867">
              <a:latin typeface="Arial"/>
              <a:cs typeface="Arial"/>
            </a:endParaRPr>
          </a:p>
          <a:p>
            <a:pPr marL="2669473">
              <a:spcBef>
                <a:spcPts val="533"/>
              </a:spcBef>
            </a:pPr>
            <a:r>
              <a:rPr sz="1867" b="1" spc="-7" dirty="0">
                <a:latin typeface="Arial"/>
                <a:cs typeface="Arial"/>
              </a:rPr>
              <a:t>moveable_entity</a:t>
            </a:r>
            <a:endParaRPr sz="1867">
              <a:latin typeface="Arial"/>
              <a:cs typeface="Arial"/>
            </a:endParaRPr>
          </a:p>
        </p:txBody>
      </p:sp>
      <p:sp>
        <p:nvSpPr>
          <p:cNvPr id="21" name="object 21"/>
          <p:cNvSpPr/>
          <p:nvPr/>
        </p:nvSpPr>
        <p:spPr>
          <a:xfrm>
            <a:off x="2117595" y="2027584"/>
            <a:ext cx="3578013" cy="466513"/>
          </a:xfrm>
          <a:custGeom>
            <a:avLst/>
            <a:gdLst/>
            <a:ahLst/>
            <a:cxnLst/>
            <a:rect l="l" t="t" r="r" b="b"/>
            <a:pathLst>
              <a:path w="2683510" h="349885">
                <a:moveTo>
                  <a:pt x="2682928" y="0"/>
                </a:moveTo>
                <a:lnTo>
                  <a:pt x="0" y="349321"/>
                </a:lnTo>
              </a:path>
            </a:pathLst>
          </a:custGeom>
          <a:ln w="9524">
            <a:solidFill>
              <a:srgbClr val="595959"/>
            </a:solidFill>
          </a:ln>
        </p:spPr>
        <p:txBody>
          <a:bodyPr wrap="square" lIns="0" tIns="0" rIns="0" bIns="0" rtlCol="0"/>
          <a:lstStyle/>
          <a:p>
            <a:endParaRPr sz="2400"/>
          </a:p>
        </p:txBody>
      </p:sp>
      <p:sp>
        <p:nvSpPr>
          <p:cNvPr id="22" name="object 22"/>
          <p:cNvSpPr/>
          <p:nvPr/>
        </p:nvSpPr>
        <p:spPr>
          <a:xfrm>
            <a:off x="2060445" y="2472543"/>
            <a:ext cx="60113" cy="42333"/>
          </a:xfrm>
          <a:custGeom>
            <a:avLst/>
            <a:gdLst/>
            <a:ahLst/>
            <a:cxnLst/>
            <a:rect l="l" t="t" r="r" b="b"/>
            <a:pathLst>
              <a:path w="45084" h="31750">
                <a:moveTo>
                  <a:pt x="44894" y="31202"/>
                </a:moveTo>
                <a:lnTo>
                  <a:pt x="0" y="21182"/>
                </a:lnTo>
                <a:lnTo>
                  <a:pt x="40832" y="0"/>
                </a:lnTo>
                <a:lnTo>
                  <a:pt x="44894" y="31202"/>
                </a:lnTo>
                <a:close/>
              </a:path>
            </a:pathLst>
          </a:custGeom>
          <a:solidFill>
            <a:srgbClr val="595959"/>
          </a:solidFill>
        </p:spPr>
        <p:txBody>
          <a:bodyPr wrap="square" lIns="0" tIns="0" rIns="0" bIns="0" rtlCol="0"/>
          <a:lstStyle/>
          <a:p>
            <a:endParaRPr sz="2400"/>
          </a:p>
        </p:txBody>
      </p:sp>
      <p:sp>
        <p:nvSpPr>
          <p:cNvPr id="23" name="object 23"/>
          <p:cNvSpPr/>
          <p:nvPr/>
        </p:nvSpPr>
        <p:spPr>
          <a:xfrm>
            <a:off x="2060445" y="2472543"/>
            <a:ext cx="60113" cy="42333"/>
          </a:xfrm>
          <a:custGeom>
            <a:avLst/>
            <a:gdLst/>
            <a:ahLst/>
            <a:cxnLst/>
            <a:rect l="l" t="t" r="r" b="b"/>
            <a:pathLst>
              <a:path w="45084" h="31750">
                <a:moveTo>
                  <a:pt x="40832" y="0"/>
                </a:moveTo>
                <a:lnTo>
                  <a:pt x="0" y="21182"/>
                </a:lnTo>
                <a:lnTo>
                  <a:pt x="44894" y="31202"/>
                </a:lnTo>
                <a:lnTo>
                  <a:pt x="40832" y="0"/>
                </a:lnTo>
                <a:close/>
              </a:path>
            </a:pathLst>
          </a:custGeom>
          <a:ln w="9524">
            <a:solidFill>
              <a:srgbClr val="595959"/>
            </a:solidFill>
          </a:ln>
        </p:spPr>
        <p:txBody>
          <a:bodyPr wrap="square" lIns="0" tIns="0" rIns="0" bIns="0" rtlCol="0"/>
          <a:lstStyle/>
          <a:p>
            <a:endParaRPr sz="2400"/>
          </a:p>
        </p:txBody>
      </p:sp>
      <p:sp>
        <p:nvSpPr>
          <p:cNvPr id="24" name="object 24"/>
          <p:cNvSpPr/>
          <p:nvPr/>
        </p:nvSpPr>
        <p:spPr>
          <a:xfrm>
            <a:off x="9138200" y="2979501"/>
            <a:ext cx="1370753" cy="368300"/>
          </a:xfrm>
          <a:custGeom>
            <a:avLst/>
            <a:gdLst/>
            <a:ahLst/>
            <a:cxnLst/>
            <a:rect l="l" t="t" r="r" b="b"/>
            <a:pathLst>
              <a:path w="1028065" h="276225">
                <a:moveTo>
                  <a:pt x="0" y="0"/>
                </a:moveTo>
                <a:lnTo>
                  <a:pt x="1027803" y="275884"/>
                </a:lnTo>
              </a:path>
            </a:pathLst>
          </a:custGeom>
          <a:ln w="9524">
            <a:solidFill>
              <a:srgbClr val="595959"/>
            </a:solidFill>
          </a:ln>
        </p:spPr>
        <p:txBody>
          <a:bodyPr wrap="square" lIns="0" tIns="0" rIns="0" bIns="0" rtlCol="0"/>
          <a:lstStyle/>
          <a:p>
            <a:endParaRPr sz="2400"/>
          </a:p>
        </p:txBody>
      </p:sp>
      <p:sp>
        <p:nvSpPr>
          <p:cNvPr id="25" name="object 25"/>
          <p:cNvSpPr/>
          <p:nvPr/>
        </p:nvSpPr>
        <p:spPr>
          <a:xfrm>
            <a:off x="10503166" y="3327085"/>
            <a:ext cx="61807" cy="40640"/>
          </a:xfrm>
          <a:custGeom>
            <a:avLst/>
            <a:gdLst/>
            <a:ahLst/>
            <a:cxnLst/>
            <a:rect l="l" t="t" r="r" b="b"/>
            <a:pathLst>
              <a:path w="46354" h="30480">
                <a:moveTo>
                  <a:pt x="0" y="30389"/>
                </a:moveTo>
                <a:lnTo>
                  <a:pt x="8157" y="0"/>
                </a:lnTo>
                <a:lnTo>
                  <a:pt x="45826" y="26400"/>
                </a:lnTo>
                <a:lnTo>
                  <a:pt x="0" y="30389"/>
                </a:lnTo>
                <a:close/>
              </a:path>
            </a:pathLst>
          </a:custGeom>
          <a:solidFill>
            <a:srgbClr val="595959"/>
          </a:solidFill>
        </p:spPr>
        <p:txBody>
          <a:bodyPr wrap="square" lIns="0" tIns="0" rIns="0" bIns="0" rtlCol="0"/>
          <a:lstStyle/>
          <a:p>
            <a:endParaRPr sz="2400"/>
          </a:p>
        </p:txBody>
      </p:sp>
      <p:sp>
        <p:nvSpPr>
          <p:cNvPr id="26" name="object 26"/>
          <p:cNvSpPr/>
          <p:nvPr/>
        </p:nvSpPr>
        <p:spPr>
          <a:xfrm>
            <a:off x="10503166" y="3327085"/>
            <a:ext cx="61807" cy="40640"/>
          </a:xfrm>
          <a:custGeom>
            <a:avLst/>
            <a:gdLst/>
            <a:ahLst/>
            <a:cxnLst/>
            <a:rect l="l" t="t" r="r" b="b"/>
            <a:pathLst>
              <a:path w="46354" h="30480">
                <a:moveTo>
                  <a:pt x="0" y="30389"/>
                </a:moveTo>
                <a:lnTo>
                  <a:pt x="45826" y="26400"/>
                </a:lnTo>
                <a:lnTo>
                  <a:pt x="8157" y="0"/>
                </a:lnTo>
                <a:lnTo>
                  <a:pt x="0" y="30389"/>
                </a:lnTo>
                <a:close/>
              </a:path>
            </a:pathLst>
          </a:custGeom>
          <a:ln w="9524">
            <a:solidFill>
              <a:srgbClr val="595959"/>
            </a:solidFill>
          </a:ln>
        </p:spPr>
        <p:txBody>
          <a:bodyPr wrap="square" lIns="0" tIns="0" rIns="0" bIns="0" rtlCol="0"/>
          <a:lstStyle/>
          <a:p>
            <a:endParaRPr sz="2400"/>
          </a:p>
        </p:txBody>
      </p:sp>
      <p:sp>
        <p:nvSpPr>
          <p:cNvPr id="27" name="object 27"/>
          <p:cNvSpPr/>
          <p:nvPr/>
        </p:nvSpPr>
        <p:spPr>
          <a:xfrm>
            <a:off x="7583961" y="2979501"/>
            <a:ext cx="1554480" cy="498687"/>
          </a:xfrm>
          <a:custGeom>
            <a:avLst/>
            <a:gdLst/>
            <a:ahLst/>
            <a:cxnLst/>
            <a:rect l="l" t="t" r="r" b="b"/>
            <a:pathLst>
              <a:path w="1165859" h="374014">
                <a:moveTo>
                  <a:pt x="1165678" y="0"/>
                </a:moveTo>
                <a:lnTo>
                  <a:pt x="0" y="373750"/>
                </a:lnTo>
              </a:path>
            </a:pathLst>
          </a:custGeom>
          <a:ln w="9524">
            <a:solidFill>
              <a:srgbClr val="595959"/>
            </a:solidFill>
          </a:ln>
        </p:spPr>
        <p:txBody>
          <a:bodyPr wrap="square" lIns="0" tIns="0" rIns="0" bIns="0" rtlCol="0"/>
          <a:lstStyle/>
          <a:p>
            <a:endParaRPr sz="2400"/>
          </a:p>
        </p:txBody>
      </p:sp>
      <p:sp>
        <p:nvSpPr>
          <p:cNvPr id="28" name="object 28"/>
          <p:cNvSpPr/>
          <p:nvPr/>
        </p:nvSpPr>
        <p:spPr>
          <a:xfrm>
            <a:off x="7529079" y="3457859"/>
            <a:ext cx="61807" cy="40640"/>
          </a:xfrm>
          <a:custGeom>
            <a:avLst/>
            <a:gdLst/>
            <a:ahLst/>
            <a:cxnLst/>
            <a:rect l="l" t="t" r="r" b="b"/>
            <a:pathLst>
              <a:path w="46354" h="30480">
                <a:moveTo>
                  <a:pt x="45964" y="29962"/>
                </a:moveTo>
                <a:lnTo>
                  <a:pt x="0" y="28179"/>
                </a:lnTo>
                <a:lnTo>
                  <a:pt x="36357" y="0"/>
                </a:lnTo>
                <a:lnTo>
                  <a:pt x="45964" y="29962"/>
                </a:lnTo>
                <a:close/>
              </a:path>
            </a:pathLst>
          </a:custGeom>
          <a:solidFill>
            <a:srgbClr val="595959"/>
          </a:solidFill>
        </p:spPr>
        <p:txBody>
          <a:bodyPr wrap="square" lIns="0" tIns="0" rIns="0" bIns="0" rtlCol="0"/>
          <a:lstStyle/>
          <a:p>
            <a:endParaRPr sz="2400"/>
          </a:p>
        </p:txBody>
      </p:sp>
      <p:sp>
        <p:nvSpPr>
          <p:cNvPr id="29" name="object 29"/>
          <p:cNvSpPr/>
          <p:nvPr/>
        </p:nvSpPr>
        <p:spPr>
          <a:xfrm>
            <a:off x="7529079" y="3457859"/>
            <a:ext cx="61807" cy="40640"/>
          </a:xfrm>
          <a:custGeom>
            <a:avLst/>
            <a:gdLst/>
            <a:ahLst/>
            <a:cxnLst/>
            <a:rect l="l" t="t" r="r" b="b"/>
            <a:pathLst>
              <a:path w="46354" h="30480">
                <a:moveTo>
                  <a:pt x="36357" y="0"/>
                </a:moveTo>
                <a:lnTo>
                  <a:pt x="0" y="28179"/>
                </a:lnTo>
                <a:lnTo>
                  <a:pt x="45964" y="29962"/>
                </a:lnTo>
                <a:lnTo>
                  <a:pt x="36357" y="0"/>
                </a:lnTo>
                <a:close/>
              </a:path>
            </a:pathLst>
          </a:custGeom>
          <a:ln w="9524">
            <a:solidFill>
              <a:srgbClr val="595959"/>
            </a:solidFill>
          </a:ln>
        </p:spPr>
        <p:txBody>
          <a:bodyPr wrap="square" lIns="0" tIns="0" rIns="0" bIns="0" rtlCol="0"/>
          <a:lstStyle/>
          <a:p>
            <a:endParaRPr sz="2400"/>
          </a:p>
        </p:txBody>
      </p:sp>
      <p:sp>
        <p:nvSpPr>
          <p:cNvPr id="30" name="object 30"/>
          <p:cNvSpPr/>
          <p:nvPr/>
        </p:nvSpPr>
        <p:spPr>
          <a:xfrm>
            <a:off x="7659633" y="5228699"/>
            <a:ext cx="2591647" cy="1176020"/>
          </a:xfrm>
          <a:custGeom>
            <a:avLst/>
            <a:gdLst/>
            <a:ahLst/>
            <a:cxnLst/>
            <a:rect l="l" t="t" r="r" b="b"/>
            <a:pathLst>
              <a:path w="1943734" h="882014">
                <a:moveTo>
                  <a:pt x="1796446" y="881699"/>
                </a:moveTo>
                <a:lnTo>
                  <a:pt x="146952" y="881699"/>
                </a:lnTo>
                <a:lnTo>
                  <a:pt x="100504" y="874208"/>
                </a:lnTo>
                <a:lnTo>
                  <a:pt x="60164" y="853346"/>
                </a:lnTo>
                <a:lnTo>
                  <a:pt x="28353" y="821535"/>
                </a:lnTo>
                <a:lnTo>
                  <a:pt x="7491" y="781195"/>
                </a:lnTo>
                <a:lnTo>
                  <a:pt x="0" y="734746"/>
                </a:lnTo>
                <a:lnTo>
                  <a:pt x="0" y="146952"/>
                </a:ln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close/>
              </a:path>
            </a:pathLst>
          </a:custGeom>
          <a:solidFill>
            <a:srgbClr val="EEEEEE"/>
          </a:solidFill>
        </p:spPr>
        <p:txBody>
          <a:bodyPr wrap="square" lIns="0" tIns="0" rIns="0" bIns="0" rtlCol="0"/>
          <a:lstStyle/>
          <a:p>
            <a:endParaRPr sz="2400"/>
          </a:p>
        </p:txBody>
      </p:sp>
      <p:sp>
        <p:nvSpPr>
          <p:cNvPr id="31" name="object 31"/>
          <p:cNvSpPr/>
          <p:nvPr/>
        </p:nvSpPr>
        <p:spPr>
          <a:xfrm>
            <a:off x="7659633" y="5228699"/>
            <a:ext cx="2591647" cy="1176020"/>
          </a:xfrm>
          <a:custGeom>
            <a:avLst/>
            <a:gdLst/>
            <a:ahLst/>
            <a:cxnLst/>
            <a:rect l="l" t="t" r="r" b="b"/>
            <a:pathLst>
              <a:path w="1943734" h="882014">
                <a:moveTo>
                  <a:pt x="0" y="146952"/>
                </a:move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lnTo>
                  <a:pt x="146952" y="881699"/>
                </a:lnTo>
                <a:lnTo>
                  <a:pt x="100504" y="874208"/>
                </a:lnTo>
                <a:lnTo>
                  <a:pt x="60164" y="853346"/>
                </a:lnTo>
                <a:lnTo>
                  <a:pt x="28353" y="821535"/>
                </a:lnTo>
                <a:lnTo>
                  <a:pt x="7491" y="781195"/>
                </a:lnTo>
                <a:lnTo>
                  <a:pt x="0" y="734746"/>
                </a:lnTo>
                <a:lnTo>
                  <a:pt x="0" y="146952"/>
                </a:lnTo>
                <a:close/>
              </a:path>
            </a:pathLst>
          </a:custGeom>
          <a:ln w="9524">
            <a:solidFill>
              <a:srgbClr val="595959"/>
            </a:solidFill>
          </a:ln>
        </p:spPr>
        <p:txBody>
          <a:bodyPr wrap="square" lIns="0" tIns="0" rIns="0" bIns="0" rtlCol="0"/>
          <a:lstStyle/>
          <a:p>
            <a:endParaRPr sz="2400"/>
          </a:p>
        </p:txBody>
      </p:sp>
      <p:sp>
        <p:nvSpPr>
          <p:cNvPr id="32" name="object 32"/>
          <p:cNvSpPr txBox="1"/>
          <p:nvPr/>
        </p:nvSpPr>
        <p:spPr>
          <a:xfrm>
            <a:off x="7814389" y="5373973"/>
            <a:ext cx="665479"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bullet</a:t>
            </a:r>
            <a:endParaRPr sz="1867">
              <a:latin typeface="Arial"/>
              <a:cs typeface="Arial"/>
            </a:endParaRPr>
          </a:p>
        </p:txBody>
      </p:sp>
      <p:sp>
        <p:nvSpPr>
          <p:cNvPr id="33" name="object 33"/>
          <p:cNvSpPr txBox="1"/>
          <p:nvPr/>
        </p:nvSpPr>
        <p:spPr>
          <a:xfrm>
            <a:off x="7814389" y="5932773"/>
            <a:ext cx="1602740" cy="304421"/>
          </a:xfrm>
          <a:prstGeom prst="rect">
            <a:avLst/>
          </a:prstGeom>
        </p:spPr>
        <p:txBody>
          <a:bodyPr vert="horz" wrap="square" lIns="0" tIns="16933" rIns="0" bIns="0" rtlCol="0">
            <a:spAutoFit/>
          </a:bodyPr>
          <a:lstStyle/>
          <a:p>
            <a:pPr marL="16933">
              <a:spcBef>
                <a:spcPts val="133"/>
              </a:spcBef>
            </a:pPr>
            <a:r>
              <a:rPr sz="1867" spc="-7" dirty="0">
                <a:latin typeface="Arial"/>
                <a:cs typeface="Arial"/>
              </a:rPr>
              <a:t>damage_touch</a:t>
            </a:r>
            <a:endParaRPr sz="1867">
              <a:latin typeface="Arial"/>
              <a:cs typeface="Arial"/>
            </a:endParaRPr>
          </a:p>
        </p:txBody>
      </p:sp>
      <p:sp>
        <p:nvSpPr>
          <p:cNvPr id="34" name="object 34"/>
          <p:cNvSpPr/>
          <p:nvPr/>
        </p:nvSpPr>
        <p:spPr>
          <a:xfrm>
            <a:off x="8961573" y="2979501"/>
            <a:ext cx="176953" cy="2173393"/>
          </a:xfrm>
          <a:custGeom>
            <a:avLst/>
            <a:gdLst/>
            <a:ahLst/>
            <a:cxnLst/>
            <a:rect l="l" t="t" r="r" b="b"/>
            <a:pathLst>
              <a:path w="132715" h="1630045">
                <a:moveTo>
                  <a:pt x="132469" y="0"/>
                </a:moveTo>
                <a:lnTo>
                  <a:pt x="0" y="1629937"/>
                </a:lnTo>
              </a:path>
            </a:pathLst>
          </a:custGeom>
          <a:ln w="9524">
            <a:solidFill>
              <a:srgbClr val="595959"/>
            </a:solidFill>
          </a:ln>
        </p:spPr>
        <p:txBody>
          <a:bodyPr wrap="square" lIns="0" tIns="0" rIns="0" bIns="0" rtlCol="0"/>
          <a:lstStyle/>
          <a:p>
            <a:endParaRPr sz="2400"/>
          </a:p>
        </p:txBody>
      </p:sp>
      <p:sp>
        <p:nvSpPr>
          <p:cNvPr id="35" name="object 35"/>
          <p:cNvSpPr/>
          <p:nvPr/>
        </p:nvSpPr>
        <p:spPr>
          <a:xfrm>
            <a:off x="8940664" y="5151051"/>
            <a:ext cx="42333" cy="59267"/>
          </a:xfrm>
          <a:custGeom>
            <a:avLst/>
            <a:gdLst/>
            <a:ahLst/>
            <a:cxnLst/>
            <a:rect l="l" t="t" r="r" b="b"/>
            <a:pathLst>
              <a:path w="31750" h="44450">
                <a:moveTo>
                  <a:pt x="12179" y="44357"/>
                </a:moveTo>
                <a:lnTo>
                  <a:pt x="0" y="0"/>
                </a:lnTo>
                <a:lnTo>
                  <a:pt x="31362" y="2548"/>
                </a:lnTo>
                <a:lnTo>
                  <a:pt x="12179" y="44357"/>
                </a:lnTo>
                <a:close/>
              </a:path>
            </a:pathLst>
          </a:custGeom>
          <a:solidFill>
            <a:srgbClr val="595959"/>
          </a:solidFill>
        </p:spPr>
        <p:txBody>
          <a:bodyPr wrap="square" lIns="0" tIns="0" rIns="0" bIns="0" rtlCol="0"/>
          <a:lstStyle/>
          <a:p>
            <a:endParaRPr sz="2400"/>
          </a:p>
        </p:txBody>
      </p:sp>
      <p:sp>
        <p:nvSpPr>
          <p:cNvPr id="36" name="object 36"/>
          <p:cNvSpPr/>
          <p:nvPr/>
        </p:nvSpPr>
        <p:spPr>
          <a:xfrm>
            <a:off x="8940664" y="5151051"/>
            <a:ext cx="42333" cy="59267"/>
          </a:xfrm>
          <a:custGeom>
            <a:avLst/>
            <a:gdLst/>
            <a:ahLst/>
            <a:cxnLst/>
            <a:rect l="l" t="t" r="r" b="b"/>
            <a:pathLst>
              <a:path w="31750" h="44450">
                <a:moveTo>
                  <a:pt x="0" y="0"/>
                </a:moveTo>
                <a:lnTo>
                  <a:pt x="12179" y="44357"/>
                </a:lnTo>
                <a:lnTo>
                  <a:pt x="31362" y="2548"/>
                </a:lnTo>
                <a:lnTo>
                  <a:pt x="0" y="0"/>
                </a:lnTo>
                <a:close/>
              </a:path>
            </a:pathLst>
          </a:custGeom>
          <a:ln w="9524">
            <a:solidFill>
              <a:srgbClr val="595959"/>
            </a:solidFill>
          </a:ln>
        </p:spPr>
        <p:txBody>
          <a:bodyPr wrap="square" lIns="0" tIns="0" rIns="0" bIns="0" rtlCol="0"/>
          <a:lstStyle/>
          <a:p>
            <a:endParaRPr sz="2400"/>
          </a:p>
        </p:txBody>
      </p:sp>
      <p:sp>
        <p:nvSpPr>
          <p:cNvPr id="37" name="object 37"/>
          <p:cNvSpPr/>
          <p:nvPr/>
        </p:nvSpPr>
        <p:spPr>
          <a:xfrm>
            <a:off x="3121966" y="5952566"/>
            <a:ext cx="2801620" cy="625687"/>
          </a:xfrm>
          <a:custGeom>
            <a:avLst/>
            <a:gdLst/>
            <a:ahLst/>
            <a:cxnLst/>
            <a:rect l="l" t="t" r="r" b="b"/>
            <a:pathLst>
              <a:path w="2101215" h="469264">
                <a:moveTo>
                  <a:pt x="2022398" y="469199"/>
                </a:moveTo>
                <a:lnTo>
                  <a:pt x="78201" y="469199"/>
                </a:lnTo>
                <a:lnTo>
                  <a:pt x="47761" y="463054"/>
                </a:lnTo>
                <a:lnTo>
                  <a:pt x="22904" y="446295"/>
                </a:lnTo>
                <a:lnTo>
                  <a:pt x="6145" y="421438"/>
                </a:lnTo>
                <a:lnTo>
                  <a:pt x="0" y="390998"/>
                </a:lnTo>
                <a:lnTo>
                  <a:pt x="0" y="78201"/>
                </a:lnTo>
                <a:lnTo>
                  <a:pt x="6145" y="47761"/>
                </a:lnTo>
                <a:lnTo>
                  <a:pt x="22904" y="22904"/>
                </a:lnTo>
                <a:lnTo>
                  <a:pt x="47761" y="6145"/>
                </a:lnTo>
                <a:lnTo>
                  <a:pt x="78201" y="0"/>
                </a:lnTo>
                <a:lnTo>
                  <a:pt x="2022398" y="0"/>
                </a:lnTo>
                <a:lnTo>
                  <a:pt x="2065784" y="13138"/>
                </a:lnTo>
                <a:lnTo>
                  <a:pt x="2094647" y="48275"/>
                </a:lnTo>
                <a:lnTo>
                  <a:pt x="2100599" y="78201"/>
                </a:lnTo>
                <a:lnTo>
                  <a:pt x="2100599" y="390998"/>
                </a:lnTo>
                <a:lnTo>
                  <a:pt x="2094454" y="421438"/>
                </a:lnTo>
                <a:lnTo>
                  <a:pt x="2077695" y="446295"/>
                </a:lnTo>
                <a:lnTo>
                  <a:pt x="2052838" y="463054"/>
                </a:lnTo>
                <a:lnTo>
                  <a:pt x="2022398" y="469199"/>
                </a:lnTo>
                <a:close/>
              </a:path>
            </a:pathLst>
          </a:custGeom>
          <a:solidFill>
            <a:srgbClr val="EEEEEE"/>
          </a:solidFill>
        </p:spPr>
        <p:txBody>
          <a:bodyPr wrap="square" lIns="0" tIns="0" rIns="0" bIns="0" rtlCol="0"/>
          <a:lstStyle/>
          <a:p>
            <a:endParaRPr sz="2400"/>
          </a:p>
        </p:txBody>
      </p:sp>
      <p:sp>
        <p:nvSpPr>
          <p:cNvPr id="38" name="object 38"/>
          <p:cNvSpPr/>
          <p:nvPr/>
        </p:nvSpPr>
        <p:spPr>
          <a:xfrm>
            <a:off x="3121966" y="5952567"/>
            <a:ext cx="2801620" cy="625687"/>
          </a:xfrm>
          <a:custGeom>
            <a:avLst/>
            <a:gdLst/>
            <a:ahLst/>
            <a:cxnLst/>
            <a:rect l="l" t="t" r="r" b="b"/>
            <a:pathLst>
              <a:path w="2101215" h="469264">
                <a:moveTo>
                  <a:pt x="0" y="78201"/>
                </a:moveTo>
                <a:lnTo>
                  <a:pt x="6145" y="47761"/>
                </a:lnTo>
                <a:lnTo>
                  <a:pt x="22904" y="22904"/>
                </a:lnTo>
                <a:lnTo>
                  <a:pt x="47761" y="6145"/>
                </a:lnTo>
                <a:lnTo>
                  <a:pt x="78201" y="0"/>
                </a:lnTo>
                <a:lnTo>
                  <a:pt x="2022398" y="0"/>
                </a:lnTo>
                <a:lnTo>
                  <a:pt x="2065784" y="13138"/>
                </a:lnTo>
                <a:lnTo>
                  <a:pt x="2094647" y="48275"/>
                </a:lnTo>
                <a:lnTo>
                  <a:pt x="2100599" y="78201"/>
                </a:lnTo>
                <a:lnTo>
                  <a:pt x="2100599" y="390998"/>
                </a:lnTo>
                <a:lnTo>
                  <a:pt x="2094454" y="421438"/>
                </a:lnTo>
                <a:lnTo>
                  <a:pt x="2077695" y="446295"/>
                </a:lnTo>
                <a:lnTo>
                  <a:pt x="2052838" y="463054"/>
                </a:lnTo>
                <a:lnTo>
                  <a:pt x="2022398" y="469199"/>
                </a:lnTo>
                <a:lnTo>
                  <a:pt x="78201" y="469199"/>
                </a:lnTo>
                <a:lnTo>
                  <a:pt x="47761" y="463054"/>
                </a:lnTo>
                <a:lnTo>
                  <a:pt x="22904" y="446295"/>
                </a:lnTo>
                <a:lnTo>
                  <a:pt x="6145" y="421438"/>
                </a:lnTo>
                <a:lnTo>
                  <a:pt x="0" y="390998"/>
                </a:lnTo>
                <a:lnTo>
                  <a:pt x="0" y="78201"/>
                </a:lnTo>
                <a:close/>
              </a:path>
            </a:pathLst>
          </a:custGeom>
          <a:ln w="9524">
            <a:solidFill>
              <a:srgbClr val="595959"/>
            </a:solidFill>
          </a:ln>
        </p:spPr>
        <p:txBody>
          <a:bodyPr wrap="square" lIns="0" tIns="0" rIns="0" bIns="0" rtlCol="0"/>
          <a:lstStyle/>
          <a:p>
            <a:endParaRPr sz="2400"/>
          </a:p>
        </p:txBody>
      </p:sp>
      <p:sp>
        <p:nvSpPr>
          <p:cNvPr id="39" name="object 39"/>
          <p:cNvSpPr txBox="1"/>
          <p:nvPr/>
        </p:nvSpPr>
        <p:spPr>
          <a:xfrm>
            <a:off x="3249873" y="6070990"/>
            <a:ext cx="2247052"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chase_bomb_bullet</a:t>
            </a:r>
            <a:endParaRPr sz="1867">
              <a:latin typeface="Arial"/>
              <a:cs typeface="Arial"/>
            </a:endParaRPr>
          </a:p>
        </p:txBody>
      </p:sp>
      <p:sp>
        <p:nvSpPr>
          <p:cNvPr id="40" name="object 40"/>
          <p:cNvSpPr/>
          <p:nvPr/>
        </p:nvSpPr>
        <p:spPr>
          <a:xfrm>
            <a:off x="2042000" y="3977299"/>
            <a:ext cx="2421467" cy="1927860"/>
          </a:xfrm>
          <a:custGeom>
            <a:avLst/>
            <a:gdLst/>
            <a:ahLst/>
            <a:cxnLst/>
            <a:rect l="l" t="t" r="r" b="b"/>
            <a:pathLst>
              <a:path w="1816100" h="1445895">
                <a:moveTo>
                  <a:pt x="0" y="0"/>
                </a:moveTo>
                <a:lnTo>
                  <a:pt x="1815593" y="1445798"/>
                </a:lnTo>
              </a:path>
            </a:pathLst>
          </a:custGeom>
          <a:ln w="9524">
            <a:solidFill>
              <a:srgbClr val="595959"/>
            </a:solidFill>
          </a:ln>
        </p:spPr>
        <p:txBody>
          <a:bodyPr wrap="square" lIns="0" tIns="0" rIns="0" bIns="0" rtlCol="0"/>
          <a:lstStyle/>
          <a:p>
            <a:endParaRPr sz="2400"/>
          </a:p>
        </p:txBody>
      </p:sp>
      <p:sp>
        <p:nvSpPr>
          <p:cNvPr id="41" name="object 41"/>
          <p:cNvSpPr/>
          <p:nvPr/>
        </p:nvSpPr>
        <p:spPr>
          <a:xfrm>
            <a:off x="4449723" y="5888622"/>
            <a:ext cx="58420" cy="52493"/>
          </a:xfrm>
          <a:custGeom>
            <a:avLst/>
            <a:gdLst/>
            <a:ahLst/>
            <a:cxnLst/>
            <a:rect l="l" t="t" r="r" b="b"/>
            <a:pathLst>
              <a:path w="43814" h="39370">
                <a:moveTo>
                  <a:pt x="43614" y="39233"/>
                </a:moveTo>
                <a:lnTo>
                  <a:pt x="0" y="24614"/>
                </a:lnTo>
                <a:lnTo>
                  <a:pt x="19601" y="0"/>
                </a:lnTo>
                <a:lnTo>
                  <a:pt x="43614" y="39233"/>
                </a:lnTo>
                <a:close/>
              </a:path>
            </a:pathLst>
          </a:custGeom>
          <a:solidFill>
            <a:srgbClr val="595959"/>
          </a:solidFill>
        </p:spPr>
        <p:txBody>
          <a:bodyPr wrap="square" lIns="0" tIns="0" rIns="0" bIns="0" rtlCol="0"/>
          <a:lstStyle/>
          <a:p>
            <a:endParaRPr sz="2400"/>
          </a:p>
        </p:txBody>
      </p:sp>
      <p:sp>
        <p:nvSpPr>
          <p:cNvPr id="42" name="object 42"/>
          <p:cNvSpPr/>
          <p:nvPr/>
        </p:nvSpPr>
        <p:spPr>
          <a:xfrm>
            <a:off x="4449723" y="5888622"/>
            <a:ext cx="58420" cy="52493"/>
          </a:xfrm>
          <a:custGeom>
            <a:avLst/>
            <a:gdLst/>
            <a:ahLst/>
            <a:cxnLst/>
            <a:rect l="l" t="t" r="r" b="b"/>
            <a:pathLst>
              <a:path w="43814" h="39370">
                <a:moveTo>
                  <a:pt x="0" y="24614"/>
                </a:moveTo>
                <a:lnTo>
                  <a:pt x="43614" y="39233"/>
                </a:lnTo>
                <a:lnTo>
                  <a:pt x="19601" y="0"/>
                </a:lnTo>
                <a:lnTo>
                  <a:pt x="0" y="24614"/>
                </a:lnTo>
                <a:close/>
              </a:path>
            </a:pathLst>
          </a:custGeom>
          <a:ln w="9524">
            <a:solidFill>
              <a:srgbClr val="595959"/>
            </a:solidFill>
          </a:ln>
        </p:spPr>
        <p:txBody>
          <a:bodyPr wrap="square" lIns="0" tIns="0" rIns="0" bIns="0" rtlCol="0"/>
          <a:lstStyle/>
          <a:p>
            <a:endParaRPr sz="2400"/>
          </a:p>
        </p:txBody>
      </p:sp>
      <p:sp>
        <p:nvSpPr>
          <p:cNvPr id="43" name="object 43"/>
          <p:cNvSpPr/>
          <p:nvPr/>
        </p:nvSpPr>
        <p:spPr>
          <a:xfrm>
            <a:off x="5982077" y="4975099"/>
            <a:ext cx="1529927" cy="1242907"/>
          </a:xfrm>
          <a:custGeom>
            <a:avLst/>
            <a:gdLst/>
            <a:ahLst/>
            <a:cxnLst/>
            <a:rect l="l" t="t" r="r" b="b"/>
            <a:pathLst>
              <a:path w="1147445" h="932179">
                <a:moveTo>
                  <a:pt x="1146942" y="0"/>
                </a:moveTo>
                <a:lnTo>
                  <a:pt x="0" y="931764"/>
                </a:lnTo>
              </a:path>
            </a:pathLst>
          </a:custGeom>
          <a:ln w="9524">
            <a:solidFill>
              <a:srgbClr val="595959"/>
            </a:solidFill>
          </a:ln>
        </p:spPr>
        <p:txBody>
          <a:bodyPr wrap="square" lIns="0" tIns="0" rIns="0" bIns="0" rtlCol="0"/>
          <a:lstStyle/>
          <a:p>
            <a:endParaRPr sz="2400"/>
          </a:p>
        </p:txBody>
      </p:sp>
      <p:sp>
        <p:nvSpPr>
          <p:cNvPr id="44" name="object 44"/>
          <p:cNvSpPr/>
          <p:nvPr/>
        </p:nvSpPr>
        <p:spPr>
          <a:xfrm>
            <a:off x="5937343" y="6201171"/>
            <a:ext cx="58420" cy="53340"/>
          </a:xfrm>
          <a:custGeom>
            <a:avLst/>
            <a:gdLst/>
            <a:ahLst/>
            <a:cxnLst/>
            <a:rect l="l" t="t" r="r" b="b"/>
            <a:pathLst>
              <a:path w="43814" h="40004">
                <a:moveTo>
                  <a:pt x="0" y="39466"/>
                </a:moveTo>
                <a:lnTo>
                  <a:pt x="23629" y="0"/>
                </a:lnTo>
                <a:lnTo>
                  <a:pt x="43469" y="24422"/>
                </a:lnTo>
                <a:lnTo>
                  <a:pt x="0" y="39466"/>
                </a:lnTo>
                <a:close/>
              </a:path>
            </a:pathLst>
          </a:custGeom>
          <a:solidFill>
            <a:srgbClr val="595959"/>
          </a:solidFill>
        </p:spPr>
        <p:txBody>
          <a:bodyPr wrap="square" lIns="0" tIns="0" rIns="0" bIns="0" rtlCol="0"/>
          <a:lstStyle/>
          <a:p>
            <a:endParaRPr sz="2400"/>
          </a:p>
        </p:txBody>
      </p:sp>
      <p:sp>
        <p:nvSpPr>
          <p:cNvPr id="45" name="object 45"/>
          <p:cNvSpPr/>
          <p:nvPr/>
        </p:nvSpPr>
        <p:spPr>
          <a:xfrm>
            <a:off x="5937343" y="6201171"/>
            <a:ext cx="58420" cy="53340"/>
          </a:xfrm>
          <a:custGeom>
            <a:avLst/>
            <a:gdLst/>
            <a:ahLst/>
            <a:cxnLst/>
            <a:rect l="l" t="t" r="r" b="b"/>
            <a:pathLst>
              <a:path w="43814" h="40004">
                <a:moveTo>
                  <a:pt x="23629" y="0"/>
                </a:moveTo>
                <a:lnTo>
                  <a:pt x="0" y="39466"/>
                </a:lnTo>
                <a:lnTo>
                  <a:pt x="43469" y="24422"/>
                </a:lnTo>
                <a:lnTo>
                  <a:pt x="23629" y="0"/>
                </a:lnTo>
                <a:close/>
              </a:path>
            </a:pathLst>
          </a:custGeom>
          <a:ln w="9524">
            <a:solidFill>
              <a:srgbClr val="595959"/>
            </a:solidFill>
          </a:ln>
        </p:spPr>
        <p:txBody>
          <a:bodyPr wrap="square" lIns="0" tIns="0" rIns="0" bIns="0" rtlCol="0"/>
          <a:lstStyle/>
          <a:p>
            <a:endParaRPr sz="2400"/>
          </a:p>
        </p:txBody>
      </p:sp>
      <p:sp>
        <p:nvSpPr>
          <p:cNvPr id="46" name="object 46"/>
          <p:cNvSpPr/>
          <p:nvPr/>
        </p:nvSpPr>
        <p:spPr>
          <a:xfrm>
            <a:off x="6169632" y="1755183"/>
            <a:ext cx="1601893" cy="609600"/>
          </a:xfrm>
          <a:custGeom>
            <a:avLst/>
            <a:gdLst/>
            <a:ahLst/>
            <a:cxnLst/>
            <a:rect l="l" t="t" r="r" b="b"/>
            <a:pathLst>
              <a:path w="1201420" h="457200">
                <a:moveTo>
                  <a:pt x="0" y="0"/>
                </a:moveTo>
                <a:lnTo>
                  <a:pt x="1201184" y="456978"/>
                </a:lnTo>
              </a:path>
            </a:pathLst>
          </a:custGeom>
          <a:ln w="9524">
            <a:solidFill>
              <a:srgbClr val="595959"/>
            </a:solidFill>
          </a:ln>
        </p:spPr>
        <p:txBody>
          <a:bodyPr wrap="square" lIns="0" tIns="0" rIns="0" bIns="0" rtlCol="0"/>
          <a:lstStyle/>
          <a:p>
            <a:endParaRPr sz="2400"/>
          </a:p>
        </p:txBody>
      </p:sp>
      <p:sp>
        <p:nvSpPr>
          <p:cNvPr id="47" name="object 47"/>
          <p:cNvSpPr/>
          <p:nvPr/>
        </p:nvSpPr>
        <p:spPr>
          <a:xfrm>
            <a:off x="7763754" y="2344881"/>
            <a:ext cx="61807" cy="40640"/>
          </a:xfrm>
          <a:custGeom>
            <a:avLst/>
            <a:gdLst/>
            <a:ahLst/>
            <a:cxnLst/>
            <a:rect l="l" t="t" r="r" b="b"/>
            <a:pathLst>
              <a:path w="46354" h="30480">
                <a:moveTo>
                  <a:pt x="45994" y="30074"/>
                </a:moveTo>
                <a:lnTo>
                  <a:pt x="0" y="29409"/>
                </a:lnTo>
                <a:lnTo>
                  <a:pt x="11188" y="0"/>
                </a:lnTo>
                <a:lnTo>
                  <a:pt x="45994" y="30074"/>
                </a:lnTo>
                <a:close/>
              </a:path>
            </a:pathLst>
          </a:custGeom>
          <a:solidFill>
            <a:srgbClr val="595959"/>
          </a:solidFill>
        </p:spPr>
        <p:txBody>
          <a:bodyPr wrap="square" lIns="0" tIns="0" rIns="0" bIns="0" rtlCol="0"/>
          <a:lstStyle/>
          <a:p>
            <a:endParaRPr sz="2400"/>
          </a:p>
        </p:txBody>
      </p:sp>
      <p:sp>
        <p:nvSpPr>
          <p:cNvPr id="48" name="object 48"/>
          <p:cNvSpPr/>
          <p:nvPr/>
        </p:nvSpPr>
        <p:spPr>
          <a:xfrm>
            <a:off x="7763754" y="2344881"/>
            <a:ext cx="61807" cy="40640"/>
          </a:xfrm>
          <a:custGeom>
            <a:avLst/>
            <a:gdLst/>
            <a:ahLst/>
            <a:cxnLst/>
            <a:rect l="l" t="t" r="r" b="b"/>
            <a:pathLst>
              <a:path w="46354" h="30480">
                <a:moveTo>
                  <a:pt x="0" y="29409"/>
                </a:moveTo>
                <a:lnTo>
                  <a:pt x="45994" y="30074"/>
                </a:lnTo>
                <a:lnTo>
                  <a:pt x="11188" y="0"/>
                </a:lnTo>
                <a:lnTo>
                  <a:pt x="0" y="29409"/>
                </a:lnTo>
                <a:close/>
              </a:path>
            </a:pathLst>
          </a:custGeom>
          <a:ln w="9524">
            <a:solidFill>
              <a:srgbClr val="595959"/>
            </a:solidFill>
          </a:ln>
        </p:spPr>
        <p:txBody>
          <a:bodyPr wrap="square" lIns="0" tIns="0" rIns="0" bIns="0" rtlCol="0"/>
          <a:lstStyle/>
          <a:p>
            <a:endParaRPr sz="2400"/>
          </a:p>
        </p:txBody>
      </p:sp>
      <p:sp>
        <p:nvSpPr>
          <p:cNvPr id="49" name="object 49"/>
          <p:cNvSpPr/>
          <p:nvPr/>
        </p:nvSpPr>
        <p:spPr>
          <a:xfrm>
            <a:off x="3476066" y="3853066"/>
            <a:ext cx="2591647" cy="1606973"/>
          </a:xfrm>
          <a:custGeom>
            <a:avLst/>
            <a:gdLst/>
            <a:ahLst/>
            <a:cxnLst/>
            <a:rect l="l" t="t" r="r" b="b"/>
            <a:pathLst>
              <a:path w="1943735" h="1205229">
                <a:moveTo>
                  <a:pt x="1742595" y="1204799"/>
                </a:moveTo>
                <a:lnTo>
                  <a:pt x="200804" y="1204799"/>
                </a:lnTo>
                <a:lnTo>
                  <a:pt x="154761" y="1199496"/>
                </a:lnTo>
                <a:lnTo>
                  <a:pt x="112495" y="1184390"/>
                </a:lnTo>
                <a:lnTo>
                  <a:pt x="75211" y="1160685"/>
                </a:lnTo>
                <a:lnTo>
                  <a:pt x="44114" y="1129588"/>
                </a:lnTo>
                <a:lnTo>
                  <a:pt x="20409" y="1092304"/>
                </a:lnTo>
                <a:lnTo>
                  <a:pt x="5303" y="1050038"/>
                </a:lnTo>
                <a:lnTo>
                  <a:pt x="0" y="1003995"/>
                </a:lnTo>
                <a:lnTo>
                  <a:pt x="0" y="200804"/>
                </a:lnTo>
                <a:lnTo>
                  <a:pt x="5303" y="154761"/>
                </a:lnTo>
                <a:lnTo>
                  <a:pt x="20409" y="112495"/>
                </a:lnTo>
                <a:lnTo>
                  <a:pt x="44114" y="75211"/>
                </a:lnTo>
                <a:lnTo>
                  <a:pt x="75211" y="44114"/>
                </a:lnTo>
                <a:lnTo>
                  <a:pt x="112495" y="20409"/>
                </a:lnTo>
                <a:lnTo>
                  <a:pt x="154761" y="5303"/>
                </a:lnTo>
                <a:lnTo>
                  <a:pt x="200804" y="0"/>
                </a:lnTo>
                <a:lnTo>
                  <a:pt x="1742595" y="0"/>
                </a:lnTo>
                <a:lnTo>
                  <a:pt x="1781953" y="3894"/>
                </a:lnTo>
                <a:lnTo>
                  <a:pt x="1819440" y="15285"/>
                </a:lnTo>
                <a:lnTo>
                  <a:pt x="1854002" y="33737"/>
                </a:lnTo>
                <a:lnTo>
                  <a:pt x="1884585" y="58813"/>
                </a:lnTo>
                <a:lnTo>
                  <a:pt x="1909662" y="89397"/>
                </a:lnTo>
                <a:lnTo>
                  <a:pt x="1928114" y="123959"/>
                </a:lnTo>
                <a:lnTo>
                  <a:pt x="1939505" y="161446"/>
                </a:lnTo>
                <a:lnTo>
                  <a:pt x="1943399" y="200804"/>
                </a:lnTo>
                <a:lnTo>
                  <a:pt x="1943399" y="1003995"/>
                </a:lnTo>
                <a:lnTo>
                  <a:pt x="1938096" y="1050038"/>
                </a:lnTo>
                <a:lnTo>
                  <a:pt x="1922990" y="1092304"/>
                </a:lnTo>
                <a:lnTo>
                  <a:pt x="1899285" y="1129588"/>
                </a:lnTo>
                <a:lnTo>
                  <a:pt x="1868188" y="1160685"/>
                </a:lnTo>
                <a:lnTo>
                  <a:pt x="1830904" y="1184390"/>
                </a:lnTo>
                <a:lnTo>
                  <a:pt x="1788638" y="1199496"/>
                </a:lnTo>
                <a:lnTo>
                  <a:pt x="1742595" y="1204799"/>
                </a:lnTo>
                <a:close/>
              </a:path>
            </a:pathLst>
          </a:custGeom>
          <a:solidFill>
            <a:srgbClr val="EEEEEE"/>
          </a:solidFill>
        </p:spPr>
        <p:txBody>
          <a:bodyPr wrap="square" lIns="0" tIns="0" rIns="0" bIns="0" rtlCol="0"/>
          <a:lstStyle/>
          <a:p>
            <a:endParaRPr sz="2400"/>
          </a:p>
        </p:txBody>
      </p:sp>
      <p:sp>
        <p:nvSpPr>
          <p:cNvPr id="50" name="object 50"/>
          <p:cNvSpPr/>
          <p:nvPr/>
        </p:nvSpPr>
        <p:spPr>
          <a:xfrm>
            <a:off x="3476066" y="3853066"/>
            <a:ext cx="2591647" cy="1606973"/>
          </a:xfrm>
          <a:custGeom>
            <a:avLst/>
            <a:gdLst/>
            <a:ahLst/>
            <a:cxnLst/>
            <a:rect l="l" t="t" r="r" b="b"/>
            <a:pathLst>
              <a:path w="1943735" h="1205229">
                <a:moveTo>
                  <a:pt x="0" y="200804"/>
                </a:moveTo>
                <a:lnTo>
                  <a:pt x="5303" y="154761"/>
                </a:lnTo>
                <a:lnTo>
                  <a:pt x="20409" y="112495"/>
                </a:lnTo>
                <a:lnTo>
                  <a:pt x="44114" y="75211"/>
                </a:lnTo>
                <a:lnTo>
                  <a:pt x="75211" y="44114"/>
                </a:lnTo>
                <a:lnTo>
                  <a:pt x="112495" y="20409"/>
                </a:lnTo>
                <a:lnTo>
                  <a:pt x="154761" y="5303"/>
                </a:lnTo>
                <a:lnTo>
                  <a:pt x="200804" y="0"/>
                </a:lnTo>
                <a:lnTo>
                  <a:pt x="1742595" y="0"/>
                </a:lnTo>
                <a:lnTo>
                  <a:pt x="1781953" y="3894"/>
                </a:lnTo>
                <a:lnTo>
                  <a:pt x="1819440" y="15285"/>
                </a:lnTo>
                <a:lnTo>
                  <a:pt x="1854002" y="33737"/>
                </a:lnTo>
                <a:lnTo>
                  <a:pt x="1884585" y="58813"/>
                </a:lnTo>
                <a:lnTo>
                  <a:pt x="1909662" y="89397"/>
                </a:lnTo>
                <a:lnTo>
                  <a:pt x="1928114" y="123959"/>
                </a:lnTo>
                <a:lnTo>
                  <a:pt x="1939505" y="161446"/>
                </a:lnTo>
                <a:lnTo>
                  <a:pt x="1943399" y="200804"/>
                </a:lnTo>
                <a:lnTo>
                  <a:pt x="1943399" y="1003995"/>
                </a:lnTo>
                <a:lnTo>
                  <a:pt x="1938096" y="1050038"/>
                </a:lnTo>
                <a:lnTo>
                  <a:pt x="1922990" y="1092304"/>
                </a:lnTo>
                <a:lnTo>
                  <a:pt x="1899285" y="1129588"/>
                </a:lnTo>
                <a:lnTo>
                  <a:pt x="1868188" y="1160685"/>
                </a:lnTo>
                <a:lnTo>
                  <a:pt x="1830904" y="1184390"/>
                </a:lnTo>
                <a:lnTo>
                  <a:pt x="1788638" y="1199496"/>
                </a:lnTo>
                <a:lnTo>
                  <a:pt x="1742595" y="1204799"/>
                </a:lnTo>
                <a:lnTo>
                  <a:pt x="200804" y="1204799"/>
                </a:lnTo>
                <a:lnTo>
                  <a:pt x="154761" y="1199496"/>
                </a:lnTo>
                <a:lnTo>
                  <a:pt x="112495" y="1184390"/>
                </a:lnTo>
                <a:lnTo>
                  <a:pt x="75211" y="1160685"/>
                </a:lnTo>
                <a:lnTo>
                  <a:pt x="44114" y="1129588"/>
                </a:lnTo>
                <a:lnTo>
                  <a:pt x="20409" y="1092304"/>
                </a:lnTo>
                <a:lnTo>
                  <a:pt x="5303" y="1050038"/>
                </a:lnTo>
                <a:lnTo>
                  <a:pt x="0" y="1003995"/>
                </a:lnTo>
                <a:lnTo>
                  <a:pt x="0" y="200804"/>
                </a:lnTo>
                <a:close/>
              </a:path>
            </a:pathLst>
          </a:custGeom>
          <a:ln w="9524">
            <a:solidFill>
              <a:srgbClr val="FF0000"/>
            </a:solidFill>
          </a:ln>
        </p:spPr>
        <p:txBody>
          <a:bodyPr wrap="square" lIns="0" tIns="0" rIns="0" bIns="0" rtlCol="0"/>
          <a:lstStyle/>
          <a:p>
            <a:endParaRPr sz="2400"/>
          </a:p>
        </p:txBody>
      </p:sp>
      <p:sp>
        <p:nvSpPr>
          <p:cNvPr id="51" name="object 51"/>
          <p:cNvSpPr txBox="1"/>
          <p:nvPr/>
        </p:nvSpPr>
        <p:spPr>
          <a:xfrm>
            <a:off x="3651852" y="4019369"/>
            <a:ext cx="2168313"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melee_shooty_guy</a:t>
            </a:r>
            <a:endParaRPr sz="1867">
              <a:latin typeface="Arial"/>
              <a:cs typeface="Arial"/>
            </a:endParaRPr>
          </a:p>
        </p:txBody>
      </p:sp>
      <p:sp>
        <p:nvSpPr>
          <p:cNvPr id="52" name="object 52"/>
          <p:cNvSpPr txBox="1"/>
          <p:nvPr/>
        </p:nvSpPr>
        <p:spPr>
          <a:xfrm>
            <a:off x="3651851" y="4578168"/>
            <a:ext cx="1681480" cy="877163"/>
          </a:xfrm>
          <a:prstGeom prst="rect">
            <a:avLst/>
          </a:prstGeom>
        </p:spPr>
        <p:txBody>
          <a:bodyPr vert="horz" wrap="square" lIns="0" tIns="30480" rIns="0" bIns="0" rtlCol="0">
            <a:spAutoFit/>
          </a:bodyPr>
          <a:lstStyle/>
          <a:p>
            <a:pPr marL="16933" marR="6773">
              <a:lnSpc>
                <a:spcPts val="2200"/>
              </a:lnSpc>
              <a:spcBef>
                <a:spcPts val="240"/>
              </a:spcBef>
            </a:pPr>
            <a:r>
              <a:rPr sz="1867" dirty="0">
                <a:latin typeface="Arial"/>
                <a:cs typeface="Arial"/>
              </a:rPr>
              <a:t>chase_ai  </a:t>
            </a:r>
            <a:r>
              <a:rPr sz="1867" spc="-7" dirty="0">
                <a:latin typeface="Arial"/>
                <a:cs typeface="Arial"/>
              </a:rPr>
              <a:t>damage_ahead  </a:t>
            </a:r>
            <a:r>
              <a:rPr sz="1867" dirty="0">
                <a:latin typeface="Arial"/>
                <a:cs typeface="Arial"/>
              </a:rPr>
              <a:t>shoot_bullet</a:t>
            </a:r>
            <a:endParaRPr sz="1867">
              <a:latin typeface="Arial"/>
              <a:cs typeface="Arial"/>
            </a:endParaRPr>
          </a:p>
        </p:txBody>
      </p:sp>
      <p:sp>
        <p:nvSpPr>
          <p:cNvPr id="53" name="object 53"/>
          <p:cNvSpPr/>
          <p:nvPr/>
        </p:nvSpPr>
        <p:spPr>
          <a:xfrm>
            <a:off x="4840607" y="2391700"/>
            <a:ext cx="3002280" cy="1429173"/>
          </a:xfrm>
          <a:custGeom>
            <a:avLst/>
            <a:gdLst/>
            <a:ahLst/>
            <a:cxnLst/>
            <a:rect l="l" t="t" r="r" b="b"/>
            <a:pathLst>
              <a:path w="2251710" h="1071880">
                <a:moveTo>
                  <a:pt x="2251494" y="0"/>
                </a:moveTo>
                <a:lnTo>
                  <a:pt x="0" y="1071344"/>
                </a:lnTo>
              </a:path>
            </a:pathLst>
          </a:custGeom>
          <a:ln w="9524">
            <a:solidFill>
              <a:srgbClr val="FF0000"/>
            </a:solidFill>
          </a:ln>
        </p:spPr>
        <p:txBody>
          <a:bodyPr wrap="square" lIns="0" tIns="0" rIns="0" bIns="0" rtlCol="0"/>
          <a:lstStyle/>
          <a:p>
            <a:endParaRPr sz="2400"/>
          </a:p>
        </p:txBody>
      </p:sp>
      <p:sp>
        <p:nvSpPr>
          <p:cNvPr id="54" name="object 54"/>
          <p:cNvSpPr/>
          <p:nvPr/>
        </p:nvSpPr>
        <p:spPr>
          <a:xfrm>
            <a:off x="4788565" y="3801216"/>
            <a:ext cx="61807" cy="44027"/>
          </a:xfrm>
          <a:custGeom>
            <a:avLst/>
            <a:gdLst/>
            <a:ahLst/>
            <a:cxnLst/>
            <a:rect l="l" t="t" r="r" b="b"/>
            <a:pathLst>
              <a:path w="46354" h="33019">
                <a:moveTo>
                  <a:pt x="0" y="32779"/>
                </a:moveTo>
                <a:lnTo>
                  <a:pt x="32271" y="0"/>
                </a:lnTo>
                <a:lnTo>
                  <a:pt x="45791" y="28412"/>
                </a:lnTo>
                <a:lnTo>
                  <a:pt x="0" y="32779"/>
                </a:lnTo>
                <a:close/>
              </a:path>
            </a:pathLst>
          </a:custGeom>
          <a:solidFill>
            <a:srgbClr val="FF0000"/>
          </a:solidFill>
        </p:spPr>
        <p:txBody>
          <a:bodyPr wrap="square" lIns="0" tIns="0" rIns="0" bIns="0" rtlCol="0"/>
          <a:lstStyle/>
          <a:p>
            <a:endParaRPr sz="2400"/>
          </a:p>
        </p:txBody>
      </p:sp>
      <p:sp>
        <p:nvSpPr>
          <p:cNvPr id="55" name="object 55"/>
          <p:cNvSpPr/>
          <p:nvPr/>
        </p:nvSpPr>
        <p:spPr>
          <a:xfrm>
            <a:off x="4788565" y="3801216"/>
            <a:ext cx="61807" cy="44027"/>
          </a:xfrm>
          <a:custGeom>
            <a:avLst/>
            <a:gdLst/>
            <a:ahLst/>
            <a:cxnLst/>
            <a:rect l="l" t="t" r="r" b="b"/>
            <a:pathLst>
              <a:path w="46354" h="33019">
                <a:moveTo>
                  <a:pt x="32271" y="0"/>
                </a:moveTo>
                <a:lnTo>
                  <a:pt x="0" y="32779"/>
                </a:lnTo>
                <a:lnTo>
                  <a:pt x="45791" y="28412"/>
                </a:lnTo>
                <a:lnTo>
                  <a:pt x="32271" y="0"/>
                </a:lnTo>
                <a:close/>
              </a:path>
            </a:pathLst>
          </a:custGeom>
          <a:ln w="9524">
            <a:solidFill>
              <a:srgbClr val="FF0000"/>
            </a:solidFill>
          </a:ln>
        </p:spPr>
        <p:txBody>
          <a:bodyPr wrap="square" lIns="0" tIns="0" rIns="0" bIns="0" rtlCol="0"/>
          <a:lstStyle/>
          <a:p>
            <a:endParaRPr sz="2400"/>
          </a:p>
        </p:txBody>
      </p:sp>
    </p:spTree>
    <p:extLst>
      <p:ext uri="{BB962C8B-B14F-4D97-AF65-F5344CB8AC3E}">
        <p14:creationId xmlns:p14="http://schemas.microsoft.com/office/powerpoint/2010/main" val="1947324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1743287" cy="591551"/>
          </a:xfrm>
          <a:prstGeom prst="rect">
            <a:avLst/>
          </a:prstGeom>
        </p:spPr>
        <p:txBody>
          <a:bodyPr vert="horz" wrap="square" lIns="0" tIns="16933" rIns="0" bIns="0" rtlCol="0" anchor="ctr">
            <a:spAutoFit/>
          </a:bodyPr>
          <a:lstStyle/>
          <a:p>
            <a:pPr marL="16933">
              <a:lnSpc>
                <a:spcPct val="100000"/>
              </a:lnSpc>
              <a:spcBef>
                <a:spcPts val="133"/>
              </a:spcBef>
            </a:pPr>
            <a:r>
              <a:rPr sz="3733" spc="-13" dirty="0"/>
              <a:t>Ship</a:t>
            </a:r>
            <a:r>
              <a:rPr sz="3733" spc="-120" dirty="0"/>
              <a:t> </a:t>
            </a:r>
            <a:r>
              <a:rPr sz="3733" spc="-7" dirty="0"/>
              <a:t>it!?</a:t>
            </a:r>
            <a:endParaRPr sz="3733"/>
          </a:p>
        </p:txBody>
      </p:sp>
      <p:sp>
        <p:nvSpPr>
          <p:cNvPr id="3" name="object 3"/>
          <p:cNvSpPr txBox="1"/>
          <p:nvPr/>
        </p:nvSpPr>
        <p:spPr>
          <a:xfrm>
            <a:off x="674658" y="1578797"/>
            <a:ext cx="4943687" cy="3016766"/>
          </a:xfrm>
          <a:prstGeom prst="rect">
            <a:avLst/>
          </a:prstGeom>
        </p:spPr>
        <p:txBody>
          <a:bodyPr vert="horz" wrap="square" lIns="0" tIns="16933" rIns="0" bIns="0" rtlCol="0">
            <a:spAutoFit/>
          </a:bodyPr>
          <a:lstStyle/>
          <a:p>
            <a:pPr marL="464808" marR="6773" indent="-447875">
              <a:lnSpc>
                <a:spcPct val="116100"/>
              </a:lnSpc>
              <a:spcBef>
                <a:spcPts val="133"/>
              </a:spcBef>
              <a:buChar char="●"/>
              <a:tabLst>
                <a:tab pos="463962" algn="l"/>
                <a:tab pos="465655" algn="l"/>
              </a:tabLst>
            </a:pPr>
            <a:r>
              <a:rPr sz="1867" spc="-7" dirty="0">
                <a:solidFill>
                  <a:srgbClr val="595959"/>
                </a:solidFill>
                <a:latin typeface="Arial"/>
                <a:cs typeface="Arial"/>
              </a:rPr>
              <a:t>What happens when </a:t>
            </a:r>
            <a:r>
              <a:rPr sz="1867" dirty="0">
                <a:solidFill>
                  <a:srgbClr val="595959"/>
                </a:solidFill>
                <a:latin typeface="Arial"/>
                <a:cs typeface="Arial"/>
              </a:rPr>
              <a:t>your </a:t>
            </a:r>
            <a:r>
              <a:rPr sz="1867" spc="-7" dirty="0">
                <a:solidFill>
                  <a:srgbClr val="595959"/>
                </a:solidFill>
                <a:latin typeface="Arial"/>
                <a:cs typeface="Arial"/>
              </a:rPr>
              <a:t>designer </a:t>
            </a:r>
            <a:r>
              <a:rPr sz="1867" dirty="0">
                <a:solidFill>
                  <a:srgbClr val="595959"/>
                </a:solidFill>
                <a:latin typeface="Arial"/>
                <a:cs typeface="Arial"/>
              </a:rPr>
              <a:t>comes  </a:t>
            </a:r>
            <a:r>
              <a:rPr sz="1867" spc="-7" dirty="0">
                <a:solidFill>
                  <a:srgbClr val="595959"/>
                </a:solidFill>
                <a:latin typeface="Arial"/>
                <a:cs typeface="Arial"/>
              </a:rPr>
              <a:t>back and asks for </a:t>
            </a:r>
            <a:r>
              <a:rPr sz="1867" dirty="0">
                <a:solidFill>
                  <a:srgbClr val="595959"/>
                </a:solidFill>
                <a:latin typeface="Arial"/>
                <a:cs typeface="Arial"/>
              </a:rPr>
              <a:t>a </a:t>
            </a:r>
            <a:r>
              <a:rPr sz="1867" spc="-7" dirty="0">
                <a:solidFill>
                  <a:srgbClr val="595959"/>
                </a:solidFill>
                <a:latin typeface="Arial"/>
                <a:cs typeface="Arial"/>
              </a:rPr>
              <a:t>new bullet that </a:t>
            </a:r>
            <a:r>
              <a:rPr sz="1867" dirty="0">
                <a:solidFill>
                  <a:srgbClr val="595959"/>
                </a:solidFill>
                <a:latin typeface="Arial"/>
                <a:cs typeface="Arial"/>
              </a:rPr>
              <a:t>chases  </a:t>
            </a:r>
            <a:r>
              <a:rPr sz="1867" spc="-7" dirty="0">
                <a:solidFill>
                  <a:srgbClr val="595959"/>
                </a:solidFill>
                <a:latin typeface="Arial"/>
                <a:cs typeface="Arial"/>
              </a:rPr>
              <a:t>the player like </a:t>
            </a:r>
            <a:r>
              <a:rPr sz="1867" dirty="0">
                <a:solidFill>
                  <a:srgbClr val="595959"/>
                </a:solidFill>
                <a:latin typeface="Arial"/>
                <a:cs typeface="Arial"/>
              </a:rPr>
              <a:t>melee_guy </a:t>
            </a:r>
            <a:r>
              <a:rPr sz="1867" spc="-7" dirty="0">
                <a:solidFill>
                  <a:srgbClr val="595959"/>
                </a:solidFill>
                <a:latin typeface="Arial"/>
                <a:cs typeface="Arial"/>
              </a:rPr>
              <a:t>and explodes  like</a:t>
            </a:r>
            <a:r>
              <a:rPr sz="1867" spc="-13" dirty="0">
                <a:solidFill>
                  <a:srgbClr val="595959"/>
                </a:solidFill>
                <a:latin typeface="Arial"/>
                <a:cs typeface="Arial"/>
              </a:rPr>
              <a:t> </a:t>
            </a:r>
            <a:r>
              <a:rPr sz="1867" spc="-7" dirty="0">
                <a:solidFill>
                  <a:srgbClr val="595959"/>
                </a:solidFill>
                <a:latin typeface="Arial"/>
                <a:cs typeface="Arial"/>
              </a:rPr>
              <a:t>bomb_guy?</a:t>
            </a:r>
            <a:endParaRPr sz="1867">
              <a:latin typeface="Arial"/>
              <a:cs typeface="Arial"/>
            </a:endParaRPr>
          </a:p>
          <a:p>
            <a:pPr marL="464808" marR="71965" indent="-447875">
              <a:lnSpc>
                <a:spcPct val="116100"/>
              </a:lnSpc>
              <a:buChar char="●"/>
              <a:tabLst>
                <a:tab pos="463962" algn="l"/>
                <a:tab pos="465655" algn="l"/>
              </a:tabLst>
            </a:pPr>
            <a:r>
              <a:rPr sz="1867" spc="-7" dirty="0">
                <a:solidFill>
                  <a:srgbClr val="595959"/>
                </a:solidFill>
                <a:latin typeface="Arial"/>
                <a:cs typeface="Arial"/>
              </a:rPr>
              <a:t>What about an enemy that </a:t>
            </a:r>
            <a:r>
              <a:rPr sz="1867" dirty="0">
                <a:solidFill>
                  <a:srgbClr val="595959"/>
                </a:solidFill>
                <a:latin typeface="Arial"/>
                <a:cs typeface="Arial"/>
              </a:rPr>
              <a:t>can </a:t>
            </a:r>
            <a:r>
              <a:rPr sz="1867" spc="-7" dirty="0">
                <a:solidFill>
                  <a:srgbClr val="595959"/>
                </a:solidFill>
                <a:latin typeface="Arial"/>
                <a:cs typeface="Arial"/>
              </a:rPr>
              <a:t>both </a:t>
            </a:r>
            <a:r>
              <a:rPr sz="1867" dirty="0">
                <a:solidFill>
                  <a:srgbClr val="595959"/>
                </a:solidFill>
                <a:latin typeface="Arial"/>
                <a:cs typeface="Arial"/>
              </a:rPr>
              <a:t>shoot  </a:t>
            </a:r>
            <a:r>
              <a:rPr sz="1867" spc="-7" dirty="0">
                <a:solidFill>
                  <a:srgbClr val="595959"/>
                </a:solidFill>
                <a:latin typeface="Arial"/>
                <a:cs typeface="Arial"/>
              </a:rPr>
              <a:t>and</a:t>
            </a:r>
            <a:r>
              <a:rPr sz="1867" spc="-13" dirty="0">
                <a:solidFill>
                  <a:srgbClr val="595959"/>
                </a:solidFill>
                <a:latin typeface="Arial"/>
                <a:cs typeface="Arial"/>
              </a:rPr>
              <a:t> </a:t>
            </a:r>
            <a:r>
              <a:rPr sz="1867" spc="-7" dirty="0">
                <a:solidFill>
                  <a:srgbClr val="595959"/>
                </a:solidFill>
                <a:latin typeface="Arial"/>
                <a:cs typeface="Arial"/>
              </a:rPr>
              <a:t>punch?</a:t>
            </a:r>
            <a:endParaRPr sz="1867">
              <a:latin typeface="Arial"/>
              <a:cs typeface="Arial"/>
            </a:endParaRPr>
          </a:p>
          <a:p>
            <a:pPr marL="464808" marR="99058" indent="-447875">
              <a:lnSpc>
                <a:spcPct val="116100"/>
              </a:lnSpc>
              <a:buChar char="●"/>
              <a:tabLst>
                <a:tab pos="463962" algn="l"/>
                <a:tab pos="465655" algn="l"/>
              </a:tabLst>
            </a:pPr>
            <a:r>
              <a:rPr sz="1867" spc="-7" dirty="0">
                <a:solidFill>
                  <a:srgbClr val="595959"/>
                </a:solidFill>
                <a:latin typeface="Arial"/>
                <a:cs typeface="Arial"/>
              </a:rPr>
              <a:t>What about when we decide that we want  all of our enemies to be able to pick up  and throw</a:t>
            </a:r>
            <a:r>
              <a:rPr sz="1867" spc="-13" dirty="0">
                <a:solidFill>
                  <a:srgbClr val="595959"/>
                </a:solidFill>
                <a:latin typeface="Arial"/>
                <a:cs typeface="Arial"/>
              </a:rPr>
              <a:t> </a:t>
            </a:r>
            <a:r>
              <a:rPr sz="1867" dirty="0">
                <a:solidFill>
                  <a:srgbClr val="595959"/>
                </a:solidFill>
                <a:latin typeface="Arial"/>
                <a:cs typeface="Arial"/>
              </a:rPr>
              <a:t>rocks?</a:t>
            </a:r>
            <a:endParaRPr sz="1867">
              <a:latin typeface="Arial"/>
              <a:cs typeface="Arial"/>
            </a:endParaRPr>
          </a:p>
        </p:txBody>
      </p:sp>
    </p:spTree>
    <p:extLst>
      <p:ext uri="{BB962C8B-B14F-4D97-AF65-F5344CB8AC3E}">
        <p14:creationId xmlns:p14="http://schemas.microsoft.com/office/powerpoint/2010/main" val="4000929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879686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The </a:t>
            </a:r>
            <a:r>
              <a:rPr sz="3733" spc="-13" dirty="0"/>
              <a:t>ShootyGuy </a:t>
            </a:r>
            <a:r>
              <a:rPr sz="3733" spc="-7" dirty="0"/>
              <a:t>entity </a:t>
            </a:r>
            <a:r>
              <a:rPr sz="3733" dirty="0"/>
              <a:t>model</a:t>
            </a:r>
            <a:r>
              <a:rPr sz="3733" spc="-120" dirty="0"/>
              <a:t> </a:t>
            </a:r>
            <a:r>
              <a:rPr sz="3733" dirty="0"/>
              <a:t>(Inheritance)</a:t>
            </a:r>
            <a:endParaRPr sz="3733"/>
          </a:p>
        </p:txBody>
      </p:sp>
      <p:sp>
        <p:nvSpPr>
          <p:cNvPr id="3" name="object 3"/>
          <p:cNvSpPr/>
          <p:nvPr/>
        </p:nvSpPr>
        <p:spPr>
          <a:xfrm>
            <a:off x="641599" y="2503299"/>
            <a:ext cx="2801620" cy="1474047"/>
          </a:xfrm>
          <a:custGeom>
            <a:avLst/>
            <a:gdLst/>
            <a:ahLst/>
            <a:cxnLst/>
            <a:rect l="l" t="t" r="r" b="b"/>
            <a:pathLst>
              <a:path w="2101215" h="1105535">
                <a:moveTo>
                  <a:pt x="1916346" y="1105499"/>
                </a:moveTo>
                <a:lnTo>
                  <a:pt x="184253" y="1105499"/>
                </a:lnTo>
                <a:lnTo>
                  <a:pt x="135271" y="1098918"/>
                </a:lnTo>
                <a:lnTo>
                  <a:pt x="91257" y="1080343"/>
                </a:lnTo>
                <a:lnTo>
                  <a:pt x="53966" y="1051533"/>
                </a:lnTo>
                <a:lnTo>
                  <a:pt x="25156" y="1014242"/>
                </a:lnTo>
                <a:lnTo>
                  <a:pt x="6581" y="970228"/>
                </a:lnTo>
                <a:lnTo>
                  <a:pt x="0" y="921246"/>
                </a:lnTo>
                <a:lnTo>
                  <a:pt x="0" y="184253"/>
                </a:lnTo>
                <a:lnTo>
                  <a:pt x="6581" y="135271"/>
                </a:lnTo>
                <a:lnTo>
                  <a:pt x="25156" y="91257"/>
                </a:lnTo>
                <a:lnTo>
                  <a:pt x="53966" y="53966"/>
                </a:lnTo>
                <a:lnTo>
                  <a:pt x="91257" y="25156"/>
                </a:lnTo>
                <a:lnTo>
                  <a:pt x="135271" y="6581"/>
                </a:lnTo>
                <a:lnTo>
                  <a:pt x="184253" y="0"/>
                </a:lnTo>
                <a:lnTo>
                  <a:pt x="1916346" y="0"/>
                </a:lnTo>
                <a:lnTo>
                  <a:pt x="1986857" y="14025"/>
                </a:lnTo>
                <a:lnTo>
                  <a:pt x="2046633" y="53966"/>
                </a:lnTo>
                <a:lnTo>
                  <a:pt x="2086574" y="113742"/>
                </a:lnTo>
                <a:lnTo>
                  <a:pt x="2100599" y="184253"/>
                </a:lnTo>
                <a:lnTo>
                  <a:pt x="2100599" y="921246"/>
                </a:lnTo>
                <a:lnTo>
                  <a:pt x="2094018" y="970228"/>
                </a:lnTo>
                <a:lnTo>
                  <a:pt x="2075443" y="1014242"/>
                </a:lnTo>
                <a:lnTo>
                  <a:pt x="2046633" y="1051533"/>
                </a:lnTo>
                <a:lnTo>
                  <a:pt x="2009342" y="1080343"/>
                </a:lnTo>
                <a:lnTo>
                  <a:pt x="1965328" y="1098918"/>
                </a:lnTo>
                <a:lnTo>
                  <a:pt x="1916346" y="1105499"/>
                </a:lnTo>
                <a:close/>
              </a:path>
            </a:pathLst>
          </a:custGeom>
          <a:solidFill>
            <a:srgbClr val="EEEEEE"/>
          </a:solidFill>
        </p:spPr>
        <p:txBody>
          <a:bodyPr wrap="square" lIns="0" tIns="0" rIns="0" bIns="0" rtlCol="0"/>
          <a:lstStyle/>
          <a:p>
            <a:endParaRPr sz="2400"/>
          </a:p>
        </p:txBody>
      </p:sp>
      <p:sp>
        <p:nvSpPr>
          <p:cNvPr id="4" name="object 4"/>
          <p:cNvSpPr/>
          <p:nvPr/>
        </p:nvSpPr>
        <p:spPr>
          <a:xfrm>
            <a:off x="641599" y="2503299"/>
            <a:ext cx="2801620" cy="1474047"/>
          </a:xfrm>
          <a:custGeom>
            <a:avLst/>
            <a:gdLst/>
            <a:ahLst/>
            <a:cxnLst/>
            <a:rect l="l" t="t" r="r" b="b"/>
            <a:pathLst>
              <a:path w="2101215" h="1105535">
                <a:moveTo>
                  <a:pt x="0" y="184253"/>
                </a:moveTo>
                <a:lnTo>
                  <a:pt x="6581" y="135271"/>
                </a:lnTo>
                <a:lnTo>
                  <a:pt x="25156" y="91257"/>
                </a:lnTo>
                <a:lnTo>
                  <a:pt x="53966" y="53966"/>
                </a:lnTo>
                <a:lnTo>
                  <a:pt x="91257" y="25156"/>
                </a:lnTo>
                <a:lnTo>
                  <a:pt x="135271" y="6581"/>
                </a:lnTo>
                <a:lnTo>
                  <a:pt x="184253" y="0"/>
                </a:lnTo>
                <a:lnTo>
                  <a:pt x="1916346" y="0"/>
                </a:lnTo>
                <a:lnTo>
                  <a:pt x="1986857" y="14025"/>
                </a:lnTo>
                <a:lnTo>
                  <a:pt x="2046633" y="53966"/>
                </a:lnTo>
                <a:lnTo>
                  <a:pt x="2086574" y="113742"/>
                </a:lnTo>
                <a:lnTo>
                  <a:pt x="2100599" y="184253"/>
                </a:lnTo>
                <a:lnTo>
                  <a:pt x="2100599" y="921246"/>
                </a:lnTo>
                <a:lnTo>
                  <a:pt x="2094018" y="970228"/>
                </a:lnTo>
                <a:lnTo>
                  <a:pt x="2075443" y="1014242"/>
                </a:lnTo>
                <a:lnTo>
                  <a:pt x="2046633" y="1051533"/>
                </a:lnTo>
                <a:lnTo>
                  <a:pt x="2009342" y="1080343"/>
                </a:lnTo>
                <a:lnTo>
                  <a:pt x="1965328" y="1098918"/>
                </a:lnTo>
                <a:lnTo>
                  <a:pt x="1916346" y="1105499"/>
                </a:lnTo>
                <a:lnTo>
                  <a:pt x="184253" y="1105499"/>
                </a:lnTo>
                <a:lnTo>
                  <a:pt x="135271" y="1098918"/>
                </a:lnTo>
                <a:lnTo>
                  <a:pt x="91257" y="1080343"/>
                </a:lnTo>
                <a:lnTo>
                  <a:pt x="53966" y="1051533"/>
                </a:lnTo>
                <a:lnTo>
                  <a:pt x="25156"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5" name="object 5"/>
          <p:cNvSpPr txBox="1"/>
          <p:nvPr/>
        </p:nvSpPr>
        <p:spPr>
          <a:xfrm>
            <a:off x="810922" y="2663139"/>
            <a:ext cx="1231053"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bomb_guy</a:t>
            </a:r>
            <a:endParaRPr sz="1867">
              <a:latin typeface="Arial"/>
              <a:cs typeface="Arial"/>
            </a:endParaRPr>
          </a:p>
        </p:txBody>
      </p:sp>
      <p:sp>
        <p:nvSpPr>
          <p:cNvPr id="6" name="object 6"/>
          <p:cNvSpPr txBox="1"/>
          <p:nvPr/>
        </p:nvSpPr>
        <p:spPr>
          <a:xfrm>
            <a:off x="810922" y="3221939"/>
            <a:ext cx="2129367" cy="595035"/>
          </a:xfrm>
          <a:prstGeom prst="rect">
            <a:avLst/>
          </a:prstGeom>
        </p:spPr>
        <p:txBody>
          <a:bodyPr vert="horz" wrap="square" lIns="0" tIns="30480" rIns="0" bIns="0" rtlCol="0">
            <a:spAutoFit/>
          </a:bodyPr>
          <a:lstStyle/>
          <a:p>
            <a:pPr marL="16933" marR="6773">
              <a:lnSpc>
                <a:spcPts val="2200"/>
              </a:lnSpc>
              <a:spcBef>
                <a:spcPts val="240"/>
              </a:spcBef>
            </a:pPr>
            <a:r>
              <a:rPr sz="1867" spc="-7" dirty="0">
                <a:latin typeface="Arial"/>
                <a:cs typeface="Arial"/>
              </a:rPr>
              <a:t>hide_or_show  damage_all_around</a:t>
            </a:r>
            <a:endParaRPr sz="1867">
              <a:latin typeface="Arial"/>
              <a:cs typeface="Arial"/>
            </a:endParaRPr>
          </a:p>
        </p:txBody>
      </p:sp>
      <p:sp>
        <p:nvSpPr>
          <p:cNvPr id="7" name="object 7"/>
          <p:cNvSpPr/>
          <p:nvPr/>
        </p:nvSpPr>
        <p:spPr>
          <a:xfrm>
            <a:off x="9286666" y="3367083"/>
            <a:ext cx="2591647" cy="1474047"/>
          </a:xfrm>
          <a:custGeom>
            <a:avLst/>
            <a:gdLst/>
            <a:ahLst/>
            <a:cxnLst/>
            <a:rect l="l" t="t" r="r" b="b"/>
            <a:pathLst>
              <a:path w="1943734" h="1105535">
                <a:moveTo>
                  <a:pt x="1759145" y="1105499"/>
                </a:moveTo>
                <a:lnTo>
                  <a:pt x="184253" y="1105499"/>
                </a:lnTo>
                <a:lnTo>
                  <a:pt x="135271" y="1098918"/>
                </a:lnTo>
                <a:lnTo>
                  <a:pt x="91257" y="1080343"/>
                </a:lnTo>
                <a:lnTo>
                  <a:pt x="53966" y="1051533"/>
                </a:lnTo>
                <a:lnTo>
                  <a:pt x="25155" y="1014242"/>
                </a:lnTo>
                <a:lnTo>
                  <a:pt x="6581" y="970228"/>
                </a:lnTo>
                <a:lnTo>
                  <a:pt x="0" y="921246"/>
                </a:lnTo>
                <a:lnTo>
                  <a:pt x="0" y="184253"/>
                </a:lnTo>
                <a:lnTo>
                  <a:pt x="6581" y="135271"/>
                </a:lnTo>
                <a:lnTo>
                  <a:pt x="25155" y="91257"/>
                </a:lnTo>
                <a:lnTo>
                  <a:pt x="53966" y="53966"/>
                </a:lnTo>
                <a:lnTo>
                  <a:pt x="91257" y="25156"/>
                </a:lnTo>
                <a:lnTo>
                  <a:pt x="135271" y="6581"/>
                </a:lnTo>
                <a:lnTo>
                  <a:pt x="184253" y="0"/>
                </a:lnTo>
                <a:lnTo>
                  <a:pt x="1759145"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5" y="1105499"/>
                </a:lnTo>
                <a:close/>
              </a:path>
            </a:pathLst>
          </a:custGeom>
          <a:solidFill>
            <a:srgbClr val="EEEEEE"/>
          </a:solidFill>
        </p:spPr>
        <p:txBody>
          <a:bodyPr wrap="square" lIns="0" tIns="0" rIns="0" bIns="0" rtlCol="0"/>
          <a:lstStyle/>
          <a:p>
            <a:endParaRPr sz="2400"/>
          </a:p>
        </p:txBody>
      </p:sp>
      <p:sp>
        <p:nvSpPr>
          <p:cNvPr id="8" name="object 8"/>
          <p:cNvSpPr/>
          <p:nvPr/>
        </p:nvSpPr>
        <p:spPr>
          <a:xfrm>
            <a:off x="9286666" y="3367083"/>
            <a:ext cx="2591647" cy="1474047"/>
          </a:xfrm>
          <a:custGeom>
            <a:avLst/>
            <a:gdLst/>
            <a:ahLst/>
            <a:cxnLst/>
            <a:rect l="l" t="t" r="r" b="b"/>
            <a:pathLst>
              <a:path w="1943734" h="1105535">
                <a:moveTo>
                  <a:pt x="0" y="184253"/>
                </a:moveTo>
                <a:lnTo>
                  <a:pt x="6581" y="135271"/>
                </a:lnTo>
                <a:lnTo>
                  <a:pt x="25155" y="91257"/>
                </a:lnTo>
                <a:lnTo>
                  <a:pt x="53966" y="53966"/>
                </a:lnTo>
                <a:lnTo>
                  <a:pt x="91257" y="25156"/>
                </a:lnTo>
                <a:lnTo>
                  <a:pt x="135271" y="6581"/>
                </a:lnTo>
                <a:lnTo>
                  <a:pt x="184253" y="0"/>
                </a:lnTo>
                <a:lnTo>
                  <a:pt x="1759145"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5" y="1105499"/>
                </a:lnTo>
                <a:lnTo>
                  <a:pt x="184253" y="1105499"/>
                </a:lnTo>
                <a:lnTo>
                  <a:pt x="135271" y="1098918"/>
                </a:lnTo>
                <a:lnTo>
                  <a:pt x="91257" y="1080343"/>
                </a:lnTo>
                <a:lnTo>
                  <a:pt x="53966" y="1051533"/>
                </a:lnTo>
                <a:lnTo>
                  <a:pt x="25155"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9" name="object 9"/>
          <p:cNvSpPr txBox="1"/>
          <p:nvPr/>
        </p:nvSpPr>
        <p:spPr>
          <a:xfrm>
            <a:off x="9455989" y="3526922"/>
            <a:ext cx="1363980"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shooty_guy</a:t>
            </a:r>
            <a:endParaRPr sz="1867">
              <a:latin typeface="Arial"/>
              <a:cs typeface="Arial"/>
            </a:endParaRPr>
          </a:p>
        </p:txBody>
      </p:sp>
      <p:sp>
        <p:nvSpPr>
          <p:cNvPr id="10" name="object 10"/>
          <p:cNvSpPr txBox="1"/>
          <p:nvPr/>
        </p:nvSpPr>
        <p:spPr>
          <a:xfrm>
            <a:off x="9455989" y="4085722"/>
            <a:ext cx="1313180" cy="595035"/>
          </a:xfrm>
          <a:prstGeom prst="rect">
            <a:avLst/>
          </a:prstGeom>
        </p:spPr>
        <p:txBody>
          <a:bodyPr vert="horz" wrap="square" lIns="0" tIns="30480" rIns="0" bIns="0" rtlCol="0">
            <a:spAutoFit/>
          </a:bodyPr>
          <a:lstStyle/>
          <a:p>
            <a:pPr marL="16933" marR="6773">
              <a:lnSpc>
                <a:spcPts val="2200"/>
              </a:lnSpc>
              <a:spcBef>
                <a:spcPts val="240"/>
              </a:spcBef>
            </a:pPr>
            <a:r>
              <a:rPr sz="1867" spc="-7" dirty="0">
                <a:latin typeface="Arial"/>
                <a:cs typeface="Arial"/>
              </a:rPr>
              <a:t>patrol_ai  </a:t>
            </a:r>
            <a:r>
              <a:rPr sz="1867" dirty="0">
                <a:latin typeface="Arial"/>
                <a:cs typeface="Arial"/>
              </a:rPr>
              <a:t>shoot_bullet</a:t>
            </a:r>
            <a:endParaRPr sz="1867">
              <a:latin typeface="Arial"/>
              <a:cs typeface="Arial"/>
            </a:endParaRPr>
          </a:p>
        </p:txBody>
      </p:sp>
      <p:sp>
        <p:nvSpPr>
          <p:cNvPr id="11" name="object 11"/>
          <p:cNvSpPr/>
          <p:nvPr/>
        </p:nvSpPr>
        <p:spPr>
          <a:xfrm>
            <a:off x="6215733" y="3501099"/>
            <a:ext cx="2591647" cy="1474047"/>
          </a:xfrm>
          <a:custGeom>
            <a:avLst/>
            <a:gdLst/>
            <a:ahLst/>
            <a:cxnLst/>
            <a:rect l="l" t="t" r="r" b="b"/>
            <a:pathLst>
              <a:path w="1943734" h="1105535">
                <a:moveTo>
                  <a:pt x="1759146" y="1105499"/>
                </a:moveTo>
                <a:lnTo>
                  <a:pt x="184253" y="1105499"/>
                </a:lnTo>
                <a:lnTo>
                  <a:pt x="135271" y="1098918"/>
                </a:lnTo>
                <a:lnTo>
                  <a:pt x="91257" y="1080343"/>
                </a:lnTo>
                <a:lnTo>
                  <a:pt x="53966" y="1051533"/>
                </a:lnTo>
                <a:lnTo>
                  <a:pt x="25156" y="1014242"/>
                </a:lnTo>
                <a:lnTo>
                  <a:pt x="6581" y="970228"/>
                </a:lnTo>
                <a:lnTo>
                  <a:pt x="0" y="921246"/>
                </a:lnTo>
                <a:lnTo>
                  <a:pt x="0" y="184253"/>
                </a:lnTo>
                <a:lnTo>
                  <a:pt x="6581" y="135271"/>
                </a:lnTo>
                <a:lnTo>
                  <a:pt x="25156" y="91257"/>
                </a:lnTo>
                <a:lnTo>
                  <a:pt x="53966" y="53966"/>
                </a:lnTo>
                <a:lnTo>
                  <a:pt x="91257" y="25156"/>
                </a:lnTo>
                <a:lnTo>
                  <a:pt x="135271" y="6581"/>
                </a:lnTo>
                <a:lnTo>
                  <a:pt x="184253" y="0"/>
                </a:lnTo>
                <a:lnTo>
                  <a:pt x="1759146"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6" y="1105499"/>
                </a:lnTo>
                <a:close/>
              </a:path>
            </a:pathLst>
          </a:custGeom>
          <a:solidFill>
            <a:srgbClr val="EEEEEE"/>
          </a:solidFill>
        </p:spPr>
        <p:txBody>
          <a:bodyPr wrap="square" lIns="0" tIns="0" rIns="0" bIns="0" rtlCol="0"/>
          <a:lstStyle/>
          <a:p>
            <a:endParaRPr sz="2400"/>
          </a:p>
        </p:txBody>
      </p:sp>
      <p:sp>
        <p:nvSpPr>
          <p:cNvPr id="12" name="object 12"/>
          <p:cNvSpPr/>
          <p:nvPr/>
        </p:nvSpPr>
        <p:spPr>
          <a:xfrm>
            <a:off x="6215733" y="3501099"/>
            <a:ext cx="2591647" cy="1474047"/>
          </a:xfrm>
          <a:custGeom>
            <a:avLst/>
            <a:gdLst/>
            <a:ahLst/>
            <a:cxnLst/>
            <a:rect l="l" t="t" r="r" b="b"/>
            <a:pathLst>
              <a:path w="1943734" h="1105535">
                <a:moveTo>
                  <a:pt x="0" y="184253"/>
                </a:moveTo>
                <a:lnTo>
                  <a:pt x="6581" y="135271"/>
                </a:lnTo>
                <a:lnTo>
                  <a:pt x="25156" y="91257"/>
                </a:lnTo>
                <a:lnTo>
                  <a:pt x="53966" y="53966"/>
                </a:lnTo>
                <a:lnTo>
                  <a:pt x="91257" y="25156"/>
                </a:lnTo>
                <a:lnTo>
                  <a:pt x="135271" y="6581"/>
                </a:lnTo>
                <a:lnTo>
                  <a:pt x="184253" y="0"/>
                </a:lnTo>
                <a:lnTo>
                  <a:pt x="1759146"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6" y="1105499"/>
                </a:lnTo>
                <a:lnTo>
                  <a:pt x="184253" y="1105499"/>
                </a:lnTo>
                <a:lnTo>
                  <a:pt x="135271" y="1098918"/>
                </a:lnTo>
                <a:lnTo>
                  <a:pt x="91257" y="1080343"/>
                </a:lnTo>
                <a:lnTo>
                  <a:pt x="53966" y="1051533"/>
                </a:lnTo>
                <a:lnTo>
                  <a:pt x="25156"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13" name="object 13"/>
          <p:cNvSpPr txBox="1"/>
          <p:nvPr/>
        </p:nvSpPr>
        <p:spPr>
          <a:xfrm>
            <a:off x="6385055" y="3660939"/>
            <a:ext cx="1259840"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melee_guy</a:t>
            </a:r>
            <a:endParaRPr sz="1867">
              <a:latin typeface="Arial"/>
              <a:cs typeface="Arial"/>
            </a:endParaRPr>
          </a:p>
        </p:txBody>
      </p:sp>
      <p:sp>
        <p:nvSpPr>
          <p:cNvPr id="14" name="object 14"/>
          <p:cNvSpPr txBox="1"/>
          <p:nvPr/>
        </p:nvSpPr>
        <p:spPr>
          <a:xfrm>
            <a:off x="6385055" y="4219739"/>
            <a:ext cx="1681480" cy="595035"/>
          </a:xfrm>
          <a:prstGeom prst="rect">
            <a:avLst/>
          </a:prstGeom>
        </p:spPr>
        <p:txBody>
          <a:bodyPr vert="horz" wrap="square" lIns="0" tIns="30480" rIns="0" bIns="0" rtlCol="0">
            <a:spAutoFit/>
          </a:bodyPr>
          <a:lstStyle/>
          <a:p>
            <a:pPr marL="16933" marR="6773">
              <a:lnSpc>
                <a:spcPts val="2200"/>
              </a:lnSpc>
              <a:spcBef>
                <a:spcPts val="240"/>
              </a:spcBef>
            </a:pPr>
            <a:r>
              <a:rPr sz="1867" dirty="0">
                <a:latin typeface="Arial"/>
                <a:cs typeface="Arial"/>
              </a:rPr>
              <a:t>chase_ai  </a:t>
            </a:r>
            <a:r>
              <a:rPr sz="1867" spc="-7" dirty="0">
                <a:latin typeface="Arial"/>
                <a:cs typeface="Arial"/>
              </a:rPr>
              <a:t>damage_ahead</a:t>
            </a:r>
            <a:endParaRPr sz="1867">
              <a:latin typeface="Arial"/>
              <a:cs typeface="Arial"/>
            </a:endParaRPr>
          </a:p>
        </p:txBody>
      </p:sp>
      <p:sp>
        <p:nvSpPr>
          <p:cNvPr id="15" name="object 15"/>
          <p:cNvSpPr/>
          <p:nvPr/>
        </p:nvSpPr>
        <p:spPr>
          <a:xfrm>
            <a:off x="7842599" y="1803899"/>
            <a:ext cx="2591647" cy="1176020"/>
          </a:xfrm>
          <a:custGeom>
            <a:avLst/>
            <a:gdLst/>
            <a:ahLst/>
            <a:cxnLst/>
            <a:rect l="l" t="t" r="r" b="b"/>
            <a:pathLst>
              <a:path w="1943734" h="882014">
                <a:moveTo>
                  <a:pt x="1796446" y="881699"/>
                </a:moveTo>
                <a:lnTo>
                  <a:pt x="146952" y="881699"/>
                </a:lnTo>
                <a:lnTo>
                  <a:pt x="100504" y="874208"/>
                </a:lnTo>
                <a:lnTo>
                  <a:pt x="60164" y="853346"/>
                </a:lnTo>
                <a:lnTo>
                  <a:pt x="28353" y="821535"/>
                </a:lnTo>
                <a:lnTo>
                  <a:pt x="7491" y="781195"/>
                </a:lnTo>
                <a:lnTo>
                  <a:pt x="0" y="734746"/>
                </a:lnTo>
                <a:lnTo>
                  <a:pt x="0" y="146952"/>
                </a:ln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close/>
              </a:path>
            </a:pathLst>
          </a:custGeom>
          <a:solidFill>
            <a:srgbClr val="EEEEEE"/>
          </a:solidFill>
        </p:spPr>
        <p:txBody>
          <a:bodyPr wrap="square" lIns="0" tIns="0" rIns="0" bIns="0" rtlCol="0"/>
          <a:lstStyle/>
          <a:p>
            <a:endParaRPr sz="2400"/>
          </a:p>
        </p:txBody>
      </p:sp>
      <p:sp>
        <p:nvSpPr>
          <p:cNvPr id="16" name="object 16"/>
          <p:cNvSpPr/>
          <p:nvPr/>
        </p:nvSpPr>
        <p:spPr>
          <a:xfrm>
            <a:off x="7842599" y="1803899"/>
            <a:ext cx="2591647" cy="1176020"/>
          </a:xfrm>
          <a:custGeom>
            <a:avLst/>
            <a:gdLst/>
            <a:ahLst/>
            <a:cxnLst/>
            <a:rect l="l" t="t" r="r" b="b"/>
            <a:pathLst>
              <a:path w="1943734" h="882014">
                <a:moveTo>
                  <a:pt x="0" y="146952"/>
                </a:move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lnTo>
                  <a:pt x="146952" y="881699"/>
                </a:lnTo>
                <a:lnTo>
                  <a:pt x="100504" y="874208"/>
                </a:lnTo>
                <a:lnTo>
                  <a:pt x="60164" y="853346"/>
                </a:lnTo>
                <a:lnTo>
                  <a:pt x="28353" y="821535"/>
                </a:lnTo>
                <a:lnTo>
                  <a:pt x="7491" y="781195"/>
                </a:lnTo>
                <a:lnTo>
                  <a:pt x="0" y="734746"/>
                </a:lnTo>
                <a:lnTo>
                  <a:pt x="0" y="146952"/>
                </a:lnTo>
                <a:close/>
              </a:path>
            </a:pathLst>
          </a:custGeom>
          <a:ln w="9524">
            <a:solidFill>
              <a:srgbClr val="595959"/>
            </a:solidFill>
          </a:ln>
        </p:spPr>
        <p:txBody>
          <a:bodyPr wrap="square" lIns="0" tIns="0" rIns="0" bIns="0" rtlCol="0"/>
          <a:lstStyle/>
          <a:p>
            <a:endParaRPr sz="2400"/>
          </a:p>
        </p:txBody>
      </p:sp>
      <p:sp>
        <p:nvSpPr>
          <p:cNvPr id="17" name="object 17"/>
          <p:cNvSpPr/>
          <p:nvPr/>
        </p:nvSpPr>
        <p:spPr>
          <a:xfrm>
            <a:off x="5220032" y="1482783"/>
            <a:ext cx="949960" cy="545253"/>
          </a:xfrm>
          <a:custGeom>
            <a:avLst/>
            <a:gdLst/>
            <a:ahLst/>
            <a:cxnLst/>
            <a:rect l="l" t="t" r="r" b="b"/>
            <a:pathLst>
              <a:path w="712470" h="408940">
                <a:moveTo>
                  <a:pt x="6440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close/>
              </a:path>
            </a:pathLst>
          </a:custGeom>
          <a:solidFill>
            <a:srgbClr val="EEEEEE"/>
          </a:solidFill>
        </p:spPr>
        <p:txBody>
          <a:bodyPr wrap="square" lIns="0" tIns="0" rIns="0" bIns="0" rtlCol="0"/>
          <a:lstStyle/>
          <a:p>
            <a:endParaRPr sz="2400"/>
          </a:p>
        </p:txBody>
      </p:sp>
      <p:sp>
        <p:nvSpPr>
          <p:cNvPr id="18" name="object 18"/>
          <p:cNvSpPr/>
          <p:nvPr/>
        </p:nvSpPr>
        <p:spPr>
          <a:xfrm>
            <a:off x="5220032" y="1482783"/>
            <a:ext cx="949960" cy="545253"/>
          </a:xfrm>
          <a:custGeom>
            <a:avLst/>
            <a:gdLst/>
            <a:ahLst/>
            <a:cxnLst/>
            <a:rect l="l" t="t" r="r" b="b"/>
            <a:pathLst>
              <a:path w="712470" h="408940">
                <a:moveTo>
                  <a:pt x="0" y="68101"/>
                </a:move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19" name="object 19"/>
          <p:cNvSpPr txBox="1"/>
          <p:nvPr/>
        </p:nvSpPr>
        <p:spPr>
          <a:xfrm>
            <a:off x="5343996" y="1529832"/>
            <a:ext cx="4544905" cy="723403"/>
          </a:xfrm>
          <a:prstGeom prst="rect">
            <a:avLst/>
          </a:prstGeom>
        </p:spPr>
        <p:txBody>
          <a:bodyPr vert="horz" wrap="square" lIns="0" tIns="83820" rIns="0" bIns="0" rtlCol="0">
            <a:spAutoFit/>
          </a:bodyPr>
          <a:lstStyle/>
          <a:p>
            <a:pPr marL="16933">
              <a:spcBef>
                <a:spcPts val="660"/>
              </a:spcBef>
            </a:pPr>
            <a:r>
              <a:rPr sz="1867" b="1" spc="-7" dirty="0">
                <a:latin typeface="Arial"/>
                <a:cs typeface="Arial"/>
              </a:rPr>
              <a:t>entity</a:t>
            </a:r>
            <a:endParaRPr sz="1867">
              <a:latin typeface="Arial"/>
              <a:cs typeface="Arial"/>
            </a:endParaRPr>
          </a:p>
          <a:p>
            <a:pPr marL="2669473">
              <a:spcBef>
                <a:spcPts val="533"/>
              </a:spcBef>
            </a:pPr>
            <a:r>
              <a:rPr sz="1867" b="1" spc="-7" dirty="0">
                <a:latin typeface="Arial"/>
                <a:cs typeface="Arial"/>
              </a:rPr>
              <a:t>moveable_entity</a:t>
            </a:r>
            <a:endParaRPr sz="1867">
              <a:latin typeface="Arial"/>
              <a:cs typeface="Arial"/>
            </a:endParaRPr>
          </a:p>
        </p:txBody>
      </p:sp>
      <p:sp>
        <p:nvSpPr>
          <p:cNvPr id="20" name="object 20"/>
          <p:cNvSpPr/>
          <p:nvPr/>
        </p:nvSpPr>
        <p:spPr>
          <a:xfrm>
            <a:off x="2117595" y="2027584"/>
            <a:ext cx="3578013" cy="466513"/>
          </a:xfrm>
          <a:custGeom>
            <a:avLst/>
            <a:gdLst/>
            <a:ahLst/>
            <a:cxnLst/>
            <a:rect l="l" t="t" r="r" b="b"/>
            <a:pathLst>
              <a:path w="2683510" h="349885">
                <a:moveTo>
                  <a:pt x="2682928" y="0"/>
                </a:moveTo>
                <a:lnTo>
                  <a:pt x="0" y="349321"/>
                </a:lnTo>
              </a:path>
            </a:pathLst>
          </a:custGeom>
          <a:ln w="9524">
            <a:solidFill>
              <a:srgbClr val="595959"/>
            </a:solidFill>
          </a:ln>
        </p:spPr>
        <p:txBody>
          <a:bodyPr wrap="square" lIns="0" tIns="0" rIns="0" bIns="0" rtlCol="0"/>
          <a:lstStyle/>
          <a:p>
            <a:endParaRPr sz="2400"/>
          </a:p>
        </p:txBody>
      </p:sp>
      <p:sp>
        <p:nvSpPr>
          <p:cNvPr id="21" name="object 21"/>
          <p:cNvSpPr/>
          <p:nvPr/>
        </p:nvSpPr>
        <p:spPr>
          <a:xfrm>
            <a:off x="2060445" y="2472543"/>
            <a:ext cx="60113" cy="42333"/>
          </a:xfrm>
          <a:custGeom>
            <a:avLst/>
            <a:gdLst/>
            <a:ahLst/>
            <a:cxnLst/>
            <a:rect l="l" t="t" r="r" b="b"/>
            <a:pathLst>
              <a:path w="45084" h="31750">
                <a:moveTo>
                  <a:pt x="44894" y="31202"/>
                </a:moveTo>
                <a:lnTo>
                  <a:pt x="0" y="21182"/>
                </a:lnTo>
                <a:lnTo>
                  <a:pt x="40832" y="0"/>
                </a:lnTo>
                <a:lnTo>
                  <a:pt x="44894" y="31202"/>
                </a:lnTo>
                <a:close/>
              </a:path>
            </a:pathLst>
          </a:custGeom>
          <a:solidFill>
            <a:srgbClr val="595959"/>
          </a:solidFill>
        </p:spPr>
        <p:txBody>
          <a:bodyPr wrap="square" lIns="0" tIns="0" rIns="0" bIns="0" rtlCol="0"/>
          <a:lstStyle/>
          <a:p>
            <a:endParaRPr sz="2400"/>
          </a:p>
        </p:txBody>
      </p:sp>
      <p:sp>
        <p:nvSpPr>
          <p:cNvPr id="22" name="object 22"/>
          <p:cNvSpPr/>
          <p:nvPr/>
        </p:nvSpPr>
        <p:spPr>
          <a:xfrm>
            <a:off x="2060445" y="2472543"/>
            <a:ext cx="60113" cy="42333"/>
          </a:xfrm>
          <a:custGeom>
            <a:avLst/>
            <a:gdLst/>
            <a:ahLst/>
            <a:cxnLst/>
            <a:rect l="l" t="t" r="r" b="b"/>
            <a:pathLst>
              <a:path w="45084" h="31750">
                <a:moveTo>
                  <a:pt x="40832" y="0"/>
                </a:moveTo>
                <a:lnTo>
                  <a:pt x="0" y="21182"/>
                </a:lnTo>
                <a:lnTo>
                  <a:pt x="44894" y="31202"/>
                </a:lnTo>
                <a:lnTo>
                  <a:pt x="40832" y="0"/>
                </a:lnTo>
                <a:close/>
              </a:path>
            </a:pathLst>
          </a:custGeom>
          <a:ln w="9524">
            <a:solidFill>
              <a:srgbClr val="595959"/>
            </a:solidFill>
          </a:ln>
        </p:spPr>
        <p:txBody>
          <a:bodyPr wrap="square" lIns="0" tIns="0" rIns="0" bIns="0" rtlCol="0"/>
          <a:lstStyle/>
          <a:p>
            <a:endParaRPr sz="2400"/>
          </a:p>
        </p:txBody>
      </p:sp>
      <p:sp>
        <p:nvSpPr>
          <p:cNvPr id="23" name="object 23"/>
          <p:cNvSpPr/>
          <p:nvPr/>
        </p:nvSpPr>
        <p:spPr>
          <a:xfrm>
            <a:off x="9138200" y="2979501"/>
            <a:ext cx="1370753" cy="368300"/>
          </a:xfrm>
          <a:custGeom>
            <a:avLst/>
            <a:gdLst/>
            <a:ahLst/>
            <a:cxnLst/>
            <a:rect l="l" t="t" r="r" b="b"/>
            <a:pathLst>
              <a:path w="1028065" h="276225">
                <a:moveTo>
                  <a:pt x="0" y="0"/>
                </a:moveTo>
                <a:lnTo>
                  <a:pt x="1027803" y="275884"/>
                </a:lnTo>
              </a:path>
            </a:pathLst>
          </a:custGeom>
          <a:ln w="9524">
            <a:solidFill>
              <a:srgbClr val="595959"/>
            </a:solidFill>
          </a:ln>
        </p:spPr>
        <p:txBody>
          <a:bodyPr wrap="square" lIns="0" tIns="0" rIns="0" bIns="0" rtlCol="0"/>
          <a:lstStyle/>
          <a:p>
            <a:endParaRPr sz="2400"/>
          </a:p>
        </p:txBody>
      </p:sp>
      <p:sp>
        <p:nvSpPr>
          <p:cNvPr id="24" name="object 24"/>
          <p:cNvSpPr/>
          <p:nvPr/>
        </p:nvSpPr>
        <p:spPr>
          <a:xfrm>
            <a:off x="10503166" y="3327085"/>
            <a:ext cx="61807" cy="40640"/>
          </a:xfrm>
          <a:custGeom>
            <a:avLst/>
            <a:gdLst/>
            <a:ahLst/>
            <a:cxnLst/>
            <a:rect l="l" t="t" r="r" b="b"/>
            <a:pathLst>
              <a:path w="46354" h="30480">
                <a:moveTo>
                  <a:pt x="0" y="30389"/>
                </a:moveTo>
                <a:lnTo>
                  <a:pt x="8157" y="0"/>
                </a:lnTo>
                <a:lnTo>
                  <a:pt x="45826" y="26400"/>
                </a:lnTo>
                <a:lnTo>
                  <a:pt x="0" y="30389"/>
                </a:lnTo>
                <a:close/>
              </a:path>
            </a:pathLst>
          </a:custGeom>
          <a:solidFill>
            <a:srgbClr val="595959"/>
          </a:solidFill>
        </p:spPr>
        <p:txBody>
          <a:bodyPr wrap="square" lIns="0" tIns="0" rIns="0" bIns="0" rtlCol="0"/>
          <a:lstStyle/>
          <a:p>
            <a:endParaRPr sz="2400"/>
          </a:p>
        </p:txBody>
      </p:sp>
      <p:sp>
        <p:nvSpPr>
          <p:cNvPr id="25" name="object 25"/>
          <p:cNvSpPr/>
          <p:nvPr/>
        </p:nvSpPr>
        <p:spPr>
          <a:xfrm>
            <a:off x="10503166" y="3327085"/>
            <a:ext cx="61807" cy="40640"/>
          </a:xfrm>
          <a:custGeom>
            <a:avLst/>
            <a:gdLst/>
            <a:ahLst/>
            <a:cxnLst/>
            <a:rect l="l" t="t" r="r" b="b"/>
            <a:pathLst>
              <a:path w="46354" h="30480">
                <a:moveTo>
                  <a:pt x="0" y="30389"/>
                </a:moveTo>
                <a:lnTo>
                  <a:pt x="45826" y="26400"/>
                </a:lnTo>
                <a:lnTo>
                  <a:pt x="8157" y="0"/>
                </a:lnTo>
                <a:lnTo>
                  <a:pt x="0" y="30389"/>
                </a:lnTo>
                <a:close/>
              </a:path>
            </a:pathLst>
          </a:custGeom>
          <a:ln w="9524">
            <a:solidFill>
              <a:srgbClr val="595959"/>
            </a:solidFill>
          </a:ln>
        </p:spPr>
        <p:txBody>
          <a:bodyPr wrap="square" lIns="0" tIns="0" rIns="0" bIns="0" rtlCol="0"/>
          <a:lstStyle/>
          <a:p>
            <a:endParaRPr sz="2400"/>
          </a:p>
        </p:txBody>
      </p:sp>
      <p:sp>
        <p:nvSpPr>
          <p:cNvPr id="26" name="object 26"/>
          <p:cNvSpPr/>
          <p:nvPr/>
        </p:nvSpPr>
        <p:spPr>
          <a:xfrm>
            <a:off x="7583961" y="2979501"/>
            <a:ext cx="1554480" cy="498687"/>
          </a:xfrm>
          <a:custGeom>
            <a:avLst/>
            <a:gdLst/>
            <a:ahLst/>
            <a:cxnLst/>
            <a:rect l="l" t="t" r="r" b="b"/>
            <a:pathLst>
              <a:path w="1165859" h="374014">
                <a:moveTo>
                  <a:pt x="1165678" y="0"/>
                </a:moveTo>
                <a:lnTo>
                  <a:pt x="0" y="373750"/>
                </a:lnTo>
              </a:path>
            </a:pathLst>
          </a:custGeom>
          <a:ln w="9524">
            <a:solidFill>
              <a:srgbClr val="595959"/>
            </a:solidFill>
          </a:ln>
        </p:spPr>
        <p:txBody>
          <a:bodyPr wrap="square" lIns="0" tIns="0" rIns="0" bIns="0" rtlCol="0"/>
          <a:lstStyle/>
          <a:p>
            <a:endParaRPr sz="2400"/>
          </a:p>
        </p:txBody>
      </p:sp>
      <p:sp>
        <p:nvSpPr>
          <p:cNvPr id="27" name="object 27"/>
          <p:cNvSpPr/>
          <p:nvPr/>
        </p:nvSpPr>
        <p:spPr>
          <a:xfrm>
            <a:off x="7529079" y="3457859"/>
            <a:ext cx="61807" cy="40640"/>
          </a:xfrm>
          <a:custGeom>
            <a:avLst/>
            <a:gdLst/>
            <a:ahLst/>
            <a:cxnLst/>
            <a:rect l="l" t="t" r="r" b="b"/>
            <a:pathLst>
              <a:path w="46354" h="30480">
                <a:moveTo>
                  <a:pt x="45964" y="29962"/>
                </a:moveTo>
                <a:lnTo>
                  <a:pt x="0" y="28179"/>
                </a:lnTo>
                <a:lnTo>
                  <a:pt x="36357" y="0"/>
                </a:lnTo>
                <a:lnTo>
                  <a:pt x="45964" y="29962"/>
                </a:lnTo>
                <a:close/>
              </a:path>
            </a:pathLst>
          </a:custGeom>
          <a:solidFill>
            <a:srgbClr val="595959"/>
          </a:solidFill>
        </p:spPr>
        <p:txBody>
          <a:bodyPr wrap="square" lIns="0" tIns="0" rIns="0" bIns="0" rtlCol="0"/>
          <a:lstStyle/>
          <a:p>
            <a:endParaRPr sz="2400"/>
          </a:p>
        </p:txBody>
      </p:sp>
      <p:sp>
        <p:nvSpPr>
          <p:cNvPr id="28" name="object 28"/>
          <p:cNvSpPr/>
          <p:nvPr/>
        </p:nvSpPr>
        <p:spPr>
          <a:xfrm>
            <a:off x="7529079" y="3457859"/>
            <a:ext cx="61807" cy="40640"/>
          </a:xfrm>
          <a:custGeom>
            <a:avLst/>
            <a:gdLst/>
            <a:ahLst/>
            <a:cxnLst/>
            <a:rect l="l" t="t" r="r" b="b"/>
            <a:pathLst>
              <a:path w="46354" h="30480">
                <a:moveTo>
                  <a:pt x="36357" y="0"/>
                </a:moveTo>
                <a:lnTo>
                  <a:pt x="0" y="28179"/>
                </a:lnTo>
                <a:lnTo>
                  <a:pt x="45964" y="29962"/>
                </a:lnTo>
                <a:lnTo>
                  <a:pt x="36357" y="0"/>
                </a:lnTo>
                <a:close/>
              </a:path>
            </a:pathLst>
          </a:custGeom>
          <a:ln w="9524">
            <a:solidFill>
              <a:srgbClr val="595959"/>
            </a:solidFill>
          </a:ln>
        </p:spPr>
        <p:txBody>
          <a:bodyPr wrap="square" lIns="0" tIns="0" rIns="0" bIns="0" rtlCol="0"/>
          <a:lstStyle/>
          <a:p>
            <a:endParaRPr sz="2400"/>
          </a:p>
        </p:txBody>
      </p:sp>
      <p:sp>
        <p:nvSpPr>
          <p:cNvPr id="29" name="object 29"/>
          <p:cNvSpPr/>
          <p:nvPr/>
        </p:nvSpPr>
        <p:spPr>
          <a:xfrm>
            <a:off x="7659633" y="5228699"/>
            <a:ext cx="2591647" cy="1176020"/>
          </a:xfrm>
          <a:custGeom>
            <a:avLst/>
            <a:gdLst/>
            <a:ahLst/>
            <a:cxnLst/>
            <a:rect l="l" t="t" r="r" b="b"/>
            <a:pathLst>
              <a:path w="1943734" h="882014">
                <a:moveTo>
                  <a:pt x="1796446" y="881699"/>
                </a:moveTo>
                <a:lnTo>
                  <a:pt x="146952" y="881699"/>
                </a:lnTo>
                <a:lnTo>
                  <a:pt x="100504" y="874208"/>
                </a:lnTo>
                <a:lnTo>
                  <a:pt x="60164" y="853346"/>
                </a:lnTo>
                <a:lnTo>
                  <a:pt x="28353" y="821535"/>
                </a:lnTo>
                <a:lnTo>
                  <a:pt x="7491" y="781195"/>
                </a:lnTo>
                <a:lnTo>
                  <a:pt x="0" y="734746"/>
                </a:lnTo>
                <a:lnTo>
                  <a:pt x="0" y="146952"/>
                </a:ln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close/>
              </a:path>
            </a:pathLst>
          </a:custGeom>
          <a:solidFill>
            <a:srgbClr val="EEEEEE"/>
          </a:solidFill>
        </p:spPr>
        <p:txBody>
          <a:bodyPr wrap="square" lIns="0" tIns="0" rIns="0" bIns="0" rtlCol="0"/>
          <a:lstStyle/>
          <a:p>
            <a:endParaRPr sz="2400"/>
          </a:p>
        </p:txBody>
      </p:sp>
      <p:sp>
        <p:nvSpPr>
          <p:cNvPr id="30" name="object 30"/>
          <p:cNvSpPr/>
          <p:nvPr/>
        </p:nvSpPr>
        <p:spPr>
          <a:xfrm>
            <a:off x="7659633" y="5228699"/>
            <a:ext cx="2591647" cy="1176020"/>
          </a:xfrm>
          <a:custGeom>
            <a:avLst/>
            <a:gdLst/>
            <a:ahLst/>
            <a:cxnLst/>
            <a:rect l="l" t="t" r="r" b="b"/>
            <a:pathLst>
              <a:path w="1943734" h="882014">
                <a:moveTo>
                  <a:pt x="0" y="146952"/>
                </a:move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lnTo>
                  <a:pt x="146952" y="881699"/>
                </a:lnTo>
                <a:lnTo>
                  <a:pt x="100504" y="874208"/>
                </a:lnTo>
                <a:lnTo>
                  <a:pt x="60164" y="853346"/>
                </a:lnTo>
                <a:lnTo>
                  <a:pt x="28353" y="821535"/>
                </a:lnTo>
                <a:lnTo>
                  <a:pt x="7491" y="781195"/>
                </a:lnTo>
                <a:lnTo>
                  <a:pt x="0" y="734746"/>
                </a:lnTo>
                <a:lnTo>
                  <a:pt x="0" y="146952"/>
                </a:lnTo>
                <a:close/>
              </a:path>
            </a:pathLst>
          </a:custGeom>
          <a:ln w="9524">
            <a:solidFill>
              <a:srgbClr val="595959"/>
            </a:solidFill>
          </a:ln>
        </p:spPr>
        <p:txBody>
          <a:bodyPr wrap="square" lIns="0" tIns="0" rIns="0" bIns="0" rtlCol="0"/>
          <a:lstStyle/>
          <a:p>
            <a:endParaRPr sz="2400"/>
          </a:p>
        </p:txBody>
      </p:sp>
      <p:sp>
        <p:nvSpPr>
          <p:cNvPr id="31" name="object 31"/>
          <p:cNvSpPr txBox="1"/>
          <p:nvPr/>
        </p:nvSpPr>
        <p:spPr>
          <a:xfrm>
            <a:off x="7814389" y="5373973"/>
            <a:ext cx="665479"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bullet</a:t>
            </a:r>
            <a:endParaRPr sz="1867">
              <a:latin typeface="Arial"/>
              <a:cs typeface="Arial"/>
            </a:endParaRPr>
          </a:p>
        </p:txBody>
      </p:sp>
      <p:sp>
        <p:nvSpPr>
          <p:cNvPr id="32" name="object 32"/>
          <p:cNvSpPr txBox="1"/>
          <p:nvPr/>
        </p:nvSpPr>
        <p:spPr>
          <a:xfrm>
            <a:off x="7814389" y="5932773"/>
            <a:ext cx="1602740" cy="304421"/>
          </a:xfrm>
          <a:prstGeom prst="rect">
            <a:avLst/>
          </a:prstGeom>
        </p:spPr>
        <p:txBody>
          <a:bodyPr vert="horz" wrap="square" lIns="0" tIns="16933" rIns="0" bIns="0" rtlCol="0">
            <a:spAutoFit/>
          </a:bodyPr>
          <a:lstStyle/>
          <a:p>
            <a:pPr marL="16933">
              <a:spcBef>
                <a:spcPts val="133"/>
              </a:spcBef>
            </a:pPr>
            <a:r>
              <a:rPr sz="1867" spc="-7" dirty="0">
                <a:latin typeface="Arial"/>
                <a:cs typeface="Arial"/>
              </a:rPr>
              <a:t>damage_touch</a:t>
            </a:r>
            <a:endParaRPr sz="1867">
              <a:latin typeface="Arial"/>
              <a:cs typeface="Arial"/>
            </a:endParaRPr>
          </a:p>
        </p:txBody>
      </p:sp>
      <p:sp>
        <p:nvSpPr>
          <p:cNvPr id="33" name="object 33"/>
          <p:cNvSpPr/>
          <p:nvPr/>
        </p:nvSpPr>
        <p:spPr>
          <a:xfrm>
            <a:off x="8961573" y="2979501"/>
            <a:ext cx="176953" cy="2173393"/>
          </a:xfrm>
          <a:custGeom>
            <a:avLst/>
            <a:gdLst/>
            <a:ahLst/>
            <a:cxnLst/>
            <a:rect l="l" t="t" r="r" b="b"/>
            <a:pathLst>
              <a:path w="132715" h="1630045">
                <a:moveTo>
                  <a:pt x="132469" y="0"/>
                </a:moveTo>
                <a:lnTo>
                  <a:pt x="0" y="1629937"/>
                </a:lnTo>
              </a:path>
            </a:pathLst>
          </a:custGeom>
          <a:ln w="9524">
            <a:solidFill>
              <a:srgbClr val="595959"/>
            </a:solidFill>
          </a:ln>
        </p:spPr>
        <p:txBody>
          <a:bodyPr wrap="square" lIns="0" tIns="0" rIns="0" bIns="0" rtlCol="0"/>
          <a:lstStyle/>
          <a:p>
            <a:endParaRPr sz="2400"/>
          </a:p>
        </p:txBody>
      </p:sp>
      <p:sp>
        <p:nvSpPr>
          <p:cNvPr id="34" name="object 34"/>
          <p:cNvSpPr/>
          <p:nvPr/>
        </p:nvSpPr>
        <p:spPr>
          <a:xfrm>
            <a:off x="8940664" y="5151051"/>
            <a:ext cx="42333" cy="59267"/>
          </a:xfrm>
          <a:custGeom>
            <a:avLst/>
            <a:gdLst/>
            <a:ahLst/>
            <a:cxnLst/>
            <a:rect l="l" t="t" r="r" b="b"/>
            <a:pathLst>
              <a:path w="31750" h="44450">
                <a:moveTo>
                  <a:pt x="12179" y="44357"/>
                </a:moveTo>
                <a:lnTo>
                  <a:pt x="0" y="0"/>
                </a:lnTo>
                <a:lnTo>
                  <a:pt x="31362" y="2548"/>
                </a:lnTo>
                <a:lnTo>
                  <a:pt x="12179" y="44357"/>
                </a:lnTo>
                <a:close/>
              </a:path>
            </a:pathLst>
          </a:custGeom>
          <a:solidFill>
            <a:srgbClr val="595959"/>
          </a:solidFill>
        </p:spPr>
        <p:txBody>
          <a:bodyPr wrap="square" lIns="0" tIns="0" rIns="0" bIns="0" rtlCol="0"/>
          <a:lstStyle/>
          <a:p>
            <a:endParaRPr sz="2400"/>
          </a:p>
        </p:txBody>
      </p:sp>
      <p:sp>
        <p:nvSpPr>
          <p:cNvPr id="35" name="object 35"/>
          <p:cNvSpPr/>
          <p:nvPr/>
        </p:nvSpPr>
        <p:spPr>
          <a:xfrm>
            <a:off x="8940664" y="5151051"/>
            <a:ext cx="42333" cy="59267"/>
          </a:xfrm>
          <a:custGeom>
            <a:avLst/>
            <a:gdLst/>
            <a:ahLst/>
            <a:cxnLst/>
            <a:rect l="l" t="t" r="r" b="b"/>
            <a:pathLst>
              <a:path w="31750" h="44450">
                <a:moveTo>
                  <a:pt x="0" y="0"/>
                </a:moveTo>
                <a:lnTo>
                  <a:pt x="12179" y="44357"/>
                </a:lnTo>
                <a:lnTo>
                  <a:pt x="31362" y="2548"/>
                </a:lnTo>
                <a:lnTo>
                  <a:pt x="0" y="0"/>
                </a:lnTo>
                <a:close/>
              </a:path>
            </a:pathLst>
          </a:custGeom>
          <a:ln w="9524">
            <a:solidFill>
              <a:srgbClr val="595959"/>
            </a:solidFill>
          </a:ln>
        </p:spPr>
        <p:txBody>
          <a:bodyPr wrap="square" lIns="0" tIns="0" rIns="0" bIns="0" rtlCol="0"/>
          <a:lstStyle/>
          <a:p>
            <a:endParaRPr sz="2400"/>
          </a:p>
        </p:txBody>
      </p:sp>
      <p:sp>
        <p:nvSpPr>
          <p:cNvPr id="36" name="object 36"/>
          <p:cNvSpPr/>
          <p:nvPr/>
        </p:nvSpPr>
        <p:spPr>
          <a:xfrm>
            <a:off x="3121966" y="5952566"/>
            <a:ext cx="2801620" cy="625687"/>
          </a:xfrm>
          <a:custGeom>
            <a:avLst/>
            <a:gdLst/>
            <a:ahLst/>
            <a:cxnLst/>
            <a:rect l="l" t="t" r="r" b="b"/>
            <a:pathLst>
              <a:path w="2101215" h="469264">
                <a:moveTo>
                  <a:pt x="2022398" y="469199"/>
                </a:moveTo>
                <a:lnTo>
                  <a:pt x="78201" y="469199"/>
                </a:lnTo>
                <a:lnTo>
                  <a:pt x="47761" y="463054"/>
                </a:lnTo>
                <a:lnTo>
                  <a:pt x="22904" y="446295"/>
                </a:lnTo>
                <a:lnTo>
                  <a:pt x="6145" y="421438"/>
                </a:lnTo>
                <a:lnTo>
                  <a:pt x="0" y="390998"/>
                </a:lnTo>
                <a:lnTo>
                  <a:pt x="0" y="78201"/>
                </a:lnTo>
                <a:lnTo>
                  <a:pt x="6145" y="47761"/>
                </a:lnTo>
                <a:lnTo>
                  <a:pt x="22904" y="22904"/>
                </a:lnTo>
                <a:lnTo>
                  <a:pt x="47761" y="6145"/>
                </a:lnTo>
                <a:lnTo>
                  <a:pt x="78201" y="0"/>
                </a:lnTo>
                <a:lnTo>
                  <a:pt x="2022398" y="0"/>
                </a:lnTo>
                <a:lnTo>
                  <a:pt x="2065784" y="13138"/>
                </a:lnTo>
                <a:lnTo>
                  <a:pt x="2094647" y="48275"/>
                </a:lnTo>
                <a:lnTo>
                  <a:pt x="2100599" y="78201"/>
                </a:lnTo>
                <a:lnTo>
                  <a:pt x="2100599" y="390998"/>
                </a:lnTo>
                <a:lnTo>
                  <a:pt x="2094454" y="421438"/>
                </a:lnTo>
                <a:lnTo>
                  <a:pt x="2077695" y="446295"/>
                </a:lnTo>
                <a:lnTo>
                  <a:pt x="2052838" y="463054"/>
                </a:lnTo>
                <a:lnTo>
                  <a:pt x="2022398" y="469199"/>
                </a:lnTo>
                <a:close/>
              </a:path>
            </a:pathLst>
          </a:custGeom>
          <a:solidFill>
            <a:srgbClr val="EEEEEE"/>
          </a:solidFill>
        </p:spPr>
        <p:txBody>
          <a:bodyPr wrap="square" lIns="0" tIns="0" rIns="0" bIns="0" rtlCol="0"/>
          <a:lstStyle/>
          <a:p>
            <a:endParaRPr sz="2400"/>
          </a:p>
        </p:txBody>
      </p:sp>
      <p:sp>
        <p:nvSpPr>
          <p:cNvPr id="37" name="object 37"/>
          <p:cNvSpPr/>
          <p:nvPr/>
        </p:nvSpPr>
        <p:spPr>
          <a:xfrm>
            <a:off x="3121966" y="5952567"/>
            <a:ext cx="2801620" cy="625687"/>
          </a:xfrm>
          <a:custGeom>
            <a:avLst/>
            <a:gdLst/>
            <a:ahLst/>
            <a:cxnLst/>
            <a:rect l="l" t="t" r="r" b="b"/>
            <a:pathLst>
              <a:path w="2101215" h="469264">
                <a:moveTo>
                  <a:pt x="0" y="78201"/>
                </a:moveTo>
                <a:lnTo>
                  <a:pt x="6145" y="47761"/>
                </a:lnTo>
                <a:lnTo>
                  <a:pt x="22904" y="22904"/>
                </a:lnTo>
                <a:lnTo>
                  <a:pt x="47761" y="6145"/>
                </a:lnTo>
                <a:lnTo>
                  <a:pt x="78201" y="0"/>
                </a:lnTo>
                <a:lnTo>
                  <a:pt x="2022398" y="0"/>
                </a:lnTo>
                <a:lnTo>
                  <a:pt x="2065784" y="13138"/>
                </a:lnTo>
                <a:lnTo>
                  <a:pt x="2094647" y="48275"/>
                </a:lnTo>
                <a:lnTo>
                  <a:pt x="2100599" y="78201"/>
                </a:lnTo>
                <a:lnTo>
                  <a:pt x="2100599" y="390998"/>
                </a:lnTo>
                <a:lnTo>
                  <a:pt x="2094454" y="421438"/>
                </a:lnTo>
                <a:lnTo>
                  <a:pt x="2077695" y="446295"/>
                </a:lnTo>
                <a:lnTo>
                  <a:pt x="2052838" y="463054"/>
                </a:lnTo>
                <a:lnTo>
                  <a:pt x="2022398" y="469199"/>
                </a:lnTo>
                <a:lnTo>
                  <a:pt x="78201" y="469199"/>
                </a:lnTo>
                <a:lnTo>
                  <a:pt x="47761" y="463054"/>
                </a:lnTo>
                <a:lnTo>
                  <a:pt x="22904" y="446295"/>
                </a:lnTo>
                <a:lnTo>
                  <a:pt x="6145" y="421438"/>
                </a:lnTo>
                <a:lnTo>
                  <a:pt x="0" y="390998"/>
                </a:lnTo>
                <a:lnTo>
                  <a:pt x="0" y="78201"/>
                </a:lnTo>
                <a:close/>
              </a:path>
            </a:pathLst>
          </a:custGeom>
          <a:ln w="9524">
            <a:solidFill>
              <a:srgbClr val="595959"/>
            </a:solidFill>
          </a:ln>
        </p:spPr>
        <p:txBody>
          <a:bodyPr wrap="square" lIns="0" tIns="0" rIns="0" bIns="0" rtlCol="0"/>
          <a:lstStyle/>
          <a:p>
            <a:endParaRPr sz="2400"/>
          </a:p>
        </p:txBody>
      </p:sp>
      <p:sp>
        <p:nvSpPr>
          <p:cNvPr id="38" name="object 38"/>
          <p:cNvSpPr txBox="1"/>
          <p:nvPr/>
        </p:nvSpPr>
        <p:spPr>
          <a:xfrm>
            <a:off x="3249873" y="6070990"/>
            <a:ext cx="2247052"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chase_bomb_bullet</a:t>
            </a:r>
            <a:endParaRPr sz="1867">
              <a:latin typeface="Arial"/>
              <a:cs typeface="Arial"/>
            </a:endParaRPr>
          </a:p>
        </p:txBody>
      </p:sp>
      <p:sp>
        <p:nvSpPr>
          <p:cNvPr id="39" name="object 39"/>
          <p:cNvSpPr/>
          <p:nvPr/>
        </p:nvSpPr>
        <p:spPr>
          <a:xfrm>
            <a:off x="2042000" y="3977299"/>
            <a:ext cx="2421467" cy="1927860"/>
          </a:xfrm>
          <a:custGeom>
            <a:avLst/>
            <a:gdLst/>
            <a:ahLst/>
            <a:cxnLst/>
            <a:rect l="l" t="t" r="r" b="b"/>
            <a:pathLst>
              <a:path w="1816100" h="1445895">
                <a:moveTo>
                  <a:pt x="0" y="0"/>
                </a:moveTo>
                <a:lnTo>
                  <a:pt x="1815593" y="1445798"/>
                </a:lnTo>
              </a:path>
            </a:pathLst>
          </a:custGeom>
          <a:ln w="9524">
            <a:solidFill>
              <a:srgbClr val="595959"/>
            </a:solidFill>
          </a:ln>
        </p:spPr>
        <p:txBody>
          <a:bodyPr wrap="square" lIns="0" tIns="0" rIns="0" bIns="0" rtlCol="0"/>
          <a:lstStyle/>
          <a:p>
            <a:endParaRPr sz="2400"/>
          </a:p>
        </p:txBody>
      </p:sp>
      <p:sp>
        <p:nvSpPr>
          <p:cNvPr id="40" name="object 40"/>
          <p:cNvSpPr/>
          <p:nvPr/>
        </p:nvSpPr>
        <p:spPr>
          <a:xfrm>
            <a:off x="4449723" y="5888622"/>
            <a:ext cx="58420" cy="52493"/>
          </a:xfrm>
          <a:custGeom>
            <a:avLst/>
            <a:gdLst/>
            <a:ahLst/>
            <a:cxnLst/>
            <a:rect l="l" t="t" r="r" b="b"/>
            <a:pathLst>
              <a:path w="43814" h="39370">
                <a:moveTo>
                  <a:pt x="43614" y="39233"/>
                </a:moveTo>
                <a:lnTo>
                  <a:pt x="0" y="24614"/>
                </a:lnTo>
                <a:lnTo>
                  <a:pt x="19601" y="0"/>
                </a:lnTo>
                <a:lnTo>
                  <a:pt x="43614" y="39233"/>
                </a:lnTo>
                <a:close/>
              </a:path>
            </a:pathLst>
          </a:custGeom>
          <a:solidFill>
            <a:srgbClr val="595959"/>
          </a:solidFill>
        </p:spPr>
        <p:txBody>
          <a:bodyPr wrap="square" lIns="0" tIns="0" rIns="0" bIns="0" rtlCol="0"/>
          <a:lstStyle/>
          <a:p>
            <a:endParaRPr sz="2400"/>
          </a:p>
        </p:txBody>
      </p:sp>
      <p:sp>
        <p:nvSpPr>
          <p:cNvPr id="41" name="object 41"/>
          <p:cNvSpPr/>
          <p:nvPr/>
        </p:nvSpPr>
        <p:spPr>
          <a:xfrm>
            <a:off x="4449723" y="5888622"/>
            <a:ext cx="58420" cy="52493"/>
          </a:xfrm>
          <a:custGeom>
            <a:avLst/>
            <a:gdLst/>
            <a:ahLst/>
            <a:cxnLst/>
            <a:rect l="l" t="t" r="r" b="b"/>
            <a:pathLst>
              <a:path w="43814" h="39370">
                <a:moveTo>
                  <a:pt x="0" y="24614"/>
                </a:moveTo>
                <a:lnTo>
                  <a:pt x="43614" y="39233"/>
                </a:lnTo>
                <a:lnTo>
                  <a:pt x="19601" y="0"/>
                </a:lnTo>
                <a:lnTo>
                  <a:pt x="0" y="24614"/>
                </a:lnTo>
                <a:close/>
              </a:path>
            </a:pathLst>
          </a:custGeom>
          <a:ln w="9524">
            <a:solidFill>
              <a:srgbClr val="595959"/>
            </a:solidFill>
          </a:ln>
        </p:spPr>
        <p:txBody>
          <a:bodyPr wrap="square" lIns="0" tIns="0" rIns="0" bIns="0" rtlCol="0"/>
          <a:lstStyle/>
          <a:p>
            <a:endParaRPr sz="2400"/>
          </a:p>
        </p:txBody>
      </p:sp>
      <p:sp>
        <p:nvSpPr>
          <p:cNvPr id="42" name="object 42"/>
          <p:cNvSpPr/>
          <p:nvPr/>
        </p:nvSpPr>
        <p:spPr>
          <a:xfrm>
            <a:off x="5982077" y="4975099"/>
            <a:ext cx="1529927" cy="1242907"/>
          </a:xfrm>
          <a:custGeom>
            <a:avLst/>
            <a:gdLst/>
            <a:ahLst/>
            <a:cxnLst/>
            <a:rect l="l" t="t" r="r" b="b"/>
            <a:pathLst>
              <a:path w="1147445" h="932179">
                <a:moveTo>
                  <a:pt x="1146942" y="0"/>
                </a:moveTo>
                <a:lnTo>
                  <a:pt x="0" y="931764"/>
                </a:lnTo>
              </a:path>
            </a:pathLst>
          </a:custGeom>
          <a:ln w="9524">
            <a:solidFill>
              <a:srgbClr val="595959"/>
            </a:solidFill>
          </a:ln>
        </p:spPr>
        <p:txBody>
          <a:bodyPr wrap="square" lIns="0" tIns="0" rIns="0" bIns="0" rtlCol="0"/>
          <a:lstStyle/>
          <a:p>
            <a:endParaRPr sz="2400"/>
          </a:p>
        </p:txBody>
      </p:sp>
      <p:sp>
        <p:nvSpPr>
          <p:cNvPr id="43" name="object 43"/>
          <p:cNvSpPr/>
          <p:nvPr/>
        </p:nvSpPr>
        <p:spPr>
          <a:xfrm>
            <a:off x="5937343" y="6201171"/>
            <a:ext cx="58420" cy="53340"/>
          </a:xfrm>
          <a:custGeom>
            <a:avLst/>
            <a:gdLst/>
            <a:ahLst/>
            <a:cxnLst/>
            <a:rect l="l" t="t" r="r" b="b"/>
            <a:pathLst>
              <a:path w="43814" h="40004">
                <a:moveTo>
                  <a:pt x="0" y="39466"/>
                </a:moveTo>
                <a:lnTo>
                  <a:pt x="23629" y="0"/>
                </a:lnTo>
                <a:lnTo>
                  <a:pt x="43469" y="24422"/>
                </a:lnTo>
                <a:lnTo>
                  <a:pt x="0" y="39466"/>
                </a:lnTo>
                <a:close/>
              </a:path>
            </a:pathLst>
          </a:custGeom>
          <a:solidFill>
            <a:srgbClr val="595959"/>
          </a:solidFill>
        </p:spPr>
        <p:txBody>
          <a:bodyPr wrap="square" lIns="0" tIns="0" rIns="0" bIns="0" rtlCol="0"/>
          <a:lstStyle/>
          <a:p>
            <a:endParaRPr sz="2400"/>
          </a:p>
        </p:txBody>
      </p:sp>
      <p:sp>
        <p:nvSpPr>
          <p:cNvPr id="44" name="object 44"/>
          <p:cNvSpPr/>
          <p:nvPr/>
        </p:nvSpPr>
        <p:spPr>
          <a:xfrm>
            <a:off x="5937343" y="6201171"/>
            <a:ext cx="58420" cy="53340"/>
          </a:xfrm>
          <a:custGeom>
            <a:avLst/>
            <a:gdLst/>
            <a:ahLst/>
            <a:cxnLst/>
            <a:rect l="l" t="t" r="r" b="b"/>
            <a:pathLst>
              <a:path w="43814" h="40004">
                <a:moveTo>
                  <a:pt x="23629" y="0"/>
                </a:moveTo>
                <a:lnTo>
                  <a:pt x="0" y="39466"/>
                </a:lnTo>
                <a:lnTo>
                  <a:pt x="43469" y="24422"/>
                </a:lnTo>
                <a:lnTo>
                  <a:pt x="23629" y="0"/>
                </a:lnTo>
                <a:close/>
              </a:path>
            </a:pathLst>
          </a:custGeom>
          <a:ln w="9524">
            <a:solidFill>
              <a:srgbClr val="595959"/>
            </a:solidFill>
          </a:ln>
        </p:spPr>
        <p:txBody>
          <a:bodyPr wrap="square" lIns="0" tIns="0" rIns="0" bIns="0" rtlCol="0"/>
          <a:lstStyle/>
          <a:p>
            <a:endParaRPr sz="2400"/>
          </a:p>
        </p:txBody>
      </p:sp>
      <p:sp>
        <p:nvSpPr>
          <p:cNvPr id="45" name="object 45"/>
          <p:cNvSpPr/>
          <p:nvPr/>
        </p:nvSpPr>
        <p:spPr>
          <a:xfrm>
            <a:off x="6169632" y="1755183"/>
            <a:ext cx="1601893" cy="609600"/>
          </a:xfrm>
          <a:custGeom>
            <a:avLst/>
            <a:gdLst/>
            <a:ahLst/>
            <a:cxnLst/>
            <a:rect l="l" t="t" r="r" b="b"/>
            <a:pathLst>
              <a:path w="1201420" h="457200">
                <a:moveTo>
                  <a:pt x="0" y="0"/>
                </a:moveTo>
                <a:lnTo>
                  <a:pt x="1201184" y="456978"/>
                </a:lnTo>
              </a:path>
            </a:pathLst>
          </a:custGeom>
          <a:ln w="9524">
            <a:solidFill>
              <a:srgbClr val="595959"/>
            </a:solidFill>
          </a:ln>
        </p:spPr>
        <p:txBody>
          <a:bodyPr wrap="square" lIns="0" tIns="0" rIns="0" bIns="0" rtlCol="0"/>
          <a:lstStyle/>
          <a:p>
            <a:endParaRPr sz="2400"/>
          </a:p>
        </p:txBody>
      </p:sp>
      <p:sp>
        <p:nvSpPr>
          <p:cNvPr id="46" name="object 46"/>
          <p:cNvSpPr/>
          <p:nvPr/>
        </p:nvSpPr>
        <p:spPr>
          <a:xfrm>
            <a:off x="7763754" y="2344881"/>
            <a:ext cx="61807" cy="40640"/>
          </a:xfrm>
          <a:custGeom>
            <a:avLst/>
            <a:gdLst/>
            <a:ahLst/>
            <a:cxnLst/>
            <a:rect l="l" t="t" r="r" b="b"/>
            <a:pathLst>
              <a:path w="46354" h="30480">
                <a:moveTo>
                  <a:pt x="45994" y="30074"/>
                </a:moveTo>
                <a:lnTo>
                  <a:pt x="0" y="29409"/>
                </a:lnTo>
                <a:lnTo>
                  <a:pt x="11188" y="0"/>
                </a:lnTo>
                <a:lnTo>
                  <a:pt x="45994" y="30074"/>
                </a:lnTo>
                <a:close/>
              </a:path>
            </a:pathLst>
          </a:custGeom>
          <a:solidFill>
            <a:srgbClr val="595959"/>
          </a:solidFill>
        </p:spPr>
        <p:txBody>
          <a:bodyPr wrap="square" lIns="0" tIns="0" rIns="0" bIns="0" rtlCol="0"/>
          <a:lstStyle/>
          <a:p>
            <a:endParaRPr sz="2400"/>
          </a:p>
        </p:txBody>
      </p:sp>
      <p:sp>
        <p:nvSpPr>
          <p:cNvPr id="47" name="object 47"/>
          <p:cNvSpPr/>
          <p:nvPr/>
        </p:nvSpPr>
        <p:spPr>
          <a:xfrm>
            <a:off x="7763754" y="2344881"/>
            <a:ext cx="61807" cy="40640"/>
          </a:xfrm>
          <a:custGeom>
            <a:avLst/>
            <a:gdLst/>
            <a:ahLst/>
            <a:cxnLst/>
            <a:rect l="l" t="t" r="r" b="b"/>
            <a:pathLst>
              <a:path w="46354" h="30480">
                <a:moveTo>
                  <a:pt x="0" y="29409"/>
                </a:moveTo>
                <a:lnTo>
                  <a:pt x="45994" y="30074"/>
                </a:lnTo>
                <a:lnTo>
                  <a:pt x="11188" y="0"/>
                </a:lnTo>
                <a:lnTo>
                  <a:pt x="0" y="29409"/>
                </a:lnTo>
                <a:close/>
              </a:path>
            </a:pathLst>
          </a:custGeom>
          <a:ln w="9524">
            <a:solidFill>
              <a:srgbClr val="595959"/>
            </a:solidFill>
          </a:ln>
        </p:spPr>
        <p:txBody>
          <a:bodyPr wrap="square" lIns="0" tIns="0" rIns="0" bIns="0" rtlCol="0"/>
          <a:lstStyle/>
          <a:p>
            <a:endParaRPr sz="2400"/>
          </a:p>
        </p:txBody>
      </p:sp>
      <p:sp>
        <p:nvSpPr>
          <p:cNvPr id="48" name="object 48"/>
          <p:cNvSpPr/>
          <p:nvPr/>
        </p:nvSpPr>
        <p:spPr>
          <a:xfrm>
            <a:off x="3476066" y="3853066"/>
            <a:ext cx="2591647" cy="1606973"/>
          </a:xfrm>
          <a:custGeom>
            <a:avLst/>
            <a:gdLst/>
            <a:ahLst/>
            <a:cxnLst/>
            <a:rect l="l" t="t" r="r" b="b"/>
            <a:pathLst>
              <a:path w="1943735" h="1205229">
                <a:moveTo>
                  <a:pt x="1742595" y="1204799"/>
                </a:moveTo>
                <a:lnTo>
                  <a:pt x="200804" y="1204799"/>
                </a:lnTo>
                <a:lnTo>
                  <a:pt x="154761" y="1199496"/>
                </a:lnTo>
                <a:lnTo>
                  <a:pt x="112495" y="1184390"/>
                </a:lnTo>
                <a:lnTo>
                  <a:pt x="75211" y="1160685"/>
                </a:lnTo>
                <a:lnTo>
                  <a:pt x="44114" y="1129588"/>
                </a:lnTo>
                <a:lnTo>
                  <a:pt x="20409" y="1092304"/>
                </a:lnTo>
                <a:lnTo>
                  <a:pt x="5303" y="1050038"/>
                </a:lnTo>
                <a:lnTo>
                  <a:pt x="0" y="1003995"/>
                </a:lnTo>
                <a:lnTo>
                  <a:pt x="0" y="200804"/>
                </a:lnTo>
                <a:lnTo>
                  <a:pt x="5303" y="154761"/>
                </a:lnTo>
                <a:lnTo>
                  <a:pt x="20409" y="112495"/>
                </a:lnTo>
                <a:lnTo>
                  <a:pt x="44114" y="75211"/>
                </a:lnTo>
                <a:lnTo>
                  <a:pt x="75211" y="44114"/>
                </a:lnTo>
                <a:lnTo>
                  <a:pt x="112495" y="20409"/>
                </a:lnTo>
                <a:lnTo>
                  <a:pt x="154761" y="5303"/>
                </a:lnTo>
                <a:lnTo>
                  <a:pt x="200804" y="0"/>
                </a:lnTo>
                <a:lnTo>
                  <a:pt x="1742595" y="0"/>
                </a:lnTo>
                <a:lnTo>
                  <a:pt x="1781953" y="3894"/>
                </a:lnTo>
                <a:lnTo>
                  <a:pt x="1819440" y="15285"/>
                </a:lnTo>
                <a:lnTo>
                  <a:pt x="1854002" y="33737"/>
                </a:lnTo>
                <a:lnTo>
                  <a:pt x="1884585" y="58813"/>
                </a:lnTo>
                <a:lnTo>
                  <a:pt x="1909662" y="89397"/>
                </a:lnTo>
                <a:lnTo>
                  <a:pt x="1928114" y="123959"/>
                </a:lnTo>
                <a:lnTo>
                  <a:pt x="1939505" y="161446"/>
                </a:lnTo>
                <a:lnTo>
                  <a:pt x="1943399" y="200804"/>
                </a:lnTo>
                <a:lnTo>
                  <a:pt x="1943399" y="1003995"/>
                </a:lnTo>
                <a:lnTo>
                  <a:pt x="1938096" y="1050038"/>
                </a:lnTo>
                <a:lnTo>
                  <a:pt x="1922990" y="1092304"/>
                </a:lnTo>
                <a:lnTo>
                  <a:pt x="1899285" y="1129588"/>
                </a:lnTo>
                <a:lnTo>
                  <a:pt x="1868188" y="1160685"/>
                </a:lnTo>
                <a:lnTo>
                  <a:pt x="1830904" y="1184390"/>
                </a:lnTo>
                <a:lnTo>
                  <a:pt x="1788638" y="1199496"/>
                </a:lnTo>
                <a:lnTo>
                  <a:pt x="1742595" y="1204799"/>
                </a:lnTo>
                <a:close/>
              </a:path>
            </a:pathLst>
          </a:custGeom>
          <a:solidFill>
            <a:srgbClr val="EEEEEE"/>
          </a:solidFill>
        </p:spPr>
        <p:txBody>
          <a:bodyPr wrap="square" lIns="0" tIns="0" rIns="0" bIns="0" rtlCol="0"/>
          <a:lstStyle/>
          <a:p>
            <a:endParaRPr sz="2400"/>
          </a:p>
        </p:txBody>
      </p:sp>
      <p:sp>
        <p:nvSpPr>
          <p:cNvPr id="49" name="object 49"/>
          <p:cNvSpPr/>
          <p:nvPr/>
        </p:nvSpPr>
        <p:spPr>
          <a:xfrm>
            <a:off x="3476066" y="3853066"/>
            <a:ext cx="2591647" cy="1606973"/>
          </a:xfrm>
          <a:custGeom>
            <a:avLst/>
            <a:gdLst/>
            <a:ahLst/>
            <a:cxnLst/>
            <a:rect l="l" t="t" r="r" b="b"/>
            <a:pathLst>
              <a:path w="1943735" h="1205229">
                <a:moveTo>
                  <a:pt x="0" y="200804"/>
                </a:moveTo>
                <a:lnTo>
                  <a:pt x="5303" y="154761"/>
                </a:lnTo>
                <a:lnTo>
                  <a:pt x="20409" y="112495"/>
                </a:lnTo>
                <a:lnTo>
                  <a:pt x="44114" y="75211"/>
                </a:lnTo>
                <a:lnTo>
                  <a:pt x="75211" y="44114"/>
                </a:lnTo>
                <a:lnTo>
                  <a:pt x="112495" y="20409"/>
                </a:lnTo>
                <a:lnTo>
                  <a:pt x="154761" y="5303"/>
                </a:lnTo>
                <a:lnTo>
                  <a:pt x="200804" y="0"/>
                </a:lnTo>
                <a:lnTo>
                  <a:pt x="1742595" y="0"/>
                </a:lnTo>
                <a:lnTo>
                  <a:pt x="1781953" y="3894"/>
                </a:lnTo>
                <a:lnTo>
                  <a:pt x="1819440" y="15285"/>
                </a:lnTo>
                <a:lnTo>
                  <a:pt x="1854002" y="33737"/>
                </a:lnTo>
                <a:lnTo>
                  <a:pt x="1884585" y="58813"/>
                </a:lnTo>
                <a:lnTo>
                  <a:pt x="1909662" y="89397"/>
                </a:lnTo>
                <a:lnTo>
                  <a:pt x="1928114" y="123959"/>
                </a:lnTo>
                <a:lnTo>
                  <a:pt x="1939505" y="161446"/>
                </a:lnTo>
                <a:lnTo>
                  <a:pt x="1943399" y="200804"/>
                </a:lnTo>
                <a:lnTo>
                  <a:pt x="1943399" y="1003995"/>
                </a:lnTo>
                <a:lnTo>
                  <a:pt x="1938096" y="1050038"/>
                </a:lnTo>
                <a:lnTo>
                  <a:pt x="1922990" y="1092304"/>
                </a:lnTo>
                <a:lnTo>
                  <a:pt x="1899285" y="1129588"/>
                </a:lnTo>
                <a:lnTo>
                  <a:pt x="1868188" y="1160685"/>
                </a:lnTo>
                <a:lnTo>
                  <a:pt x="1830904" y="1184390"/>
                </a:lnTo>
                <a:lnTo>
                  <a:pt x="1788638" y="1199496"/>
                </a:lnTo>
                <a:lnTo>
                  <a:pt x="1742595" y="1204799"/>
                </a:lnTo>
                <a:lnTo>
                  <a:pt x="200804" y="1204799"/>
                </a:lnTo>
                <a:lnTo>
                  <a:pt x="154761" y="1199496"/>
                </a:lnTo>
                <a:lnTo>
                  <a:pt x="112495" y="1184390"/>
                </a:lnTo>
                <a:lnTo>
                  <a:pt x="75211" y="1160685"/>
                </a:lnTo>
                <a:lnTo>
                  <a:pt x="44114" y="1129588"/>
                </a:lnTo>
                <a:lnTo>
                  <a:pt x="20409" y="1092304"/>
                </a:lnTo>
                <a:lnTo>
                  <a:pt x="5303" y="1050038"/>
                </a:lnTo>
                <a:lnTo>
                  <a:pt x="0" y="1003995"/>
                </a:lnTo>
                <a:lnTo>
                  <a:pt x="0" y="200804"/>
                </a:lnTo>
                <a:close/>
              </a:path>
            </a:pathLst>
          </a:custGeom>
          <a:ln w="9524">
            <a:solidFill>
              <a:srgbClr val="595959"/>
            </a:solidFill>
          </a:ln>
        </p:spPr>
        <p:txBody>
          <a:bodyPr wrap="square" lIns="0" tIns="0" rIns="0" bIns="0" rtlCol="0"/>
          <a:lstStyle/>
          <a:p>
            <a:endParaRPr sz="2400"/>
          </a:p>
        </p:txBody>
      </p:sp>
      <p:sp>
        <p:nvSpPr>
          <p:cNvPr id="50" name="object 50"/>
          <p:cNvSpPr txBox="1"/>
          <p:nvPr/>
        </p:nvSpPr>
        <p:spPr>
          <a:xfrm>
            <a:off x="3651852" y="4019369"/>
            <a:ext cx="2168313"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melee_shooty_guy</a:t>
            </a:r>
            <a:endParaRPr sz="1867">
              <a:latin typeface="Arial"/>
              <a:cs typeface="Arial"/>
            </a:endParaRPr>
          </a:p>
        </p:txBody>
      </p:sp>
      <p:sp>
        <p:nvSpPr>
          <p:cNvPr id="51" name="object 51"/>
          <p:cNvSpPr txBox="1"/>
          <p:nvPr/>
        </p:nvSpPr>
        <p:spPr>
          <a:xfrm>
            <a:off x="3651851" y="4578168"/>
            <a:ext cx="1681480" cy="877163"/>
          </a:xfrm>
          <a:prstGeom prst="rect">
            <a:avLst/>
          </a:prstGeom>
        </p:spPr>
        <p:txBody>
          <a:bodyPr vert="horz" wrap="square" lIns="0" tIns="30480" rIns="0" bIns="0" rtlCol="0">
            <a:spAutoFit/>
          </a:bodyPr>
          <a:lstStyle/>
          <a:p>
            <a:pPr marL="16933" marR="6773">
              <a:lnSpc>
                <a:spcPts val="2200"/>
              </a:lnSpc>
              <a:spcBef>
                <a:spcPts val="240"/>
              </a:spcBef>
            </a:pPr>
            <a:r>
              <a:rPr sz="1867" dirty="0">
                <a:latin typeface="Arial"/>
                <a:cs typeface="Arial"/>
              </a:rPr>
              <a:t>chase_ai  </a:t>
            </a:r>
            <a:r>
              <a:rPr sz="1867" spc="-7" dirty="0">
                <a:latin typeface="Arial"/>
                <a:cs typeface="Arial"/>
              </a:rPr>
              <a:t>damage_ahead  </a:t>
            </a:r>
            <a:r>
              <a:rPr sz="1867" dirty="0">
                <a:latin typeface="Arial"/>
                <a:cs typeface="Arial"/>
              </a:rPr>
              <a:t>shoot_bullet</a:t>
            </a:r>
            <a:endParaRPr sz="1867">
              <a:latin typeface="Arial"/>
              <a:cs typeface="Arial"/>
            </a:endParaRPr>
          </a:p>
        </p:txBody>
      </p:sp>
      <p:sp>
        <p:nvSpPr>
          <p:cNvPr id="52" name="object 52"/>
          <p:cNvSpPr/>
          <p:nvPr/>
        </p:nvSpPr>
        <p:spPr>
          <a:xfrm>
            <a:off x="4840607" y="2391700"/>
            <a:ext cx="3002280" cy="1429173"/>
          </a:xfrm>
          <a:custGeom>
            <a:avLst/>
            <a:gdLst/>
            <a:ahLst/>
            <a:cxnLst/>
            <a:rect l="l" t="t" r="r" b="b"/>
            <a:pathLst>
              <a:path w="2251710" h="1071880">
                <a:moveTo>
                  <a:pt x="2251494" y="0"/>
                </a:moveTo>
                <a:lnTo>
                  <a:pt x="0" y="1071344"/>
                </a:lnTo>
              </a:path>
            </a:pathLst>
          </a:custGeom>
          <a:ln w="9524">
            <a:solidFill>
              <a:srgbClr val="595959"/>
            </a:solidFill>
          </a:ln>
        </p:spPr>
        <p:txBody>
          <a:bodyPr wrap="square" lIns="0" tIns="0" rIns="0" bIns="0" rtlCol="0"/>
          <a:lstStyle/>
          <a:p>
            <a:endParaRPr sz="2400"/>
          </a:p>
        </p:txBody>
      </p:sp>
      <p:sp>
        <p:nvSpPr>
          <p:cNvPr id="53" name="object 53"/>
          <p:cNvSpPr/>
          <p:nvPr/>
        </p:nvSpPr>
        <p:spPr>
          <a:xfrm>
            <a:off x="4788565" y="3801216"/>
            <a:ext cx="61807" cy="44027"/>
          </a:xfrm>
          <a:custGeom>
            <a:avLst/>
            <a:gdLst/>
            <a:ahLst/>
            <a:cxnLst/>
            <a:rect l="l" t="t" r="r" b="b"/>
            <a:pathLst>
              <a:path w="46354" h="33019">
                <a:moveTo>
                  <a:pt x="0" y="32779"/>
                </a:moveTo>
                <a:lnTo>
                  <a:pt x="32271" y="0"/>
                </a:lnTo>
                <a:lnTo>
                  <a:pt x="45791" y="28412"/>
                </a:lnTo>
                <a:lnTo>
                  <a:pt x="0" y="32779"/>
                </a:lnTo>
                <a:close/>
              </a:path>
            </a:pathLst>
          </a:custGeom>
          <a:solidFill>
            <a:srgbClr val="595959"/>
          </a:solidFill>
        </p:spPr>
        <p:txBody>
          <a:bodyPr wrap="square" lIns="0" tIns="0" rIns="0" bIns="0" rtlCol="0"/>
          <a:lstStyle/>
          <a:p>
            <a:endParaRPr sz="2400"/>
          </a:p>
        </p:txBody>
      </p:sp>
      <p:sp>
        <p:nvSpPr>
          <p:cNvPr id="54" name="object 54"/>
          <p:cNvSpPr/>
          <p:nvPr/>
        </p:nvSpPr>
        <p:spPr>
          <a:xfrm>
            <a:off x="4788565" y="3801216"/>
            <a:ext cx="61807" cy="44027"/>
          </a:xfrm>
          <a:custGeom>
            <a:avLst/>
            <a:gdLst/>
            <a:ahLst/>
            <a:cxnLst/>
            <a:rect l="l" t="t" r="r" b="b"/>
            <a:pathLst>
              <a:path w="46354" h="33019">
                <a:moveTo>
                  <a:pt x="32271" y="0"/>
                </a:moveTo>
                <a:lnTo>
                  <a:pt x="0" y="32779"/>
                </a:lnTo>
                <a:lnTo>
                  <a:pt x="45791" y="28412"/>
                </a:lnTo>
                <a:lnTo>
                  <a:pt x="32271" y="0"/>
                </a:lnTo>
                <a:close/>
              </a:path>
            </a:pathLst>
          </a:custGeom>
          <a:ln w="9524">
            <a:solidFill>
              <a:srgbClr val="595959"/>
            </a:solidFill>
          </a:ln>
        </p:spPr>
        <p:txBody>
          <a:bodyPr wrap="square" lIns="0" tIns="0" rIns="0" bIns="0" rtlCol="0"/>
          <a:lstStyle/>
          <a:p>
            <a:endParaRPr sz="2400"/>
          </a:p>
        </p:txBody>
      </p:sp>
      <p:sp>
        <p:nvSpPr>
          <p:cNvPr id="55" name="object 55"/>
          <p:cNvSpPr/>
          <p:nvPr/>
        </p:nvSpPr>
        <p:spPr>
          <a:xfrm>
            <a:off x="3828699" y="2352534"/>
            <a:ext cx="2591647" cy="1176020"/>
          </a:xfrm>
          <a:custGeom>
            <a:avLst/>
            <a:gdLst/>
            <a:ahLst/>
            <a:cxnLst/>
            <a:rect l="l" t="t" r="r" b="b"/>
            <a:pathLst>
              <a:path w="1943735" h="882014">
                <a:moveTo>
                  <a:pt x="1796446" y="881699"/>
                </a:moveTo>
                <a:lnTo>
                  <a:pt x="146952" y="881699"/>
                </a:lnTo>
                <a:lnTo>
                  <a:pt x="100504" y="874208"/>
                </a:lnTo>
                <a:lnTo>
                  <a:pt x="60164" y="853346"/>
                </a:lnTo>
                <a:lnTo>
                  <a:pt x="28353" y="821535"/>
                </a:lnTo>
                <a:lnTo>
                  <a:pt x="7491" y="781195"/>
                </a:lnTo>
                <a:lnTo>
                  <a:pt x="0" y="734746"/>
                </a:lnTo>
                <a:lnTo>
                  <a:pt x="0" y="146952"/>
                </a:ln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close/>
              </a:path>
            </a:pathLst>
          </a:custGeom>
          <a:solidFill>
            <a:srgbClr val="EEEEEE"/>
          </a:solidFill>
        </p:spPr>
        <p:txBody>
          <a:bodyPr wrap="square" lIns="0" tIns="0" rIns="0" bIns="0" rtlCol="0"/>
          <a:lstStyle/>
          <a:p>
            <a:endParaRPr sz="2400"/>
          </a:p>
        </p:txBody>
      </p:sp>
      <p:sp>
        <p:nvSpPr>
          <p:cNvPr id="56" name="object 56"/>
          <p:cNvSpPr/>
          <p:nvPr/>
        </p:nvSpPr>
        <p:spPr>
          <a:xfrm>
            <a:off x="3828699" y="2352534"/>
            <a:ext cx="2591647" cy="1176020"/>
          </a:xfrm>
          <a:custGeom>
            <a:avLst/>
            <a:gdLst/>
            <a:ahLst/>
            <a:cxnLst/>
            <a:rect l="l" t="t" r="r" b="b"/>
            <a:pathLst>
              <a:path w="1943735" h="882014">
                <a:moveTo>
                  <a:pt x="0" y="146952"/>
                </a:move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lnTo>
                  <a:pt x="146952" y="881699"/>
                </a:lnTo>
                <a:lnTo>
                  <a:pt x="100504" y="874208"/>
                </a:lnTo>
                <a:lnTo>
                  <a:pt x="60164" y="853346"/>
                </a:lnTo>
                <a:lnTo>
                  <a:pt x="28353" y="821535"/>
                </a:lnTo>
                <a:lnTo>
                  <a:pt x="7491" y="781195"/>
                </a:lnTo>
                <a:lnTo>
                  <a:pt x="0" y="734746"/>
                </a:lnTo>
                <a:lnTo>
                  <a:pt x="0" y="146952"/>
                </a:lnTo>
                <a:close/>
              </a:path>
            </a:pathLst>
          </a:custGeom>
          <a:ln w="9524">
            <a:solidFill>
              <a:srgbClr val="FF0000"/>
            </a:solidFill>
          </a:ln>
        </p:spPr>
        <p:txBody>
          <a:bodyPr wrap="square" lIns="0" tIns="0" rIns="0" bIns="0" rtlCol="0"/>
          <a:lstStyle/>
          <a:p>
            <a:endParaRPr sz="2400"/>
          </a:p>
        </p:txBody>
      </p:sp>
      <p:sp>
        <p:nvSpPr>
          <p:cNvPr id="57" name="object 57"/>
          <p:cNvSpPr txBox="1"/>
          <p:nvPr/>
        </p:nvSpPr>
        <p:spPr>
          <a:xfrm>
            <a:off x="3983455" y="2507972"/>
            <a:ext cx="4627880" cy="868742"/>
          </a:xfrm>
          <a:prstGeom prst="rect">
            <a:avLst/>
          </a:prstGeom>
        </p:spPr>
        <p:txBody>
          <a:bodyPr vert="horz" wrap="square" lIns="0" tIns="16933" rIns="0" bIns="0" rtlCol="0">
            <a:spAutoFit/>
          </a:bodyPr>
          <a:lstStyle/>
          <a:p>
            <a:pPr marL="16933">
              <a:spcBef>
                <a:spcPts val="133"/>
              </a:spcBef>
              <a:tabLst>
                <a:tab pos="4030033" algn="l"/>
              </a:tabLst>
            </a:pPr>
            <a:r>
              <a:rPr sz="2800" b="1" baseline="1984" dirty="0">
                <a:latin typeface="Arial"/>
                <a:cs typeface="Arial"/>
              </a:rPr>
              <a:t>throwing_entity	</a:t>
            </a:r>
            <a:r>
              <a:rPr sz="1867" dirty="0">
                <a:latin typeface="Arial"/>
                <a:cs typeface="Arial"/>
              </a:rPr>
              <a:t>move</a:t>
            </a:r>
            <a:endParaRPr sz="1867">
              <a:latin typeface="Arial"/>
              <a:cs typeface="Arial"/>
            </a:endParaRPr>
          </a:p>
          <a:p>
            <a:pPr>
              <a:spcBef>
                <a:spcPts val="7"/>
              </a:spcBef>
            </a:pPr>
            <a:endParaRPr>
              <a:latin typeface="Times New Roman"/>
              <a:cs typeface="Times New Roman"/>
            </a:endParaRPr>
          </a:p>
          <a:p>
            <a:pPr marL="16933"/>
            <a:r>
              <a:rPr sz="1867" spc="-7" dirty="0">
                <a:latin typeface="Arial"/>
                <a:cs typeface="Arial"/>
              </a:rPr>
              <a:t>throw</a:t>
            </a:r>
            <a:endParaRPr sz="1867">
              <a:latin typeface="Arial"/>
              <a:cs typeface="Arial"/>
            </a:endParaRPr>
          </a:p>
        </p:txBody>
      </p:sp>
      <p:sp>
        <p:nvSpPr>
          <p:cNvPr id="58" name="object 58"/>
          <p:cNvSpPr/>
          <p:nvPr/>
        </p:nvSpPr>
        <p:spPr>
          <a:xfrm>
            <a:off x="5128296" y="2021383"/>
            <a:ext cx="220352" cy="322083"/>
          </a:xfrm>
          <a:prstGeom prst="rect">
            <a:avLst/>
          </a:prstGeom>
          <a:blipFill>
            <a:blip r:embed="rId2" cstate="print"/>
            <a:stretch>
              <a:fillRect/>
            </a:stretch>
          </a:blipFill>
        </p:spPr>
        <p:txBody>
          <a:bodyPr wrap="square" lIns="0" tIns="0" rIns="0" bIns="0" rtlCol="0"/>
          <a:lstStyle/>
          <a:p>
            <a:endParaRPr sz="2400"/>
          </a:p>
        </p:txBody>
      </p:sp>
      <p:sp>
        <p:nvSpPr>
          <p:cNvPr id="59" name="object 59"/>
          <p:cNvSpPr/>
          <p:nvPr/>
        </p:nvSpPr>
        <p:spPr>
          <a:xfrm>
            <a:off x="3502488" y="2940333"/>
            <a:ext cx="326813" cy="254000"/>
          </a:xfrm>
          <a:custGeom>
            <a:avLst/>
            <a:gdLst/>
            <a:ahLst/>
            <a:cxnLst/>
            <a:rect l="l" t="t" r="r" b="b"/>
            <a:pathLst>
              <a:path w="245110" h="190500">
                <a:moveTo>
                  <a:pt x="244658" y="0"/>
                </a:moveTo>
                <a:lnTo>
                  <a:pt x="0" y="189952"/>
                </a:lnTo>
              </a:path>
            </a:pathLst>
          </a:custGeom>
          <a:ln w="9524">
            <a:solidFill>
              <a:srgbClr val="FF0000"/>
            </a:solidFill>
          </a:ln>
        </p:spPr>
        <p:txBody>
          <a:bodyPr wrap="square" lIns="0" tIns="0" rIns="0" bIns="0" rtlCol="0"/>
          <a:lstStyle/>
          <a:p>
            <a:endParaRPr sz="2400"/>
          </a:p>
        </p:txBody>
      </p:sp>
      <p:sp>
        <p:nvSpPr>
          <p:cNvPr id="60" name="object 60"/>
          <p:cNvSpPr/>
          <p:nvPr/>
        </p:nvSpPr>
        <p:spPr>
          <a:xfrm>
            <a:off x="3456965" y="3177034"/>
            <a:ext cx="58420" cy="52493"/>
          </a:xfrm>
          <a:custGeom>
            <a:avLst/>
            <a:gdLst/>
            <a:ahLst/>
            <a:cxnLst/>
            <a:rect l="l" t="t" r="r" b="b"/>
            <a:pathLst>
              <a:path w="43814" h="39369">
                <a:moveTo>
                  <a:pt x="0" y="38935"/>
                </a:moveTo>
                <a:lnTo>
                  <a:pt x="24494" y="0"/>
                </a:lnTo>
                <a:lnTo>
                  <a:pt x="43790" y="24853"/>
                </a:lnTo>
                <a:lnTo>
                  <a:pt x="0" y="38935"/>
                </a:lnTo>
                <a:close/>
              </a:path>
            </a:pathLst>
          </a:custGeom>
          <a:solidFill>
            <a:srgbClr val="FF0000"/>
          </a:solidFill>
        </p:spPr>
        <p:txBody>
          <a:bodyPr wrap="square" lIns="0" tIns="0" rIns="0" bIns="0" rtlCol="0"/>
          <a:lstStyle/>
          <a:p>
            <a:endParaRPr sz="2400"/>
          </a:p>
        </p:txBody>
      </p:sp>
      <p:sp>
        <p:nvSpPr>
          <p:cNvPr id="61" name="object 61"/>
          <p:cNvSpPr/>
          <p:nvPr/>
        </p:nvSpPr>
        <p:spPr>
          <a:xfrm>
            <a:off x="3456965" y="3177034"/>
            <a:ext cx="58420" cy="52493"/>
          </a:xfrm>
          <a:custGeom>
            <a:avLst/>
            <a:gdLst/>
            <a:ahLst/>
            <a:cxnLst/>
            <a:rect l="l" t="t" r="r" b="b"/>
            <a:pathLst>
              <a:path w="43814" h="39369">
                <a:moveTo>
                  <a:pt x="24494" y="0"/>
                </a:moveTo>
                <a:lnTo>
                  <a:pt x="0" y="38935"/>
                </a:lnTo>
                <a:lnTo>
                  <a:pt x="43790" y="24853"/>
                </a:lnTo>
                <a:lnTo>
                  <a:pt x="24494" y="0"/>
                </a:lnTo>
                <a:close/>
              </a:path>
            </a:pathLst>
          </a:custGeom>
          <a:ln w="9524">
            <a:solidFill>
              <a:srgbClr val="FF0000"/>
            </a:solidFill>
          </a:ln>
        </p:spPr>
        <p:txBody>
          <a:bodyPr wrap="square" lIns="0" tIns="0" rIns="0" bIns="0" rtlCol="0"/>
          <a:lstStyle/>
          <a:p>
            <a:endParaRPr sz="2400"/>
          </a:p>
        </p:txBody>
      </p:sp>
      <p:sp>
        <p:nvSpPr>
          <p:cNvPr id="62" name="object 62"/>
          <p:cNvSpPr/>
          <p:nvPr/>
        </p:nvSpPr>
        <p:spPr>
          <a:xfrm>
            <a:off x="4778808" y="3521783"/>
            <a:ext cx="351840" cy="324924"/>
          </a:xfrm>
          <a:prstGeom prst="rect">
            <a:avLst/>
          </a:prstGeom>
          <a:blipFill>
            <a:blip r:embed="rId3" cstate="print"/>
            <a:stretch>
              <a:fillRect/>
            </a:stretch>
          </a:blipFill>
        </p:spPr>
        <p:txBody>
          <a:bodyPr wrap="square" lIns="0" tIns="0" rIns="0" bIns="0" rtlCol="0"/>
          <a:lstStyle/>
          <a:p>
            <a:endParaRPr sz="2400"/>
          </a:p>
        </p:txBody>
      </p:sp>
      <p:sp>
        <p:nvSpPr>
          <p:cNvPr id="63" name="object 63"/>
          <p:cNvSpPr/>
          <p:nvPr/>
        </p:nvSpPr>
        <p:spPr>
          <a:xfrm>
            <a:off x="6419900" y="2940333"/>
            <a:ext cx="1024467" cy="526627"/>
          </a:xfrm>
          <a:custGeom>
            <a:avLst/>
            <a:gdLst/>
            <a:ahLst/>
            <a:cxnLst/>
            <a:rect l="l" t="t" r="r" b="b"/>
            <a:pathLst>
              <a:path w="768350" h="394969">
                <a:moveTo>
                  <a:pt x="0" y="0"/>
                </a:moveTo>
                <a:lnTo>
                  <a:pt x="767865" y="394484"/>
                </a:lnTo>
              </a:path>
            </a:pathLst>
          </a:custGeom>
          <a:ln w="9524">
            <a:solidFill>
              <a:srgbClr val="FF0000"/>
            </a:solidFill>
          </a:ln>
        </p:spPr>
        <p:txBody>
          <a:bodyPr wrap="square" lIns="0" tIns="0" rIns="0" bIns="0" rtlCol="0"/>
          <a:lstStyle/>
          <a:p>
            <a:endParaRPr sz="2400"/>
          </a:p>
        </p:txBody>
      </p:sp>
      <p:sp>
        <p:nvSpPr>
          <p:cNvPr id="64" name="object 64"/>
          <p:cNvSpPr/>
          <p:nvPr/>
        </p:nvSpPr>
        <p:spPr>
          <a:xfrm>
            <a:off x="7434135" y="3447653"/>
            <a:ext cx="60960" cy="45720"/>
          </a:xfrm>
          <a:custGeom>
            <a:avLst/>
            <a:gdLst/>
            <a:ahLst/>
            <a:cxnLst/>
            <a:rect l="l" t="t" r="r" b="b"/>
            <a:pathLst>
              <a:path w="45720" h="34289">
                <a:moveTo>
                  <a:pt x="45637" y="33746"/>
                </a:moveTo>
                <a:lnTo>
                  <a:pt x="0" y="27987"/>
                </a:lnTo>
                <a:lnTo>
                  <a:pt x="14378" y="0"/>
                </a:lnTo>
                <a:lnTo>
                  <a:pt x="45637" y="33746"/>
                </a:lnTo>
                <a:close/>
              </a:path>
            </a:pathLst>
          </a:custGeom>
          <a:solidFill>
            <a:srgbClr val="FF0000"/>
          </a:solidFill>
        </p:spPr>
        <p:txBody>
          <a:bodyPr wrap="square" lIns="0" tIns="0" rIns="0" bIns="0" rtlCol="0"/>
          <a:lstStyle/>
          <a:p>
            <a:endParaRPr sz="2400"/>
          </a:p>
        </p:txBody>
      </p:sp>
      <p:sp>
        <p:nvSpPr>
          <p:cNvPr id="65" name="object 65"/>
          <p:cNvSpPr/>
          <p:nvPr/>
        </p:nvSpPr>
        <p:spPr>
          <a:xfrm>
            <a:off x="7434135" y="3447653"/>
            <a:ext cx="60960" cy="45720"/>
          </a:xfrm>
          <a:custGeom>
            <a:avLst/>
            <a:gdLst/>
            <a:ahLst/>
            <a:cxnLst/>
            <a:rect l="l" t="t" r="r" b="b"/>
            <a:pathLst>
              <a:path w="45720" h="34289">
                <a:moveTo>
                  <a:pt x="0" y="27987"/>
                </a:moveTo>
                <a:lnTo>
                  <a:pt x="45637" y="33746"/>
                </a:lnTo>
                <a:lnTo>
                  <a:pt x="14378" y="0"/>
                </a:lnTo>
                <a:lnTo>
                  <a:pt x="0" y="27987"/>
                </a:lnTo>
                <a:close/>
              </a:path>
            </a:pathLst>
          </a:custGeom>
          <a:ln w="9524">
            <a:solidFill>
              <a:srgbClr val="FF0000"/>
            </a:solidFill>
          </a:ln>
        </p:spPr>
        <p:txBody>
          <a:bodyPr wrap="square" lIns="0" tIns="0" rIns="0" bIns="0" rtlCol="0"/>
          <a:lstStyle/>
          <a:p>
            <a:endParaRPr sz="2400"/>
          </a:p>
        </p:txBody>
      </p:sp>
      <p:sp>
        <p:nvSpPr>
          <p:cNvPr id="66" name="object 66"/>
          <p:cNvSpPr/>
          <p:nvPr/>
        </p:nvSpPr>
        <p:spPr>
          <a:xfrm>
            <a:off x="6419901" y="2940334"/>
            <a:ext cx="4086860" cy="419100"/>
          </a:xfrm>
          <a:custGeom>
            <a:avLst/>
            <a:gdLst/>
            <a:ahLst/>
            <a:cxnLst/>
            <a:rect l="l" t="t" r="r" b="b"/>
            <a:pathLst>
              <a:path w="3065145" h="314325">
                <a:moveTo>
                  <a:pt x="0" y="0"/>
                </a:moveTo>
                <a:lnTo>
                  <a:pt x="3064948" y="314270"/>
                </a:lnTo>
              </a:path>
            </a:pathLst>
          </a:custGeom>
          <a:ln w="9524">
            <a:solidFill>
              <a:srgbClr val="FF0000"/>
            </a:solidFill>
          </a:ln>
        </p:spPr>
        <p:txBody>
          <a:bodyPr wrap="square" lIns="0" tIns="0" rIns="0" bIns="0" rtlCol="0"/>
          <a:lstStyle/>
          <a:p>
            <a:endParaRPr sz="2400"/>
          </a:p>
        </p:txBody>
      </p:sp>
      <p:sp>
        <p:nvSpPr>
          <p:cNvPr id="67" name="object 67"/>
          <p:cNvSpPr/>
          <p:nvPr/>
        </p:nvSpPr>
        <p:spPr>
          <a:xfrm>
            <a:off x="10504357" y="3338494"/>
            <a:ext cx="60113" cy="42333"/>
          </a:xfrm>
          <a:custGeom>
            <a:avLst/>
            <a:gdLst/>
            <a:ahLst/>
            <a:cxnLst/>
            <a:rect l="l" t="t" r="r" b="b"/>
            <a:pathLst>
              <a:path w="45084" h="31750">
                <a:moveTo>
                  <a:pt x="0" y="31301"/>
                </a:moveTo>
                <a:lnTo>
                  <a:pt x="3209" y="0"/>
                </a:lnTo>
                <a:lnTo>
                  <a:pt x="44604" y="20059"/>
                </a:lnTo>
                <a:lnTo>
                  <a:pt x="0" y="31301"/>
                </a:lnTo>
                <a:close/>
              </a:path>
            </a:pathLst>
          </a:custGeom>
          <a:solidFill>
            <a:srgbClr val="FF0000"/>
          </a:solidFill>
        </p:spPr>
        <p:txBody>
          <a:bodyPr wrap="square" lIns="0" tIns="0" rIns="0" bIns="0" rtlCol="0"/>
          <a:lstStyle/>
          <a:p>
            <a:endParaRPr sz="2400"/>
          </a:p>
        </p:txBody>
      </p:sp>
      <p:sp>
        <p:nvSpPr>
          <p:cNvPr id="68" name="object 68"/>
          <p:cNvSpPr/>
          <p:nvPr/>
        </p:nvSpPr>
        <p:spPr>
          <a:xfrm>
            <a:off x="10504357" y="3338494"/>
            <a:ext cx="60113" cy="42333"/>
          </a:xfrm>
          <a:custGeom>
            <a:avLst/>
            <a:gdLst/>
            <a:ahLst/>
            <a:cxnLst/>
            <a:rect l="l" t="t" r="r" b="b"/>
            <a:pathLst>
              <a:path w="45084" h="31750">
                <a:moveTo>
                  <a:pt x="0" y="31301"/>
                </a:moveTo>
                <a:lnTo>
                  <a:pt x="44604" y="20059"/>
                </a:lnTo>
                <a:lnTo>
                  <a:pt x="3209" y="0"/>
                </a:lnTo>
                <a:lnTo>
                  <a:pt x="0" y="31301"/>
                </a:lnTo>
                <a:close/>
              </a:path>
            </a:pathLst>
          </a:custGeom>
          <a:ln w="9524">
            <a:solidFill>
              <a:srgbClr val="FF0000"/>
            </a:solidFill>
          </a:ln>
        </p:spPr>
        <p:txBody>
          <a:bodyPr wrap="square" lIns="0" tIns="0" rIns="0" bIns="0" rtlCol="0"/>
          <a:lstStyle/>
          <a:p>
            <a:endParaRPr sz="2400"/>
          </a:p>
        </p:txBody>
      </p:sp>
    </p:spTree>
    <p:extLst>
      <p:ext uri="{BB962C8B-B14F-4D97-AF65-F5344CB8AC3E}">
        <p14:creationId xmlns:p14="http://schemas.microsoft.com/office/powerpoint/2010/main" val="1814469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879686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The </a:t>
            </a:r>
            <a:r>
              <a:rPr sz="3733" spc="-13" dirty="0"/>
              <a:t>ShootyGuy </a:t>
            </a:r>
            <a:r>
              <a:rPr sz="3733" spc="-7" dirty="0"/>
              <a:t>entity </a:t>
            </a:r>
            <a:r>
              <a:rPr sz="3733" dirty="0"/>
              <a:t>model</a:t>
            </a:r>
            <a:r>
              <a:rPr sz="3733" spc="-120" dirty="0"/>
              <a:t> </a:t>
            </a:r>
            <a:r>
              <a:rPr sz="3733" dirty="0"/>
              <a:t>(Inheritance)</a:t>
            </a:r>
            <a:endParaRPr sz="3733"/>
          </a:p>
        </p:txBody>
      </p:sp>
      <p:sp>
        <p:nvSpPr>
          <p:cNvPr id="3" name="object 3"/>
          <p:cNvSpPr/>
          <p:nvPr/>
        </p:nvSpPr>
        <p:spPr>
          <a:xfrm>
            <a:off x="641599" y="2503299"/>
            <a:ext cx="2801620" cy="1474047"/>
          </a:xfrm>
          <a:custGeom>
            <a:avLst/>
            <a:gdLst/>
            <a:ahLst/>
            <a:cxnLst/>
            <a:rect l="l" t="t" r="r" b="b"/>
            <a:pathLst>
              <a:path w="2101215" h="1105535">
                <a:moveTo>
                  <a:pt x="1916346" y="1105499"/>
                </a:moveTo>
                <a:lnTo>
                  <a:pt x="184253" y="1105499"/>
                </a:lnTo>
                <a:lnTo>
                  <a:pt x="135271" y="1098918"/>
                </a:lnTo>
                <a:lnTo>
                  <a:pt x="91257" y="1080343"/>
                </a:lnTo>
                <a:lnTo>
                  <a:pt x="53966" y="1051533"/>
                </a:lnTo>
                <a:lnTo>
                  <a:pt x="25156" y="1014242"/>
                </a:lnTo>
                <a:lnTo>
                  <a:pt x="6581" y="970228"/>
                </a:lnTo>
                <a:lnTo>
                  <a:pt x="0" y="921246"/>
                </a:lnTo>
                <a:lnTo>
                  <a:pt x="0" y="184253"/>
                </a:lnTo>
                <a:lnTo>
                  <a:pt x="6581" y="135271"/>
                </a:lnTo>
                <a:lnTo>
                  <a:pt x="25156" y="91257"/>
                </a:lnTo>
                <a:lnTo>
                  <a:pt x="53966" y="53966"/>
                </a:lnTo>
                <a:lnTo>
                  <a:pt x="91257" y="25156"/>
                </a:lnTo>
                <a:lnTo>
                  <a:pt x="135271" y="6581"/>
                </a:lnTo>
                <a:lnTo>
                  <a:pt x="184253" y="0"/>
                </a:lnTo>
                <a:lnTo>
                  <a:pt x="1916346" y="0"/>
                </a:lnTo>
                <a:lnTo>
                  <a:pt x="1986857" y="14025"/>
                </a:lnTo>
                <a:lnTo>
                  <a:pt x="2046633" y="53966"/>
                </a:lnTo>
                <a:lnTo>
                  <a:pt x="2086574" y="113742"/>
                </a:lnTo>
                <a:lnTo>
                  <a:pt x="2100599" y="184253"/>
                </a:lnTo>
                <a:lnTo>
                  <a:pt x="2100599" y="921246"/>
                </a:lnTo>
                <a:lnTo>
                  <a:pt x="2094018" y="970228"/>
                </a:lnTo>
                <a:lnTo>
                  <a:pt x="2075443" y="1014242"/>
                </a:lnTo>
                <a:lnTo>
                  <a:pt x="2046633" y="1051533"/>
                </a:lnTo>
                <a:lnTo>
                  <a:pt x="2009342" y="1080343"/>
                </a:lnTo>
                <a:lnTo>
                  <a:pt x="1965328" y="1098918"/>
                </a:lnTo>
                <a:lnTo>
                  <a:pt x="1916346" y="1105499"/>
                </a:lnTo>
                <a:close/>
              </a:path>
            </a:pathLst>
          </a:custGeom>
          <a:solidFill>
            <a:srgbClr val="EEEEEE"/>
          </a:solidFill>
        </p:spPr>
        <p:txBody>
          <a:bodyPr wrap="square" lIns="0" tIns="0" rIns="0" bIns="0" rtlCol="0"/>
          <a:lstStyle/>
          <a:p>
            <a:endParaRPr sz="2400"/>
          </a:p>
        </p:txBody>
      </p:sp>
      <p:sp>
        <p:nvSpPr>
          <p:cNvPr id="4" name="object 4"/>
          <p:cNvSpPr/>
          <p:nvPr/>
        </p:nvSpPr>
        <p:spPr>
          <a:xfrm>
            <a:off x="641599" y="2503299"/>
            <a:ext cx="2801620" cy="1474047"/>
          </a:xfrm>
          <a:custGeom>
            <a:avLst/>
            <a:gdLst/>
            <a:ahLst/>
            <a:cxnLst/>
            <a:rect l="l" t="t" r="r" b="b"/>
            <a:pathLst>
              <a:path w="2101215" h="1105535">
                <a:moveTo>
                  <a:pt x="0" y="184253"/>
                </a:moveTo>
                <a:lnTo>
                  <a:pt x="6581" y="135271"/>
                </a:lnTo>
                <a:lnTo>
                  <a:pt x="25156" y="91257"/>
                </a:lnTo>
                <a:lnTo>
                  <a:pt x="53966" y="53966"/>
                </a:lnTo>
                <a:lnTo>
                  <a:pt x="91257" y="25156"/>
                </a:lnTo>
                <a:lnTo>
                  <a:pt x="135271" y="6581"/>
                </a:lnTo>
                <a:lnTo>
                  <a:pt x="184253" y="0"/>
                </a:lnTo>
                <a:lnTo>
                  <a:pt x="1916346" y="0"/>
                </a:lnTo>
                <a:lnTo>
                  <a:pt x="1986857" y="14025"/>
                </a:lnTo>
                <a:lnTo>
                  <a:pt x="2046633" y="53966"/>
                </a:lnTo>
                <a:lnTo>
                  <a:pt x="2086574" y="113742"/>
                </a:lnTo>
                <a:lnTo>
                  <a:pt x="2100599" y="184253"/>
                </a:lnTo>
                <a:lnTo>
                  <a:pt x="2100599" y="921246"/>
                </a:lnTo>
                <a:lnTo>
                  <a:pt x="2094018" y="970228"/>
                </a:lnTo>
                <a:lnTo>
                  <a:pt x="2075443" y="1014242"/>
                </a:lnTo>
                <a:lnTo>
                  <a:pt x="2046633" y="1051533"/>
                </a:lnTo>
                <a:lnTo>
                  <a:pt x="2009342" y="1080343"/>
                </a:lnTo>
                <a:lnTo>
                  <a:pt x="1965328" y="1098918"/>
                </a:lnTo>
                <a:lnTo>
                  <a:pt x="1916346" y="1105499"/>
                </a:lnTo>
                <a:lnTo>
                  <a:pt x="184253" y="1105499"/>
                </a:lnTo>
                <a:lnTo>
                  <a:pt x="135271" y="1098918"/>
                </a:lnTo>
                <a:lnTo>
                  <a:pt x="91257" y="1080343"/>
                </a:lnTo>
                <a:lnTo>
                  <a:pt x="53966" y="1051533"/>
                </a:lnTo>
                <a:lnTo>
                  <a:pt x="25156"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5" name="object 5"/>
          <p:cNvSpPr txBox="1"/>
          <p:nvPr/>
        </p:nvSpPr>
        <p:spPr>
          <a:xfrm>
            <a:off x="810922" y="2663139"/>
            <a:ext cx="1231053"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bomb_guy</a:t>
            </a:r>
            <a:endParaRPr sz="1867">
              <a:latin typeface="Arial"/>
              <a:cs typeface="Arial"/>
            </a:endParaRPr>
          </a:p>
        </p:txBody>
      </p:sp>
      <p:sp>
        <p:nvSpPr>
          <p:cNvPr id="6" name="object 6"/>
          <p:cNvSpPr txBox="1"/>
          <p:nvPr/>
        </p:nvSpPr>
        <p:spPr>
          <a:xfrm>
            <a:off x="810922" y="3221939"/>
            <a:ext cx="2129367" cy="595035"/>
          </a:xfrm>
          <a:prstGeom prst="rect">
            <a:avLst/>
          </a:prstGeom>
        </p:spPr>
        <p:txBody>
          <a:bodyPr vert="horz" wrap="square" lIns="0" tIns="30480" rIns="0" bIns="0" rtlCol="0">
            <a:spAutoFit/>
          </a:bodyPr>
          <a:lstStyle/>
          <a:p>
            <a:pPr marL="16933" marR="6773">
              <a:lnSpc>
                <a:spcPts val="2200"/>
              </a:lnSpc>
              <a:spcBef>
                <a:spcPts val="240"/>
              </a:spcBef>
            </a:pPr>
            <a:r>
              <a:rPr sz="1867" spc="-7" dirty="0">
                <a:latin typeface="Arial"/>
                <a:cs typeface="Arial"/>
              </a:rPr>
              <a:t>hide_or_show  damage_all_around</a:t>
            </a:r>
            <a:endParaRPr sz="1867">
              <a:latin typeface="Arial"/>
              <a:cs typeface="Arial"/>
            </a:endParaRPr>
          </a:p>
        </p:txBody>
      </p:sp>
      <p:sp>
        <p:nvSpPr>
          <p:cNvPr id="7" name="object 7"/>
          <p:cNvSpPr/>
          <p:nvPr/>
        </p:nvSpPr>
        <p:spPr>
          <a:xfrm>
            <a:off x="9286666" y="3367083"/>
            <a:ext cx="2591647" cy="1474047"/>
          </a:xfrm>
          <a:custGeom>
            <a:avLst/>
            <a:gdLst/>
            <a:ahLst/>
            <a:cxnLst/>
            <a:rect l="l" t="t" r="r" b="b"/>
            <a:pathLst>
              <a:path w="1943734" h="1105535">
                <a:moveTo>
                  <a:pt x="1759145" y="1105499"/>
                </a:moveTo>
                <a:lnTo>
                  <a:pt x="184253" y="1105499"/>
                </a:lnTo>
                <a:lnTo>
                  <a:pt x="135271" y="1098918"/>
                </a:lnTo>
                <a:lnTo>
                  <a:pt x="91257" y="1080343"/>
                </a:lnTo>
                <a:lnTo>
                  <a:pt x="53966" y="1051533"/>
                </a:lnTo>
                <a:lnTo>
                  <a:pt x="25155" y="1014242"/>
                </a:lnTo>
                <a:lnTo>
                  <a:pt x="6581" y="970228"/>
                </a:lnTo>
                <a:lnTo>
                  <a:pt x="0" y="921246"/>
                </a:lnTo>
                <a:lnTo>
                  <a:pt x="0" y="184253"/>
                </a:lnTo>
                <a:lnTo>
                  <a:pt x="6581" y="135271"/>
                </a:lnTo>
                <a:lnTo>
                  <a:pt x="25155" y="91257"/>
                </a:lnTo>
                <a:lnTo>
                  <a:pt x="53966" y="53966"/>
                </a:lnTo>
                <a:lnTo>
                  <a:pt x="91257" y="25156"/>
                </a:lnTo>
                <a:lnTo>
                  <a:pt x="135271" y="6581"/>
                </a:lnTo>
                <a:lnTo>
                  <a:pt x="184253" y="0"/>
                </a:lnTo>
                <a:lnTo>
                  <a:pt x="1759145"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5" y="1105499"/>
                </a:lnTo>
                <a:close/>
              </a:path>
            </a:pathLst>
          </a:custGeom>
          <a:solidFill>
            <a:srgbClr val="EEEEEE"/>
          </a:solidFill>
        </p:spPr>
        <p:txBody>
          <a:bodyPr wrap="square" lIns="0" tIns="0" rIns="0" bIns="0" rtlCol="0"/>
          <a:lstStyle/>
          <a:p>
            <a:endParaRPr sz="2400"/>
          </a:p>
        </p:txBody>
      </p:sp>
      <p:sp>
        <p:nvSpPr>
          <p:cNvPr id="8" name="object 8"/>
          <p:cNvSpPr/>
          <p:nvPr/>
        </p:nvSpPr>
        <p:spPr>
          <a:xfrm>
            <a:off x="9286666" y="3367083"/>
            <a:ext cx="2591647" cy="1474047"/>
          </a:xfrm>
          <a:custGeom>
            <a:avLst/>
            <a:gdLst/>
            <a:ahLst/>
            <a:cxnLst/>
            <a:rect l="l" t="t" r="r" b="b"/>
            <a:pathLst>
              <a:path w="1943734" h="1105535">
                <a:moveTo>
                  <a:pt x="0" y="184253"/>
                </a:moveTo>
                <a:lnTo>
                  <a:pt x="6581" y="135271"/>
                </a:lnTo>
                <a:lnTo>
                  <a:pt x="25155" y="91257"/>
                </a:lnTo>
                <a:lnTo>
                  <a:pt x="53966" y="53966"/>
                </a:lnTo>
                <a:lnTo>
                  <a:pt x="91257" y="25156"/>
                </a:lnTo>
                <a:lnTo>
                  <a:pt x="135271" y="6581"/>
                </a:lnTo>
                <a:lnTo>
                  <a:pt x="184253" y="0"/>
                </a:lnTo>
                <a:lnTo>
                  <a:pt x="1759145"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5" y="1105499"/>
                </a:lnTo>
                <a:lnTo>
                  <a:pt x="184253" y="1105499"/>
                </a:lnTo>
                <a:lnTo>
                  <a:pt x="135271" y="1098918"/>
                </a:lnTo>
                <a:lnTo>
                  <a:pt x="91257" y="1080343"/>
                </a:lnTo>
                <a:lnTo>
                  <a:pt x="53966" y="1051533"/>
                </a:lnTo>
                <a:lnTo>
                  <a:pt x="25155"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9" name="object 9"/>
          <p:cNvSpPr txBox="1"/>
          <p:nvPr/>
        </p:nvSpPr>
        <p:spPr>
          <a:xfrm>
            <a:off x="9455989" y="3526922"/>
            <a:ext cx="1363980"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shooty_guy</a:t>
            </a:r>
            <a:endParaRPr sz="1867">
              <a:latin typeface="Arial"/>
              <a:cs typeface="Arial"/>
            </a:endParaRPr>
          </a:p>
        </p:txBody>
      </p:sp>
      <p:sp>
        <p:nvSpPr>
          <p:cNvPr id="10" name="object 10"/>
          <p:cNvSpPr txBox="1"/>
          <p:nvPr/>
        </p:nvSpPr>
        <p:spPr>
          <a:xfrm>
            <a:off x="9455989" y="4085722"/>
            <a:ext cx="1313180" cy="595035"/>
          </a:xfrm>
          <a:prstGeom prst="rect">
            <a:avLst/>
          </a:prstGeom>
        </p:spPr>
        <p:txBody>
          <a:bodyPr vert="horz" wrap="square" lIns="0" tIns="30480" rIns="0" bIns="0" rtlCol="0">
            <a:spAutoFit/>
          </a:bodyPr>
          <a:lstStyle/>
          <a:p>
            <a:pPr marL="16933" marR="6773">
              <a:lnSpc>
                <a:spcPts val="2200"/>
              </a:lnSpc>
              <a:spcBef>
                <a:spcPts val="240"/>
              </a:spcBef>
            </a:pPr>
            <a:r>
              <a:rPr sz="1867" spc="-7" dirty="0">
                <a:latin typeface="Arial"/>
                <a:cs typeface="Arial"/>
              </a:rPr>
              <a:t>patrol_ai  </a:t>
            </a:r>
            <a:r>
              <a:rPr sz="1867" dirty="0">
                <a:latin typeface="Arial"/>
                <a:cs typeface="Arial"/>
              </a:rPr>
              <a:t>shoot_bullet</a:t>
            </a:r>
            <a:endParaRPr sz="1867">
              <a:latin typeface="Arial"/>
              <a:cs typeface="Arial"/>
            </a:endParaRPr>
          </a:p>
        </p:txBody>
      </p:sp>
      <p:sp>
        <p:nvSpPr>
          <p:cNvPr id="11" name="object 11"/>
          <p:cNvSpPr/>
          <p:nvPr/>
        </p:nvSpPr>
        <p:spPr>
          <a:xfrm>
            <a:off x="6215733" y="3501099"/>
            <a:ext cx="2591647" cy="1474047"/>
          </a:xfrm>
          <a:custGeom>
            <a:avLst/>
            <a:gdLst/>
            <a:ahLst/>
            <a:cxnLst/>
            <a:rect l="l" t="t" r="r" b="b"/>
            <a:pathLst>
              <a:path w="1943734" h="1105535">
                <a:moveTo>
                  <a:pt x="1759146" y="1105499"/>
                </a:moveTo>
                <a:lnTo>
                  <a:pt x="184253" y="1105499"/>
                </a:lnTo>
                <a:lnTo>
                  <a:pt x="135271" y="1098918"/>
                </a:lnTo>
                <a:lnTo>
                  <a:pt x="91257" y="1080343"/>
                </a:lnTo>
                <a:lnTo>
                  <a:pt x="53966" y="1051533"/>
                </a:lnTo>
                <a:lnTo>
                  <a:pt x="25156" y="1014242"/>
                </a:lnTo>
                <a:lnTo>
                  <a:pt x="6581" y="970228"/>
                </a:lnTo>
                <a:lnTo>
                  <a:pt x="0" y="921246"/>
                </a:lnTo>
                <a:lnTo>
                  <a:pt x="0" y="184253"/>
                </a:lnTo>
                <a:lnTo>
                  <a:pt x="6581" y="135271"/>
                </a:lnTo>
                <a:lnTo>
                  <a:pt x="25156" y="91257"/>
                </a:lnTo>
                <a:lnTo>
                  <a:pt x="53966" y="53966"/>
                </a:lnTo>
                <a:lnTo>
                  <a:pt x="91257" y="25156"/>
                </a:lnTo>
                <a:lnTo>
                  <a:pt x="135271" y="6581"/>
                </a:lnTo>
                <a:lnTo>
                  <a:pt x="184253" y="0"/>
                </a:lnTo>
                <a:lnTo>
                  <a:pt x="1759146"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6" y="1105499"/>
                </a:lnTo>
                <a:close/>
              </a:path>
            </a:pathLst>
          </a:custGeom>
          <a:solidFill>
            <a:srgbClr val="EEEEEE"/>
          </a:solidFill>
        </p:spPr>
        <p:txBody>
          <a:bodyPr wrap="square" lIns="0" tIns="0" rIns="0" bIns="0" rtlCol="0"/>
          <a:lstStyle/>
          <a:p>
            <a:endParaRPr sz="2400"/>
          </a:p>
        </p:txBody>
      </p:sp>
      <p:sp>
        <p:nvSpPr>
          <p:cNvPr id="12" name="object 12"/>
          <p:cNvSpPr/>
          <p:nvPr/>
        </p:nvSpPr>
        <p:spPr>
          <a:xfrm>
            <a:off x="6215733" y="3501099"/>
            <a:ext cx="2591647" cy="1474047"/>
          </a:xfrm>
          <a:custGeom>
            <a:avLst/>
            <a:gdLst/>
            <a:ahLst/>
            <a:cxnLst/>
            <a:rect l="l" t="t" r="r" b="b"/>
            <a:pathLst>
              <a:path w="1943734" h="1105535">
                <a:moveTo>
                  <a:pt x="0" y="184253"/>
                </a:moveTo>
                <a:lnTo>
                  <a:pt x="6581" y="135271"/>
                </a:lnTo>
                <a:lnTo>
                  <a:pt x="25156" y="91257"/>
                </a:lnTo>
                <a:lnTo>
                  <a:pt x="53966" y="53966"/>
                </a:lnTo>
                <a:lnTo>
                  <a:pt x="91257" y="25156"/>
                </a:lnTo>
                <a:lnTo>
                  <a:pt x="135271" y="6581"/>
                </a:lnTo>
                <a:lnTo>
                  <a:pt x="184253" y="0"/>
                </a:lnTo>
                <a:lnTo>
                  <a:pt x="1759146" y="0"/>
                </a:lnTo>
                <a:lnTo>
                  <a:pt x="1829657" y="14025"/>
                </a:lnTo>
                <a:lnTo>
                  <a:pt x="1889433" y="53966"/>
                </a:lnTo>
                <a:lnTo>
                  <a:pt x="1929374" y="113742"/>
                </a:lnTo>
                <a:lnTo>
                  <a:pt x="1943399" y="184253"/>
                </a:lnTo>
                <a:lnTo>
                  <a:pt x="1943399" y="921246"/>
                </a:lnTo>
                <a:lnTo>
                  <a:pt x="1936818" y="970228"/>
                </a:lnTo>
                <a:lnTo>
                  <a:pt x="1918243" y="1014242"/>
                </a:lnTo>
                <a:lnTo>
                  <a:pt x="1889433" y="1051533"/>
                </a:lnTo>
                <a:lnTo>
                  <a:pt x="1852142" y="1080343"/>
                </a:lnTo>
                <a:lnTo>
                  <a:pt x="1808128" y="1098918"/>
                </a:lnTo>
                <a:lnTo>
                  <a:pt x="1759146" y="1105499"/>
                </a:lnTo>
                <a:lnTo>
                  <a:pt x="184253" y="1105499"/>
                </a:lnTo>
                <a:lnTo>
                  <a:pt x="135271" y="1098918"/>
                </a:lnTo>
                <a:lnTo>
                  <a:pt x="91257" y="1080343"/>
                </a:lnTo>
                <a:lnTo>
                  <a:pt x="53966" y="1051533"/>
                </a:lnTo>
                <a:lnTo>
                  <a:pt x="25156" y="1014242"/>
                </a:lnTo>
                <a:lnTo>
                  <a:pt x="6581" y="970228"/>
                </a:lnTo>
                <a:lnTo>
                  <a:pt x="0" y="921246"/>
                </a:lnTo>
                <a:lnTo>
                  <a:pt x="0" y="184253"/>
                </a:lnTo>
                <a:close/>
              </a:path>
            </a:pathLst>
          </a:custGeom>
          <a:ln w="9524">
            <a:solidFill>
              <a:srgbClr val="595959"/>
            </a:solidFill>
          </a:ln>
        </p:spPr>
        <p:txBody>
          <a:bodyPr wrap="square" lIns="0" tIns="0" rIns="0" bIns="0" rtlCol="0"/>
          <a:lstStyle/>
          <a:p>
            <a:endParaRPr sz="2400"/>
          </a:p>
        </p:txBody>
      </p:sp>
      <p:sp>
        <p:nvSpPr>
          <p:cNvPr id="13" name="object 13"/>
          <p:cNvSpPr txBox="1"/>
          <p:nvPr/>
        </p:nvSpPr>
        <p:spPr>
          <a:xfrm>
            <a:off x="6385055" y="3660939"/>
            <a:ext cx="1259840"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melee_guy</a:t>
            </a:r>
            <a:endParaRPr sz="1867">
              <a:latin typeface="Arial"/>
              <a:cs typeface="Arial"/>
            </a:endParaRPr>
          </a:p>
        </p:txBody>
      </p:sp>
      <p:sp>
        <p:nvSpPr>
          <p:cNvPr id="14" name="object 14"/>
          <p:cNvSpPr txBox="1"/>
          <p:nvPr/>
        </p:nvSpPr>
        <p:spPr>
          <a:xfrm>
            <a:off x="6385055" y="4219739"/>
            <a:ext cx="1681480" cy="595035"/>
          </a:xfrm>
          <a:prstGeom prst="rect">
            <a:avLst/>
          </a:prstGeom>
        </p:spPr>
        <p:txBody>
          <a:bodyPr vert="horz" wrap="square" lIns="0" tIns="30480" rIns="0" bIns="0" rtlCol="0">
            <a:spAutoFit/>
          </a:bodyPr>
          <a:lstStyle/>
          <a:p>
            <a:pPr marL="16933" marR="6773">
              <a:lnSpc>
                <a:spcPts val="2200"/>
              </a:lnSpc>
              <a:spcBef>
                <a:spcPts val="240"/>
              </a:spcBef>
            </a:pPr>
            <a:r>
              <a:rPr sz="1867" dirty="0">
                <a:latin typeface="Arial"/>
                <a:cs typeface="Arial"/>
              </a:rPr>
              <a:t>chase_ai  </a:t>
            </a:r>
            <a:r>
              <a:rPr sz="1867" spc="-7" dirty="0">
                <a:latin typeface="Arial"/>
                <a:cs typeface="Arial"/>
              </a:rPr>
              <a:t>damage_ahead</a:t>
            </a:r>
            <a:endParaRPr sz="1867">
              <a:latin typeface="Arial"/>
              <a:cs typeface="Arial"/>
            </a:endParaRPr>
          </a:p>
        </p:txBody>
      </p:sp>
      <p:sp>
        <p:nvSpPr>
          <p:cNvPr id="15" name="object 15"/>
          <p:cNvSpPr/>
          <p:nvPr/>
        </p:nvSpPr>
        <p:spPr>
          <a:xfrm>
            <a:off x="7842599" y="1803899"/>
            <a:ext cx="2591647" cy="1176020"/>
          </a:xfrm>
          <a:custGeom>
            <a:avLst/>
            <a:gdLst/>
            <a:ahLst/>
            <a:cxnLst/>
            <a:rect l="l" t="t" r="r" b="b"/>
            <a:pathLst>
              <a:path w="1943734" h="882014">
                <a:moveTo>
                  <a:pt x="1796446" y="881699"/>
                </a:moveTo>
                <a:lnTo>
                  <a:pt x="146952" y="881699"/>
                </a:lnTo>
                <a:lnTo>
                  <a:pt x="100504" y="874208"/>
                </a:lnTo>
                <a:lnTo>
                  <a:pt x="60164" y="853346"/>
                </a:lnTo>
                <a:lnTo>
                  <a:pt x="28353" y="821535"/>
                </a:lnTo>
                <a:lnTo>
                  <a:pt x="7491" y="781195"/>
                </a:lnTo>
                <a:lnTo>
                  <a:pt x="0" y="734746"/>
                </a:lnTo>
                <a:lnTo>
                  <a:pt x="0" y="146952"/>
                </a:ln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close/>
              </a:path>
            </a:pathLst>
          </a:custGeom>
          <a:solidFill>
            <a:srgbClr val="EEEEEE"/>
          </a:solidFill>
        </p:spPr>
        <p:txBody>
          <a:bodyPr wrap="square" lIns="0" tIns="0" rIns="0" bIns="0" rtlCol="0"/>
          <a:lstStyle/>
          <a:p>
            <a:endParaRPr sz="2400"/>
          </a:p>
        </p:txBody>
      </p:sp>
      <p:sp>
        <p:nvSpPr>
          <p:cNvPr id="16" name="object 16"/>
          <p:cNvSpPr/>
          <p:nvPr/>
        </p:nvSpPr>
        <p:spPr>
          <a:xfrm>
            <a:off x="7842599" y="1803899"/>
            <a:ext cx="2591647" cy="1176020"/>
          </a:xfrm>
          <a:custGeom>
            <a:avLst/>
            <a:gdLst/>
            <a:ahLst/>
            <a:cxnLst/>
            <a:rect l="l" t="t" r="r" b="b"/>
            <a:pathLst>
              <a:path w="1943734" h="882014">
                <a:moveTo>
                  <a:pt x="0" y="146952"/>
                </a:move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lnTo>
                  <a:pt x="146952" y="881699"/>
                </a:lnTo>
                <a:lnTo>
                  <a:pt x="100504" y="874208"/>
                </a:lnTo>
                <a:lnTo>
                  <a:pt x="60164" y="853346"/>
                </a:lnTo>
                <a:lnTo>
                  <a:pt x="28353" y="821535"/>
                </a:lnTo>
                <a:lnTo>
                  <a:pt x="7491" y="781195"/>
                </a:lnTo>
                <a:lnTo>
                  <a:pt x="0" y="734746"/>
                </a:lnTo>
                <a:lnTo>
                  <a:pt x="0" y="146952"/>
                </a:lnTo>
                <a:close/>
              </a:path>
            </a:pathLst>
          </a:custGeom>
          <a:ln w="9524">
            <a:solidFill>
              <a:srgbClr val="595959"/>
            </a:solidFill>
          </a:ln>
        </p:spPr>
        <p:txBody>
          <a:bodyPr wrap="square" lIns="0" tIns="0" rIns="0" bIns="0" rtlCol="0"/>
          <a:lstStyle/>
          <a:p>
            <a:endParaRPr sz="2400"/>
          </a:p>
        </p:txBody>
      </p:sp>
      <p:sp>
        <p:nvSpPr>
          <p:cNvPr id="17" name="object 17"/>
          <p:cNvSpPr txBox="1"/>
          <p:nvPr/>
        </p:nvSpPr>
        <p:spPr>
          <a:xfrm>
            <a:off x="7997356" y="2507973"/>
            <a:ext cx="613833" cy="304421"/>
          </a:xfrm>
          <a:prstGeom prst="rect">
            <a:avLst/>
          </a:prstGeom>
        </p:spPr>
        <p:txBody>
          <a:bodyPr vert="horz" wrap="square" lIns="0" tIns="16933" rIns="0" bIns="0" rtlCol="0">
            <a:spAutoFit/>
          </a:bodyPr>
          <a:lstStyle/>
          <a:p>
            <a:pPr marL="16933">
              <a:spcBef>
                <a:spcPts val="133"/>
              </a:spcBef>
            </a:pPr>
            <a:r>
              <a:rPr sz="1867" dirty="0">
                <a:latin typeface="Arial"/>
                <a:cs typeface="Arial"/>
              </a:rPr>
              <a:t>move</a:t>
            </a:r>
            <a:endParaRPr sz="1867">
              <a:latin typeface="Arial"/>
              <a:cs typeface="Arial"/>
            </a:endParaRPr>
          </a:p>
        </p:txBody>
      </p:sp>
      <p:sp>
        <p:nvSpPr>
          <p:cNvPr id="18" name="object 18"/>
          <p:cNvSpPr/>
          <p:nvPr/>
        </p:nvSpPr>
        <p:spPr>
          <a:xfrm>
            <a:off x="4846434" y="1482799"/>
            <a:ext cx="1627293" cy="1176020"/>
          </a:xfrm>
          <a:custGeom>
            <a:avLst/>
            <a:gdLst/>
            <a:ahLst/>
            <a:cxnLst/>
            <a:rect l="l" t="t" r="r" b="b"/>
            <a:pathLst>
              <a:path w="1220470" h="882014">
                <a:moveTo>
                  <a:pt x="1073146" y="881699"/>
                </a:moveTo>
                <a:lnTo>
                  <a:pt x="146952" y="881699"/>
                </a:lnTo>
                <a:lnTo>
                  <a:pt x="100504" y="874208"/>
                </a:lnTo>
                <a:lnTo>
                  <a:pt x="60164" y="853346"/>
                </a:lnTo>
                <a:lnTo>
                  <a:pt x="28353" y="821535"/>
                </a:lnTo>
                <a:lnTo>
                  <a:pt x="7491" y="781195"/>
                </a:lnTo>
                <a:lnTo>
                  <a:pt x="0" y="734746"/>
                </a:lnTo>
                <a:lnTo>
                  <a:pt x="0" y="146952"/>
                </a:lnTo>
                <a:lnTo>
                  <a:pt x="7491" y="100504"/>
                </a:lnTo>
                <a:lnTo>
                  <a:pt x="28353" y="60164"/>
                </a:lnTo>
                <a:lnTo>
                  <a:pt x="60164" y="28353"/>
                </a:lnTo>
                <a:lnTo>
                  <a:pt x="100504" y="7491"/>
                </a:lnTo>
                <a:lnTo>
                  <a:pt x="146952" y="0"/>
                </a:lnTo>
                <a:lnTo>
                  <a:pt x="1073146" y="0"/>
                </a:lnTo>
                <a:lnTo>
                  <a:pt x="1129383" y="11186"/>
                </a:lnTo>
                <a:lnTo>
                  <a:pt x="1177058" y="43041"/>
                </a:lnTo>
                <a:lnTo>
                  <a:pt x="1208913" y="90716"/>
                </a:lnTo>
                <a:lnTo>
                  <a:pt x="1220099" y="146952"/>
                </a:lnTo>
                <a:lnTo>
                  <a:pt x="1220099" y="734746"/>
                </a:lnTo>
                <a:lnTo>
                  <a:pt x="1212608" y="781195"/>
                </a:lnTo>
                <a:lnTo>
                  <a:pt x="1191746" y="821535"/>
                </a:lnTo>
                <a:lnTo>
                  <a:pt x="1159935" y="853346"/>
                </a:lnTo>
                <a:lnTo>
                  <a:pt x="1119595" y="874208"/>
                </a:lnTo>
                <a:lnTo>
                  <a:pt x="1073146" y="881699"/>
                </a:lnTo>
                <a:close/>
              </a:path>
            </a:pathLst>
          </a:custGeom>
          <a:solidFill>
            <a:srgbClr val="EEEEEE"/>
          </a:solidFill>
        </p:spPr>
        <p:txBody>
          <a:bodyPr wrap="square" lIns="0" tIns="0" rIns="0" bIns="0" rtlCol="0"/>
          <a:lstStyle/>
          <a:p>
            <a:endParaRPr sz="2400"/>
          </a:p>
        </p:txBody>
      </p:sp>
      <p:sp>
        <p:nvSpPr>
          <p:cNvPr id="19" name="object 19"/>
          <p:cNvSpPr/>
          <p:nvPr/>
        </p:nvSpPr>
        <p:spPr>
          <a:xfrm>
            <a:off x="4846434" y="1482799"/>
            <a:ext cx="1627293" cy="1176020"/>
          </a:xfrm>
          <a:custGeom>
            <a:avLst/>
            <a:gdLst/>
            <a:ahLst/>
            <a:cxnLst/>
            <a:rect l="l" t="t" r="r" b="b"/>
            <a:pathLst>
              <a:path w="1220470" h="882014">
                <a:moveTo>
                  <a:pt x="0" y="146952"/>
                </a:moveTo>
                <a:lnTo>
                  <a:pt x="7491" y="100504"/>
                </a:lnTo>
                <a:lnTo>
                  <a:pt x="28353" y="60164"/>
                </a:lnTo>
                <a:lnTo>
                  <a:pt x="60164" y="28353"/>
                </a:lnTo>
                <a:lnTo>
                  <a:pt x="100504" y="7491"/>
                </a:lnTo>
                <a:lnTo>
                  <a:pt x="146952" y="0"/>
                </a:lnTo>
                <a:lnTo>
                  <a:pt x="1073146" y="0"/>
                </a:lnTo>
                <a:lnTo>
                  <a:pt x="1129383" y="11186"/>
                </a:lnTo>
                <a:lnTo>
                  <a:pt x="1177058" y="43041"/>
                </a:lnTo>
                <a:lnTo>
                  <a:pt x="1208913" y="90716"/>
                </a:lnTo>
                <a:lnTo>
                  <a:pt x="1220099" y="146952"/>
                </a:lnTo>
                <a:lnTo>
                  <a:pt x="1220099" y="734746"/>
                </a:lnTo>
                <a:lnTo>
                  <a:pt x="1212608" y="781195"/>
                </a:lnTo>
                <a:lnTo>
                  <a:pt x="1191746" y="821535"/>
                </a:lnTo>
                <a:lnTo>
                  <a:pt x="1159935" y="853346"/>
                </a:lnTo>
                <a:lnTo>
                  <a:pt x="1119595" y="874208"/>
                </a:lnTo>
                <a:lnTo>
                  <a:pt x="1073146" y="881699"/>
                </a:lnTo>
                <a:lnTo>
                  <a:pt x="146952" y="881699"/>
                </a:lnTo>
                <a:lnTo>
                  <a:pt x="100504" y="874208"/>
                </a:lnTo>
                <a:lnTo>
                  <a:pt x="60164" y="853346"/>
                </a:lnTo>
                <a:lnTo>
                  <a:pt x="28353" y="821535"/>
                </a:lnTo>
                <a:lnTo>
                  <a:pt x="7491" y="781195"/>
                </a:lnTo>
                <a:lnTo>
                  <a:pt x="0" y="734746"/>
                </a:lnTo>
                <a:lnTo>
                  <a:pt x="0" y="146952"/>
                </a:lnTo>
                <a:close/>
              </a:path>
            </a:pathLst>
          </a:custGeom>
          <a:ln w="9524">
            <a:solidFill>
              <a:srgbClr val="595959"/>
            </a:solidFill>
          </a:ln>
        </p:spPr>
        <p:txBody>
          <a:bodyPr wrap="square" lIns="0" tIns="0" rIns="0" bIns="0" rtlCol="0"/>
          <a:lstStyle/>
          <a:p>
            <a:endParaRPr sz="2400"/>
          </a:p>
        </p:txBody>
      </p:sp>
      <p:sp>
        <p:nvSpPr>
          <p:cNvPr id="20" name="object 20"/>
          <p:cNvSpPr txBox="1"/>
          <p:nvPr/>
        </p:nvSpPr>
        <p:spPr>
          <a:xfrm>
            <a:off x="5001188" y="1591452"/>
            <a:ext cx="4887805" cy="918265"/>
          </a:xfrm>
          <a:prstGeom prst="rect">
            <a:avLst/>
          </a:prstGeom>
        </p:spPr>
        <p:txBody>
          <a:bodyPr vert="horz" wrap="square" lIns="0" tIns="53340" rIns="0" bIns="0" rtlCol="0">
            <a:spAutoFit/>
          </a:bodyPr>
          <a:lstStyle/>
          <a:p>
            <a:pPr marL="16933">
              <a:spcBef>
                <a:spcPts val="420"/>
              </a:spcBef>
            </a:pPr>
            <a:r>
              <a:rPr sz="1867" b="1" spc="-7" dirty="0">
                <a:latin typeface="Arial"/>
                <a:cs typeface="Arial"/>
              </a:rPr>
              <a:t>entity</a:t>
            </a:r>
            <a:endParaRPr sz="1867">
              <a:latin typeface="Arial"/>
              <a:cs typeface="Arial"/>
            </a:endParaRPr>
          </a:p>
          <a:p>
            <a:pPr marL="3012365">
              <a:lnSpc>
                <a:spcPts val="2053"/>
              </a:lnSpc>
              <a:spcBef>
                <a:spcPts val="287"/>
              </a:spcBef>
            </a:pPr>
            <a:r>
              <a:rPr sz="1867" b="1" spc="-7" dirty="0">
                <a:latin typeface="Arial"/>
                <a:cs typeface="Arial"/>
              </a:rPr>
              <a:t>moveable_entity</a:t>
            </a:r>
            <a:endParaRPr sz="1867">
              <a:latin typeface="Arial"/>
              <a:cs typeface="Arial"/>
            </a:endParaRPr>
          </a:p>
          <a:p>
            <a:pPr marL="16933">
              <a:lnSpc>
                <a:spcPts val="2053"/>
              </a:lnSpc>
            </a:pPr>
            <a:r>
              <a:rPr sz="1867" spc="-7" dirty="0">
                <a:solidFill>
                  <a:srgbClr val="FF0000"/>
                </a:solidFill>
                <a:latin typeface="Arial"/>
                <a:cs typeface="Arial"/>
              </a:rPr>
              <a:t>throw</a:t>
            </a:r>
            <a:endParaRPr sz="1867">
              <a:latin typeface="Arial"/>
              <a:cs typeface="Arial"/>
            </a:endParaRPr>
          </a:p>
        </p:txBody>
      </p:sp>
      <p:sp>
        <p:nvSpPr>
          <p:cNvPr id="21" name="object 21"/>
          <p:cNvSpPr/>
          <p:nvPr/>
        </p:nvSpPr>
        <p:spPr>
          <a:xfrm>
            <a:off x="2117342" y="2070599"/>
            <a:ext cx="2729652" cy="421640"/>
          </a:xfrm>
          <a:custGeom>
            <a:avLst/>
            <a:gdLst/>
            <a:ahLst/>
            <a:cxnLst/>
            <a:rect l="l" t="t" r="r" b="b"/>
            <a:pathLst>
              <a:path w="2047239" h="316230">
                <a:moveTo>
                  <a:pt x="2046818" y="0"/>
                </a:moveTo>
                <a:lnTo>
                  <a:pt x="0" y="315883"/>
                </a:lnTo>
              </a:path>
            </a:pathLst>
          </a:custGeom>
          <a:ln w="9524">
            <a:solidFill>
              <a:srgbClr val="595959"/>
            </a:solidFill>
          </a:ln>
        </p:spPr>
        <p:txBody>
          <a:bodyPr wrap="square" lIns="0" tIns="0" rIns="0" bIns="0" rtlCol="0"/>
          <a:lstStyle/>
          <a:p>
            <a:endParaRPr sz="2400"/>
          </a:p>
        </p:txBody>
      </p:sp>
      <p:sp>
        <p:nvSpPr>
          <p:cNvPr id="22" name="object 22"/>
          <p:cNvSpPr/>
          <p:nvPr/>
        </p:nvSpPr>
        <p:spPr>
          <a:xfrm>
            <a:off x="2060381" y="2471046"/>
            <a:ext cx="60960" cy="41487"/>
          </a:xfrm>
          <a:custGeom>
            <a:avLst/>
            <a:gdLst/>
            <a:ahLst/>
            <a:cxnLst/>
            <a:rect l="l" t="t" r="r" b="b"/>
            <a:pathLst>
              <a:path w="45719" h="31114">
                <a:moveTo>
                  <a:pt x="45119" y="31097"/>
                </a:moveTo>
                <a:lnTo>
                  <a:pt x="0" y="22141"/>
                </a:lnTo>
                <a:lnTo>
                  <a:pt x="40319" y="0"/>
                </a:lnTo>
                <a:lnTo>
                  <a:pt x="45119" y="31097"/>
                </a:lnTo>
                <a:close/>
              </a:path>
            </a:pathLst>
          </a:custGeom>
          <a:solidFill>
            <a:srgbClr val="595959"/>
          </a:solidFill>
        </p:spPr>
        <p:txBody>
          <a:bodyPr wrap="square" lIns="0" tIns="0" rIns="0" bIns="0" rtlCol="0"/>
          <a:lstStyle/>
          <a:p>
            <a:endParaRPr sz="2400"/>
          </a:p>
        </p:txBody>
      </p:sp>
      <p:sp>
        <p:nvSpPr>
          <p:cNvPr id="23" name="object 23"/>
          <p:cNvSpPr/>
          <p:nvPr/>
        </p:nvSpPr>
        <p:spPr>
          <a:xfrm>
            <a:off x="2060381" y="2471046"/>
            <a:ext cx="60960" cy="41487"/>
          </a:xfrm>
          <a:custGeom>
            <a:avLst/>
            <a:gdLst/>
            <a:ahLst/>
            <a:cxnLst/>
            <a:rect l="l" t="t" r="r" b="b"/>
            <a:pathLst>
              <a:path w="45719" h="31114">
                <a:moveTo>
                  <a:pt x="40319" y="0"/>
                </a:moveTo>
                <a:lnTo>
                  <a:pt x="0" y="22141"/>
                </a:lnTo>
                <a:lnTo>
                  <a:pt x="45119" y="31097"/>
                </a:lnTo>
                <a:lnTo>
                  <a:pt x="40319" y="0"/>
                </a:lnTo>
                <a:close/>
              </a:path>
            </a:pathLst>
          </a:custGeom>
          <a:ln w="9524">
            <a:solidFill>
              <a:srgbClr val="595959"/>
            </a:solidFill>
          </a:ln>
        </p:spPr>
        <p:txBody>
          <a:bodyPr wrap="square" lIns="0" tIns="0" rIns="0" bIns="0" rtlCol="0"/>
          <a:lstStyle/>
          <a:p>
            <a:endParaRPr sz="2400"/>
          </a:p>
        </p:txBody>
      </p:sp>
      <p:sp>
        <p:nvSpPr>
          <p:cNvPr id="24" name="object 24"/>
          <p:cNvSpPr/>
          <p:nvPr/>
        </p:nvSpPr>
        <p:spPr>
          <a:xfrm>
            <a:off x="9138200" y="2979501"/>
            <a:ext cx="1370753" cy="368300"/>
          </a:xfrm>
          <a:custGeom>
            <a:avLst/>
            <a:gdLst/>
            <a:ahLst/>
            <a:cxnLst/>
            <a:rect l="l" t="t" r="r" b="b"/>
            <a:pathLst>
              <a:path w="1028065" h="276225">
                <a:moveTo>
                  <a:pt x="0" y="0"/>
                </a:moveTo>
                <a:lnTo>
                  <a:pt x="1027803" y="275884"/>
                </a:lnTo>
              </a:path>
            </a:pathLst>
          </a:custGeom>
          <a:ln w="9524">
            <a:solidFill>
              <a:srgbClr val="595959"/>
            </a:solidFill>
          </a:ln>
        </p:spPr>
        <p:txBody>
          <a:bodyPr wrap="square" lIns="0" tIns="0" rIns="0" bIns="0" rtlCol="0"/>
          <a:lstStyle/>
          <a:p>
            <a:endParaRPr sz="2400"/>
          </a:p>
        </p:txBody>
      </p:sp>
      <p:sp>
        <p:nvSpPr>
          <p:cNvPr id="25" name="object 25"/>
          <p:cNvSpPr/>
          <p:nvPr/>
        </p:nvSpPr>
        <p:spPr>
          <a:xfrm>
            <a:off x="10503166" y="3327085"/>
            <a:ext cx="61807" cy="40640"/>
          </a:xfrm>
          <a:custGeom>
            <a:avLst/>
            <a:gdLst/>
            <a:ahLst/>
            <a:cxnLst/>
            <a:rect l="l" t="t" r="r" b="b"/>
            <a:pathLst>
              <a:path w="46354" h="30480">
                <a:moveTo>
                  <a:pt x="0" y="30389"/>
                </a:moveTo>
                <a:lnTo>
                  <a:pt x="8157" y="0"/>
                </a:lnTo>
                <a:lnTo>
                  <a:pt x="45826" y="26400"/>
                </a:lnTo>
                <a:lnTo>
                  <a:pt x="0" y="30389"/>
                </a:lnTo>
                <a:close/>
              </a:path>
            </a:pathLst>
          </a:custGeom>
          <a:solidFill>
            <a:srgbClr val="595959"/>
          </a:solidFill>
        </p:spPr>
        <p:txBody>
          <a:bodyPr wrap="square" lIns="0" tIns="0" rIns="0" bIns="0" rtlCol="0"/>
          <a:lstStyle/>
          <a:p>
            <a:endParaRPr sz="2400"/>
          </a:p>
        </p:txBody>
      </p:sp>
      <p:sp>
        <p:nvSpPr>
          <p:cNvPr id="26" name="object 26"/>
          <p:cNvSpPr/>
          <p:nvPr/>
        </p:nvSpPr>
        <p:spPr>
          <a:xfrm>
            <a:off x="10503166" y="3327085"/>
            <a:ext cx="61807" cy="40640"/>
          </a:xfrm>
          <a:custGeom>
            <a:avLst/>
            <a:gdLst/>
            <a:ahLst/>
            <a:cxnLst/>
            <a:rect l="l" t="t" r="r" b="b"/>
            <a:pathLst>
              <a:path w="46354" h="30480">
                <a:moveTo>
                  <a:pt x="0" y="30389"/>
                </a:moveTo>
                <a:lnTo>
                  <a:pt x="45826" y="26400"/>
                </a:lnTo>
                <a:lnTo>
                  <a:pt x="8157" y="0"/>
                </a:lnTo>
                <a:lnTo>
                  <a:pt x="0" y="30389"/>
                </a:lnTo>
                <a:close/>
              </a:path>
            </a:pathLst>
          </a:custGeom>
          <a:ln w="9524">
            <a:solidFill>
              <a:srgbClr val="595959"/>
            </a:solidFill>
          </a:ln>
        </p:spPr>
        <p:txBody>
          <a:bodyPr wrap="square" lIns="0" tIns="0" rIns="0" bIns="0" rtlCol="0"/>
          <a:lstStyle/>
          <a:p>
            <a:endParaRPr sz="2400"/>
          </a:p>
        </p:txBody>
      </p:sp>
      <p:sp>
        <p:nvSpPr>
          <p:cNvPr id="27" name="object 27"/>
          <p:cNvSpPr/>
          <p:nvPr/>
        </p:nvSpPr>
        <p:spPr>
          <a:xfrm>
            <a:off x="7583961" y="2979501"/>
            <a:ext cx="1554480" cy="498687"/>
          </a:xfrm>
          <a:custGeom>
            <a:avLst/>
            <a:gdLst/>
            <a:ahLst/>
            <a:cxnLst/>
            <a:rect l="l" t="t" r="r" b="b"/>
            <a:pathLst>
              <a:path w="1165859" h="374014">
                <a:moveTo>
                  <a:pt x="1165678" y="0"/>
                </a:moveTo>
                <a:lnTo>
                  <a:pt x="0" y="373750"/>
                </a:lnTo>
              </a:path>
            </a:pathLst>
          </a:custGeom>
          <a:ln w="9524">
            <a:solidFill>
              <a:srgbClr val="595959"/>
            </a:solidFill>
          </a:ln>
        </p:spPr>
        <p:txBody>
          <a:bodyPr wrap="square" lIns="0" tIns="0" rIns="0" bIns="0" rtlCol="0"/>
          <a:lstStyle/>
          <a:p>
            <a:endParaRPr sz="2400"/>
          </a:p>
        </p:txBody>
      </p:sp>
      <p:sp>
        <p:nvSpPr>
          <p:cNvPr id="28" name="object 28"/>
          <p:cNvSpPr/>
          <p:nvPr/>
        </p:nvSpPr>
        <p:spPr>
          <a:xfrm>
            <a:off x="7529079" y="3457859"/>
            <a:ext cx="61807" cy="40640"/>
          </a:xfrm>
          <a:custGeom>
            <a:avLst/>
            <a:gdLst/>
            <a:ahLst/>
            <a:cxnLst/>
            <a:rect l="l" t="t" r="r" b="b"/>
            <a:pathLst>
              <a:path w="46354" h="30480">
                <a:moveTo>
                  <a:pt x="45964" y="29962"/>
                </a:moveTo>
                <a:lnTo>
                  <a:pt x="0" y="28179"/>
                </a:lnTo>
                <a:lnTo>
                  <a:pt x="36357" y="0"/>
                </a:lnTo>
                <a:lnTo>
                  <a:pt x="45964" y="29962"/>
                </a:lnTo>
                <a:close/>
              </a:path>
            </a:pathLst>
          </a:custGeom>
          <a:solidFill>
            <a:srgbClr val="595959"/>
          </a:solidFill>
        </p:spPr>
        <p:txBody>
          <a:bodyPr wrap="square" lIns="0" tIns="0" rIns="0" bIns="0" rtlCol="0"/>
          <a:lstStyle/>
          <a:p>
            <a:endParaRPr sz="2400"/>
          </a:p>
        </p:txBody>
      </p:sp>
      <p:sp>
        <p:nvSpPr>
          <p:cNvPr id="29" name="object 29"/>
          <p:cNvSpPr/>
          <p:nvPr/>
        </p:nvSpPr>
        <p:spPr>
          <a:xfrm>
            <a:off x="7529079" y="3457859"/>
            <a:ext cx="61807" cy="40640"/>
          </a:xfrm>
          <a:custGeom>
            <a:avLst/>
            <a:gdLst/>
            <a:ahLst/>
            <a:cxnLst/>
            <a:rect l="l" t="t" r="r" b="b"/>
            <a:pathLst>
              <a:path w="46354" h="30480">
                <a:moveTo>
                  <a:pt x="36357" y="0"/>
                </a:moveTo>
                <a:lnTo>
                  <a:pt x="0" y="28179"/>
                </a:lnTo>
                <a:lnTo>
                  <a:pt x="45964" y="29962"/>
                </a:lnTo>
                <a:lnTo>
                  <a:pt x="36357" y="0"/>
                </a:lnTo>
                <a:close/>
              </a:path>
            </a:pathLst>
          </a:custGeom>
          <a:ln w="9524">
            <a:solidFill>
              <a:srgbClr val="595959"/>
            </a:solidFill>
          </a:ln>
        </p:spPr>
        <p:txBody>
          <a:bodyPr wrap="square" lIns="0" tIns="0" rIns="0" bIns="0" rtlCol="0"/>
          <a:lstStyle/>
          <a:p>
            <a:endParaRPr sz="2400"/>
          </a:p>
        </p:txBody>
      </p:sp>
      <p:sp>
        <p:nvSpPr>
          <p:cNvPr id="30" name="object 30"/>
          <p:cNvSpPr/>
          <p:nvPr/>
        </p:nvSpPr>
        <p:spPr>
          <a:xfrm>
            <a:off x="7659633" y="5228699"/>
            <a:ext cx="2591647" cy="1176020"/>
          </a:xfrm>
          <a:custGeom>
            <a:avLst/>
            <a:gdLst/>
            <a:ahLst/>
            <a:cxnLst/>
            <a:rect l="l" t="t" r="r" b="b"/>
            <a:pathLst>
              <a:path w="1943734" h="882014">
                <a:moveTo>
                  <a:pt x="1796446" y="881699"/>
                </a:moveTo>
                <a:lnTo>
                  <a:pt x="146952" y="881699"/>
                </a:lnTo>
                <a:lnTo>
                  <a:pt x="100504" y="874208"/>
                </a:lnTo>
                <a:lnTo>
                  <a:pt x="60164" y="853346"/>
                </a:lnTo>
                <a:lnTo>
                  <a:pt x="28353" y="821535"/>
                </a:lnTo>
                <a:lnTo>
                  <a:pt x="7491" y="781195"/>
                </a:lnTo>
                <a:lnTo>
                  <a:pt x="0" y="734746"/>
                </a:lnTo>
                <a:lnTo>
                  <a:pt x="0" y="146952"/>
                </a:ln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close/>
              </a:path>
            </a:pathLst>
          </a:custGeom>
          <a:solidFill>
            <a:srgbClr val="EEEEEE"/>
          </a:solidFill>
        </p:spPr>
        <p:txBody>
          <a:bodyPr wrap="square" lIns="0" tIns="0" rIns="0" bIns="0" rtlCol="0"/>
          <a:lstStyle/>
          <a:p>
            <a:endParaRPr sz="2400"/>
          </a:p>
        </p:txBody>
      </p:sp>
      <p:sp>
        <p:nvSpPr>
          <p:cNvPr id="31" name="object 31"/>
          <p:cNvSpPr/>
          <p:nvPr/>
        </p:nvSpPr>
        <p:spPr>
          <a:xfrm>
            <a:off x="7659633" y="5228699"/>
            <a:ext cx="2591647" cy="1176020"/>
          </a:xfrm>
          <a:custGeom>
            <a:avLst/>
            <a:gdLst/>
            <a:ahLst/>
            <a:cxnLst/>
            <a:rect l="l" t="t" r="r" b="b"/>
            <a:pathLst>
              <a:path w="1943734" h="882014">
                <a:moveTo>
                  <a:pt x="0" y="146952"/>
                </a:moveTo>
                <a:lnTo>
                  <a:pt x="7491" y="100504"/>
                </a:lnTo>
                <a:lnTo>
                  <a:pt x="28353" y="60164"/>
                </a:lnTo>
                <a:lnTo>
                  <a:pt x="60164" y="28353"/>
                </a:lnTo>
                <a:lnTo>
                  <a:pt x="100504" y="7491"/>
                </a:lnTo>
                <a:lnTo>
                  <a:pt x="146952" y="0"/>
                </a:lnTo>
                <a:lnTo>
                  <a:pt x="1796446" y="0"/>
                </a:lnTo>
                <a:lnTo>
                  <a:pt x="1852683" y="11186"/>
                </a:lnTo>
                <a:lnTo>
                  <a:pt x="1900358" y="43041"/>
                </a:lnTo>
                <a:lnTo>
                  <a:pt x="1932213" y="90716"/>
                </a:lnTo>
                <a:lnTo>
                  <a:pt x="1943399" y="146952"/>
                </a:lnTo>
                <a:lnTo>
                  <a:pt x="1943399" y="734746"/>
                </a:lnTo>
                <a:lnTo>
                  <a:pt x="1935908" y="781195"/>
                </a:lnTo>
                <a:lnTo>
                  <a:pt x="1915046" y="821535"/>
                </a:lnTo>
                <a:lnTo>
                  <a:pt x="1883235" y="853346"/>
                </a:lnTo>
                <a:lnTo>
                  <a:pt x="1842895" y="874208"/>
                </a:lnTo>
                <a:lnTo>
                  <a:pt x="1796446" y="881699"/>
                </a:lnTo>
                <a:lnTo>
                  <a:pt x="146952" y="881699"/>
                </a:lnTo>
                <a:lnTo>
                  <a:pt x="100504" y="874208"/>
                </a:lnTo>
                <a:lnTo>
                  <a:pt x="60164" y="853346"/>
                </a:lnTo>
                <a:lnTo>
                  <a:pt x="28353" y="821535"/>
                </a:lnTo>
                <a:lnTo>
                  <a:pt x="7491" y="781195"/>
                </a:lnTo>
                <a:lnTo>
                  <a:pt x="0" y="734746"/>
                </a:lnTo>
                <a:lnTo>
                  <a:pt x="0" y="146952"/>
                </a:lnTo>
                <a:close/>
              </a:path>
            </a:pathLst>
          </a:custGeom>
          <a:ln w="9524">
            <a:solidFill>
              <a:srgbClr val="595959"/>
            </a:solidFill>
          </a:ln>
        </p:spPr>
        <p:txBody>
          <a:bodyPr wrap="square" lIns="0" tIns="0" rIns="0" bIns="0" rtlCol="0"/>
          <a:lstStyle/>
          <a:p>
            <a:endParaRPr sz="2400"/>
          </a:p>
        </p:txBody>
      </p:sp>
      <p:sp>
        <p:nvSpPr>
          <p:cNvPr id="32" name="object 32"/>
          <p:cNvSpPr txBox="1"/>
          <p:nvPr/>
        </p:nvSpPr>
        <p:spPr>
          <a:xfrm>
            <a:off x="7814389" y="5373973"/>
            <a:ext cx="665479"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bullet</a:t>
            </a:r>
            <a:endParaRPr sz="1867">
              <a:latin typeface="Arial"/>
              <a:cs typeface="Arial"/>
            </a:endParaRPr>
          </a:p>
        </p:txBody>
      </p:sp>
      <p:sp>
        <p:nvSpPr>
          <p:cNvPr id="33" name="object 33"/>
          <p:cNvSpPr txBox="1"/>
          <p:nvPr/>
        </p:nvSpPr>
        <p:spPr>
          <a:xfrm>
            <a:off x="7814389" y="5932773"/>
            <a:ext cx="1602740" cy="304421"/>
          </a:xfrm>
          <a:prstGeom prst="rect">
            <a:avLst/>
          </a:prstGeom>
        </p:spPr>
        <p:txBody>
          <a:bodyPr vert="horz" wrap="square" lIns="0" tIns="16933" rIns="0" bIns="0" rtlCol="0">
            <a:spAutoFit/>
          </a:bodyPr>
          <a:lstStyle/>
          <a:p>
            <a:pPr marL="16933">
              <a:spcBef>
                <a:spcPts val="133"/>
              </a:spcBef>
            </a:pPr>
            <a:r>
              <a:rPr sz="1867" spc="-7" dirty="0">
                <a:latin typeface="Arial"/>
                <a:cs typeface="Arial"/>
              </a:rPr>
              <a:t>damage_touch</a:t>
            </a:r>
            <a:endParaRPr sz="1867">
              <a:latin typeface="Arial"/>
              <a:cs typeface="Arial"/>
            </a:endParaRPr>
          </a:p>
        </p:txBody>
      </p:sp>
      <p:sp>
        <p:nvSpPr>
          <p:cNvPr id="34" name="object 34"/>
          <p:cNvSpPr/>
          <p:nvPr/>
        </p:nvSpPr>
        <p:spPr>
          <a:xfrm>
            <a:off x="8961573" y="2979501"/>
            <a:ext cx="176953" cy="2173393"/>
          </a:xfrm>
          <a:custGeom>
            <a:avLst/>
            <a:gdLst/>
            <a:ahLst/>
            <a:cxnLst/>
            <a:rect l="l" t="t" r="r" b="b"/>
            <a:pathLst>
              <a:path w="132715" h="1630045">
                <a:moveTo>
                  <a:pt x="132469" y="0"/>
                </a:moveTo>
                <a:lnTo>
                  <a:pt x="0" y="1629937"/>
                </a:lnTo>
              </a:path>
            </a:pathLst>
          </a:custGeom>
          <a:ln w="9524">
            <a:solidFill>
              <a:srgbClr val="595959"/>
            </a:solidFill>
          </a:ln>
        </p:spPr>
        <p:txBody>
          <a:bodyPr wrap="square" lIns="0" tIns="0" rIns="0" bIns="0" rtlCol="0"/>
          <a:lstStyle/>
          <a:p>
            <a:endParaRPr sz="2400"/>
          </a:p>
        </p:txBody>
      </p:sp>
      <p:sp>
        <p:nvSpPr>
          <p:cNvPr id="35" name="object 35"/>
          <p:cNvSpPr/>
          <p:nvPr/>
        </p:nvSpPr>
        <p:spPr>
          <a:xfrm>
            <a:off x="8940664" y="5151051"/>
            <a:ext cx="42333" cy="59267"/>
          </a:xfrm>
          <a:custGeom>
            <a:avLst/>
            <a:gdLst/>
            <a:ahLst/>
            <a:cxnLst/>
            <a:rect l="l" t="t" r="r" b="b"/>
            <a:pathLst>
              <a:path w="31750" h="44450">
                <a:moveTo>
                  <a:pt x="12179" y="44357"/>
                </a:moveTo>
                <a:lnTo>
                  <a:pt x="0" y="0"/>
                </a:lnTo>
                <a:lnTo>
                  <a:pt x="31362" y="2548"/>
                </a:lnTo>
                <a:lnTo>
                  <a:pt x="12179" y="44357"/>
                </a:lnTo>
                <a:close/>
              </a:path>
            </a:pathLst>
          </a:custGeom>
          <a:solidFill>
            <a:srgbClr val="595959"/>
          </a:solidFill>
        </p:spPr>
        <p:txBody>
          <a:bodyPr wrap="square" lIns="0" tIns="0" rIns="0" bIns="0" rtlCol="0"/>
          <a:lstStyle/>
          <a:p>
            <a:endParaRPr sz="2400"/>
          </a:p>
        </p:txBody>
      </p:sp>
      <p:sp>
        <p:nvSpPr>
          <p:cNvPr id="36" name="object 36"/>
          <p:cNvSpPr/>
          <p:nvPr/>
        </p:nvSpPr>
        <p:spPr>
          <a:xfrm>
            <a:off x="8940664" y="5151051"/>
            <a:ext cx="42333" cy="59267"/>
          </a:xfrm>
          <a:custGeom>
            <a:avLst/>
            <a:gdLst/>
            <a:ahLst/>
            <a:cxnLst/>
            <a:rect l="l" t="t" r="r" b="b"/>
            <a:pathLst>
              <a:path w="31750" h="44450">
                <a:moveTo>
                  <a:pt x="0" y="0"/>
                </a:moveTo>
                <a:lnTo>
                  <a:pt x="12179" y="44357"/>
                </a:lnTo>
                <a:lnTo>
                  <a:pt x="31362" y="2548"/>
                </a:lnTo>
                <a:lnTo>
                  <a:pt x="0" y="0"/>
                </a:lnTo>
                <a:close/>
              </a:path>
            </a:pathLst>
          </a:custGeom>
          <a:ln w="9524">
            <a:solidFill>
              <a:srgbClr val="595959"/>
            </a:solidFill>
          </a:ln>
        </p:spPr>
        <p:txBody>
          <a:bodyPr wrap="square" lIns="0" tIns="0" rIns="0" bIns="0" rtlCol="0"/>
          <a:lstStyle/>
          <a:p>
            <a:endParaRPr sz="2400"/>
          </a:p>
        </p:txBody>
      </p:sp>
      <p:sp>
        <p:nvSpPr>
          <p:cNvPr id="37" name="object 37"/>
          <p:cNvSpPr/>
          <p:nvPr/>
        </p:nvSpPr>
        <p:spPr>
          <a:xfrm>
            <a:off x="3121966" y="5952566"/>
            <a:ext cx="2801620" cy="625687"/>
          </a:xfrm>
          <a:custGeom>
            <a:avLst/>
            <a:gdLst/>
            <a:ahLst/>
            <a:cxnLst/>
            <a:rect l="l" t="t" r="r" b="b"/>
            <a:pathLst>
              <a:path w="2101215" h="469264">
                <a:moveTo>
                  <a:pt x="2022398" y="469199"/>
                </a:moveTo>
                <a:lnTo>
                  <a:pt x="78201" y="469199"/>
                </a:lnTo>
                <a:lnTo>
                  <a:pt x="47761" y="463054"/>
                </a:lnTo>
                <a:lnTo>
                  <a:pt x="22904" y="446295"/>
                </a:lnTo>
                <a:lnTo>
                  <a:pt x="6145" y="421438"/>
                </a:lnTo>
                <a:lnTo>
                  <a:pt x="0" y="390998"/>
                </a:lnTo>
                <a:lnTo>
                  <a:pt x="0" y="78201"/>
                </a:lnTo>
                <a:lnTo>
                  <a:pt x="6145" y="47761"/>
                </a:lnTo>
                <a:lnTo>
                  <a:pt x="22904" y="22904"/>
                </a:lnTo>
                <a:lnTo>
                  <a:pt x="47761" y="6145"/>
                </a:lnTo>
                <a:lnTo>
                  <a:pt x="78201" y="0"/>
                </a:lnTo>
                <a:lnTo>
                  <a:pt x="2022398" y="0"/>
                </a:lnTo>
                <a:lnTo>
                  <a:pt x="2065784" y="13138"/>
                </a:lnTo>
                <a:lnTo>
                  <a:pt x="2094647" y="48275"/>
                </a:lnTo>
                <a:lnTo>
                  <a:pt x="2100599" y="78201"/>
                </a:lnTo>
                <a:lnTo>
                  <a:pt x="2100599" y="390998"/>
                </a:lnTo>
                <a:lnTo>
                  <a:pt x="2094454" y="421438"/>
                </a:lnTo>
                <a:lnTo>
                  <a:pt x="2077695" y="446295"/>
                </a:lnTo>
                <a:lnTo>
                  <a:pt x="2052838" y="463054"/>
                </a:lnTo>
                <a:lnTo>
                  <a:pt x="2022398" y="469199"/>
                </a:lnTo>
                <a:close/>
              </a:path>
            </a:pathLst>
          </a:custGeom>
          <a:solidFill>
            <a:srgbClr val="EEEEEE"/>
          </a:solidFill>
        </p:spPr>
        <p:txBody>
          <a:bodyPr wrap="square" lIns="0" tIns="0" rIns="0" bIns="0" rtlCol="0"/>
          <a:lstStyle/>
          <a:p>
            <a:endParaRPr sz="2400"/>
          </a:p>
        </p:txBody>
      </p:sp>
      <p:sp>
        <p:nvSpPr>
          <p:cNvPr id="38" name="object 38"/>
          <p:cNvSpPr/>
          <p:nvPr/>
        </p:nvSpPr>
        <p:spPr>
          <a:xfrm>
            <a:off x="3121966" y="5952567"/>
            <a:ext cx="2801620" cy="625687"/>
          </a:xfrm>
          <a:custGeom>
            <a:avLst/>
            <a:gdLst/>
            <a:ahLst/>
            <a:cxnLst/>
            <a:rect l="l" t="t" r="r" b="b"/>
            <a:pathLst>
              <a:path w="2101215" h="469264">
                <a:moveTo>
                  <a:pt x="0" y="78201"/>
                </a:moveTo>
                <a:lnTo>
                  <a:pt x="6145" y="47761"/>
                </a:lnTo>
                <a:lnTo>
                  <a:pt x="22904" y="22904"/>
                </a:lnTo>
                <a:lnTo>
                  <a:pt x="47761" y="6145"/>
                </a:lnTo>
                <a:lnTo>
                  <a:pt x="78201" y="0"/>
                </a:lnTo>
                <a:lnTo>
                  <a:pt x="2022398" y="0"/>
                </a:lnTo>
                <a:lnTo>
                  <a:pt x="2065784" y="13138"/>
                </a:lnTo>
                <a:lnTo>
                  <a:pt x="2094647" y="48275"/>
                </a:lnTo>
                <a:lnTo>
                  <a:pt x="2100599" y="78201"/>
                </a:lnTo>
                <a:lnTo>
                  <a:pt x="2100599" y="390998"/>
                </a:lnTo>
                <a:lnTo>
                  <a:pt x="2094454" y="421438"/>
                </a:lnTo>
                <a:lnTo>
                  <a:pt x="2077695" y="446295"/>
                </a:lnTo>
                <a:lnTo>
                  <a:pt x="2052838" y="463054"/>
                </a:lnTo>
                <a:lnTo>
                  <a:pt x="2022398" y="469199"/>
                </a:lnTo>
                <a:lnTo>
                  <a:pt x="78201" y="469199"/>
                </a:lnTo>
                <a:lnTo>
                  <a:pt x="47761" y="463054"/>
                </a:lnTo>
                <a:lnTo>
                  <a:pt x="22904" y="446295"/>
                </a:lnTo>
                <a:lnTo>
                  <a:pt x="6145" y="421438"/>
                </a:lnTo>
                <a:lnTo>
                  <a:pt x="0" y="390998"/>
                </a:lnTo>
                <a:lnTo>
                  <a:pt x="0" y="78201"/>
                </a:lnTo>
                <a:close/>
              </a:path>
            </a:pathLst>
          </a:custGeom>
          <a:ln w="9524">
            <a:solidFill>
              <a:srgbClr val="595959"/>
            </a:solidFill>
          </a:ln>
        </p:spPr>
        <p:txBody>
          <a:bodyPr wrap="square" lIns="0" tIns="0" rIns="0" bIns="0" rtlCol="0"/>
          <a:lstStyle/>
          <a:p>
            <a:endParaRPr sz="2400"/>
          </a:p>
        </p:txBody>
      </p:sp>
      <p:sp>
        <p:nvSpPr>
          <p:cNvPr id="39" name="object 39"/>
          <p:cNvSpPr txBox="1"/>
          <p:nvPr/>
        </p:nvSpPr>
        <p:spPr>
          <a:xfrm>
            <a:off x="3249873" y="6070990"/>
            <a:ext cx="2247052"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chase_bomb_bullet</a:t>
            </a:r>
            <a:endParaRPr sz="1867">
              <a:latin typeface="Arial"/>
              <a:cs typeface="Arial"/>
            </a:endParaRPr>
          </a:p>
        </p:txBody>
      </p:sp>
      <p:sp>
        <p:nvSpPr>
          <p:cNvPr id="40" name="object 40"/>
          <p:cNvSpPr/>
          <p:nvPr/>
        </p:nvSpPr>
        <p:spPr>
          <a:xfrm>
            <a:off x="2042000" y="3977299"/>
            <a:ext cx="2421467" cy="1927860"/>
          </a:xfrm>
          <a:custGeom>
            <a:avLst/>
            <a:gdLst/>
            <a:ahLst/>
            <a:cxnLst/>
            <a:rect l="l" t="t" r="r" b="b"/>
            <a:pathLst>
              <a:path w="1816100" h="1445895">
                <a:moveTo>
                  <a:pt x="0" y="0"/>
                </a:moveTo>
                <a:lnTo>
                  <a:pt x="1815593" y="1445798"/>
                </a:lnTo>
              </a:path>
            </a:pathLst>
          </a:custGeom>
          <a:ln w="9524">
            <a:solidFill>
              <a:srgbClr val="595959"/>
            </a:solidFill>
          </a:ln>
        </p:spPr>
        <p:txBody>
          <a:bodyPr wrap="square" lIns="0" tIns="0" rIns="0" bIns="0" rtlCol="0"/>
          <a:lstStyle/>
          <a:p>
            <a:endParaRPr sz="2400"/>
          </a:p>
        </p:txBody>
      </p:sp>
      <p:sp>
        <p:nvSpPr>
          <p:cNvPr id="41" name="object 41"/>
          <p:cNvSpPr/>
          <p:nvPr/>
        </p:nvSpPr>
        <p:spPr>
          <a:xfrm>
            <a:off x="4449723" y="5888622"/>
            <a:ext cx="58420" cy="52493"/>
          </a:xfrm>
          <a:custGeom>
            <a:avLst/>
            <a:gdLst/>
            <a:ahLst/>
            <a:cxnLst/>
            <a:rect l="l" t="t" r="r" b="b"/>
            <a:pathLst>
              <a:path w="43814" h="39370">
                <a:moveTo>
                  <a:pt x="43614" y="39233"/>
                </a:moveTo>
                <a:lnTo>
                  <a:pt x="0" y="24614"/>
                </a:lnTo>
                <a:lnTo>
                  <a:pt x="19601" y="0"/>
                </a:lnTo>
                <a:lnTo>
                  <a:pt x="43614" y="39233"/>
                </a:lnTo>
                <a:close/>
              </a:path>
            </a:pathLst>
          </a:custGeom>
          <a:solidFill>
            <a:srgbClr val="595959"/>
          </a:solidFill>
        </p:spPr>
        <p:txBody>
          <a:bodyPr wrap="square" lIns="0" tIns="0" rIns="0" bIns="0" rtlCol="0"/>
          <a:lstStyle/>
          <a:p>
            <a:endParaRPr sz="2400"/>
          </a:p>
        </p:txBody>
      </p:sp>
      <p:sp>
        <p:nvSpPr>
          <p:cNvPr id="42" name="object 42"/>
          <p:cNvSpPr/>
          <p:nvPr/>
        </p:nvSpPr>
        <p:spPr>
          <a:xfrm>
            <a:off x="4449723" y="5888622"/>
            <a:ext cx="58420" cy="52493"/>
          </a:xfrm>
          <a:custGeom>
            <a:avLst/>
            <a:gdLst/>
            <a:ahLst/>
            <a:cxnLst/>
            <a:rect l="l" t="t" r="r" b="b"/>
            <a:pathLst>
              <a:path w="43814" h="39370">
                <a:moveTo>
                  <a:pt x="0" y="24614"/>
                </a:moveTo>
                <a:lnTo>
                  <a:pt x="43614" y="39233"/>
                </a:lnTo>
                <a:lnTo>
                  <a:pt x="19601" y="0"/>
                </a:lnTo>
                <a:lnTo>
                  <a:pt x="0" y="24614"/>
                </a:lnTo>
                <a:close/>
              </a:path>
            </a:pathLst>
          </a:custGeom>
          <a:ln w="9524">
            <a:solidFill>
              <a:srgbClr val="595959"/>
            </a:solidFill>
          </a:ln>
        </p:spPr>
        <p:txBody>
          <a:bodyPr wrap="square" lIns="0" tIns="0" rIns="0" bIns="0" rtlCol="0"/>
          <a:lstStyle/>
          <a:p>
            <a:endParaRPr sz="2400"/>
          </a:p>
        </p:txBody>
      </p:sp>
      <p:sp>
        <p:nvSpPr>
          <p:cNvPr id="43" name="object 43"/>
          <p:cNvSpPr/>
          <p:nvPr/>
        </p:nvSpPr>
        <p:spPr>
          <a:xfrm>
            <a:off x="5982077" y="4975099"/>
            <a:ext cx="1529927" cy="1242907"/>
          </a:xfrm>
          <a:custGeom>
            <a:avLst/>
            <a:gdLst/>
            <a:ahLst/>
            <a:cxnLst/>
            <a:rect l="l" t="t" r="r" b="b"/>
            <a:pathLst>
              <a:path w="1147445" h="932179">
                <a:moveTo>
                  <a:pt x="1146942" y="0"/>
                </a:moveTo>
                <a:lnTo>
                  <a:pt x="0" y="931764"/>
                </a:lnTo>
              </a:path>
            </a:pathLst>
          </a:custGeom>
          <a:ln w="9524">
            <a:solidFill>
              <a:srgbClr val="595959"/>
            </a:solidFill>
          </a:ln>
        </p:spPr>
        <p:txBody>
          <a:bodyPr wrap="square" lIns="0" tIns="0" rIns="0" bIns="0" rtlCol="0"/>
          <a:lstStyle/>
          <a:p>
            <a:endParaRPr sz="2400"/>
          </a:p>
        </p:txBody>
      </p:sp>
      <p:sp>
        <p:nvSpPr>
          <p:cNvPr id="44" name="object 44"/>
          <p:cNvSpPr/>
          <p:nvPr/>
        </p:nvSpPr>
        <p:spPr>
          <a:xfrm>
            <a:off x="5937343" y="6201171"/>
            <a:ext cx="58420" cy="53340"/>
          </a:xfrm>
          <a:custGeom>
            <a:avLst/>
            <a:gdLst/>
            <a:ahLst/>
            <a:cxnLst/>
            <a:rect l="l" t="t" r="r" b="b"/>
            <a:pathLst>
              <a:path w="43814" h="40004">
                <a:moveTo>
                  <a:pt x="0" y="39466"/>
                </a:moveTo>
                <a:lnTo>
                  <a:pt x="23629" y="0"/>
                </a:lnTo>
                <a:lnTo>
                  <a:pt x="43469" y="24422"/>
                </a:lnTo>
                <a:lnTo>
                  <a:pt x="0" y="39466"/>
                </a:lnTo>
                <a:close/>
              </a:path>
            </a:pathLst>
          </a:custGeom>
          <a:solidFill>
            <a:srgbClr val="595959"/>
          </a:solidFill>
        </p:spPr>
        <p:txBody>
          <a:bodyPr wrap="square" lIns="0" tIns="0" rIns="0" bIns="0" rtlCol="0"/>
          <a:lstStyle/>
          <a:p>
            <a:endParaRPr sz="2400"/>
          </a:p>
        </p:txBody>
      </p:sp>
      <p:sp>
        <p:nvSpPr>
          <p:cNvPr id="45" name="object 45"/>
          <p:cNvSpPr/>
          <p:nvPr/>
        </p:nvSpPr>
        <p:spPr>
          <a:xfrm>
            <a:off x="5937343" y="6201171"/>
            <a:ext cx="58420" cy="53340"/>
          </a:xfrm>
          <a:custGeom>
            <a:avLst/>
            <a:gdLst/>
            <a:ahLst/>
            <a:cxnLst/>
            <a:rect l="l" t="t" r="r" b="b"/>
            <a:pathLst>
              <a:path w="43814" h="40004">
                <a:moveTo>
                  <a:pt x="23629" y="0"/>
                </a:moveTo>
                <a:lnTo>
                  <a:pt x="0" y="39466"/>
                </a:lnTo>
                <a:lnTo>
                  <a:pt x="43469" y="24422"/>
                </a:lnTo>
                <a:lnTo>
                  <a:pt x="23629" y="0"/>
                </a:lnTo>
                <a:close/>
              </a:path>
            </a:pathLst>
          </a:custGeom>
          <a:ln w="9524">
            <a:solidFill>
              <a:srgbClr val="595959"/>
            </a:solidFill>
          </a:ln>
        </p:spPr>
        <p:txBody>
          <a:bodyPr wrap="square" lIns="0" tIns="0" rIns="0" bIns="0" rtlCol="0"/>
          <a:lstStyle/>
          <a:p>
            <a:endParaRPr sz="2400"/>
          </a:p>
        </p:txBody>
      </p:sp>
      <p:sp>
        <p:nvSpPr>
          <p:cNvPr id="46" name="object 46"/>
          <p:cNvSpPr/>
          <p:nvPr/>
        </p:nvSpPr>
        <p:spPr>
          <a:xfrm>
            <a:off x="6473232" y="2070600"/>
            <a:ext cx="1295400" cy="303953"/>
          </a:xfrm>
          <a:custGeom>
            <a:avLst/>
            <a:gdLst/>
            <a:ahLst/>
            <a:cxnLst/>
            <a:rect l="l" t="t" r="r" b="b"/>
            <a:pathLst>
              <a:path w="971550" h="227964">
                <a:moveTo>
                  <a:pt x="0" y="0"/>
                </a:moveTo>
                <a:lnTo>
                  <a:pt x="971260" y="227847"/>
                </a:lnTo>
              </a:path>
            </a:pathLst>
          </a:custGeom>
          <a:ln w="9524">
            <a:solidFill>
              <a:srgbClr val="595959"/>
            </a:solidFill>
          </a:ln>
        </p:spPr>
        <p:txBody>
          <a:bodyPr wrap="square" lIns="0" tIns="0" rIns="0" bIns="0" rtlCol="0"/>
          <a:lstStyle/>
          <a:p>
            <a:endParaRPr sz="2400"/>
          </a:p>
        </p:txBody>
      </p:sp>
      <p:sp>
        <p:nvSpPr>
          <p:cNvPr id="47" name="object 47"/>
          <p:cNvSpPr/>
          <p:nvPr/>
        </p:nvSpPr>
        <p:spPr>
          <a:xfrm>
            <a:off x="7763456" y="2353974"/>
            <a:ext cx="60960" cy="41487"/>
          </a:xfrm>
          <a:custGeom>
            <a:avLst/>
            <a:gdLst/>
            <a:ahLst/>
            <a:cxnLst/>
            <a:rect l="l" t="t" r="r" b="b"/>
            <a:pathLst>
              <a:path w="45720" h="31114">
                <a:moveTo>
                  <a:pt x="0" y="30633"/>
                </a:moveTo>
                <a:lnTo>
                  <a:pt x="7186" y="0"/>
                </a:lnTo>
                <a:lnTo>
                  <a:pt x="45675" y="25188"/>
                </a:lnTo>
                <a:lnTo>
                  <a:pt x="0" y="30633"/>
                </a:lnTo>
                <a:close/>
              </a:path>
            </a:pathLst>
          </a:custGeom>
          <a:solidFill>
            <a:srgbClr val="595959"/>
          </a:solidFill>
        </p:spPr>
        <p:txBody>
          <a:bodyPr wrap="square" lIns="0" tIns="0" rIns="0" bIns="0" rtlCol="0"/>
          <a:lstStyle/>
          <a:p>
            <a:endParaRPr sz="2400"/>
          </a:p>
        </p:txBody>
      </p:sp>
      <p:sp>
        <p:nvSpPr>
          <p:cNvPr id="48" name="object 48"/>
          <p:cNvSpPr/>
          <p:nvPr/>
        </p:nvSpPr>
        <p:spPr>
          <a:xfrm>
            <a:off x="7763456" y="2353974"/>
            <a:ext cx="60960" cy="41487"/>
          </a:xfrm>
          <a:custGeom>
            <a:avLst/>
            <a:gdLst/>
            <a:ahLst/>
            <a:cxnLst/>
            <a:rect l="l" t="t" r="r" b="b"/>
            <a:pathLst>
              <a:path w="45720" h="31114">
                <a:moveTo>
                  <a:pt x="0" y="30633"/>
                </a:moveTo>
                <a:lnTo>
                  <a:pt x="45675" y="25188"/>
                </a:lnTo>
                <a:lnTo>
                  <a:pt x="7186" y="0"/>
                </a:lnTo>
                <a:lnTo>
                  <a:pt x="0" y="30633"/>
                </a:lnTo>
                <a:close/>
              </a:path>
            </a:pathLst>
          </a:custGeom>
          <a:ln w="9524">
            <a:solidFill>
              <a:srgbClr val="595959"/>
            </a:solidFill>
          </a:ln>
        </p:spPr>
        <p:txBody>
          <a:bodyPr wrap="square" lIns="0" tIns="0" rIns="0" bIns="0" rtlCol="0"/>
          <a:lstStyle/>
          <a:p>
            <a:endParaRPr sz="2400"/>
          </a:p>
        </p:txBody>
      </p:sp>
      <p:sp>
        <p:nvSpPr>
          <p:cNvPr id="49" name="object 49"/>
          <p:cNvSpPr/>
          <p:nvPr/>
        </p:nvSpPr>
        <p:spPr>
          <a:xfrm>
            <a:off x="3476066" y="3853066"/>
            <a:ext cx="2591647" cy="1606973"/>
          </a:xfrm>
          <a:custGeom>
            <a:avLst/>
            <a:gdLst/>
            <a:ahLst/>
            <a:cxnLst/>
            <a:rect l="l" t="t" r="r" b="b"/>
            <a:pathLst>
              <a:path w="1943735" h="1205229">
                <a:moveTo>
                  <a:pt x="1742595" y="1204799"/>
                </a:moveTo>
                <a:lnTo>
                  <a:pt x="200804" y="1204799"/>
                </a:lnTo>
                <a:lnTo>
                  <a:pt x="154761" y="1199496"/>
                </a:lnTo>
                <a:lnTo>
                  <a:pt x="112495" y="1184390"/>
                </a:lnTo>
                <a:lnTo>
                  <a:pt x="75211" y="1160685"/>
                </a:lnTo>
                <a:lnTo>
                  <a:pt x="44114" y="1129588"/>
                </a:lnTo>
                <a:lnTo>
                  <a:pt x="20409" y="1092304"/>
                </a:lnTo>
                <a:lnTo>
                  <a:pt x="5303" y="1050038"/>
                </a:lnTo>
                <a:lnTo>
                  <a:pt x="0" y="1003995"/>
                </a:lnTo>
                <a:lnTo>
                  <a:pt x="0" y="200804"/>
                </a:lnTo>
                <a:lnTo>
                  <a:pt x="5303" y="154761"/>
                </a:lnTo>
                <a:lnTo>
                  <a:pt x="20409" y="112495"/>
                </a:lnTo>
                <a:lnTo>
                  <a:pt x="44114" y="75211"/>
                </a:lnTo>
                <a:lnTo>
                  <a:pt x="75211" y="44114"/>
                </a:lnTo>
                <a:lnTo>
                  <a:pt x="112495" y="20409"/>
                </a:lnTo>
                <a:lnTo>
                  <a:pt x="154761" y="5303"/>
                </a:lnTo>
                <a:lnTo>
                  <a:pt x="200804" y="0"/>
                </a:lnTo>
                <a:lnTo>
                  <a:pt x="1742595" y="0"/>
                </a:lnTo>
                <a:lnTo>
                  <a:pt x="1781953" y="3894"/>
                </a:lnTo>
                <a:lnTo>
                  <a:pt x="1819440" y="15285"/>
                </a:lnTo>
                <a:lnTo>
                  <a:pt x="1854002" y="33737"/>
                </a:lnTo>
                <a:lnTo>
                  <a:pt x="1884585" y="58813"/>
                </a:lnTo>
                <a:lnTo>
                  <a:pt x="1909662" y="89397"/>
                </a:lnTo>
                <a:lnTo>
                  <a:pt x="1928114" y="123959"/>
                </a:lnTo>
                <a:lnTo>
                  <a:pt x="1939505" y="161446"/>
                </a:lnTo>
                <a:lnTo>
                  <a:pt x="1943399" y="200804"/>
                </a:lnTo>
                <a:lnTo>
                  <a:pt x="1943399" y="1003995"/>
                </a:lnTo>
                <a:lnTo>
                  <a:pt x="1938096" y="1050038"/>
                </a:lnTo>
                <a:lnTo>
                  <a:pt x="1922990" y="1092304"/>
                </a:lnTo>
                <a:lnTo>
                  <a:pt x="1899285" y="1129588"/>
                </a:lnTo>
                <a:lnTo>
                  <a:pt x="1868188" y="1160685"/>
                </a:lnTo>
                <a:lnTo>
                  <a:pt x="1830904" y="1184390"/>
                </a:lnTo>
                <a:lnTo>
                  <a:pt x="1788638" y="1199496"/>
                </a:lnTo>
                <a:lnTo>
                  <a:pt x="1742595" y="1204799"/>
                </a:lnTo>
                <a:close/>
              </a:path>
            </a:pathLst>
          </a:custGeom>
          <a:solidFill>
            <a:srgbClr val="EEEEEE"/>
          </a:solidFill>
        </p:spPr>
        <p:txBody>
          <a:bodyPr wrap="square" lIns="0" tIns="0" rIns="0" bIns="0" rtlCol="0"/>
          <a:lstStyle/>
          <a:p>
            <a:endParaRPr sz="2400"/>
          </a:p>
        </p:txBody>
      </p:sp>
      <p:sp>
        <p:nvSpPr>
          <p:cNvPr id="50" name="object 50"/>
          <p:cNvSpPr/>
          <p:nvPr/>
        </p:nvSpPr>
        <p:spPr>
          <a:xfrm>
            <a:off x="3476066" y="3853066"/>
            <a:ext cx="2591647" cy="1606973"/>
          </a:xfrm>
          <a:custGeom>
            <a:avLst/>
            <a:gdLst/>
            <a:ahLst/>
            <a:cxnLst/>
            <a:rect l="l" t="t" r="r" b="b"/>
            <a:pathLst>
              <a:path w="1943735" h="1205229">
                <a:moveTo>
                  <a:pt x="0" y="200804"/>
                </a:moveTo>
                <a:lnTo>
                  <a:pt x="5303" y="154761"/>
                </a:lnTo>
                <a:lnTo>
                  <a:pt x="20409" y="112495"/>
                </a:lnTo>
                <a:lnTo>
                  <a:pt x="44114" y="75211"/>
                </a:lnTo>
                <a:lnTo>
                  <a:pt x="75211" y="44114"/>
                </a:lnTo>
                <a:lnTo>
                  <a:pt x="112495" y="20409"/>
                </a:lnTo>
                <a:lnTo>
                  <a:pt x="154761" y="5303"/>
                </a:lnTo>
                <a:lnTo>
                  <a:pt x="200804" y="0"/>
                </a:lnTo>
                <a:lnTo>
                  <a:pt x="1742595" y="0"/>
                </a:lnTo>
                <a:lnTo>
                  <a:pt x="1781953" y="3894"/>
                </a:lnTo>
                <a:lnTo>
                  <a:pt x="1819440" y="15285"/>
                </a:lnTo>
                <a:lnTo>
                  <a:pt x="1854002" y="33737"/>
                </a:lnTo>
                <a:lnTo>
                  <a:pt x="1884585" y="58813"/>
                </a:lnTo>
                <a:lnTo>
                  <a:pt x="1909662" y="89397"/>
                </a:lnTo>
                <a:lnTo>
                  <a:pt x="1928114" y="123959"/>
                </a:lnTo>
                <a:lnTo>
                  <a:pt x="1939505" y="161446"/>
                </a:lnTo>
                <a:lnTo>
                  <a:pt x="1943399" y="200804"/>
                </a:lnTo>
                <a:lnTo>
                  <a:pt x="1943399" y="1003995"/>
                </a:lnTo>
                <a:lnTo>
                  <a:pt x="1938096" y="1050038"/>
                </a:lnTo>
                <a:lnTo>
                  <a:pt x="1922990" y="1092304"/>
                </a:lnTo>
                <a:lnTo>
                  <a:pt x="1899285" y="1129588"/>
                </a:lnTo>
                <a:lnTo>
                  <a:pt x="1868188" y="1160685"/>
                </a:lnTo>
                <a:lnTo>
                  <a:pt x="1830904" y="1184390"/>
                </a:lnTo>
                <a:lnTo>
                  <a:pt x="1788638" y="1199496"/>
                </a:lnTo>
                <a:lnTo>
                  <a:pt x="1742595" y="1204799"/>
                </a:lnTo>
                <a:lnTo>
                  <a:pt x="200804" y="1204799"/>
                </a:lnTo>
                <a:lnTo>
                  <a:pt x="154761" y="1199496"/>
                </a:lnTo>
                <a:lnTo>
                  <a:pt x="112495" y="1184390"/>
                </a:lnTo>
                <a:lnTo>
                  <a:pt x="75211" y="1160685"/>
                </a:lnTo>
                <a:lnTo>
                  <a:pt x="44114" y="1129588"/>
                </a:lnTo>
                <a:lnTo>
                  <a:pt x="20409" y="1092304"/>
                </a:lnTo>
                <a:lnTo>
                  <a:pt x="5303" y="1050038"/>
                </a:lnTo>
                <a:lnTo>
                  <a:pt x="0" y="1003995"/>
                </a:lnTo>
                <a:lnTo>
                  <a:pt x="0" y="200804"/>
                </a:lnTo>
                <a:close/>
              </a:path>
            </a:pathLst>
          </a:custGeom>
          <a:ln w="9524">
            <a:solidFill>
              <a:srgbClr val="595959"/>
            </a:solidFill>
          </a:ln>
        </p:spPr>
        <p:txBody>
          <a:bodyPr wrap="square" lIns="0" tIns="0" rIns="0" bIns="0" rtlCol="0"/>
          <a:lstStyle/>
          <a:p>
            <a:endParaRPr sz="2400"/>
          </a:p>
        </p:txBody>
      </p:sp>
      <p:sp>
        <p:nvSpPr>
          <p:cNvPr id="51" name="object 51"/>
          <p:cNvSpPr txBox="1"/>
          <p:nvPr/>
        </p:nvSpPr>
        <p:spPr>
          <a:xfrm>
            <a:off x="3651852" y="4019369"/>
            <a:ext cx="2168313"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melee_shooty_guy</a:t>
            </a:r>
            <a:endParaRPr sz="1867">
              <a:latin typeface="Arial"/>
              <a:cs typeface="Arial"/>
            </a:endParaRPr>
          </a:p>
        </p:txBody>
      </p:sp>
      <p:sp>
        <p:nvSpPr>
          <p:cNvPr id="52" name="object 52"/>
          <p:cNvSpPr txBox="1"/>
          <p:nvPr/>
        </p:nvSpPr>
        <p:spPr>
          <a:xfrm>
            <a:off x="3651851" y="4578168"/>
            <a:ext cx="1681480" cy="877163"/>
          </a:xfrm>
          <a:prstGeom prst="rect">
            <a:avLst/>
          </a:prstGeom>
        </p:spPr>
        <p:txBody>
          <a:bodyPr vert="horz" wrap="square" lIns="0" tIns="30480" rIns="0" bIns="0" rtlCol="0">
            <a:spAutoFit/>
          </a:bodyPr>
          <a:lstStyle/>
          <a:p>
            <a:pPr marL="16933" marR="6773">
              <a:lnSpc>
                <a:spcPts val="2200"/>
              </a:lnSpc>
              <a:spcBef>
                <a:spcPts val="240"/>
              </a:spcBef>
            </a:pPr>
            <a:r>
              <a:rPr sz="1867" dirty="0">
                <a:latin typeface="Arial"/>
                <a:cs typeface="Arial"/>
              </a:rPr>
              <a:t>chase_ai  </a:t>
            </a:r>
            <a:r>
              <a:rPr sz="1867" spc="-7" dirty="0">
                <a:latin typeface="Arial"/>
                <a:cs typeface="Arial"/>
              </a:rPr>
              <a:t>damage_ahead  </a:t>
            </a:r>
            <a:r>
              <a:rPr sz="1867" dirty="0">
                <a:latin typeface="Arial"/>
                <a:cs typeface="Arial"/>
              </a:rPr>
              <a:t>shoot_bullet</a:t>
            </a:r>
            <a:endParaRPr sz="1867">
              <a:latin typeface="Arial"/>
              <a:cs typeface="Arial"/>
            </a:endParaRPr>
          </a:p>
        </p:txBody>
      </p:sp>
      <p:sp>
        <p:nvSpPr>
          <p:cNvPr id="53" name="object 53"/>
          <p:cNvSpPr/>
          <p:nvPr/>
        </p:nvSpPr>
        <p:spPr>
          <a:xfrm>
            <a:off x="4840607" y="2391700"/>
            <a:ext cx="3002280" cy="1429173"/>
          </a:xfrm>
          <a:custGeom>
            <a:avLst/>
            <a:gdLst/>
            <a:ahLst/>
            <a:cxnLst/>
            <a:rect l="l" t="t" r="r" b="b"/>
            <a:pathLst>
              <a:path w="2251710" h="1071880">
                <a:moveTo>
                  <a:pt x="2251494" y="0"/>
                </a:moveTo>
                <a:lnTo>
                  <a:pt x="0" y="1071344"/>
                </a:lnTo>
              </a:path>
            </a:pathLst>
          </a:custGeom>
          <a:ln w="9524">
            <a:solidFill>
              <a:srgbClr val="595959"/>
            </a:solidFill>
          </a:ln>
        </p:spPr>
        <p:txBody>
          <a:bodyPr wrap="square" lIns="0" tIns="0" rIns="0" bIns="0" rtlCol="0"/>
          <a:lstStyle/>
          <a:p>
            <a:endParaRPr sz="2400"/>
          </a:p>
        </p:txBody>
      </p:sp>
      <p:sp>
        <p:nvSpPr>
          <p:cNvPr id="54" name="object 54"/>
          <p:cNvSpPr/>
          <p:nvPr/>
        </p:nvSpPr>
        <p:spPr>
          <a:xfrm>
            <a:off x="4788565" y="3801216"/>
            <a:ext cx="61807" cy="44027"/>
          </a:xfrm>
          <a:custGeom>
            <a:avLst/>
            <a:gdLst/>
            <a:ahLst/>
            <a:cxnLst/>
            <a:rect l="l" t="t" r="r" b="b"/>
            <a:pathLst>
              <a:path w="46354" h="33019">
                <a:moveTo>
                  <a:pt x="0" y="32779"/>
                </a:moveTo>
                <a:lnTo>
                  <a:pt x="32271" y="0"/>
                </a:lnTo>
                <a:lnTo>
                  <a:pt x="45791" y="28412"/>
                </a:lnTo>
                <a:lnTo>
                  <a:pt x="0" y="32779"/>
                </a:lnTo>
                <a:close/>
              </a:path>
            </a:pathLst>
          </a:custGeom>
          <a:solidFill>
            <a:srgbClr val="595959"/>
          </a:solidFill>
        </p:spPr>
        <p:txBody>
          <a:bodyPr wrap="square" lIns="0" tIns="0" rIns="0" bIns="0" rtlCol="0"/>
          <a:lstStyle/>
          <a:p>
            <a:endParaRPr sz="2400"/>
          </a:p>
        </p:txBody>
      </p:sp>
      <p:sp>
        <p:nvSpPr>
          <p:cNvPr id="55" name="object 55"/>
          <p:cNvSpPr/>
          <p:nvPr/>
        </p:nvSpPr>
        <p:spPr>
          <a:xfrm>
            <a:off x="4788565" y="3801216"/>
            <a:ext cx="61807" cy="44027"/>
          </a:xfrm>
          <a:custGeom>
            <a:avLst/>
            <a:gdLst/>
            <a:ahLst/>
            <a:cxnLst/>
            <a:rect l="l" t="t" r="r" b="b"/>
            <a:pathLst>
              <a:path w="46354" h="33019">
                <a:moveTo>
                  <a:pt x="32271" y="0"/>
                </a:moveTo>
                <a:lnTo>
                  <a:pt x="0" y="32779"/>
                </a:lnTo>
                <a:lnTo>
                  <a:pt x="45791" y="28412"/>
                </a:lnTo>
                <a:lnTo>
                  <a:pt x="32271" y="0"/>
                </a:lnTo>
                <a:close/>
              </a:path>
            </a:pathLst>
          </a:custGeom>
          <a:ln w="9524">
            <a:solidFill>
              <a:srgbClr val="595959"/>
            </a:solidFill>
          </a:ln>
        </p:spPr>
        <p:txBody>
          <a:bodyPr wrap="square" lIns="0" tIns="0" rIns="0" bIns="0" rtlCol="0"/>
          <a:lstStyle/>
          <a:p>
            <a:endParaRPr sz="2400"/>
          </a:p>
        </p:txBody>
      </p:sp>
    </p:spTree>
    <p:extLst>
      <p:ext uri="{BB962C8B-B14F-4D97-AF65-F5344CB8AC3E}">
        <p14:creationId xmlns:p14="http://schemas.microsoft.com/office/powerpoint/2010/main" val="1467863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521970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Other potential</a:t>
            </a:r>
            <a:r>
              <a:rPr sz="3733" spc="-127" dirty="0"/>
              <a:t> </a:t>
            </a:r>
            <a:r>
              <a:rPr sz="3733" spc="-7" dirty="0"/>
              <a:t>problems</a:t>
            </a:r>
            <a:endParaRPr sz="3733"/>
          </a:p>
        </p:txBody>
      </p:sp>
      <p:sp>
        <p:nvSpPr>
          <p:cNvPr id="3" name="object 3"/>
          <p:cNvSpPr txBox="1"/>
          <p:nvPr/>
        </p:nvSpPr>
        <p:spPr>
          <a:xfrm>
            <a:off x="674658" y="1578798"/>
            <a:ext cx="4917439" cy="4659203"/>
          </a:xfrm>
          <a:prstGeom prst="rect">
            <a:avLst/>
          </a:prstGeom>
        </p:spPr>
        <p:txBody>
          <a:bodyPr vert="horz" wrap="square" lIns="0" tIns="16933" rIns="0" bIns="0" rtlCol="0">
            <a:spAutoFit/>
          </a:bodyPr>
          <a:lstStyle/>
          <a:p>
            <a:pPr marL="464808" marR="143930" indent="-447875">
              <a:lnSpc>
                <a:spcPct val="116100"/>
              </a:lnSpc>
              <a:spcBef>
                <a:spcPts val="133"/>
              </a:spcBef>
              <a:buChar char="●"/>
              <a:tabLst>
                <a:tab pos="463962" algn="l"/>
                <a:tab pos="465655" algn="l"/>
              </a:tabLst>
            </a:pPr>
            <a:r>
              <a:rPr sz="1867" spc="-7" dirty="0">
                <a:solidFill>
                  <a:srgbClr val="595959"/>
                </a:solidFill>
                <a:latin typeface="Arial"/>
                <a:cs typeface="Arial"/>
              </a:rPr>
              <a:t>Functionality tends to drift upwards in the  hierarchy. Or duplicated in leaf</a:t>
            </a:r>
            <a:r>
              <a:rPr sz="1867" spc="-53" dirty="0">
                <a:solidFill>
                  <a:srgbClr val="595959"/>
                </a:solidFill>
                <a:latin typeface="Arial"/>
                <a:cs typeface="Arial"/>
              </a:rPr>
              <a:t> </a:t>
            </a:r>
            <a:r>
              <a:rPr sz="1867" spc="-7" dirty="0">
                <a:solidFill>
                  <a:srgbClr val="595959"/>
                </a:solidFill>
                <a:latin typeface="Arial"/>
                <a:cs typeface="Arial"/>
              </a:rPr>
              <a:t>types.</a:t>
            </a:r>
            <a:endParaRPr sz="1867">
              <a:latin typeface="Arial"/>
              <a:cs typeface="Arial"/>
            </a:endParaRPr>
          </a:p>
          <a:p>
            <a:pPr marL="1074393" marR="154089" lvl="1" indent="-427556">
              <a:lnSpc>
                <a:spcPct val="114599"/>
              </a:lnSpc>
              <a:spcBef>
                <a:spcPts val="87"/>
              </a:spcBef>
              <a:buChar char="○"/>
              <a:tabLst>
                <a:tab pos="1073546" algn="l"/>
                <a:tab pos="1075240" algn="l"/>
              </a:tabLst>
            </a:pPr>
            <a:r>
              <a:rPr sz="1600" spc="-7" dirty="0">
                <a:solidFill>
                  <a:srgbClr val="595959"/>
                </a:solidFill>
                <a:latin typeface="Arial"/>
                <a:cs typeface="Arial"/>
              </a:rPr>
              <a:t>Turns out it’s needed in places </a:t>
            </a:r>
            <a:r>
              <a:rPr sz="1600" dirty="0">
                <a:solidFill>
                  <a:srgbClr val="595959"/>
                </a:solidFill>
                <a:latin typeface="Arial"/>
                <a:cs typeface="Arial"/>
              </a:rPr>
              <a:t>you </a:t>
            </a:r>
            <a:r>
              <a:rPr sz="1600" spc="-7" dirty="0">
                <a:solidFill>
                  <a:srgbClr val="595959"/>
                </a:solidFill>
                <a:latin typeface="Arial"/>
                <a:cs typeface="Arial"/>
              </a:rPr>
              <a:t>didn’t  anticipate!</a:t>
            </a:r>
            <a:endParaRPr sz="1600">
              <a:latin typeface="Arial"/>
              <a:cs typeface="Arial"/>
            </a:endParaRPr>
          </a:p>
          <a:p>
            <a:pPr marL="464808" marR="6773" indent="-447875">
              <a:lnSpc>
                <a:spcPts val="2600"/>
              </a:lnSpc>
              <a:spcBef>
                <a:spcPts val="60"/>
              </a:spcBef>
              <a:buChar char="●"/>
              <a:tabLst>
                <a:tab pos="463962" algn="l"/>
                <a:tab pos="465655" algn="l"/>
              </a:tabLst>
            </a:pPr>
            <a:r>
              <a:rPr sz="1867" spc="-7" dirty="0">
                <a:solidFill>
                  <a:srgbClr val="595959"/>
                </a:solidFill>
                <a:latin typeface="Arial"/>
                <a:cs typeface="Arial"/>
              </a:rPr>
              <a:t>Need to understand the entire hierarchy to  </a:t>
            </a:r>
            <a:r>
              <a:rPr sz="1867" dirty="0">
                <a:solidFill>
                  <a:srgbClr val="595959"/>
                </a:solidFill>
                <a:latin typeface="Arial"/>
                <a:cs typeface="Arial"/>
              </a:rPr>
              <a:t>make changes </a:t>
            </a:r>
            <a:r>
              <a:rPr sz="1867" spc="-7" dirty="0">
                <a:solidFill>
                  <a:srgbClr val="595959"/>
                </a:solidFill>
                <a:latin typeface="Arial"/>
                <a:cs typeface="Arial"/>
              </a:rPr>
              <a:t>to </a:t>
            </a:r>
            <a:r>
              <a:rPr sz="1867" dirty="0">
                <a:solidFill>
                  <a:srgbClr val="595959"/>
                </a:solidFill>
                <a:latin typeface="Arial"/>
                <a:cs typeface="Arial"/>
              </a:rPr>
              <a:t>virtual</a:t>
            </a:r>
            <a:r>
              <a:rPr sz="1867" spc="-53" dirty="0">
                <a:solidFill>
                  <a:srgbClr val="595959"/>
                </a:solidFill>
                <a:latin typeface="Arial"/>
                <a:cs typeface="Arial"/>
              </a:rPr>
              <a:t> </a:t>
            </a:r>
            <a:r>
              <a:rPr sz="1867" dirty="0">
                <a:solidFill>
                  <a:srgbClr val="595959"/>
                </a:solidFill>
                <a:latin typeface="Arial"/>
                <a:cs typeface="Arial"/>
              </a:rPr>
              <a:t>methods.</a:t>
            </a:r>
            <a:endParaRPr sz="1867">
              <a:latin typeface="Arial"/>
              <a:cs typeface="Arial"/>
            </a:endParaRPr>
          </a:p>
          <a:p>
            <a:pPr marL="1074393" lvl="1" indent="-427556">
              <a:spcBef>
                <a:spcPts val="220"/>
              </a:spcBef>
              <a:buChar char="○"/>
              <a:tabLst>
                <a:tab pos="1073546" algn="l"/>
                <a:tab pos="1075240" algn="l"/>
              </a:tabLst>
            </a:pPr>
            <a:r>
              <a:rPr sz="1600" spc="-7" dirty="0">
                <a:solidFill>
                  <a:srgbClr val="595959"/>
                </a:solidFill>
                <a:latin typeface="Arial"/>
                <a:cs typeface="Arial"/>
              </a:rPr>
              <a:t>That goes for both</a:t>
            </a:r>
            <a:r>
              <a:rPr sz="1600" spc="-27" dirty="0">
                <a:solidFill>
                  <a:srgbClr val="595959"/>
                </a:solidFill>
                <a:latin typeface="Arial"/>
                <a:cs typeface="Arial"/>
              </a:rPr>
              <a:t> </a:t>
            </a:r>
            <a:r>
              <a:rPr sz="1600" spc="-7" dirty="0">
                <a:solidFill>
                  <a:srgbClr val="595959"/>
                </a:solidFill>
                <a:latin typeface="Arial"/>
                <a:cs typeface="Arial"/>
              </a:rPr>
              <a:t>directions!</a:t>
            </a:r>
            <a:endParaRPr sz="1600">
              <a:latin typeface="Arial"/>
              <a:cs typeface="Arial"/>
            </a:endParaRPr>
          </a:p>
          <a:p>
            <a:pPr marL="464808" indent="-447875">
              <a:spcBef>
                <a:spcPts val="272"/>
              </a:spcBef>
              <a:buChar char="●"/>
              <a:tabLst>
                <a:tab pos="463962" algn="l"/>
                <a:tab pos="465655" algn="l"/>
              </a:tabLst>
            </a:pPr>
            <a:r>
              <a:rPr sz="1867" spc="-7" dirty="0">
                <a:solidFill>
                  <a:srgbClr val="595959"/>
                </a:solidFill>
                <a:latin typeface="Arial"/>
                <a:cs typeface="Arial"/>
              </a:rPr>
              <a:t>Difficult to</a:t>
            </a:r>
            <a:r>
              <a:rPr sz="1867" spc="-13" dirty="0">
                <a:solidFill>
                  <a:srgbClr val="595959"/>
                </a:solidFill>
                <a:latin typeface="Arial"/>
                <a:cs typeface="Arial"/>
              </a:rPr>
              <a:t> </a:t>
            </a:r>
            <a:r>
              <a:rPr sz="1867" spc="-7" dirty="0">
                <a:solidFill>
                  <a:srgbClr val="595959"/>
                </a:solidFill>
                <a:latin typeface="Arial"/>
                <a:cs typeface="Arial"/>
              </a:rPr>
              <a:t>parallelize.</a:t>
            </a:r>
            <a:endParaRPr sz="1867">
              <a:latin typeface="Arial"/>
              <a:cs typeface="Arial"/>
            </a:endParaRPr>
          </a:p>
          <a:p>
            <a:pPr marL="1074393" marR="110064" lvl="1" indent="-427556">
              <a:lnSpc>
                <a:spcPct val="114599"/>
              </a:lnSpc>
              <a:spcBef>
                <a:spcPts val="87"/>
              </a:spcBef>
              <a:buChar char="○"/>
              <a:tabLst>
                <a:tab pos="1073546" algn="l"/>
                <a:tab pos="1075240" algn="l"/>
              </a:tabLst>
            </a:pPr>
            <a:r>
              <a:rPr sz="1600" spc="-7" dirty="0">
                <a:solidFill>
                  <a:srgbClr val="595959"/>
                </a:solidFill>
                <a:latin typeface="Arial"/>
                <a:cs typeface="Arial"/>
              </a:rPr>
              <a:t>When </a:t>
            </a:r>
            <a:r>
              <a:rPr sz="1600" dirty="0">
                <a:solidFill>
                  <a:srgbClr val="595959"/>
                </a:solidFill>
                <a:latin typeface="Arial"/>
                <a:cs typeface="Arial"/>
              </a:rPr>
              <a:t>you call </a:t>
            </a:r>
            <a:r>
              <a:rPr sz="1600" i="1" spc="-7" dirty="0">
                <a:solidFill>
                  <a:srgbClr val="595959"/>
                </a:solidFill>
                <a:latin typeface="Arial"/>
                <a:cs typeface="Arial"/>
              </a:rPr>
              <a:t>update </a:t>
            </a:r>
            <a:r>
              <a:rPr sz="1600" spc="-7" dirty="0">
                <a:solidFill>
                  <a:srgbClr val="595959"/>
                </a:solidFill>
                <a:latin typeface="Arial"/>
                <a:cs typeface="Arial"/>
              </a:rPr>
              <a:t>that </a:t>
            </a:r>
            <a:r>
              <a:rPr sz="1600" dirty="0">
                <a:solidFill>
                  <a:srgbClr val="595959"/>
                </a:solidFill>
                <a:latin typeface="Arial"/>
                <a:cs typeface="Arial"/>
              </a:rPr>
              <a:t>means  </a:t>
            </a:r>
            <a:r>
              <a:rPr sz="1600" i="1" spc="-7" dirty="0">
                <a:solidFill>
                  <a:srgbClr val="595959"/>
                </a:solidFill>
                <a:latin typeface="Arial"/>
                <a:cs typeface="Arial"/>
              </a:rPr>
              <a:t>everything </a:t>
            </a:r>
            <a:r>
              <a:rPr sz="1600" spc="-7" dirty="0">
                <a:solidFill>
                  <a:srgbClr val="595959"/>
                </a:solidFill>
                <a:latin typeface="Arial"/>
                <a:cs typeface="Arial"/>
              </a:rPr>
              <a:t>is going to update. Probably in  </a:t>
            </a:r>
            <a:r>
              <a:rPr sz="1600" dirty="0">
                <a:solidFill>
                  <a:srgbClr val="595959"/>
                </a:solidFill>
                <a:latin typeface="Arial"/>
                <a:cs typeface="Arial"/>
              </a:rPr>
              <a:t>a random</a:t>
            </a:r>
            <a:r>
              <a:rPr sz="1600" spc="-20" dirty="0">
                <a:solidFill>
                  <a:srgbClr val="595959"/>
                </a:solidFill>
                <a:latin typeface="Arial"/>
                <a:cs typeface="Arial"/>
              </a:rPr>
              <a:t> </a:t>
            </a:r>
            <a:r>
              <a:rPr sz="1600" spc="-7" dirty="0">
                <a:solidFill>
                  <a:srgbClr val="595959"/>
                </a:solidFill>
                <a:latin typeface="Arial"/>
                <a:cs typeface="Arial"/>
              </a:rPr>
              <a:t>order.</a:t>
            </a:r>
            <a:endParaRPr sz="1600">
              <a:latin typeface="Arial"/>
              <a:cs typeface="Arial"/>
            </a:endParaRPr>
          </a:p>
          <a:p>
            <a:pPr marL="464808" marR="966869" indent="-447875">
              <a:lnSpc>
                <a:spcPts val="2600"/>
              </a:lnSpc>
              <a:spcBef>
                <a:spcPts val="60"/>
              </a:spcBef>
              <a:buChar char="●"/>
              <a:tabLst>
                <a:tab pos="463962" algn="l"/>
                <a:tab pos="465655" algn="l"/>
              </a:tabLst>
            </a:pPr>
            <a:r>
              <a:rPr sz="1867" spc="-7" dirty="0">
                <a:solidFill>
                  <a:srgbClr val="595959"/>
                </a:solidFill>
                <a:latin typeface="Arial"/>
                <a:cs typeface="Arial"/>
              </a:rPr>
              <a:t>Lots of </a:t>
            </a:r>
            <a:r>
              <a:rPr sz="1867" dirty="0">
                <a:solidFill>
                  <a:srgbClr val="595959"/>
                </a:solidFill>
                <a:latin typeface="Arial"/>
                <a:cs typeface="Arial"/>
              </a:rPr>
              <a:t>virtual </a:t>
            </a:r>
            <a:r>
              <a:rPr sz="1867" spc="-7" dirty="0">
                <a:solidFill>
                  <a:srgbClr val="595959"/>
                </a:solidFill>
                <a:latin typeface="Arial"/>
                <a:cs typeface="Arial"/>
              </a:rPr>
              <a:t>dispatch is poor for  performance.</a:t>
            </a:r>
            <a:endParaRPr sz="1867">
              <a:latin typeface="Arial"/>
              <a:cs typeface="Arial"/>
            </a:endParaRPr>
          </a:p>
          <a:p>
            <a:pPr marL="1074393" marR="62652" lvl="1" indent="-427556">
              <a:lnSpc>
                <a:spcPts val="2200"/>
              </a:lnSpc>
              <a:spcBef>
                <a:spcPts val="60"/>
              </a:spcBef>
              <a:buChar char="○"/>
              <a:tabLst>
                <a:tab pos="1073546" algn="l"/>
                <a:tab pos="1075240" algn="l"/>
              </a:tabLst>
            </a:pPr>
            <a:r>
              <a:rPr sz="1600" spc="-7" dirty="0">
                <a:solidFill>
                  <a:srgbClr val="595959"/>
                </a:solidFill>
                <a:latin typeface="Arial"/>
                <a:cs typeface="Arial"/>
              </a:rPr>
              <a:t>Constantly jumping to </a:t>
            </a:r>
            <a:r>
              <a:rPr sz="1600" dirty="0">
                <a:solidFill>
                  <a:srgbClr val="595959"/>
                </a:solidFill>
                <a:latin typeface="Arial"/>
                <a:cs typeface="Arial"/>
              </a:rPr>
              <a:t>random </a:t>
            </a:r>
            <a:r>
              <a:rPr sz="1600" spc="-7" dirty="0">
                <a:solidFill>
                  <a:srgbClr val="595959"/>
                </a:solidFill>
                <a:latin typeface="Arial"/>
                <a:cs typeface="Arial"/>
              </a:rPr>
              <a:t>locations in  </a:t>
            </a:r>
            <a:r>
              <a:rPr sz="1600" dirty="0">
                <a:solidFill>
                  <a:srgbClr val="595959"/>
                </a:solidFill>
                <a:latin typeface="Arial"/>
                <a:cs typeface="Arial"/>
              </a:rPr>
              <a:t>memory.</a:t>
            </a:r>
            <a:endParaRPr sz="1600">
              <a:latin typeface="Arial"/>
              <a:cs typeface="Arial"/>
            </a:endParaRPr>
          </a:p>
        </p:txBody>
      </p:sp>
    </p:spTree>
    <p:extLst>
      <p:ext uri="{BB962C8B-B14F-4D97-AF65-F5344CB8AC3E}">
        <p14:creationId xmlns:p14="http://schemas.microsoft.com/office/powerpoint/2010/main" val="580248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03436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It </a:t>
            </a:r>
            <a:r>
              <a:rPr sz="3733" dirty="0"/>
              <a:t>can </a:t>
            </a:r>
            <a:r>
              <a:rPr sz="3733" spc="-7" dirty="0"/>
              <a:t>work</a:t>
            </a:r>
            <a:r>
              <a:rPr sz="3733" spc="-133" dirty="0"/>
              <a:t> </a:t>
            </a:r>
            <a:r>
              <a:rPr sz="3733" spc="-7" dirty="0"/>
              <a:t>though!</a:t>
            </a:r>
            <a:endParaRPr sz="3733"/>
          </a:p>
        </p:txBody>
      </p:sp>
      <p:sp>
        <p:nvSpPr>
          <p:cNvPr id="3" name="object 3"/>
          <p:cNvSpPr txBox="1"/>
          <p:nvPr/>
        </p:nvSpPr>
        <p:spPr>
          <a:xfrm>
            <a:off x="512967" y="1600641"/>
            <a:ext cx="1826260" cy="4435487"/>
          </a:xfrm>
          <a:prstGeom prst="rect">
            <a:avLst/>
          </a:prstGeom>
        </p:spPr>
        <p:txBody>
          <a:bodyPr vert="horz" wrap="square" lIns="0" tIns="16933" rIns="0" bIns="0" rtlCol="0">
            <a:spAutoFit/>
          </a:bodyPr>
          <a:lstStyle/>
          <a:p>
            <a:pPr marL="16933" marR="6773">
              <a:lnSpc>
                <a:spcPct val="117200"/>
              </a:lnSpc>
              <a:spcBef>
                <a:spcPts val="133"/>
              </a:spcBef>
            </a:pPr>
            <a:r>
              <a:rPr sz="1067" spc="-7" dirty="0">
                <a:solidFill>
                  <a:srgbClr val="595959"/>
                </a:solidFill>
                <a:latin typeface="Arial"/>
                <a:cs typeface="Arial"/>
              </a:rPr>
              <a:t>ai_ally_managerai_battle_line  ai_changehintgroup  ai_changetarget  ai_citizen_response_system  ai_goal_actbusy  ai_goal_actbusy queue  ai_goal_assault  ai_goal_follow</a:t>
            </a:r>
            <a:endParaRPr sz="1067">
              <a:latin typeface="Arial"/>
              <a:cs typeface="Arial"/>
            </a:endParaRPr>
          </a:p>
          <a:p>
            <a:pPr marL="16933" marR="503754">
              <a:lnSpc>
                <a:spcPct val="117200"/>
              </a:lnSpc>
            </a:pPr>
            <a:r>
              <a:rPr sz="1067" spc="-7" dirty="0">
                <a:solidFill>
                  <a:srgbClr val="595959"/>
                </a:solidFill>
                <a:latin typeface="Arial"/>
                <a:cs typeface="Arial"/>
              </a:rPr>
              <a:t>ai_goal_lead  ai_goal_lead weapon  ai_goal_police  ai_goal_standoff  ai_relationship  ai_script_conditions  ai_sound  ai_speechfilter  aiscripted_schedule  assault_assaultpoint  assault_rallypoint  info_apc_missile_hint  info_node  info_node_air  info_node_air</a:t>
            </a:r>
            <a:r>
              <a:rPr sz="1067" spc="-27" dirty="0">
                <a:solidFill>
                  <a:srgbClr val="595959"/>
                </a:solidFill>
                <a:latin typeface="Arial"/>
                <a:cs typeface="Arial"/>
              </a:rPr>
              <a:t> </a:t>
            </a:r>
            <a:r>
              <a:rPr sz="1067" spc="-7" dirty="0">
                <a:solidFill>
                  <a:srgbClr val="595959"/>
                </a:solidFill>
                <a:latin typeface="Arial"/>
                <a:cs typeface="Arial"/>
              </a:rPr>
              <a:t>hint</a:t>
            </a:r>
            <a:endParaRPr sz="1067">
              <a:latin typeface="Arial"/>
              <a:cs typeface="Arial"/>
            </a:endParaRPr>
          </a:p>
        </p:txBody>
      </p:sp>
      <p:sp>
        <p:nvSpPr>
          <p:cNvPr id="4" name="object 4"/>
          <p:cNvSpPr txBox="1"/>
          <p:nvPr/>
        </p:nvSpPr>
        <p:spPr>
          <a:xfrm>
            <a:off x="3474200" y="1600640"/>
            <a:ext cx="1735667" cy="4435487"/>
          </a:xfrm>
          <a:prstGeom prst="rect">
            <a:avLst/>
          </a:prstGeom>
        </p:spPr>
        <p:txBody>
          <a:bodyPr vert="horz" wrap="square" lIns="0" tIns="16933" rIns="0" bIns="0" rtlCol="0">
            <a:spAutoFit/>
          </a:bodyPr>
          <a:lstStyle/>
          <a:p>
            <a:pPr marL="16933" marR="6773">
              <a:lnSpc>
                <a:spcPct val="117200"/>
              </a:lnSpc>
              <a:spcBef>
                <a:spcPts val="133"/>
              </a:spcBef>
            </a:pPr>
            <a:r>
              <a:rPr sz="1067" spc="-7" dirty="0">
                <a:solidFill>
                  <a:srgbClr val="595959"/>
                </a:solidFill>
                <a:latin typeface="Arial"/>
                <a:cs typeface="Arial"/>
              </a:rPr>
              <a:t>info_node_climb  info_node_hint  info_node_link  info_node_link_controller  info_npc </a:t>
            </a:r>
            <a:r>
              <a:rPr sz="1067" dirty="0">
                <a:solidFill>
                  <a:srgbClr val="595959"/>
                </a:solidFill>
                <a:latin typeface="Arial"/>
                <a:cs typeface="Arial"/>
              </a:rPr>
              <a:t>spawn_destination  </a:t>
            </a:r>
            <a:r>
              <a:rPr sz="1067" spc="-7" dirty="0">
                <a:solidFill>
                  <a:srgbClr val="595959"/>
                </a:solidFill>
                <a:latin typeface="Arial"/>
                <a:cs typeface="Arial"/>
              </a:rPr>
              <a:t>info_snipertarget  logic_choreographed_scene  path_corner  path_corner_crash  path_track</a:t>
            </a:r>
            <a:endParaRPr sz="1067">
              <a:latin typeface="Arial"/>
              <a:cs typeface="Arial"/>
            </a:endParaRPr>
          </a:p>
          <a:p>
            <a:pPr marL="16933" marR="570639">
              <a:lnSpc>
                <a:spcPct val="117200"/>
              </a:lnSpc>
            </a:pPr>
            <a:r>
              <a:rPr sz="1067" dirty="0">
                <a:solidFill>
                  <a:srgbClr val="595959"/>
                </a:solidFill>
                <a:latin typeface="Arial"/>
                <a:cs typeface="Arial"/>
              </a:rPr>
              <a:t>scripted_scene  scripted_sentence  scripted_sequence  scripted_target  </a:t>
            </a:r>
            <a:r>
              <a:rPr sz="1067" spc="-7" dirty="0">
                <a:solidFill>
                  <a:srgbClr val="595959"/>
                </a:solidFill>
                <a:latin typeface="Arial"/>
                <a:cs typeface="Arial"/>
              </a:rPr>
              <a:t>tanktrain_aitarget  tanktrain_ai  env_ar2explosion  env_beam  env_beverage  env_blood  env_bubbles</a:t>
            </a:r>
            <a:endParaRPr sz="1067">
              <a:latin typeface="Arial"/>
              <a:cs typeface="Arial"/>
            </a:endParaRPr>
          </a:p>
          <a:p>
            <a:pPr marL="16933" marR="182029">
              <a:lnSpc>
                <a:spcPct val="117200"/>
              </a:lnSpc>
            </a:pPr>
            <a:r>
              <a:rPr sz="1067" spc="-7" dirty="0">
                <a:solidFill>
                  <a:srgbClr val="595959"/>
                </a:solidFill>
                <a:latin typeface="Arial"/>
                <a:cs typeface="Arial"/>
              </a:rPr>
              <a:t>Env_citadel_energy_core  env_credits</a:t>
            </a:r>
            <a:endParaRPr sz="1067">
              <a:latin typeface="Arial"/>
              <a:cs typeface="Arial"/>
            </a:endParaRPr>
          </a:p>
        </p:txBody>
      </p:sp>
      <p:sp>
        <p:nvSpPr>
          <p:cNvPr id="5" name="object 5"/>
          <p:cNvSpPr txBox="1"/>
          <p:nvPr/>
        </p:nvSpPr>
        <p:spPr>
          <a:xfrm>
            <a:off x="6435467" y="1600640"/>
            <a:ext cx="1366520" cy="4435487"/>
          </a:xfrm>
          <a:prstGeom prst="rect">
            <a:avLst/>
          </a:prstGeom>
        </p:spPr>
        <p:txBody>
          <a:bodyPr vert="horz" wrap="square" lIns="0" tIns="16933" rIns="0" bIns="0" rtlCol="0">
            <a:spAutoFit/>
          </a:bodyPr>
          <a:lstStyle/>
          <a:p>
            <a:pPr marL="16933" marR="111757">
              <a:lnSpc>
                <a:spcPct val="117200"/>
              </a:lnSpc>
              <a:spcBef>
                <a:spcPts val="133"/>
              </a:spcBef>
            </a:pPr>
            <a:r>
              <a:rPr sz="1067" spc="-7" dirty="0">
                <a:solidFill>
                  <a:srgbClr val="595959"/>
                </a:solidFill>
                <a:latin typeface="Arial"/>
                <a:cs typeface="Arial"/>
              </a:rPr>
              <a:t>env_cubemap  env_dustpuff  env_effectscript  env_embers  env_entity_dissolver  env_entity_igniter  env_entity_maker  env_explosion  env_extinguisherjet  env_fade</a:t>
            </a:r>
            <a:endParaRPr sz="1067">
              <a:latin typeface="Arial"/>
              <a:cs typeface="Arial"/>
            </a:endParaRPr>
          </a:p>
          <a:p>
            <a:pPr marL="16933" marR="6773">
              <a:lnSpc>
                <a:spcPct val="117200"/>
              </a:lnSpc>
            </a:pPr>
            <a:r>
              <a:rPr sz="1067" spc="-7" dirty="0">
                <a:solidFill>
                  <a:srgbClr val="595959"/>
                </a:solidFill>
                <a:latin typeface="Arial"/>
                <a:cs typeface="Arial"/>
              </a:rPr>
              <a:t>env_fire  env_firesensor  env_firesource  env_flare  env_fog_controller  env_funnel  env_global  env_gunfire  env_headcrabcanister  env_hudhint  env_laser  env_lightglow  env_message</a:t>
            </a:r>
            <a:endParaRPr sz="1067">
              <a:latin typeface="Arial"/>
              <a:cs typeface="Arial"/>
            </a:endParaRPr>
          </a:p>
        </p:txBody>
      </p:sp>
      <p:sp>
        <p:nvSpPr>
          <p:cNvPr id="6" name="object 6"/>
          <p:cNvSpPr txBox="1"/>
          <p:nvPr/>
        </p:nvSpPr>
        <p:spPr>
          <a:xfrm>
            <a:off x="9344167" y="1600640"/>
            <a:ext cx="1773767" cy="4435487"/>
          </a:xfrm>
          <a:prstGeom prst="rect">
            <a:avLst/>
          </a:prstGeom>
        </p:spPr>
        <p:txBody>
          <a:bodyPr vert="horz" wrap="square" lIns="0" tIns="16933" rIns="0" bIns="0" rtlCol="0">
            <a:spAutoFit/>
          </a:bodyPr>
          <a:lstStyle/>
          <a:p>
            <a:pPr marL="16933" marR="104137">
              <a:lnSpc>
                <a:spcPct val="117200"/>
              </a:lnSpc>
              <a:spcBef>
                <a:spcPts val="133"/>
              </a:spcBef>
            </a:pPr>
            <a:r>
              <a:rPr sz="1067" spc="-7" dirty="0">
                <a:solidFill>
                  <a:srgbClr val="595959"/>
                </a:solidFill>
                <a:latin typeface="Arial"/>
                <a:cs typeface="Arial"/>
              </a:rPr>
              <a:t>env_microphone  env_muzzleflash  env_particlelight  env_particlescript  env_physexplosion  env_physimpact  env_player_surface_trigger  env_rotorshooter  env_rotorwash  env_screenoverlay  env_shake</a:t>
            </a:r>
            <a:endParaRPr sz="1067">
              <a:latin typeface="Arial"/>
              <a:cs typeface="Arial"/>
            </a:endParaRPr>
          </a:p>
          <a:p>
            <a:pPr marL="16933" marR="6773">
              <a:lnSpc>
                <a:spcPct val="117200"/>
              </a:lnSpc>
            </a:pPr>
            <a:r>
              <a:rPr sz="1067" spc="-7" dirty="0">
                <a:solidFill>
                  <a:srgbClr val="595959"/>
                </a:solidFill>
                <a:latin typeface="Arial"/>
                <a:cs typeface="Arial"/>
              </a:rPr>
              <a:t>env_shooter  env_smokestack  env_smoketrail  env_soundscape  env_soundscape_proxy  env_soundscape_triggerable  env_spark</a:t>
            </a:r>
            <a:endParaRPr sz="1067">
              <a:latin typeface="Arial"/>
              <a:cs typeface="Arial"/>
            </a:endParaRPr>
          </a:p>
          <a:p>
            <a:pPr marL="16933" marR="902524">
              <a:lnSpc>
                <a:spcPct val="117200"/>
              </a:lnSpc>
            </a:pPr>
            <a:r>
              <a:rPr sz="1067" spc="-7" dirty="0">
                <a:solidFill>
                  <a:srgbClr val="595959"/>
                </a:solidFill>
                <a:latin typeface="Arial"/>
                <a:cs typeface="Arial"/>
              </a:rPr>
              <a:t>env_speaker  env_splash  env_sprite  env_spritetrail  env_starfield</a:t>
            </a:r>
            <a:endParaRPr sz="1067">
              <a:latin typeface="Arial"/>
              <a:cs typeface="Arial"/>
            </a:endParaRPr>
          </a:p>
        </p:txBody>
      </p:sp>
    </p:spTree>
    <p:extLst>
      <p:ext uri="{BB962C8B-B14F-4D97-AF65-F5344CB8AC3E}">
        <p14:creationId xmlns:p14="http://schemas.microsoft.com/office/powerpoint/2010/main" val="3637430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7405"/>
            <a:ext cx="5424593"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It </a:t>
            </a:r>
            <a:r>
              <a:rPr sz="3733" dirty="0"/>
              <a:t>can </a:t>
            </a:r>
            <a:r>
              <a:rPr sz="3733" spc="-7" dirty="0"/>
              <a:t>work though!</a:t>
            </a:r>
            <a:r>
              <a:rPr sz="3733" spc="-140" dirty="0"/>
              <a:t> </a:t>
            </a:r>
            <a:r>
              <a:rPr sz="3733" spc="-7" dirty="0"/>
              <a:t>Sorta.</a:t>
            </a:r>
            <a:endParaRPr sz="3733"/>
          </a:p>
        </p:txBody>
      </p:sp>
      <p:sp>
        <p:nvSpPr>
          <p:cNvPr id="3" name="object 3"/>
          <p:cNvSpPr txBox="1"/>
          <p:nvPr/>
        </p:nvSpPr>
        <p:spPr>
          <a:xfrm>
            <a:off x="512967" y="1600641"/>
            <a:ext cx="1748367" cy="4435487"/>
          </a:xfrm>
          <a:prstGeom prst="rect">
            <a:avLst/>
          </a:prstGeom>
        </p:spPr>
        <p:txBody>
          <a:bodyPr vert="horz" wrap="square" lIns="0" tIns="16933" rIns="0" bIns="0" rtlCol="0">
            <a:spAutoFit/>
          </a:bodyPr>
          <a:lstStyle/>
          <a:p>
            <a:pPr marL="16933" marR="644296">
              <a:lnSpc>
                <a:spcPct val="117200"/>
              </a:lnSpc>
              <a:spcBef>
                <a:spcPts val="133"/>
              </a:spcBef>
            </a:pPr>
            <a:r>
              <a:rPr sz="1067" spc="-7" dirty="0">
                <a:solidFill>
                  <a:srgbClr val="595959"/>
                </a:solidFill>
                <a:latin typeface="Arial"/>
                <a:cs typeface="Arial"/>
              </a:rPr>
              <a:t>env_steam  env_sun  env_terrainmorph  env_texturetoggle</a:t>
            </a:r>
            <a:endParaRPr sz="1067">
              <a:latin typeface="Arial"/>
              <a:cs typeface="Arial"/>
            </a:endParaRPr>
          </a:p>
          <a:p>
            <a:pPr marL="16933" marR="267540">
              <a:lnSpc>
                <a:spcPct val="117200"/>
              </a:lnSpc>
            </a:pPr>
            <a:r>
              <a:rPr sz="1067" spc="-7" dirty="0">
                <a:solidFill>
                  <a:srgbClr val="595959"/>
                </a:solidFill>
                <a:latin typeface="Arial"/>
                <a:cs typeface="Arial"/>
              </a:rPr>
              <a:t>env_tonemap_controller  env_wind</a:t>
            </a:r>
            <a:endParaRPr sz="1067">
              <a:latin typeface="Arial"/>
              <a:cs typeface="Arial"/>
            </a:endParaRPr>
          </a:p>
          <a:p>
            <a:pPr marL="16933" marR="329345">
              <a:lnSpc>
                <a:spcPct val="117200"/>
              </a:lnSpc>
            </a:pPr>
            <a:r>
              <a:rPr sz="1067" spc="-7" dirty="0">
                <a:solidFill>
                  <a:srgbClr val="595959"/>
                </a:solidFill>
                <a:latin typeface="Arial"/>
                <a:cs typeface="Arial"/>
              </a:rPr>
              <a:t>env_zoom  filter_activator_class  filter_activator_name  filter_activator_team  filter_damage_type  filter_multi  func_areaportal  func_areaportalwindow  func_breakable  func_breakable_surf  func_brush  func_button  func_capturezone  func_changeclass  func_clip_vphysics</a:t>
            </a:r>
            <a:endParaRPr sz="1067">
              <a:latin typeface="Arial"/>
              <a:cs typeface="Arial"/>
            </a:endParaRPr>
          </a:p>
          <a:p>
            <a:pPr marL="16933" marR="6773">
              <a:lnSpc>
                <a:spcPct val="117200"/>
              </a:lnSpc>
            </a:pPr>
            <a:r>
              <a:rPr sz="1067" spc="-7" dirty="0">
                <a:solidFill>
                  <a:srgbClr val="595959"/>
                </a:solidFill>
                <a:latin typeface="Arial"/>
                <a:cs typeface="Arial"/>
              </a:rPr>
              <a:t>func_combine_ball_spawner  func_conveyor</a:t>
            </a:r>
            <a:endParaRPr sz="1067">
              <a:latin typeface="Arial"/>
              <a:cs typeface="Arial"/>
            </a:endParaRPr>
          </a:p>
        </p:txBody>
      </p:sp>
      <p:sp>
        <p:nvSpPr>
          <p:cNvPr id="4" name="object 4"/>
          <p:cNvSpPr txBox="1"/>
          <p:nvPr/>
        </p:nvSpPr>
        <p:spPr>
          <a:xfrm>
            <a:off x="3474201" y="1600640"/>
            <a:ext cx="1597660" cy="4435487"/>
          </a:xfrm>
          <a:prstGeom prst="rect">
            <a:avLst/>
          </a:prstGeom>
        </p:spPr>
        <p:txBody>
          <a:bodyPr vert="horz" wrap="square" lIns="0" tIns="16933" rIns="0" bIns="0" rtlCol="0">
            <a:spAutoFit/>
          </a:bodyPr>
          <a:lstStyle/>
          <a:p>
            <a:pPr marL="16933" marR="441949">
              <a:lnSpc>
                <a:spcPct val="117200"/>
              </a:lnSpc>
              <a:spcBef>
                <a:spcPts val="133"/>
              </a:spcBef>
            </a:pPr>
            <a:r>
              <a:rPr sz="1067" spc="-7" dirty="0">
                <a:solidFill>
                  <a:srgbClr val="595959"/>
                </a:solidFill>
                <a:latin typeface="Arial"/>
                <a:cs typeface="Arial"/>
              </a:rPr>
              <a:t>func_detail  func_door  func_door_rotating  func_dustcloud  func_dustmotes</a:t>
            </a:r>
            <a:endParaRPr sz="1067">
              <a:latin typeface="Arial"/>
              <a:cs typeface="Arial"/>
            </a:endParaRPr>
          </a:p>
          <a:p>
            <a:pPr marL="16933" marR="51645">
              <a:lnSpc>
                <a:spcPct val="117200"/>
              </a:lnSpc>
            </a:pPr>
            <a:r>
              <a:rPr sz="1067" spc="-7" dirty="0">
                <a:solidFill>
                  <a:srgbClr val="595959"/>
                </a:solidFill>
                <a:latin typeface="Arial"/>
                <a:cs typeface="Arial"/>
              </a:rPr>
              <a:t>func_extinguishercharger  func_guntarget  func_healthcharger  func_illusionary  func_ladder  func_ladderendpoint  func_lod</a:t>
            </a:r>
            <a:endParaRPr sz="1067">
              <a:latin typeface="Arial"/>
              <a:cs typeface="Arial"/>
            </a:endParaRPr>
          </a:p>
          <a:p>
            <a:pPr marL="16933" marR="6773">
              <a:lnSpc>
                <a:spcPct val="117200"/>
              </a:lnSpc>
            </a:pPr>
            <a:r>
              <a:rPr sz="1067" spc="-7" dirty="0">
                <a:solidFill>
                  <a:srgbClr val="595959"/>
                </a:solidFill>
                <a:latin typeface="Arial"/>
                <a:cs typeface="Arial"/>
              </a:rPr>
              <a:t>func_lookdoor  func_monitor  func_movelinear  func_nobuild  func_nogrenades  func_occluder  func_physbox  func_physbox_multiplayer  func_platrot  func_precipitation  func_proprespawnzone</a:t>
            </a:r>
            <a:endParaRPr sz="1067">
              <a:latin typeface="Arial"/>
              <a:cs typeface="Arial"/>
            </a:endParaRPr>
          </a:p>
        </p:txBody>
      </p:sp>
      <p:sp>
        <p:nvSpPr>
          <p:cNvPr id="5" name="object 5"/>
          <p:cNvSpPr txBox="1"/>
          <p:nvPr/>
        </p:nvSpPr>
        <p:spPr>
          <a:xfrm>
            <a:off x="6435467" y="1600641"/>
            <a:ext cx="1748367" cy="4435487"/>
          </a:xfrm>
          <a:prstGeom prst="rect">
            <a:avLst/>
          </a:prstGeom>
        </p:spPr>
        <p:txBody>
          <a:bodyPr vert="horz" wrap="square" lIns="0" tIns="16933" rIns="0" bIns="0" rtlCol="0">
            <a:spAutoFit/>
          </a:bodyPr>
          <a:lstStyle/>
          <a:p>
            <a:pPr marL="16933" marR="6773">
              <a:lnSpc>
                <a:spcPct val="117200"/>
              </a:lnSpc>
              <a:spcBef>
                <a:spcPts val="133"/>
              </a:spcBef>
            </a:pPr>
            <a:r>
              <a:rPr sz="1067" spc="-7" dirty="0">
                <a:solidFill>
                  <a:srgbClr val="595959"/>
                </a:solidFill>
                <a:latin typeface="Arial"/>
                <a:cs typeface="Arial"/>
              </a:rPr>
              <a:t>func_recharge  func_reflective_glass  func_regenerate  func_respawnroom  func_respawnroomvisualizer  func_rot_button  func_rotating  func_smokevolume  func_tank  func_tankairboatgun  func_tankapcrocket  func_tanklaser  func_tankmortar  func_tankphyscannister  func_tankpulselaser  func_tankrocket  func_tanktrain  func_trackautochange  func_trackchange  func_tracktrain  func_traincontrols  func_useableladder  func_vehicleclip</a:t>
            </a:r>
            <a:endParaRPr sz="1067">
              <a:latin typeface="Arial"/>
              <a:cs typeface="Arial"/>
            </a:endParaRPr>
          </a:p>
        </p:txBody>
      </p:sp>
      <p:sp>
        <p:nvSpPr>
          <p:cNvPr id="6" name="object 6"/>
          <p:cNvSpPr txBox="1"/>
          <p:nvPr/>
        </p:nvSpPr>
        <p:spPr>
          <a:xfrm>
            <a:off x="9344167" y="1600641"/>
            <a:ext cx="1606127" cy="4435487"/>
          </a:xfrm>
          <a:prstGeom prst="rect">
            <a:avLst/>
          </a:prstGeom>
        </p:spPr>
        <p:txBody>
          <a:bodyPr vert="horz" wrap="square" lIns="0" tIns="16933" rIns="0" bIns="0" rtlCol="0">
            <a:spAutoFit/>
          </a:bodyPr>
          <a:lstStyle/>
          <a:p>
            <a:pPr marL="16933" marR="388610">
              <a:lnSpc>
                <a:spcPct val="117200"/>
              </a:lnSpc>
              <a:spcBef>
                <a:spcPts val="133"/>
              </a:spcBef>
            </a:pPr>
            <a:r>
              <a:rPr sz="1067" spc="-7" dirty="0">
                <a:solidFill>
                  <a:srgbClr val="595959"/>
                </a:solidFill>
                <a:latin typeface="Arial"/>
                <a:cs typeface="Arial"/>
              </a:rPr>
              <a:t>func_viscluster  func_wall  func_wall_toggle  func_water_analog  worldspawn  game_end  game_player_equip  game_player_team</a:t>
            </a:r>
            <a:endParaRPr sz="1067">
              <a:latin typeface="Arial"/>
              <a:cs typeface="Arial"/>
            </a:endParaRPr>
          </a:p>
          <a:p>
            <a:pPr marL="16933" marR="147315">
              <a:lnSpc>
                <a:spcPct val="117200"/>
              </a:lnSpc>
            </a:pPr>
            <a:r>
              <a:rPr sz="1067" spc="-7" dirty="0">
                <a:solidFill>
                  <a:srgbClr val="595959"/>
                </a:solidFill>
                <a:latin typeface="Arial"/>
                <a:cs typeface="Arial"/>
              </a:rPr>
              <a:t>game_ragdoll_manager  game_score</a:t>
            </a:r>
            <a:endParaRPr sz="1067">
              <a:latin typeface="Arial"/>
              <a:cs typeface="Arial"/>
            </a:endParaRPr>
          </a:p>
          <a:p>
            <a:pPr marL="16933" marR="945703">
              <a:lnSpc>
                <a:spcPct val="117200"/>
              </a:lnSpc>
            </a:pPr>
            <a:r>
              <a:rPr sz="1067" spc="-7" dirty="0">
                <a:solidFill>
                  <a:srgbClr val="595959"/>
                </a:solidFill>
                <a:latin typeface="Arial"/>
                <a:cs typeface="Arial"/>
              </a:rPr>
              <a:t>game_text  game_ui</a:t>
            </a:r>
            <a:endParaRPr sz="1067">
              <a:latin typeface="Arial"/>
              <a:cs typeface="Arial"/>
            </a:endParaRPr>
          </a:p>
          <a:p>
            <a:pPr marL="16933" marR="79585">
              <a:lnSpc>
                <a:spcPct val="117200"/>
              </a:lnSpc>
            </a:pPr>
            <a:r>
              <a:rPr sz="1067" spc="-7" dirty="0">
                <a:solidFill>
                  <a:srgbClr val="595959"/>
                </a:solidFill>
                <a:latin typeface="Arial"/>
                <a:cs typeface="Arial"/>
              </a:rPr>
              <a:t>game_weapon_manager  game_zone_player  info_camera_link  info_constraint_anchor  info_hint  info_intermission  info_ladder_dismount  info_landmark  info_lighting</a:t>
            </a:r>
            <a:endParaRPr sz="1067">
              <a:latin typeface="Arial"/>
              <a:cs typeface="Arial"/>
            </a:endParaRPr>
          </a:p>
          <a:p>
            <a:pPr marL="16933" marR="6773">
              <a:lnSpc>
                <a:spcPct val="117200"/>
              </a:lnSpc>
            </a:pPr>
            <a:r>
              <a:rPr sz="1067" spc="-7" dirty="0">
                <a:solidFill>
                  <a:srgbClr val="595959"/>
                </a:solidFill>
                <a:latin typeface="Arial"/>
                <a:cs typeface="Arial"/>
              </a:rPr>
              <a:t>info_mass </a:t>
            </a:r>
            <a:r>
              <a:rPr sz="1067" dirty="0">
                <a:solidFill>
                  <a:srgbClr val="595959"/>
                </a:solidFill>
                <a:latin typeface="Arial"/>
                <a:cs typeface="Arial"/>
              </a:rPr>
              <a:t>center  </a:t>
            </a:r>
            <a:r>
              <a:rPr sz="1067" spc="-7" dirty="0">
                <a:solidFill>
                  <a:srgbClr val="595959"/>
                </a:solidFill>
                <a:latin typeface="Arial"/>
                <a:cs typeface="Arial"/>
              </a:rPr>
              <a:t>Info_no_dynamic_shadow</a:t>
            </a:r>
            <a:endParaRPr sz="1067">
              <a:latin typeface="Arial"/>
              <a:cs typeface="Arial"/>
            </a:endParaRPr>
          </a:p>
        </p:txBody>
      </p:sp>
    </p:spTree>
    <p:extLst>
      <p:ext uri="{BB962C8B-B14F-4D97-AF65-F5344CB8AC3E}">
        <p14:creationId xmlns:p14="http://schemas.microsoft.com/office/powerpoint/2010/main" val="2919220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7405"/>
            <a:ext cx="5856393"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It </a:t>
            </a:r>
            <a:r>
              <a:rPr sz="3733" dirty="0"/>
              <a:t>can </a:t>
            </a:r>
            <a:r>
              <a:rPr sz="3733" spc="-7" dirty="0"/>
              <a:t>work though! </a:t>
            </a:r>
            <a:r>
              <a:rPr sz="3733" spc="-13" dirty="0"/>
              <a:t>Sorta</a:t>
            </a:r>
            <a:r>
              <a:rPr sz="3733" spc="-133" dirty="0"/>
              <a:t> </a:t>
            </a:r>
            <a:r>
              <a:rPr sz="3733" spc="-7" dirty="0"/>
              <a:t>=(</a:t>
            </a:r>
            <a:endParaRPr sz="3733"/>
          </a:p>
        </p:txBody>
      </p:sp>
      <p:sp>
        <p:nvSpPr>
          <p:cNvPr id="3" name="object 3"/>
          <p:cNvSpPr txBox="1"/>
          <p:nvPr/>
        </p:nvSpPr>
        <p:spPr>
          <a:xfrm>
            <a:off x="512967" y="1600640"/>
            <a:ext cx="1743287" cy="4435487"/>
          </a:xfrm>
          <a:prstGeom prst="rect">
            <a:avLst/>
          </a:prstGeom>
        </p:spPr>
        <p:txBody>
          <a:bodyPr vert="horz" wrap="square" lIns="0" tIns="16933" rIns="0" bIns="0" rtlCol="0">
            <a:spAutoFit/>
          </a:bodyPr>
          <a:lstStyle/>
          <a:p>
            <a:pPr marL="16933" marR="639217">
              <a:lnSpc>
                <a:spcPct val="117200"/>
              </a:lnSpc>
              <a:spcBef>
                <a:spcPts val="133"/>
              </a:spcBef>
            </a:pPr>
            <a:r>
              <a:rPr sz="1067" spc="-7" dirty="0">
                <a:solidFill>
                  <a:srgbClr val="595959"/>
                </a:solidFill>
                <a:latin typeface="Arial"/>
                <a:cs typeface="Arial"/>
              </a:rPr>
              <a:t>nfo_node  info_node_air  info_node_air</a:t>
            </a:r>
            <a:r>
              <a:rPr sz="1067" spc="-100" dirty="0">
                <a:solidFill>
                  <a:srgbClr val="595959"/>
                </a:solidFill>
                <a:latin typeface="Arial"/>
                <a:cs typeface="Arial"/>
              </a:rPr>
              <a:t> </a:t>
            </a:r>
            <a:r>
              <a:rPr sz="1067" spc="-7" dirty="0">
                <a:solidFill>
                  <a:srgbClr val="595959"/>
                </a:solidFill>
                <a:latin typeface="Arial"/>
                <a:cs typeface="Arial"/>
              </a:rPr>
              <a:t>hint  info_node_climb  info_node_hint  info_node_link</a:t>
            </a:r>
            <a:endParaRPr sz="1067">
              <a:latin typeface="Arial"/>
              <a:cs typeface="Arial"/>
            </a:endParaRPr>
          </a:p>
          <a:p>
            <a:pPr marL="16933" marR="6773">
              <a:lnSpc>
                <a:spcPct val="117200"/>
              </a:lnSpc>
            </a:pPr>
            <a:r>
              <a:rPr sz="1067" spc="-7" dirty="0">
                <a:solidFill>
                  <a:srgbClr val="595959"/>
                </a:solidFill>
                <a:latin typeface="Arial"/>
                <a:cs typeface="Arial"/>
              </a:rPr>
              <a:t>info_node_link_controller  info_npc_spawn_destination  info_null</a:t>
            </a:r>
            <a:endParaRPr sz="1067">
              <a:latin typeface="Arial"/>
              <a:cs typeface="Arial"/>
            </a:endParaRPr>
          </a:p>
          <a:p>
            <a:pPr marL="16933" marR="119377">
              <a:lnSpc>
                <a:spcPct val="117200"/>
              </a:lnSpc>
            </a:pPr>
            <a:r>
              <a:rPr sz="1067" spc="-7" dirty="0">
                <a:solidFill>
                  <a:srgbClr val="595959"/>
                </a:solidFill>
                <a:latin typeface="Arial"/>
                <a:cs typeface="Arial"/>
              </a:rPr>
              <a:t>info_overlay  info_particle_system  info_player_combine  info_player_deathmatch  info_player_logo  info_player_rebel  info_player_start  info_projecteddecal  info_snipertarget  info_target  info_target_gunshipcrash  info_teleporter_countdown  info_teleport_destination  infodecal</a:t>
            </a:r>
            <a:endParaRPr sz="1067">
              <a:latin typeface="Arial"/>
              <a:cs typeface="Arial"/>
            </a:endParaRPr>
          </a:p>
        </p:txBody>
      </p:sp>
      <p:sp>
        <p:nvSpPr>
          <p:cNvPr id="4" name="object 4"/>
          <p:cNvSpPr txBox="1"/>
          <p:nvPr/>
        </p:nvSpPr>
        <p:spPr>
          <a:xfrm>
            <a:off x="3474200" y="1600640"/>
            <a:ext cx="1720427" cy="4435487"/>
          </a:xfrm>
          <a:prstGeom prst="rect">
            <a:avLst/>
          </a:prstGeom>
        </p:spPr>
        <p:txBody>
          <a:bodyPr vert="horz" wrap="square" lIns="0" tIns="16933" rIns="0" bIns="0" rtlCol="0">
            <a:spAutoFit/>
          </a:bodyPr>
          <a:lstStyle/>
          <a:p>
            <a:pPr marL="16933" marR="6773">
              <a:lnSpc>
                <a:spcPct val="117200"/>
              </a:lnSpc>
              <a:spcBef>
                <a:spcPts val="133"/>
              </a:spcBef>
            </a:pPr>
            <a:r>
              <a:rPr sz="1067" spc="-7" dirty="0">
                <a:solidFill>
                  <a:srgbClr val="595959"/>
                </a:solidFill>
                <a:latin typeface="Arial"/>
                <a:cs typeface="Arial"/>
              </a:rPr>
              <a:t>item_ammo_357  item_ammo_357_large  item_ammo_ar2  item_ammo_ar2_altfire  item_ammo_ar2_large  item_ammo_crate  item_ammo_crossbow  item_ammo_pistol  item_ammo_pistol_large  item_ammo_smg1  item_ammo_smg1_grenade  item_ammo_smg1_large  item_battery  item_box_buckshot  item_dynamic </a:t>
            </a:r>
            <a:r>
              <a:rPr sz="1067" dirty="0">
                <a:solidFill>
                  <a:srgbClr val="595959"/>
                </a:solidFill>
                <a:latin typeface="Arial"/>
                <a:cs typeface="Arial"/>
              </a:rPr>
              <a:t>resupply  </a:t>
            </a:r>
            <a:r>
              <a:rPr sz="1067" spc="-7" dirty="0">
                <a:solidFill>
                  <a:srgbClr val="595959"/>
                </a:solidFill>
                <a:latin typeface="Arial"/>
                <a:cs typeface="Arial"/>
              </a:rPr>
              <a:t>item_healthcharger  item_healthkit  item_healthvial  item_item_crate  item_rpg_round</a:t>
            </a:r>
            <a:endParaRPr sz="1067">
              <a:latin typeface="Arial"/>
              <a:cs typeface="Arial"/>
            </a:endParaRPr>
          </a:p>
          <a:p>
            <a:pPr marL="16933" marR="691709">
              <a:lnSpc>
                <a:spcPct val="117200"/>
              </a:lnSpc>
            </a:pPr>
            <a:r>
              <a:rPr sz="1067" spc="-7" dirty="0">
                <a:solidFill>
                  <a:srgbClr val="595959"/>
                </a:solidFill>
                <a:latin typeface="Arial"/>
                <a:cs typeface="Arial"/>
              </a:rPr>
              <a:t>item_suit  item_suitcharger  light</a:t>
            </a:r>
            <a:endParaRPr sz="1067">
              <a:latin typeface="Arial"/>
              <a:cs typeface="Arial"/>
            </a:endParaRPr>
          </a:p>
        </p:txBody>
      </p:sp>
      <p:sp>
        <p:nvSpPr>
          <p:cNvPr id="5" name="object 5"/>
          <p:cNvSpPr txBox="1"/>
          <p:nvPr/>
        </p:nvSpPr>
        <p:spPr>
          <a:xfrm>
            <a:off x="6435467" y="1600640"/>
            <a:ext cx="1622213" cy="4435487"/>
          </a:xfrm>
          <a:prstGeom prst="rect">
            <a:avLst/>
          </a:prstGeom>
        </p:spPr>
        <p:txBody>
          <a:bodyPr vert="horz" wrap="square" lIns="0" tIns="16933" rIns="0" bIns="0" rtlCol="0">
            <a:spAutoFit/>
          </a:bodyPr>
          <a:lstStyle/>
          <a:p>
            <a:pPr marL="16933" marR="330192">
              <a:lnSpc>
                <a:spcPct val="117200"/>
              </a:lnSpc>
              <a:spcBef>
                <a:spcPts val="133"/>
              </a:spcBef>
            </a:pPr>
            <a:r>
              <a:rPr sz="1067" spc="-7" dirty="0">
                <a:solidFill>
                  <a:srgbClr val="595959"/>
                </a:solidFill>
                <a:latin typeface="Arial"/>
                <a:cs typeface="Arial"/>
              </a:rPr>
              <a:t>light_spot  light_dynamic  env_projectedtexture  point_spotlight  light_environment  light_directional  logic_auto  logic_autosave  logic_branch  logic_case  logic_collision_pair  logic_compare  logic_lineto</a:t>
            </a:r>
            <a:endParaRPr sz="1067">
              <a:latin typeface="Arial"/>
              <a:cs typeface="Arial"/>
            </a:endParaRPr>
          </a:p>
          <a:p>
            <a:pPr marL="16933" marR="6773">
              <a:lnSpc>
                <a:spcPct val="117200"/>
              </a:lnSpc>
            </a:pPr>
            <a:r>
              <a:rPr sz="1067" spc="-7" dirty="0">
                <a:solidFill>
                  <a:srgbClr val="595959"/>
                </a:solidFill>
                <a:latin typeface="Arial"/>
                <a:cs typeface="Arial"/>
              </a:rPr>
              <a:t>logic_measure_movement  logic_multicompare  logic_navigation  logic_relay</a:t>
            </a:r>
            <a:endParaRPr sz="1067">
              <a:latin typeface="Arial"/>
              <a:cs typeface="Arial"/>
            </a:endParaRPr>
          </a:p>
          <a:p>
            <a:pPr marL="16933" marR="593497">
              <a:lnSpc>
                <a:spcPct val="117200"/>
              </a:lnSpc>
            </a:pPr>
            <a:r>
              <a:rPr sz="1067" spc="-7" dirty="0">
                <a:solidFill>
                  <a:srgbClr val="595959"/>
                </a:solidFill>
                <a:latin typeface="Arial"/>
                <a:cs typeface="Arial"/>
              </a:rPr>
              <a:t>logic_timer  ambient_generic  </a:t>
            </a:r>
            <a:r>
              <a:rPr sz="1067" dirty="0">
                <a:solidFill>
                  <a:srgbClr val="595959"/>
                </a:solidFill>
                <a:latin typeface="Arial"/>
                <a:cs typeface="Arial"/>
              </a:rPr>
              <a:t>cycler  </a:t>
            </a:r>
            <a:r>
              <a:rPr sz="1067" spc="-7" dirty="0">
                <a:solidFill>
                  <a:srgbClr val="595959"/>
                </a:solidFill>
                <a:latin typeface="Arial"/>
                <a:cs typeface="Arial"/>
              </a:rPr>
              <a:t>gibshooter  </a:t>
            </a:r>
            <a:r>
              <a:rPr sz="1067" dirty="0">
                <a:solidFill>
                  <a:srgbClr val="595959"/>
                </a:solidFill>
                <a:latin typeface="Arial"/>
                <a:cs typeface="Arial"/>
              </a:rPr>
              <a:t>keyframe_rope  keyframe_track</a:t>
            </a:r>
            <a:endParaRPr sz="1067">
              <a:latin typeface="Arial"/>
              <a:cs typeface="Arial"/>
            </a:endParaRPr>
          </a:p>
        </p:txBody>
      </p:sp>
      <p:sp>
        <p:nvSpPr>
          <p:cNvPr id="6" name="object 6"/>
          <p:cNvSpPr txBox="1"/>
          <p:nvPr/>
        </p:nvSpPr>
        <p:spPr>
          <a:xfrm>
            <a:off x="9344167" y="1600640"/>
            <a:ext cx="1772920" cy="4433244"/>
          </a:xfrm>
          <a:prstGeom prst="rect">
            <a:avLst/>
          </a:prstGeom>
        </p:spPr>
        <p:txBody>
          <a:bodyPr vert="horz" wrap="square" lIns="0" tIns="16933" rIns="0" bIns="0" rtlCol="0">
            <a:spAutoFit/>
          </a:bodyPr>
          <a:lstStyle/>
          <a:p>
            <a:pPr marL="16933" marR="307331">
              <a:lnSpc>
                <a:spcPct val="117200"/>
              </a:lnSpc>
              <a:spcBef>
                <a:spcPts val="133"/>
              </a:spcBef>
            </a:pPr>
            <a:r>
              <a:rPr sz="1067" dirty="0">
                <a:solidFill>
                  <a:srgbClr val="595959"/>
                </a:solidFill>
                <a:latin typeface="Arial"/>
                <a:cs typeface="Arial"/>
              </a:rPr>
              <a:t>material_modify_control  math_colorblend  math_counter  math_remap  momentary_rot_button  move_keyframed  move_rope</a:t>
            </a:r>
            <a:endParaRPr sz="1067">
              <a:latin typeface="Arial"/>
              <a:cs typeface="Arial"/>
            </a:endParaRPr>
          </a:p>
          <a:p>
            <a:pPr marL="16933" marR="676470">
              <a:lnSpc>
                <a:spcPct val="117200"/>
              </a:lnSpc>
            </a:pPr>
            <a:r>
              <a:rPr sz="1067" dirty="0">
                <a:solidFill>
                  <a:srgbClr val="595959"/>
                </a:solidFill>
                <a:latin typeface="Arial"/>
                <a:cs typeface="Arial"/>
              </a:rPr>
              <a:t>move_track  script_intro  script_tauremoval  shadow_control  sky_camera  </a:t>
            </a:r>
            <a:r>
              <a:rPr sz="1067" spc="-7" dirty="0">
                <a:solidFill>
                  <a:srgbClr val="595959"/>
                </a:solidFill>
                <a:latin typeface="Arial"/>
                <a:cs typeface="Arial"/>
              </a:rPr>
              <a:t>test_sidelist  test_traceline  </a:t>
            </a:r>
            <a:r>
              <a:rPr sz="1067" dirty="0">
                <a:solidFill>
                  <a:srgbClr val="595959"/>
                </a:solidFill>
                <a:latin typeface="Arial"/>
                <a:cs typeface="Arial"/>
              </a:rPr>
              <a:t>vgui_screen  </a:t>
            </a:r>
            <a:r>
              <a:rPr sz="1067" spc="-7" dirty="0">
                <a:solidFill>
                  <a:srgbClr val="595959"/>
                </a:solidFill>
                <a:latin typeface="Arial"/>
                <a:cs typeface="Arial"/>
              </a:rPr>
              <a:t>water_lod_control  </a:t>
            </a:r>
            <a:r>
              <a:rPr sz="1067" dirty="0">
                <a:solidFill>
                  <a:srgbClr val="595959"/>
                </a:solidFill>
                <a:latin typeface="Arial"/>
                <a:cs typeface="Arial"/>
              </a:rPr>
              <a:t>combine_mine  </a:t>
            </a:r>
            <a:r>
              <a:rPr sz="1067" spc="-7" dirty="0">
                <a:solidFill>
                  <a:srgbClr val="595959"/>
                </a:solidFill>
                <a:latin typeface="Arial"/>
                <a:cs typeface="Arial"/>
              </a:rPr>
              <a:t>npc_alyx  npc_antlion</a:t>
            </a:r>
            <a:endParaRPr sz="1067">
              <a:latin typeface="Arial"/>
              <a:cs typeface="Arial"/>
            </a:endParaRPr>
          </a:p>
          <a:p>
            <a:pPr marL="16933" marR="6773">
              <a:lnSpc>
                <a:spcPct val="117200"/>
              </a:lnSpc>
            </a:pPr>
            <a:r>
              <a:rPr sz="1067" spc="-7" dirty="0">
                <a:solidFill>
                  <a:srgbClr val="595959"/>
                </a:solidFill>
                <a:latin typeface="Arial"/>
                <a:cs typeface="Arial"/>
              </a:rPr>
              <a:t>npc_antlion_template_maker  npc_antlionguard  npc_barnacle</a:t>
            </a:r>
            <a:endParaRPr sz="1067">
              <a:latin typeface="Arial"/>
              <a:cs typeface="Arial"/>
            </a:endParaRPr>
          </a:p>
          <a:p>
            <a:pPr marL="16933">
              <a:spcBef>
                <a:spcPts val="220"/>
              </a:spcBef>
            </a:pPr>
            <a:r>
              <a:rPr sz="1067" spc="-7" dirty="0">
                <a:solidFill>
                  <a:srgbClr val="595959"/>
                </a:solidFill>
                <a:latin typeface="Arial"/>
                <a:cs typeface="Arial"/>
              </a:rPr>
              <a:t>npc_barney</a:t>
            </a:r>
            <a:endParaRPr sz="1067">
              <a:latin typeface="Arial"/>
              <a:cs typeface="Arial"/>
            </a:endParaRPr>
          </a:p>
        </p:txBody>
      </p:sp>
    </p:spTree>
    <p:extLst>
      <p:ext uri="{BB962C8B-B14F-4D97-AF65-F5344CB8AC3E}">
        <p14:creationId xmlns:p14="http://schemas.microsoft.com/office/powerpoint/2010/main" val="24357581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7405"/>
            <a:ext cx="6013873"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It </a:t>
            </a:r>
            <a:r>
              <a:rPr sz="3733" dirty="0"/>
              <a:t>can </a:t>
            </a:r>
            <a:r>
              <a:rPr sz="3733" spc="-7" dirty="0"/>
              <a:t>work though! </a:t>
            </a:r>
            <a:r>
              <a:rPr sz="3733" spc="-13" dirty="0"/>
              <a:t>Sorta</a:t>
            </a:r>
            <a:r>
              <a:rPr sz="3733" spc="-133" dirty="0"/>
              <a:t> </a:t>
            </a:r>
            <a:r>
              <a:rPr sz="3733" spc="-7" dirty="0"/>
              <a:t>=((</a:t>
            </a:r>
            <a:endParaRPr sz="3733"/>
          </a:p>
        </p:txBody>
      </p:sp>
      <p:sp>
        <p:nvSpPr>
          <p:cNvPr id="3" name="object 3"/>
          <p:cNvSpPr txBox="1"/>
          <p:nvPr/>
        </p:nvSpPr>
        <p:spPr>
          <a:xfrm>
            <a:off x="512967" y="1600640"/>
            <a:ext cx="1366520" cy="4435487"/>
          </a:xfrm>
          <a:prstGeom prst="rect">
            <a:avLst/>
          </a:prstGeom>
        </p:spPr>
        <p:txBody>
          <a:bodyPr vert="horz" wrap="square" lIns="0" tIns="16933" rIns="0" bIns="0" rtlCol="0">
            <a:spAutoFit/>
          </a:bodyPr>
          <a:lstStyle/>
          <a:p>
            <a:pPr marL="16933" marR="6773">
              <a:lnSpc>
                <a:spcPct val="117200"/>
              </a:lnSpc>
              <a:spcBef>
                <a:spcPts val="133"/>
              </a:spcBef>
            </a:pPr>
            <a:r>
              <a:rPr sz="1067" spc="-7" dirty="0">
                <a:solidFill>
                  <a:srgbClr val="595959"/>
                </a:solidFill>
                <a:latin typeface="Arial"/>
                <a:cs typeface="Arial"/>
              </a:rPr>
              <a:t>npc_breen  npc_citizen  npc_combine_camera  npc_combine_s  npc_combinedropship  npc_combinegunship  npc_crabsynth  npc_cranedriver  npc_crow  npc_cscanner  npc_dog</a:t>
            </a:r>
            <a:endParaRPr sz="1067">
              <a:latin typeface="Arial"/>
              <a:cs typeface="Arial"/>
            </a:endParaRPr>
          </a:p>
          <a:p>
            <a:pPr marL="16933" marR="88898">
              <a:lnSpc>
                <a:spcPct val="117200"/>
              </a:lnSpc>
            </a:pPr>
            <a:r>
              <a:rPr sz="1067" spc="-7" dirty="0">
                <a:solidFill>
                  <a:srgbClr val="595959"/>
                </a:solidFill>
                <a:latin typeface="Arial"/>
                <a:cs typeface="Arial"/>
              </a:rPr>
              <a:t>npc_eli  npc_fastzombie  npc_fisherman  npc_gman  npc_headcrab  npc_headcrab_black  npc_headcrab_fast  npc_helicopter  npc_ichthyosaur  npc_kleiner  npc_manhack  npc_metropolice</a:t>
            </a:r>
            <a:endParaRPr sz="1067">
              <a:latin typeface="Arial"/>
              <a:cs typeface="Arial"/>
            </a:endParaRPr>
          </a:p>
        </p:txBody>
      </p:sp>
      <p:sp>
        <p:nvSpPr>
          <p:cNvPr id="4" name="object 4"/>
          <p:cNvSpPr txBox="1"/>
          <p:nvPr/>
        </p:nvSpPr>
        <p:spPr>
          <a:xfrm>
            <a:off x="3474201" y="1600641"/>
            <a:ext cx="1743287" cy="4435487"/>
          </a:xfrm>
          <a:prstGeom prst="rect">
            <a:avLst/>
          </a:prstGeom>
        </p:spPr>
        <p:txBody>
          <a:bodyPr vert="horz" wrap="square" lIns="0" tIns="16933" rIns="0" bIns="0" rtlCol="0">
            <a:spAutoFit/>
          </a:bodyPr>
          <a:lstStyle/>
          <a:p>
            <a:pPr marL="16933" marR="585879">
              <a:lnSpc>
                <a:spcPct val="117200"/>
              </a:lnSpc>
              <a:spcBef>
                <a:spcPts val="133"/>
              </a:spcBef>
            </a:pPr>
            <a:r>
              <a:rPr sz="1067" spc="-7" dirty="0">
                <a:solidFill>
                  <a:srgbClr val="595959"/>
                </a:solidFill>
                <a:latin typeface="Arial"/>
                <a:cs typeface="Arial"/>
              </a:rPr>
              <a:t>npc_monk  npc_mortarsynth  npc_mossman  npc_pigeon  npc_poisonzombie  npc_rollermine  npc_seagull  npc_sniper  npc_stalker  npc_strider  npc_turret_ceiling  npc_turret_floor  npc_turret_ground  npc_vortigaunt  npc_zombie  npc_zombie_torso  </a:t>
            </a:r>
            <a:r>
              <a:rPr sz="1067" dirty="0">
                <a:solidFill>
                  <a:srgbClr val="595959"/>
                </a:solidFill>
                <a:latin typeface="Arial"/>
                <a:cs typeface="Arial"/>
              </a:rPr>
              <a:t>cycler_actor  </a:t>
            </a:r>
            <a:r>
              <a:rPr sz="1067" spc="-7" dirty="0">
                <a:solidFill>
                  <a:srgbClr val="595959"/>
                </a:solidFill>
                <a:latin typeface="Arial"/>
                <a:cs typeface="Arial"/>
              </a:rPr>
              <a:t>generic_actor</a:t>
            </a:r>
            <a:endParaRPr sz="1067">
              <a:latin typeface="Arial"/>
              <a:cs typeface="Arial"/>
            </a:endParaRPr>
          </a:p>
          <a:p>
            <a:pPr marL="16933" marR="6773">
              <a:lnSpc>
                <a:spcPct val="117200"/>
              </a:lnSpc>
            </a:pPr>
            <a:r>
              <a:rPr sz="1067" spc="-7" dirty="0">
                <a:solidFill>
                  <a:srgbClr val="595959"/>
                </a:solidFill>
                <a:latin typeface="Arial"/>
                <a:cs typeface="Arial"/>
              </a:rPr>
              <a:t>info_npc_spawn_destination  </a:t>
            </a:r>
            <a:r>
              <a:rPr sz="1067" dirty="0">
                <a:solidFill>
                  <a:srgbClr val="595959"/>
                </a:solidFill>
                <a:latin typeface="Arial"/>
                <a:cs typeface="Arial"/>
              </a:rPr>
              <a:t>monster_generic  </a:t>
            </a:r>
            <a:r>
              <a:rPr sz="1067" spc="-7" dirty="0">
                <a:solidFill>
                  <a:srgbClr val="595959"/>
                </a:solidFill>
                <a:latin typeface="Arial"/>
                <a:cs typeface="Arial"/>
              </a:rPr>
              <a:t>npc_apcdriver</a:t>
            </a:r>
            <a:endParaRPr sz="1067">
              <a:latin typeface="Arial"/>
              <a:cs typeface="Arial"/>
            </a:endParaRPr>
          </a:p>
          <a:p>
            <a:pPr marL="16933" marR="676470">
              <a:lnSpc>
                <a:spcPct val="117200"/>
              </a:lnSpc>
            </a:pPr>
            <a:r>
              <a:rPr sz="1067" spc="-7" dirty="0">
                <a:solidFill>
                  <a:srgbClr val="595959"/>
                </a:solidFill>
                <a:latin typeface="Arial"/>
                <a:cs typeface="Arial"/>
              </a:rPr>
              <a:t>npc_bullseye  npc_enemyfinder</a:t>
            </a:r>
            <a:endParaRPr sz="1067">
              <a:latin typeface="Arial"/>
              <a:cs typeface="Arial"/>
            </a:endParaRPr>
          </a:p>
        </p:txBody>
      </p:sp>
      <p:sp>
        <p:nvSpPr>
          <p:cNvPr id="5" name="object 5"/>
          <p:cNvSpPr txBox="1"/>
          <p:nvPr/>
        </p:nvSpPr>
        <p:spPr>
          <a:xfrm>
            <a:off x="6435468" y="1600640"/>
            <a:ext cx="1411393" cy="4435487"/>
          </a:xfrm>
          <a:prstGeom prst="rect">
            <a:avLst/>
          </a:prstGeom>
        </p:spPr>
        <p:txBody>
          <a:bodyPr vert="horz" wrap="square" lIns="0" tIns="16933" rIns="0" bIns="0" rtlCol="0">
            <a:spAutoFit/>
          </a:bodyPr>
          <a:lstStyle/>
          <a:p>
            <a:pPr marL="16933" marR="6773">
              <a:lnSpc>
                <a:spcPct val="117200"/>
              </a:lnSpc>
              <a:spcBef>
                <a:spcPts val="133"/>
              </a:spcBef>
            </a:pPr>
            <a:r>
              <a:rPr sz="1067" spc="-7" dirty="0">
                <a:solidFill>
                  <a:srgbClr val="595959"/>
                </a:solidFill>
                <a:latin typeface="Arial"/>
                <a:cs typeface="Arial"/>
              </a:rPr>
              <a:t>npc_furniture  npc_heli_avoidbox  npc_heli_avoidsphere  npc_heli_nobomb  npc_launcher  npc_maker  npc_missiledefense  npc_particlestorm  npc_spotlight  npc_template_maker  npc_vehicledriver  phys_ballsocket  phys_constraint  phys_constraintsystem  phys_convert  phys_hinge  phys_keepupright  phys_lengthconstraint  phys_magnet  phys_motor  phys_pulleyconstraint  phys_ragdollconstraint  phys_ragdollmagnet</a:t>
            </a:r>
            <a:endParaRPr sz="1067">
              <a:latin typeface="Arial"/>
              <a:cs typeface="Arial"/>
            </a:endParaRPr>
          </a:p>
        </p:txBody>
      </p:sp>
      <p:sp>
        <p:nvSpPr>
          <p:cNvPr id="6" name="object 6"/>
          <p:cNvSpPr txBox="1"/>
          <p:nvPr/>
        </p:nvSpPr>
        <p:spPr>
          <a:xfrm>
            <a:off x="9344167" y="1600640"/>
            <a:ext cx="1712807" cy="4435487"/>
          </a:xfrm>
          <a:prstGeom prst="rect">
            <a:avLst/>
          </a:prstGeom>
        </p:spPr>
        <p:txBody>
          <a:bodyPr vert="horz" wrap="square" lIns="0" tIns="16933" rIns="0" bIns="0" rtlCol="0">
            <a:spAutoFit/>
          </a:bodyPr>
          <a:lstStyle/>
          <a:p>
            <a:pPr marL="16933" marR="458035">
              <a:lnSpc>
                <a:spcPct val="117200"/>
              </a:lnSpc>
              <a:spcBef>
                <a:spcPts val="133"/>
              </a:spcBef>
            </a:pPr>
            <a:r>
              <a:rPr sz="1067" spc="-7" dirty="0">
                <a:solidFill>
                  <a:srgbClr val="595959"/>
                </a:solidFill>
                <a:latin typeface="Arial"/>
                <a:cs typeface="Arial"/>
              </a:rPr>
              <a:t>phys_slideconstraint  phys_spring  phys_thruster  phys_torque  physics_cannister  player_loadsaved  player_speedmod  player_weaponstrip  point_anglesensor</a:t>
            </a:r>
            <a:endParaRPr sz="1067">
              <a:latin typeface="Arial"/>
              <a:cs typeface="Arial"/>
            </a:endParaRPr>
          </a:p>
          <a:p>
            <a:pPr marL="16933" marR="6773">
              <a:lnSpc>
                <a:spcPct val="117200"/>
              </a:lnSpc>
            </a:pPr>
            <a:r>
              <a:rPr sz="1067" spc="-7" dirty="0">
                <a:solidFill>
                  <a:srgbClr val="595959"/>
                </a:solidFill>
                <a:latin typeface="Arial"/>
                <a:cs typeface="Arial"/>
              </a:rPr>
              <a:t>point_angularvelocitysensor  point_antlion_repellant  point_apc_controller  point_bugbait</a:t>
            </a:r>
            <a:endParaRPr sz="1067">
              <a:latin typeface="Arial"/>
              <a:cs typeface="Arial"/>
            </a:endParaRPr>
          </a:p>
          <a:p>
            <a:pPr marL="16933" marR="66038">
              <a:lnSpc>
                <a:spcPct val="117200"/>
              </a:lnSpc>
            </a:pPr>
            <a:r>
              <a:rPr sz="1067" spc="-7" dirty="0">
                <a:solidFill>
                  <a:srgbClr val="595959"/>
                </a:solidFill>
                <a:latin typeface="Arial"/>
                <a:cs typeface="Arial"/>
              </a:rPr>
              <a:t>point_camera  point_clientcommand  point_commentary_node  point_devshot_camera  point_enable_motion_fixup  point_hurt</a:t>
            </a:r>
            <a:endParaRPr sz="1067">
              <a:latin typeface="Arial"/>
              <a:cs typeface="Arial"/>
            </a:endParaRPr>
          </a:p>
          <a:p>
            <a:pPr marL="16933" marR="28786">
              <a:lnSpc>
                <a:spcPct val="117200"/>
              </a:lnSpc>
            </a:pPr>
            <a:r>
              <a:rPr sz="1067" spc="-7" dirty="0">
                <a:solidFill>
                  <a:srgbClr val="595959"/>
                </a:solidFill>
                <a:latin typeface="Arial"/>
                <a:cs typeface="Arial"/>
              </a:rPr>
              <a:t>point_message  point_playermoveconstraint  point_servercommand  point_spotlight</a:t>
            </a:r>
            <a:endParaRPr sz="1067">
              <a:latin typeface="Arial"/>
              <a:cs typeface="Arial"/>
            </a:endParaRPr>
          </a:p>
        </p:txBody>
      </p:sp>
    </p:spTree>
    <p:extLst>
      <p:ext uri="{BB962C8B-B14F-4D97-AF65-F5344CB8AC3E}">
        <p14:creationId xmlns:p14="http://schemas.microsoft.com/office/powerpoint/2010/main" val="37914285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8" y="677405"/>
            <a:ext cx="6171353"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It </a:t>
            </a:r>
            <a:r>
              <a:rPr sz="3733" dirty="0"/>
              <a:t>can </a:t>
            </a:r>
            <a:r>
              <a:rPr sz="3733" spc="-7" dirty="0"/>
              <a:t>work though! </a:t>
            </a:r>
            <a:r>
              <a:rPr sz="3733" spc="-13" dirty="0"/>
              <a:t>Sorta</a:t>
            </a:r>
            <a:r>
              <a:rPr sz="3733" spc="-133" dirty="0"/>
              <a:t> </a:t>
            </a:r>
            <a:r>
              <a:rPr sz="3733" spc="-7" dirty="0"/>
              <a:t>=(((</a:t>
            </a:r>
            <a:endParaRPr sz="3733"/>
          </a:p>
        </p:txBody>
      </p:sp>
      <p:sp>
        <p:nvSpPr>
          <p:cNvPr id="3" name="object 3"/>
          <p:cNvSpPr txBox="1"/>
          <p:nvPr/>
        </p:nvSpPr>
        <p:spPr>
          <a:xfrm>
            <a:off x="512967" y="1600640"/>
            <a:ext cx="1562100" cy="4435487"/>
          </a:xfrm>
          <a:prstGeom prst="rect">
            <a:avLst/>
          </a:prstGeom>
        </p:spPr>
        <p:txBody>
          <a:bodyPr vert="horz" wrap="square" lIns="0" tIns="16933" rIns="0" bIns="0" rtlCol="0">
            <a:spAutoFit/>
          </a:bodyPr>
          <a:lstStyle/>
          <a:p>
            <a:pPr marL="16933" marR="6773">
              <a:lnSpc>
                <a:spcPct val="117200"/>
              </a:lnSpc>
              <a:spcBef>
                <a:spcPts val="133"/>
              </a:spcBef>
            </a:pPr>
            <a:r>
              <a:rPr sz="1067" spc="-7" dirty="0">
                <a:solidFill>
                  <a:srgbClr val="595959"/>
                </a:solidFill>
                <a:latin typeface="Arial"/>
                <a:cs typeface="Arial"/>
              </a:rPr>
              <a:t>point_teleport  point_template  point_tesla  point_viewcontrol  </a:t>
            </a:r>
            <a:r>
              <a:rPr sz="1067" dirty="0">
                <a:solidFill>
                  <a:srgbClr val="595959"/>
                </a:solidFill>
                <a:latin typeface="Arial"/>
                <a:cs typeface="Arial"/>
              </a:rPr>
              <a:t>vehicle_viewcontroller  </a:t>
            </a:r>
            <a:r>
              <a:rPr sz="1067" spc="-7" dirty="0">
                <a:solidFill>
                  <a:srgbClr val="595959"/>
                </a:solidFill>
                <a:latin typeface="Arial"/>
                <a:cs typeface="Arial"/>
              </a:rPr>
              <a:t>prop_combine_ball  prop_detail  prop_door_rotating  prop_dynamic  prop_dynamic_ornament  prop_dynamic_override  prop_physics  prop_physics_multiplayer  prop_physics_override  prop_ragdoll</a:t>
            </a:r>
            <a:endParaRPr sz="1067">
              <a:latin typeface="Arial"/>
              <a:cs typeface="Arial"/>
            </a:endParaRPr>
          </a:p>
          <a:p>
            <a:pPr marL="16933" marR="141390">
              <a:lnSpc>
                <a:spcPct val="117200"/>
              </a:lnSpc>
            </a:pPr>
            <a:r>
              <a:rPr sz="1067" spc="-7" dirty="0">
                <a:solidFill>
                  <a:srgbClr val="595959"/>
                </a:solidFill>
                <a:latin typeface="Arial"/>
                <a:cs typeface="Arial"/>
              </a:rPr>
              <a:t>prop_static  prop_thumper  prop_vehicle  prop_vehicle_airboat  prop_vehicle_apc  prop_vehicle_cannon  prop_vehicle_crane  prop_vehicle_driveable</a:t>
            </a:r>
            <a:endParaRPr sz="1067">
              <a:latin typeface="Arial"/>
              <a:cs typeface="Arial"/>
            </a:endParaRPr>
          </a:p>
        </p:txBody>
      </p:sp>
      <p:sp>
        <p:nvSpPr>
          <p:cNvPr id="4" name="object 4"/>
          <p:cNvSpPr txBox="1"/>
          <p:nvPr/>
        </p:nvSpPr>
        <p:spPr>
          <a:xfrm>
            <a:off x="3474200" y="1600640"/>
            <a:ext cx="1667933" cy="4435487"/>
          </a:xfrm>
          <a:prstGeom prst="rect">
            <a:avLst/>
          </a:prstGeom>
        </p:spPr>
        <p:txBody>
          <a:bodyPr vert="horz" wrap="square" lIns="0" tIns="16933" rIns="0" bIns="0" rtlCol="0">
            <a:spAutoFit/>
          </a:bodyPr>
          <a:lstStyle/>
          <a:p>
            <a:pPr marL="16933" marR="6773">
              <a:lnSpc>
                <a:spcPct val="117200"/>
              </a:lnSpc>
              <a:spcBef>
                <a:spcPts val="133"/>
              </a:spcBef>
            </a:pPr>
            <a:r>
              <a:rPr sz="1067" spc="-7" dirty="0">
                <a:solidFill>
                  <a:srgbClr val="595959"/>
                </a:solidFill>
                <a:latin typeface="Arial"/>
                <a:cs typeface="Arial"/>
              </a:rPr>
              <a:t>prop_vehicle_jeep  prop_vehicle_prisoner_pod  trigger_autosave  trigger_changelevel  trigger_finale  trigger_gravity</a:t>
            </a:r>
            <a:endParaRPr sz="1067">
              <a:latin typeface="Arial"/>
              <a:cs typeface="Arial"/>
            </a:endParaRPr>
          </a:p>
          <a:p>
            <a:pPr marL="16933" marR="143930">
              <a:lnSpc>
                <a:spcPct val="117200"/>
              </a:lnSpc>
            </a:pPr>
            <a:r>
              <a:rPr sz="1067" spc="-7" dirty="0">
                <a:solidFill>
                  <a:srgbClr val="595959"/>
                </a:solidFill>
                <a:latin typeface="Arial"/>
                <a:cs typeface="Arial"/>
              </a:rPr>
              <a:t>trigger_hurt  trigger_impact  trigger_look  trigger_multiple  trigger_once  trigger_physics_trap  trigger_playermovement  trigger_proximity  trigger_push  trigger_remove  trigger_rpgfire  trigger_soundscape  trigger_teleport  trigger_transition  trigger_vphysics_motion  trigger_waterydeath  trigger_weapon_dissolve</a:t>
            </a:r>
            <a:endParaRPr sz="1067">
              <a:latin typeface="Arial"/>
              <a:cs typeface="Arial"/>
            </a:endParaRPr>
          </a:p>
        </p:txBody>
      </p:sp>
      <p:sp>
        <p:nvSpPr>
          <p:cNvPr id="5" name="object 5"/>
          <p:cNvSpPr txBox="1"/>
          <p:nvPr/>
        </p:nvSpPr>
        <p:spPr>
          <a:xfrm>
            <a:off x="6435467" y="1600641"/>
            <a:ext cx="1479973" cy="4051280"/>
          </a:xfrm>
          <a:prstGeom prst="rect">
            <a:avLst/>
          </a:prstGeom>
        </p:spPr>
        <p:txBody>
          <a:bodyPr vert="horz" wrap="square" lIns="0" tIns="16933" rIns="0" bIns="0" rtlCol="0">
            <a:spAutoFit/>
          </a:bodyPr>
          <a:lstStyle/>
          <a:p>
            <a:pPr marL="16933" marR="6773">
              <a:lnSpc>
                <a:spcPct val="117200"/>
              </a:lnSpc>
              <a:spcBef>
                <a:spcPts val="133"/>
              </a:spcBef>
            </a:pPr>
            <a:r>
              <a:rPr sz="1067" spc="-7" dirty="0">
                <a:solidFill>
                  <a:srgbClr val="595959"/>
                </a:solidFill>
                <a:latin typeface="Arial"/>
                <a:cs typeface="Arial"/>
              </a:rPr>
              <a:t>trigger_weapon_strip  trigger_wind  weapon_357  weapon_alyxgun  weapon_annabelle  weapon_ar2  weapon_brickbat  weapon_bugbait  weapon_citizenpackage  weapon_citizensuitcase  weapon_crossbow  weapon_crowbar  weapon_extinguisher  weapon_frag  weapon_physcannon  weapon_physgun  weapon_pistol  weapon_rpg  weapon_shotgun  weapon_smg1  weapon_stunstick</a:t>
            </a:r>
            <a:endParaRPr sz="1067">
              <a:latin typeface="Arial"/>
              <a:cs typeface="Arial"/>
            </a:endParaRPr>
          </a:p>
        </p:txBody>
      </p:sp>
    </p:spTree>
    <p:extLst>
      <p:ext uri="{BB962C8B-B14F-4D97-AF65-F5344CB8AC3E}">
        <p14:creationId xmlns:p14="http://schemas.microsoft.com/office/powerpoint/2010/main" val="708740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Multiple Inheritance"/>
          <p:cNvSpPr txBox="1">
            <a:spLocks noGrp="1"/>
          </p:cNvSpPr>
          <p:nvPr>
            <p:ph type="title"/>
          </p:nvPr>
        </p:nvSpPr>
        <p:spPr>
          <a:prstGeom prst="rect">
            <a:avLst/>
          </a:prstGeom>
        </p:spPr>
        <p:txBody>
          <a:bodyPr/>
          <a:lstStyle/>
          <a:p>
            <a:r>
              <a:t>Multiple Inheritance</a:t>
            </a:r>
          </a:p>
        </p:txBody>
      </p:sp>
      <p:sp>
        <p:nvSpPr>
          <p:cNvPr id="213" name="Base classes for each subsystem, entities inherit multiple classes…"/>
          <p:cNvSpPr txBox="1">
            <a:spLocks noGrp="1"/>
          </p:cNvSpPr>
          <p:nvPr>
            <p:ph type="body" idx="1"/>
          </p:nvPr>
        </p:nvSpPr>
        <p:spPr>
          <a:prstGeom prst="rect">
            <a:avLst/>
          </a:prstGeom>
        </p:spPr>
        <p:txBody>
          <a:bodyPr>
            <a:normAutofit fontScale="92500" lnSpcReduction="10000"/>
          </a:bodyPr>
          <a:lstStyle/>
          <a:p>
            <a:pPr>
              <a:defRPr sz="3600"/>
            </a:pPr>
            <a:r>
              <a:t>Base classes for each subsystem, entities inherit multiple classes</a:t>
            </a:r>
          </a:p>
          <a:p>
            <a:pPr>
              <a:defRPr sz="3600"/>
            </a:pPr>
            <a:r>
              <a:t>Scales better than single inheritance</a:t>
            </a:r>
          </a:p>
          <a:p>
            <a:pPr lvl="1">
              <a:defRPr sz="3600"/>
            </a:pPr>
            <a:r>
              <a:t>Less base class pollution</a:t>
            </a:r>
          </a:p>
          <a:p>
            <a:pPr lvl="1">
              <a:defRPr sz="3600"/>
            </a:pPr>
            <a:r>
              <a:t>Less conflicting requirements</a:t>
            </a:r>
          </a:p>
          <a:p>
            <a:pPr>
              <a:defRPr sz="3600"/>
            </a:pPr>
            <a:r>
              <a:t>Still run into problems when hierarchy gets large</a:t>
            </a:r>
          </a:p>
          <a:p>
            <a:pPr lvl="1">
              <a:defRPr sz="3600"/>
            </a:pPr>
            <a:r>
              <a:t>If hierarchy has to change, it’s painful</a:t>
            </a:r>
          </a:p>
        </p:txBody>
      </p:sp>
    </p:spTree>
    <p:extLst>
      <p:ext uri="{BB962C8B-B14F-4D97-AF65-F5344CB8AC3E}">
        <p14:creationId xmlns:p14="http://schemas.microsoft.com/office/powerpoint/2010/main" val="897871108"/>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3">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1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1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1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1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1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1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 grpId="0" build="p" bldLvl="5" animBg="1" advAuto="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Mixin Classes"/>
          <p:cNvSpPr txBox="1">
            <a:spLocks noGrp="1"/>
          </p:cNvSpPr>
          <p:nvPr>
            <p:ph type="title" idx="4294967295"/>
          </p:nvPr>
        </p:nvSpPr>
        <p:spPr>
          <a:xfrm>
            <a:off x="2416969" y="178594"/>
            <a:ext cx="7358063" cy="1714500"/>
          </a:xfrm>
          <a:prstGeom prst="rect">
            <a:avLst/>
          </a:prstGeom>
        </p:spPr>
        <p:txBody>
          <a:bodyPr/>
          <a:lstStyle>
            <a:lvl1pPr marL="0" marR="0" defTabSz="584200">
              <a:defRPr sz="8400">
                <a:solidFill>
                  <a:srgbClr val="000000"/>
                </a:solidFill>
                <a:uFillTx/>
                <a:latin typeface="+mj-lt"/>
                <a:ea typeface="+mj-ea"/>
                <a:cs typeface="+mj-cs"/>
                <a:sym typeface="Baskerville"/>
              </a:defRPr>
            </a:lvl1pPr>
          </a:lstStyle>
          <a:p>
            <a:r>
              <a:t>Mixin Classes</a:t>
            </a:r>
          </a:p>
        </p:txBody>
      </p:sp>
      <p:pic>
        <p:nvPicPr>
          <p:cNvPr id="36" name="Picture 3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552" y="1461976"/>
            <a:ext cx="7179833" cy="5396024"/>
          </a:xfrm>
          <a:prstGeom prst="rect">
            <a:avLst/>
          </a:prstGeom>
        </p:spPr>
      </p:pic>
    </p:spTree>
    <p:extLst>
      <p:ext uri="{BB962C8B-B14F-4D97-AF65-F5344CB8AC3E}">
        <p14:creationId xmlns:p14="http://schemas.microsoft.com/office/powerpoint/2010/main" val="15180232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GameObject"/>
          <p:cNvSpPr txBox="1"/>
          <p:nvPr/>
        </p:nvSpPr>
        <p:spPr>
          <a:xfrm>
            <a:off x="5516455" y="3432785"/>
            <a:ext cx="1162178"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GameObject</a:t>
            </a:r>
          </a:p>
        </p:txBody>
      </p:sp>
      <p:sp>
        <p:nvSpPr>
          <p:cNvPr id="218" name="Line"/>
          <p:cNvSpPr/>
          <p:nvPr/>
        </p:nvSpPr>
        <p:spPr>
          <a:xfrm flipH="1">
            <a:off x="2095500" y="4889492"/>
            <a:ext cx="553118" cy="1286429"/>
          </a:xfrm>
          <a:prstGeom prst="line">
            <a:avLst/>
          </a:prstGeom>
          <a:ln w="25400">
            <a:solidFill>
              <a:srgbClr val="000000"/>
            </a:solidFill>
            <a:miter lim="400000"/>
            <a:headEnd type="stealth"/>
          </a:ln>
        </p:spPr>
        <p:txBody>
          <a:bodyPr lIns="35719" tIns="35719" rIns="35719" bIns="35719" anchor="ctr"/>
          <a:lstStyle/>
          <a:p>
            <a:endParaRPr sz="1266"/>
          </a:p>
        </p:txBody>
      </p:sp>
      <p:sp>
        <p:nvSpPr>
          <p:cNvPr id="219" name="Line"/>
          <p:cNvSpPr/>
          <p:nvPr/>
        </p:nvSpPr>
        <p:spPr>
          <a:xfrm>
            <a:off x="2891707" y="4879202"/>
            <a:ext cx="436090" cy="1302388"/>
          </a:xfrm>
          <a:prstGeom prst="line">
            <a:avLst/>
          </a:prstGeom>
          <a:ln w="25400">
            <a:solidFill>
              <a:srgbClr val="000000"/>
            </a:solidFill>
            <a:miter lim="400000"/>
            <a:headEnd type="stealth"/>
          </a:ln>
        </p:spPr>
        <p:txBody>
          <a:bodyPr lIns="35719" tIns="35719" rIns="35719" bIns="35719" anchor="ctr"/>
          <a:lstStyle/>
          <a:p>
            <a:endParaRPr sz="1266"/>
          </a:p>
        </p:txBody>
      </p:sp>
      <p:sp>
        <p:nvSpPr>
          <p:cNvPr id="220" name="Character"/>
          <p:cNvSpPr txBox="1"/>
          <p:nvPr/>
        </p:nvSpPr>
        <p:spPr>
          <a:xfrm>
            <a:off x="2369985" y="4540066"/>
            <a:ext cx="918586"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Character</a:t>
            </a:r>
          </a:p>
        </p:txBody>
      </p:sp>
      <p:sp>
        <p:nvSpPr>
          <p:cNvPr id="221" name="Vechicle"/>
          <p:cNvSpPr txBox="1"/>
          <p:nvPr/>
        </p:nvSpPr>
        <p:spPr>
          <a:xfrm>
            <a:off x="4498178" y="4540066"/>
            <a:ext cx="787717"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Vechicle</a:t>
            </a:r>
          </a:p>
        </p:txBody>
      </p:sp>
      <p:sp>
        <p:nvSpPr>
          <p:cNvPr id="222" name="Weapon"/>
          <p:cNvSpPr txBox="1"/>
          <p:nvPr/>
        </p:nvSpPr>
        <p:spPr>
          <a:xfrm>
            <a:off x="6911198" y="4540066"/>
            <a:ext cx="801566"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Weapon</a:t>
            </a:r>
          </a:p>
        </p:txBody>
      </p:sp>
      <p:sp>
        <p:nvSpPr>
          <p:cNvPr id="223" name="Item"/>
          <p:cNvSpPr txBox="1"/>
          <p:nvPr/>
        </p:nvSpPr>
        <p:spPr>
          <a:xfrm>
            <a:off x="8977818" y="4540066"/>
            <a:ext cx="472373"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Item</a:t>
            </a:r>
          </a:p>
        </p:txBody>
      </p:sp>
      <p:sp>
        <p:nvSpPr>
          <p:cNvPr id="224" name="Player"/>
          <p:cNvSpPr txBox="1"/>
          <p:nvPr/>
        </p:nvSpPr>
        <p:spPr>
          <a:xfrm>
            <a:off x="1794301" y="6183129"/>
            <a:ext cx="605488"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Player</a:t>
            </a:r>
          </a:p>
        </p:txBody>
      </p:sp>
      <p:sp>
        <p:nvSpPr>
          <p:cNvPr id="225" name="NPC"/>
          <p:cNvSpPr txBox="1"/>
          <p:nvPr/>
        </p:nvSpPr>
        <p:spPr>
          <a:xfrm>
            <a:off x="3039894" y="6183129"/>
            <a:ext cx="436018"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NPC</a:t>
            </a:r>
          </a:p>
        </p:txBody>
      </p:sp>
      <p:sp>
        <p:nvSpPr>
          <p:cNvPr id="226" name="Line"/>
          <p:cNvSpPr/>
          <p:nvPr/>
        </p:nvSpPr>
        <p:spPr>
          <a:xfrm flipH="1">
            <a:off x="4912781" y="3777258"/>
            <a:ext cx="843891" cy="749850"/>
          </a:xfrm>
          <a:prstGeom prst="line">
            <a:avLst/>
          </a:prstGeom>
          <a:ln w="25400">
            <a:solidFill>
              <a:srgbClr val="000000"/>
            </a:solidFill>
            <a:miter lim="400000"/>
            <a:headEnd type="stealth"/>
          </a:ln>
        </p:spPr>
        <p:txBody>
          <a:bodyPr lIns="35719" tIns="35719" rIns="35719" bIns="35719" anchor="ctr"/>
          <a:lstStyle/>
          <a:p>
            <a:endParaRPr sz="1266"/>
          </a:p>
        </p:txBody>
      </p:sp>
      <p:sp>
        <p:nvSpPr>
          <p:cNvPr id="227" name="Line"/>
          <p:cNvSpPr/>
          <p:nvPr/>
        </p:nvSpPr>
        <p:spPr>
          <a:xfrm flipH="1">
            <a:off x="3098834" y="3607594"/>
            <a:ext cx="2372089" cy="909957"/>
          </a:xfrm>
          <a:prstGeom prst="line">
            <a:avLst/>
          </a:prstGeom>
          <a:ln w="25400">
            <a:solidFill>
              <a:srgbClr val="000000"/>
            </a:solidFill>
            <a:miter lim="400000"/>
            <a:headEnd type="stealth"/>
          </a:ln>
        </p:spPr>
        <p:txBody>
          <a:bodyPr lIns="35719" tIns="35719" rIns="35719" bIns="35719" anchor="ctr"/>
          <a:lstStyle/>
          <a:p>
            <a:endParaRPr sz="1266"/>
          </a:p>
        </p:txBody>
      </p:sp>
      <p:sp>
        <p:nvSpPr>
          <p:cNvPr id="228" name="Line"/>
          <p:cNvSpPr/>
          <p:nvPr/>
        </p:nvSpPr>
        <p:spPr>
          <a:xfrm>
            <a:off x="6398947" y="3787164"/>
            <a:ext cx="789789" cy="751978"/>
          </a:xfrm>
          <a:prstGeom prst="line">
            <a:avLst/>
          </a:prstGeom>
          <a:ln w="25400">
            <a:solidFill>
              <a:srgbClr val="000000"/>
            </a:solidFill>
            <a:miter lim="400000"/>
            <a:headEnd type="stealth"/>
          </a:ln>
        </p:spPr>
        <p:txBody>
          <a:bodyPr lIns="35719" tIns="35719" rIns="35719" bIns="35719" anchor="ctr"/>
          <a:lstStyle/>
          <a:p>
            <a:endParaRPr sz="1266"/>
          </a:p>
        </p:txBody>
      </p:sp>
      <p:sp>
        <p:nvSpPr>
          <p:cNvPr id="229" name="Line"/>
          <p:cNvSpPr/>
          <p:nvPr/>
        </p:nvSpPr>
        <p:spPr>
          <a:xfrm>
            <a:off x="6720171" y="3593954"/>
            <a:ext cx="2481442" cy="910097"/>
          </a:xfrm>
          <a:prstGeom prst="line">
            <a:avLst/>
          </a:prstGeom>
          <a:ln w="25400">
            <a:solidFill>
              <a:srgbClr val="000000"/>
            </a:solidFill>
            <a:miter lim="400000"/>
            <a:headEnd type="stealth"/>
          </a:ln>
        </p:spPr>
        <p:txBody>
          <a:bodyPr lIns="35719" tIns="35719" rIns="35719" bIns="35719" anchor="ctr"/>
          <a:lstStyle/>
          <a:p>
            <a:endParaRPr sz="1266"/>
          </a:p>
        </p:txBody>
      </p:sp>
      <p:sp>
        <p:nvSpPr>
          <p:cNvPr id="230" name="Line"/>
          <p:cNvSpPr/>
          <p:nvPr/>
        </p:nvSpPr>
        <p:spPr>
          <a:xfrm>
            <a:off x="8524212" y="3117438"/>
            <a:ext cx="779639" cy="1366626"/>
          </a:xfrm>
          <a:prstGeom prst="line">
            <a:avLst/>
          </a:prstGeom>
          <a:ln w="25400">
            <a:solidFill>
              <a:srgbClr val="797979"/>
            </a:solidFill>
            <a:miter lim="400000"/>
            <a:headEnd type="stealth"/>
          </a:ln>
        </p:spPr>
        <p:txBody>
          <a:bodyPr lIns="35719" tIns="35719" rIns="35719" bIns="35719" anchor="ctr"/>
          <a:lstStyle/>
          <a:p>
            <a:endParaRPr sz="1266"/>
          </a:p>
        </p:txBody>
      </p:sp>
      <p:sp>
        <p:nvSpPr>
          <p:cNvPr id="231" name="Tank"/>
          <p:cNvSpPr txBox="1"/>
          <p:nvPr/>
        </p:nvSpPr>
        <p:spPr>
          <a:xfrm>
            <a:off x="3987116" y="6183129"/>
            <a:ext cx="470386"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Tank</a:t>
            </a:r>
          </a:p>
        </p:txBody>
      </p:sp>
      <p:sp>
        <p:nvSpPr>
          <p:cNvPr id="232" name="Jeep"/>
          <p:cNvSpPr txBox="1"/>
          <p:nvPr/>
        </p:nvSpPr>
        <p:spPr>
          <a:xfrm>
            <a:off x="5230298" y="6183129"/>
            <a:ext cx="466475"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Jeep</a:t>
            </a:r>
          </a:p>
        </p:txBody>
      </p:sp>
      <p:sp>
        <p:nvSpPr>
          <p:cNvPr id="233" name="Piston"/>
          <p:cNvSpPr txBox="1"/>
          <p:nvPr/>
        </p:nvSpPr>
        <p:spPr>
          <a:xfrm>
            <a:off x="6384705" y="6183129"/>
            <a:ext cx="604397"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Piston</a:t>
            </a:r>
          </a:p>
        </p:txBody>
      </p:sp>
      <p:sp>
        <p:nvSpPr>
          <p:cNvPr id="234" name="AR15"/>
          <p:cNvSpPr txBox="1"/>
          <p:nvPr/>
        </p:nvSpPr>
        <p:spPr>
          <a:xfrm>
            <a:off x="7494771" y="6183129"/>
            <a:ext cx="527389"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AR15</a:t>
            </a:r>
          </a:p>
        </p:txBody>
      </p:sp>
      <p:sp>
        <p:nvSpPr>
          <p:cNvPr id="235" name="Canteen"/>
          <p:cNvSpPr txBox="1"/>
          <p:nvPr/>
        </p:nvSpPr>
        <p:spPr>
          <a:xfrm>
            <a:off x="8378617" y="6183129"/>
            <a:ext cx="795667"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Canteen</a:t>
            </a:r>
          </a:p>
        </p:txBody>
      </p:sp>
      <p:sp>
        <p:nvSpPr>
          <p:cNvPr id="236" name="Ammo"/>
          <p:cNvSpPr txBox="1"/>
          <p:nvPr/>
        </p:nvSpPr>
        <p:spPr>
          <a:xfrm>
            <a:off x="9648420" y="6183129"/>
            <a:ext cx="649217"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Ammo</a:t>
            </a:r>
          </a:p>
        </p:txBody>
      </p:sp>
      <p:sp>
        <p:nvSpPr>
          <p:cNvPr id="237" name="Line"/>
          <p:cNvSpPr/>
          <p:nvPr/>
        </p:nvSpPr>
        <p:spPr>
          <a:xfrm flipH="1">
            <a:off x="4256484" y="4889492"/>
            <a:ext cx="553118" cy="1286429"/>
          </a:xfrm>
          <a:prstGeom prst="line">
            <a:avLst/>
          </a:prstGeom>
          <a:ln w="25400">
            <a:solidFill>
              <a:srgbClr val="000000"/>
            </a:solidFill>
            <a:miter lim="400000"/>
            <a:headEnd type="stealth"/>
          </a:ln>
        </p:spPr>
        <p:txBody>
          <a:bodyPr lIns="35719" tIns="35719" rIns="35719" bIns="35719" anchor="ctr"/>
          <a:lstStyle/>
          <a:p>
            <a:endParaRPr sz="1266"/>
          </a:p>
        </p:txBody>
      </p:sp>
      <p:sp>
        <p:nvSpPr>
          <p:cNvPr id="238" name="Line"/>
          <p:cNvSpPr/>
          <p:nvPr/>
        </p:nvSpPr>
        <p:spPr>
          <a:xfrm flipH="1">
            <a:off x="6685359" y="4889492"/>
            <a:ext cx="553118" cy="1286429"/>
          </a:xfrm>
          <a:prstGeom prst="line">
            <a:avLst/>
          </a:prstGeom>
          <a:ln w="25400">
            <a:solidFill>
              <a:srgbClr val="000000"/>
            </a:solidFill>
            <a:miter lim="400000"/>
            <a:headEnd type="stealth"/>
          </a:ln>
        </p:spPr>
        <p:txBody>
          <a:bodyPr lIns="35719" tIns="35719" rIns="35719" bIns="35719" anchor="ctr"/>
          <a:lstStyle/>
          <a:p>
            <a:endParaRPr sz="1266"/>
          </a:p>
        </p:txBody>
      </p:sp>
      <p:sp>
        <p:nvSpPr>
          <p:cNvPr id="239" name="Line"/>
          <p:cNvSpPr/>
          <p:nvPr/>
        </p:nvSpPr>
        <p:spPr>
          <a:xfrm flipH="1">
            <a:off x="8614172" y="4889492"/>
            <a:ext cx="553118" cy="1286429"/>
          </a:xfrm>
          <a:prstGeom prst="line">
            <a:avLst/>
          </a:prstGeom>
          <a:ln w="25400">
            <a:solidFill>
              <a:srgbClr val="000000"/>
            </a:solidFill>
            <a:miter lim="400000"/>
            <a:headEnd type="stealth"/>
          </a:ln>
        </p:spPr>
        <p:txBody>
          <a:bodyPr lIns="35719" tIns="35719" rIns="35719" bIns="35719" anchor="ctr"/>
          <a:lstStyle/>
          <a:p>
            <a:endParaRPr sz="1266"/>
          </a:p>
        </p:txBody>
      </p:sp>
      <p:sp>
        <p:nvSpPr>
          <p:cNvPr id="240" name="Line"/>
          <p:cNvSpPr/>
          <p:nvPr/>
        </p:nvSpPr>
        <p:spPr>
          <a:xfrm>
            <a:off x="5043762" y="4879202"/>
            <a:ext cx="436090" cy="1302388"/>
          </a:xfrm>
          <a:prstGeom prst="line">
            <a:avLst/>
          </a:prstGeom>
          <a:ln w="25400">
            <a:solidFill>
              <a:srgbClr val="000000"/>
            </a:solidFill>
            <a:miter lim="400000"/>
            <a:headEnd type="stealth"/>
          </a:ln>
        </p:spPr>
        <p:txBody>
          <a:bodyPr lIns="35719" tIns="35719" rIns="35719" bIns="35719" anchor="ctr"/>
          <a:lstStyle/>
          <a:p>
            <a:endParaRPr sz="1266"/>
          </a:p>
        </p:txBody>
      </p:sp>
      <p:sp>
        <p:nvSpPr>
          <p:cNvPr id="241" name="Line"/>
          <p:cNvSpPr/>
          <p:nvPr/>
        </p:nvSpPr>
        <p:spPr>
          <a:xfrm>
            <a:off x="7535145" y="4879202"/>
            <a:ext cx="436090" cy="1302388"/>
          </a:xfrm>
          <a:prstGeom prst="line">
            <a:avLst/>
          </a:prstGeom>
          <a:ln w="25400">
            <a:solidFill>
              <a:srgbClr val="000000"/>
            </a:solidFill>
            <a:miter lim="400000"/>
            <a:headEnd type="stealth"/>
          </a:ln>
        </p:spPr>
        <p:txBody>
          <a:bodyPr lIns="35719" tIns="35719" rIns="35719" bIns="35719" anchor="ctr"/>
          <a:lstStyle/>
          <a:p>
            <a:endParaRPr sz="1266"/>
          </a:p>
        </p:txBody>
      </p:sp>
      <p:sp>
        <p:nvSpPr>
          <p:cNvPr id="242" name="Line"/>
          <p:cNvSpPr/>
          <p:nvPr/>
        </p:nvSpPr>
        <p:spPr>
          <a:xfrm>
            <a:off x="9410379" y="4879202"/>
            <a:ext cx="436090" cy="1302388"/>
          </a:xfrm>
          <a:prstGeom prst="line">
            <a:avLst/>
          </a:prstGeom>
          <a:ln w="25400">
            <a:solidFill>
              <a:srgbClr val="000000"/>
            </a:solidFill>
            <a:miter lim="400000"/>
            <a:headEnd type="stealth"/>
          </a:ln>
        </p:spPr>
        <p:txBody>
          <a:bodyPr lIns="35719" tIns="35719" rIns="35719" bIns="35719" anchor="ctr"/>
          <a:lstStyle/>
          <a:p>
            <a:endParaRPr sz="1266"/>
          </a:p>
        </p:txBody>
      </p:sp>
      <p:graphicFrame>
        <p:nvGraphicFramePr>
          <p:cNvPr id="243" name="Table"/>
          <p:cNvGraphicFramePr/>
          <p:nvPr/>
        </p:nvGraphicFramePr>
        <p:xfrm>
          <a:off x="2684860" y="1732359"/>
          <a:ext cx="1678781" cy="1652590"/>
        </p:xfrm>
        <a:graphic>
          <a:graphicData uri="http://schemas.openxmlformats.org/drawingml/2006/table">
            <a:tbl>
              <a:tblPr/>
              <a:tblGrid>
                <a:gridCol w="1678781">
                  <a:extLst>
                    <a:ext uri="{9D8B030D-6E8A-4147-A177-3AD203B41FA5}">
                      <a16:colId xmlns:a16="http://schemas.microsoft.com/office/drawing/2014/main" val="20000"/>
                    </a:ext>
                  </a:extLst>
                </a:gridCol>
              </a:tblGrid>
              <a:tr h="328613">
                <a:tc>
                  <a:txBody>
                    <a:bodyPr/>
                    <a:lstStyle/>
                    <a:p>
                      <a:pPr defTabSz="914400">
                        <a:tabLst>
                          <a:tab pos="914400" algn="l"/>
                        </a:tabLst>
                        <a:defRPr sz="2400">
                          <a:uFillTx/>
                          <a:latin typeface="+mj-lt"/>
                          <a:ea typeface="+mj-ea"/>
                          <a:cs typeface="+mj-cs"/>
                          <a:sym typeface="Baskerville"/>
                        </a:defRPr>
                      </a:pPr>
                      <a:r>
                        <a:rPr sz="1700" b="1"/>
                        <a:t>MHealth</a:t>
                      </a:r>
                    </a:p>
                  </a:txBody>
                  <a:tcPr marL="35719" marR="35719" marT="35719" marB="35719"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extLst>
                  <a:ext uri="{0D108BD9-81ED-4DB2-BD59-A6C34878D82A}">
                    <a16:rowId xmlns:a16="http://schemas.microsoft.com/office/drawing/2014/main" val="10000"/>
                  </a:ext>
                </a:extLst>
              </a:tr>
              <a:tr h="328613">
                <a:tc>
                  <a:txBody>
                    <a:bodyPr/>
                    <a:lstStyle/>
                    <a:p>
                      <a:pPr algn="l" defTabSz="914400">
                        <a:tabLst>
                          <a:tab pos="914400" algn="l"/>
                        </a:tabLst>
                        <a:defRPr>
                          <a:uFillTx/>
                        </a:defRPr>
                      </a:pPr>
                      <a:r>
                        <a:rPr sz="1700">
                          <a:latin typeface="+mj-lt"/>
                          <a:ea typeface="+mj-ea"/>
                          <a:cs typeface="+mj-cs"/>
                          <a:sym typeface="Baskerville"/>
                        </a:rPr>
                        <a:t>+GetHealth()</a:t>
                      </a:r>
                    </a:p>
                  </a:txBody>
                  <a:tcPr marL="35719" marR="35719" marT="35719" marB="35719" anchor="ctr" horzOverflow="overflow">
                    <a:lnL w="12700">
                      <a:solidFill>
                        <a:srgbClr val="000000"/>
                      </a:solidFill>
                      <a:miter lim="400000"/>
                    </a:lnL>
                    <a:lnR w="12700">
                      <a:solidFill>
                        <a:srgbClr val="000000"/>
                      </a:solidFill>
                      <a:miter lim="400000"/>
                    </a:lnR>
                    <a:lnT w="12700">
                      <a:solidFill>
                        <a:srgbClr val="000000"/>
                      </a:solidFill>
                      <a:miter lim="400000"/>
                    </a:lnT>
                    <a:lnB w="0">
                      <a:miter lim="400000"/>
                    </a:lnB>
                  </a:tcPr>
                </a:tc>
                <a:extLst>
                  <a:ext uri="{0D108BD9-81ED-4DB2-BD59-A6C34878D82A}">
                    <a16:rowId xmlns:a16="http://schemas.microsoft.com/office/drawing/2014/main" val="10001"/>
                  </a:ext>
                </a:extLst>
              </a:tr>
              <a:tr h="328613">
                <a:tc>
                  <a:txBody>
                    <a:bodyPr/>
                    <a:lstStyle/>
                    <a:p>
                      <a:pPr algn="l" defTabSz="914400">
                        <a:tabLst>
                          <a:tab pos="914400" algn="l"/>
                        </a:tabLst>
                        <a:defRPr>
                          <a:uFillTx/>
                        </a:defRPr>
                      </a:pPr>
                      <a:r>
                        <a:rPr sz="1700">
                          <a:latin typeface="+mj-lt"/>
                          <a:ea typeface="+mj-ea"/>
                          <a:cs typeface="+mj-cs"/>
                          <a:sym typeface="Baskerville"/>
                        </a:rPr>
                        <a:t>+ApplyDamage()</a:t>
                      </a:r>
                    </a:p>
                  </a:txBody>
                  <a:tcPr marL="35719" marR="35719" marT="35719" marB="35719" anchor="ctr" horzOverflow="overflow">
                    <a:lnL w="12700">
                      <a:solidFill>
                        <a:srgbClr val="000000"/>
                      </a:solidFill>
                      <a:miter lim="400000"/>
                    </a:lnL>
                    <a:lnR w="12700">
                      <a:solidFill>
                        <a:srgbClr val="000000"/>
                      </a:solidFill>
                      <a:miter lim="400000"/>
                    </a:lnR>
                    <a:lnT w="0">
                      <a:miter lim="400000"/>
                    </a:lnT>
                    <a:lnB w="0">
                      <a:miter lim="400000"/>
                    </a:lnB>
                  </a:tcPr>
                </a:tc>
                <a:extLst>
                  <a:ext uri="{0D108BD9-81ED-4DB2-BD59-A6C34878D82A}">
                    <a16:rowId xmlns:a16="http://schemas.microsoft.com/office/drawing/2014/main" val="10002"/>
                  </a:ext>
                </a:extLst>
              </a:tr>
              <a:tr h="328613">
                <a:tc>
                  <a:txBody>
                    <a:bodyPr/>
                    <a:lstStyle/>
                    <a:p>
                      <a:pPr algn="l" defTabSz="914400">
                        <a:tabLst>
                          <a:tab pos="914400" algn="l"/>
                        </a:tabLst>
                        <a:defRPr>
                          <a:uFillTx/>
                        </a:defRPr>
                      </a:pPr>
                      <a:r>
                        <a:rPr sz="1700">
                          <a:latin typeface="+mj-lt"/>
                          <a:ea typeface="+mj-ea"/>
                          <a:cs typeface="+mj-cs"/>
                          <a:sym typeface="Baskerville"/>
                        </a:rPr>
                        <a:t>+IsDead()</a:t>
                      </a:r>
                    </a:p>
                  </a:txBody>
                  <a:tcPr marL="35719" marR="35719" marT="35719" marB="35719" anchor="ctr" horzOverflow="overflow">
                    <a:lnL w="12700">
                      <a:solidFill>
                        <a:srgbClr val="000000"/>
                      </a:solidFill>
                      <a:miter lim="400000"/>
                    </a:lnL>
                    <a:lnR w="12700">
                      <a:solidFill>
                        <a:srgbClr val="000000"/>
                      </a:solidFill>
                      <a:miter lim="400000"/>
                    </a:lnR>
                    <a:lnT w="0">
                      <a:miter lim="400000"/>
                    </a:lnT>
                    <a:lnB w="0">
                      <a:miter lim="400000"/>
                    </a:lnB>
                  </a:tcPr>
                </a:tc>
                <a:extLst>
                  <a:ext uri="{0D108BD9-81ED-4DB2-BD59-A6C34878D82A}">
                    <a16:rowId xmlns:a16="http://schemas.microsoft.com/office/drawing/2014/main" val="10003"/>
                  </a:ext>
                </a:extLst>
              </a:tr>
              <a:tr h="328613">
                <a:tc>
                  <a:txBody>
                    <a:bodyPr/>
                    <a:lstStyle/>
                    <a:p>
                      <a:pPr algn="l" defTabSz="914400">
                        <a:tabLst>
                          <a:tab pos="914400" algn="l"/>
                        </a:tabLst>
                        <a:defRPr>
                          <a:uFillTx/>
                        </a:defRPr>
                      </a:pPr>
                      <a:r>
                        <a:rPr sz="1700">
                          <a:latin typeface="+mj-lt"/>
                          <a:ea typeface="+mj-ea"/>
                          <a:cs typeface="+mj-cs"/>
                          <a:sym typeface="Baskerville"/>
                        </a:rPr>
                        <a:t>+OnDeath()</a:t>
                      </a:r>
                    </a:p>
                  </a:txBody>
                  <a:tcPr marL="35719" marR="35719" marT="35719" marB="35719" anchor="ctr" horzOverflow="overflow">
                    <a:lnL w="12700">
                      <a:solidFill>
                        <a:srgbClr val="000000"/>
                      </a:solidFill>
                      <a:miter lim="400000"/>
                    </a:lnL>
                    <a:lnR w="12700">
                      <a:solidFill>
                        <a:srgbClr val="000000"/>
                      </a:solidFill>
                      <a:miter lim="400000"/>
                    </a:lnR>
                    <a:lnT w="0">
                      <a:miter lim="400000"/>
                    </a:lnT>
                    <a:lnB w="12700">
                      <a:solidFill>
                        <a:srgbClr val="000000"/>
                      </a:solidFill>
                      <a:miter lim="400000"/>
                    </a:lnB>
                  </a:tcPr>
                </a:tc>
                <a:extLst>
                  <a:ext uri="{0D108BD9-81ED-4DB2-BD59-A6C34878D82A}">
                    <a16:rowId xmlns:a16="http://schemas.microsoft.com/office/drawing/2014/main" val="10004"/>
                  </a:ext>
                </a:extLst>
              </a:tr>
            </a:tbl>
          </a:graphicData>
        </a:graphic>
      </p:graphicFrame>
      <p:graphicFrame>
        <p:nvGraphicFramePr>
          <p:cNvPr id="244" name="Table"/>
          <p:cNvGraphicFramePr/>
          <p:nvPr/>
        </p:nvGraphicFramePr>
        <p:xfrm>
          <a:off x="7533680" y="1723430"/>
          <a:ext cx="1678781" cy="1366244"/>
        </p:xfrm>
        <a:graphic>
          <a:graphicData uri="http://schemas.openxmlformats.org/drawingml/2006/table">
            <a:tbl>
              <a:tblPr/>
              <a:tblGrid>
                <a:gridCol w="1678781">
                  <a:extLst>
                    <a:ext uri="{9D8B030D-6E8A-4147-A177-3AD203B41FA5}">
                      <a16:colId xmlns:a16="http://schemas.microsoft.com/office/drawing/2014/main" val="20000"/>
                    </a:ext>
                  </a:extLst>
                </a:gridCol>
              </a:tblGrid>
              <a:tr h="341561">
                <a:tc>
                  <a:txBody>
                    <a:bodyPr/>
                    <a:lstStyle/>
                    <a:p>
                      <a:pPr defTabSz="914400">
                        <a:tabLst>
                          <a:tab pos="914400" algn="l"/>
                        </a:tabLst>
                        <a:defRPr sz="2400">
                          <a:uFillTx/>
                          <a:latin typeface="+mj-lt"/>
                          <a:ea typeface="+mj-ea"/>
                          <a:cs typeface="+mj-cs"/>
                          <a:sym typeface="Baskerville"/>
                        </a:defRPr>
                      </a:pPr>
                      <a:r>
                        <a:rPr sz="1700" b="1"/>
                        <a:t>MCarryable</a:t>
                      </a:r>
                    </a:p>
                  </a:txBody>
                  <a:tcPr marL="35719" marR="35719" marT="35719" marB="35719"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extLst>
                  <a:ext uri="{0D108BD9-81ED-4DB2-BD59-A6C34878D82A}">
                    <a16:rowId xmlns:a16="http://schemas.microsoft.com/office/drawing/2014/main" val="10000"/>
                  </a:ext>
                </a:extLst>
              </a:tr>
              <a:tr h="341561">
                <a:tc>
                  <a:txBody>
                    <a:bodyPr/>
                    <a:lstStyle/>
                    <a:p>
                      <a:pPr algn="l" defTabSz="914400">
                        <a:tabLst>
                          <a:tab pos="914400" algn="l"/>
                        </a:tabLst>
                        <a:defRPr>
                          <a:uFillTx/>
                        </a:defRPr>
                      </a:pPr>
                      <a:r>
                        <a:rPr sz="1700">
                          <a:latin typeface="+mj-lt"/>
                          <a:ea typeface="+mj-ea"/>
                          <a:cs typeface="+mj-cs"/>
                          <a:sym typeface="Baskerville"/>
                        </a:rPr>
                        <a:t>+PickUp()</a:t>
                      </a:r>
                    </a:p>
                  </a:txBody>
                  <a:tcPr marL="35719" marR="35719" marT="35719" marB="35719" anchor="ctr" horzOverflow="overflow">
                    <a:lnL w="12700">
                      <a:solidFill>
                        <a:srgbClr val="000000"/>
                      </a:solidFill>
                      <a:miter lim="400000"/>
                    </a:lnL>
                    <a:lnR w="12700">
                      <a:solidFill>
                        <a:srgbClr val="000000"/>
                      </a:solidFill>
                      <a:miter lim="400000"/>
                    </a:lnR>
                    <a:lnT w="12700">
                      <a:solidFill>
                        <a:srgbClr val="000000"/>
                      </a:solidFill>
                      <a:miter lim="400000"/>
                    </a:lnT>
                    <a:lnB w="0">
                      <a:miter lim="400000"/>
                    </a:lnB>
                  </a:tcPr>
                </a:tc>
                <a:extLst>
                  <a:ext uri="{0D108BD9-81ED-4DB2-BD59-A6C34878D82A}">
                    <a16:rowId xmlns:a16="http://schemas.microsoft.com/office/drawing/2014/main" val="10001"/>
                  </a:ext>
                </a:extLst>
              </a:tr>
              <a:tr h="341561">
                <a:tc>
                  <a:txBody>
                    <a:bodyPr/>
                    <a:lstStyle/>
                    <a:p>
                      <a:pPr algn="l" defTabSz="914400">
                        <a:tabLst>
                          <a:tab pos="914400" algn="l"/>
                        </a:tabLst>
                        <a:defRPr>
                          <a:uFillTx/>
                        </a:defRPr>
                      </a:pPr>
                      <a:r>
                        <a:rPr sz="1700">
                          <a:latin typeface="+mj-lt"/>
                          <a:ea typeface="+mj-ea"/>
                          <a:cs typeface="+mj-cs"/>
                          <a:sym typeface="Baskerville"/>
                        </a:rPr>
                        <a:t>+Drop()</a:t>
                      </a:r>
                    </a:p>
                  </a:txBody>
                  <a:tcPr marL="35719" marR="35719" marT="35719" marB="35719" anchor="ctr" horzOverflow="overflow">
                    <a:lnL w="12700">
                      <a:solidFill>
                        <a:srgbClr val="000000"/>
                      </a:solidFill>
                      <a:miter lim="400000"/>
                    </a:lnL>
                    <a:lnR w="12700">
                      <a:solidFill>
                        <a:srgbClr val="000000"/>
                      </a:solidFill>
                      <a:miter lim="400000"/>
                    </a:lnR>
                    <a:lnT w="0">
                      <a:miter lim="400000"/>
                    </a:lnT>
                    <a:lnB w="0">
                      <a:miter lim="400000"/>
                    </a:lnB>
                  </a:tcPr>
                </a:tc>
                <a:extLst>
                  <a:ext uri="{0D108BD9-81ED-4DB2-BD59-A6C34878D82A}">
                    <a16:rowId xmlns:a16="http://schemas.microsoft.com/office/drawing/2014/main" val="10002"/>
                  </a:ext>
                </a:extLst>
              </a:tr>
              <a:tr h="341561">
                <a:tc>
                  <a:txBody>
                    <a:bodyPr/>
                    <a:lstStyle/>
                    <a:p>
                      <a:pPr algn="l" defTabSz="914400">
                        <a:tabLst>
                          <a:tab pos="914400" algn="l"/>
                        </a:tabLst>
                        <a:defRPr>
                          <a:uFillTx/>
                        </a:defRPr>
                      </a:pPr>
                      <a:r>
                        <a:rPr sz="1700">
                          <a:latin typeface="+mj-lt"/>
                          <a:ea typeface="+mj-ea"/>
                          <a:cs typeface="+mj-cs"/>
                          <a:sym typeface="Baskerville"/>
                        </a:rPr>
                        <a:t>+IsBeingCarried()</a:t>
                      </a:r>
                    </a:p>
                  </a:txBody>
                  <a:tcPr marL="35719" marR="35719" marT="35719" marB="35719" anchor="ctr" horzOverflow="overflow">
                    <a:lnL w="12700">
                      <a:solidFill>
                        <a:srgbClr val="000000"/>
                      </a:solidFill>
                      <a:miter lim="400000"/>
                    </a:lnL>
                    <a:lnR w="12700">
                      <a:solidFill>
                        <a:srgbClr val="000000"/>
                      </a:solidFill>
                      <a:miter lim="400000"/>
                    </a:lnR>
                    <a:lnT w="0">
                      <a:miter lim="400000"/>
                    </a:lnT>
                    <a:lnB w="12700">
                      <a:solidFill>
                        <a:srgbClr val="000000"/>
                      </a:solidFill>
                      <a:miter lim="400000"/>
                    </a:lnB>
                  </a:tcPr>
                </a:tc>
                <a:extLst>
                  <a:ext uri="{0D108BD9-81ED-4DB2-BD59-A6C34878D82A}">
                    <a16:rowId xmlns:a16="http://schemas.microsoft.com/office/drawing/2014/main" val="10003"/>
                  </a:ext>
                </a:extLst>
              </a:tr>
            </a:tbl>
          </a:graphicData>
        </a:graphic>
      </p:graphicFrame>
      <p:sp>
        <p:nvSpPr>
          <p:cNvPr id="245" name="Line"/>
          <p:cNvSpPr/>
          <p:nvPr/>
        </p:nvSpPr>
        <p:spPr>
          <a:xfrm flipH="1">
            <a:off x="7384980" y="3117438"/>
            <a:ext cx="755257" cy="1372695"/>
          </a:xfrm>
          <a:prstGeom prst="line">
            <a:avLst/>
          </a:prstGeom>
          <a:ln w="25400">
            <a:solidFill>
              <a:srgbClr val="797979"/>
            </a:solidFill>
            <a:miter lim="400000"/>
            <a:headEnd type="stealth"/>
          </a:ln>
        </p:spPr>
        <p:txBody>
          <a:bodyPr lIns="35719" tIns="35719" rIns="35719" bIns="35719" anchor="ctr"/>
          <a:lstStyle/>
          <a:p>
            <a:endParaRPr sz="1266"/>
          </a:p>
        </p:txBody>
      </p:sp>
      <p:sp>
        <p:nvSpPr>
          <p:cNvPr id="246" name="Line"/>
          <p:cNvSpPr/>
          <p:nvPr/>
        </p:nvSpPr>
        <p:spPr>
          <a:xfrm flipH="1">
            <a:off x="2714753" y="3423070"/>
            <a:ext cx="369606" cy="1075993"/>
          </a:xfrm>
          <a:prstGeom prst="line">
            <a:avLst/>
          </a:prstGeom>
          <a:ln w="25400">
            <a:solidFill>
              <a:srgbClr val="797979"/>
            </a:solidFill>
            <a:miter lim="400000"/>
            <a:headEnd type="stealth"/>
          </a:ln>
        </p:spPr>
        <p:txBody>
          <a:bodyPr lIns="35719" tIns="35719" rIns="35719" bIns="35719" anchor="ctr"/>
          <a:lstStyle/>
          <a:p>
            <a:endParaRPr sz="1266"/>
          </a:p>
        </p:txBody>
      </p:sp>
      <p:sp>
        <p:nvSpPr>
          <p:cNvPr id="247" name="Line"/>
          <p:cNvSpPr/>
          <p:nvPr/>
        </p:nvSpPr>
        <p:spPr>
          <a:xfrm flipH="1">
            <a:off x="2929065" y="2391063"/>
            <a:ext cx="4588116" cy="2107999"/>
          </a:xfrm>
          <a:prstGeom prst="line">
            <a:avLst/>
          </a:prstGeom>
          <a:ln w="25400">
            <a:solidFill>
              <a:srgbClr val="797979"/>
            </a:solidFill>
            <a:miter lim="400000"/>
            <a:headEnd type="stealth"/>
          </a:ln>
        </p:spPr>
        <p:txBody>
          <a:bodyPr lIns="35719" tIns="35719" rIns="35719" bIns="35719" anchor="ctr"/>
          <a:lstStyle/>
          <a:p>
            <a:endParaRPr sz="1266"/>
          </a:p>
        </p:txBody>
      </p:sp>
      <p:sp>
        <p:nvSpPr>
          <p:cNvPr id="248" name="Line"/>
          <p:cNvSpPr/>
          <p:nvPr/>
        </p:nvSpPr>
        <p:spPr>
          <a:xfrm>
            <a:off x="4028428" y="3402211"/>
            <a:ext cx="651868" cy="1120572"/>
          </a:xfrm>
          <a:prstGeom prst="line">
            <a:avLst/>
          </a:prstGeom>
          <a:ln w="25400">
            <a:solidFill>
              <a:srgbClr val="797979"/>
            </a:solidFill>
            <a:miter lim="400000"/>
            <a:headEnd type="stealth"/>
          </a:ln>
        </p:spPr>
        <p:txBody>
          <a:bodyPr lIns="35719" tIns="35719" rIns="35719" bIns="35719" anchor="ctr"/>
          <a:lstStyle/>
          <a:p>
            <a:endParaRPr sz="1266"/>
          </a:p>
        </p:txBody>
      </p:sp>
      <p:sp>
        <p:nvSpPr>
          <p:cNvPr id="249" name="Mixin Classes"/>
          <p:cNvSpPr txBox="1">
            <a:spLocks noGrp="1"/>
          </p:cNvSpPr>
          <p:nvPr>
            <p:ph type="title" idx="4294967295"/>
          </p:nvPr>
        </p:nvSpPr>
        <p:spPr>
          <a:xfrm>
            <a:off x="2416969" y="178594"/>
            <a:ext cx="7358063" cy="1714500"/>
          </a:xfrm>
          <a:prstGeom prst="rect">
            <a:avLst/>
          </a:prstGeom>
        </p:spPr>
        <p:txBody>
          <a:bodyPr/>
          <a:lstStyle>
            <a:lvl1pPr marL="0" marR="0" defTabSz="584200">
              <a:defRPr sz="8400">
                <a:solidFill>
                  <a:srgbClr val="000000"/>
                </a:solidFill>
                <a:uFillTx/>
                <a:latin typeface="+mj-lt"/>
                <a:ea typeface="+mj-ea"/>
                <a:cs typeface="+mj-cs"/>
                <a:sym typeface="Baskerville"/>
              </a:defRPr>
            </a:lvl1pPr>
          </a:lstStyle>
          <a:p>
            <a:r>
              <a:t>Mixin Classes</a:t>
            </a:r>
          </a:p>
        </p:txBody>
      </p:sp>
    </p:spTree>
    <p:extLst>
      <p:ext uri="{BB962C8B-B14F-4D97-AF65-F5344CB8AC3E}">
        <p14:creationId xmlns:p14="http://schemas.microsoft.com/office/powerpoint/2010/main" val="33421781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Ownership-Based Entities"/>
          <p:cNvSpPr txBox="1">
            <a:spLocks noGrp="1"/>
          </p:cNvSpPr>
          <p:nvPr>
            <p:ph type="title"/>
          </p:nvPr>
        </p:nvSpPr>
        <p:spPr>
          <a:prstGeom prst="rect">
            <a:avLst/>
          </a:prstGeom>
        </p:spPr>
        <p:txBody>
          <a:bodyPr/>
          <a:lstStyle/>
          <a:p>
            <a:r>
              <a:t>Ownership-Based Entities</a:t>
            </a:r>
          </a:p>
        </p:txBody>
      </p:sp>
      <p:sp>
        <p:nvSpPr>
          <p:cNvPr id="254" name="class CharacterDrawable : public Drawable…"/>
          <p:cNvSpPr txBox="1">
            <a:spLocks noGrp="1"/>
          </p:cNvSpPr>
          <p:nvPr>
            <p:ph type="body" idx="1"/>
          </p:nvPr>
        </p:nvSpPr>
        <p:spPr>
          <a:xfrm>
            <a:off x="2416969" y="1946672"/>
            <a:ext cx="9224046" cy="4612664"/>
          </a:xfrm>
          <a:prstGeom prst="rect">
            <a:avLst/>
          </a:prstGeom>
        </p:spPr>
        <p:txBody>
          <a:bodyPr>
            <a:normAutofit fontScale="85000" lnSpcReduction="20000"/>
          </a:bodyPr>
          <a:lstStyle/>
          <a:p>
            <a:pPr marL="0" indent="0">
              <a:lnSpc>
                <a:spcPct val="80000"/>
              </a:lnSpc>
              <a:spcBef>
                <a:spcPts val="281"/>
              </a:spcBef>
              <a:buNone/>
              <a:defRPr sz="2900">
                <a:latin typeface="Courier New"/>
                <a:ea typeface="Courier New"/>
                <a:cs typeface="Courier New"/>
                <a:sym typeface="Courier New"/>
              </a:defRPr>
            </a:pPr>
            <a:r>
              <a:rPr dirty="0"/>
              <a:t>class </a:t>
            </a:r>
            <a:r>
              <a:rPr dirty="0" err="1"/>
              <a:t>CharacterDrawable</a:t>
            </a:r>
            <a:r>
              <a:rPr dirty="0"/>
              <a:t> : public </a:t>
            </a:r>
            <a:r>
              <a:rPr dirty="0" err="1"/>
              <a:t>Drawable</a:t>
            </a:r>
            <a:endParaRPr dirty="0"/>
          </a:p>
          <a:p>
            <a:pPr marL="0" indent="0">
              <a:lnSpc>
                <a:spcPct val="80000"/>
              </a:lnSpc>
              <a:spcBef>
                <a:spcPts val="281"/>
              </a:spcBef>
              <a:buNone/>
              <a:defRPr sz="2900">
                <a:latin typeface="Courier New"/>
                <a:ea typeface="Courier New"/>
                <a:cs typeface="Courier New"/>
                <a:sym typeface="Courier New"/>
              </a:defRPr>
            </a:pPr>
            <a:r>
              <a:rPr dirty="0"/>
              <a:t>{</a:t>
            </a:r>
          </a:p>
          <a:p>
            <a:pPr marL="0" indent="0">
              <a:lnSpc>
                <a:spcPct val="80000"/>
              </a:lnSpc>
              <a:spcBef>
                <a:spcPts val="281"/>
              </a:spcBef>
              <a:buNone/>
              <a:defRPr sz="2900">
                <a:latin typeface="Courier New"/>
                <a:ea typeface="Courier New"/>
                <a:cs typeface="Courier New"/>
                <a:sym typeface="Courier New"/>
              </a:defRPr>
            </a:pPr>
            <a:r>
              <a:rPr dirty="0"/>
              <a:t>    void Display(void);</a:t>
            </a:r>
          </a:p>
          <a:p>
            <a:pPr marL="0" indent="0">
              <a:lnSpc>
                <a:spcPct val="80000"/>
              </a:lnSpc>
              <a:spcBef>
                <a:spcPts val="281"/>
              </a:spcBef>
              <a:buNone/>
              <a:defRPr sz="2900">
                <a:latin typeface="Courier New"/>
                <a:ea typeface="Courier New"/>
                <a:cs typeface="Courier New"/>
                <a:sym typeface="Courier New"/>
              </a:defRPr>
            </a:pPr>
            <a:r>
              <a:rPr dirty="0"/>
              <a:t>}</a:t>
            </a:r>
          </a:p>
          <a:p>
            <a:pPr marL="0" indent="0">
              <a:lnSpc>
                <a:spcPct val="80000"/>
              </a:lnSpc>
              <a:spcBef>
                <a:spcPts val="281"/>
              </a:spcBef>
              <a:buNone/>
              <a:defRPr sz="2900">
                <a:latin typeface="Courier New"/>
                <a:ea typeface="Courier New"/>
                <a:cs typeface="Courier New"/>
                <a:sym typeface="Courier New"/>
              </a:defRPr>
            </a:pPr>
            <a:endParaRPr dirty="0"/>
          </a:p>
          <a:p>
            <a:pPr marL="0" indent="0">
              <a:lnSpc>
                <a:spcPct val="80000"/>
              </a:lnSpc>
              <a:spcBef>
                <a:spcPts val="281"/>
              </a:spcBef>
              <a:buNone/>
              <a:defRPr sz="2900">
                <a:latin typeface="Courier New"/>
                <a:ea typeface="Courier New"/>
                <a:cs typeface="Courier New"/>
                <a:sym typeface="Courier New"/>
              </a:defRPr>
            </a:pPr>
            <a:r>
              <a:rPr dirty="0"/>
              <a:t>class </a:t>
            </a:r>
            <a:r>
              <a:rPr dirty="0" err="1"/>
              <a:t>CharacterAI</a:t>
            </a:r>
            <a:r>
              <a:rPr dirty="0"/>
              <a:t> : public AI</a:t>
            </a:r>
          </a:p>
          <a:p>
            <a:pPr marL="0" indent="0">
              <a:lnSpc>
                <a:spcPct val="80000"/>
              </a:lnSpc>
              <a:spcBef>
                <a:spcPts val="281"/>
              </a:spcBef>
              <a:buNone/>
              <a:defRPr sz="2900">
                <a:latin typeface="Courier New"/>
                <a:ea typeface="Courier New"/>
                <a:cs typeface="Courier New"/>
                <a:sym typeface="Courier New"/>
              </a:defRPr>
            </a:pPr>
            <a:r>
              <a:rPr dirty="0"/>
              <a:t>{</a:t>
            </a:r>
          </a:p>
          <a:p>
            <a:pPr marL="0" indent="0">
              <a:lnSpc>
                <a:spcPct val="80000"/>
              </a:lnSpc>
              <a:spcBef>
                <a:spcPts val="281"/>
              </a:spcBef>
              <a:buNone/>
              <a:defRPr sz="2900">
                <a:latin typeface="Courier New"/>
                <a:ea typeface="Courier New"/>
                <a:cs typeface="Courier New"/>
                <a:sym typeface="Courier New"/>
              </a:defRPr>
            </a:pPr>
            <a:r>
              <a:rPr dirty="0"/>
              <a:t>    void Update(float </a:t>
            </a:r>
            <a:r>
              <a:rPr dirty="0" err="1"/>
              <a:t>dt</a:t>
            </a:r>
            <a:r>
              <a:rPr dirty="0"/>
              <a:t>);</a:t>
            </a:r>
          </a:p>
          <a:p>
            <a:pPr marL="0" indent="0">
              <a:lnSpc>
                <a:spcPct val="80000"/>
              </a:lnSpc>
              <a:spcBef>
                <a:spcPts val="281"/>
              </a:spcBef>
              <a:buNone/>
              <a:defRPr sz="2900">
                <a:latin typeface="Courier New"/>
                <a:ea typeface="Courier New"/>
                <a:cs typeface="Courier New"/>
                <a:sym typeface="Courier New"/>
              </a:defRPr>
            </a:pPr>
            <a:r>
              <a:rPr dirty="0"/>
              <a:t>}</a:t>
            </a:r>
          </a:p>
          <a:p>
            <a:pPr marL="0" indent="0">
              <a:lnSpc>
                <a:spcPct val="80000"/>
              </a:lnSpc>
              <a:spcBef>
                <a:spcPts val="281"/>
              </a:spcBef>
              <a:buNone/>
              <a:defRPr sz="2900">
                <a:latin typeface="Courier New"/>
                <a:ea typeface="Courier New"/>
                <a:cs typeface="Courier New"/>
                <a:sym typeface="Courier New"/>
              </a:defRPr>
            </a:pPr>
            <a:endParaRPr dirty="0"/>
          </a:p>
          <a:p>
            <a:pPr marL="0" indent="0">
              <a:lnSpc>
                <a:spcPct val="80000"/>
              </a:lnSpc>
              <a:spcBef>
                <a:spcPts val="281"/>
              </a:spcBef>
              <a:buNone/>
              <a:defRPr sz="2900">
                <a:latin typeface="Courier New"/>
                <a:ea typeface="Courier New"/>
                <a:cs typeface="Courier New"/>
                <a:sym typeface="Courier New"/>
              </a:defRPr>
            </a:pPr>
            <a:r>
              <a:rPr dirty="0"/>
              <a:t>class Character</a:t>
            </a:r>
          </a:p>
          <a:p>
            <a:pPr marL="0" indent="0">
              <a:lnSpc>
                <a:spcPct val="80000"/>
              </a:lnSpc>
              <a:spcBef>
                <a:spcPts val="281"/>
              </a:spcBef>
              <a:buNone/>
              <a:defRPr sz="2900">
                <a:latin typeface="Courier New"/>
                <a:ea typeface="Courier New"/>
                <a:cs typeface="Courier New"/>
                <a:sym typeface="Courier New"/>
              </a:defRPr>
            </a:pPr>
            <a:r>
              <a:rPr dirty="0"/>
              <a:t>{</a:t>
            </a:r>
          </a:p>
          <a:p>
            <a:pPr marL="0" indent="0">
              <a:lnSpc>
                <a:spcPct val="80000"/>
              </a:lnSpc>
              <a:spcBef>
                <a:spcPts val="281"/>
              </a:spcBef>
              <a:buNone/>
              <a:defRPr sz="2900">
                <a:latin typeface="Courier New"/>
                <a:ea typeface="Courier New"/>
                <a:cs typeface="Courier New"/>
                <a:sym typeface="Courier New"/>
              </a:defRPr>
            </a:pPr>
            <a:r>
              <a:rPr dirty="0"/>
              <a:t>    </a:t>
            </a:r>
            <a:r>
              <a:rPr dirty="0" err="1"/>
              <a:t>CharacterDrawable</a:t>
            </a:r>
            <a:r>
              <a:rPr dirty="0"/>
              <a:t>* body;</a:t>
            </a:r>
          </a:p>
          <a:p>
            <a:pPr marL="0" indent="0">
              <a:lnSpc>
                <a:spcPct val="80000"/>
              </a:lnSpc>
              <a:spcBef>
                <a:spcPts val="281"/>
              </a:spcBef>
              <a:buNone/>
              <a:defRPr sz="2900">
                <a:latin typeface="Courier New"/>
                <a:ea typeface="Courier New"/>
                <a:cs typeface="Courier New"/>
                <a:sym typeface="Courier New"/>
              </a:defRPr>
            </a:pPr>
            <a:r>
              <a:rPr dirty="0"/>
              <a:t>    </a:t>
            </a:r>
            <a:r>
              <a:rPr dirty="0" err="1"/>
              <a:t>CharacterAI</a:t>
            </a:r>
            <a:r>
              <a:rPr dirty="0"/>
              <a:t>* mind;</a:t>
            </a:r>
          </a:p>
          <a:p>
            <a:pPr marL="0" indent="0">
              <a:lnSpc>
                <a:spcPct val="80000"/>
              </a:lnSpc>
              <a:spcBef>
                <a:spcPts val="281"/>
              </a:spcBef>
              <a:buNone/>
              <a:defRPr sz="2900">
                <a:latin typeface="Courier New"/>
                <a:ea typeface="Courier New"/>
                <a:cs typeface="Courier New"/>
                <a:sym typeface="Courier New"/>
              </a:defRPr>
            </a:pPr>
            <a:r>
              <a:rPr dirty="0"/>
              <a:t>}</a:t>
            </a:r>
          </a:p>
        </p:txBody>
      </p:sp>
    </p:spTree>
    <p:extLst>
      <p:ext uri="{BB962C8B-B14F-4D97-AF65-F5344CB8AC3E}">
        <p14:creationId xmlns:p14="http://schemas.microsoft.com/office/powerpoint/2010/main" val="2554575469"/>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54">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5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5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5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5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5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54">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254">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254">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254">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p:tmAbs val="0"/>
                                  </p:iterate>
                                  <p:childTnLst>
                                    <p:set>
                                      <p:cBhvr>
                                        <p:cTn id="44" fill="hold"/>
                                        <p:tgtEl>
                                          <p:spTgt spid="254">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p:tmAbs val="0"/>
                                  </p:iterate>
                                  <p:childTnLst>
                                    <p:set>
                                      <p:cBhvr>
                                        <p:cTn id="48" fill="hold"/>
                                        <p:tgtEl>
                                          <p:spTgt spid="254">
                                            <p:txEl>
                                              <p:pRg st="10" end="1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p:tmAbs val="0"/>
                                  </p:iterate>
                                  <p:childTnLst>
                                    <p:set>
                                      <p:cBhvr>
                                        <p:cTn id="52" fill="hold"/>
                                        <p:tgtEl>
                                          <p:spTgt spid="254">
                                            <p:txEl>
                                              <p:pRg st="11" end="1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p:tmAbs val="0"/>
                                  </p:iterate>
                                  <p:childTnLst>
                                    <p:set>
                                      <p:cBhvr>
                                        <p:cTn id="56" fill="hold"/>
                                        <p:tgtEl>
                                          <p:spTgt spid="254">
                                            <p:txEl>
                                              <p:pRg st="12" end="1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iterate>
                                    <p:tmAbs val="0"/>
                                  </p:iterate>
                                  <p:childTnLst>
                                    <p:set>
                                      <p:cBhvr>
                                        <p:cTn id="60" fill="hold"/>
                                        <p:tgtEl>
                                          <p:spTgt spid="254">
                                            <p:txEl>
                                              <p:pRg st="13" end="13"/>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iterate>
                                    <p:tmAbs val="0"/>
                                  </p:iterate>
                                  <p:childTnLst>
                                    <p:set>
                                      <p:cBhvr>
                                        <p:cTn id="64" fill="hold"/>
                                        <p:tgtEl>
                                          <p:spTgt spid="25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build="p" bldLvl="5" animBg="1" advAuto="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 name="Ownership-Based Entities"/>
          <p:cNvSpPr txBox="1">
            <a:spLocks noGrp="1"/>
          </p:cNvSpPr>
          <p:nvPr>
            <p:ph type="title"/>
          </p:nvPr>
        </p:nvSpPr>
        <p:spPr>
          <a:prstGeom prst="rect">
            <a:avLst/>
          </a:prstGeom>
        </p:spPr>
        <p:txBody>
          <a:bodyPr/>
          <a:lstStyle/>
          <a:p>
            <a:r>
              <a:t>Ownership-Based Entities</a:t>
            </a:r>
          </a:p>
        </p:txBody>
      </p:sp>
      <p:pic>
        <p:nvPicPr>
          <p:cNvPr id="257" name="droppedImage.tiff" descr="droppedImage.tiff"/>
          <p:cNvPicPr>
            <a:picLocks noChangeAspect="1"/>
          </p:cNvPicPr>
          <p:nvPr/>
        </p:nvPicPr>
        <p:blipFill>
          <a:blip r:embed="rId3">
            <a:extLst/>
          </a:blip>
          <a:stretch>
            <a:fillRect/>
          </a:stretch>
        </p:blipFill>
        <p:spPr>
          <a:xfrm>
            <a:off x="3274219" y="2143125"/>
            <a:ext cx="5631993" cy="3625453"/>
          </a:xfrm>
          <a:prstGeom prst="rect">
            <a:avLst/>
          </a:prstGeom>
          <a:ln w="12700">
            <a:miter lim="400000"/>
          </a:ln>
        </p:spPr>
      </p:pic>
    </p:spTree>
    <p:extLst>
      <p:ext uri="{BB962C8B-B14F-4D97-AF65-F5344CB8AC3E}">
        <p14:creationId xmlns:p14="http://schemas.microsoft.com/office/powerpoint/2010/main" val="3155488227"/>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1" name="struct WorldOb_s…"/>
          <p:cNvSpPr txBox="1"/>
          <p:nvPr/>
        </p:nvSpPr>
        <p:spPr>
          <a:xfrm>
            <a:off x="1720453" y="969192"/>
            <a:ext cx="9117211" cy="49196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defTabSz="410751">
              <a:defRPr sz="3200">
                <a:latin typeface="Courier New"/>
                <a:ea typeface="Courier New"/>
                <a:cs typeface="Courier New"/>
                <a:sym typeface="Courier New"/>
              </a:defRPr>
            </a:pPr>
            <a:r>
              <a:rPr sz="2250"/>
              <a:t>struct WorldOb_s</a:t>
            </a:r>
          </a:p>
          <a:p>
            <a:pPr defTabSz="410751">
              <a:defRPr sz="3200">
                <a:latin typeface="Courier New"/>
                <a:ea typeface="Courier New"/>
                <a:cs typeface="Courier New"/>
                <a:sym typeface="Courier New"/>
              </a:defRPr>
            </a:pPr>
            <a:r>
              <a:rPr sz="2250"/>
              <a:t>{</a:t>
            </a:r>
          </a:p>
          <a:p>
            <a:pPr lvl="1" indent="241093" defTabSz="410751">
              <a:defRPr sz="3200">
                <a:latin typeface="Courier New"/>
                <a:ea typeface="Courier New"/>
                <a:cs typeface="Courier New"/>
                <a:sym typeface="Courier New"/>
              </a:defRPr>
            </a:pPr>
            <a:r>
              <a:rPr sz="2250"/>
              <a:t>Orient_t m_transform;    /* position/rotation */</a:t>
            </a:r>
          </a:p>
          <a:p>
            <a:pPr lvl="1" indent="241093" defTabSz="410751">
              <a:defRPr sz="3200">
                <a:latin typeface="Courier New"/>
                <a:ea typeface="Courier New"/>
                <a:cs typeface="Courier New"/>
                <a:sym typeface="Courier New"/>
              </a:defRPr>
            </a:pPr>
            <a:r>
              <a:rPr sz="2250"/>
              <a:t>Mesh3d*  m_pMesh;        /* 3D mesh */</a:t>
            </a:r>
          </a:p>
          <a:p>
            <a:pPr lvl="1" indent="241093" defTabSz="410751">
              <a:defRPr sz="3200">
                <a:latin typeface="Courier New"/>
                <a:ea typeface="Courier New"/>
                <a:cs typeface="Courier New"/>
                <a:sym typeface="Courier New"/>
              </a:defRPr>
            </a:pPr>
            <a:r>
              <a:rPr sz="2250"/>
              <a:t>CollMan* m_pCollMan;     /* Collision manifold */</a:t>
            </a:r>
          </a:p>
          <a:p>
            <a:pPr lvl="1" indent="241093" defTabSz="410751">
              <a:defRPr sz="3200">
                <a:latin typeface="Courier New"/>
                <a:ea typeface="Courier New"/>
                <a:cs typeface="Courier New"/>
                <a:sym typeface="Courier New"/>
              </a:defRPr>
            </a:pPr>
            <a:r>
              <a:rPr sz="2250"/>
              <a:t>/* ... */</a:t>
            </a:r>
          </a:p>
          <a:p>
            <a:pPr lvl="1" indent="241093" defTabSz="410751">
              <a:defRPr sz="3200">
                <a:latin typeface="Courier New"/>
                <a:ea typeface="Courier New"/>
                <a:cs typeface="Courier New"/>
                <a:sym typeface="Courier New"/>
              </a:defRPr>
            </a:pPr>
            <a:endParaRPr sz="2250"/>
          </a:p>
          <a:p>
            <a:pPr lvl="1" indent="241093" defTabSz="410751">
              <a:defRPr sz="3200">
                <a:latin typeface="Courier New"/>
                <a:ea typeface="Courier New"/>
                <a:cs typeface="Courier New"/>
                <a:sym typeface="Courier New"/>
              </a:defRPr>
            </a:pPr>
            <a:r>
              <a:rPr sz="2250"/>
              <a:t>void*    m_pUserData;    /* custom state */</a:t>
            </a:r>
          </a:p>
          <a:p>
            <a:pPr lvl="1" indent="241093" defTabSz="410751">
              <a:defRPr sz="3200">
                <a:latin typeface="Courier New"/>
                <a:ea typeface="Courier New"/>
                <a:cs typeface="Courier New"/>
                <a:sym typeface="Courier New"/>
              </a:defRPr>
            </a:pPr>
            <a:r>
              <a:rPr sz="2250"/>
              <a:t>void     (*m_pUpdate)(); /* polymorphic update */</a:t>
            </a:r>
          </a:p>
          <a:p>
            <a:pPr lvl="1" indent="241093" defTabSz="410751">
              <a:defRPr sz="3200">
                <a:latin typeface="Courier New"/>
                <a:ea typeface="Courier New"/>
                <a:cs typeface="Courier New"/>
                <a:sym typeface="Courier New"/>
              </a:defRPr>
            </a:pPr>
            <a:r>
              <a:rPr sz="2250"/>
              <a:t>void     (*m_pDraw)();   /* polymorphic draw */</a:t>
            </a:r>
          </a:p>
          <a:p>
            <a:pPr defTabSz="410751">
              <a:defRPr sz="3200">
                <a:latin typeface="Courier New"/>
                <a:ea typeface="Courier New"/>
                <a:cs typeface="Courier New"/>
                <a:sym typeface="Courier New"/>
              </a:defRPr>
            </a:pPr>
            <a:r>
              <a:rPr sz="2250"/>
              <a:t>};</a:t>
            </a:r>
          </a:p>
          <a:p>
            <a:pPr defTabSz="410751">
              <a:defRPr sz="3200">
                <a:latin typeface="Courier New"/>
                <a:ea typeface="Courier New"/>
                <a:cs typeface="Courier New"/>
                <a:sym typeface="Courier New"/>
              </a:defRPr>
            </a:pPr>
            <a:r>
              <a:rPr sz="2250"/>
              <a:t>typedef struct WorldOb_s WorldOb_t;</a:t>
            </a:r>
          </a:p>
        </p:txBody>
      </p:sp>
    </p:spTree>
    <p:extLst>
      <p:ext uri="{BB962C8B-B14F-4D97-AF65-F5344CB8AC3E}">
        <p14:creationId xmlns:p14="http://schemas.microsoft.com/office/powerpoint/2010/main" val="1836025312"/>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Ownership-Based Entities"/>
          <p:cNvSpPr txBox="1">
            <a:spLocks noGrp="1"/>
          </p:cNvSpPr>
          <p:nvPr>
            <p:ph type="title"/>
          </p:nvPr>
        </p:nvSpPr>
        <p:spPr>
          <a:prstGeom prst="rect">
            <a:avLst/>
          </a:prstGeom>
        </p:spPr>
        <p:txBody>
          <a:bodyPr/>
          <a:lstStyle/>
          <a:p>
            <a:r>
              <a:t>Ownership-Based Entities</a:t>
            </a:r>
          </a:p>
        </p:txBody>
      </p:sp>
      <p:sp>
        <p:nvSpPr>
          <p:cNvPr id="266" name="Entities have no (or little) hierarchy and farm operations out to other objects…"/>
          <p:cNvSpPr txBox="1">
            <a:spLocks noGrp="1"/>
          </p:cNvSpPr>
          <p:nvPr>
            <p:ph type="body" idx="1"/>
          </p:nvPr>
        </p:nvSpPr>
        <p:spPr>
          <a:xfrm>
            <a:off x="2416969" y="1946672"/>
            <a:ext cx="7358063" cy="4612664"/>
          </a:xfrm>
          <a:prstGeom prst="rect">
            <a:avLst/>
          </a:prstGeom>
        </p:spPr>
        <p:txBody>
          <a:bodyPr>
            <a:normAutofit fontScale="92500" lnSpcReduction="20000"/>
          </a:bodyPr>
          <a:lstStyle/>
          <a:p>
            <a:pPr marL="625055" indent="-401821">
              <a:spcBef>
                <a:spcPts val="281"/>
              </a:spcBef>
              <a:defRPr sz="3200"/>
            </a:pPr>
            <a:r>
              <a:t>Entities have no (or little) hierarchy and farm operations out to other objects</a:t>
            </a:r>
          </a:p>
          <a:p>
            <a:pPr marL="937583" lvl="1" indent="-401821">
              <a:spcBef>
                <a:spcPts val="281"/>
              </a:spcBef>
              <a:defRPr sz="3200"/>
            </a:pPr>
            <a:r>
              <a:t>“Character” will have references to “Renderer”, “Collider,” etc.</a:t>
            </a:r>
          </a:p>
          <a:p>
            <a:pPr marL="937583" lvl="1" indent="-401821">
              <a:spcBef>
                <a:spcPts val="281"/>
              </a:spcBef>
              <a:defRPr sz="3200"/>
            </a:pPr>
            <a:r>
              <a:t>Subobjects are either obtained from, or registered with the controlling system</a:t>
            </a:r>
          </a:p>
          <a:p>
            <a:pPr marL="625055" indent="-401821">
              <a:spcBef>
                <a:spcPts val="281"/>
              </a:spcBef>
              <a:defRPr sz="3200"/>
            </a:pPr>
            <a:r>
              <a:t>Hierarchy is less fragile and less complex than inheritance-based system </a:t>
            </a:r>
          </a:p>
          <a:p>
            <a:pPr marL="625055" indent="-401821">
              <a:spcBef>
                <a:spcPts val="281"/>
              </a:spcBef>
              <a:defRPr sz="3200"/>
            </a:pPr>
            <a:r>
              <a:t>Unrelated functionality is separated </a:t>
            </a:r>
          </a:p>
          <a:p>
            <a:pPr marL="625055" indent="-401821">
              <a:spcBef>
                <a:spcPts val="281"/>
              </a:spcBef>
              <a:defRPr sz="3200"/>
            </a:pPr>
            <a:r>
              <a:t>BUT:</a:t>
            </a:r>
          </a:p>
          <a:p>
            <a:pPr marL="861046" lvl="1" indent="-325284">
              <a:spcBef>
                <a:spcPts val="281"/>
              </a:spcBef>
              <a:defRPr sz="3200"/>
            </a:pPr>
            <a:r>
              <a:t>Need lots of wrapper functions</a:t>
            </a:r>
          </a:p>
          <a:p>
            <a:pPr marL="861046" lvl="1" indent="-325284">
              <a:spcBef>
                <a:spcPts val="281"/>
              </a:spcBef>
              <a:defRPr sz="3200"/>
            </a:pPr>
            <a:r>
              <a:t>Main entity spends a lot of time copying data between subobjects</a:t>
            </a:r>
          </a:p>
        </p:txBody>
      </p:sp>
    </p:spTree>
    <p:extLst>
      <p:ext uri="{BB962C8B-B14F-4D97-AF65-F5344CB8AC3E}">
        <p14:creationId xmlns:p14="http://schemas.microsoft.com/office/powerpoint/2010/main" val="1397235276"/>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6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66">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266">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266">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266">
                                            <p:txEl>
                                              <p:pRg st="3" end="3"/>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p:tmAbs val="0"/>
                                  </p:iterate>
                                  <p:childTnLst>
                                    <p:set>
                                      <p:cBhvr>
                                        <p:cTn id="21" fill="hold"/>
                                        <p:tgtEl>
                                          <p:spTgt spid="266">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266">
                                            <p:txEl>
                                              <p:pRg st="5" end="5"/>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iterate>
                                    <p:tmAbs val="0"/>
                                  </p:iterate>
                                  <p:childTnLst>
                                    <p:set>
                                      <p:cBhvr>
                                        <p:cTn id="28" fill="hold"/>
                                        <p:tgtEl>
                                          <p:spTgt spid="266">
                                            <p:txEl>
                                              <p:pRg st="6" end="6"/>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iterate>
                                    <p:tmAbs val="0"/>
                                  </p:iterate>
                                  <p:childTnLst>
                                    <p:set>
                                      <p:cBhvr>
                                        <p:cTn id="31" fill="hold"/>
                                        <p:tgtEl>
                                          <p:spTgt spid="26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 grpId="0" build="p" bldLvl="5" animBg="1" advAuto="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It Won’t Work"/>
          <p:cNvSpPr txBox="1">
            <a:spLocks noGrp="1"/>
          </p:cNvSpPr>
          <p:nvPr>
            <p:ph type="title"/>
          </p:nvPr>
        </p:nvSpPr>
        <p:spPr>
          <a:prstGeom prst="rect">
            <a:avLst/>
          </a:prstGeom>
        </p:spPr>
        <p:txBody>
          <a:bodyPr/>
          <a:lstStyle/>
          <a:p>
            <a:r>
              <a:t>It Won’t Work</a:t>
            </a:r>
          </a:p>
        </p:txBody>
      </p:sp>
      <p:sp>
        <p:nvSpPr>
          <p:cNvPr id="269" name="There are hundreds of ways to decompose the GameObject system problem into classes…"/>
          <p:cNvSpPr txBox="1">
            <a:spLocks noGrp="1"/>
          </p:cNvSpPr>
          <p:nvPr>
            <p:ph type="body" idx="1"/>
          </p:nvPr>
        </p:nvSpPr>
        <p:spPr>
          <a:xfrm>
            <a:off x="2416969" y="1946672"/>
            <a:ext cx="7358063" cy="4527352"/>
          </a:xfrm>
          <a:prstGeom prst="rect">
            <a:avLst/>
          </a:prstGeom>
        </p:spPr>
        <p:txBody>
          <a:bodyPr>
            <a:normAutofit fontScale="85000" lnSpcReduction="10000"/>
          </a:bodyPr>
          <a:lstStyle/>
          <a:p>
            <a:pPr marL="538951" indent="-315717">
              <a:defRPr sz="3300"/>
            </a:pPr>
            <a:r>
              <a:t>There are hundreds of ways to decompose the GameObject system problem into classes</a:t>
            </a:r>
          </a:p>
          <a:p>
            <a:pPr marL="851479" lvl="1" indent="-315717">
              <a:defRPr sz="3300"/>
            </a:pPr>
            <a:r>
              <a:t>They are </a:t>
            </a:r>
            <a:r>
              <a:rPr b="1"/>
              <a:t>all</a:t>
            </a:r>
            <a:r>
              <a:t> wrong </a:t>
            </a:r>
          </a:p>
          <a:p>
            <a:pPr marL="851479" lvl="1" indent="-315717">
              <a:defRPr sz="3300"/>
            </a:pPr>
            <a:r>
              <a:t>They don’t start out wrong, of course...</a:t>
            </a:r>
          </a:p>
          <a:p>
            <a:pPr marL="538951" indent="-315717">
              <a:defRPr sz="3300"/>
            </a:pPr>
            <a:r>
              <a:t>Games constantly change </a:t>
            </a:r>
          </a:p>
          <a:p>
            <a:pPr marL="851479" lvl="1" indent="-315717">
              <a:defRPr sz="3300"/>
            </a:pPr>
            <a:r>
              <a:t>Designer makes decisions independently of </a:t>
            </a:r>
            <a:br/>
            <a:r>
              <a:t>engineering type structures </a:t>
            </a:r>
          </a:p>
          <a:p>
            <a:pPr marL="851479" lvl="1" indent="-315717">
              <a:defRPr sz="3300"/>
            </a:pPr>
            <a:r>
              <a:t>They will ask for things that cut right across engineering concerns </a:t>
            </a:r>
          </a:p>
        </p:txBody>
      </p:sp>
    </p:spTree>
    <p:extLst>
      <p:ext uri="{BB962C8B-B14F-4D97-AF65-F5344CB8AC3E}">
        <p14:creationId xmlns:p14="http://schemas.microsoft.com/office/powerpoint/2010/main" val="3113687212"/>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6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69">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269">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269">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269">
                                            <p:txEl>
                                              <p:pRg st="3" end="3"/>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iterate>
                                    <p:tmAbs val="0"/>
                                  </p:iterate>
                                  <p:childTnLst>
                                    <p:set>
                                      <p:cBhvr>
                                        <p:cTn id="20" fill="hold"/>
                                        <p:tgtEl>
                                          <p:spTgt spid="269">
                                            <p:txEl>
                                              <p:pRg st="4" end="4"/>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26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 grpId="0" build="p" bldLvl="5" animBg="1" advAuto="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611378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If not inheritance, than</a:t>
            </a:r>
            <a:r>
              <a:rPr sz="3733" spc="-127" dirty="0"/>
              <a:t> </a:t>
            </a:r>
            <a:r>
              <a:rPr sz="3733" spc="-7" dirty="0"/>
              <a:t>what?</a:t>
            </a:r>
            <a:endParaRPr sz="3733"/>
          </a:p>
        </p:txBody>
      </p:sp>
      <p:sp>
        <p:nvSpPr>
          <p:cNvPr id="3" name="object 3"/>
          <p:cNvSpPr txBox="1"/>
          <p:nvPr/>
        </p:nvSpPr>
        <p:spPr>
          <a:xfrm>
            <a:off x="674657" y="1569596"/>
            <a:ext cx="5115560" cy="1226897"/>
          </a:xfrm>
          <a:prstGeom prst="rect">
            <a:avLst/>
          </a:prstGeom>
        </p:spPr>
        <p:txBody>
          <a:bodyPr vert="horz" wrap="square" lIns="0" tIns="71967" rIns="0" bIns="0" rtlCol="0">
            <a:spAutoFit/>
          </a:bodyPr>
          <a:lstStyle/>
          <a:p>
            <a:pPr marL="464808" indent="-447875">
              <a:spcBef>
                <a:spcPts val="567"/>
              </a:spcBef>
              <a:buChar char="●"/>
              <a:tabLst>
                <a:tab pos="463962" algn="l"/>
                <a:tab pos="465655" algn="l"/>
              </a:tabLst>
            </a:pPr>
            <a:r>
              <a:rPr sz="1867" spc="-7" dirty="0">
                <a:solidFill>
                  <a:srgbClr val="595959"/>
                </a:solidFill>
                <a:latin typeface="Arial"/>
                <a:cs typeface="Arial"/>
              </a:rPr>
              <a:t>Inheritance </a:t>
            </a:r>
            <a:r>
              <a:rPr sz="1867" dirty="0">
                <a:solidFill>
                  <a:srgbClr val="595959"/>
                </a:solidFill>
                <a:latin typeface="Arial"/>
                <a:cs typeface="Arial"/>
              </a:rPr>
              <a:t>represents </a:t>
            </a:r>
            <a:r>
              <a:rPr sz="1867" spc="-7" dirty="0">
                <a:solidFill>
                  <a:srgbClr val="595959"/>
                </a:solidFill>
                <a:latin typeface="Arial"/>
                <a:cs typeface="Arial"/>
              </a:rPr>
              <a:t>an </a:t>
            </a:r>
            <a:r>
              <a:rPr sz="1867" dirty="0">
                <a:solidFill>
                  <a:srgbClr val="595959"/>
                </a:solidFill>
                <a:latin typeface="Arial"/>
                <a:cs typeface="Arial"/>
              </a:rPr>
              <a:t>“is-a”</a:t>
            </a:r>
            <a:r>
              <a:rPr sz="1867" spc="-127" dirty="0">
                <a:solidFill>
                  <a:srgbClr val="595959"/>
                </a:solidFill>
                <a:latin typeface="Arial"/>
                <a:cs typeface="Arial"/>
              </a:rPr>
              <a:t> </a:t>
            </a:r>
            <a:r>
              <a:rPr sz="1867" dirty="0">
                <a:solidFill>
                  <a:srgbClr val="595959"/>
                </a:solidFill>
                <a:latin typeface="Arial"/>
                <a:cs typeface="Arial"/>
              </a:rPr>
              <a:t>relationship.</a:t>
            </a:r>
            <a:endParaRPr sz="1867" dirty="0">
              <a:latin typeface="Arial"/>
              <a:cs typeface="Arial"/>
            </a:endParaRPr>
          </a:p>
          <a:p>
            <a:pPr marL="1074393" lvl="1" indent="-427556">
              <a:spcBef>
                <a:spcPts val="367"/>
              </a:spcBef>
              <a:buChar char="○"/>
              <a:tabLst>
                <a:tab pos="1073546" algn="l"/>
                <a:tab pos="1075240" algn="l"/>
              </a:tabLst>
            </a:pPr>
            <a:r>
              <a:rPr sz="1600" dirty="0">
                <a:solidFill>
                  <a:srgbClr val="595959"/>
                </a:solidFill>
                <a:latin typeface="Arial"/>
                <a:cs typeface="Arial"/>
              </a:rPr>
              <a:t>A square </a:t>
            </a:r>
            <a:r>
              <a:rPr sz="1600" spc="-7" dirty="0">
                <a:solidFill>
                  <a:srgbClr val="595959"/>
                </a:solidFill>
                <a:latin typeface="Arial"/>
                <a:cs typeface="Arial"/>
              </a:rPr>
              <a:t>is </a:t>
            </a:r>
            <a:r>
              <a:rPr sz="1600" dirty="0">
                <a:solidFill>
                  <a:srgbClr val="595959"/>
                </a:solidFill>
                <a:latin typeface="Arial"/>
                <a:cs typeface="Arial"/>
              </a:rPr>
              <a:t>a</a:t>
            </a:r>
            <a:r>
              <a:rPr sz="1600" spc="-33" dirty="0">
                <a:solidFill>
                  <a:srgbClr val="595959"/>
                </a:solidFill>
                <a:latin typeface="Arial"/>
                <a:cs typeface="Arial"/>
              </a:rPr>
              <a:t> </a:t>
            </a:r>
            <a:r>
              <a:rPr sz="1600" dirty="0">
                <a:solidFill>
                  <a:srgbClr val="595959"/>
                </a:solidFill>
                <a:latin typeface="Arial"/>
                <a:cs typeface="Arial"/>
              </a:rPr>
              <a:t>shape.</a:t>
            </a:r>
            <a:endParaRPr sz="1600" dirty="0">
              <a:latin typeface="Arial"/>
              <a:cs typeface="Arial"/>
            </a:endParaRPr>
          </a:p>
          <a:p>
            <a:pPr marL="1074393" lvl="1" indent="-427556">
              <a:spcBef>
                <a:spcPts val="280"/>
              </a:spcBef>
              <a:buChar char="○"/>
              <a:tabLst>
                <a:tab pos="1073546" algn="l"/>
                <a:tab pos="1075240" algn="l"/>
              </a:tabLst>
            </a:pPr>
            <a:r>
              <a:rPr sz="1600" dirty="0">
                <a:solidFill>
                  <a:srgbClr val="595959"/>
                </a:solidFill>
                <a:latin typeface="Arial"/>
                <a:cs typeface="Arial"/>
              </a:rPr>
              <a:t>A </a:t>
            </a:r>
            <a:r>
              <a:rPr sz="1600" spc="-7" dirty="0">
                <a:solidFill>
                  <a:srgbClr val="595959"/>
                </a:solidFill>
                <a:latin typeface="Arial"/>
                <a:cs typeface="Arial"/>
              </a:rPr>
              <a:t>duck is an</a:t>
            </a:r>
            <a:r>
              <a:rPr sz="1600" spc="-27" dirty="0">
                <a:solidFill>
                  <a:srgbClr val="595959"/>
                </a:solidFill>
                <a:latin typeface="Arial"/>
                <a:cs typeface="Arial"/>
              </a:rPr>
              <a:t> </a:t>
            </a:r>
            <a:r>
              <a:rPr sz="1600" spc="-7" dirty="0">
                <a:solidFill>
                  <a:srgbClr val="595959"/>
                </a:solidFill>
                <a:latin typeface="Arial"/>
                <a:cs typeface="Arial"/>
              </a:rPr>
              <a:t>animal.</a:t>
            </a:r>
            <a:endParaRPr sz="1600" dirty="0">
              <a:latin typeface="Arial"/>
              <a:cs typeface="Arial"/>
            </a:endParaRPr>
          </a:p>
          <a:p>
            <a:pPr marL="1074393" lvl="1" indent="-427556">
              <a:spcBef>
                <a:spcPts val="280"/>
              </a:spcBef>
              <a:buChar char="○"/>
              <a:tabLst>
                <a:tab pos="1073546" algn="l"/>
                <a:tab pos="1075240" algn="l"/>
              </a:tabLst>
            </a:pPr>
            <a:r>
              <a:rPr sz="1600" spc="-7" dirty="0">
                <a:solidFill>
                  <a:srgbClr val="595959"/>
                </a:solidFill>
                <a:latin typeface="Arial"/>
                <a:cs typeface="Arial"/>
              </a:rPr>
              <a:t>The </a:t>
            </a:r>
            <a:r>
              <a:rPr sz="1600" dirty="0">
                <a:solidFill>
                  <a:srgbClr val="595959"/>
                </a:solidFill>
                <a:latin typeface="Arial"/>
                <a:cs typeface="Arial"/>
              </a:rPr>
              <a:t>melee_guy </a:t>
            </a:r>
            <a:r>
              <a:rPr sz="1600" spc="-7" dirty="0">
                <a:solidFill>
                  <a:srgbClr val="595959"/>
                </a:solidFill>
                <a:latin typeface="Arial"/>
                <a:cs typeface="Arial"/>
              </a:rPr>
              <a:t>is </a:t>
            </a:r>
            <a:r>
              <a:rPr sz="1600" dirty="0">
                <a:solidFill>
                  <a:srgbClr val="595959"/>
                </a:solidFill>
                <a:latin typeface="Arial"/>
                <a:cs typeface="Arial"/>
              </a:rPr>
              <a:t>a</a:t>
            </a:r>
            <a:r>
              <a:rPr sz="1600" spc="-47" dirty="0">
                <a:solidFill>
                  <a:srgbClr val="595959"/>
                </a:solidFill>
                <a:latin typeface="Arial"/>
                <a:cs typeface="Arial"/>
              </a:rPr>
              <a:t> </a:t>
            </a:r>
            <a:r>
              <a:rPr sz="1600" dirty="0">
                <a:solidFill>
                  <a:srgbClr val="595959"/>
                </a:solidFill>
                <a:latin typeface="Arial"/>
                <a:cs typeface="Arial"/>
              </a:rPr>
              <a:t>moveable_entity</a:t>
            </a:r>
            <a:endParaRPr sz="1600" dirty="0">
              <a:latin typeface="Arial"/>
              <a:cs typeface="Arial"/>
            </a:endParaRPr>
          </a:p>
        </p:txBody>
      </p:sp>
    </p:spTree>
    <p:extLst>
      <p:ext uri="{BB962C8B-B14F-4D97-AF65-F5344CB8AC3E}">
        <p14:creationId xmlns:p14="http://schemas.microsoft.com/office/powerpoint/2010/main" val="33424933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611378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If not inheritance, than</a:t>
            </a:r>
            <a:r>
              <a:rPr sz="3733" spc="-127" dirty="0"/>
              <a:t> </a:t>
            </a:r>
            <a:r>
              <a:rPr sz="3733" spc="-7" dirty="0"/>
              <a:t>what?</a:t>
            </a:r>
            <a:endParaRPr sz="3733"/>
          </a:p>
        </p:txBody>
      </p:sp>
      <p:sp>
        <p:nvSpPr>
          <p:cNvPr id="3" name="object 3"/>
          <p:cNvSpPr txBox="1"/>
          <p:nvPr/>
        </p:nvSpPr>
        <p:spPr>
          <a:xfrm>
            <a:off x="674658" y="1569596"/>
            <a:ext cx="5641340" cy="2419594"/>
          </a:xfrm>
          <a:prstGeom prst="rect">
            <a:avLst/>
          </a:prstGeom>
        </p:spPr>
        <p:txBody>
          <a:bodyPr vert="horz" wrap="square" lIns="0" tIns="71967" rIns="0" bIns="0" rtlCol="0">
            <a:spAutoFit/>
          </a:bodyPr>
          <a:lstStyle/>
          <a:p>
            <a:pPr marL="464808" indent="-447875">
              <a:spcBef>
                <a:spcPts val="567"/>
              </a:spcBef>
              <a:buChar char="●"/>
              <a:tabLst>
                <a:tab pos="463962" algn="l"/>
                <a:tab pos="465655" algn="l"/>
              </a:tabLst>
            </a:pPr>
            <a:r>
              <a:rPr sz="1867" spc="-7" dirty="0">
                <a:solidFill>
                  <a:srgbClr val="595959"/>
                </a:solidFill>
                <a:latin typeface="Arial"/>
                <a:cs typeface="Arial"/>
              </a:rPr>
              <a:t>Inheritance </a:t>
            </a:r>
            <a:r>
              <a:rPr sz="1867" dirty="0">
                <a:solidFill>
                  <a:srgbClr val="595959"/>
                </a:solidFill>
                <a:latin typeface="Arial"/>
                <a:cs typeface="Arial"/>
              </a:rPr>
              <a:t>represents </a:t>
            </a:r>
            <a:r>
              <a:rPr sz="1867" spc="-7" dirty="0">
                <a:solidFill>
                  <a:srgbClr val="595959"/>
                </a:solidFill>
                <a:latin typeface="Arial"/>
                <a:cs typeface="Arial"/>
              </a:rPr>
              <a:t>an </a:t>
            </a:r>
            <a:r>
              <a:rPr sz="1867" dirty="0">
                <a:solidFill>
                  <a:srgbClr val="595959"/>
                </a:solidFill>
                <a:latin typeface="Arial"/>
                <a:cs typeface="Arial"/>
              </a:rPr>
              <a:t>“is-a”</a:t>
            </a:r>
            <a:r>
              <a:rPr sz="1867" spc="-53" dirty="0">
                <a:solidFill>
                  <a:srgbClr val="595959"/>
                </a:solidFill>
                <a:latin typeface="Arial"/>
                <a:cs typeface="Arial"/>
              </a:rPr>
              <a:t> </a:t>
            </a:r>
            <a:r>
              <a:rPr sz="1867" dirty="0">
                <a:solidFill>
                  <a:srgbClr val="595959"/>
                </a:solidFill>
                <a:latin typeface="Arial"/>
                <a:cs typeface="Arial"/>
              </a:rPr>
              <a:t>relationship.</a:t>
            </a:r>
            <a:endParaRPr sz="1867">
              <a:latin typeface="Arial"/>
              <a:cs typeface="Arial"/>
            </a:endParaRPr>
          </a:p>
          <a:p>
            <a:pPr marL="1074393" lvl="1" indent="-427556">
              <a:spcBef>
                <a:spcPts val="367"/>
              </a:spcBef>
              <a:buChar char="○"/>
              <a:tabLst>
                <a:tab pos="1073546" algn="l"/>
                <a:tab pos="1075240" algn="l"/>
              </a:tabLst>
            </a:pPr>
            <a:r>
              <a:rPr sz="1600" dirty="0">
                <a:solidFill>
                  <a:srgbClr val="595959"/>
                </a:solidFill>
                <a:latin typeface="Arial"/>
                <a:cs typeface="Arial"/>
              </a:rPr>
              <a:t>A square </a:t>
            </a:r>
            <a:r>
              <a:rPr sz="1600" spc="-7" dirty="0">
                <a:solidFill>
                  <a:srgbClr val="595959"/>
                </a:solidFill>
                <a:latin typeface="Arial"/>
                <a:cs typeface="Arial"/>
              </a:rPr>
              <a:t>is </a:t>
            </a:r>
            <a:r>
              <a:rPr sz="1600" dirty="0">
                <a:solidFill>
                  <a:srgbClr val="595959"/>
                </a:solidFill>
                <a:latin typeface="Arial"/>
                <a:cs typeface="Arial"/>
              </a:rPr>
              <a:t>a</a:t>
            </a:r>
            <a:r>
              <a:rPr sz="1600" spc="-33" dirty="0">
                <a:solidFill>
                  <a:srgbClr val="595959"/>
                </a:solidFill>
                <a:latin typeface="Arial"/>
                <a:cs typeface="Arial"/>
              </a:rPr>
              <a:t> </a:t>
            </a:r>
            <a:r>
              <a:rPr sz="1600" dirty="0">
                <a:solidFill>
                  <a:srgbClr val="595959"/>
                </a:solidFill>
                <a:latin typeface="Arial"/>
                <a:cs typeface="Arial"/>
              </a:rPr>
              <a:t>shape.</a:t>
            </a:r>
            <a:endParaRPr sz="1600">
              <a:latin typeface="Arial"/>
              <a:cs typeface="Arial"/>
            </a:endParaRPr>
          </a:p>
          <a:p>
            <a:pPr marL="1074393" lvl="1" indent="-427556">
              <a:spcBef>
                <a:spcPts val="280"/>
              </a:spcBef>
              <a:buChar char="○"/>
              <a:tabLst>
                <a:tab pos="1073546" algn="l"/>
                <a:tab pos="1075240" algn="l"/>
              </a:tabLst>
            </a:pPr>
            <a:r>
              <a:rPr sz="1600" dirty="0">
                <a:solidFill>
                  <a:srgbClr val="595959"/>
                </a:solidFill>
                <a:latin typeface="Arial"/>
                <a:cs typeface="Arial"/>
              </a:rPr>
              <a:t>A </a:t>
            </a:r>
            <a:r>
              <a:rPr sz="1600" spc="-7" dirty="0">
                <a:solidFill>
                  <a:srgbClr val="595959"/>
                </a:solidFill>
                <a:latin typeface="Arial"/>
                <a:cs typeface="Arial"/>
              </a:rPr>
              <a:t>duck is an</a:t>
            </a:r>
            <a:r>
              <a:rPr sz="1600" spc="-27" dirty="0">
                <a:solidFill>
                  <a:srgbClr val="595959"/>
                </a:solidFill>
                <a:latin typeface="Arial"/>
                <a:cs typeface="Arial"/>
              </a:rPr>
              <a:t> </a:t>
            </a:r>
            <a:r>
              <a:rPr sz="1600" spc="-7" dirty="0">
                <a:solidFill>
                  <a:srgbClr val="595959"/>
                </a:solidFill>
                <a:latin typeface="Arial"/>
                <a:cs typeface="Arial"/>
              </a:rPr>
              <a:t>animal.</a:t>
            </a:r>
            <a:endParaRPr sz="1600">
              <a:latin typeface="Arial"/>
              <a:cs typeface="Arial"/>
            </a:endParaRPr>
          </a:p>
          <a:p>
            <a:pPr marL="1074393" lvl="1" indent="-427556">
              <a:spcBef>
                <a:spcPts val="280"/>
              </a:spcBef>
              <a:buChar char="○"/>
              <a:tabLst>
                <a:tab pos="1073546" algn="l"/>
                <a:tab pos="1075240" algn="l"/>
              </a:tabLst>
            </a:pPr>
            <a:r>
              <a:rPr sz="1600" spc="-7" dirty="0">
                <a:solidFill>
                  <a:srgbClr val="595959"/>
                </a:solidFill>
                <a:latin typeface="Arial"/>
                <a:cs typeface="Arial"/>
              </a:rPr>
              <a:t>The </a:t>
            </a:r>
            <a:r>
              <a:rPr sz="1600" dirty="0">
                <a:solidFill>
                  <a:srgbClr val="595959"/>
                </a:solidFill>
                <a:latin typeface="Arial"/>
                <a:cs typeface="Arial"/>
              </a:rPr>
              <a:t>melee_guy </a:t>
            </a:r>
            <a:r>
              <a:rPr sz="1600" spc="-7" dirty="0">
                <a:solidFill>
                  <a:srgbClr val="595959"/>
                </a:solidFill>
                <a:latin typeface="Arial"/>
                <a:cs typeface="Arial"/>
              </a:rPr>
              <a:t>is </a:t>
            </a:r>
            <a:r>
              <a:rPr sz="1600" dirty="0">
                <a:solidFill>
                  <a:srgbClr val="595959"/>
                </a:solidFill>
                <a:latin typeface="Arial"/>
                <a:cs typeface="Arial"/>
              </a:rPr>
              <a:t>a</a:t>
            </a:r>
            <a:r>
              <a:rPr sz="1600" spc="-33" dirty="0">
                <a:solidFill>
                  <a:srgbClr val="595959"/>
                </a:solidFill>
                <a:latin typeface="Arial"/>
                <a:cs typeface="Arial"/>
              </a:rPr>
              <a:t> </a:t>
            </a:r>
            <a:r>
              <a:rPr sz="1600" dirty="0">
                <a:solidFill>
                  <a:srgbClr val="595959"/>
                </a:solidFill>
                <a:latin typeface="Arial"/>
                <a:cs typeface="Arial"/>
              </a:rPr>
              <a:t>moveable_entity</a:t>
            </a:r>
            <a:endParaRPr sz="1600">
              <a:latin typeface="Arial"/>
              <a:cs typeface="Arial"/>
            </a:endParaRPr>
          </a:p>
          <a:p>
            <a:pPr marL="464808" indent="-447875">
              <a:spcBef>
                <a:spcPts val="272"/>
              </a:spcBef>
              <a:buChar char="●"/>
              <a:tabLst>
                <a:tab pos="463962" algn="l"/>
                <a:tab pos="465655" algn="l"/>
              </a:tabLst>
            </a:pPr>
            <a:r>
              <a:rPr sz="1867" spc="-7" dirty="0">
                <a:solidFill>
                  <a:srgbClr val="595959"/>
                </a:solidFill>
                <a:latin typeface="Arial"/>
                <a:cs typeface="Arial"/>
              </a:rPr>
              <a:t>Composition </a:t>
            </a:r>
            <a:r>
              <a:rPr sz="1867" dirty="0">
                <a:solidFill>
                  <a:srgbClr val="595959"/>
                </a:solidFill>
                <a:latin typeface="Arial"/>
                <a:cs typeface="Arial"/>
              </a:rPr>
              <a:t>represents a “has-a”</a:t>
            </a:r>
            <a:r>
              <a:rPr sz="1867" spc="-80" dirty="0">
                <a:solidFill>
                  <a:srgbClr val="595959"/>
                </a:solidFill>
                <a:latin typeface="Arial"/>
                <a:cs typeface="Arial"/>
              </a:rPr>
              <a:t> </a:t>
            </a:r>
            <a:r>
              <a:rPr sz="1867" dirty="0">
                <a:solidFill>
                  <a:srgbClr val="595959"/>
                </a:solidFill>
                <a:latin typeface="Arial"/>
                <a:cs typeface="Arial"/>
              </a:rPr>
              <a:t>relationship.</a:t>
            </a:r>
            <a:endParaRPr sz="1867">
              <a:latin typeface="Arial"/>
              <a:cs typeface="Arial"/>
            </a:endParaRPr>
          </a:p>
          <a:p>
            <a:pPr marL="1074393" lvl="1" indent="-427556">
              <a:spcBef>
                <a:spcPts val="367"/>
              </a:spcBef>
              <a:buChar char="○"/>
              <a:tabLst>
                <a:tab pos="1073546" algn="l"/>
                <a:tab pos="1075240" algn="l"/>
              </a:tabLst>
            </a:pPr>
            <a:r>
              <a:rPr sz="1600" dirty="0">
                <a:solidFill>
                  <a:srgbClr val="595959"/>
                </a:solidFill>
                <a:latin typeface="Arial"/>
                <a:cs typeface="Arial"/>
              </a:rPr>
              <a:t>A car </a:t>
            </a:r>
            <a:r>
              <a:rPr sz="1600" spc="-7" dirty="0">
                <a:solidFill>
                  <a:srgbClr val="595959"/>
                </a:solidFill>
                <a:latin typeface="Arial"/>
                <a:cs typeface="Arial"/>
              </a:rPr>
              <a:t>has an</a:t>
            </a:r>
            <a:r>
              <a:rPr sz="1600" spc="-33" dirty="0">
                <a:solidFill>
                  <a:srgbClr val="595959"/>
                </a:solidFill>
                <a:latin typeface="Arial"/>
                <a:cs typeface="Arial"/>
              </a:rPr>
              <a:t> </a:t>
            </a:r>
            <a:r>
              <a:rPr sz="1600" spc="-7" dirty="0">
                <a:solidFill>
                  <a:srgbClr val="595959"/>
                </a:solidFill>
                <a:latin typeface="Arial"/>
                <a:cs typeface="Arial"/>
              </a:rPr>
              <a:t>engine.</a:t>
            </a:r>
            <a:endParaRPr sz="1600">
              <a:latin typeface="Arial"/>
              <a:cs typeface="Arial"/>
            </a:endParaRPr>
          </a:p>
          <a:p>
            <a:pPr marL="1074393" lvl="1" indent="-427556">
              <a:spcBef>
                <a:spcPts val="280"/>
              </a:spcBef>
              <a:buChar char="○"/>
              <a:tabLst>
                <a:tab pos="1073546" algn="l"/>
                <a:tab pos="1075240" algn="l"/>
              </a:tabLst>
            </a:pPr>
            <a:r>
              <a:rPr sz="1600" spc="-7" dirty="0">
                <a:solidFill>
                  <a:srgbClr val="595959"/>
                </a:solidFill>
                <a:latin typeface="Arial"/>
                <a:cs typeface="Arial"/>
              </a:rPr>
              <a:t>The employee has </a:t>
            </a:r>
            <a:r>
              <a:rPr sz="1600" dirty="0">
                <a:solidFill>
                  <a:srgbClr val="595959"/>
                </a:solidFill>
                <a:latin typeface="Arial"/>
                <a:cs typeface="Arial"/>
              </a:rPr>
              <a:t>a</a:t>
            </a:r>
            <a:r>
              <a:rPr sz="1600" spc="-20" dirty="0">
                <a:solidFill>
                  <a:srgbClr val="595959"/>
                </a:solidFill>
                <a:latin typeface="Arial"/>
                <a:cs typeface="Arial"/>
              </a:rPr>
              <a:t> </a:t>
            </a:r>
            <a:r>
              <a:rPr sz="1600" spc="-7" dirty="0">
                <a:solidFill>
                  <a:srgbClr val="595959"/>
                </a:solidFill>
                <a:latin typeface="Arial"/>
                <a:cs typeface="Arial"/>
              </a:rPr>
              <a:t>name.</a:t>
            </a:r>
            <a:endParaRPr sz="1600">
              <a:latin typeface="Arial"/>
              <a:cs typeface="Arial"/>
            </a:endParaRPr>
          </a:p>
          <a:p>
            <a:pPr marL="1074393" lvl="1" indent="-427556">
              <a:spcBef>
                <a:spcPts val="280"/>
              </a:spcBef>
              <a:buChar char="○"/>
              <a:tabLst>
                <a:tab pos="1073546" algn="l"/>
                <a:tab pos="1075240" algn="l"/>
              </a:tabLst>
            </a:pPr>
            <a:r>
              <a:rPr sz="1600" spc="-7" dirty="0">
                <a:solidFill>
                  <a:srgbClr val="595959"/>
                </a:solidFill>
                <a:latin typeface="Arial"/>
                <a:cs typeface="Arial"/>
              </a:rPr>
              <a:t>The </a:t>
            </a:r>
            <a:r>
              <a:rPr sz="1600" dirty="0">
                <a:solidFill>
                  <a:srgbClr val="595959"/>
                </a:solidFill>
                <a:latin typeface="Arial"/>
                <a:cs typeface="Arial"/>
              </a:rPr>
              <a:t>melee_guy </a:t>
            </a:r>
            <a:r>
              <a:rPr sz="1600" spc="-7" dirty="0">
                <a:solidFill>
                  <a:srgbClr val="595959"/>
                </a:solidFill>
                <a:latin typeface="Arial"/>
                <a:cs typeface="Arial"/>
              </a:rPr>
              <a:t>has </a:t>
            </a:r>
            <a:r>
              <a:rPr sz="1600" dirty="0">
                <a:solidFill>
                  <a:srgbClr val="595959"/>
                </a:solidFill>
                <a:latin typeface="Arial"/>
                <a:cs typeface="Arial"/>
              </a:rPr>
              <a:t>movement </a:t>
            </a:r>
            <a:r>
              <a:rPr sz="1600" spc="-7" dirty="0">
                <a:solidFill>
                  <a:srgbClr val="595959"/>
                </a:solidFill>
                <a:latin typeface="Arial"/>
                <a:cs typeface="Arial"/>
              </a:rPr>
              <a:t>and </a:t>
            </a:r>
            <a:r>
              <a:rPr sz="1600" dirty="0">
                <a:solidFill>
                  <a:srgbClr val="595959"/>
                </a:solidFill>
                <a:latin typeface="Arial"/>
                <a:cs typeface="Arial"/>
              </a:rPr>
              <a:t>melee</a:t>
            </a:r>
            <a:r>
              <a:rPr sz="1600" spc="-127" dirty="0">
                <a:solidFill>
                  <a:srgbClr val="595959"/>
                </a:solidFill>
                <a:latin typeface="Arial"/>
                <a:cs typeface="Arial"/>
              </a:rPr>
              <a:t> </a:t>
            </a:r>
            <a:r>
              <a:rPr sz="1600" spc="-7" dirty="0">
                <a:solidFill>
                  <a:srgbClr val="595959"/>
                </a:solidFill>
                <a:latin typeface="Arial"/>
                <a:cs typeface="Arial"/>
              </a:rPr>
              <a:t>attacks.</a:t>
            </a:r>
            <a:endParaRPr sz="1600">
              <a:latin typeface="Arial"/>
              <a:cs typeface="Arial"/>
            </a:endParaRPr>
          </a:p>
        </p:txBody>
      </p:sp>
    </p:spTree>
    <p:extLst>
      <p:ext uri="{BB962C8B-B14F-4D97-AF65-F5344CB8AC3E}">
        <p14:creationId xmlns:p14="http://schemas.microsoft.com/office/powerpoint/2010/main" val="79600675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06699" y="1467066"/>
            <a:ext cx="2430780" cy="2603500"/>
          </a:xfrm>
          <a:custGeom>
            <a:avLst/>
            <a:gdLst/>
            <a:ahLst/>
            <a:cxnLst/>
            <a:rect l="l" t="t" r="r" b="b"/>
            <a:pathLst>
              <a:path w="1823085" h="1952625">
                <a:moveTo>
                  <a:pt x="1518993" y="1952399"/>
                </a:moveTo>
                <a:lnTo>
                  <a:pt x="303806" y="1952399"/>
                </a:lnTo>
                <a:lnTo>
                  <a:pt x="254527" y="1948423"/>
                </a:lnTo>
                <a:lnTo>
                  <a:pt x="207779" y="1936911"/>
                </a:lnTo>
                <a:lnTo>
                  <a:pt x="164189" y="1918489"/>
                </a:lnTo>
                <a:lnTo>
                  <a:pt x="124382" y="1893783"/>
                </a:lnTo>
                <a:lnTo>
                  <a:pt x="88982" y="1863417"/>
                </a:lnTo>
                <a:lnTo>
                  <a:pt x="58616" y="1828017"/>
                </a:lnTo>
                <a:lnTo>
                  <a:pt x="33910" y="1788210"/>
                </a:lnTo>
                <a:lnTo>
                  <a:pt x="15488" y="1744620"/>
                </a:lnTo>
                <a:lnTo>
                  <a:pt x="3976" y="1697872"/>
                </a:lnTo>
                <a:lnTo>
                  <a:pt x="0" y="1648593"/>
                </a:lnTo>
                <a:lnTo>
                  <a:pt x="0" y="303806"/>
                </a:lnTo>
                <a:lnTo>
                  <a:pt x="3976" y="254527"/>
                </a:lnTo>
                <a:lnTo>
                  <a:pt x="15488" y="207779"/>
                </a:lnTo>
                <a:lnTo>
                  <a:pt x="33910" y="164189"/>
                </a:lnTo>
                <a:lnTo>
                  <a:pt x="58616" y="124382"/>
                </a:lnTo>
                <a:lnTo>
                  <a:pt x="88982" y="88982"/>
                </a:lnTo>
                <a:lnTo>
                  <a:pt x="124382" y="58616"/>
                </a:lnTo>
                <a:lnTo>
                  <a:pt x="164189" y="33910"/>
                </a:lnTo>
                <a:lnTo>
                  <a:pt x="207779" y="15488"/>
                </a:lnTo>
                <a:lnTo>
                  <a:pt x="254527" y="3976"/>
                </a:lnTo>
                <a:lnTo>
                  <a:pt x="303806" y="0"/>
                </a:lnTo>
                <a:lnTo>
                  <a:pt x="1518993" y="0"/>
                </a:lnTo>
                <a:lnTo>
                  <a:pt x="1566806" y="3784"/>
                </a:lnTo>
                <a:lnTo>
                  <a:pt x="1613011" y="14913"/>
                </a:lnTo>
                <a:lnTo>
                  <a:pt x="1656791" y="33047"/>
                </a:lnTo>
                <a:lnTo>
                  <a:pt x="1697332" y="57850"/>
                </a:lnTo>
                <a:lnTo>
                  <a:pt x="1733817" y="88982"/>
                </a:lnTo>
                <a:lnTo>
                  <a:pt x="1764949" y="125467"/>
                </a:lnTo>
                <a:lnTo>
                  <a:pt x="1789752" y="166008"/>
                </a:lnTo>
                <a:lnTo>
                  <a:pt x="1807886" y="209788"/>
                </a:lnTo>
                <a:lnTo>
                  <a:pt x="1819015" y="255993"/>
                </a:lnTo>
                <a:lnTo>
                  <a:pt x="1822799" y="303806"/>
                </a:lnTo>
                <a:lnTo>
                  <a:pt x="1822799" y="1648593"/>
                </a:lnTo>
                <a:lnTo>
                  <a:pt x="1818823" y="1697872"/>
                </a:lnTo>
                <a:lnTo>
                  <a:pt x="1807311" y="1744620"/>
                </a:lnTo>
                <a:lnTo>
                  <a:pt x="1788889" y="1788210"/>
                </a:lnTo>
                <a:lnTo>
                  <a:pt x="1764183" y="1828017"/>
                </a:lnTo>
                <a:lnTo>
                  <a:pt x="1733817" y="1863417"/>
                </a:lnTo>
                <a:lnTo>
                  <a:pt x="1698417" y="1893783"/>
                </a:lnTo>
                <a:lnTo>
                  <a:pt x="1658610" y="1918489"/>
                </a:lnTo>
                <a:lnTo>
                  <a:pt x="1615020" y="1936911"/>
                </a:lnTo>
                <a:lnTo>
                  <a:pt x="1568272" y="1948423"/>
                </a:lnTo>
                <a:lnTo>
                  <a:pt x="1518993" y="1952399"/>
                </a:lnTo>
                <a:close/>
              </a:path>
            </a:pathLst>
          </a:custGeom>
          <a:solidFill>
            <a:srgbClr val="EEEEEE"/>
          </a:solidFill>
        </p:spPr>
        <p:txBody>
          <a:bodyPr wrap="square" lIns="0" tIns="0" rIns="0" bIns="0" rtlCol="0"/>
          <a:lstStyle/>
          <a:p>
            <a:endParaRPr sz="2400"/>
          </a:p>
        </p:txBody>
      </p:sp>
      <p:sp>
        <p:nvSpPr>
          <p:cNvPr id="3" name="object 3"/>
          <p:cNvSpPr/>
          <p:nvPr/>
        </p:nvSpPr>
        <p:spPr>
          <a:xfrm>
            <a:off x="1006699" y="1467066"/>
            <a:ext cx="2430780" cy="2603500"/>
          </a:xfrm>
          <a:custGeom>
            <a:avLst/>
            <a:gdLst/>
            <a:ahLst/>
            <a:cxnLst/>
            <a:rect l="l" t="t" r="r" b="b"/>
            <a:pathLst>
              <a:path w="1823085" h="1952625">
                <a:moveTo>
                  <a:pt x="0" y="303806"/>
                </a:moveTo>
                <a:lnTo>
                  <a:pt x="3976" y="254527"/>
                </a:lnTo>
                <a:lnTo>
                  <a:pt x="15488" y="207779"/>
                </a:lnTo>
                <a:lnTo>
                  <a:pt x="33910" y="164189"/>
                </a:lnTo>
                <a:lnTo>
                  <a:pt x="58616" y="124382"/>
                </a:lnTo>
                <a:lnTo>
                  <a:pt x="88982" y="88982"/>
                </a:lnTo>
                <a:lnTo>
                  <a:pt x="124382" y="58616"/>
                </a:lnTo>
                <a:lnTo>
                  <a:pt x="164189" y="33910"/>
                </a:lnTo>
                <a:lnTo>
                  <a:pt x="207779" y="15488"/>
                </a:lnTo>
                <a:lnTo>
                  <a:pt x="254527" y="3976"/>
                </a:lnTo>
                <a:lnTo>
                  <a:pt x="303806" y="0"/>
                </a:lnTo>
                <a:lnTo>
                  <a:pt x="1518993" y="0"/>
                </a:lnTo>
                <a:lnTo>
                  <a:pt x="1566806" y="3784"/>
                </a:lnTo>
                <a:lnTo>
                  <a:pt x="1613011" y="14913"/>
                </a:lnTo>
                <a:lnTo>
                  <a:pt x="1656791" y="33047"/>
                </a:lnTo>
                <a:lnTo>
                  <a:pt x="1697332" y="57850"/>
                </a:lnTo>
                <a:lnTo>
                  <a:pt x="1733817" y="88982"/>
                </a:lnTo>
                <a:lnTo>
                  <a:pt x="1764949" y="125467"/>
                </a:lnTo>
                <a:lnTo>
                  <a:pt x="1789752" y="166008"/>
                </a:lnTo>
                <a:lnTo>
                  <a:pt x="1807886" y="209788"/>
                </a:lnTo>
                <a:lnTo>
                  <a:pt x="1819015" y="255993"/>
                </a:lnTo>
                <a:lnTo>
                  <a:pt x="1822799" y="303806"/>
                </a:lnTo>
                <a:lnTo>
                  <a:pt x="1822799" y="1648593"/>
                </a:lnTo>
                <a:lnTo>
                  <a:pt x="1818823" y="1697872"/>
                </a:lnTo>
                <a:lnTo>
                  <a:pt x="1807311" y="1744620"/>
                </a:lnTo>
                <a:lnTo>
                  <a:pt x="1788889" y="1788210"/>
                </a:lnTo>
                <a:lnTo>
                  <a:pt x="1764183" y="1828017"/>
                </a:lnTo>
                <a:lnTo>
                  <a:pt x="1733817" y="1863417"/>
                </a:lnTo>
                <a:lnTo>
                  <a:pt x="1698417" y="1893783"/>
                </a:lnTo>
                <a:lnTo>
                  <a:pt x="1658610" y="1918489"/>
                </a:lnTo>
                <a:lnTo>
                  <a:pt x="1615020" y="1936911"/>
                </a:lnTo>
                <a:lnTo>
                  <a:pt x="1568272" y="1948423"/>
                </a:lnTo>
                <a:lnTo>
                  <a:pt x="1518993" y="1952399"/>
                </a:lnTo>
                <a:lnTo>
                  <a:pt x="303806" y="1952399"/>
                </a:lnTo>
                <a:lnTo>
                  <a:pt x="254527" y="1948423"/>
                </a:lnTo>
                <a:lnTo>
                  <a:pt x="207779" y="1936911"/>
                </a:lnTo>
                <a:lnTo>
                  <a:pt x="164189" y="1918489"/>
                </a:lnTo>
                <a:lnTo>
                  <a:pt x="124382" y="1893783"/>
                </a:lnTo>
                <a:lnTo>
                  <a:pt x="88982" y="1863417"/>
                </a:lnTo>
                <a:lnTo>
                  <a:pt x="58616" y="1828017"/>
                </a:lnTo>
                <a:lnTo>
                  <a:pt x="33910" y="1788210"/>
                </a:lnTo>
                <a:lnTo>
                  <a:pt x="15488" y="1744620"/>
                </a:lnTo>
                <a:lnTo>
                  <a:pt x="3976" y="1697872"/>
                </a:lnTo>
                <a:lnTo>
                  <a:pt x="0" y="1648593"/>
                </a:lnTo>
                <a:lnTo>
                  <a:pt x="0" y="303806"/>
                </a:lnTo>
                <a:close/>
              </a:path>
            </a:pathLst>
          </a:custGeom>
          <a:ln w="9524">
            <a:solidFill>
              <a:srgbClr val="595959"/>
            </a:solidFill>
          </a:ln>
        </p:spPr>
        <p:txBody>
          <a:bodyPr wrap="square" lIns="0" tIns="0" rIns="0" bIns="0" rtlCol="0"/>
          <a:lstStyle/>
          <a:p>
            <a:endParaRPr sz="2400"/>
          </a:p>
        </p:txBody>
      </p:sp>
      <p:sp>
        <p:nvSpPr>
          <p:cNvPr id="4" name="object 4"/>
          <p:cNvSpPr/>
          <p:nvPr/>
        </p:nvSpPr>
        <p:spPr>
          <a:xfrm>
            <a:off x="1006699" y="4317867"/>
            <a:ext cx="2430780" cy="2045547"/>
          </a:xfrm>
          <a:custGeom>
            <a:avLst/>
            <a:gdLst/>
            <a:ahLst/>
            <a:cxnLst/>
            <a:rect l="l" t="t" r="r" b="b"/>
            <a:pathLst>
              <a:path w="1823085" h="1534160">
                <a:moveTo>
                  <a:pt x="1567194" y="1533599"/>
                </a:moveTo>
                <a:lnTo>
                  <a:pt x="255605" y="1533599"/>
                </a:lnTo>
                <a:lnTo>
                  <a:pt x="209659" y="1529481"/>
                </a:lnTo>
                <a:lnTo>
                  <a:pt x="166416" y="1517608"/>
                </a:lnTo>
                <a:lnTo>
                  <a:pt x="126596" y="1498702"/>
                </a:lnTo>
                <a:lnTo>
                  <a:pt x="90921" y="1473484"/>
                </a:lnTo>
                <a:lnTo>
                  <a:pt x="60115" y="1442678"/>
                </a:lnTo>
                <a:lnTo>
                  <a:pt x="34897" y="1407003"/>
                </a:lnTo>
                <a:lnTo>
                  <a:pt x="15991" y="1367183"/>
                </a:lnTo>
                <a:lnTo>
                  <a:pt x="4118" y="1323940"/>
                </a:lnTo>
                <a:lnTo>
                  <a:pt x="0" y="1277994"/>
                </a:lnTo>
                <a:lnTo>
                  <a:pt x="0" y="255604"/>
                </a:lnTo>
                <a:lnTo>
                  <a:pt x="4118" y="209659"/>
                </a:lnTo>
                <a:lnTo>
                  <a:pt x="15991" y="166416"/>
                </a:lnTo>
                <a:lnTo>
                  <a:pt x="34897" y="126596"/>
                </a:lnTo>
                <a:lnTo>
                  <a:pt x="60115" y="90921"/>
                </a:lnTo>
                <a:lnTo>
                  <a:pt x="90921" y="60115"/>
                </a:lnTo>
                <a:lnTo>
                  <a:pt x="126596" y="34897"/>
                </a:lnTo>
                <a:lnTo>
                  <a:pt x="166416" y="15991"/>
                </a:lnTo>
                <a:lnTo>
                  <a:pt x="209659" y="4118"/>
                </a:lnTo>
                <a:lnTo>
                  <a:pt x="255605" y="0"/>
                </a:lnTo>
                <a:lnTo>
                  <a:pt x="1567194" y="0"/>
                </a:lnTo>
                <a:lnTo>
                  <a:pt x="1617293" y="4956"/>
                </a:lnTo>
                <a:lnTo>
                  <a:pt x="1665010" y="19456"/>
                </a:lnTo>
                <a:lnTo>
                  <a:pt x="1709004" y="42944"/>
                </a:lnTo>
                <a:lnTo>
                  <a:pt x="1747934" y="74864"/>
                </a:lnTo>
                <a:lnTo>
                  <a:pt x="1779855" y="113795"/>
                </a:lnTo>
                <a:lnTo>
                  <a:pt x="1803343" y="157789"/>
                </a:lnTo>
                <a:lnTo>
                  <a:pt x="1817843" y="205506"/>
                </a:lnTo>
                <a:lnTo>
                  <a:pt x="1822799" y="255604"/>
                </a:lnTo>
                <a:lnTo>
                  <a:pt x="1822799" y="1277994"/>
                </a:lnTo>
                <a:lnTo>
                  <a:pt x="1818681" y="1323940"/>
                </a:lnTo>
                <a:lnTo>
                  <a:pt x="1806808" y="1367183"/>
                </a:lnTo>
                <a:lnTo>
                  <a:pt x="1787902" y="1407003"/>
                </a:lnTo>
                <a:lnTo>
                  <a:pt x="1762684" y="1442678"/>
                </a:lnTo>
                <a:lnTo>
                  <a:pt x="1731878" y="1473484"/>
                </a:lnTo>
                <a:lnTo>
                  <a:pt x="1696203" y="1498702"/>
                </a:lnTo>
                <a:lnTo>
                  <a:pt x="1656383" y="1517608"/>
                </a:lnTo>
                <a:lnTo>
                  <a:pt x="1613140" y="1529481"/>
                </a:lnTo>
                <a:lnTo>
                  <a:pt x="1567194" y="1533599"/>
                </a:lnTo>
                <a:close/>
              </a:path>
            </a:pathLst>
          </a:custGeom>
          <a:solidFill>
            <a:srgbClr val="EEEEEE"/>
          </a:solidFill>
        </p:spPr>
        <p:txBody>
          <a:bodyPr wrap="square" lIns="0" tIns="0" rIns="0" bIns="0" rtlCol="0"/>
          <a:lstStyle/>
          <a:p>
            <a:endParaRPr sz="2400"/>
          </a:p>
        </p:txBody>
      </p:sp>
      <p:sp>
        <p:nvSpPr>
          <p:cNvPr id="5" name="object 5"/>
          <p:cNvSpPr/>
          <p:nvPr/>
        </p:nvSpPr>
        <p:spPr>
          <a:xfrm>
            <a:off x="1006699" y="4317867"/>
            <a:ext cx="2430780" cy="2045547"/>
          </a:xfrm>
          <a:custGeom>
            <a:avLst/>
            <a:gdLst/>
            <a:ahLst/>
            <a:cxnLst/>
            <a:rect l="l" t="t" r="r" b="b"/>
            <a:pathLst>
              <a:path w="1823085" h="1534160">
                <a:moveTo>
                  <a:pt x="0" y="255604"/>
                </a:moveTo>
                <a:lnTo>
                  <a:pt x="4118" y="209659"/>
                </a:lnTo>
                <a:lnTo>
                  <a:pt x="15991" y="166416"/>
                </a:lnTo>
                <a:lnTo>
                  <a:pt x="34897" y="126596"/>
                </a:lnTo>
                <a:lnTo>
                  <a:pt x="60115" y="90921"/>
                </a:lnTo>
                <a:lnTo>
                  <a:pt x="90921" y="60115"/>
                </a:lnTo>
                <a:lnTo>
                  <a:pt x="126596" y="34897"/>
                </a:lnTo>
                <a:lnTo>
                  <a:pt x="166416" y="15991"/>
                </a:lnTo>
                <a:lnTo>
                  <a:pt x="209659" y="4118"/>
                </a:lnTo>
                <a:lnTo>
                  <a:pt x="255605" y="0"/>
                </a:lnTo>
                <a:lnTo>
                  <a:pt x="1567194" y="0"/>
                </a:lnTo>
                <a:lnTo>
                  <a:pt x="1617293" y="4956"/>
                </a:lnTo>
                <a:lnTo>
                  <a:pt x="1665010" y="19456"/>
                </a:lnTo>
                <a:lnTo>
                  <a:pt x="1709004" y="42944"/>
                </a:lnTo>
                <a:lnTo>
                  <a:pt x="1747934" y="74864"/>
                </a:lnTo>
                <a:lnTo>
                  <a:pt x="1779855" y="113795"/>
                </a:lnTo>
                <a:lnTo>
                  <a:pt x="1803343" y="157789"/>
                </a:lnTo>
                <a:lnTo>
                  <a:pt x="1817843" y="205506"/>
                </a:lnTo>
                <a:lnTo>
                  <a:pt x="1822799" y="255604"/>
                </a:lnTo>
                <a:lnTo>
                  <a:pt x="1822799" y="1277994"/>
                </a:lnTo>
                <a:lnTo>
                  <a:pt x="1818681" y="1323940"/>
                </a:lnTo>
                <a:lnTo>
                  <a:pt x="1806808" y="1367183"/>
                </a:lnTo>
                <a:lnTo>
                  <a:pt x="1787902" y="1407003"/>
                </a:lnTo>
                <a:lnTo>
                  <a:pt x="1762684" y="1442678"/>
                </a:lnTo>
                <a:lnTo>
                  <a:pt x="1731878" y="1473484"/>
                </a:lnTo>
                <a:lnTo>
                  <a:pt x="1696203" y="1498702"/>
                </a:lnTo>
                <a:lnTo>
                  <a:pt x="1656383" y="1517608"/>
                </a:lnTo>
                <a:lnTo>
                  <a:pt x="1613140" y="1529481"/>
                </a:lnTo>
                <a:lnTo>
                  <a:pt x="1567194" y="1533599"/>
                </a:lnTo>
                <a:lnTo>
                  <a:pt x="255605" y="1533599"/>
                </a:lnTo>
                <a:lnTo>
                  <a:pt x="209659" y="1529481"/>
                </a:lnTo>
                <a:lnTo>
                  <a:pt x="166416" y="1517608"/>
                </a:lnTo>
                <a:lnTo>
                  <a:pt x="126596" y="1498702"/>
                </a:lnTo>
                <a:lnTo>
                  <a:pt x="90921" y="1473484"/>
                </a:lnTo>
                <a:lnTo>
                  <a:pt x="60115" y="1442678"/>
                </a:lnTo>
                <a:lnTo>
                  <a:pt x="34897" y="1407003"/>
                </a:lnTo>
                <a:lnTo>
                  <a:pt x="15991" y="1367183"/>
                </a:lnTo>
                <a:lnTo>
                  <a:pt x="4118" y="1323940"/>
                </a:lnTo>
                <a:lnTo>
                  <a:pt x="0" y="1277994"/>
                </a:lnTo>
                <a:lnTo>
                  <a:pt x="0" y="255604"/>
                </a:lnTo>
                <a:close/>
              </a:path>
            </a:pathLst>
          </a:custGeom>
          <a:ln w="9524">
            <a:solidFill>
              <a:srgbClr val="595959"/>
            </a:solidFill>
          </a:ln>
        </p:spPr>
        <p:txBody>
          <a:bodyPr wrap="square" lIns="0" tIns="0" rIns="0" bIns="0" rtlCol="0"/>
          <a:lstStyle/>
          <a:p>
            <a:endParaRPr sz="2400"/>
          </a:p>
        </p:txBody>
      </p:sp>
      <p:sp>
        <p:nvSpPr>
          <p:cNvPr id="6" name="object 6"/>
          <p:cNvSpPr/>
          <p:nvPr/>
        </p:nvSpPr>
        <p:spPr>
          <a:xfrm>
            <a:off x="7819532" y="1467065"/>
            <a:ext cx="2546773" cy="2705947"/>
          </a:xfrm>
          <a:custGeom>
            <a:avLst/>
            <a:gdLst/>
            <a:ahLst/>
            <a:cxnLst/>
            <a:rect l="l" t="t" r="r" b="b"/>
            <a:pathLst>
              <a:path w="1910079" h="2029460">
                <a:moveTo>
                  <a:pt x="1591243" y="2029199"/>
                </a:moveTo>
                <a:lnTo>
                  <a:pt x="318256" y="2029199"/>
                </a:lnTo>
                <a:lnTo>
                  <a:pt x="271226" y="2025749"/>
                </a:lnTo>
                <a:lnTo>
                  <a:pt x="226339" y="2015725"/>
                </a:lnTo>
                <a:lnTo>
                  <a:pt x="184087" y="1999620"/>
                </a:lnTo>
                <a:lnTo>
                  <a:pt x="144962" y="1977926"/>
                </a:lnTo>
                <a:lnTo>
                  <a:pt x="109456" y="1951137"/>
                </a:lnTo>
                <a:lnTo>
                  <a:pt x="78062" y="1919743"/>
                </a:lnTo>
                <a:lnTo>
                  <a:pt x="51273" y="1884237"/>
                </a:lnTo>
                <a:lnTo>
                  <a:pt x="29579" y="1845112"/>
                </a:lnTo>
                <a:lnTo>
                  <a:pt x="13474" y="1802860"/>
                </a:lnTo>
                <a:lnTo>
                  <a:pt x="3450" y="1757973"/>
                </a:lnTo>
                <a:lnTo>
                  <a:pt x="0" y="1710943"/>
                </a:lnTo>
                <a:lnTo>
                  <a:pt x="0" y="318256"/>
                </a:lnTo>
                <a:lnTo>
                  <a:pt x="3450" y="271226"/>
                </a:lnTo>
                <a:lnTo>
                  <a:pt x="13474" y="226339"/>
                </a:lnTo>
                <a:lnTo>
                  <a:pt x="29579" y="184087"/>
                </a:lnTo>
                <a:lnTo>
                  <a:pt x="51273" y="144962"/>
                </a:lnTo>
                <a:lnTo>
                  <a:pt x="78062" y="109456"/>
                </a:lnTo>
                <a:lnTo>
                  <a:pt x="109456" y="78062"/>
                </a:lnTo>
                <a:lnTo>
                  <a:pt x="144962" y="51273"/>
                </a:lnTo>
                <a:lnTo>
                  <a:pt x="184087" y="29579"/>
                </a:lnTo>
                <a:lnTo>
                  <a:pt x="226339" y="13474"/>
                </a:lnTo>
                <a:lnTo>
                  <a:pt x="271226" y="3450"/>
                </a:lnTo>
                <a:lnTo>
                  <a:pt x="318256" y="0"/>
                </a:lnTo>
                <a:lnTo>
                  <a:pt x="1591243" y="0"/>
                </a:lnTo>
                <a:lnTo>
                  <a:pt x="1641330" y="3964"/>
                </a:lnTo>
                <a:lnTo>
                  <a:pt x="1689732" y="15622"/>
                </a:lnTo>
                <a:lnTo>
                  <a:pt x="1735595" y="34619"/>
                </a:lnTo>
                <a:lnTo>
                  <a:pt x="1778064" y="60601"/>
                </a:lnTo>
                <a:lnTo>
                  <a:pt x="1816284" y="93215"/>
                </a:lnTo>
                <a:lnTo>
                  <a:pt x="1848898" y="131435"/>
                </a:lnTo>
                <a:lnTo>
                  <a:pt x="1874880" y="173904"/>
                </a:lnTo>
                <a:lnTo>
                  <a:pt x="1893877" y="219767"/>
                </a:lnTo>
                <a:lnTo>
                  <a:pt x="1905535" y="268169"/>
                </a:lnTo>
                <a:lnTo>
                  <a:pt x="1909499" y="318256"/>
                </a:lnTo>
                <a:lnTo>
                  <a:pt x="1909499" y="1710943"/>
                </a:lnTo>
                <a:lnTo>
                  <a:pt x="1906049" y="1757973"/>
                </a:lnTo>
                <a:lnTo>
                  <a:pt x="1896025" y="1802860"/>
                </a:lnTo>
                <a:lnTo>
                  <a:pt x="1879920" y="1845112"/>
                </a:lnTo>
                <a:lnTo>
                  <a:pt x="1858226" y="1884237"/>
                </a:lnTo>
                <a:lnTo>
                  <a:pt x="1831437" y="1919743"/>
                </a:lnTo>
                <a:lnTo>
                  <a:pt x="1800043" y="1951137"/>
                </a:lnTo>
                <a:lnTo>
                  <a:pt x="1764537" y="1977926"/>
                </a:lnTo>
                <a:lnTo>
                  <a:pt x="1725412" y="1999620"/>
                </a:lnTo>
                <a:lnTo>
                  <a:pt x="1683160" y="2015725"/>
                </a:lnTo>
                <a:lnTo>
                  <a:pt x="1638273" y="2025749"/>
                </a:lnTo>
                <a:lnTo>
                  <a:pt x="1591243" y="2029199"/>
                </a:lnTo>
                <a:close/>
              </a:path>
            </a:pathLst>
          </a:custGeom>
          <a:solidFill>
            <a:srgbClr val="EEEEEE"/>
          </a:solidFill>
        </p:spPr>
        <p:txBody>
          <a:bodyPr wrap="square" lIns="0" tIns="0" rIns="0" bIns="0" rtlCol="0"/>
          <a:lstStyle/>
          <a:p>
            <a:endParaRPr sz="2400"/>
          </a:p>
        </p:txBody>
      </p:sp>
      <p:sp>
        <p:nvSpPr>
          <p:cNvPr id="7" name="object 7"/>
          <p:cNvSpPr/>
          <p:nvPr/>
        </p:nvSpPr>
        <p:spPr>
          <a:xfrm>
            <a:off x="7819534" y="1467065"/>
            <a:ext cx="2546773" cy="2705947"/>
          </a:xfrm>
          <a:custGeom>
            <a:avLst/>
            <a:gdLst/>
            <a:ahLst/>
            <a:cxnLst/>
            <a:rect l="l" t="t" r="r" b="b"/>
            <a:pathLst>
              <a:path w="1910079" h="2029460">
                <a:moveTo>
                  <a:pt x="0" y="318256"/>
                </a:moveTo>
                <a:lnTo>
                  <a:pt x="3450" y="271226"/>
                </a:lnTo>
                <a:lnTo>
                  <a:pt x="13474" y="226339"/>
                </a:lnTo>
                <a:lnTo>
                  <a:pt x="29579" y="184087"/>
                </a:lnTo>
                <a:lnTo>
                  <a:pt x="51273" y="144962"/>
                </a:lnTo>
                <a:lnTo>
                  <a:pt x="78062" y="109456"/>
                </a:lnTo>
                <a:lnTo>
                  <a:pt x="109456" y="78062"/>
                </a:lnTo>
                <a:lnTo>
                  <a:pt x="144962" y="51273"/>
                </a:lnTo>
                <a:lnTo>
                  <a:pt x="184087" y="29579"/>
                </a:lnTo>
                <a:lnTo>
                  <a:pt x="226339" y="13474"/>
                </a:lnTo>
                <a:lnTo>
                  <a:pt x="271226" y="3450"/>
                </a:lnTo>
                <a:lnTo>
                  <a:pt x="318256" y="0"/>
                </a:lnTo>
                <a:lnTo>
                  <a:pt x="1591243" y="0"/>
                </a:lnTo>
                <a:lnTo>
                  <a:pt x="1641330" y="3964"/>
                </a:lnTo>
                <a:lnTo>
                  <a:pt x="1689732" y="15622"/>
                </a:lnTo>
                <a:lnTo>
                  <a:pt x="1735595" y="34619"/>
                </a:lnTo>
                <a:lnTo>
                  <a:pt x="1778064" y="60601"/>
                </a:lnTo>
                <a:lnTo>
                  <a:pt x="1816284" y="93215"/>
                </a:lnTo>
                <a:lnTo>
                  <a:pt x="1848898" y="131435"/>
                </a:lnTo>
                <a:lnTo>
                  <a:pt x="1874880" y="173904"/>
                </a:lnTo>
                <a:lnTo>
                  <a:pt x="1893877" y="219767"/>
                </a:lnTo>
                <a:lnTo>
                  <a:pt x="1905535" y="268169"/>
                </a:lnTo>
                <a:lnTo>
                  <a:pt x="1909499" y="318256"/>
                </a:lnTo>
                <a:lnTo>
                  <a:pt x="1909499" y="1710943"/>
                </a:lnTo>
                <a:lnTo>
                  <a:pt x="1906049" y="1757973"/>
                </a:lnTo>
                <a:lnTo>
                  <a:pt x="1896025" y="1802860"/>
                </a:lnTo>
                <a:lnTo>
                  <a:pt x="1879920" y="1845112"/>
                </a:lnTo>
                <a:lnTo>
                  <a:pt x="1858226" y="1884237"/>
                </a:lnTo>
                <a:lnTo>
                  <a:pt x="1831437" y="1919743"/>
                </a:lnTo>
                <a:lnTo>
                  <a:pt x="1800043" y="1951137"/>
                </a:lnTo>
                <a:lnTo>
                  <a:pt x="1764537" y="1977926"/>
                </a:lnTo>
                <a:lnTo>
                  <a:pt x="1725412" y="1999620"/>
                </a:lnTo>
                <a:lnTo>
                  <a:pt x="1683160" y="2015725"/>
                </a:lnTo>
                <a:lnTo>
                  <a:pt x="1638273" y="2025749"/>
                </a:lnTo>
                <a:lnTo>
                  <a:pt x="1591243" y="2029199"/>
                </a:lnTo>
                <a:lnTo>
                  <a:pt x="318256" y="2029199"/>
                </a:lnTo>
                <a:lnTo>
                  <a:pt x="271226" y="2025749"/>
                </a:lnTo>
                <a:lnTo>
                  <a:pt x="226339" y="2015725"/>
                </a:lnTo>
                <a:lnTo>
                  <a:pt x="184087" y="1999620"/>
                </a:lnTo>
                <a:lnTo>
                  <a:pt x="144962" y="1977926"/>
                </a:lnTo>
                <a:lnTo>
                  <a:pt x="109456" y="1951137"/>
                </a:lnTo>
                <a:lnTo>
                  <a:pt x="78062" y="1919743"/>
                </a:lnTo>
                <a:lnTo>
                  <a:pt x="51273" y="1884237"/>
                </a:lnTo>
                <a:lnTo>
                  <a:pt x="29579" y="1845112"/>
                </a:lnTo>
                <a:lnTo>
                  <a:pt x="13474" y="1802860"/>
                </a:lnTo>
                <a:lnTo>
                  <a:pt x="3450" y="1757973"/>
                </a:lnTo>
                <a:lnTo>
                  <a:pt x="0" y="1710943"/>
                </a:lnTo>
                <a:lnTo>
                  <a:pt x="0" y="318256"/>
                </a:lnTo>
                <a:close/>
              </a:path>
            </a:pathLst>
          </a:custGeom>
          <a:ln w="9524">
            <a:solidFill>
              <a:srgbClr val="595959"/>
            </a:solidFill>
          </a:ln>
        </p:spPr>
        <p:txBody>
          <a:bodyPr wrap="square" lIns="0" tIns="0" rIns="0" bIns="0" rtlCol="0"/>
          <a:lstStyle/>
          <a:p>
            <a:endParaRPr sz="2400"/>
          </a:p>
        </p:txBody>
      </p:sp>
      <p:sp>
        <p:nvSpPr>
          <p:cNvPr id="8" name="object 8"/>
          <p:cNvSpPr txBox="1"/>
          <p:nvPr/>
        </p:nvSpPr>
        <p:spPr>
          <a:xfrm>
            <a:off x="1222709" y="1679237"/>
            <a:ext cx="8078047" cy="304421"/>
          </a:xfrm>
          <a:prstGeom prst="rect">
            <a:avLst/>
          </a:prstGeom>
        </p:spPr>
        <p:txBody>
          <a:bodyPr vert="horz" wrap="square" lIns="0" tIns="16933" rIns="0" bIns="0" rtlCol="0">
            <a:spAutoFit/>
          </a:bodyPr>
          <a:lstStyle/>
          <a:p>
            <a:pPr marL="16933">
              <a:spcBef>
                <a:spcPts val="133"/>
              </a:spcBef>
              <a:tabLst>
                <a:tab pos="6834969" algn="l"/>
              </a:tabLst>
            </a:pPr>
            <a:r>
              <a:rPr sz="2800" b="1" spc="-9" baseline="1984" dirty="0">
                <a:latin typeface="Arial"/>
                <a:cs typeface="Arial"/>
              </a:rPr>
              <a:t>shooty_gu</a:t>
            </a:r>
            <a:r>
              <a:rPr sz="2800" b="1" baseline="1984" dirty="0">
                <a:latin typeface="Arial"/>
                <a:cs typeface="Arial"/>
              </a:rPr>
              <a:t>y	</a:t>
            </a:r>
            <a:r>
              <a:rPr sz="1867" b="1" spc="-7" dirty="0">
                <a:latin typeface="Arial"/>
                <a:cs typeface="Arial"/>
              </a:rPr>
              <a:t>melee_guy</a:t>
            </a:r>
            <a:endParaRPr sz="1867">
              <a:latin typeface="Arial"/>
              <a:cs typeface="Arial"/>
            </a:endParaRPr>
          </a:p>
        </p:txBody>
      </p:sp>
      <p:sp>
        <p:nvSpPr>
          <p:cNvPr id="9" name="object 9"/>
          <p:cNvSpPr/>
          <p:nvPr/>
        </p:nvSpPr>
        <p:spPr>
          <a:xfrm>
            <a:off x="4221932" y="1467050"/>
            <a:ext cx="2990427" cy="1970193"/>
          </a:xfrm>
          <a:custGeom>
            <a:avLst/>
            <a:gdLst/>
            <a:ahLst/>
            <a:cxnLst/>
            <a:rect l="l" t="t" r="r" b="b"/>
            <a:pathLst>
              <a:path w="2242820" h="1477645">
                <a:moveTo>
                  <a:pt x="1995944" y="1477499"/>
                </a:moveTo>
                <a:lnTo>
                  <a:pt x="246254" y="1477499"/>
                </a:lnTo>
                <a:lnTo>
                  <a:pt x="196626" y="1472496"/>
                </a:lnTo>
                <a:lnTo>
                  <a:pt x="150401" y="1458148"/>
                </a:lnTo>
                <a:lnTo>
                  <a:pt x="108571" y="1435443"/>
                </a:lnTo>
                <a:lnTo>
                  <a:pt x="72126" y="1405373"/>
                </a:lnTo>
                <a:lnTo>
                  <a:pt x="42056" y="1368928"/>
                </a:lnTo>
                <a:lnTo>
                  <a:pt x="19351" y="1327098"/>
                </a:lnTo>
                <a:lnTo>
                  <a:pt x="5003" y="1280874"/>
                </a:lnTo>
                <a:lnTo>
                  <a:pt x="0" y="1231245"/>
                </a:lnTo>
                <a:lnTo>
                  <a:pt x="0" y="246254"/>
                </a:lnTo>
                <a:lnTo>
                  <a:pt x="5003" y="196625"/>
                </a:lnTo>
                <a:lnTo>
                  <a:pt x="19351" y="150401"/>
                </a:lnTo>
                <a:lnTo>
                  <a:pt x="42056" y="108571"/>
                </a:lnTo>
                <a:lnTo>
                  <a:pt x="72126" y="72126"/>
                </a:lnTo>
                <a:lnTo>
                  <a:pt x="108571" y="42056"/>
                </a:lnTo>
                <a:lnTo>
                  <a:pt x="150401" y="19351"/>
                </a:lnTo>
                <a:lnTo>
                  <a:pt x="196626" y="5003"/>
                </a:lnTo>
                <a:lnTo>
                  <a:pt x="246254" y="0"/>
                </a:lnTo>
                <a:lnTo>
                  <a:pt x="1995944" y="0"/>
                </a:lnTo>
                <a:lnTo>
                  <a:pt x="2044211" y="4775"/>
                </a:lnTo>
                <a:lnTo>
                  <a:pt x="2090182" y="18745"/>
                </a:lnTo>
                <a:lnTo>
                  <a:pt x="2132567" y="41373"/>
                </a:lnTo>
                <a:lnTo>
                  <a:pt x="2170073" y="72126"/>
                </a:lnTo>
                <a:lnTo>
                  <a:pt x="2200826" y="109632"/>
                </a:lnTo>
                <a:lnTo>
                  <a:pt x="2223454" y="152017"/>
                </a:lnTo>
                <a:lnTo>
                  <a:pt x="2237424" y="197988"/>
                </a:lnTo>
                <a:lnTo>
                  <a:pt x="2242199" y="246254"/>
                </a:lnTo>
                <a:lnTo>
                  <a:pt x="2242199" y="1231245"/>
                </a:lnTo>
                <a:lnTo>
                  <a:pt x="2237196" y="1280874"/>
                </a:lnTo>
                <a:lnTo>
                  <a:pt x="2222848" y="1327098"/>
                </a:lnTo>
                <a:lnTo>
                  <a:pt x="2200143" y="1368928"/>
                </a:lnTo>
                <a:lnTo>
                  <a:pt x="2170073" y="1405373"/>
                </a:lnTo>
                <a:lnTo>
                  <a:pt x="2133628" y="1435443"/>
                </a:lnTo>
                <a:lnTo>
                  <a:pt x="2091798" y="1458148"/>
                </a:lnTo>
                <a:lnTo>
                  <a:pt x="2045573" y="1472496"/>
                </a:lnTo>
                <a:lnTo>
                  <a:pt x="1995944" y="1477499"/>
                </a:lnTo>
                <a:close/>
              </a:path>
            </a:pathLst>
          </a:custGeom>
          <a:solidFill>
            <a:srgbClr val="EEEEEE"/>
          </a:solidFill>
        </p:spPr>
        <p:txBody>
          <a:bodyPr wrap="square" lIns="0" tIns="0" rIns="0" bIns="0" rtlCol="0"/>
          <a:lstStyle/>
          <a:p>
            <a:endParaRPr sz="2400"/>
          </a:p>
        </p:txBody>
      </p:sp>
      <p:sp>
        <p:nvSpPr>
          <p:cNvPr id="10" name="object 10"/>
          <p:cNvSpPr/>
          <p:nvPr/>
        </p:nvSpPr>
        <p:spPr>
          <a:xfrm>
            <a:off x="4221932" y="1467050"/>
            <a:ext cx="2990427" cy="1970193"/>
          </a:xfrm>
          <a:custGeom>
            <a:avLst/>
            <a:gdLst/>
            <a:ahLst/>
            <a:cxnLst/>
            <a:rect l="l" t="t" r="r" b="b"/>
            <a:pathLst>
              <a:path w="2242820" h="1477645">
                <a:moveTo>
                  <a:pt x="0" y="246254"/>
                </a:moveTo>
                <a:lnTo>
                  <a:pt x="5003" y="196625"/>
                </a:lnTo>
                <a:lnTo>
                  <a:pt x="19351" y="150401"/>
                </a:lnTo>
                <a:lnTo>
                  <a:pt x="42056" y="108571"/>
                </a:lnTo>
                <a:lnTo>
                  <a:pt x="72126" y="72126"/>
                </a:lnTo>
                <a:lnTo>
                  <a:pt x="108571" y="42056"/>
                </a:lnTo>
                <a:lnTo>
                  <a:pt x="150401" y="19351"/>
                </a:lnTo>
                <a:lnTo>
                  <a:pt x="196626" y="5003"/>
                </a:lnTo>
                <a:lnTo>
                  <a:pt x="246254" y="0"/>
                </a:lnTo>
                <a:lnTo>
                  <a:pt x="1995944" y="0"/>
                </a:lnTo>
                <a:lnTo>
                  <a:pt x="2044211" y="4775"/>
                </a:lnTo>
                <a:lnTo>
                  <a:pt x="2090182" y="18745"/>
                </a:lnTo>
                <a:lnTo>
                  <a:pt x="2132567" y="41373"/>
                </a:lnTo>
                <a:lnTo>
                  <a:pt x="2170073" y="72126"/>
                </a:lnTo>
                <a:lnTo>
                  <a:pt x="2200826" y="109632"/>
                </a:lnTo>
                <a:lnTo>
                  <a:pt x="2223454" y="152017"/>
                </a:lnTo>
                <a:lnTo>
                  <a:pt x="2237424" y="197988"/>
                </a:lnTo>
                <a:lnTo>
                  <a:pt x="2242199" y="246254"/>
                </a:lnTo>
                <a:lnTo>
                  <a:pt x="2242199" y="1231245"/>
                </a:lnTo>
                <a:lnTo>
                  <a:pt x="2237196" y="1280874"/>
                </a:lnTo>
                <a:lnTo>
                  <a:pt x="2222848" y="1327098"/>
                </a:lnTo>
                <a:lnTo>
                  <a:pt x="2200143" y="1368928"/>
                </a:lnTo>
                <a:lnTo>
                  <a:pt x="2170073" y="1405373"/>
                </a:lnTo>
                <a:lnTo>
                  <a:pt x="2133628" y="1435443"/>
                </a:lnTo>
                <a:lnTo>
                  <a:pt x="2091798" y="1458148"/>
                </a:lnTo>
                <a:lnTo>
                  <a:pt x="2045573" y="1472496"/>
                </a:lnTo>
                <a:lnTo>
                  <a:pt x="1995944" y="1477499"/>
                </a:lnTo>
                <a:lnTo>
                  <a:pt x="246254" y="1477499"/>
                </a:lnTo>
                <a:lnTo>
                  <a:pt x="196626" y="1472496"/>
                </a:lnTo>
                <a:lnTo>
                  <a:pt x="150401" y="1458148"/>
                </a:lnTo>
                <a:lnTo>
                  <a:pt x="108571" y="1435443"/>
                </a:lnTo>
                <a:lnTo>
                  <a:pt x="72126" y="1405373"/>
                </a:lnTo>
                <a:lnTo>
                  <a:pt x="42056" y="1368928"/>
                </a:lnTo>
                <a:lnTo>
                  <a:pt x="19351" y="1327098"/>
                </a:lnTo>
                <a:lnTo>
                  <a:pt x="5003" y="1280874"/>
                </a:lnTo>
                <a:lnTo>
                  <a:pt x="0" y="1231245"/>
                </a:lnTo>
                <a:lnTo>
                  <a:pt x="0" y="246254"/>
                </a:lnTo>
                <a:close/>
              </a:path>
            </a:pathLst>
          </a:custGeom>
          <a:ln w="9524">
            <a:solidFill>
              <a:srgbClr val="595959"/>
            </a:solidFill>
          </a:ln>
        </p:spPr>
        <p:txBody>
          <a:bodyPr wrap="square" lIns="0" tIns="0" rIns="0" bIns="0" rtlCol="0"/>
          <a:lstStyle/>
          <a:p>
            <a:endParaRPr sz="2400"/>
          </a:p>
        </p:txBody>
      </p:sp>
      <p:sp>
        <p:nvSpPr>
          <p:cNvPr id="11" name="object 11"/>
          <p:cNvSpPr txBox="1"/>
          <p:nvPr/>
        </p:nvSpPr>
        <p:spPr>
          <a:xfrm>
            <a:off x="4415467" y="1651101"/>
            <a:ext cx="1231053"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bomb_guy</a:t>
            </a:r>
            <a:endParaRPr sz="1867">
              <a:latin typeface="Arial"/>
              <a:cs typeface="Arial"/>
            </a:endParaRPr>
          </a:p>
        </p:txBody>
      </p:sp>
      <p:sp>
        <p:nvSpPr>
          <p:cNvPr id="12" name="object 12"/>
          <p:cNvSpPr txBox="1">
            <a:spLocks noGrp="1"/>
          </p:cNvSpPr>
          <p:nvPr>
            <p:ph type="title"/>
          </p:nvPr>
        </p:nvSpPr>
        <p:spPr>
          <a:xfrm>
            <a:off x="512967" y="677405"/>
            <a:ext cx="908642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The </a:t>
            </a:r>
            <a:r>
              <a:rPr sz="3733" spc="-13" dirty="0"/>
              <a:t>ShootyGuy </a:t>
            </a:r>
            <a:r>
              <a:rPr sz="3733" spc="-7" dirty="0"/>
              <a:t>entity </a:t>
            </a:r>
            <a:r>
              <a:rPr sz="3733" dirty="0"/>
              <a:t>model</a:t>
            </a:r>
            <a:r>
              <a:rPr sz="3733" spc="-120" dirty="0"/>
              <a:t> </a:t>
            </a:r>
            <a:r>
              <a:rPr sz="3733" dirty="0"/>
              <a:t>(Composition)</a:t>
            </a:r>
            <a:endParaRPr sz="3733"/>
          </a:p>
        </p:txBody>
      </p:sp>
      <p:sp>
        <p:nvSpPr>
          <p:cNvPr id="13" name="object 13"/>
          <p:cNvSpPr/>
          <p:nvPr/>
        </p:nvSpPr>
        <p:spPr>
          <a:xfrm>
            <a:off x="4462967" y="2121316"/>
            <a:ext cx="2048933" cy="545253"/>
          </a:xfrm>
          <a:custGeom>
            <a:avLst/>
            <a:gdLst/>
            <a:ahLst/>
            <a:cxnLst/>
            <a:rect l="l" t="t" r="r" b="b"/>
            <a:pathLst>
              <a:path w="1536700" h="408939">
                <a:moveTo>
                  <a:pt x="14681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468198" y="0"/>
                </a:lnTo>
                <a:lnTo>
                  <a:pt x="1505981" y="11441"/>
                </a:lnTo>
                <a:lnTo>
                  <a:pt x="1531116" y="42040"/>
                </a:lnTo>
                <a:lnTo>
                  <a:pt x="1536299" y="68101"/>
                </a:lnTo>
                <a:lnTo>
                  <a:pt x="1536299" y="340498"/>
                </a:lnTo>
                <a:lnTo>
                  <a:pt x="1530948" y="367006"/>
                </a:lnTo>
                <a:lnTo>
                  <a:pt x="1516353" y="388653"/>
                </a:lnTo>
                <a:lnTo>
                  <a:pt x="1494706" y="403248"/>
                </a:lnTo>
                <a:lnTo>
                  <a:pt x="1468198" y="408599"/>
                </a:lnTo>
                <a:close/>
              </a:path>
            </a:pathLst>
          </a:custGeom>
          <a:solidFill>
            <a:srgbClr val="EEEEEE"/>
          </a:solidFill>
        </p:spPr>
        <p:txBody>
          <a:bodyPr wrap="square" lIns="0" tIns="0" rIns="0" bIns="0" rtlCol="0"/>
          <a:lstStyle/>
          <a:p>
            <a:endParaRPr sz="2400"/>
          </a:p>
        </p:txBody>
      </p:sp>
      <p:sp>
        <p:nvSpPr>
          <p:cNvPr id="14" name="object 14"/>
          <p:cNvSpPr/>
          <p:nvPr/>
        </p:nvSpPr>
        <p:spPr>
          <a:xfrm>
            <a:off x="4462967" y="2121316"/>
            <a:ext cx="2048933" cy="545253"/>
          </a:xfrm>
          <a:custGeom>
            <a:avLst/>
            <a:gdLst/>
            <a:ahLst/>
            <a:cxnLst/>
            <a:rect l="l" t="t" r="r" b="b"/>
            <a:pathLst>
              <a:path w="1536700" h="408939">
                <a:moveTo>
                  <a:pt x="0" y="68101"/>
                </a:moveTo>
                <a:lnTo>
                  <a:pt x="5351" y="41593"/>
                </a:lnTo>
                <a:lnTo>
                  <a:pt x="19946" y="19946"/>
                </a:lnTo>
                <a:lnTo>
                  <a:pt x="41593" y="5351"/>
                </a:lnTo>
                <a:lnTo>
                  <a:pt x="68101" y="0"/>
                </a:lnTo>
                <a:lnTo>
                  <a:pt x="1468198" y="0"/>
                </a:lnTo>
                <a:lnTo>
                  <a:pt x="1505981" y="11441"/>
                </a:lnTo>
                <a:lnTo>
                  <a:pt x="1531116" y="42040"/>
                </a:lnTo>
                <a:lnTo>
                  <a:pt x="1536299" y="68101"/>
                </a:lnTo>
                <a:lnTo>
                  <a:pt x="1536299" y="340498"/>
                </a:lnTo>
                <a:lnTo>
                  <a:pt x="1530948" y="367006"/>
                </a:lnTo>
                <a:lnTo>
                  <a:pt x="1516353" y="388653"/>
                </a:lnTo>
                <a:lnTo>
                  <a:pt x="1494706" y="403248"/>
                </a:lnTo>
                <a:lnTo>
                  <a:pt x="14681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15" name="object 15"/>
          <p:cNvSpPr/>
          <p:nvPr/>
        </p:nvSpPr>
        <p:spPr>
          <a:xfrm>
            <a:off x="1274283" y="3349332"/>
            <a:ext cx="1771227" cy="545253"/>
          </a:xfrm>
          <a:custGeom>
            <a:avLst/>
            <a:gdLst/>
            <a:ahLst/>
            <a:cxnLst/>
            <a:rect l="l" t="t" r="r" b="b"/>
            <a:pathLst>
              <a:path w="1328420" h="408939">
                <a:moveTo>
                  <a:pt x="12596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259698" y="0"/>
                </a:lnTo>
                <a:lnTo>
                  <a:pt x="1297481" y="11441"/>
                </a:lnTo>
                <a:lnTo>
                  <a:pt x="1322616" y="42040"/>
                </a:lnTo>
                <a:lnTo>
                  <a:pt x="1327799" y="68101"/>
                </a:lnTo>
                <a:lnTo>
                  <a:pt x="1327799" y="340498"/>
                </a:lnTo>
                <a:lnTo>
                  <a:pt x="1322448" y="367006"/>
                </a:lnTo>
                <a:lnTo>
                  <a:pt x="1307853" y="388653"/>
                </a:lnTo>
                <a:lnTo>
                  <a:pt x="1286206" y="403248"/>
                </a:lnTo>
                <a:lnTo>
                  <a:pt x="1259698" y="408599"/>
                </a:lnTo>
                <a:close/>
              </a:path>
            </a:pathLst>
          </a:custGeom>
          <a:solidFill>
            <a:srgbClr val="EEEEEE"/>
          </a:solidFill>
        </p:spPr>
        <p:txBody>
          <a:bodyPr wrap="square" lIns="0" tIns="0" rIns="0" bIns="0" rtlCol="0"/>
          <a:lstStyle/>
          <a:p>
            <a:endParaRPr sz="2400"/>
          </a:p>
        </p:txBody>
      </p:sp>
      <p:sp>
        <p:nvSpPr>
          <p:cNvPr id="16" name="object 16"/>
          <p:cNvSpPr/>
          <p:nvPr/>
        </p:nvSpPr>
        <p:spPr>
          <a:xfrm>
            <a:off x="1274283" y="3349332"/>
            <a:ext cx="1771227" cy="545253"/>
          </a:xfrm>
          <a:custGeom>
            <a:avLst/>
            <a:gdLst/>
            <a:ahLst/>
            <a:cxnLst/>
            <a:rect l="l" t="t" r="r" b="b"/>
            <a:pathLst>
              <a:path w="1328420" h="408939">
                <a:moveTo>
                  <a:pt x="0" y="68101"/>
                </a:moveTo>
                <a:lnTo>
                  <a:pt x="5351" y="41593"/>
                </a:lnTo>
                <a:lnTo>
                  <a:pt x="19946" y="19946"/>
                </a:lnTo>
                <a:lnTo>
                  <a:pt x="41593" y="5351"/>
                </a:lnTo>
                <a:lnTo>
                  <a:pt x="68101" y="0"/>
                </a:lnTo>
                <a:lnTo>
                  <a:pt x="1259698" y="0"/>
                </a:lnTo>
                <a:lnTo>
                  <a:pt x="1297481" y="11441"/>
                </a:lnTo>
                <a:lnTo>
                  <a:pt x="1322616" y="42040"/>
                </a:lnTo>
                <a:lnTo>
                  <a:pt x="1327799" y="68101"/>
                </a:lnTo>
                <a:lnTo>
                  <a:pt x="1327799" y="340498"/>
                </a:lnTo>
                <a:lnTo>
                  <a:pt x="1322448" y="367006"/>
                </a:lnTo>
                <a:lnTo>
                  <a:pt x="1307853" y="388653"/>
                </a:lnTo>
                <a:lnTo>
                  <a:pt x="1286206" y="403248"/>
                </a:lnTo>
                <a:lnTo>
                  <a:pt x="12596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17" name="object 17"/>
          <p:cNvSpPr txBox="1"/>
          <p:nvPr/>
        </p:nvSpPr>
        <p:spPr>
          <a:xfrm>
            <a:off x="1398245" y="3463813"/>
            <a:ext cx="1313180" cy="304421"/>
          </a:xfrm>
          <a:prstGeom prst="rect">
            <a:avLst/>
          </a:prstGeom>
        </p:spPr>
        <p:txBody>
          <a:bodyPr vert="horz" wrap="square" lIns="0" tIns="16933" rIns="0" bIns="0" rtlCol="0">
            <a:spAutoFit/>
          </a:bodyPr>
          <a:lstStyle/>
          <a:p>
            <a:pPr marL="16933">
              <a:spcBef>
                <a:spcPts val="133"/>
              </a:spcBef>
            </a:pPr>
            <a:r>
              <a:rPr sz="1867" dirty="0">
                <a:latin typeface="Arial"/>
                <a:cs typeface="Arial"/>
              </a:rPr>
              <a:t>shoot_bullet</a:t>
            </a:r>
            <a:endParaRPr sz="1867">
              <a:latin typeface="Arial"/>
              <a:cs typeface="Arial"/>
            </a:endParaRPr>
          </a:p>
        </p:txBody>
      </p:sp>
      <p:sp>
        <p:nvSpPr>
          <p:cNvPr id="18" name="object 18"/>
          <p:cNvSpPr/>
          <p:nvPr/>
        </p:nvSpPr>
        <p:spPr>
          <a:xfrm>
            <a:off x="8099300" y="3317800"/>
            <a:ext cx="1441873" cy="545253"/>
          </a:xfrm>
          <a:custGeom>
            <a:avLst/>
            <a:gdLst/>
            <a:ahLst/>
            <a:cxnLst/>
            <a:rect l="l" t="t" r="r" b="b"/>
            <a:pathLst>
              <a:path w="1081404" h="408939">
                <a:moveTo>
                  <a:pt x="10130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013098" y="0"/>
                </a:lnTo>
                <a:lnTo>
                  <a:pt x="1050881" y="11441"/>
                </a:lnTo>
                <a:lnTo>
                  <a:pt x="1076016" y="42040"/>
                </a:lnTo>
                <a:lnTo>
                  <a:pt x="1081199" y="68101"/>
                </a:lnTo>
                <a:lnTo>
                  <a:pt x="1081199" y="340498"/>
                </a:lnTo>
                <a:lnTo>
                  <a:pt x="1075848" y="367006"/>
                </a:lnTo>
                <a:lnTo>
                  <a:pt x="1061253" y="388653"/>
                </a:lnTo>
                <a:lnTo>
                  <a:pt x="1039606" y="403248"/>
                </a:lnTo>
                <a:lnTo>
                  <a:pt x="1013098" y="408599"/>
                </a:lnTo>
                <a:close/>
              </a:path>
            </a:pathLst>
          </a:custGeom>
          <a:solidFill>
            <a:srgbClr val="EEEEEE"/>
          </a:solidFill>
        </p:spPr>
        <p:txBody>
          <a:bodyPr wrap="square" lIns="0" tIns="0" rIns="0" bIns="0" rtlCol="0"/>
          <a:lstStyle/>
          <a:p>
            <a:endParaRPr sz="2400"/>
          </a:p>
        </p:txBody>
      </p:sp>
      <p:sp>
        <p:nvSpPr>
          <p:cNvPr id="19" name="object 19"/>
          <p:cNvSpPr/>
          <p:nvPr/>
        </p:nvSpPr>
        <p:spPr>
          <a:xfrm>
            <a:off x="8099300" y="3317800"/>
            <a:ext cx="1441873" cy="545253"/>
          </a:xfrm>
          <a:custGeom>
            <a:avLst/>
            <a:gdLst/>
            <a:ahLst/>
            <a:cxnLst/>
            <a:rect l="l" t="t" r="r" b="b"/>
            <a:pathLst>
              <a:path w="1081404" h="408939">
                <a:moveTo>
                  <a:pt x="0" y="68101"/>
                </a:moveTo>
                <a:lnTo>
                  <a:pt x="5351" y="41593"/>
                </a:lnTo>
                <a:lnTo>
                  <a:pt x="19946" y="19946"/>
                </a:lnTo>
                <a:lnTo>
                  <a:pt x="41593" y="5351"/>
                </a:lnTo>
                <a:lnTo>
                  <a:pt x="68101" y="0"/>
                </a:lnTo>
                <a:lnTo>
                  <a:pt x="1013098" y="0"/>
                </a:lnTo>
                <a:lnTo>
                  <a:pt x="1050881" y="11441"/>
                </a:lnTo>
                <a:lnTo>
                  <a:pt x="1076016" y="42040"/>
                </a:lnTo>
                <a:lnTo>
                  <a:pt x="1081199" y="68101"/>
                </a:lnTo>
                <a:lnTo>
                  <a:pt x="1081199" y="340498"/>
                </a:lnTo>
                <a:lnTo>
                  <a:pt x="1075848" y="367006"/>
                </a:lnTo>
                <a:lnTo>
                  <a:pt x="1061253" y="388653"/>
                </a:lnTo>
                <a:lnTo>
                  <a:pt x="1039606" y="403248"/>
                </a:lnTo>
                <a:lnTo>
                  <a:pt x="10130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20" name="object 20"/>
          <p:cNvSpPr txBox="1"/>
          <p:nvPr/>
        </p:nvSpPr>
        <p:spPr>
          <a:xfrm>
            <a:off x="8223262" y="3432279"/>
            <a:ext cx="982980" cy="304421"/>
          </a:xfrm>
          <a:prstGeom prst="rect">
            <a:avLst/>
          </a:prstGeom>
        </p:spPr>
        <p:txBody>
          <a:bodyPr vert="horz" wrap="square" lIns="0" tIns="16933" rIns="0" bIns="0" rtlCol="0">
            <a:spAutoFit/>
          </a:bodyPr>
          <a:lstStyle/>
          <a:p>
            <a:pPr marL="16933">
              <a:spcBef>
                <a:spcPts val="133"/>
              </a:spcBef>
            </a:pPr>
            <a:r>
              <a:rPr sz="1867" dirty="0">
                <a:latin typeface="Arial"/>
                <a:cs typeface="Arial"/>
              </a:rPr>
              <a:t>chase_ai</a:t>
            </a:r>
            <a:endParaRPr sz="1867">
              <a:latin typeface="Arial"/>
              <a:cs typeface="Arial"/>
            </a:endParaRPr>
          </a:p>
        </p:txBody>
      </p:sp>
      <p:sp>
        <p:nvSpPr>
          <p:cNvPr id="21" name="object 21"/>
          <p:cNvSpPr/>
          <p:nvPr/>
        </p:nvSpPr>
        <p:spPr>
          <a:xfrm>
            <a:off x="8099299" y="2108583"/>
            <a:ext cx="949960" cy="545253"/>
          </a:xfrm>
          <a:custGeom>
            <a:avLst/>
            <a:gdLst/>
            <a:ahLst/>
            <a:cxnLst/>
            <a:rect l="l" t="t" r="r" b="b"/>
            <a:pathLst>
              <a:path w="712470" h="408939">
                <a:moveTo>
                  <a:pt x="6440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close/>
              </a:path>
            </a:pathLst>
          </a:custGeom>
          <a:solidFill>
            <a:srgbClr val="EEEEEE"/>
          </a:solidFill>
        </p:spPr>
        <p:txBody>
          <a:bodyPr wrap="square" lIns="0" tIns="0" rIns="0" bIns="0" rtlCol="0"/>
          <a:lstStyle/>
          <a:p>
            <a:endParaRPr sz="2400"/>
          </a:p>
        </p:txBody>
      </p:sp>
      <p:sp>
        <p:nvSpPr>
          <p:cNvPr id="22" name="object 22"/>
          <p:cNvSpPr/>
          <p:nvPr/>
        </p:nvSpPr>
        <p:spPr>
          <a:xfrm>
            <a:off x="8099299" y="2108583"/>
            <a:ext cx="949960" cy="545253"/>
          </a:xfrm>
          <a:custGeom>
            <a:avLst/>
            <a:gdLst/>
            <a:ahLst/>
            <a:cxnLst/>
            <a:rect l="l" t="t" r="r" b="b"/>
            <a:pathLst>
              <a:path w="712470" h="408939">
                <a:moveTo>
                  <a:pt x="0" y="68101"/>
                </a:move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23" name="object 23"/>
          <p:cNvSpPr/>
          <p:nvPr/>
        </p:nvSpPr>
        <p:spPr>
          <a:xfrm>
            <a:off x="1247896" y="5589367"/>
            <a:ext cx="1898227" cy="545253"/>
          </a:xfrm>
          <a:custGeom>
            <a:avLst/>
            <a:gdLst/>
            <a:ahLst/>
            <a:cxnLst/>
            <a:rect l="l" t="t" r="r" b="b"/>
            <a:pathLst>
              <a:path w="1423670" h="408939">
                <a:moveTo>
                  <a:pt x="13553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355398" y="0"/>
                </a:lnTo>
                <a:lnTo>
                  <a:pt x="1393181" y="11441"/>
                </a:lnTo>
                <a:lnTo>
                  <a:pt x="1418316" y="42040"/>
                </a:lnTo>
                <a:lnTo>
                  <a:pt x="1423499" y="68101"/>
                </a:lnTo>
                <a:lnTo>
                  <a:pt x="1423499" y="340498"/>
                </a:lnTo>
                <a:lnTo>
                  <a:pt x="1418148" y="367006"/>
                </a:lnTo>
                <a:lnTo>
                  <a:pt x="1403553" y="388653"/>
                </a:lnTo>
                <a:lnTo>
                  <a:pt x="1381906" y="403248"/>
                </a:lnTo>
                <a:lnTo>
                  <a:pt x="1355398" y="408599"/>
                </a:lnTo>
                <a:close/>
              </a:path>
            </a:pathLst>
          </a:custGeom>
          <a:solidFill>
            <a:srgbClr val="EEEEEE"/>
          </a:solidFill>
        </p:spPr>
        <p:txBody>
          <a:bodyPr wrap="square" lIns="0" tIns="0" rIns="0" bIns="0" rtlCol="0"/>
          <a:lstStyle/>
          <a:p>
            <a:endParaRPr sz="2400"/>
          </a:p>
        </p:txBody>
      </p:sp>
      <p:sp>
        <p:nvSpPr>
          <p:cNvPr id="24" name="object 24"/>
          <p:cNvSpPr/>
          <p:nvPr/>
        </p:nvSpPr>
        <p:spPr>
          <a:xfrm>
            <a:off x="1247896" y="5589367"/>
            <a:ext cx="1898227" cy="545253"/>
          </a:xfrm>
          <a:custGeom>
            <a:avLst/>
            <a:gdLst/>
            <a:ahLst/>
            <a:cxnLst/>
            <a:rect l="l" t="t" r="r" b="b"/>
            <a:pathLst>
              <a:path w="1423670" h="408939">
                <a:moveTo>
                  <a:pt x="0" y="68101"/>
                </a:moveTo>
                <a:lnTo>
                  <a:pt x="5351" y="41593"/>
                </a:lnTo>
                <a:lnTo>
                  <a:pt x="19946" y="19946"/>
                </a:lnTo>
                <a:lnTo>
                  <a:pt x="41593" y="5351"/>
                </a:lnTo>
                <a:lnTo>
                  <a:pt x="68101" y="0"/>
                </a:lnTo>
                <a:lnTo>
                  <a:pt x="1355398" y="0"/>
                </a:lnTo>
                <a:lnTo>
                  <a:pt x="1393181" y="11441"/>
                </a:lnTo>
                <a:lnTo>
                  <a:pt x="1418316" y="42040"/>
                </a:lnTo>
                <a:lnTo>
                  <a:pt x="1423499" y="68101"/>
                </a:lnTo>
                <a:lnTo>
                  <a:pt x="1423499" y="340498"/>
                </a:lnTo>
                <a:lnTo>
                  <a:pt x="1418148" y="367006"/>
                </a:lnTo>
                <a:lnTo>
                  <a:pt x="1403553" y="388653"/>
                </a:lnTo>
                <a:lnTo>
                  <a:pt x="1381906" y="403248"/>
                </a:lnTo>
                <a:lnTo>
                  <a:pt x="13553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25" name="object 25"/>
          <p:cNvSpPr/>
          <p:nvPr/>
        </p:nvSpPr>
        <p:spPr>
          <a:xfrm>
            <a:off x="4462967" y="2739899"/>
            <a:ext cx="2430780" cy="545253"/>
          </a:xfrm>
          <a:custGeom>
            <a:avLst/>
            <a:gdLst/>
            <a:ahLst/>
            <a:cxnLst/>
            <a:rect l="l" t="t" r="r" b="b"/>
            <a:pathLst>
              <a:path w="1823085" h="408939">
                <a:moveTo>
                  <a:pt x="17546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754698" y="0"/>
                </a:lnTo>
                <a:lnTo>
                  <a:pt x="1792481" y="11441"/>
                </a:lnTo>
                <a:lnTo>
                  <a:pt x="1817616" y="42040"/>
                </a:lnTo>
                <a:lnTo>
                  <a:pt x="1822799" y="68101"/>
                </a:lnTo>
                <a:lnTo>
                  <a:pt x="1822799" y="340498"/>
                </a:lnTo>
                <a:lnTo>
                  <a:pt x="1817448" y="367006"/>
                </a:lnTo>
                <a:lnTo>
                  <a:pt x="1802853" y="388653"/>
                </a:lnTo>
                <a:lnTo>
                  <a:pt x="1781206" y="403248"/>
                </a:lnTo>
                <a:lnTo>
                  <a:pt x="1754698" y="408599"/>
                </a:lnTo>
                <a:close/>
              </a:path>
            </a:pathLst>
          </a:custGeom>
          <a:solidFill>
            <a:srgbClr val="EEEEEE"/>
          </a:solidFill>
        </p:spPr>
        <p:txBody>
          <a:bodyPr wrap="square" lIns="0" tIns="0" rIns="0" bIns="0" rtlCol="0"/>
          <a:lstStyle/>
          <a:p>
            <a:endParaRPr sz="2400"/>
          </a:p>
        </p:txBody>
      </p:sp>
      <p:sp>
        <p:nvSpPr>
          <p:cNvPr id="26" name="object 26"/>
          <p:cNvSpPr/>
          <p:nvPr/>
        </p:nvSpPr>
        <p:spPr>
          <a:xfrm>
            <a:off x="4462967" y="2739899"/>
            <a:ext cx="2430780" cy="545253"/>
          </a:xfrm>
          <a:custGeom>
            <a:avLst/>
            <a:gdLst/>
            <a:ahLst/>
            <a:cxnLst/>
            <a:rect l="l" t="t" r="r" b="b"/>
            <a:pathLst>
              <a:path w="1823085" h="408939">
                <a:moveTo>
                  <a:pt x="0" y="68101"/>
                </a:moveTo>
                <a:lnTo>
                  <a:pt x="5351" y="41593"/>
                </a:lnTo>
                <a:lnTo>
                  <a:pt x="19946" y="19946"/>
                </a:lnTo>
                <a:lnTo>
                  <a:pt x="41593" y="5351"/>
                </a:lnTo>
                <a:lnTo>
                  <a:pt x="68101" y="0"/>
                </a:lnTo>
                <a:lnTo>
                  <a:pt x="1754698" y="0"/>
                </a:lnTo>
                <a:lnTo>
                  <a:pt x="1792481" y="11441"/>
                </a:lnTo>
                <a:lnTo>
                  <a:pt x="1817616" y="42040"/>
                </a:lnTo>
                <a:lnTo>
                  <a:pt x="1822799" y="68101"/>
                </a:lnTo>
                <a:lnTo>
                  <a:pt x="1822799" y="340498"/>
                </a:lnTo>
                <a:lnTo>
                  <a:pt x="1817448" y="367006"/>
                </a:lnTo>
                <a:lnTo>
                  <a:pt x="1802853" y="388653"/>
                </a:lnTo>
                <a:lnTo>
                  <a:pt x="1781206" y="403248"/>
                </a:lnTo>
                <a:lnTo>
                  <a:pt x="17546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27" name="object 27"/>
          <p:cNvSpPr txBox="1"/>
          <p:nvPr/>
        </p:nvSpPr>
        <p:spPr>
          <a:xfrm>
            <a:off x="4586929" y="2854379"/>
            <a:ext cx="2129367" cy="304421"/>
          </a:xfrm>
          <a:prstGeom prst="rect">
            <a:avLst/>
          </a:prstGeom>
        </p:spPr>
        <p:txBody>
          <a:bodyPr vert="horz" wrap="square" lIns="0" tIns="16933" rIns="0" bIns="0" rtlCol="0">
            <a:spAutoFit/>
          </a:bodyPr>
          <a:lstStyle/>
          <a:p>
            <a:pPr marL="16933">
              <a:spcBef>
                <a:spcPts val="133"/>
              </a:spcBef>
            </a:pPr>
            <a:r>
              <a:rPr sz="1867" spc="-7" dirty="0">
                <a:latin typeface="Arial"/>
                <a:cs typeface="Arial"/>
              </a:rPr>
              <a:t>damage_all_around</a:t>
            </a:r>
            <a:endParaRPr sz="1867">
              <a:latin typeface="Arial"/>
              <a:cs typeface="Arial"/>
            </a:endParaRPr>
          </a:p>
        </p:txBody>
      </p:sp>
      <p:sp>
        <p:nvSpPr>
          <p:cNvPr id="28" name="object 28"/>
          <p:cNvSpPr/>
          <p:nvPr/>
        </p:nvSpPr>
        <p:spPr>
          <a:xfrm>
            <a:off x="8099336" y="2713200"/>
            <a:ext cx="2048933" cy="545253"/>
          </a:xfrm>
          <a:custGeom>
            <a:avLst/>
            <a:gdLst/>
            <a:ahLst/>
            <a:cxnLst/>
            <a:rect l="l" t="t" r="r" b="b"/>
            <a:pathLst>
              <a:path w="1536700" h="408939">
                <a:moveTo>
                  <a:pt x="14681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468198" y="0"/>
                </a:lnTo>
                <a:lnTo>
                  <a:pt x="1505981" y="11441"/>
                </a:lnTo>
                <a:lnTo>
                  <a:pt x="1531116" y="42040"/>
                </a:lnTo>
                <a:lnTo>
                  <a:pt x="1536299" y="68101"/>
                </a:lnTo>
                <a:lnTo>
                  <a:pt x="1536299" y="340498"/>
                </a:lnTo>
                <a:lnTo>
                  <a:pt x="1530948" y="367006"/>
                </a:lnTo>
                <a:lnTo>
                  <a:pt x="1516353" y="388653"/>
                </a:lnTo>
                <a:lnTo>
                  <a:pt x="1494706" y="403248"/>
                </a:lnTo>
                <a:lnTo>
                  <a:pt x="1468198" y="408599"/>
                </a:lnTo>
                <a:close/>
              </a:path>
            </a:pathLst>
          </a:custGeom>
          <a:solidFill>
            <a:srgbClr val="EEEEEE"/>
          </a:solidFill>
        </p:spPr>
        <p:txBody>
          <a:bodyPr wrap="square" lIns="0" tIns="0" rIns="0" bIns="0" rtlCol="0"/>
          <a:lstStyle/>
          <a:p>
            <a:endParaRPr sz="2400"/>
          </a:p>
        </p:txBody>
      </p:sp>
      <p:sp>
        <p:nvSpPr>
          <p:cNvPr id="29" name="object 29"/>
          <p:cNvSpPr/>
          <p:nvPr/>
        </p:nvSpPr>
        <p:spPr>
          <a:xfrm>
            <a:off x="8099336" y="2713200"/>
            <a:ext cx="2048933" cy="545253"/>
          </a:xfrm>
          <a:custGeom>
            <a:avLst/>
            <a:gdLst/>
            <a:ahLst/>
            <a:cxnLst/>
            <a:rect l="l" t="t" r="r" b="b"/>
            <a:pathLst>
              <a:path w="1536700" h="408939">
                <a:moveTo>
                  <a:pt x="0" y="68101"/>
                </a:moveTo>
                <a:lnTo>
                  <a:pt x="5351" y="41593"/>
                </a:lnTo>
                <a:lnTo>
                  <a:pt x="19946" y="19946"/>
                </a:lnTo>
                <a:lnTo>
                  <a:pt x="41593" y="5351"/>
                </a:lnTo>
                <a:lnTo>
                  <a:pt x="68101" y="0"/>
                </a:lnTo>
                <a:lnTo>
                  <a:pt x="1468198" y="0"/>
                </a:lnTo>
                <a:lnTo>
                  <a:pt x="1505981" y="11441"/>
                </a:lnTo>
                <a:lnTo>
                  <a:pt x="1531116" y="42040"/>
                </a:lnTo>
                <a:lnTo>
                  <a:pt x="1536299" y="68101"/>
                </a:lnTo>
                <a:lnTo>
                  <a:pt x="1536299" y="340498"/>
                </a:lnTo>
                <a:lnTo>
                  <a:pt x="1530948" y="367006"/>
                </a:lnTo>
                <a:lnTo>
                  <a:pt x="1516353" y="388653"/>
                </a:lnTo>
                <a:lnTo>
                  <a:pt x="1494706" y="403248"/>
                </a:lnTo>
                <a:lnTo>
                  <a:pt x="14681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30" name="object 30"/>
          <p:cNvSpPr/>
          <p:nvPr/>
        </p:nvSpPr>
        <p:spPr>
          <a:xfrm>
            <a:off x="1274283" y="2721900"/>
            <a:ext cx="1296247" cy="545253"/>
          </a:xfrm>
          <a:custGeom>
            <a:avLst/>
            <a:gdLst/>
            <a:ahLst/>
            <a:cxnLst/>
            <a:rect l="l" t="t" r="r" b="b"/>
            <a:pathLst>
              <a:path w="972185" h="408939">
                <a:moveTo>
                  <a:pt x="9035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903598" y="0"/>
                </a:lnTo>
                <a:lnTo>
                  <a:pt x="941381" y="11441"/>
                </a:lnTo>
                <a:lnTo>
                  <a:pt x="966516" y="42040"/>
                </a:lnTo>
                <a:lnTo>
                  <a:pt x="971699" y="68101"/>
                </a:lnTo>
                <a:lnTo>
                  <a:pt x="971699" y="340498"/>
                </a:lnTo>
                <a:lnTo>
                  <a:pt x="966348" y="367006"/>
                </a:lnTo>
                <a:lnTo>
                  <a:pt x="951753" y="388653"/>
                </a:lnTo>
                <a:lnTo>
                  <a:pt x="930106" y="403248"/>
                </a:lnTo>
                <a:lnTo>
                  <a:pt x="903598" y="408599"/>
                </a:lnTo>
                <a:close/>
              </a:path>
            </a:pathLst>
          </a:custGeom>
          <a:solidFill>
            <a:srgbClr val="EEEEEE"/>
          </a:solidFill>
        </p:spPr>
        <p:txBody>
          <a:bodyPr wrap="square" lIns="0" tIns="0" rIns="0" bIns="0" rtlCol="0"/>
          <a:lstStyle/>
          <a:p>
            <a:endParaRPr sz="2400"/>
          </a:p>
        </p:txBody>
      </p:sp>
      <p:sp>
        <p:nvSpPr>
          <p:cNvPr id="31" name="object 31"/>
          <p:cNvSpPr/>
          <p:nvPr/>
        </p:nvSpPr>
        <p:spPr>
          <a:xfrm>
            <a:off x="1274283" y="2721900"/>
            <a:ext cx="1296247" cy="545253"/>
          </a:xfrm>
          <a:custGeom>
            <a:avLst/>
            <a:gdLst/>
            <a:ahLst/>
            <a:cxnLst/>
            <a:rect l="l" t="t" r="r" b="b"/>
            <a:pathLst>
              <a:path w="972185" h="408939">
                <a:moveTo>
                  <a:pt x="0" y="68101"/>
                </a:moveTo>
                <a:lnTo>
                  <a:pt x="5351" y="41593"/>
                </a:lnTo>
                <a:lnTo>
                  <a:pt x="19946" y="19946"/>
                </a:lnTo>
                <a:lnTo>
                  <a:pt x="41593" y="5351"/>
                </a:lnTo>
                <a:lnTo>
                  <a:pt x="68101" y="0"/>
                </a:lnTo>
                <a:lnTo>
                  <a:pt x="903598" y="0"/>
                </a:lnTo>
                <a:lnTo>
                  <a:pt x="941381" y="11441"/>
                </a:lnTo>
                <a:lnTo>
                  <a:pt x="966516" y="42040"/>
                </a:lnTo>
                <a:lnTo>
                  <a:pt x="971699" y="68101"/>
                </a:lnTo>
                <a:lnTo>
                  <a:pt x="971699" y="340498"/>
                </a:lnTo>
                <a:lnTo>
                  <a:pt x="966348" y="367006"/>
                </a:lnTo>
                <a:lnTo>
                  <a:pt x="951753" y="388653"/>
                </a:lnTo>
                <a:lnTo>
                  <a:pt x="930106" y="403248"/>
                </a:lnTo>
                <a:lnTo>
                  <a:pt x="9035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32" name="object 32"/>
          <p:cNvSpPr txBox="1"/>
          <p:nvPr/>
        </p:nvSpPr>
        <p:spPr>
          <a:xfrm>
            <a:off x="1398245" y="2836379"/>
            <a:ext cx="8506460" cy="304421"/>
          </a:xfrm>
          <a:prstGeom prst="rect">
            <a:avLst/>
          </a:prstGeom>
        </p:spPr>
        <p:txBody>
          <a:bodyPr vert="horz" wrap="square" lIns="0" tIns="16933" rIns="0" bIns="0" rtlCol="0">
            <a:spAutoFit/>
          </a:bodyPr>
          <a:lstStyle/>
          <a:p>
            <a:pPr marL="16933">
              <a:spcBef>
                <a:spcPts val="133"/>
              </a:spcBef>
              <a:tabLst>
                <a:tab pos="6840896" algn="l"/>
              </a:tabLst>
            </a:pPr>
            <a:r>
              <a:rPr sz="1867" spc="-7" dirty="0">
                <a:latin typeface="Arial"/>
                <a:cs typeface="Arial"/>
              </a:rPr>
              <a:t>patrol_ai	</a:t>
            </a:r>
            <a:r>
              <a:rPr sz="2800" spc="-9" baseline="1984" dirty="0">
                <a:latin typeface="Arial"/>
                <a:cs typeface="Arial"/>
              </a:rPr>
              <a:t>damage_ahead</a:t>
            </a:r>
            <a:endParaRPr sz="2800" baseline="1984">
              <a:latin typeface="Arial"/>
              <a:cs typeface="Arial"/>
            </a:endParaRPr>
          </a:p>
        </p:txBody>
      </p:sp>
      <p:sp>
        <p:nvSpPr>
          <p:cNvPr id="33" name="object 33"/>
          <p:cNvSpPr/>
          <p:nvPr/>
        </p:nvSpPr>
        <p:spPr>
          <a:xfrm>
            <a:off x="1274283" y="2094466"/>
            <a:ext cx="949960" cy="545253"/>
          </a:xfrm>
          <a:custGeom>
            <a:avLst/>
            <a:gdLst/>
            <a:ahLst/>
            <a:cxnLst/>
            <a:rect l="l" t="t" r="r" b="b"/>
            <a:pathLst>
              <a:path w="712469" h="408939">
                <a:moveTo>
                  <a:pt x="6440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close/>
              </a:path>
            </a:pathLst>
          </a:custGeom>
          <a:solidFill>
            <a:srgbClr val="EEEEEE"/>
          </a:solidFill>
        </p:spPr>
        <p:txBody>
          <a:bodyPr wrap="square" lIns="0" tIns="0" rIns="0" bIns="0" rtlCol="0"/>
          <a:lstStyle/>
          <a:p>
            <a:endParaRPr sz="2400"/>
          </a:p>
        </p:txBody>
      </p:sp>
      <p:sp>
        <p:nvSpPr>
          <p:cNvPr id="34" name="object 34"/>
          <p:cNvSpPr/>
          <p:nvPr/>
        </p:nvSpPr>
        <p:spPr>
          <a:xfrm>
            <a:off x="1274283" y="2094466"/>
            <a:ext cx="949960" cy="545253"/>
          </a:xfrm>
          <a:custGeom>
            <a:avLst/>
            <a:gdLst/>
            <a:ahLst/>
            <a:cxnLst/>
            <a:rect l="l" t="t" r="r" b="b"/>
            <a:pathLst>
              <a:path w="712469" h="408939">
                <a:moveTo>
                  <a:pt x="0" y="68101"/>
                </a:move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35" name="object 35"/>
          <p:cNvSpPr txBox="1"/>
          <p:nvPr/>
        </p:nvSpPr>
        <p:spPr>
          <a:xfrm>
            <a:off x="1398244" y="2235795"/>
            <a:ext cx="7438813" cy="304421"/>
          </a:xfrm>
          <a:prstGeom prst="rect">
            <a:avLst/>
          </a:prstGeom>
        </p:spPr>
        <p:txBody>
          <a:bodyPr vert="horz" wrap="square" lIns="0" tIns="16933" rIns="0" bIns="0" rtlCol="0">
            <a:spAutoFit/>
          </a:bodyPr>
          <a:lstStyle/>
          <a:p>
            <a:pPr marL="16933">
              <a:spcBef>
                <a:spcPts val="133"/>
              </a:spcBef>
              <a:tabLst>
                <a:tab pos="3205400" algn="l"/>
                <a:tab pos="6840896" algn="l"/>
              </a:tabLst>
            </a:pPr>
            <a:r>
              <a:rPr sz="2800" baseline="5952" dirty="0">
                <a:solidFill>
                  <a:srgbClr val="FF0000"/>
                </a:solidFill>
                <a:latin typeface="Arial"/>
                <a:cs typeface="Arial"/>
              </a:rPr>
              <a:t>move	</a:t>
            </a:r>
            <a:r>
              <a:rPr sz="1867" spc="-7" dirty="0">
                <a:latin typeface="Arial"/>
                <a:cs typeface="Arial"/>
              </a:rPr>
              <a:t>hide_or_sho</a:t>
            </a:r>
            <a:r>
              <a:rPr sz="1867" dirty="0">
                <a:latin typeface="Arial"/>
                <a:cs typeface="Arial"/>
              </a:rPr>
              <a:t>w	</a:t>
            </a:r>
            <a:r>
              <a:rPr sz="2800" baseline="3968" dirty="0">
                <a:solidFill>
                  <a:srgbClr val="FF0000"/>
                </a:solidFill>
                <a:latin typeface="Arial"/>
                <a:cs typeface="Arial"/>
              </a:rPr>
              <a:t>move</a:t>
            </a:r>
            <a:endParaRPr sz="2800" baseline="3968">
              <a:latin typeface="Arial"/>
              <a:cs typeface="Arial"/>
            </a:endParaRPr>
          </a:p>
        </p:txBody>
      </p:sp>
      <p:sp>
        <p:nvSpPr>
          <p:cNvPr id="36" name="object 36"/>
          <p:cNvSpPr/>
          <p:nvPr/>
        </p:nvSpPr>
        <p:spPr>
          <a:xfrm>
            <a:off x="1279316" y="4965899"/>
            <a:ext cx="949960" cy="545253"/>
          </a:xfrm>
          <a:custGeom>
            <a:avLst/>
            <a:gdLst/>
            <a:ahLst/>
            <a:cxnLst/>
            <a:rect l="l" t="t" r="r" b="b"/>
            <a:pathLst>
              <a:path w="712469" h="408939">
                <a:moveTo>
                  <a:pt x="6440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close/>
              </a:path>
            </a:pathLst>
          </a:custGeom>
          <a:solidFill>
            <a:srgbClr val="EEEEEE"/>
          </a:solidFill>
        </p:spPr>
        <p:txBody>
          <a:bodyPr wrap="square" lIns="0" tIns="0" rIns="0" bIns="0" rtlCol="0"/>
          <a:lstStyle/>
          <a:p>
            <a:endParaRPr sz="2400"/>
          </a:p>
        </p:txBody>
      </p:sp>
      <p:sp>
        <p:nvSpPr>
          <p:cNvPr id="37" name="object 37"/>
          <p:cNvSpPr/>
          <p:nvPr/>
        </p:nvSpPr>
        <p:spPr>
          <a:xfrm>
            <a:off x="1279316" y="4965899"/>
            <a:ext cx="949960" cy="545253"/>
          </a:xfrm>
          <a:custGeom>
            <a:avLst/>
            <a:gdLst/>
            <a:ahLst/>
            <a:cxnLst/>
            <a:rect l="l" t="t" r="r" b="b"/>
            <a:pathLst>
              <a:path w="712469" h="408939">
                <a:moveTo>
                  <a:pt x="0" y="68101"/>
                </a:move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38" name="object 38"/>
          <p:cNvSpPr txBox="1"/>
          <p:nvPr/>
        </p:nvSpPr>
        <p:spPr>
          <a:xfrm>
            <a:off x="1203886" y="4505570"/>
            <a:ext cx="1770380" cy="1586823"/>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bullet</a:t>
            </a:r>
            <a:endParaRPr sz="1867">
              <a:latin typeface="Arial"/>
              <a:cs typeface="Arial"/>
            </a:endParaRPr>
          </a:p>
          <a:p>
            <a:pPr marL="184569" marR="6773" indent="31326">
              <a:lnSpc>
                <a:spcPts val="4905"/>
              </a:lnSpc>
              <a:spcBef>
                <a:spcPts val="227"/>
              </a:spcBef>
            </a:pPr>
            <a:r>
              <a:rPr sz="1867" dirty="0">
                <a:solidFill>
                  <a:srgbClr val="FF0000"/>
                </a:solidFill>
                <a:latin typeface="Arial"/>
                <a:cs typeface="Arial"/>
              </a:rPr>
              <a:t>move  </a:t>
            </a:r>
            <a:r>
              <a:rPr sz="1867" spc="-7" dirty="0">
                <a:latin typeface="Arial"/>
                <a:cs typeface="Arial"/>
              </a:rPr>
              <a:t>damage_touch</a:t>
            </a:r>
            <a:endParaRPr sz="1867">
              <a:latin typeface="Arial"/>
              <a:cs typeface="Arial"/>
            </a:endParaRPr>
          </a:p>
        </p:txBody>
      </p:sp>
    </p:spTree>
    <p:extLst>
      <p:ext uri="{BB962C8B-B14F-4D97-AF65-F5344CB8AC3E}">
        <p14:creationId xmlns:p14="http://schemas.microsoft.com/office/powerpoint/2010/main" val="330145101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06699" y="1467066"/>
            <a:ext cx="2430780" cy="2603500"/>
          </a:xfrm>
          <a:custGeom>
            <a:avLst/>
            <a:gdLst/>
            <a:ahLst/>
            <a:cxnLst/>
            <a:rect l="l" t="t" r="r" b="b"/>
            <a:pathLst>
              <a:path w="1823085" h="1952625">
                <a:moveTo>
                  <a:pt x="1518993" y="1952399"/>
                </a:moveTo>
                <a:lnTo>
                  <a:pt x="303806" y="1952399"/>
                </a:lnTo>
                <a:lnTo>
                  <a:pt x="254527" y="1948423"/>
                </a:lnTo>
                <a:lnTo>
                  <a:pt x="207779" y="1936911"/>
                </a:lnTo>
                <a:lnTo>
                  <a:pt x="164189" y="1918489"/>
                </a:lnTo>
                <a:lnTo>
                  <a:pt x="124382" y="1893783"/>
                </a:lnTo>
                <a:lnTo>
                  <a:pt x="88982" y="1863417"/>
                </a:lnTo>
                <a:lnTo>
                  <a:pt x="58616" y="1828017"/>
                </a:lnTo>
                <a:lnTo>
                  <a:pt x="33910" y="1788210"/>
                </a:lnTo>
                <a:lnTo>
                  <a:pt x="15488" y="1744620"/>
                </a:lnTo>
                <a:lnTo>
                  <a:pt x="3976" y="1697872"/>
                </a:lnTo>
                <a:lnTo>
                  <a:pt x="0" y="1648593"/>
                </a:lnTo>
                <a:lnTo>
                  <a:pt x="0" y="303806"/>
                </a:lnTo>
                <a:lnTo>
                  <a:pt x="3976" y="254527"/>
                </a:lnTo>
                <a:lnTo>
                  <a:pt x="15488" y="207779"/>
                </a:lnTo>
                <a:lnTo>
                  <a:pt x="33910" y="164189"/>
                </a:lnTo>
                <a:lnTo>
                  <a:pt x="58616" y="124382"/>
                </a:lnTo>
                <a:lnTo>
                  <a:pt x="88982" y="88982"/>
                </a:lnTo>
                <a:lnTo>
                  <a:pt x="124382" y="58616"/>
                </a:lnTo>
                <a:lnTo>
                  <a:pt x="164189" y="33910"/>
                </a:lnTo>
                <a:lnTo>
                  <a:pt x="207779" y="15488"/>
                </a:lnTo>
                <a:lnTo>
                  <a:pt x="254527" y="3976"/>
                </a:lnTo>
                <a:lnTo>
                  <a:pt x="303806" y="0"/>
                </a:lnTo>
                <a:lnTo>
                  <a:pt x="1518993" y="0"/>
                </a:lnTo>
                <a:lnTo>
                  <a:pt x="1566806" y="3784"/>
                </a:lnTo>
                <a:lnTo>
                  <a:pt x="1613011" y="14913"/>
                </a:lnTo>
                <a:lnTo>
                  <a:pt x="1656791" y="33047"/>
                </a:lnTo>
                <a:lnTo>
                  <a:pt x="1697332" y="57850"/>
                </a:lnTo>
                <a:lnTo>
                  <a:pt x="1733817" y="88982"/>
                </a:lnTo>
                <a:lnTo>
                  <a:pt x="1764949" y="125467"/>
                </a:lnTo>
                <a:lnTo>
                  <a:pt x="1789752" y="166008"/>
                </a:lnTo>
                <a:lnTo>
                  <a:pt x="1807886" y="209788"/>
                </a:lnTo>
                <a:lnTo>
                  <a:pt x="1819015" y="255993"/>
                </a:lnTo>
                <a:lnTo>
                  <a:pt x="1822799" y="303806"/>
                </a:lnTo>
                <a:lnTo>
                  <a:pt x="1822799" y="1648593"/>
                </a:lnTo>
                <a:lnTo>
                  <a:pt x="1818823" y="1697872"/>
                </a:lnTo>
                <a:lnTo>
                  <a:pt x="1807311" y="1744620"/>
                </a:lnTo>
                <a:lnTo>
                  <a:pt x="1788889" y="1788210"/>
                </a:lnTo>
                <a:lnTo>
                  <a:pt x="1764183" y="1828017"/>
                </a:lnTo>
                <a:lnTo>
                  <a:pt x="1733817" y="1863417"/>
                </a:lnTo>
                <a:lnTo>
                  <a:pt x="1698417" y="1893783"/>
                </a:lnTo>
                <a:lnTo>
                  <a:pt x="1658610" y="1918489"/>
                </a:lnTo>
                <a:lnTo>
                  <a:pt x="1615020" y="1936911"/>
                </a:lnTo>
                <a:lnTo>
                  <a:pt x="1568272" y="1948423"/>
                </a:lnTo>
                <a:lnTo>
                  <a:pt x="1518993" y="1952399"/>
                </a:lnTo>
                <a:close/>
              </a:path>
            </a:pathLst>
          </a:custGeom>
          <a:solidFill>
            <a:srgbClr val="EEEEEE"/>
          </a:solidFill>
        </p:spPr>
        <p:txBody>
          <a:bodyPr wrap="square" lIns="0" tIns="0" rIns="0" bIns="0" rtlCol="0"/>
          <a:lstStyle/>
          <a:p>
            <a:endParaRPr sz="2400"/>
          </a:p>
        </p:txBody>
      </p:sp>
      <p:sp>
        <p:nvSpPr>
          <p:cNvPr id="3" name="object 3"/>
          <p:cNvSpPr/>
          <p:nvPr/>
        </p:nvSpPr>
        <p:spPr>
          <a:xfrm>
            <a:off x="1006699" y="1467066"/>
            <a:ext cx="2430780" cy="2603500"/>
          </a:xfrm>
          <a:custGeom>
            <a:avLst/>
            <a:gdLst/>
            <a:ahLst/>
            <a:cxnLst/>
            <a:rect l="l" t="t" r="r" b="b"/>
            <a:pathLst>
              <a:path w="1823085" h="1952625">
                <a:moveTo>
                  <a:pt x="0" y="303806"/>
                </a:moveTo>
                <a:lnTo>
                  <a:pt x="3976" y="254527"/>
                </a:lnTo>
                <a:lnTo>
                  <a:pt x="15488" y="207779"/>
                </a:lnTo>
                <a:lnTo>
                  <a:pt x="33910" y="164189"/>
                </a:lnTo>
                <a:lnTo>
                  <a:pt x="58616" y="124382"/>
                </a:lnTo>
                <a:lnTo>
                  <a:pt x="88982" y="88982"/>
                </a:lnTo>
                <a:lnTo>
                  <a:pt x="124382" y="58616"/>
                </a:lnTo>
                <a:lnTo>
                  <a:pt x="164189" y="33910"/>
                </a:lnTo>
                <a:lnTo>
                  <a:pt x="207779" y="15488"/>
                </a:lnTo>
                <a:lnTo>
                  <a:pt x="254527" y="3976"/>
                </a:lnTo>
                <a:lnTo>
                  <a:pt x="303806" y="0"/>
                </a:lnTo>
                <a:lnTo>
                  <a:pt x="1518993" y="0"/>
                </a:lnTo>
                <a:lnTo>
                  <a:pt x="1566806" y="3784"/>
                </a:lnTo>
                <a:lnTo>
                  <a:pt x="1613011" y="14913"/>
                </a:lnTo>
                <a:lnTo>
                  <a:pt x="1656791" y="33047"/>
                </a:lnTo>
                <a:lnTo>
                  <a:pt x="1697332" y="57850"/>
                </a:lnTo>
                <a:lnTo>
                  <a:pt x="1733817" y="88982"/>
                </a:lnTo>
                <a:lnTo>
                  <a:pt x="1764949" y="125467"/>
                </a:lnTo>
                <a:lnTo>
                  <a:pt x="1789752" y="166008"/>
                </a:lnTo>
                <a:lnTo>
                  <a:pt x="1807886" y="209788"/>
                </a:lnTo>
                <a:lnTo>
                  <a:pt x="1819015" y="255993"/>
                </a:lnTo>
                <a:lnTo>
                  <a:pt x="1822799" y="303806"/>
                </a:lnTo>
                <a:lnTo>
                  <a:pt x="1822799" y="1648593"/>
                </a:lnTo>
                <a:lnTo>
                  <a:pt x="1818823" y="1697872"/>
                </a:lnTo>
                <a:lnTo>
                  <a:pt x="1807311" y="1744620"/>
                </a:lnTo>
                <a:lnTo>
                  <a:pt x="1788889" y="1788210"/>
                </a:lnTo>
                <a:lnTo>
                  <a:pt x="1764183" y="1828017"/>
                </a:lnTo>
                <a:lnTo>
                  <a:pt x="1733817" y="1863417"/>
                </a:lnTo>
                <a:lnTo>
                  <a:pt x="1698417" y="1893783"/>
                </a:lnTo>
                <a:lnTo>
                  <a:pt x="1658610" y="1918489"/>
                </a:lnTo>
                <a:lnTo>
                  <a:pt x="1615020" y="1936911"/>
                </a:lnTo>
                <a:lnTo>
                  <a:pt x="1568272" y="1948423"/>
                </a:lnTo>
                <a:lnTo>
                  <a:pt x="1518993" y="1952399"/>
                </a:lnTo>
                <a:lnTo>
                  <a:pt x="303806" y="1952399"/>
                </a:lnTo>
                <a:lnTo>
                  <a:pt x="254527" y="1948423"/>
                </a:lnTo>
                <a:lnTo>
                  <a:pt x="207779" y="1936911"/>
                </a:lnTo>
                <a:lnTo>
                  <a:pt x="164189" y="1918489"/>
                </a:lnTo>
                <a:lnTo>
                  <a:pt x="124382" y="1893783"/>
                </a:lnTo>
                <a:lnTo>
                  <a:pt x="88982" y="1863417"/>
                </a:lnTo>
                <a:lnTo>
                  <a:pt x="58616" y="1828017"/>
                </a:lnTo>
                <a:lnTo>
                  <a:pt x="33910" y="1788210"/>
                </a:lnTo>
                <a:lnTo>
                  <a:pt x="15488" y="1744620"/>
                </a:lnTo>
                <a:lnTo>
                  <a:pt x="3976" y="1697872"/>
                </a:lnTo>
                <a:lnTo>
                  <a:pt x="0" y="1648593"/>
                </a:lnTo>
                <a:lnTo>
                  <a:pt x="0" y="303806"/>
                </a:lnTo>
                <a:close/>
              </a:path>
            </a:pathLst>
          </a:custGeom>
          <a:ln w="9524">
            <a:solidFill>
              <a:srgbClr val="595959"/>
            </a:solidFill>
          </a:ln>
        </p:spPr>
        <p:txBody>
          <a:bodyPr wrap="square" lIns="0" tIns="0" rIns="0" bIns="0" rtlCol="0"/>
          <a:lstStyle/>
          <a:p>
            <a:endParaRPr sz="2400"/>
          </a:p>
        </p:txBody>
      </p:sp>
      <p:sp>
        <p:nvSpPr>
          <p:cNvPr id="4" name="object 4"/>
          <p:cNvSpPr/>
          <p:nvPr/>
        </p:nvSpPr>
        <p:spPr>
          <a:xfrm>
            <a:off x="1006699" y="4317867"/>
            <a:ext cx="2430780" cy="2045547"/>
          </a:xfrm>
          <a:custGeom>
            <a:avLst/>
            <a:gdLst/>
            <a:ahLst/>
            <a:cxnLst/>
            <a:rect l="l" t="t" r="r" b="b"/>
            <a:pathLst>
              <a:path w="1823085" h="1534160">
                <a:moveTo>
                  <a:pt x="1567194" y="1533599"/>
                </a:moveTo>
                <a:lnTo>
                  <a:pt x="255605" y="1533599"/>
                </a:lnTo>
                <a:lnTo>
                  <a:pt x="209659" y="1529481"/>
                </a:lnTo>
                <a:lnTo>
                  <a:pt x="166416" y="1517608"/>
                </a:lnTo>
                <a:lnTo>
                  <a:pt x="126596" y="1498702"/>
                </a:lnTo>
                <a:lnTo>
                  <a:pt x="90921" y="1473484"/>
                </a:lnTo>
                <a:lnTo>
                  <a:pt x="60115" y="1442678"/>
                </a:lnTo>
                <a:lnTo>
                  <a:pt x="34897" y="1407003"/>
                </a:lnTo>
                <a:lnTo>
                  <a:pt x="15991" y="1367183"/>
                </a:lnTo>
                <a:lnTo>
                  <a:pt x="4118" y="1323940"/>
                </a:lnTo>
                <a:lnTo>
                  <a:pt x="0" y="1277994"/>
                </a:lnTo>
                <a:lnTo>
                  <a:pt x="0" y="255604"/>
                </a:lnTo>
                <a:lnTo>
                  <a:pt x="4118" y="209659"/>
                </a:lnTo>
                <a:lnTo>
                  <a:pt x="15991" y="166416"/>
                </a:lnTo>
                <a:lnTo>
                  <a:pt x="34897" y="126596"/>
                </a:lnTo>
                <a:lnTo>
                  <a:pt x="60115" y="90921"/>
                </a:lnTo>
                <a:lnTo>
                  <a:pt x="90921" y="60115"/>
                </a:lnTo>
                <a:lnTo>
                  <a:pt x="126596" y="34897"/>
                </a:lnTo>
                <a:lnTo>
                  <a:pt x="166416" y="15991"/>
                </a:lnTo>
                <a:lnTo>
                  <a:pt x="209659" y="4118"/>
                </a:lnTo>
                <a:lnTo>
                  <a:pt x="255605" y="0"/>
                </a:lnTo>
                <a:lnTo>
                  <a:pt x="1567194" y="0"/>
                </a:lnTo>
                <a:lnTo>
                  <a:pt x="1617293" y="4956"/>
                </a:lnTo>
                <a:lnTo>
                  <a:pt x="1665010" y="19456"/>
                </a:lnTo>
                <a:lnTo>
                  <a:pt x="1709004" y="42944"/>
                </a:lnTo>
                <a:lnTo>
                  <a:pt x="1747934" y="74864"/>
                </a:lnTo>
                <a:lnTo>
                  <a:pt x="1779855" y="113795"/>
                </a:lnTo>
                <a:lnTo>
                  <a:pt x="1803343" y="157789"/>
                </a:lnTo>
                <a:lnTo>
                  <a:pt x="1817843" y="205506"/>
                </a:lnTo>
                <a:lnTo>
                  <a:pt x="1822799" y="255604"/>
                </a:lnTo>
                <a:lnTo>
                  <a:pt x="1822799" y="1277994"/>
                </a:lnTo>
                <a:lnTo>
                  <a:pt x="1818681" y="1323940"/>
                </a:lnTo>
                <a:lnTo>
                  <a:pt x="1806808" y="1367183"/>
                </a:lnTo>
                <a:lnTo>
                  <a:pt x="1787902" y="1407003"/>
                </a:lnTo>
                <a:lnTo>
                  <a:pt x="1762684" y="1442678"/>
                </a:lnTo>
                <a:lnTo>
                  <a:pt x="1731878" y="1473484"/>
                </a:lnTo>
                <a:lnTo>
                  <a:pt x="1696203" y="1498702"/>
                </a:lnTo>
                <a:lnTo>
                  <a:pt x="1656383" y="1517608"/>
                </a:lnTo>
                <a:lnTo>
                  <a:pt x="1613140" y="1529481"/>
                </a:lnTo>
                <a:lnTo>
                  <a:pt x="1567194" y="1533599"/>
                </a:lnTo>
                <a:close/>
              </a:path>
            </a:pathLst>
          </a:custGeom>
          <a:solidFill>
            <a:srgbClr val="EEEEEE"/>
          </a:solidFill>
        </p:spPr>
        <p:txBody>
          <a:bodyPr wrap="square" lIns="0" tIns="0" rIns="0" bIns="0" rtlCol="0"/>
          <a:lstStyle/>
          <a:p>
            <a:endParaRPr sz="2400"/>
          </a:p>
        </p:txBody>
      </p:sp>
      <p:sp>
        <p:nvSpPr>
          <p:cNvPr id="5" name="object 5"/>
          <p:cNvSpPr/>
          <p:nvPr/>
        </p:nvSpPr>
        <p:spPr>
          <a:xfrm>
            <a:off x="1006699" y="4317867"/>
            <a:ext cx="2430780" cy="2045547"/>
          </a:xfrm>
          <a:custGeom>
            <a:avLst/>
            <a:gdLst/>
            <a:ahLst/>
            <a:cxnLst/>
            <a:rect l="l" t="t" r="r" b="b"/>
            <a:pathLst>
              <a:path w="1823085" h="1534160">
                <a:moveTo>
                  <a:pt x="0" y="255604"/>
                </a:moveTo>
                <a:lnTo>
                  <a:pt x="4118" y="209659"/>
                </a:lnTo>
                <a:lnTo>
                  <a:pt x="15991" y="166416"/>
                </a:lnTo>
                <a:lnTo>
                  <a:pt x="34897" y="126596"/>
                </a:lnTo>
                <a:lnTo>
                  <a:pt x="60115" y="90921"/>
                </a:lnTo>
                <a:lnTo>
                  <a:pt x="90921" y="60115"/>
                </a:lnTo>
                <a:lnTo>
                  <a:pt x="126596" y="34897"/>
                </a:lnTo>
                <a:lnTo>
                  <a:pt x="166416" y="15991"/>
                </a:lnTo>
                <a:lnTo>
                  <a:pt x="209659" y="4118"/>
                </a:lnTo>
                <a:lnTo>
                  <a:pt x="255605" y="0"/>
                </a:lnTo>
                <a:lnTo>
                  <a:pt x="1567194" y="0"/>
                </a:lnTo>
                <a:lnTo>
                  <a:pt x="1617293" y="4956"/>
                </a:lnTo>
                <a:lnTo>
                  <a:pt x="1665010" y="19456"/>
                </a:lnTo>
                <a:lnTo>
                  <a:pt x="1709004" y="42944"/>
                </a:lnTo>
                <a:lnTo>
                  <a:pt x="1747934" y="74864"/>
                </a:lnTo>
                <a:lnTo>
                  <a:pt x="1779855" y="113795"/>
                </a:lnTo>
                <a:lnTo>
                  <a:pt x="1803343" y="157789"/>
                </a:lnTo>
                <a:lnTo>
                  <a:pt x="1817843" y="205506"/>
                </a:lnTo>
                <a:lnTo>
                  <a:pt x="1822799" y="255604"/>
                </a:lnTo>
                <a:lnTo>
                  <a:pt x="1822799" y="1277994"/>
                </a:lnTo>
                <a:lnTo>
                  <a:pt x="1818681" y="1323940"/>
                </a:lnTo>
                <a:lnTo>
                  <a:pt x="1806808" y="1367183"/>
                </a:lnTo>
                <a:lnTo>
                  <a:pt x="1787902" y="1407003"/>
                </a:lnTo>
                <a:lnTo>
                  <a:pt x="1762684" y="1442678"/>
                </a:lnTo>
                <a:lnTo>
                  <a:pt x="1731878" y="1473484"/>
                </a:lnTo>
                <a:lnTo>
                  <a:pt x="1696203" y="1498702"/>
                </a:lnTo>
                <a:lnTo>
                  <a:pt x="1656383" y="1517608"/>
                </a:lnTo>
                <a:lnTo>
                  <a:pt x="1613140" y="1529481"/>
                </a:lnTo>
                <a:lnTo>
                  <a:pt x="1567194" y="1533599"/>
                </a:lnTo>
                <a:lnTo>
                  <a:pt x="255605" y="1533599"/>
                </a:lnTo>
                <a:lnTo>
                  <a:pt x="209659" y="1529481"/>
                </a:lnTo>
                <a:lnTo>
                  <a:pt x="166416" y="1517608"/>
                </a:lnTo>
                <a:lnTo>
                  <a:pt x="126596" y="1498702"/>
                </a:lnTo>
                <a:lnTo>
                  <a:pt x="90921" y="1473484"/>
                </a:lnTo>
                <a:lnTo>
                  <a:pt x="60115" y="1442678"/>
                </a:lnTo>
                <a:lnTo>
                  <a:pt x="34897" y="1407003"/>
                </a:lnTo>
                <a:lnTo>
                  <a:pt x="15991" y="1367183"/>
                </a:lnTo>
                <a:lnTo>
                  <a:pt x="4118" y="1323940"/>
                </a:lnTo>
                <a:lnTo>
                  <a:pt x="0" y="1277994"/>
                </a:lnTo>
                <a:lnTo>
                  <a:pt x="0" y="255604"/>
                </a:lnTo>
                <a:close/>
              </a:path>
            </a:pathLst>
          </a:custGeom>
          <a:ln w="9524">
            <a:solidFill>
              <a:srgbClr val="595959"/>
            </a:solidFill>
          </a:ln>
        </p:spPr>
        <p:txBody>
          <a:bodyPr wrap="square" lIns="0" tIns="0" rIns="0" bIns="0" rtlCol="0"/>
          <a:lstStyle/>
          <a:p>
            <a:endParaRPr sz="2400"/>
          </a:p>
        </p:txBody>
      </p:sp>
      <p:sp>
        <p:nvSpPr>
          <p:cNvPr id="6" name="object 6"/>
          <p:cNvSpPr txBox="1"/>
          <p:nvPr/>
        </p:nvSpPr>
        <p:spPr>
          <a:xfrm>
            <a:off x="1203886" y="4505570"/>
            <a:ext cx="665479"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bullet</a:t>
            </a:r>
            <a:endParaRPr sz="1867">
              <a:latin typeface="Arial"/>
              <a:cs typeface="Arial"/>
            </a:endParaRPr>
          </a:p>
        </p:txBody>
      </p:sp>
      <p:sp>
        <p:nvSpPr>
          <p:cNvPr id="7" name="object 7"/>
          <p:cNvSpPr/>
          <p:nvPr/>
        </p:nvSpPr>
        <p:spPr>
          <a:xfrm>
            <a:off x="7819532" y="1467065"/>
            <a:ext cx="2546773" cy="2705947"/>
          </a:xfrm>
          <a:custGeom>
            <a:avLst/>
            <a:gdLst/>
            <a:ahLst/>
            <a:cxnLst/>
            <a:rect l="l" t="t" r="r" b="b"/>
            <a:pathLst>
              <a:path w="1910079" h="2029460">
                <a:moveTo>
                  <a:pt x="1591243" y="2029199"/>
                </a:moveTo>
                <a:lnTo>
                  <a:pt x="318256" y="2029199"/>
                </a:lnTo>
                <a:lnTo>
                  <a:pt x="271226" y="2025749"/>
                </a:lnTo>
                <a:lnTo>
                  <a:pt x="226339" y="2015725"/>
                </a:lnTo>
                <a:lnTo>
                  <a:pt x="184087" y="1999620"/>
                </a:lnTo>
                <a:lnTo>
                  <a:pt x="144962" y="1977926"/>
                </a:lnTo>
                <a:lnTo>
                  <a:pt x="109456" y="1951137"/>
                </a:lnTo>
                <a:lnTo>
                  <a:pt x="78062" y="1919743"/>
                </a:lnTo>
                <a:lnTo>
                  <a:pt x="51273" y="1884237"/>
                </a:lnTo>
                <a:lnTo>
                  <a:pt x="29579" y="1845112"/>
                </a:lnTo>
                <a:lnTo>
                  <a:pt x="13474" y="1802860"/>
                </a:lnTo>
                <a:lnTo>
                  <a:pt x="3450" y="1757973"/>
                </a:lnTo>
                <a:lnTo>
                  <a:pt x="0" y="1710943"/>
                </a:lnTo>
                <a:lnTo>
                  <a:pt x="0" y="318256"/>
                </a:lnTo>
                <a:lnTo>
                  <a:pt x="3450" y="271226"/>
                </a:lnTo>
                <a:lnTo>
                  <a:pt x="13474" y="226339"/>
                </a:lnTo>
                <a:lnTo>
                  <a:pt x="29579" y="184087"/>
                </a:lnTo>
                <a:lnTo>
                  <a:pt x="51273" y="144962"/>
                </a:lnTo>
                <a:lnTo>
                  <a:pt x="78062" y="109456"/>
                </a:lnTo>
                <a:lnTo>
                  <a:pt x="109456" y="78062"/>
                </a:lnTo>
                <a:lnTo>
                  <a:pt x="144962" y="51273"/>
                </a:lnTo>
                <a:lnTo>
                  <a:pt x="184087" y="29579"/>
                </a:lnTo>
                <a:lnTo>
                  <a:pt x="226339" y="13474"/>
                </a:lnTo>
                <a:lnTo>
                  <a:pt x="271226" y="3450"/>
                </a:lnTo>
                <a:lnTo>
                  <a:pt x="318256" y="0"/>
                </a:lnTo>
                <a:lnTo>
                  <a:pt x="1591243" y="0"/>
                </a:lnTo>
                <a:lnTo>
                  <a:pt x="1641330" y="3964"/>
                </a:lnTo>
                <a:lnTo>
                  <a:pt x="1689732" y="15622"/>
                </a:lnTo>
                <a:lnTo>
                  <a:pt x="1735595" y="34619"/>
                </a:lnTo>
                <a:lnTo>
                  <a:pt x="1778064" y="60601"/>
                </a:lnTo>
                <a:lnTo>
                  <a:pt x="1816284" y="93215"/>
                </a:lnTo>
                <a:lnTo>
                  <a:pt x="1848898" y="131435"/>
                </a:lnTo>
                <a:lnTo>
                  <a:pt x="1874880" y="173904"/>
                </a:lnTo>
                <a:lnTo>
                  <a:pt x="1893877" y="219767"/>
                </a:lnTo>
                <a:lnTo>
                  <a:pt x="1905535" y="268169"/>
                </a:lnTo>
                <a:lnTo>
                  <a:pt x="1909499" y="318256"/>
                </a:lnTo>
                <a:lnTo>
                  <a:pt x="1909499" y="1710943"/>
                </a:lnTo>
                <a:lnTo>
                  <a:pt x="1906049" y="1757973"/>
                </a:lnTo>
                <a:lnTo>
                  <a:pt x="1896025" y="1802860"/>
                </a:lnTo>
                <a:lnTo>
                  <a:pt x="1879920" y="1845112"/>
                </a:lnTo>
                <a:lnTo>
                  <a:pt x="1858226" y="1884237"/>
                </a:lnTo>
                <a:lnTo>
                  <a:pt x="1831437" y="1919743"/>
                </a:lnTo>
                <a:lnTo>
                  <a:pt x="1800043" y="1951137"/>
                </a:lnTo>
                <a:lnTo>
                  <a:pt x="1764537" y="1977926"/>
                </a:lnTo>
                <a:lnTo>
                  <a:pt x="1725412" y="1999620"/>
                </a:lnTo>
                <a:lnTo>
                  <a:pt x="1683160" y="2015725"/>
                </a:lnTo>
                <a:lnTo>
                  <a:pt x="1638273" y="2025749"/>
                </a:lnTo>
                <a:lnTo>
                  <a:pt x="1591243" y="2029199"/>
                </a:lnTo>
                <a:close/>
              </a:path>
            </a:pathLst>
          </a:custGeom>
          <a:solidFill>
            <a:srgbClr val="EEEEEE"/>
          </a:solidFill>
        </p:spPr>
        <p:txBody>
          <a:bodyPr wrap="square" lIns="0" tIns="0" rIns="0" bIns="0" rtlCol="0"/>
          <a:lstStyle/>
          <a:p>
            <a:endParaRPr sz="2400"/>
          </a:p>
        </p:txBody>
      </p:sp>
      <p:sp>
        <p:nvSpPr>
          <p:cNvPr id="8" name="object 8"/>
          <p:cNvSpPr/>
          <p:nvPr/>
        </p:nvSpPr>
        <p:spPr>
          <a:xfrm>
            <a:off x="7819534" y="1467065"/>
            <a:ext cx="2546773" cy="2705947"/>
          </a:xfrm>
          <a:custGeom>
            <a:avLst/>
            <a:gdLst/>
            <a:ahLst/>
            <a:cxnLst/>
            <a:rect l="l" t="t" r="r" b="b"/>
            <a:pathLst>
              <a:path w="1910079" h="2029460">
                <a:moveTo>
                  <a:pt x="0" y="318256"/>
                </a:moveTo>
                <a:lnTo>
                  <a:pt x="3450" y="271226"/>
                </a:lnTo>
                <a:lnTo>
                  <a:pt x="13474" y="226339"/>
                </a:lnTo>
                <a:lnTo>
                  <a:pt x="29579" y="184087"/>
                </a:lnTo>
                <a:lnTo>
                  <a:pt x="51273" y="144962"/>
                </a:lnTo>
                <a:lnTo>
                  <a:pt x="78062" y="109456"/>
                </a:lnTo>
                <a:lnTo>
                  <a:pt x="109456" y="78062"/>
                </a:lnTo>
                <a:lnTo>
                  <a:pt x="144962" y="51273"/>
                </a:lnTo>
                <a:lnTo>
                  <a:pt x="184087" y="29579"/>
                </a:lnTo>
                <a:lnTo>
                  <a:pt x="226339" y="13474"/>
                </a:lnTo>
                <a:lnTo>
                  <a:pt x="271226" y="3450"/>
                </a:lnTo>
                <a:lnTo>
                  <a:pt x="318256" y="0"/>
                </a:lnTo>
                <a:lnTo>
                  <a:pt x="1591243" y="0"/>
                </a:lnTo>
                <a:lnTo>
                  <a:pt x="1641330" y="3964"/>
                </a:lnTo>
                <a:lnTo>
                  <a:pt x="1689732" y="15622"/>
                </a:lnTo>
                <a:lnTo>
                  <a:pt x="1735595" y="34619"/>
                </a:lnTo>
                <a:lnTo>
                  <a:pt x="1778064" y="60601"/>
                </a:lnTo>
                <a:lnTo>
                  <a:pt x="1816284" y="93215"/>
                </a:lnTo>
                <a:lnTo>
                  <a:pt x="1848898" y="131435"/>
                </a:lnTo>
                <a:lnTo>
                  <a:pt x="1874880" y="173904"/>
                </a:lnTo>
                <a:lnTo>
                  <a:pt x="1893877" y="219767"/>
                </a:lnTo>
                <a:lnTo>
                  <a:pt x="1905535" y="268169"/>
                </a:lnTo>
                <a:lnTo>
                  <a:pt x="1909499" y="318256"/>
                </a:lnTo>
                <a:lnTo>
                  <a:pt x="1909499" y="1710943"/>
                </a:lnTo>
                <a:lnTo>
                  <a:pt x="1906049" y="1757973"/>
                </a:lnTo>
                <a:lnTo>
                  <a:pt x="1896025" y="1802860"/>
                </a:lnTo>
                <a:lnTo>
                  <a:pt x="1879920" y="1845112"/>
                </a:lnTo>
                <a:lnTo>
                  <a:pt x="1858226" y="1884237"/>
                </a:lnTo>
                <a:lnTo>
                  <a:pt x="1831437" y="1919743"/>
                </a:lnTo>
                <a:lnTo>
                  <a:pt x="1800043" y="1951137"/>
                </a:lnTo>
                <a:lnTo>
                  <a:pt x="1764537" y="1977926"/>
                </a:lnTo>
                <a:lnTo>
                  <a:pt x="1725412" y="1999620"/>
                </a:lnTo>
                <a:lnTo>
                  <a:pt x="1683160" y="2015725"/>
                </a:lnTo>
                <a:lnTo>
                  <a:pt x="1638273" y="2025749"/>
                </a:lnTo>
                <a:lnTo>
                  <a:pt x="1591243" y="2029199"/>
                </a:lnTo>
                <a:lnTo>
                  <a:pt x="318256" y="2029199"/>
                </a:lnTo>
                <a:lnTo>
                  <a:pt x="271226" y="2025749"/>
                </a:lnTo>
                <a:lnTo>
                  <a:pt x="226339" y="2015725"/>
                </a:lnTo>
                <a:lnTo>
                  <a:pt x="184087" y="1999620"/>
                </a:lnTo>
                <a:lnTo>
                  <a:pt x="144962" y="1977926"/>
                </a:lnTo>
                <a:lnTo>
                  <a:pt x="109456" y="1951137"/>
                </a:lnTo>
                <a:lnTo>
                  <a:pt x="78062" y="1919743"/>
                </a:lnTo>
                <a:lnTo>
                  <a:pt x="51273" y="1884237"/>
                </a:lnTo>
                <a:lnTo>
                  <a:pt x="29579" y="1845112"/>
                </a:lnTo>
                <a:lnTo>
                  <a:pt x="13474" y="1802860"/>
                </a:lnTo>
                <a:lnTo>
                  <a:pt x="3450" y="1757973"/>
                </a:lnTo>
                <a:lnTo>
                  <a:pt x="0" y="1710943"/>
                </a:lnTo>
                <a:lnTo>
                  <a:pt x="0" y="318256"/>
                </a:lnTo>
                <a:close/>
              </a:path>
            </a:pathLst>
          </a:custGeom>
          <a:ln w="9524">
            <a:solidFill>
              <a:srgbClr val="595959"/>
            </a:solidFill>
          </a:ln>
        </p:spPr>
        <p:txBody>
          <a:bodyPr wrap="square" lIns="0" tIns="0" rIns="0" bIns="0" rtlCol="0"/>
          <a:lstStyle/>
          <a:p>
            <a:endParaRPr sz="2400"/>
          </a:p>
        </p:txBody>
      </p:sp>
      <p:sp>
        <p:nvSpPr>
          <p:cNvPr id="9" name="object 9"/>
          <p:cNvSpPr txBox="1"/>
          <p:nvPr/>
        </p:nvSpPr>
        <p:spPr>
          <a:xfrm>
            <a:off x="1222709" y="1679237"/>
            <a:ext cx="8078047" cy="304421"/>
          </a:xfrm>
          <a:prstGeom prst="rect">
            <a:avLst/>
          </a:prstGeom>
        </p:spPr>
        <p:txBody>
          <a:bodyPr vert="horz" wrap="square" lIns="0" tIns="16933" rIns="0" bIns="0" rtlCol="0">
            <a:spAutoFit/>
          </a:bodyPr>
          <a:lstStyle/>
          <a:p>
            <a:pPr marL="16933">
              <a:spcBef>
                <a:spcPts val="133"/>
              </a:spcBef>
              <a:tabLst>
                <a:tab pos="6834969" algn="l"/>
              </a:tabLst>
            </a:pPr>
            <a:r>
              <a:rPr sz="2800" b="1" spc="-9" baseline="1984" dirty="0">
                <a:latin typeface="Arial"/>
                <a:cs typeface="Arial"/>
              </a:rPr>
              <a:t>shooty_gu</a:t>
            </a:r>
            <a:r>
              <a:rPr sz="2800" b="1" baseline="1984" dirty="0">
                <a:latin typeface="Arial"/>
                <a:cs typeface="Arial"/>
              </a:rPr>
              <a:t>y	</a:t>
            </a:r>
            <a:r>
              <a:rPr sz="1867" b="1" spc="-7" dirty="0">
                <a:latin typeface="Arial"/>
                <a:cs typeface="Arial"/>
              </a:rPr>
              <a:t>melee_guy</a:t>
            </a:r>
            <a:endParaRPr sz="1867">
              <a:latin typeface="Arial"/>
              <a:cs typeface="Arial"/>
            </a:endParaRPr>
          </a:p>
        </p:txBody>
      </p:sp>
      <p:sp>
        <p:nvSpPr>
          <p:cNvPr id="10" name="object 10"/>
          <p:cNvSpPr/>
          <p:nvPr/>
        </p:nvSpPr>
        <p:spPr>
          <a:xfrm>
            <a:off x="4221932" y="1467050"/>
            <a:ext cx="2990427" cy="1970193"/>
          </a:xfrm>
          <a:custGeom>
            <a:avLst/>
            <a:gdLst/>
            <a:ahLst/>
            <a:cxnLst/>
            <a:rect l="l" t="t" r="r" b="b"/>
            <a:pathLst>
              <a:path w="2242820" h="1477645">
                <a:moveTo>
                  <a:pt x="1995944" y="1477499"/>
                </a:moveTo>
                <a:lnTo>
                  <a:pt x="246254" y="1477499"/>
                </a:lnTo>
                <a:lnTo>
                  <a:pt x="196626" y="1472496"/>
                </a:lnTo>
                <a:lnTo>
                  <a:pt x="150401" y="1458148"/>
                </a:lnTo>
                <a:lnTo>
                  <a:pt x="108571" y="1435443"/>
                </a:lnTo>
                <a:lnTo>
                  <a:pt x="72126" y="1405373"/>
                </a:lnTo>
                <a:lnTo>
                  <a:pt x="42056" y="1368928"/>
                </a:lnTo>
                <a:lnTo>
                  <a:pt x="19351" y="1327098"/>
                </a:lnTo>
                <a:lnTo>
                  <a:pt x="5003" y="1280874"/>
                </a:lnTo>
                <a:lnTo>
                  <a:pt x="0" y="1231245"/>
                </a:lnTo>
                <a:lnTo>
                  <a:pt x="0" y="246254"/>
                </a:lnTo>
                <a:lnTo>
                  <a:pt x="5003" y="196625"/>
                </a:lnTo>
                <a:lnTo>
                  <a:pt x="19351" y="150401"/>
                </a:lnTo>
                <a:lnTo>
                  <a:pt x="42056" y="108571"/>
                </a:lnTo>
                <a:lnTo>
                  <a:pt x="72126" y="72126"/>
                </a:lnTo>
                <a:lnTo>
                  <a:pt x="108571" y="42056"/>
                </a:lnTo>
                <a:lnTo>
                  <a:pt x="150401" y="19351"/>
                </a:lnTo>
                <a:lnTo>
                  <a:pt x="196626" y="5003"/>
                </a:lnTo>
                <a:lnTo>
                  <a:pt x="246254" y="0"/>
                </a:lnTo>
                <a:lnTo>
                  <a:pt x="1995944" y="0"/>
                </a:lnTo>
                <a:lnTo>
                  <a:pt x="2044211" y="4775"/>
                </a:lnTo>
                <a:lnTo>
                  <a:pt x="2090182" y="18745"/>
                </a:lnTo>
                <a:lnTo>
                  <a:pt x="2132567" y="41373"/>
                </a:lnTo>
                <a:lnTo>
                  <a:pt x="2170073" y="72126"/>
                </a:lnTo>
                <a:lnTo>
                  <a:pt x="2200826" y="109632"/>
                </a:lnTo>
                <a:lnTo>
                  <a:pt x="2223454" y="152017"/>
                </a:lnTo>
                <a:lnTo>
                  <a:pt x="2237424" y="197988"/>
                </a:lnTo>
                <a:lnTo>
                  <a:pt x="2242199" y="246254"/>
                </a:lnTo>
                <a:lnTo>
                  <a:pt x="2242199" y="1231245"/>
                </a:lnTo>
                <a:lnTo>
                  <a:pt x="2237196" y="1280874"/>
                </a:lnTo>
                <a:lnTo>
                  <a:pt x="2222848" y="1327098"/>
                </a:lnTo>
                <a:lnTo>
                  <a:pt x="2200143" y="1368928"/>
                </a:lnTo>
                <a:lnTo>
                  <a:pt x="2170073" y="1405373"/>
                </a:lnTo>
                <a:lnTo>
                  <a:pt x="2133628" y="1435443"/>
                </a:lnTo>
                <a:lnTo>
                  <a:pt x="2091798" y="1458148"/>
                </a:lnTo>
                <a:lnTo>
                  <a:pt x="2045573" y="1472496"/>
                </a:lnTo>
                <a:lnTo>
                  <a:pt x="1995944" y="1477499"/>
                </a:lnTo>
                <a:close/>
              </a:path>
            </a:pathLst>
          </a:custGeom>
          <a:solidFill>
            <a:srgbClr val="EEEEEE"/>
          </a:solidFill>
        </p:spPr>
        <p:txBody>
          <a:bodyPr wrap="square" lIns="0" tIns="0" rIns="0" bIns="0" rtlCol="0"/>
          <a:lstStyle/>
          <a:p>
            <a:endParaRPr sz="2400"/>
          </a:p>
        </p:txBody>
      </p:sp>
      <p:sp>
        <p:nvSpPr>
          <p:cNvPr id="11" name="object 11"/>
          <p:cNvSpPr/>
          <p:nvPr/>
        </p:nvSpPr>
        <p:spPr>
          <a:xfrm>
            <a:off x="4221932" y="1467050"/>
            <a:ext cx="2990427" cy="1970193"/>
          </a:xfrm>
          <a:custGeom>
            <a:avLst/>
            <a:gdLst/>
            <a:ahLst/>
            <a:cxnLst/>
            <a:rect l="l" t="t" r="r" b="b"/>
            <a:pathLst>
              <a:path w="2242820" h="1477645">
                <a:moveTo>
                  <a:pt x="0" y="246254"/>
                </a:moveTo>
                <a:lnTo>
                  <a:pt x="5003" y="196625"/>
                </a:lnTo>
                <a:lnTo>
                  <a:pt x="19351" y="150401"/>
                </a:lnTo>
                <a:lnTo>
                  <a:pt x="42056" y="108571"/>
                </a:lnTo>
                <a:lnTo>
                  <a:pt x="72126" y="72126"/>
                </a:lnTo>
                <a:lnTo>
                  <a:pt x="108571" y="42056"/>
                </a:lnTo>
                <a:lnTo>
                  <a:pt x="150401" y="19351"/>
                </a:lnTo>
                <a:lnTo>
                  <a:pt x="196626" y="5003"/>
                </a:lnTo>
                <a:lnTo>
                  <a:pt x="246254" y="0"/>
                </a:lnTo>
                <a:lnTo>
                  <a:pt x="1995944" y="0"/>
                </a:lnTo>
                <a:lnTo>
                  <a:pt x="2044211" y="4775"/>
                </a:lnTo>
                <a:lnTo>
                  <a:pt x="2090182" y="18745"/>
                </a:lnTo>
                <a:lnTo>
                  <a:pt x="2132567" y="41373"/>
                </a:lnTo>
                <a:lnTo>
                  <a:pt x="2170073" y="72126"/>
                </a:lnTo>
                <a:lnTo>
                  <a:pt x="2200826" y="109632"/>
                </a:lnTo>
                <a:lnTo>
                  <a:pt x="2223454" y="152017"/>
                </a:lnTo>
                <a:lnTo>
                  <a:pt x="2237424" y="197988"/>
                </a:lnTo>
                <a:lnTo>
                  <a:pt x="2242199" y="246254"/>
                </a:lnTo>
                <a:lnTo>
                  <a:pt x="2242199" y="1231245"/>
                </a:lnTo>
                <a:lnTo>
                  <a:pt x="2237196" y="1280874"/>
                </a:lnTo>
                <a:lnTo>
                  <a:pt x="2222848" y="1327098"/>
                </a:lnTo>
                <a:lnTo>
                  <a:pt x="2200143" y="1368928"/>
                </a:lnTo>
                <a:lnTo>
                  <a:pt x="2170073" y="1405373"/>
                </a:lnTo>
                <a:lnTo>
                  <a:pt x="2133628" y="1435443"/>
                </a:lnTo>
                <a:lnTo>
                  <a:pt x="2091798" y="1458148"/>
                </a:lnTo>
                <a:lnTo>
                  <a:pt x="2045573" y="1472496"/>
                </a:lnTo>
                <a:lnTo>
                  <a:pt x="1995944" y="1477499"/>
                </a:lnTo>
                <a:lnTo>
                  <a:pt x="246254" y="1477499"/>
                </a:lnTo>
                <a:lnTo>
                  <a:pt x="196626" y="1472496"/>
                </a:lnTo>
                <a:lnTo>
                  <a:pt x="150401" y="1458148"/>
                </a:lnTo>
                <a:lnTo>
                  <a:pt x="108571" y="1435443"/>
                </a:lnTo>
                <a:lnTo>
                  <a:pt x="72126" y="1405373"/>
                </a:lnTo>
                <a:lnTo>
                  <a:pt x="42056" y="1368928"/>
                </a:lnTo>
                <a:lnTo>
                  <a:pt x="19351" y="1327098"/>
                </a:lnTo>
                <a:lnTo>
                  <a:pt x="5003" y="1280874"/>
                </a:lnTo>
                <a:lnTo>
                  <a:pt x="0" y="1231245"/>
                </a:lnTo>
                <a:lnTo>
                  <a:pt x="0" y="246254"/>
                </a:lnTo>
                <a:close/>
              </a:path>
            </a:pathLst>
          </a:custGeom>
          <a:ln w="9524">
            <a:solidFill>
              <a:srgbClr val="595959"/>
            </a:solidFill>
          </a:ln>
        </p:spPr>
        <p:txBody>
          <a:bodyPr wrap="square" lIns="0" tIns="0" rIns="0" bIns="0" rtlCol="0"/>
          <a:lstStyle/>
          <a:p>
            <a:endParaRPr sz="2400"/>
          </a:p>
        </p:txBody>
      </p:sp>
      <p:sp>
        <p:nvSpPr>
          <p:cNvPr id="12" name="object 12"/>
          <p:cNvSpPr txBox="1"/>
          <p:nvPr/>
        </p:nvSpPr>
        <p:spPr>
          <a:xfrm>
            <a:off x="4415467" y="1651101"/>
            <a:ext cx="1231053"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bomb_guy</a:t>
            </a:r>
            <a:endParaRPr sz="1867">
              <a:latin typeface="Arial"/>
              <a:cs typeface="Arial"/>
            </a:endParaRPr>
          </a:p>
        </p:txBody>
      </p:sp>
      <p:sp>
        <p:nvSpPr>
          <p:cNvPr id="13" name="object 13"/>
          <p:cNvSpPr txBox="1">
            <a:spLocks noGrp="1"/>
          </p:cNvSpPr>
          <p:nvPr>
            <p:ph type="title"/>
          </p:nvPr>
        </p:nvSpPr>
        <p:spPr>
          <a:xfrm>
            <a:off x="512967" y="677405"/>
            <a:ext cx="908642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The </a:t>
            </a:r>
            <a:r>
              <a:rPr sz="3733" spc="-13" dirty="0"/>
              <a:t>ShootyGuy </a:t>
            </a:r>
            <a:r>
              <a:rPr sz="3733" spc="-7" dirty="0"/>
              <a:t>entity </a:t>
            </a:r>
            <a:r>
              <a:rPr sz="3733" dirty="0"/>
              <a:t>model</a:t>
            </a:r>
            <a:r>
              <a:rPr sz="3733" spc="-120" dirty="0"/>
              <a:t> </a:t>
            </a:r>
            <a:r>
              <a:rPr sz="3733" dirty="0"/>
              <a:t>(Composition)</a:t>
            </a:r>
            <a:endParaRPr sz="3733"/>
          </a:p>
        </p:txBody>
      </p:sp>
      <p:sp>
        <p:nvSpPr>
          <p:cNvPr id="14" name="object 14"/>
          <p:cNvSpPr/>
          <p:nvPr/>
        </p:nvSpPr>
        <p:spPr>
          <a:xfrm>
            <a:off x="4462967" y="2121316"/>
            <a:ext cx="2048933" cy="545253"/>
          </a:xfrm>
          <a:custGeom>
            <a:avLst/>
            <a:gdLst/>
            <a:ahLst/>
            <a:cxnLst/>
            <a:rect l="l" t="t" r="r" b="b"/>
            <a:pathLst>
              <a:path w="1536700" h="408939">
                <a:moveTo>
                  <a:pt x="14681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468198" y="0"/>
                </a:lnTo>
                <a:lnTo>
                  <a:pt x="1505981" y="11441"/>
                </a:lnTo>
                <a:lnTo>
                  <a:pt x="1531116" y="42040"/>
                </a:lnTo>
                <a:lnTo>
                  <a:pt x="1536299" y="68101"/>
                </a:lnTo>
                <a:lnTo>
                  <a:pt x="1536299" y="340498"/>
                </a:lnTo>
                <a:lnTo>
                  <a:pt x="1530948" y="367006"/>
                </a:lnTo>
                <a:lnTo>
                  <a:pt x="1516353" y="388653"/>
                </a:lnTo>
                <a:lnTo>
                  <a:pt x="1494706" y="403248"/>
                </a:lnTo>
                <a:lnTo>
                  <a:pt x="1468198" y="408599"/>
                </a:lnTo>
                <a:close/>
              </a:path>
            </a:pathLst>
          </a:custGeom>
          <a:solidFill>
            <a:srgbClr val="EEEEEE"/>
          </a:solidFill>
        </p:spPr>
        <p:txBody>
          <a:bodyPr wrap="square" lIns="0" tIns="0" rIns="0" bIns="0" rtlCol="0"/>
          <a:lstStyle/>
          <a:p>
            <a:endParaRPr sz="2400"/>
          </a:p>
        </p:txBody>
      </p:sp>
      <p:sp>
        <p:nvSpPr>
          <p:cNvPr id="15" name="object 15"/>
          <p:cNvSpPr/>
          <p:nvPr/>
        </p:nvSpPr>
        <p:spPr>
          <a:xfrm>
            <a:off x="4462967" y="2121316"/>
            <a:ext cx="2048933" cy="545253"/>
          </a:xfrm>
          <a:custGeom>
            <a:avLst/>
            <a:gdLst/>
            <a:ahLst/>
            <a:cxnLst/>
            <a:rect l="l" t="t" r="r" b="b"/>
            <a:pathLst>
              <a:path w="1536700" h="408939">
                <a:moveTo>
                  <a:pt x="0" y="68101"/>
                </a:moveTo>
                <a:lnTo>
                  <a:pt x="5351" y="41593"/>
                </a:lnTo>
                <a:lnTo>
                  <a:pt x="19946" y="19946"/>
                </a:lnTo>
                <a:lnTo>
                  <a:pt x="41593" y="5351"/>
                </a:lnTo>
                <a:lnTo>
                  <a:pt x="68101" y="0"/>
                </a:lnTo>
                <a:lnTo>
                  <a:pt x="1468198" y="0"/>
                </a:lnTo>
                <a:lnTo>
                  <a:pt x="1505981" y="11441"/>
                </a:lnTo>
                <a:lnTo>
                  <a:pt x="1531116" y="42040"/>
                </a:lnTo>
                <a:lnTo>
                  <a:pt x="1536299" y="68101"/>
                </a:lnTo>
                <a:lnTo>
                  <a:pt x="1536299" y="340498"/>
                </a:lnTo>
                <a:lnTo>
                  <a:pt x="1530948" y="367006"/>
                </a:lnTo>
                <a:lnTo>
                  <a:pt x="1516353" y="388653"/>
                </a:lnTo>
                <a:lnTo>
                  <a:pt x="1494706" y="403248"/>
                </a:lnTo>
                <a:lnTo>
                  <a:pt x="14681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16" name="object 16"/>
          <p:cNvSpPr/>
          <p:nvPr/>
        </p:nvSpPr>
        <p:spPr>
          <a:xfrm>
            <a:off x="1274283" y="3349332"/>
            <a:ext cx="1771227" cy="545253"/>
          </a:xfrm>
          <a:custGeom>
            <a:avLst/>
            <a:gdLst/>
            <a:ahLst/>
            <a:cxnLst/>
            <a:rect l="l" t="t" r="r" b="b"/>
            <a:pathLst>
              <a:path w="1328420" h="408939">
                <a:moveTo>
                  <a:pt x="12596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259698" y="0"/>
                </a:lnTo>
                <a:lnTo>
                  <a:pt x="1297481" y="11441"/>
                </a:lnTo>
                <a:lnTo>
                  <a:pt x="1322616" y="42040"/>
                </a:lnTo>
                <a:lnTo>
                  <a:pt x="1327799" y="68101"/>
                </a:lnTo>
                <a:lnTo>
                  <a:pt x="1327799" y="340498"/>
                </a:lnTo>
                <a:lnTo>
                  <a:pt x="1322448" y="367006"/>
                </a:lnTo>
                <a:lnTo>
                  <a:pt x="1307853" y="388653"/>
                </a:lnTo>
                <a:lnTo>
                  <a:pt x="1286206" y="403248"/>
                </a:lnTo>
                <a:lnTo>
                  <a:pt x="1259698" y="408599"/>
                </a:lnTo>
                <a:close/>
              </a:path>
            </a:pathLst>
          </a:custGeom>
          <a:solidFill>
            <a:srgbClr val="EEEEEE"/>
          </a:solidFill>
        </p:spPr>
        <p:txBody>
          <a:bodyPr wrap="square" lIns="0" tIns="0" rIns="0" bIns="0" rtlCol="0"/>
          <a:lstStyle/>
          <a:p>
            <a:endParaRPr sz="2400"/>
          </a:p>
        </p:txBody>
      </p:sp>
      <p:sp>
        <p:nvSpPr>
          <p:cNvPr id="17" name="object 17"/>
          <p:cNvSpPr/>
          <p:nvPr/>
        </p:nvSpPr>
        <p:spPr>
          <a:xfrm>
            <a:off x="1274283" y="3349332"/>
            <a:ext cx="1771227" cy="545253"/>
          </a:xfrm>
          <a:custGeom>
            <a:avLst/>
            <a:gdLst/>
            <a:ahLst/>
            <a:cxnLst/>
            <a:rect l="l" t="t" r="r" b="b"/>
            <a:pathLst>
              <a:path w="1328420" h="408939">
                <a:moveTo>
                  <a:pt x="0" y="68101"/>
                </a:moveTo>
                <a:lnTo>
                  <a:pt x="5351" y="41593"/>
                </a:lnTo>
                <a:lnTo>
                  <a:pt x="19946" y="19946"/>
                </a:lnTo>
                <a:lnTo>
                  <a:pt x="41593" y="5351"/>
                </a:lnTo>
                <a:lnTo>
                  <a:pt x="68101" y="0"/>
                </a:lnTo>
                <a:lnTo>
                  <a:pt x="1259698" y="0"/>
                </a:lnTo>
                <a:lnTo>
                  <a:pt x="1297481" y="11441"/>
                </a:lnTo>
                <a:lnTo>
                  <a:pt x="1322616" y="42040"/>
                </a:lnTo>
                <a:lnTo>
                  <a:pt x="1327799" y="68101"/>
                </a:lnTo>
                <a:lnTo>
                  <a:pt x="1327799" y="340498"/>
                </a:lnTo>
                <a:lnTo>
                  <a:pt x="1322448" y="367006"/>
                </a:lnTo>
                <a:lnTo>
                  <a:pt x="1307853" y="388653"/>
                </a:lnTo>
                <a:lnTo>
                  <a:pt x="1286206" y="403248"/>
                </a:lnTo>
                <a:lnTo>
                  <a:pt x="12596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18" name="object 18"/>
          <p:cNvSpPr txBox="1"/>
          <p:nvPr/>
        </p:nvSpPr>
        <p:spPr>
          <a:xfrm>
            <a:off x="1398245" y="3463813"/>
            <a:ext cx="1313180" cy="304421"/>
          </a:xfrm>
          <a:prstGeom prst="rect">
            <a:avLst/>
          </a:prstGeom>
        </p:spPr>
        <p:txBody>
          <a:bodyPr vert="horz" wrap="square" lIns="0" tIns="16933" rIns="0" bIns="0" rtlCol="0">
            <a:spAutoFit/>
          </a:bodyPr>
          <a:lstStyle/>
          <a:p>
            <a:pPr marL="16933">
              <a:spcBef>
                <a:spcPts val="133"/>
              </a:spcBef>
            </a:pPr>
            <a:r>
              <a:rPr sz="1867" dirty="0">
                <a:solidFill>
                  <a:srgbClr val="0000FF"/>
                </a:solidFill>
                <a:latin typeface="Arial"/>
                <a:cs typeface="Arial"/>
              </a:rPr>
              <a:t>shoot_bullet</a:t>
            </a:r>
            <a:endParaRPr sz="1867">
              <a:latin typeface="Arial"/>
              <a:cs typeface="Arial"/>
            </a:endParaRPr>
          </a:p>
        </p:txBody>
      </p:sp>
      <p:sp>
        <p:nvSpPr>
          <p:cNvPr id="19" name="object 19"/>
          <p:cNvSpPr/>
          <p:nvPr/>
        </p:nvSpPr>
        <p:spPr>
          <a:xfrm>
            <a:off x="8099300" y="3317800"/>
            <a:ext cx="1441873" cy="545253"/>
          </a:xfrm>
          <a:custGeom>
            <a:avLst/>
            <a:gdLst/>
            <a:ahLst/>
            <a:cxnLst/>
            <a:rect l="l" t="t" r="r" b="b"/>
            <a:pathLst>
              <a:path w="1081404" h="408939">
                <a:moveTo>
                  <a:pt x="10130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013098" y="0"/>
                </a:lnTo>
                <a:lnTo>
                  <a:pt x="1050881" y="11441"/>
                </a:lnTo>
                <a:lnTo>
                  <a:pt x="1076016" y="42040"/>
                </a:lnTo>
                <a:lnTo>
                  <a:pt x="1081199" y="68101"/>
                </a:lnTo>
                <a:lnTo>
                  <a:pt x="1081199" y="340498"/>
                </a:lnTo>
                <a:lnTo>
                  <a:pt x="1075848" y="367006"/>
                </a:lnTo>
                <a:lnTo>
                  <a:pt x="1061253" y="388653"/>
                </a:lnTo>
                <a:lnTo>
                  <a:pt x="1039606" y="403248"/>
                </a:lnTo>
                <a:lnTo>
                  <a:pt x="1013098" y="408599"/>
                </a:lnTo>
                <a:close/>
              </a:path>
            </a:pathLst>
          </a:custGeom>
          <a:solidFill>
            <a:srgbClr val="EEEEEE"/>
          </a:solidFill>
        </p:spPr>
        <p:txBody>
          <a:bodyPr wrap="square" lIns="0" tIns="0" rIns="0" bIns="0" rtlCol="0"/>
          <a:lstStyle/>
          <a:p>
            <a:endParaRPr sz="2400"/>
          </a:p>
        </p:txBody>
      </p:sp>
      <p:sp>
        <p:nvSpPr>
          <p:cNvPr id="20" name="object 20"/>
          <p:cNvSpPr/>
          <p:nvPr/>
        </p:nvSpPr>
        <p:spPr>
          <a:xfrm>
            <a:off x="8099300" y="3317800"/>
            <a:ext cx="1441873" cy="545253"/>
          </a:xfrm>
          <a:custGeom>
            <a:avLst/>
            <a:gdLst/>
            <a:ahLst/>
            <a:cxnLst/>
            <a:rect l="l" t="t" r="r" b="b"/>
            <a:pathLst>
              <a:path w="1081404" h="408939">
                <a:moveTo>
                  <a:pt x="0" y="68101"/>
                </a:moveTo>
                <a:lnTo>
                  <a:pt x="5351" y="41593"/>
                </a:lnTo>
                <a:lnTo>
                  <a:pt x="19946" y="19946"/>
                </a:lnTo>
                <a:lnTo>
                  <a:pt x="41593" y="5351"/>
                </a:lnTo>
                <a:lnTo>
                  <a:pt x="68101" y="0"/>
                </a:lnTo>
                <a:lnTo>
                  <a:pt x="1013098" y="0"/>
                </a:lnTo>
                <a:lnTo>
                  <a:pt x="1050881" y="11441"/>
                </a:lnTo>
                <a:lnTo>
                  <a:pt x="1076016" y="42040"/>
                </a:lnTo>
                <a:lnTo>
                  <a:pt x="1081199" y="68101"/>
                </a:lnTo>
                <a:lnTo>
                  <a:pt x="1081199" y="340498"/>
                </a:lnTo>
                <a:lnTo>
                  <a:pt x="1075848" y="367006"/>
                </a:lnTo>
                <a:lnTo>
                  <a:pt x="1061253" y="388653"/>
                </a:lnTo>
                <a:lnTo>
                  <a:pt x="1039606" y="403248"/>
                </a:lnTo>
                <a:lnTo>
                  <a:pt x="10130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21" name="object 21"/>
          <p:cNvSpPr txBox="1"/>
          <p:nvPr/>
        </p:nvSpPr>
        <p:spPr>
          <a:xfrm>
            <a:off x="8223262" y="3432279"/>
            <a:ext cx="982980" cy="304421"/>
          </a:xfrm>
          <a:prstGeom prst="rect">
            <a:avLst/>
          </a:prstGeom>
        </p:spPr>
        <p:txBody>
          <a:bodyPr vert="horz" wrap="square" lIns="0" tIns="16933" rIns="0" bIns="0" rtlCol="0">
            <a:spAutoFit/>
          </a:bodyPr>
          <a:lstStyle/>
          <a:p>
            <a:pPr marL="16933">
              <a:spcBef>
                <a:spcPts val="133"/>
              </a:spcBef>
            </a:pPr>
            <a:r>
              <a:rPr sz="1867" dirty="0">
                <a:latin typeface="Arial"/>
                <a:cs typeface="Arial"/>
              </a:rPr>
              <a:t>chase_ai</a:t>
            </a:r>
            <a:endParaRPr sz="1867">
              <a:latin typeface="Arial"/>
              <a:cs typeface="Arial"/>
            </a:endParaRPr>
          </a:p>
        </p:txBody>
      </p:sp>
      <p:sp>
        <p:nvSpPr>
          <p:cNvPr id="22" name="object 22"/>
          <p:cNvSpPr/>
          <p:nvPr/>
        </p:nvSpPr>
        <p:spPr>
          <a:xfrm>
            <a:off x="8099299" y="2108583"/>
            <a:ext cx="949960" cy="545253"/>
          </a:xfrm>
          <a:custGeom>
            <a:avLst/>
            <a:gdLst/>
            <a:ahLst/>
            <a:cxnLst/>
            <a:rect l="l" t="t" r="r" b="b"/>
            <a:pathLst>
              <a:path w="712470" h="408939">
                <a:moveTo>
                  <a:pt x="6440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close/>
              </a:path>
            </a:pathLst>
          </a:custGeom>
          <a:solidFill>
            <a:srgbClr val="EEEEEE"/>
          </a:solidFill>
        </p:spPr>
        <p:txBody>
          <a:bodyPr wrap="square" lIns="0" tIns="0" rIns="0" bIns="0" rtlCol="0"/>
          <a:lstStyle/>
          <a:p>
            <a:endParaRPr sz="2400"/>
          </a:p>
        </p:txBody>
      </p:sp>
      <p:sp>
        <p:nvSpPr>
          <p:cNvPr id="23" name="object 23"/>
          <p:cNvSpPr/>
          <p:nvPr/>
        </p:nvSpPr>
        <p:spPr>
          <a:xfrm>
            <a:off x="8099299" y="2108583"/>
            <a:ext cx="949960" cy="545253"/>
          </a:xfrm>
          <a:custGeom>
            <a:avLst/>
            <a:gdLst/>
            <a:ahLst/>
            <a:cxnLst/>
            <a:rect l="l" t="t" r="r" b="b"/>
            <a:pathLst>
              <a:path w="712470" h="408939">
                <a:moveTo>
                  <a:pt x="0" y="68101"/>
                </a:move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24" name="object 24"/>
          <p:cNvSpPr/>
          <p:nvPr/>
        </p:nvSpPr>
        <p:spPr>
          <a:xfrm>
            <a:off x="1247896" y="5589367"/>
            <a:ext cx="1898227" cy="545253"/>
          </a:xfrm>
          <a:custGeom>
            <a:avLst/>
            <a:gdLst/>
            <a:ahLst/>
            <a:cxnLst/>
            <a:rect l="l" t="t" r="r" b="b"/>
            <a:pathLst>
              <a:path w="1423670" h="408939">
                <a:moveTo>
                  <a:pt x="13553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355398" y="0"/>
                </a:lnTo>
                <a:lnTo>
                  <a:pt x="1393181" y="11441"/>
                </a:lnTo>
                <a:lnTo>
                  <a:pt x="1418316" y="42040"/>
                </a:lnTo>
                <a:lnTo>
                  <a:pt x="1423499" y="68101"/>
                </a:lnTo>
                <a:lnTo>
                  <a:pt x="1423499" y="340498"/>
                </a:lnTo>
                <a:lnTo>
                  <a:pt x="1418148" y="367006"/>
                </a:lnTo>
                <a:lnTo>
                  <a:pt x="1403553" y="388653"/>
                </a:lnTo>
                <a:lnTo>
                  <a:pt x="1381906" y="403248"/>
                </a:lnTo>
                <a:lnTo>
                  <a:pt x="1355398" y="408599"/>
                </a:lnTo>
                <a:close/>
              </a:path>
            </a:pathLst>
          </a:custGeom>
          <a:solidFill>
            <a:srgbClr val="EEEEEE"/>
          </a:solidFill>
        </p:spPr>
        <p:txBody>
          <a:bodyPr wrap="square" lIns="0" tIns="0" rIns="0" bIns="0" rtlCol="0"/>
          <a:lstStyle/>
          <a:p>
            <a:endParaRPr sz="2400"/>
          </a:p>
        </p:txBody>
      </p:sp>
      <p:sp>
        <p:nvSpPr>
          <p:cNvPr id="25" name="object 25"/>
          <p:cNvSpPr/>
          <p:nvPr/>
        </p:nvSpPr>
        <p:spPr>
          <a:xfrm>
            <a:off x="1247896" y="5589367"/>
            <a:ext cx="1898227" cy="545253"/>
          </a:xfrm>
          <a:custGeom>
            <a:avLst/>
            <a:gdLst/>
            <a:ahLst/>
            <a:cxnLst/>
            <a:rect l="l" t="t" r="r" b="b"/>
            <a:pathLst>
              <a:path w="1423670" h="408939">
                <a:moveTo>
                  <a:pt x="0" y="68101"/>
                </a:moveTo>
                <a:lnTo>
                  <a:pt x="5351" y="41593"/>
                </a:lnTo>
                <a:lnTo>
                  <a:pt x="19946" y="19946"/>
                </a:lnTo>
                <a:lnTo>
                  <a:pt x="41593" y="5351"/>
                </a:lnTo>
                <a:lnTo>
                  <a:pt x="68101" y="0"/>
                </a:lnTo>
                <a:lnTo>
                  <a:pt x="1355398" y="0"/>
                </a:lnTo>
                <a:lnTo>
                  <a:pt x="1393181" y="11441"/>
                </a:lnTo>
                <a:lnTo>
                  <a:pt x="1418316" y="42040"/>
                </a:lnTo>
                <a:lnTo>
                  <a:pt x="1423499" y="68101"/>
                </a:lnTo>
                <a:lnTo>
                  <a:pt x="1423499" y="340498"/>
                </a:lnTo>
                <a:lnTo>
                  <a:pt x="1418148" y="367006"/>
                </a:lnTo>
                <a:lnTo>
                  <a:pt x="1403553" y="388653"/>
                </a:lnTo>
                <a:lnTo>
                  <a:pt x="1381906" y="403248"/>
                </a:lnTo>
                <a:lnTo>
                  <a:pt x="13553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26" name="object 26"/>
          <p:cNvSpPr txBox="1"/>
          <p:nvPr/>
        </p:nvSpPr>
        <p:spPr>
          <a:xfrm>
            <a:off x="1371858" y="5703846"/>
            <a:ext cx="1602740" cy="304421"/>
          </a:xfrm>
          <a:prstGeom prst="rect">
            <a:avLst/>
          </a:prstGeom>
        </p:spPr>
        <p:txBody>
          <a:bodyPr vert="horz" wrap="square" lIns="0" tIns="16933" rIns="0" bIns="0" rtlCol="0">
            <a:spAutoFit/>
          </a:bodyPr>
          <a:lstStyle/>
          <a:p>
            <a:pPr marL="16933">
              <a:spcBef>
                <a:spcPts val="133"/>
              </a:spcBef>
            </a:pPr>
            <a:r>
              <a:rPr sz="1867" spc="-7" dirty="0">
                <a:latin typeface="Arial"/>
                <a:cs typeface="Arial"/>
              </a:rPr>
              <a:t>damage_touch</a:t>
            </a:r>
            <a:endParaRPr sz="1867">
              <a:latin typeface="Arial"/>
              <a:cs typeface="Arial"/>
            </a:endParaRPr>
          </a:p>
        </p:txBody>
      </p:sp>
      <p:sp>
        <p:nvSpPr>
          <p:cNvPr id="27" name="object 27"/>
          <p:cNvSpPr/>
          <p:nvPr/>
        </p:nvSpPr>
        <p:spPr>
          <a:xfrm>
            <a:off x="4462967" y="2739899"/>
            <a:ext cx="2430780" cy="545253"/>
          </a:xfrm>
          <a:custGeom>
            <a:avLst/>
            <a:gdLst/>
            <a:ahLst/>
            <a:cxnLst/>
            <a:rect l="l" t="t" r="r" b="b"/>
            <a:pathLst>
              <a:path w="1823085" h="408939">
                <a:moveTo>
                  <a:pt x="17546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754698" y="0"/>
                </a:lnTo>
                <a:lnTo>
                  <a:pt x="1792481" y="11441"/>
                </a:lnTo>
                <a:lnTo>
                  <a:pt x="1817616" y="42040"/>
                </a:lnTo>
                <a:lnTo>
                  <a:pt x="1822799" y="68101"/>
                </a:lnTo>
                <a:lnTo>
                  <a:pt x="1822799" y="340498"/>
                </a:lnTo>
                <a:lnTo>
                  <a:pt x="1817448" y="367006"/>
                </a:lnTo>
                <a:lnTo>
                  <a:pt x="1802853" y="388653"/>
                </a:lnTo>
                <a:lnTo>
                  <a:pt x="1781206" y="403248"/>
                </a:lnTo>
                <a:lnTo>
                  <a:pt x="1754698" y="408599"/>
                </a:lnTo>
                <a:close/>
              </a:path>
            </a:pathLst>
          </a:custGeom>
          <a:solidFill>
            <a:srgbClr val="EEEEEE"/>
          </a:solidFill>
        </p:spPr>
        <p:txBody>
          <a:bodyPr wrap="square" lIns="0" tIns="0" rIns="0" bIns="0" rtlCol="0"/>
          <a:lstStyle/>
          <a:p>
            <a:endParaRPr sz="2400"/>
          </a:p>
        </p:txBody>
      </p:sp>
      <p:sp>
        <p:nvSpPr>
          <p:cNvPr id="28" name="object 28"/>
          <p:cNvSpPr/>
          <p:nvPr/>
        </p:nvSpPr>
        <p:spPr>
          <a:xfrm>
            <a:off x="4462967" y="2739899"/>
            <a:ext cx="2430780" cy="545253"/>
          </a:xfrm>
          <a:custGeom>
            <a:avLst/>
            <a:gdLst/>
            <a:ahLst/>
            <a:cxnLst/>
            <a:rect l="l" t="t" r="r" b="b"/>
            <a:pathLst>
              <a:path w="1823085" h="408939">
                <a:moveTo>
                  <a:pt x="0" y="68101"/>
                </a:moveTo>
                <a:lnTo>
                  <a:pt x="5351" y="41593"/>
                </a:lnTo>
                <a:lnTo>
                  <a:pt x="19946" y="19946"/>
                </a:lnTo>
                <a:lnTo>
                  <a:pt x="41593" y="5351"/>
                </a:lnTo>
                <a:lnTo>
                  <a:pt x="68101" y="0"/>
                </a:lnTo>
                <a:lnTo>
                  <a:pt x="1754698" y="0"/>
                </a:lnTo>
                <a:lnTo>
                  <a:pt x="1792481" y="11441"/>
                </a:lnTo>
                <a:lnTo>
                  <a:pt x="1817616" y="42040"/>
                </a:lnTo>
                <a:lnTo>
                  <a:pt x="1822799" y="68101"/>
                </a:lnTo>
                <a:lnTo>
                  <a:pt x="1822799" y="340498"/>
                </a:lnTo>
                <a:lnTo>
                  <a:pt x="1817448" y="367006"/>
                </a:lnTo>
                <a:lnTo>
                  <a:pt x="1802853" y="388653"/>
                </a:lnTo>
                <a:lnTo>
                  <a:pt x="1781206" y="403248"/>
                </a:lnTo>
                <a:lnTo>
                  <a:pt x="17546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29" name="object 29"/>
          <p:cNvSpPr txBox="1"/>
          <p:nvPr/>
        </p:nvSpPr>
        <p:spPr>
          <a:xfrm>
            <a:off x="4586929" y="2854379"/>
            <a:ext cx="2129367" cy="304421"/>
          </a:xfrm>
          <a:prstGeom prst="rect">
            <a:avLst/>
          </a:prstGeom>
        </p:spPr>
        <p:txBody>
          <a:bodyPr vert="horz" wrap="square" lIns="0" tIns="16933" rIns="0" bIns="0" rtlCol="0">
            <a:spAutoFit/>
          </a:bodyPr>
          <a:lstStyle/>
          <a:p>
            <a:pPr marL="16933">
              <a:spcBef>
                <a:spcPts val="133"/>
              </a:spcBef>
            </a:pPr>
            <a:r>
              <a:rPr sz="1867" spc="-7" dirty="0">
                <a:latin typeface="Arial"/>
                <a:cs typeface="Arial"/>
              </a:rPr>
              <a:t>damage_all_around</a:t>
            </a:r>
            <a:endParaRPr sz="1867">
              <a:latin typeface="Arial"/>
              <a:cs typeface="Arial"/>
            </a:endParaRPr>
          </a:p>
        </p:txBody>
      </p:sp>
      <p:sp>
        <p:nvSpPr>
          <p:cNvPr id="30" name="object 30"/>
          <p:cNvSpPr/>
          <p:nvPr/>
        </p:nvSpPr>
        <p:spPr>
          <a:xfrm>
            <a:off x="8099336" y="2713200"/>
            <a:ext cx="2048933" cy="545253"/>
          </a:xfrm>
          <a:custGeom>
            <a:avLst/>
            <a:gdLst/>
            <a:ahLst/>
            <a:cxnLst/>
            <a:rect l="l" t="t" r="r" b="b"/>
            <a:pathLst>
              <a:path w="1536700" h="408939">
                <a:moveTo>
                  <a:pt x="14681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468198" y="0"/>
                </a:lnTo>
                <a:lnTo>
                  <a:pt x="1505981" y="11441"/>
                </a:lnTo>
                <a:lnTo>
                  <a:pt x="1531116" y="42040"/>
                </a:lnTo>
                <a:lnTo>
                  <a:pt x="1536299" y="68101"/>
                </a:lnTo>
                <a:lnTo>
                  <a:pt x="1536299" y="340498"/>
                </a:lnTo>
                <a:lnTo>
                  <a:pt x="1530948" y="367006"/>
                </a:lnTo>
                <a:lnTo>
                  <a:pt x="1516353" y="388653"/>
                </a:lnTo>
                <a:lnTo>
                  <a:pt x="1494706" y="403248"/>
                </a:lnTo>
                <a:lnTo>
                  <a:pt x="1468198" y="408599"/>
                </a:lnTo>
                <a:close/>
              </a:path>
            </a:pathLst>
          </a:custGeom>
          <a:solidFill>
            <a:srgbClr val="EEEEEE"/>
          </a:solidFill>
        </p:spPr>
        <p:txBody>
          <a:bodyPr wrap="square" lIns="0" tIns="0" rIns="0" bIns="0" rtlCol="0"/>
          <a:lstStyle/>
          <a:p>
            <a:endParaRPr sz="2400"/>
          </a:p>
        </p:txBody>
      </p:sp>
      <p:sp>
        <p:nvSpPr>
          <p:cNvPr id="31" name="object 31"/>
          <p:cNvSpPr/>
          <p:nvPr/>
        </p:nvSpPr>
        <p:spPr>
          <a:xfrm>
            <a:off x="8099336" y="2713200"/>
            <a:ext cx="2048933" cy="545253"/>
          </a:xfrm>
          <a:custGeom>
            <a:avLst/>
            <a:gdLst/>
            <a:ahLst/>
            <a:cxnLst/>
            <a:rect l="l" t="t" r="r" b="b"/>
            <a:pathLst>
              <a:path w="1536700" h="408939">
                <a:moveTo>
                  <a:pt x="0" y="68101"/>
                </a:moveTo>
                <a:lnTo>
                  <a:pt x="5351" y="41593"/>
                </a:lnTo>
                <a:lnTo>
                  <a:pt x="19946" y="19946"/>
                </a:lnTo>
                <a:lnTo>
                  <a:pt x="41593" y="5351"/>
                </a:lnTo>
                <a:lnTo>
                  <a:pt x="68101" y="0"/>
                </a:lnTo>
                <a:lnTo>
                  <a:pt x="1468198" y="0"/>
                </a:lnTo>
                <a:lnTo>
                  <a:pt x="1505981" y="11441"/>
                </a:lnTo>
                <a:lnTo>
                  <a:pt x="1531116" y="42040"/>
                </a:lnTo>
                <a:lnTo>
                  <a:pt x="1536299" y="68101"/>
                </a:lnTo>
                <a:lnTo>
                  <a:pt x="1536299" y="340498"/>
                </a:lnTo>
                <a:lnTo>
                  <a:pt x="1530948" y="367006"/>
                </a:lnTo>
                <a:lnTo>
                  <a:pt x="1516353" y="388653"/>
                </a:lnTo>
                <a:lnTo>
                  <a:pt x="1494706" y="403248"/>
                </a:lnTo>
                <a:lnTo>
                  <a:pt x="14681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32" name="object 32"/>
          <p:cNvSpPr/>
          <p:nvPr/>
        </p:nvSpPr>
        <p:spPr>
          <a:xfrm>
            <a:off x="1274283" y="2721900"/>
            <a:ext cx="1296247" cy="545253"/>
          </a:xfrm>
          <a:custGeom>
            <a:avLst/>
            <a:gdLst/>
            <a:ahLst/>
            <a:cxnLst/>
            <a:rect l="l" t="t" r="r" b="b"/>
            <a:pathLst>
              <a:path w="972185" h="408939">
                <a:moveTo>
                  <a:pt x="9035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903598" y="0"/>
                </a:lnTo>
                <a:lnTo>
                  <a:pt x="941381" y="11441"/>
                </a:lnTo>
                <a:lnTo>
                  <a:pt x="966516" y="42040"/>
                </a:lnTo>
                <a:lnTo>
                  <a:pt x="971699" y="68101"/>
                </a:lnTo>
                <a:lnTo>
                  <a:pt x="971699" y="340498"/>
                </a:lnTo>
                <a:lnTo>
                  <a:pt x="966348" y="367006"/>
                </a:lnTo>
                <a:lnTo>
                  <a:pt x="951753" y="388653"/>
                </a:lnTo>
                <a:lnTo>
                  <a:pt x="930106" y="403248"/>
                </a:lnTo>
                <a:lnTo>
                  <a:pt x="903598" y="408599"/>
                </a:lnTo>
                <a:close/>
              </a:path>
            </a:pathLst>
          </a:custGeom>
          <a:solidFill>
            <a:srgbClr val="EEEEEE"/>
          </a:solidFill>
        </p:spPr>
        <p:txBody>
          <a:bodyPr wrap="square" lIns="0" tIns="0" rIns="0" bIns="0" rtlCol="0"/>
          <a:lstStyle/>
          <a:p>
            <a:endParaRPr sz="2400"/>
          </a:p>
        </p:txBody>
      </p:sp>
      <p:sp>
        <p:nvSpPr>
          <p:cNvPr id="33" name="object 33"/>
          <p:cNvSpPr/>
          <p:nvPr/>
        </p:nvSpPr>
        <p:spPr>
          <a:xfrm>
            <a:off x="1274283" y="2721900"/>
            <a:ext cx="1296247" cy="545253"/>
          </a:xfrm>
          <a:custGeom>
            <a:avLst/>
            <a:gdLst/>
            <a:ahLst/>
            <a:cxnLst/>
            <a:rect l="l" t="t" r="r" b="b"/>
            <a:pathLst>
              <a:path w="972185" h="408939">
                <a:moveTo>
                  <a:pt x="0" y="68101"/>
                </a:moveTo>
                <a:lnTo>
                  <a:pt x="5351" y="41593"/>
                </a:lnTo>
                <a:lnTo>
                  <a:pt x="19946" y="19946"/>
                </a:lnTo>
                <a:lnTo>
                  <a:pt x="41593" y="5351"/>
                </a:lnTo>
                <a:lnTo>
                  <a:pt x="68101" y="0"/>
                </a:lnTo>
                <a:lnTo>
                  <a:pt x="903598" y="0"/>
                </a:lnTo>
                <a:lnTo>
                  <a:pt x="941381" y="11441"/>
                </a:lnTo>
                <a:lnTo>
                  <a:pt x="966516" y="42040"/>
                </a:lnTo>
                <a:lnTo>
                  <a:pt x="971699" y="68101"/>
                </a:lnTo>
                <a:lnTo>
                  <a:pt x="971699" y="340498"/>
                </a:lnTo>
                <a:lnTo>
                  <a:pt x="966348" y="367006"/>
                </a:lnTo>
                <a:lnTo>
                  <a:pt x="951753" y="388653"/>
                </a:lnTo>
                <a:lnTo>
                  <a:pt x="930106" y="403248"/>
                </a:lnTo>
                <a:lnTo>
                  <a:pt x="9035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34" name="object 34"/>
          <p:cNvSpPr txBox="1"/>
          <p:nvPr/>
        </p:nvSpPr>
        <p:spPr>
          <a:xfrm>
            <a:off x="1398245" y="2836379"/>
            <a:ext cx="8506460" cy="304421"/>
          </a:xfrm>
          <a:prstGeom prst="rect">
            <a:avLst/>
          </a:prstGeom>
        </p:spPr>
        <p:txBody>
          <a:bodyPr vert="horz" wrap="square" lIns="0" tIns="16933" rIns="0" bIns="0" rtlCol="0">
            <a:spAutoFit/>
          </a:bodyPr>
          <a:lstStyle/>
          <a:p>
            <a:pPr marL="16933">
              <a:spcBef>
                <a:spcPts val="133"/>
              </a:spcBef>
              <a:tabLst>
                <a:tab pos="6840896" algn="l"/>
              </a:tabLst>
            </a:pPr>
            <a:r>
              <a:rPr sz="1867" spc="-7" dirty="0">
                <a:latin typeface="Arial"/>
                <a:cs typeface="Arial"/>
              </a:rPr>
              <a:t>patrol_ai	</a:t>
            </a:r>
            <a:r>
              <a:rPr sz="2800" spc="-9" baseline="1984" dirty="0">
                <a:solidFill>
                  <a:srgbClr val="00FF00"/>
                </a:solidFill>
                <a:latin typeface="Arial"/>
                <a:cs typeface="Arial"/>
              </a:rPr>
              <a:t>damage_ahead</a:t>
            </a:r>
            <a:endParaRPr sz="2800" baseline="1984">
              <a:latin typeface="Arial"/>
              <a:cs typeface="Arial"/>
            </a:endParaRPr>
          </a:p>
        </p:txBody>
      </p:sp>
      <p:sp>
        <p:nvSpPr>
          <p:cNvPr id="35" name="object 35"/>
          <p:cNvSpPr/>
          <p:nvPr/>
        </p:nvSpPr>
        <p:spPr>
          <a:xfrm>
            <a:off x="1274283" y="2094466"/>
            <a:ext cx="949960" cy="545253"/>
          </a:xfrm>
          <a:custGeom>
            <a:avLst/>
            <a:gdLst/>
            <a:ahLst/>
            <a:cxnLst/>
            <a:rect l="l" t="t" r="r" b="b"/>
            <a:pathLst>
              <a:path w="712469" h="408939">
                <a:moveTo>
                  <a:pt x="6440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close/>
              </a:path>
            </a:pathLst>
          </a:custGeom>
          <a:solidFill>
            <a:srgbClr val="EEEEEE"/>
          </a:solidFill>
        </p:spPr>
        <p:txBody>
          <a:bodyPr wrap="square" lIns="0" tIns="0" rIns="0" bIns="0" rtlCol="0"/>
          <a:lstStyle/>
          <a:p>
            <a:endParaRPr sz="2400"/>
          </a:p>
        </p:txBody>
      </p:sp>
      <p:sp>
        <p:nvSpPr>
          <p:cNvPr id="36" name="object 36"/>
          <p:cNvSpPr/>
          <p:nvPr/>
        </p:nvSpPr>
        <p:spPr>
          <a:xfrm>
            <a:off x="1274283" y="2094466"/>
            <a:ext cx="949960" cy="545253"/>
          </a:xfrm>
          <a:custGeom>
            <a:avLst/>
            <a:gdLst/>
            <a:ahLst/>
            <a:cxnLst/>
            <a:rect l="l" t="t" r="r" b="b"/>
            <a:pathLst>
              <a:path w="712469" h="408939">
                <a:moveTo>
                  <a:pt x="0" y="68101"/>
                </a:move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37" name="object 37"/>
          <p:cNvSpPr txBox="1"/>
          <p:nvPr/>
        </p:nvSpPr>
        <p:spPr>
          <a:xfrm>
            <a:off x="1398244" y="2235795"/>
            <a:ext cx="7438813" cy="304421"/>
          </a:xfrm>
          <a:prstGeom prst="rect">
            <a:avLst/>
          </a:prstGeom>
        </p:spPr>
        <p:txBody>
          <a:bodyPr vert="horz" wrap="square" lIns="0" tIns="16933" rIns="0" bIns="0" rtlCol="0">
            <a:spAutoFit/>
          </a:bodyPr>
          <a:lstStyle/>
          <a:p>
            <a:pPr marL="16933">
              <a:spcBef>
                <a:spcPts val="133"/>
              </a:spcBef>
              <a:tabLst>
                <a:tab pos="3205400" algn="l"/>
                <a:tab pos="6840896" algn="l"/>
              </a:tabLst>
            </a:pPr>
            <a:r>
              <a:rPr sz="2800" baseline="5952" dirty="0">
                <a:solidFill>
                  <a:srgbClr val="FF0000"/>
                </a:solidFill>
                <a:latin typeface="Arial"/>
                <a:cs typeface="Arial"/>
              </a:rPr>
              <a:t>move	</a:t>
            </a:r>
            <a:r>
              <a:rPr sz="1867" spc="-7" dirty="0">
                <a:latin typeface="Arial"/>
                <a:cs typeface="Arial"/>
              </a:rPr>
              <a:t>hide_or_sho</a:t>
            </a:r>
            <a:r>
              <a:rPr sz="1867" dirty="0">
                <a:latin typeface="Arial"/>
                <a:cs typeface="Arial"/>
              </a:rPr>
              <a:t>w	</a:t>
            </a:r>
            <a:r>
              <a:rPr sz="2800" baseline="3968" dirty="0">
                <a:solidFill>
                  <a:srgbClr val="FF0000"/>
                </a:solidFill>
                <a:latin typeface="Arial"/>
                <a:cs typeface="Arial"/>
              </a:rPr>
              <a:t>move</a:t>
            </a:r>
            <a:endParaRPr sz="2800" baseline="3968">
              <a:latin typeface="Arial"/>
              <a:cs typeface="Arial"/>
            </a:endParaRPr>
          </a:p>
        </p:txBody>
      </p:sp>
      <p:sp>
        <p:nvSpPr>
          <p:cNvPr id="38" name="object 38"/>
          <p:cNvSpPr/>
          <p:nvPr/>
        </p:nvSpPr>
        <p:spPr>
          <a:xfrm>
            <a:off x="1279316" y="4965899"/>
            <a:ext cx="949960" cy="545253"/>
          </a:xfrm>
          <a:custGeom>
            <a:avLst/>
            <a:gdLst/>
            <a:ahLst/>
            <a:cxnLst/>
            <a:rect l="l" t="t" r="r" b="b"/>
            <a:pathLst>
              <a:path w="712469" h="408939">
                <a:moveTo>
                  <a:pt x="6440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close/>
              </a:path>
            </a:pathLst>
          </a:custGeom>
          <a:solidFill>
            <a:srgbClr val="EEEEEE"/>
          </a:solidFill>
        </p:spPr>
        <p:txBody>
          <a:bodyPr wrap="square" lIns="0" tIns="0" rIns="0" bIns="0" rtlCol="0"/>
          <a:lstStyle/>
          <a:p>
            <a:endParaRPr sz="2400"/>
          </a:p>
        </p:txBody>
      </p:sp>
      <p:sp>
        <p:nvSpPr>
          <p:cNvPr id="39" name="object 39"/>
          <p:cNvSpPr/>
          <p:nvPr/>
        </p:nvSpPr>
        <p:spPr>
          <a:xfrm>
            <a:off x="1279316" y="4965899"/>
            <a:ext cx="949960" cy="545253"/>
          </a:xfrm>
          <a:custGeom>
            <a:avLst/>
            <a:gdLst/>
            <a:ahLst/>
            <a:cxnLst/>
            <a:rect l="l" t="t" r="r" b="b"/>
            <a:pathLst>
              <a:path w="712469" h="408939">
                <a:moveTo>
                  <a:pt x="0" y="68101"/>
                </a:move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40" name="object 40"/>
          <p:cNvSpPr txBox="1"/>
          <p:nvPr/>
        </p:nvSpPr>
        <p:spPr>
          <a:xfrm>
            <a:off x="1403278" y="5080379"/>
            <a:ext cx="613833" cy="304421"/>
          </a:xfrm>
          <a:prstGeom prst="rect">
            <a:avLst/>
          </a:prstGeom>
        </p:spPr>
        <p:txBody>
          <a:bodyPr vert="horz" wrap="square" lIns="0" tIns="16933" rIns="0" bIns="0" rtlCol="0">
            <a:spAutoFit/>
          </a:bodyPr>
          <a:lstStyle/>
          <a:p>
            <a:pPr marL="16933">
              <a:spcBef>
                <a:spcPts val="133"/>
              </a:spcBef>
            </a:pPr>
            <a:r>
              <a:rPr sz="1867" dirty="0">
                <a:solidFill>
                  <a:srgbClr val="FF0000"/>
                </a:solidFill>
                <a:latin typeface="Arial"/>
                <a:cs typeface="Arial"/>
              </a:rPr>
              <a:t>move</a:t>
            </a:r>
            <a:endParaRPr sz="1867">
              <a:latin typeface="Arial"/>
              <a:cs typeface="Arial"/>
            </a:endParaRPr>
          </a:p>
        </p:txBody>
      </p:sp>
      <p:sp>
        <p:nvSpPr>
          <p:cNvPr id="41" name="object 41"/>
          <p:cNvSpPr/>
          <p:nvPr/>
        </p:nvSpPr>
        <p:spPr>
          <a:xfrm>
            <a:off x="4138166" y="3547167"/>
            <a:ext cx="3080173" cy="3223260"/>
          </a:xfrm>
          <a:custGeom>
            <a:avLst/>
            <a:gdLst/>
            <a:ahLst/>
            <a:cxnLst/>
            <a:rect l="l" t="t" r="r" b="b"/>
            <a:pathLst>
              <a:path w="2310129" h="2417445">
                <a:moveTo>
                  <a:pt x="1924992" y="2417099"/>
                </a:moveTo>
                <a:lnTo>
                  <a:pt x="385007" y="2417099"/>
                </a:lnTo>
                <a:lnTo>
                  <a:pt x="336713" y="2414100"/>
                </a:lnTo>
                <a:lnTo>
                  <a:pt x="290208" y="2405341"/>
                </a:lnTo>
                <a:lnTo>
                  <a:pt x="245855" y="2391184"/>
                </a:lnTo>
                <a:lnTo>
                  <a:pt x="204013" y="2371990"/>
                </a:lnTo>
                <a:lnTo>
                  <a:pt x="165044" y="2348119"/>
                </a:lnTo>
                <a:lnTo>
                  <a:pt x="129308" y="2319932"/>
                </a:lnTo>
                <a:lnTo>
                  <a:pt x="97167" y="2287791"/>
                </a:lnTo>
                <a:lnTo>
                  <a:pt x="68980" y="2252055"/>
                </a:lnTo>
                <a:lnTo>
                  <a:pt x="45109" y="2213086"/>
                </a:lnTo>
                <a:lnTo>
                  <a:pt x="25915" y="2171244"/>
                </a:lnTo>
                <a:lnTo>
                  <a:pt x="11758" y="2126891"/>
                </a:lnTo>
                <a:lnTo>
                  <a:pt x="2999" y="2080386"/>
                </a:lnTo>
                <a:lnTo>
                  <a:pt x="0" y="2032092"/>
                </a:lnTo>
                <a:lnTo>
                  <a:pt x="0" y="385007"/>
                </a:lnTo>
                <a:lnTo>
                  <a:pt x="2999" y="336713"/>
                </a:lnTo>
                <a:lnTo>
                  <a:pt x="11758" y="290208"/>
                </a:lnTo>
                <a:lnTo>
                  <a:pt x="25915" y="245855"/>
                </a:lnTo>
                <a:lnTo>
                  <a:pt x="45109" y="204013"/>
                </a:lnTo>
                <a:lnTo>
                  <a:pt x="68980" y="165044"/>
                </a:lnTo>
                <a:lnTo>
                  <a:pt x="97167" y="129308"/>
                </a:lnTo>
                <a:lnTo>
                  <a:pt x="129308" y="97167"/>
                </a:lnTo>
                <a:lnTo>
                  <a:pt x="165044" y="68980"/>
                </a:lnTo>
                <a:lnTo>
                  <a:pt x="204013" y="45109"/>
                </a:lnTo>
                <a:lnTo>
                  <a:pt x="245855" y="25915"/>
                </a:lnTo>
                <a:lnTo>
                  <a:pt x="290208" y="11758"/>
                </a:lnTo>
                <a:lnTo>
                  <a:pt x="336713" y="2999"/>
                </a:lnTo>
                <a:lnTo>
                  <a:pt x="385007" y="0"/>
                </a:lnTo>
                <a:lnTo>
                  <a:pt x="1924992" y="0"/>
                </a:lnTo>
                <a:lnTo>
                  <a:pt x="1975599" y="3338"/>
                </a:lnTo>
                <a:lnTo>
                  <a:pt x="2024910" y="13190"/>
                </a:lnTo>
                <a:lnTo>
                  <a:pt x="2072328" y="29306"/>
                </a:lnTo>
                <a:lnTo>
                  <a:pt x="2117253" y="51440"/>
                </a:lnTo>
                <a:lnTo>
                  <a:pt x="2159088" y="79342"/>
                </a:lnTo>
                <a:lnTo>
                  <a:pt x="2197233" y="112766"/>
                </a:lnTo>
                <a:lnTo>
                  <a:pt x="2230657" y="150911"/>
                </a:lnTo>
                <a:lnTo>
                  <a:pt x="2258559" y="192746"/>
                </a:lnTo>
                <a:lnTo>
                  <a:pt x="2280693" y="237671"/>
                </a:lnTo>
                <a:lnTo>
                  <a:pt x="2296809" y="285089"/>
                </a:lnTo>
                <a:lnTo>
                  <a:pt x="2306661" y="334400"/>
                </a:lnTo>
                <a:lnTo>
                  <a:pt x="2309999" y="385007"/>
                </a:lnTo>
                <a:lnTo>
                  <a:pt x="2309999" y="2032092"/>
                </a:lnTo>
                <a:lnTo>
                  <a:pt x="2307000" y="2080386"/>
                </a:lnTo>
                <a:lnTo>
                  <a:pt x="2298241" y="2126891"/>
                </a:lnTo>
                <a:lnTo>
                  <a:pt x="2284084" y="2171244"/>
                </a:lnTo>
                <a:lnTo>
                  <a:pt x="2264890" y="2213086"/>
                </a:lnTo>
                <a:lnTo>
                  <a:pt x="2241019" y="2252055"/>
                </a:lnTo>
                <a:lnTo>
                  <a:pt x="2212832" y="2287791"/>
                </a:lnTo>
                <a:lnTo>
                  <a:pt x="2180691" y="2319932"/>
                </a:lnTo>
                <a:lnTo>
                  <a:pt x="2144955" y="2348119"/>
                </a:lnTo>
                <a:lnTo>
                  <a:pt x="2105986" y="2371990"/>
                </a:lnTo>
                <a:lnTo>
                  <a:pt x="2064144" y="2391184"/>
                </a:lnTo>
                <a:lnTo>
                  <a:pt x="2019791" y="2405341"/>
                </a:lnTo>
                <a:lnTo>
                  <a:pt x="1973286" y="2414100"/>
                </a:lnTo>
                <a:lnTo>
                  <a:pt x="1924992" y="2417099"/>
                </a:lnTo>
                <a:close/>
              </a:path>
            </a:pathLst>
          </a:custGeom>
          <a:solidFill>
            <a:srgbClr val="EEEEEE"/>
          </a:solidFill>
        </p:spPr>
        <p:txBody>
          <a:bodyPr wrap="square" lIns="0" tIns="0" rIns="0" bIns="0" rtlCol="0"/>
          <a:lstStyle/>
          <a:p>
            <a:endParaRPr sz="2400"/>
          </a:p>
        </p:txBody>
      </p:sp>
      <p:sp>
        <p:nvSpPr>
          <p:cNvPr id="42" name="object 42"/>
          <p:cNvSpPr/>
          <p:nvPr/>
        </p:nvSpPr>
        <p:spPr>
          <a:xfrm>
            <a:off x="4138166" y="3547167"/>
            <a:ext cx="3080173" cy="3223260"/>
          </a:xfrm>
          <a:custGeom>
            <a:avLst/>
            <a:gdLst/>
            <a:ahLst/>
            <a:cxnLst/>
            <a:rect l="l" t="t" r="r" b="b"/>
            <a:pathLst>
              <a:path w="2310129" h="2417445">
                <a:moveTo>
                  <a:pt x="0" y="385007"/>
                </a:moveTo>
                <a:lnTo>
                  <a:pt x="2999" y="336713"/>
                </a:lnTo>
                <a:lnTo>
                  <a:pt x="11758" y="290208"/>
                </a:lnTo>
                <a:lnTo>
                  <a:pt x="25915" y="245855"/>
                </a:lnTo>
                <a:lnTo>
                  <a:pt x="45109" y="204013"/>
                </a:lnTo>
                <a:lnTo>
                  <a:pt x="68980" y="165044"/>
                </a:lnTo>
                <a:lnTo>
                  <a:pt x="97167" y="129308"/>
                </a:lnTo>
                <a:lnTo>
                  <a:pt x="129308" y="97167"/>
                </a:lnTo>
                <a:lnTo>
                  <a:pt x="165044" y="68980"/>
                </a:lnTo>
                <a:lnTo>
                  <a:pt x="204013" y="45109"/>
                </a:lnTo>
                <a:lnTo>
                  <a:pt x="245855" y="25915"/>
                </a:lnTo>
                <a:lnTo>
                  <a:pt x="290208" y="11758"/>
                </a:lnTo>
                <a:lnTo>
                  <a:pt x="336713" y="2999"/>
                </a:lnTo>
                <a:lnTo>
                  <a:pt x="385007" y="0"/>
                </a:lnTo>
                <a:lnTo>
                  <a:pt x="1924992" y="0"/>
                </a:lnTo>
                <a:lnTo>
                  <a:pt x="1975599" y="3338"/>
                </a:lnTo>
                <a:lnTo>
                  <a:pt x="2024910" y="13190"/>
                </a:lnTo>
                <a:lnTo>
                  <a:pt x="2072328" y="29306"/>
                </a:lnTo>
                <a:lnTo>
                  <a:pt x="2117253" y="51440"/>
                </a:lnTo>
                <a:lnTo>
                  <a:pt x="2159088" y="79342"/>
                </a:lnTo>
                <a:lnTo>
                  <a:pt x="2197233" y="112766"/>
                </a:lnTo>
                <a:lnTo>
                  <a:pt x="2230657" y="150911"/>
                </a:lnTo>
                <a:lnTo>
                  <a:pt x="2258559" y="192746"/>
                </a:lnTo>
                <a:lnTo>
                  <a:pt x="2280693" y="237671"/>
                </a:lnTo>
                <a:lnTo>
                  <a:pt x="2296809" y="285089"/>
                </a:lnTo>
                <a:lnTo>
                  <a:pt x="2306661" y="334400"/>
                </a:lnTo>
                <a:lnTo>
                  <a:pt x="2309999" y="385007"/>
                </a:lnTo>
                <a:lnTo>
                  <a:pt x="2309999" y="2032092"/>
                </a:lnTo>
                <a:lnTo>
                  <a:pt x="2307000" y="2080386"/>
                </a:lnTo>
                <a:lnTo>
                  <a:pt x="2298241" y="2126891"/>
                </a:lnTo>
                <a:lnTo>
                  <a:pt x="2284084" y="2171244"/>
                </a:lnTo>
                <a:lnTo>
                  <a:pt x="2264890" y="2213086"/>
                </a:lnTo>
                <a:lnTo>
                  <a:pt x="2241019" y="2252055"/>
                </a:lnTo>
                <a:lnTo>
                  <a:pt x="2212832" y="2287791"/>
                </a:lnTo>
                <a:lnTo>
                  <a:pt x="2180691" y="2319932"/>
                </a:lnTo>
                <a:lnTo>
                  <a:pt x="2144955" y="2348119"/>
                </a:lnTo>
                <a:lnTo>
                  <a:pt x="2105986" y="2371990"/>
                </a:lnTo>
                <a:lnTo>
                  <a:pt x="2064144" y="2391184"/>
                </a:lnTo>
                <a:lnTo>
                  <a:pt x="2019791" y="2405341"/>
                </a:lnTo>
                <a:lnTo>
                  <a:pt x="1973286" y="2414100"/>
                </a:lnTo>
                <a:lnTo>
                  <a:pt x="1924992" y="2417099"/>
                </a:lnTo>
                <a:lnTo>
                  <a:pt x="385007" y="2417099"/>
                </a:lnTo>
                <a:lnTo>
                  <a:pt x="336713" y="2414100"/>
                </a:lnTo>
                <a:lnTo>
                  <a:pt x="290208" y="2405341"/>
                </a:lnTo>
                <a:lnTo>
                  <a:pt x="245855" y="2391184"/>
                </a:lnTo>
                <a:lnTo>
                  <a:pt x="204013" y="2371990"/>
                </a:lnTo>
                <a:lnTo>
                  <a:pt x="165044" y="2348119"/>
                </a:lnTo>
                <a:lnTo>
                  <a:pt x="129308" y="2319932"/>
                </a:lnTo>
                <a:lnTo>
                  <a:pt x="97167" y="2287791"/>
                </a:lnTo>
                <a:lnTo>
                  <a:pt x="68980" y="2252055"/>
                </a:lnTo>
                <a:lnTo>
                  <a:pt x="45109" y="2213086"/>
                </a:lnTo>
                <a:lnTo>
                  <a:pt x="25915" y="2171244"/>
                </a:lnTo>
                <a:lnTo>
                  <a:pt x="11758" y="2126891"/>
                </a:lnTo>
                <a:lnTo>
                  <a:pt x="2999" y="2080386"/>
                </a:lnTo>
                <a:lnTo>
                  <a:pt x="0" y="2032092"/>
                </a:lnTo>
                <a:lnTo>
                  <a:pt x="0" y="385007"/>
                </a:lnTo>
                <a:close/>
              </a:path>
            </a:pathLst>
          </a:custGeom>
          <a:ln w="9524">
            <a:solidFill>
              <a:srgbClr val="595959"/>
            </a:solidFill>
          </a:ln>
        </p:spPr>
        <p:txBody>
          <a:bodyPr wrap="square" lIns="0" tIns="0" rIns="0" bIns="0" rtlCol="0"/>
          <a:lstStyle/>
          <a:p>
            <a:endParaRPr sz="2400"/>
          </a:p>
        </p:txBody>
      </p:sp>
      <p:sp>
        <p:nvSpPr>
          <p:cNvPr id="43" name="object 43"/>
          <p:cNvSpPr txBox="1"/>
          <p:nvPr/>
        </p:nvSpPr>
        <p:spPr>
          <a:xfrm>
            <a:off x="4385888" y="3785405"/>
            <a:ext cx="2168313" cy="304421"/>
          </a:xfrm>
          <a:prstGeom prst="rect">
            <a:avLst/>
          </a:prstGeom>
        </p:spPr>
        <p:txBody>
          <a:bodyPr vert="horz" wrap="square" lIns="0" tIns="16933" rIns="0" bIns="0" rtlCol="0">
            <a:spAutoFit/>
          </a:bodyPr>
          <a:lstStyle/>
          <a:p>
            <a:pPr marL="16933">
              <a:spcBef>
                <a:spcPts val="133"/>
              </a:spcBef>
            </a:pPr>
            <a:r>
              <a:rPr sz="1867" b="1" spc="-7" dirty="0">
                <a:latin typeface="Arial"/>
                <a:cs typeface="Arial"/>
              </a:rPr>
              <a:t>melee_shooty_guy</a:t>
            </a:r>
            <a:endParaRPr sz="1867">
              <a:latin typeface="Arial"/>
              <a:cs typeface="Arial"/>
            </a:endParaRPr>
          </a:p>
        </p:txBody>
      </p:sp>
      <p:sp>
        <p:nvSpPr>
          <p:cNvPr id="44" name="object 44"/>
          <p:cNvSpPr/>
          <p:nvPr/>
        </p:nvSpPr>
        <p:spPr>
          <a:xfrm>
            <a:off x="4458449" y="5479532"/>
            <a:ext cx="1771227" cy="545253"/>
          </a:xfrm>
          <a:custGeom>
            <a:avLst/>
            <a:gdLst/>
            <a:ahLst/>
            <a:cxnLst/>
            <a:rect l="l" t="t" r="r" b="b"/>
            <a:pathLst>
              <a:path w="1328420" h="408939">
                <a:moveTo>
                  <a:pt x="12596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259698" y="0"/>
                </a:lnTo>
                <a:lnTo>
                  <a:pt x="1297481" y="11441"/>
                </a:lnTo>
                <a:lnTo>
                  <a:pt x="1322616" y="42040"/>
                </a:lnTo>
                <a:lnTo>
                  <a:pt x="1327799" y="68101"/>
                </a:lnTo>
                <a:lnTo>
                  <a:pt x="1327799" y="340498"/>
                </a:lnTo>
                <a:lnTo>
                  <a:pt x="1322448" y="367006"/>
                </a:lnTo>
                <a:lnTo>
                  <a:pt x="1307853" y="388653"/>
                </a:lnTo>
                <a:lnTo>
                  <a:pt x="1286206" y="403248"/>
                </a:lnTo>
                <a:lnTo>
                  <a:pt x="1259698" y="408599"/>
                </a:lnTo>
                <a:close/>
              </a:path>
            </a:pathLst>
          </a:custGeom>
          <a:solidFill>
            <a:srgbClr val="EEEEEE"/>
          </a:solidFill>
        </p:spPr>
        <p:txBody>
          <a:bodyPr wrap="square" lIns="0" tIns="0" rIns="0" bIns="0" rtlCol="0"/>
          <a:lstStyle/>
          <a:p>
            <a:endParaRPr sz="2400"/>
          </a:p>
        </p:txBody>
      </p:sp>
      <p:sp>
        <p:nvSpPr>
          <p:cNvPr id="45" name="object 45"/>
          <p:cNvSpPr/>
          <p:nvPr/>
        </p:nvSpPr>
        <p:spPr>
          <a:xfrm>
            <a:off x="4458449" y="5479532"/>
            <a:ext cx="1771227" cy="545253"/>
          </a:xfrm>
          <a:custGeom>
            <a:avLst/>
            <a:gdLst/>
            <a:ahLst/>
            <a:cxnLst/>
            <a:rect l="l" t="t" r="r" b="b"/>
            <a:pathLst>
              <a:path w="1328420" h="408939">
                <a:moveTo>
                  <a:pt x="0" y="68101"/>
                </a:moveTo>
                <a:lnTo>
                  <a:pt x="5351" y="41593"/>
                </a:lnTo>
                <a:lnTo>
                  <a:pt x="19946" y="19946"/>
                </a:lnTo>
                <a:lnTo>
                  <a:pt x="41593" y="5351"/>
                </a:lnTo>
                <a:lnTo>
                  <a:pt x="68101" y="0"/>
                </a:lnTo>
                <a:lnTo>
                  <a:pt x="1259698" y="0"/>
                </a:lnTo>
                <a:lnTo>
                  <a:pt x="1297481" y="11441"/>
                </a:lnTo>
                <a:lnTo>
                  <a:pt x="1322616" y="42040"/>
                </a:lnTo>
                <a:lnTo>
                  <a:pt x="1327799" y="68101"/>
                </a:lnTo>
                <a:lnTo>
                  <a:pt x="1327799" y="340498"/>
                </a:lnTo>
                <a:lnTo>
                  <a:pt x="1322448" y="367006"/>
                </a:lnTo>
                <a:lnTo>
                  <a:pt x="1307853" y="388653"/>
                </a:lnTo>
                <a:lnTo>
                  <a:pt x="1286206" y="403248"/>
                </a:lnTo>
                <a:lnTo>
                  <a:pt x="12596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46" name="object 46"/>
          <p:cNvSpPr txBox="1"/>
          <p:nvPr/>
        </p:nvSpPr>
        <p:spPr>
          <a:xfrm>
            <a:off x="4582411" y="5594013"/>
            <a:ext cx="1313180" cy="304421"/>
          </a:xfrm>
          <a:prstGeom prst="rect">
            <a:avLst/>
          </a:prstGeom>
        </p:spPr>
        <p:txBody>
          <a:bodyPr vert="horz" wrap="square" lIns="0" tIns="16933" rIns="0" bIns="0" rtlCol="0">
            <a:spAutoFit/>
          </a:bodyPr>
          <a:lstStyle/>
          <a:p>
            <a:pPr marL="16933">
              <a:spcBef>
                <a:spcPts val="133"/>
              </a:spcBef>
            </a:pPr>
            <a:r>
              <a:rPr sz="1867" dirty="0">
                <a:solidFill>
                  <a:srgbClr val="0000FF"/>
                </a:solidFill>
                <a:latin typeface="Arial"/>
                <a:cs typeface="Arial"/>
              </a:rPr>
              <a:t>shoot_bullet</a:t>
            </a:r>
            <a:endParaRPr sz="1867">
              <a:latin typeface="Arial"/>
              <a:cs typeface="Arial"/>
            </a:endParaRPr>
          </a:p>
        </p:txBody>
      </p:sp>
      <p:sp>
        <p:nvSpPr>
          <p:cNvPr id="47" name="object 47"/>
          <p:cNvSpPr/>
          <p:nvPr/>
        </p:nvSpPr>
        <p:spPr>
          <a:xfrm>
            <a:off x="4458466" y="4852100"/>
            <a:ext cx="2546773" cy="545253"/>
          </a:xfrm>
          <a:custGeom>
            <a:avLst/>
            <a:gdLst/>
            <a:ahLst/>
            <a:cxnLst/>
            <a:rect l="l" t="t" r="r" b="b"/>
            <a:pathLst>
              <a:path w="1910079" h="408939">
                <a:moveTo>
                  <a:pt x="18413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841398" y="0"/>
                </a:lnTo>
                <a:lnTo>
                  <a:pt x="1879181" y="11441"/>
                </a:lnTo>
                <a:lnTo>
                  <a:pt x="1904316" y="42040"/>
                </a:lnTo>
                <a:lnTo>
                  <a:pt x="1909499" y="68101"/>
                </a:lnTo>
                <a:lnTo>
                  <a:pt x="1909499" y="340498"/>
                </a:lnTo>
                <a:lnTo>
                  <a:pt x="1904148" y="367006"/>
                </a:lnTo>
                <a:lnTo>
                  <a:pt x="1889553" y="388653"/>
                </a:lnTo>
                <a:lnTo>
                  <a:pt x="1867906" y="403248"/>
                </a:lnTo>
                <a:lnTo>
                  <a:pt x="1841398" y="408599"/>
                </a:lnTo>
                <a:close/>
              </a:path>
            </a:pathLst>
          </a:custGeom>
          <a:solidFill>
            <a:srgbClr val="EEEEEE"/>
          </a:solidFill>
        </p:spPr>
        <p:txBody>
          <a:bodyPr wrap="square" lIns="0" tIns="0" rIns="0" bIns="0" rtlCol="0"/>
          <a:lstStyle/>
          <a:p>
            <a:endParaRPr sz="2400"/>
          </a:p>
        </p:txBody>
      </p:sp>
      <p:sp>
        <p:nvSpPr>
          <p:cNvPr id="48" name="object 48"/>
          <p:cNvSpPr/>
          <p:nvPr/>
        </p:nvSpPr>
        <p:spPr>
          <a:xfrm>
            <a:off x="4458466" y="4852100"/>
            <a:ext cx="2546773" cy="545253"/>
          </a:xfrm>
          <a:custGeom>
            <a:avLst/>
            <a:gdLst/>
            <a:ahLst/>
            <a:cxnLst/>
            <a:rect l="l" t="t" r="r" b="b"/>
            <a:pathLst>
              <a:path w="1910079" h="408939">
                <a:moveTo>
                  <a:pt x="0" y="68101"/>
                </a:moveTo>
                <a:lnTo>
                  <a:pt x="5351" y="41593"/>
                </a:lnTo>
                <a:lnTo>
                  <a:pt x="19946" y="19946"/>
                </a:lnTo>
                <a:lnTo>
                  <a:pt x="41593" y="5351"/>
                </a:lnTo>
                <a:lnTo>
                  <a:pt x="68101" y="0"/>
                </a:lnTo>
                <a:lnTo>
                  <a:pt x="1841398" y="0"/>
                </a:lnTo>
                <a:lnTo>
                  <a:pt x="1879181" y="11441"/>
                </a:lnTo>
                <a:lnTo>
                  <a:pt x="1904316" y="42040"/>
                </a:lnTo>
                <a:lnTo>
                  <a:pt x="1909499" y="68101"/>
                </a:lnTo>
                <a:lnTo>
                  <a:pt x="1909499" y="340498"/>
                </a:lnTo>
                <a:lnTo>
                  <a:pt x="1904148" y="367006"/>
                </a:lnTo>
                <a:lnTo>
                  <a:pt x="1889553" y="388653"/>
                </a:lnTo>
                <a:lnTo>
                  <a:pt x="1867906" y="403248"/>
                </a:lnTo>
                <a:lnTo>
                  <a:pt x="18413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49" name="object 49"/>
          <p:cNvSpPr txBox="1"/>
          <p:nvPr/>
        </p:nvSpPr>
        <p:spPr>
          <a:xfrm>
            <a:off x="4582427" y="4966579"/>
            <a:ext cx="2235200" cy="304421"/>
          </a:xfrm>
          <a:prstGeom prst="rect">
            <a:avLst/>
          </a:prstGeom>
        </p:spPr>
        <p:txBody>
          <a:bodyPr vert="horz" wrap="square" lIns="0" tIns="16933" rIns="0" bIns="0" rtlCol="0">
            <a:spAutoFit/>
          </a:bodyPr>
          <a:lstStyle/>
          <a:p>
            <a:pPr marL="16933">
              <a:spcBef>
                <a:spcPts val="133"/>
              </a:spcBef>
            </a:pPr>
            <a:r>
              <a:rPr sz="1867" spc="-7" dirty="0">
                <a:latin typeface="Arial"/>
                <a:cs typeface="Arial"/>
              </a:rPr>
              <a:t>patrol_and_chase_ai</a:t>
            </a:r>
            <a:endParaRPr sz="1867">
              <a:latin typeface="Arial"/>
              <a:cs typeface="Arial"/>
            </a:endParaRPr>
          </a:p>
        </p:txBody>
      </p:sp>
      <p:sp>
        <p:nvSpPr>
          <p:cNvPr id="50" name="object 50"/>
          <p:cNvSpPr/>
          <p:nvPr/>
        </p:nvSpPr>
        <p:spPr>
          <a:xfrm>
            <a:off x="4458449" y="4224667"/>
            <a:ext cx="949960" cy="545253"/>
          </a:xfrm>
          <a:custGeom>
            <a:avLst/>
            <a:gdLst/>
            <a:ahLst/>
            <a:cxnLst/>
            <a:rect l="l" t="t" r="r" b="b"/>
            <a:pathLst>
              <a:path w="712470" h="408939">
                <a:moveTo>
                  <a:pt x="6440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close/>
              </a:path>
            </a:pathLst>
          </a:custGeom>
          <a:solidFill>
            <a:srgbClr val="EEEEEE"/>
          </a:solidFill>
        </p:spPr>
        <p:txBody>
          <a:bodyPr wrap="square" lIns="0" tIns="0" rIns="0" bIns="0" rtlCol="0"/>
          <a:lstStyle/>
          <a:p>
            <a:endParaRPr sz="2400"/>
          </a:p>
        </p:txBody>
      </p:sp>
      <p:sp>
        <p:nvSpPr>
          <p:cNvPr id="51" name="object 51"/>
          <p:cNvSpPr/>
          <p:nvPr/>
        </p:nvSpPr>
        <p:spPr>
          <a:xfrm>
            <a:off x="4458449" y="4224667"/>
            <a:ext cx="949960" cy="545253"/>
          </a:xfrm>
          <a:custGeom>
            <a:avLst/>
            <a:gdLst/>
            <a:ahLst/>
            <a:cxnLst/>
            <a:rect l="l" t="t" r="r" b="b"/>
            <a:pathLst>
              <a:path w="712470" h="408939">
                <a:moveTo>
                  <a:pt x="0" y="68101"/>
                </a:moveTo>
                <a:lnTo>
                  <a:pt x="5351" y="41593"/>
                </a:lnTo>
                <a:lnTo>
                  <a:pt x="19946" y="19946"/>
                </a:lnTo>
                <a:lnTo>
                  <a:pt x="41593" y="5351"/>
                </a:lnTo>
                <a:lnTo>
                  <a:pt x="68101" y="0"/>
                </a:lnTo>
                <a:lnTo>
                  <a:pt x="644098" y="0"/>
                </a:lnTo>
                <a:lnTo>
                  <a:pt x="681881" y="11441"/>
                </a:lnTo>
                <a:lnTo>
                  <a:pt x="707016" y="42040"/>
                </a:lnTo>
                <a:lnTo>
                  <a:pt x="712199" y="68101"/>
                </a:lnTo>
                <a:lnTo>
                  <a:pt x="712199" y="340498"/>
                </a:lnTo>
                <a:lnTo>
                  <a:pt x="706848" y="367006"/>
                </a:lnTo>
                <a:lnTo>
                  <a:pt x="692253" y="388653"/>
                </a:lnTo>
                <a:lnTo>
                  <a:pt x="670606" y="403248"/>
                </a:lnTo>
                <a:lnTo>
                  <a:pt x="6440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52" name="object 52"/>
          <p:cNvSpPr txBox="1"/>
          <p:nvPr/>
        </p:nvSpPr>
        <p:spPr>
          <a:xfrm>
            <a:off x="4582412" y="4339146"/>
            <a:ext cx="613833" cy="304421"/>
          </a:xfrm>
          <a:prstGeom prst="rect">
            <a:avLst/>
          </a:prstGeom>
        </p:spPr>
        <p:txBody>
          <a:bodyPr vert="horz" wrap="square" lIns="0" tIns="16933" rIns="0" bIns="0" rtlCol="0">
            <a:spAutoFit/>
          </a:bodyPr>
          <a:lstStyle/>
          <a:p>
            <a:pPr marL="16933">
              <a:spcBef>
                <a:spcPts val="133"/>
              </a:spcBef>
            </a:pPr>
            <a:r>
              <a:rPr sz="1867" dirty="0">
                <a:solidFill>
                  <a:srgbClr val="FF0000"/>
                </a:solidFill>
                <a:latin typeface="Arial"/>
                <a:cs typeface="Arial"/>
              </a:rPr>
              <a:t>move</a:t>
            </a:r>
            <a:endParaRPr sz="1867">
              <a:latin typeface="Arial"/>
              <a:cs typeface="Arial"/>
            </a:endParaRPr>
          </a:p>
        </p:txBody>
      </p:sp>
      <p:sp>
        <p:nvSpPr>
          <p:cNvPr id="53" name="object 53"/>
          <p:cNvSpPr/>
          <p:nvPr/>
        </p:nvSpPr>
        <p:spPr>
          <a:xfrm>
            <a:off x="4463736" y="6106967"/>
            <a:ext cx="2048933" cy="545253"/>
          </a:xfrm>
          <a:custGeom>
            <a:avLst/>
            <a:gdLst/>
            <a:ahLst/>
            <a:cxnLst/>
            <a:rect l="l" t="t" r="r" b="b"/>
            <a:pathLst>
              <a:path w="1536700" h="408939">
                <a:moveTo>
                  <a:pt x="1468198" y="408599"/>
                </a:moveTo>
                <a:lnTo>
                  <a:pt x="68101" y="408599"/>
                </a:lnTo>
                <a:lnTo>
                  <a:pt x="41593" y="403248"/>
                </a:lnTo>
                <a:lnTo>
                  <a:pt x="19946" y="388653"/>
                </a:lnTo>
                <a:lnTo>
                  <a:pt x="5351" y="367006"/>
                </a:lnTo>
                <a:lnTo>
                  <a:pt x="0" y="340498"/>
                </a:lnTo>
                <a:lnTo>
                  <a:pt x="0" y="68101"/>
                </a:lnTo>
                <a:lnTo>
                  <a:pt x="5351" y="41593"/>
                </a:lnTo>
                <a:lnTo>
                  <a:pt x="19946" y="19946"/>
                </a:lnTo>
                <a:lnTo>
                  <a:pt x="41593" y="5351"/>
                </a:lnTo>
                <a:lnTo>
                  <a:pt x="68101" y="0"/>
                </a:lnTo>
                <a:lnTo>
                  <a:pt x="1468198" y="0"/>
                </a:lnTo>
                <a:lnTo>
                  <a:pt x="1505981" y="11441"/>
                </a:lnTo>
                <a:lnTo>
                  <a:pt x="1531116" y="42040"/>
                </a:lnTo>
                <a:lnTo>
                  <a:pt x="1536299" y="68101"/>
                </a:lnTo>
                <a:lnTo>
                  <a:pt x="1536299" y="340498"/>
                </a:lnTo>
                <a:lnTo>
                  <a:pt x="1530948" y="367006"/>
                </a:lnTo>
                <a:lnTo>
                  <a:pt x="1516353" y="388653"/>
                </a:lnTo>
                <a:lnTo>
                  <a:pt x="1494706" y="403248"/>
                </a:lnTo>
                <a:lnTo>
                  <a:pt x="1468198" y="408599"/>
                </a:lnTo>
                <a:close/>
              </a:path>
            </a:pathLst>
          </a:custGeom>
          <a:solidFill>
            <a:srgbClr val="EEEEEE"/>
          </a:solidFill>
        </p:spPr>
        <p:txBody>
          <a:bodyPr wrap="square" lIns="0" tIns="0" rIns="0" bIns="0" rtlCol="0"/>
          <a:lstStyle/>
          <a:p>
            <a:endParaRPr sz="2400"/>
          </a:p>
        </p:txBody>
      </p:sp>
      <p:sp>
        <p:nvSpPr>
          <p:cNvPr id="54" name="object 54"/>
          <p:cNvSpPr/>
          <p:nvPr/>
        </p:nvSpPr>
        <p:spPr>
          <a:xfrm>
            <a:off x="4463736" y="6106967"/>
            <a:ext cx="2048933" cy="545253"/>
          </a:xfrm>
          <a:custGeom>
            <a:avLst/>
            <a:gdLst/>
            <a:ahLst/>
            <a:cxnLst/>
            <a:rect l="l" t="t" r="r" b="b"/>
            <a:pathLst>
              <a:path w="1536700" h="408939">
                <a:moveTo>
                  <a:pt x="0" y="68101"/>
                </a:moveTo>
                <a:lnTo>
                  <a:pt x="5351" y="41593"/>
                </a:lnTo>
                <a:lnTo>
                  <a:pt x="19946" y="19946"/>
                </a:lnTo>
                <a:lnTo>
                  <a:pt x="41593" y="5351"/>
                </a:lnTo>
                <a:lnTo>
                  <a:pt x="68101" y="0"/>
                </a:lnTo>
                <a:lnTo>
                  <a:pt x="1468198" y="0"/>
                </a:lnTo>
                <a:lnTo>
                  <a:pt x="1505981" y="11441"/>
                </a:lnTo>
                <a:lnTo>
                  <a:pt x="1531116" y="42040"/>
                </a:lnTo>
                <a:lnTo>
                  <a:pt x="1536299" y="68101"/>
                </a:lnTo>
                <a:lnTo>
                  <a:pt x="1536299" y="340498"/>
                </a:lnTo>
                <a:lnTo>
                  <a:pt x="1530948" y="367006"/>
                </a:lnTo>
                <a:lnTo>
                  <a:pt x="1516353" y="388653"/>
                </a:lnTo>
                <a:lnTo>
                  <a:pt x="1494706" y="403248"/>
                </a:lnTo>
                <a:lnTo>
                  <a:pt x="1468198" y="408599"/>
                </a:lnTo>
                <a:lnTo>
                  <a:pt x="68101" y="408599"/>
                </a:lnTo>
                <a:lnTo>
                  <a:pt x="41593" y="403248"/>
                </a:lnTo>
                <a:lnTo>
                  <a:pt x="19946" y="388653"/>
                </a:lnTo>
                <a:lnTo>
                  <a:pt x="5351" y="367006"/>
                </a:lnTo>
                <a:lnTo>
                  <a:pt x="0" y="340498"/>
                </a:lnTo>
                <a:lnTo>
                  <a:pt x="0" y="68101"/>
                </a:lnTo>
                <a:close/>
              </a:path>
            </a:pathLst>
          </a:custGeom>
          <a:ln w="9524">
            <a:solidFill>
              <a:srgbClr val="595959"/>
            </a:solidFill>
          </a:ln>
        </p:spPr>
        <p:txBody>
          <a:bodyPr wrap="square" lIns="0" tIns="0" rIns="0" bIns="0" rtlCol="0"/>
          <a:lstStyle/>
          <a:p>
            <a:endParaRPr sz="2400"/>
          </a:p>
        </p:txBody>
      </p:sp>
      <p:sp>
        <p:nvSpPr>
          <p:cNvPr id="55" name="object 55"/>
          <p:cNvSpPr txBox="1"/>
          <p:nvPr/>
        </p:nvSpPr>
        <p:spPr>
          <a:xfrm>
            <a:off x="4587697" y="6221446"/>
            <a:ext cx="1681480" cy="304421"/>
          </a:xfrm>
          <a:prstGeom prst="rect">
            <a:avLst/>
          </a:prstGeom>
        </p:spPr>
        <p:txBody>
          <a:bodyPr vert="horz" wrap="square" lIns="0" tIns="16933" rIns="0" bIns="0" rtlCol="0">
            <a:spAutoFit/>
          </a:bodyPr>
          <a:lstStyle/>
          <a:p>
            <a:pPr marL="16933">
              <a:spcBef>
                <a:spcPts val="133"/>
              </a:spcBef>
            </a:pPr>
            <a:r>
              <a:rPr sz="1867" spc="-7" dirty="0">
                <a:solidFill>
                  <a:srgbClr val="00FF00"/>
                </a:solidFill>
                <a:latin typeface="Arial"/>
                <a:cs typeface="Arial"/>
              </a:rPr>
              <a:t>damage_ahead</a:t>
            </a:r>
            <a:endParaRPr sz="1867">
              <a:latin typeface="Arial"/>
              <a:cs typeface="Arial"/>
            </a:endParaRPr>
          </a:p>
        </p:txBody>
      </p:sp>
    </p:spTree>
    <p:extLst>
      <p:ext uri="{BB962C8B-B14F-4D97-AF65-F5344CB8AC3E}">
        <p14:creationId xmlns:p14="http://schemas.microsoft.com/office/powerpoint/2010/main" val="2071727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908642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The </a:t>
            </a:r>
            <a:r>
              <a:rPr sz="3733" spc="-13" dirty="0"/>
              <a:t>ShootyGuy </a:t>
            </a:r>
            <a:r>
              <a:rPr sz="3733" spc="-7" dirty="0"/>
              <a:t>entity </a:t>
            </a:r>
            <a:r>
              <a:rPr sz="3733" dirty="0"/>
              <a:t>model</a:t>
            </a:r>
            <a:r>
              <a:rPr sz="3733" spc="-120" dirty="0"/>
              <a:t> </a:t>
            </a:r>
            <a:r>
              <a:rPr sz="3733" dirty="0"/>
              <a:t>(Composition)</a:t>
            </a:r>
            <a:endParaRPr sz="3733"/>
          </a:p>
        </p:txBody>
      </p:sp>
      <p:sp>
        <p:nvSpPr>
          <p:cNvPr id="3" name="object 3"/>
          <p:cNvSpPr txBox="1"/>
          <p:nvPr/>
        </p:nvSpPr>
        <p:spPr>
          <a:xfrm>
            <a:off x="512968" y="1625872"/>
            <a:ext cx="4423833" cy="4650783"/>
          </a:xfrm>
          <a:prstGeom prst="rect">
            <a:avLst/>
          </a:prstGeom>
        </p:spPr>
        <p:txBody>
          <a:bodyPr vert="horz" wrap="square" lIns="0" tIns="26247" rIns="0" bIns="0" rtlCol="0">
            <a:spAutoFit/>
          </a:bodyPr>
          <a:lstStyle/>
          <a:p>
            <a:pPr marL="16933" marR="493594">
              <a:lnSpc>
                <a:spcPts val="1907"/>
              </a:lnSpc>
              <a:spcBef>
                <a:spcPts val="207"/>
              </a:spcBef>
            </a:pPr>
            <a:r>
              <a:rPr sz="1600" spc="-7" dirty="0">
                <a:solidFill>
                  <a:srgbClr val="0000FF"/>
                </a:solidFill>
                <a:latin typeface="Courier New"/>
                <a:cs typeface="Courier New"/>
              </a:rPr>
              <a:t>struct </a:t>
            </a:r>
            <a:r>
              <a:rPr sz="1600" spc="-7" dirty="0">
                <a:solidFill>
                  <a:srgbClr val="76A5AE"/>
                </a:solidFill>
                <a:latin typeface="Courier New"/>
                <a:cs typeface="Courier New"/>
              </a:rPr>
              <a:t>ga_move </a:t>
            </a:r>
            <a:r>
              <a:rPr sz="1600" spc="-7" dirty="0">
                <a:solidFill>
                  <a:srgbClr val="0000FF"/>
                </a:solidFill>
                <a:latin typeface="Courier New"/>
                <a:cs typeface="Courier New"/>
              </a:rPr>
              <a:t>final </a:t>
            </a:r>
            <a:r>
              <a:rPr sz="1600" spc="-7" dirty="0">
                <a:solidFill>
                  <a:srgbClr val="595959"/>
                </a:solidFill>
                <a:latin typeface="Courier New"/>
                <a:cs typeface="Courier New"/>
              </a:rPr>
              <a:t>{...};  </a:t>
            </a:r>
            <a:r>
              <a:rPr sz="1600" spc="-7" dirty="0">
                <a:solidFill>
                  <a:srgbClr val="0000FF"/>
                </a:solidFill>
                <a:latin typeface="Courier New"/>
                <a:cs typeface="Courier New"/>
              </a:rPr>
              <a:t>struct </a:t>
            </a:r>
            <a:r>
              <a:rPr sz="1600" spc="-7" dirty="0">
                <a:solidFill>
                  <a:srgbClr val="76A5AE"/>
                </a:solidFill>
                <a:latin typeface="Courier New"/>
                <a:cs typeface="Courier New"/>
              </a:rPr>
              <a:t>ga_patrol_ai </a:t>
            </a:r>
            <a:r>
              <a:rPr sz="1600" spc="-7" dirty="0">
                <a:solidFill>
                  <a:srgbClr val="0000FF"/>
                </a:solidFill>
                <a:latin typeface="Courier New"/>
                <a:cs typeface="Courier New"/>
              </a:rPr>
              <a:t>final</a:t>
            </a:r>
            <a:r>
              <a:rPr sz="1600" spc="-93" dirty="0">
                <a:solidFill>
                  <a:srgbClr val="0000FF"/>
                </a:solidFill>
                <a:latin typeface="Courier New"/>
                <a:cs typeface="Courier New"/>
              </a:rPr>
              <a:t> </a:t>
            </a:r>
            <a:r>
              <a:rPr sz="1600" spc="-7" dirty="0">
                <a:solidFill>
                  <a:srgbClr val="595959"/>
                </a:solidFill>
                <a:latin typeface="Courier New"/>
                <a:cs typeface="Courier New"/>
              </a:rPr>
              <a:t>{...};</a:t>
            </a:r>
            <a:endParaRPr sz="1600">
              <a:latin typeface="Courier New"/>
              <a:cs typeface="Courier New"/>
            </a:endParaRPr>
          </a:p>
          <a:p>
            <a:pPr marL="16933">
              <a:lnSpc>
                <a:spcPts val="1820"/>
              </a:lnSpc>
            </a:pPr>
            <a:r>
              <a:rPr sz="1600" spc="-7" dirty="0">
                <a:solidFill>
                  <a:srgbClr val="0000FF"/>
                </a:solidFill>
                <a:latin typeface="Courier New"/>
                <a:cs typeface="Courier New"/>
              </a:rPr>
              <a:t>struct </a:t>
            </a:r>
            <a:r>
              <a:rPr sz="1600" spc="-7" dirty="0">
                <a:solidFill>
                  <a:srgbClr val="76A5AE"/>
                </a:solidFill>
                <a:latin typeface="Courier New"/>
                <a:cs typeface="Courier New"/>
              </a:rPr>
              <a:t>ga_shoot_bullet </a:t>
            </a:r>
            <a:r>
              <a:rPr sz="1600" spc="-7" dirty="0">
                <a:solidFill>
                  <a:srgbClr val="0000FF"/>
                </a:solidFill>
                <a:latin typeface="Courier New"/>
                <a:cs typeface="Courier New"/>
              </a:rPr>
              <a:t>final</a:t>
            </a:r>
            <a:r>
              <a:rPr sz="1600" spc="-100" dirty="0">
                <a:solidFill>
                  <a:srgbClr val="0000FF"/>
                </a:solidFill>
                <a:latin typeface="Courier New"/>
                <a:cs typeface="Courier New"/>
              </a:rPr>
              <a:t> </a:t>
            </a:r>
            <a:r>
              <a:rPr sz="1600" spc="-7" dirty="0">
                <a:solidFill>
                  <a:srgbClr val="595959"/>
                </a:solidFill>
                <a:latin typeface="Courier New"/>
                <a:cs typeface="Courier New"/>
              </a:rPr>
              <a:t>{...};</a:t>
            </a:r>
            <a:endParaRPr sz="1600">
              <a:latin typeface="Courier New"/>
              <a:cs typeface="Courier New"/>
            </a:endParaRPr>
          </a:p>
          <a:p>
            <a:pPr marL="16933" marR="127843">
              <a:lnSpc>
                <a:spcPts val="1907"/>
              </a:lnSpc>
              <a:spcBef>
                <a:spcPts val="67"/>
              </a:spcBef>
            </a:pPr>
            <a:r>
              <a:rPr sz="1600" spc="-7" dirty="0">
                <a:solidFill>
                  <a:srgbClr val="0000FF"/>
                </a:solidFill>
                <a:latin typeface="Courier New"/>
                <a:cs typeface="Courier New"/>
              </a:rPr>
              <a:t>struct </a:t>
            </a:r>
            <a:r>
              <a:rPr sz="1600" spc="-7" dirty="0">
                <a:solidFill>
                  <a:srgbClr val="76A5AE"/>
                </a:solidFill>
                <a:latin typeface="Courier New"/>
                <a:cs typeface="Courier New"/>
              </a:rPr>
              <a:t>ga_chase_ai </a:t>
            </a:r>
            <a:r>
              <a:rPr sz="1600" spc="-7" dirty="0">
                <a:solidFill>
                  <a:srgbClr val="0000FF"/>
                </a:solidFill>
                <a:latin typeface="Courier New"/>
                <a:cs typeface="Courier New"/>
              </a:rPr>
              <a:t>final </a:t>
            </a:r>
            <a:r>
              <a:rPr sz="1600" spc="-7" dirty="0">
                <a:solidFill>
                  <a:srgbClr val="595959"/>
                </a:solidFill>
                <a:latin typeface="Courier New"/>
                <a:cs typeface="Courier New"/>
              </a:rPr>
              <a:t>{...};  </a:t>
            </a:r>
            <a:r>
              <a:rPr sz="1600" spc="-7" dirty="0">
                <a:solidFill>
                  <a:srgbClr val="0000FF"/>
                </a:solidFill>
                <a:latin typeface="Courier New"/>
                <a:cs typeface="Courier New"/>
              </a:rPr>
              <a:t>struct </a:t>
            </a:r>
            <a:r>
              <a:rPr sz="1600" spc="-7" dirty="0">
                <a:solidFill>
                  <a:srgbClr val="76A5AE"/>
                </a:solidFill>
                <a:latin typeface="Courier New"/>
                <a:cs typeface="Courier New"/>
              </a:rPr>
              <a:t>ga_damage_ahead </a:t>
            </a:r>
            <a:r>
              <a:rPr sz="1600" spc="-7" dirty="0">
                <a:solidFill>
                  <a:srgbClr val="0000FF"/>
                </a:solidFill>
                <a:latin typeface="Courier New"/>
                <a:cs typeface="Courier New"/>
              </a:rPr>
              <a:t>final</a:t>
            </a:r>
            <a:r>
              <a:rPr sz="1600" spc="-100" dirty="0">
                <a:solidFill>
                  <a:srgbClr val="0000FF"/>
                </a:solidFill>
                <a:latin typeface="Courier New"/>
                <a:cs typeface="Courier New"/>
              </a:rPr>
              <a:t> </a:t>
            </a:r>
            <a:r>
              <a:rPr sz="1600" spc="-7" dirty="0">
                <a:solidFill>
                  <a:srgbClr val="595959"/>
                </a:solidFill>
                <a:latin typeface="Courier New"/>
                <a:cs typeface="Courier New"/>
              </a:rPr>
              <a:t>{...};</a:t>
            </a:r>
            <a:endParaRPr sz="1600">
              <a:latin typeface="Courier New"/>
              <a:cs typeface="Courier New"/>
            </a:endParaRPr>
          </a:p>
          <a:p>
            <a:pPr>
              <a:spcBef>
                <a:spcPts val="47"/>
              </a:spcBef>
            </a:pPr>
            <a:endParaRPr sz="1533">
              <a:latin typeface="Times New Roman"/>
              <a:cs typeface="Times New Roman"/>
            </a:endParaRPr>
          </a:p>
          <a:p>
            <a:pPr marL="16933">
              <a:lnSpc>
                <a:spcPts val="1907"/>
              </a:lnSpc>
            </a:pPr>
            <a:r>
              <a:rPr sz="1600" spc="-7" dirty="0">
                <a:solidFill>
                  <a:srgbClr val="0000FF"/>
                </a:solidFill>
                <a:latin typeface="Courier New"/>
                <a:cs typeface="Courier New"/>
              </a:rPr>
              <a:t>struct </a:t>
            </a:r>
            <a:r>
              <a:rPr sz="1600" spc="-7" dirty="0">
                <a:solidFill>
                  <a:srgbClr val="76A5AE"/>
                </a:solidFill>
                <a:latin typeface="Courier New"/>
                <a:cs typeface="Courier New"/>
              </a:rPr>
              <a:t>ga_shooty_guy</a:t>
            </a:r>
            <a:r>
              <a:rPr sz="1600" spc="-13" dirty="0">
                <a:solidFill>
                  <a:srgbClr val="76A5AE"/>
                </a:solidFill>
                <a:latin typeface="Courier New"/>
                <a:cs typeface="Courier New"/>
              </a:rPr>
              <a:t> </a:t>
            </a:r>
            <a:r>
              <a:rPr sz="1600" spc="-7" dirty="0">
                <a:solidFill>
                  <a:srgbClr val="0000FF"/>
                </a:solidFill>
                <a:latin typeface="Courier New"/>
                <a:cs typeface="Courier New"/>
              </a:rPr>
              <a:t>final</a:t>
            </a:r>
            <a:endParaRPr sz="1600">
              <a:latin typeface="Courier New"/>
              <a:cs typeface="Courier New"/>
            </a:endParaRPr>
          </a:p>
          <a:p>
            <a:pPr marL="16933">
              <a:lnSpc>
                <a:spcPts val="1900"/>
              </a:lnSpc>
            </a:pPr>
            <a:r>
              <a:rPr sz="1600" dirty="0">
                <a:solidFill>
                  <a:srgbClr val="595959"/>
                </a:solidFill>
                <a:latin typeface="Courier New"/>
                <a:cs typeface="Courier New"/>
              </a:rPr>
              <a:t>{</a:t>
            </a:r>
            <a:endParaRPr sz="1600">
              <a:latin typeface="Courier New"/>
              <a:cs typeface="Courier New"/>
            </a:endParaRPr>
          </a:p>
          <a:p>
            <a:pPr marL="626518" marR="738275">
              <a:lnSpc>
                <a:spcPts val="1907"/>
              </a:lnSpc>
              <a:spcBef>
                <a:spcPts val="67"/>
              </a:spcBef>
            </a:pPr>
            <a:r>
              <a:rPr sz="1600" spc="-7" dirty="0">
                <a:solidFill>
                  <a:srgbClr val="76A5AE"/>
                </a:solidFill>
                <a:latin typeface="Courier New"/>
                <a:cs typeface="Courier New"/>
              </a:rPr>
              <a:t>ga_move</a:t>
            </a:r>
            <a:r>
              <a:rPr sz="1600" spc="-7" dirty="0">
                <a:latin typeface="Courier New"/>
                <a:cs typeface="Courier New"/>
              </a:rPr>
              <a:t>* _move;  </a:t>
            </a:r>
            <a:r>
              <a:rPr sz="1600" spc="-7" dirty="0">
                <a:solidFill>
                  <a:srgbClr val="76A5AE"/>
                </a:solidFill>
                <a:latin typeface="Courier New"/>
                <a:cs typeface="Courier New"/>
              </a:rPr>
              <a:t>ga_patrol_ai</a:t>
            </a:r>
            <a:r>
              <a:rPr sz="1600" spc="-7" dirty="0">
                <a:latin typeface="Courier New"/>
                <a:cs typeface="Courier New"/>
              </a:rPr>
              <a:t>*</a:t>
            </a:r>
            <a:r>
              <a:rPr sz="1600" spc="-113" dirty="0">
                <a:latin typeface="Courier New"/>
                <a:cs typeface="Courier New"/>
              </a:rPr>
              <a:t> </a:t>
            </a:r>
            <a:r>
              <a:rPr sz="1600" spc="-7" dirty="0">
                <a:latin typeface="Courier New"/>
                <a:cs typeface="Courier New"/>
              </a:rPr>
              <a:t>_patrol_ai;</a:t>
            </a:r>
            <a:endParaRPr sz="1600">
              <a:latin typeface="Courier New"/>
              <a:cs typeface="Courier New"/>
            </a:endParaRPr>
          </a:p>
          <a:p>
            <a:pPr marL="626518">
              <a:lnSpc>
                <a:spcPts val="1820"/>
              </a:lnSpc>
            </a:pPr>
            <a:r>
              <a:rPr sz="1600" spc="-7" dirty="0">
                <a:solidFill>
                  <a:srgbClr val="76A5AE"/>
                </a:solidFill>
                <a:latin typeface="Courier New"/>
                <a:cs typeface="Courier New"/>
              </a:rPr>
              <a:t>ga_shoot_bullet</a:t>
            </a:r>
            <a:r>
              <a:rPr sz="1600" spc="-7" dirty="0">
                <a:latin typeface="Courier New"/>
                <a:cs typeface="Courier New"/>
              </a:rPr>
              <a:t>*</a:t>
            </a:r>
            <a:r>
              <a:rPr sz="1600" spc="-100" dirty="0">
                <a:latin typeface="Courier New"/>
                <a:cs typeface="Courier New"/>
              </a:rPr>
              <a:t> </a:t>
            </a:r>
            <a:r>
              <a:rPr sz="1600" spc="-7" dirty="0">
                <a:latin typeface="Courier New"/>
                <a:cs typeface="Courier New"/>
              </a:rPr>
              <a:t>_shoot_bullet;</a:t>
            </a:r>
            <a:endParaRPr sz="1600">
              <a:latin typeface="Courier New"/>
              <a:cs typeface="Courier New"/>
            </a:endParaRPr>
          </a:p>
          <a:p>
            <a:pPr marL="16933">
              <a:lnSpc>
                <a:spcPts val="1913"/>
              </a:lnSpc>
            </a:pPr>
            <a:r>
              <a:rPr sz="1600" spc="-7" dirty="0">
                <a:solidFill>
                  <a:srgbClr val="595959"/>
                </a:solidFill>
                <a:latin typeface="Courier New"/>
                <a:cs typeface="Courier New"/>
              </a:rPr>
              <a:t>};</a:t>
            </a:r>
            <a:endParaRPr sz="1600">
              <a:latin typeface="Courier New"/>
              <a:cs typeface="Courier New"/>
            </a:endParaRPr>
          </a:p>
          <a:p>
            <a:pPr>
              <a:spcBef>
                <a:spcPts val="33"/>
              </a:spcBef>
            </a:pPr>
            <a:endParaRPr sz="1600">
              <a:latin typeface="Times New Roman"/>
              <a:cs typeface="Times New Roman"/>
            </a:endParaRPr>
          </a:p>
          <a:p>
            <a:pPr marL="16933">
              <a:lnSpc>
                <a:spcPts val="1913"/>
              </a:lnSpc>
              <a:spcBef>
                <a:spcPts val="7"/>
              </a:spcBef>
            </a:pPr>
            <a:r>
              <a:rPr sz="1600" spc="-7" dirty="0">
                <a:solidFill>
                  <a:srgbClr val="0000FF"/>
                </a:solidFill>
                <a:latin typeface="Courier New"/>
                <a:cs typeface="Courier New"/>
              </a:rPr>
              <a:t>struct </a:t>
            </a:r>
            <a:r>
              <a:rPr sz="1600" spc="-7" dirty="0">
                <a:solidFill>
                  <a:srgbClr val="76A5AE"/>
                </a:solidFill>
                <a:latin typeface="Courier New"/>
                <a:cs typeface="Courier New"/>
              </a:rPr>
              <a:t>ga_melee_guy</a:t>
            </a:r>
            <a:r>
              <a:rPr sz="1600" spc="-13" dirty="0">
                <a:solidFill>
                  <a:srgbClr val="76A5AE"/>
                </a:solidFill>
                <a:latin typeface="Courier New"/>
                <a:cs typeface="Courier New"/>
              </a:rPr>
              <a:t> </a:t>
            </a:r>
            <a:r>
              <a:rPr sz="1600" spc="-7" dirty="0">
                <a:solidFill>
                  <a:srgbClr val="0000FF"/>
                </a:solidFill>
                <a:latin typeface="Courier New"/>
                <a:cs typeface="Courier New"/>
              </a:rPr>
              <a:t>final</a:t>
            </a:r>
            <a:endParaRPr sz="1600">
              <a:latin typeface="Courier New"/>
              <a:cs typeface="Courier New"/>
            </a:endParaRPr>
          </a:p>
          <a:p>
            <a:pPr marL="16933">
              <a:lnSpc>
                <a:spcPts val="1900"/>
              </a:lnSpc>
            </a:pPr>
            <a:r>
              <a:rPr sz="1600" dirty="0">
                <a:solidFill>
                  <a:srgbClr val="595959"/>
                </a:solidFill>
                <a:latin typeface="Courier New"/>
                <a:cs typeface="Courier New"/>
              </a:rPr>
              <a:t>{</a:t>
            </a:r>
            <a:endParaRPr sz="1600">
              <a:latin typeface="Courier New"/>
              <a:cs typeface="Courier New"/>
            </a:endParaRPr>
          </a:p>
          <a:p>
            <a:pPr marL="626518" marR="982109">
              <a:lnSpc>
                <a:spcPts val="1907"/>
              </a:lnSpc>
              <a:spcBef>
                <a:spcPts val="60"/>
              </a:spcBef>
            </a:pPr>
            <a:r>
              <a:rPr sz="1600" spc="-7" dirty="0">
                <a:solidFill>
                  <a:srgbClr val="76A5AE"/>
                </a:solidFill>
                <a:latin typeface="Courier New"/>
                <a:cs typeface="Courier New"/>
              </a:rPr>
              <a:t>ga_move</a:t>
            </a:r>
            <a:r>
              <a:rPr sz="1600" spc="-7" dirty="0">
                <a:latin typeface="Courier New"/>
                <a:cs typeface="Courier New"/>
              </a:rPr>
              <a:t>* _move;  </a:t>
            </a:r>
            <a:r>
              <a:rPr sz="1600" spc="-7" dirty="0">
                <a:solidFill>
                  <a:srgbClr val="76A5AE"/>
                </a:solidFill>
                <a:latin typeface="Courier New"/>
                <a:cs typeface="Courier New"/>
              </a:rPr>
              <a:t>ga_chase_ai</a:t>
            </a:r>
            <a:r>
              <a:rPr sz="1600" spc="-7" dirty="0">
                <a:latin typeface="Courier New"/>
                <a:cs typeface="Courier New"/>
              </a:rPr>
              <a:t>*</a:t>
            </a:r>
            <a:r>
              <a:rPr sz="1600" spc="-113" dirty="0">
                <a:latin typeface="Courier New"/>
                <a:cs typeface="Courier New"/>
              </a:rPr>
              <a:t> </a:t>
            </a:r>
            <a:r>
              <a:rPr sz="1600" spc="-7" dirty="0">
                <a:latin typeface="Courier New"/>
                <a:cs typeface="Courier New"/>
              </a:rPr>
              <a:t>_chase_ai;</a:t>
            </a:r>
            <a:endParaRPr sz="1600">
              <a:latin typeface="Courier New"/>
              <a:cs typeface="Courier New"/>
            </a:endParaRPr>
          </a:p>
          <a:p>
            <a:pPr marL="626518">
              <a:lnSpc>
                <a:spcPts val="1820"/>
              </a:lnSpc>
            </a:pPr>
            <a:r>
              <a:rPr sz="1600" spc="-7" dirty="0">
                <a:solidFill>
                  <a:srgbClr val="76A5AE"/>
                </a:solidFill>
                <a:latin typeface="Courier New"/>
                <a:cs typeface="Courier New"/>
              </a:rPr>
              <a:t>ga_damage_ahead</a:t>
            </a:r>
            <a:r>
              <a:rPr sz="1600" spc="-7" dirty="0">
                <a:latin typeface="Courier New"/>
                <a:cs typeface="Courier New"/>
              </a:rPr>
              <a:t>*</a:t>
            </a:r>
            <a:r>
              <a:rPr sz="1600" spc="-100" dirty="0">
                <a:latin typeface="Courier New"/>
                <a:cs typeface="Courier New"/>
              </a:rPr>
              <a:t> </a:t>
            </a:r>
            <a:r>
              <a:rPr sz="1600" spc="-7" dirty="0">
                <a:latin typeface="Courier New"/>
                <a:cs typeface="Courier New"/>
              </a:rPr>
              <a:t>_damage_ahead;</a:t>
            </a:r>
            <a:endParaRPr sz="1600">
              <a:latin typeface="Courier New"/>
              <a:cs typeface="Courier New"/>
            </a:endParaRPr>
          </a:p>
          <a:p>
            <a:pPr marL="16933">
              <a:lnSpc>
                <a:spcPts val="1907"/>
              </a:lnSpc>
            </a:pPr>
            <a:r>
              <a:rPr sz="1600" spc="-7" dirty="0">
                <a:solidFill>
                  <a:srgbClr val="595959"/>
                </a:solidFill>
                <a:latin typeface="Courier New"/>
                <a:cs typeface="Courier New"/>
              </a:rPr>
              <a:t>};</a:t>
            </a:r>
            <a:endParaRPr sz="1600">
              <a:latin typeface="Courier New"/>
              <a:cs typeface="Courier New"/>
            </a:endParaRPr>
          </a:p>
        </p:txBody>
      </p:sp>
    </p:spTree>
    <p:extLst>
      <p:ext uri="{BB962C8B-B14F-4D97-AF65-F5344CB8AC3E}">
        <p14:creationId xmlns:p14="http://schemas.microsoft.com/office/powerpoint/2010/main" val="187639379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913892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The </a:t>
            </a:r>
            <a:r>
              <a:rPr sz="3733" spc="-13" dirty="0"/>
              <a:t>ShootyGuy </a:t>
            </a:r>
            <a:r>
              <a:rPr sz="3733" spc="-7" dirty="0"/>
              <a:t>entity </a:t>
            </a:r>
            <a:r>
              <a:rPr sz="3733" dirty="0"/>
              <a:t>model</a:t>
            </a:r>
            <a:r>
              <a:rPr sz="3733" spc="-120" dirty="0"/>
              <a:t> </a:t>
            </a:r>
            <a:r>
              <a:rPr sz="3733" dirty="0"/>
              <a:t>(Components)</a:t>
            </a:r>
            <a:endParaRPr sz="3733"/>
          </a:p>
        </p:txBody>
      </p:sp>
      <p:sp>
        <p:nvSpPr>
          <p:cNvPr id="3" name="object 3"/>
          <p:cNvSpPr txBox="1"/>
          <p:nvPr/>
        </p:nvSpPr>
        <p:spPr>
          <a:xfrm>
            <a:off x="512967" y="1625872"/>
            <a:ext cx="6619240" cy="4895357"/>
          </a:xfrm>
          <a:prstGeom prst="rect">
            <a:avLst/>
          </a:prstGeom>
        </p:spPr>
        <p:txBody>
          <a:bodyPr vert="horz" wrap="square" lIns="0" tIns="16933" rIns="0" bIns="0" rtlCol="0">
            <a:spAutoFit/>
          </a:bodyPr>
          <a:lstStyle/>
          <a:p>
            <a:pPr marL="16933">
              <a:lnSpc>
                <a:spcPts val="1907"/>
              </a:lnSpc>
              <a:spcBef>
                <a:spcPts val="133"/>
              </a:spcBef>
            </a:pPr>
            <a:r>
              <a:rPr sz="1600" spc="-7" dirty="0">
                <a:solidFill>
                  <a:srgbClr val="0000FF"/>
                </a:solidFill>
                <a:latin typeface="Courier New"/>
                <a:cs typeface="Courier New"/>
              </a:rPr>
              <a:t>struct </a:t>
            </a:r>
            <a:r>
              <a:rPr sz="1600" spc="-7" dirty="0">
                <a:solidFill>
                  <a:srgbClr val="76A5AE"/>
                </a:solidFill>
                <a:latin typeface="Courier New"/>
                <a:cs typeface="Courier New"/>
              </a:rPr>
              <a:t>ga_component</a:t>
            </a:r>
            <a:endParaRPr sz="1600">
              <a:latin typeface="Courier New"/>
              <a:cs typeface="Courier New"/>
            </a:endParaRPr>
          </a:p>
          <a:p>
            <a:pPr marL="16933">
              <a:lnSpc>
                <a:spcPts val="1900"/>
              </a:lnSpc>
            </a:pPr>
            <a:r>
              <a:rPr sz="1600" dirty="0">
                <a:solidFill>
                  <a:srgbClr val="595959"/>
                </a:solidFill>
                <a:latin typeface="Courier New"/>
                <a:cs typeface="Courier New"/>
              </a:rPr>
              <a:t>{</a:t>
            </a:r>
            <a:endParaRPr sz="1600">
              <a:latin typeface="Courier New"/>
              <a:cs typeface="Courier New"/>
            </a:endParaRPr>
          </a:p>
          <a:p>
            <a:pPr marL="626518">
              <a:lnSpc>
                <a:spcPts val="1900"/>
              </a:lnSpc>
            </a:pPr>
            <a:r>
              <a:rPr sz="1600" spc="-7" dirty="0">
                <a:solidFill>
                  <a:srgbClr val="0000FF"/>
                </a:solidFill>
                <a:latin typeface="Courier New"/>
                <a:cs typeface="Courier New"/>
              </a:rPr>
              <a:t>virtual void </a:t>
            </a:r>
            <a:r>
              <a:rPr sz="1600" spc="-7" dirty="0">
                <a:solidFill>
                  <a:srgbClr val="595959"/>
                </a:solidFill>
                <a:latin typeface="Courier New"/>
                <a:cs typeface="Courier New"/>
              </a:rPr>
              <a:t>update() </a:t>
            </a:r>
            <a:r>
              <a:rPr sz="1600" dirty="0">
                <a:solidFill>
                  <a:srgbClr val="595959"/>
                </a:solidFill>
                <a:latin typeface="Courier New"/>
                <a:cs typeface="Courier New"/>
              </a:rPr>
              <a:t>=</a:t>
            </a:r>
            <a:r>
              <a:rPr sz="1600" spc="-20" dirty="0">
                <a:solidFill>
                  <a:srgbClr val="595959"/>
                </a:solidFill>
                <a:latin typeface="Courier New"/>
                <a:cs typeface="Courier New"/>
              </a:rPr>
              <a:t> </a:t>
            </a:r>
            <a:r>
              <a:rPr sz="1600" spc="-7" dirty="0">
                <a:solidFill>
                  <a:srgbClr val="595959"/>
                </a:solidFill>
                <a:latin typeface="Courier New"/>
                <a:cs typeface="Courier New"/>
              </a:rPr>
              <a:t>0;</a:t>
            </a:r>
            <a:endParaRPr sz="1600">
              <a:latin typeface="Courier New"/>
              <a:cs typeface="Courier New"/>
            </a:endParaRPr>
          </a:p>
          <a:p>
            <a:pPr marL="16933">
              <a:lnSpc>
                <a:spcPts val="1900"/>
              </a:lnSpc>
            </a:pPr>
            <a:r>
              <a:rPr sz="1600" spc="-7" dirty="0">
                <a:solidFill>
                  <a:srgbClr val="595959"/>
                </a:solidFill>
                <a:latin typeface="Courier New"/>
                <a:cs typeface="Courier New"/>
              </a:rPr>
              <a:t>};</a:t>
            </a:r>
            <a:endParaRPr sz="1600">
              <a:latin typeface="Courier New"/>
              <a:cs typeface="Courier New"/>
            </a:endParaRPr>
          </a:p>
          <a:p>
            <a:pPr marL="16933" marR="372524">
              <a:lnSpc>
                <a:spcPts val="1907"/>
              </a:lnSpc>
              <a:spcBef>
                <a:spcPts val="60"/>
              </a:spcBef>
            </a:pPr>
            <a:r>
              <a:rPr sz="1600" spc="-7" dirty="0">
                <a:solidFill>
                  <a:srgbClr val="0000FF"/>
                </a:solidFill>
                <a:latin typeface="Courier New"/>
                <a:cs typeface="Courier New"/>
              </a:rPr>
              <a:t>struct </a:t>
            </a:r>
            <a:r>
              <a:rPr sz="1600" spc="-7" dirty="0">
                <a:solidFill>
                  <a:srgbClr val="76A5AE"/>
                </a:solidFill>
                <a:latin typeface="Courier New"/>
                <a:cs typeface="Courier New"/>
              </a:rPr>
              <a:t>ga_move_component </a:t>
            </a:r>
            <a:r>
              <a:rPr sz="1600" dirty="0">
                <a:solidFill>
                  <a:srgbClr val="76A5AE"/>
                </a:solidFill>
                <a:latin typeface="Courier New"/>
                <a:cs typeface="Courier New"/>
              </a:rPr>
              <a:t>: </a:t>
            </a:r>
            <a:r>
              <a:rPr sz="1600" spc="-7" dirty="0">
                <a:solidFill>
                  <a:srgbClr val="76A5AE"/>
                </a:solidFill>
                <a:latin typeface="Courier New"/>
                <a:cs typeface="Courier New"/>
              </a:rPr>
              <a:t>ga_component </a:t>
            </a:r>
            <a:r>
              <a:rPr sz="1600" spc="-7" dirty="0">
                <a:solidFill>
                  <a:srgbClr val="595959"/>
                </a:solidFill>
                <a:latin typeface="Courier New"/>
                <a:cs typeface="Courier New"/>
              </a:rPr>
              <a:t>{...};  </a:t>
            </a:r>
            <a:r>
              <a:rPr sz="1600" spc="-7" dirty="0">
                <a:solidFill>
                  <a:srgbClr val="0000FF"/>
                </a:solidFill>
                <a:latin typeface="Courier New"/>
                <a:cs typeface="Courier New"/>
              </a:rPr>
              <a:t>struct </a:t>
            </a:r>
            <a:r>
              <a:rPr sz="1600" spc="-7" dirty="0">
                <a:solidFill>
                  <a:srgbClr val="76A5AE"/>
                </a:solidFill>
                <a:latin typeface="Courier New"/>
                <a:cs typeface="Courier New"/>
              </a:rPr>
              <a:t>ga_patrol_ai_component </a:t>
            </a:r>
            <a:r>
              <a:rPr sz="1600" dirty="0">
                <a:solidFill>
                  <a:srgbClr val="76A5AE"/>
                </a:solidFill>
                <a:latin typeface="Courier New"/>
                <a:cs typeface="Courier New"/>
              </a:rPr>
              <a:t>: </a:t>
            </a:r>
            <a:r>
              <a:rPr sz="1600" spc="-7" dirty="0">
                <a:solidFill>
                  <a:srgbClr val="76A5AE"/>
                </a:solidFill>
                <a:latin typeface="Courier New"/>
                <a:cs typeface="Courier New"/>
              </a:rPr>
              <a:t>ga_component</a:t>
            </a:r>
            <a:r>
              <a:rPr sz="1600" spc="-100" dirty="0">
                <a:solidFill>
                  <a:srgbClr val="76A5AE"/>
                </a:solidFill>
                <a:latin typeface="Courier New"/>
                <a:cs typeface="Courier New"/>
              </a:rPr>
              <a:t> </a:t>
            </a:r>
            <a:r>
              <a:rPr sz="1600" spc="-7" dirty="0">
                <a:solidFill>
                  <a:srgbClr val="595959"/>
                </a:solidFill>
                <a:latin typeface="Courier New"/>
                <a:cs typeface="Courier New"/>
              </a:rPr>
              <a:t>{...};</a:t>
            </a:r>
            <a:endParaRPr sz="1600">
              <a:latin typeface="Courier New"/>
              <a:cs typeface="Courier New"/>
            </a:endParaRPr>
          </a:p>
          <a:p>
            <a:pPr marL="16933">
              <a:lnSpc>
                <a:spcPts val="1833"/>
              </a:lnSpc>
            </a:pPr>
            <a:r>
              <a:rPr sz="1600" spc="-7" dirty="0">
                <a:solidFill>
                  <a:srgbClr val="0000FF"/>
                </a:solidFill>
                <a:latin typeface="Courier New"/>
                <a:cs typeface="Courier New"/>
              </a:rPr>
              <a:t>struct </a:t>
            </a:r>
            <a:r>
              <a:rPr sz="1600" spc="-7" dirty="0">
                <a:solidFill>
                  <a:srgbClr val="76A5AE"/>
                </a:solidFill>
                <a:latin typeface="Courier New"/>
                <a:cs typeface="Courier New"/>
              </a:rPr>
              <a:t>ga_shoot_bullet_component </a:t>
            </a:r>
            <a:r>
              <a:rPr sz="1600" dirty="0">
                <a:solidFill>
                  <a:srgbClr val="76A5AE"/>
                </a:solidFill>
                <a:latin typeface="Courier New"/>
                <a:cs typeface="Courier New"/>
              </a:rPr>
              <a:t>: </a:t>
            </a:r>
            <a:r>
              <a:rPr sz="1600" spc="-7" dirty="0">
                <a:solidFill>
                  <a:srgbClr val="76A5AE"/>
                </a:solidFill>
                <a:latin typeface="Courier New"/>
                <a:cs typeface="Courier New"/>
              </a:rPr>
              <a:t>ga_component</a:t>
            </a:r>
            <a:r>
              <a:rPr sz="1600" spc="-100" dirty="0">
                <a:solidFill>
                  <a:srgbClr val="76A5AE"/>
                </a:solidFill>
                <a:latin typeface="Courier New"/>
                <a:cs typeface="Courier New"/>
              </a:rPr>
              <a:t> </a:t>
            </a:r>
            <a:r>
              <a:rPr sz="1600" spc="-7" dirty="0">
                <a:solidFill>
                  <a:srgbClr val="595959"/>
                </a:solidFill>
                <a:latin typeface="Courier New"/>
                <a:cs typeface="Courier New"/>
              </a:rPr>
              <a:t>{...};</a:t>
            </a:r>
            <a:endParaRPr sz="1600">
              <a:latin typeface="Courier New"/>
              <a:cs typeface="Courier New"/>
            </a:endParaRPr>
          </a:p>
          <a:p>
            <a:pPr>
              <a:spcBef>
                <a:spcPts val="40"/>
              </a:spcBef>
            </a:pPr>
            <a:endParaRPr sz="1600">
              <a:latin typeface="Times New Roman"/>
              <a:cs typeface="Times New Roman"/>
            </a:endParaRPr>
          </a:p>
          <a:p>
            <a:pPr marL="16933">
              <a:lnSpc>
                <a:spcPts val="1907"/>
              </a:lnSpc>
            </a:pPr>
            <a:r>
              <a:rPr sz="1600" spc="-7" dirty="0">
                <a:solidFill>
                  <a:srgbClr val="0000FF"/>
                </a:solidFill>
                <a:latin typeface="Courier New"/>
                <a:cs typeface="Courier New"/>
              </a:rPr>
              <a:t>struct </a:t>
            </a:r>
            <a:r>
              <a:rPr sz="1600" spc="-7" dirty="0">
                <a:solidFill>
                  <a:srgbClr val="76A5AE"/>
                </a:solidFill>
                <a:latin typeface="Courier New"/>
                <a:cs typeface="Courier New"/>
              </a:rPr>
              <a:t>ga_entity </a:t>
            </a:r>
            <a:r>
              <a:rPr sz="1600" spc="-7" dirty="0">
                <a:solidFill>
                  <a:srgbClr val="0000FF"/>
                </a:solidFill>
                <a:latin typeface="Courier New"/>
                <a:cs typeface="Courier New"/>
              </a:rPr>
              <a:t>final</a:t>
            </a:r>
            <a:endParaRPr sz="1600">
              <a:latin typeface="Courier New"/>
              <a:cs typeface="Courier New"/>
            </a:endParaRPr>
          </a:p>
          <a:p>
            <a:pPr marL="16933">
              <a:lnSpc>
                <a:spcPts val="1900"/>
              </a:lnSpc>
            </a:pPr>
            <a:r>
              <a:rPr sz="1600" dirty="0">
                <a:solidFill>
                  <a:srgbClr val="595959"/>
                </a:solidFill>
                <a:latin typeface="Courier New"/>
                <a:cs typeface="Courier New"/>
              </a:rPr>
              <a:t>{</a:t>
            </a:r>
            <a:endParaRPr sz="1600">
              <a:latin typeface="Courier New"/>
              <a:cs typeface="Courier New"/>
            </a:endParaRPr>
          </a:p>
          <a:p>
            <a:pPr marL="626518">
              <a:lnSpc>
                <a:spcPts val="1913"/>
              </a:lnSpc>
            </a:pPr>
            <a:r>
              <a:rPr sz="1600" spc="-7" dirty="0">
                <a:latin typeface="Courier New"/>
                <a:cs typeface="Courier New"/>
              </a:rPr>
              <a:t>std::</a:t>
            </a:r>
            <a:r>
              <a:rPr sz="1600" spc="-7" dirty="0">
                <a:solidFill>
                  <a:srgbClr val="76A5AE"/>
                </a:solidFill>
                <a:latin typeface="Courier New"/>
                <a:cs typeface="Courier New"/>
              </a:rPr>
              <a:t>vector</a:t>
            </a:r>
            <a:r>
              <a:rPr sz="1600" spc="-7" dirty="0">
                <a:latin typeface="Courier New"/>
                <a:cs typeface="Courier New"/>
              </a:rPr>
              <a:t>&lt;</a:t>
            </a:r>
            <a:r>
              <a:rPr sz="1600" spc="-7" dirty="0">
                <a:solidFill>
                  <a:srgbClr val="76A5AE"/>
                </a:solidFill>
                <a:latin typeface="Courier New"/>
                <a:cs typeface="Courier New"/>
              </a:rPr>
              <a:t>ga_component</a:t>
            </a:r>
            <a:r>
              <a:rPr sz="1600" spc="-7" dirty="0">
                <a:latin typeface="Courier New"/>
                <a:cs typeface="Courier New"/>
              </a:rPr>
              <a:t>*&gt;</a:t>
            </a:r>
            <a:r>
              <a:rPr sz="1600" spc="-20" dirty="0">
                <a:latin typeface="Courier New"/>
                <a:cs typeface="Courier New"/>
              </a:rPr>
              <a:t> </a:t>
            </a:r>
            <a:r>
              <a:rPr sz="1600" spc="-7" dirty="0">
                <a:latin typeface="Courier New"/>
                <a:cs typeface="Courier New"/>
              </a:rPr>
              <a:t>_components;</a:t>
            </a:r>
            <a:endParaRPr sz="1600">
              <a:latin typeface="Courier New"/>
              <a:cs typeface="Courier New"/>
            </a:endParaRPr>
          </a:p>
          <a:p>
            <a:pPr>
              <a:spcBef>
                <a:spcPts val="40"/>
              </a:spcBef>
            </a:pPr>
            <a:endParaRPr sz="1600">
              <a:latin typeface="Times New Roman"/>
              <a:cs typeface="Times New Roman"/>
            </a:endParaRPr>
          </a:p>
          <a:p>
            <a:pPr marL="626518">
              <a:lnSpc>
                <a:spcPts val="1913"/>
              </a:lnSpc>
            </a:pPr>
            <a:r>
              <a:rPr sz="1600" spc="-7" dirty="0">
                <a:solidFill>
                  <a:srgbClr val="0000FF"/>
                </a:solidFill>
                <a:latin typeface="Courier New"/>
                <a:cs typeface="Courier New"/>
              </a:rPr>
              <a:t>void </a:t>
            </a:r>
            <a:r>
              <a:rPr sz="1600" spc="-7" dirty="0">
                <a:latin typeface="Courier New"/>
                <a:cs typeface="Courier New"/>
              </a:rPr>
              <a:t>update()</a:t>
            </a:r>
            <a:endParaRPr sz="1600">
              <a:latin typeface="Courier New"/>
              <a:cs typeface="Courier New"/>
            </a:endParaRPr>
          </a:p>
          <a:p>
            <a:pPr marL="626518">
              <a:lnSpc>
                <a:spcPts val="1900"/>
              </a:lnSpc>
            </a:pPr>
            <a:r>
              <a:rPr sz="1600" dirty="0">
                <a:latin typeface="Courier New"/>
                <a:cs typeface="Courier New"/>
              </a:rPr>
              <a:t>{</a:t>
            </a:r>
            <a:endParaRPr sz="1600">
              <a:latin typeface="Courier New"/>
              <a:cs typeface="Courier New"/>
            </a:endParaRPr>
          </a:p>
          <a:p>
            <a:pPr marL="1236102">
              <a:lnSpc>
                <a:spcPts val="1900"/>
              </a:lnSpc>
            </a:pPr>
            <a:r>
              <a:rPr sz="1600" spc="-7" dirty="0">
                <a:solidFill>
                  <a:srgbClr val="0000FF"/>
                </a:solidFill>
                <a:latin typeface="Courier New"/>
                <a:cs typeface="Courier New"/>
              </a:rPr>
              <a:t>for </a:t>
            </a:r>
            <a:r>
              <a:rPr sz="1600" spc="-7" dirty="0">
                <a:latin typeface="Courier New"/>
                <a:cs typeface="Courier New"/>
              </a:rPr>
              <a:t>(</a:t>
            </a:r>
            <a:r>
              <a:rPr sz="1600" spc="-7" dirty="0">
                <a:solidFill>
                  <a:srgbClr val="0000FF"/>
                </a:solidFill>
                <a:latin typeface="Courier New"/>
                <a:cs typeface="Courier New"/>
              </a:rPr>
              <a:t>auto</a:t>
            </a:r>
            <a:r>
              <a:rPr sz="1600" spc="-7" dirty="0">
                <a:latin typeface="Courier New"/>
                <a:cs typeface="Courier New"/>
              </a:rPr>
              <a:t>&amp; component </a:t>
            </a:r>
            <a:r>
              <a:rPr sz="1600" dirty="0">
                <a:latin typeface="Courier New"/>
                <a:cs typeface="Courier New"/>
              </a:rPr>
              <a:t>:</a:t>
            </a:r>
            <a:r>
              <a:rPr sz="1600" spc="-33" dirty="0">
                <a:latin typeface="Courier New"/>
                <a:cs typeface="Courier New"/>
              </a:rPr>
              <a:t> </a:t>
            </a:r>
            <a:r>
              <a:rPr sz="1600" spc="-7" dirty="0">
                <a:latin typeface="Courier New"/>
                <a:cs typeface="Courier New"/>
              </a:rPr>
              <a:t>_components)</a:t>
            </a:r>
            <a:endParaRPr sz="1600">
              <a:latin typeface="Courier New"/>
              <a:cs typeface="Courier New"/>
            </a:endParaRPr>
          </a:p>
          <a:p>
            <a:pPr marL="1236102">
              <a:lnSpc>
                <a:spcPts val="1900"/>
              </a:lnSpc>
            </a:pPr>
            <a:r>
              <a:rPr sz="1600" dirty="0">
                <a:latin typeface="Courier New"/>
                <a:cs typeface="Courier New"/>
              </a:rPr>
              <a:t>{</a:t>
            </a:r>
            <a:endParaRPr sz="1600">
              <a:latin typeface="Courier New"/>
              <a:cs typeface="Courier New"/>
            </a:endParaRPr>
          </a:p>
          <a:p>
            <a:pPr marR="478355" algn="ctr">
              <a:lnSpc>
                <a:spcPts val="1900"/>
              </a:lnSpc>
            </a:pPr>
            <a:r>
              <a:rPr sz="1600" spc="-7" dirty="0">
                <a:latin typeface="Courier New"/>
                <a:cs typeface="Courier New"/>
              </a:rPr>
              <a:t>component-&gt;update();</a:t>
            </a:r>
            <a:endParaRPr sz="1600">
              <a:latin typeface="Courier New"/>
              <a:cs typeface="Courier New"/>
            </a:endParaRPr>
          </a:p>
          <a:p>
            <a:pPr marL="1236102">
              <a:lnSpc>
                <a:spcPts val="1900"/>
              </a:lnSpc>
            </a:pPr>
            <a:r>
              <a:rPr sz="1600" dirty="0">
                <a:latin typeface="Courier New"/>
                <a:cs typeface="Courier New"/>
              </a:rPr>
              <a:t>}</a:t>
            </a:r>
            <a:endParaRPr sz="1600">
              <a:latin typeface="Courier New"/>
              <a:cs typeface="Courier New"/>
            </a:endParaRPr>
          </a:p>
          <a:p>
            <a:pPr marL="626518">
              <a:lnSpc>
                <a:spcPts val="1900"/>
              </a:lnSpc>
            </a:pPr>
            <a:r>
              <a:rPr sz="1600" dirty="0">
                <a:latin typeface="Courier New"/>
                <a:cs typeface="Courier New"/>
              </a:rPr>
              <a:t>}</a:t>
            </a:r>
            <a:endParaRPr sz="1600">
              <a:latin typeface="Courier New"/>
              <a:cs typeface="Courier New"/>
            </a:endParaRPr>
          </a:p>
          <a:p>
            <a:pPr marL="16933">
              <a:lnSpc>
                <a:spcPts val="1907"/>
              </a:lnSpc>
            </a:pPr>
            <a:r>
              <a:rPr sz="1600" spc="-7" dirty="0">
                <a:solidFill>
                  <a:srgbClr val="595959"/>
                </a:solidFill>
                <a:latin typeface="Courier New"/>
                <a:cs typeface="Courier New"/>
              </a:rPr>
              <a:t>};</a:t>
            </a:r>
            <a:endParaRPr sz="1600">
              <a:latin typeface="Courier New"/>
              <a:cs typeface="Courier New"/>
            </a:endParaRPr>
          </a:p>
        </p:txBody>
      </p:sp>
    </p:spTree>
    <p:extLst>
      <p:ext uri="{BB962C8B-B14F-4D97-AF65-F5344CB8AC3E}">
        <p14:creationId xmlns:p14="http://schemas.microsoft.com/office/powerpoint/2010/main" val="203213359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913892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The </a:t>
            </a:r>
            <a:r>
              <a:rPr sz="3733" spc="-13" dirty="0"/>
              <a:t>ShootyGuy </a:t>
            </a:r>
            <a:r>
              <a:rPr sz="3733" spc="-7" dirty="0"/>
              <a:t>entity </a:t>
            </a:r>
            <a:r>
              <a:rPr sz="3733" dirty="0"/>
              <a:t>model</a:t>
            </a:r>
            <a:r>
              <a:rPr sz="3733" spc="-120" dirty="0"/>
              <a:t> </a:t>
            </a:r>
            <a:r>
              <a:rPr sz="3733" dirty="0"/>
              <a:t>(Components)</a:t>
            </a:r>
            <a:endParaRPr sz="3733"/>
          </a:p>
        </p:txBody>
      </p:sp>
      <p:sp>
        <p:nvSpPr>
          <p:cNvPr id="3" name="object 3"/>
          <p:cNvSpPr txBox="1"/>
          <p:nvPr/>
        </p:nvSpPr>
        <p:spPr>
          <a:xfrm>
            <a:off x="512967" y="1625872"/>
            <a:ext cx="9057640" cy="3928490"/>
          </a:xfrm>
          <a:prstGeom prst="rect">
            <a:avLst/>
          </a:prstGeom>
        </p:spPr>
        <p:txBody>
          <a:bodyPr vert="horz" wrap="square" lIns="0" tIns="16933" rIns="0" bIns="0" rtlCol="0">
            <a:spAutoFit/>
          </a:bodyPr>
          <a:lstStyle/>
          <a:p>
            <a:pPr marL="16933">
              <a:lnSpc>
                <a:spcPts val="1907"/>
              </a:lnSpc>
              <a:spcBef>
                <a:spcPts val="133"/>
              </a:spcBef>
            </a:pPr>
            <a:r>
              <a:rPr sz="1600" dirty="0">
                <a:solidFill>
                  <a:srgbClr val="595959"/>
                </a:solidFill>
                <a:latin typeface="Courier New"/>
                <a:cs typeface="Courier New"/>
              </a:rPr>
              <a:t>{</a:t>
            </a:r>
            <a:endParaRPr sz="1600">
              <a:latin typeface="Courier New"/>
              <a:cs typeface="Courier New"/>
            </a:endParaRPr>
          </a:p>
          <a:p>
            <a:pPr marL="626518">
              <a:lnSpc>
                <a:spcPts val="1907"/>
              </a:lnSpc>
            </a:pPr>
            <a:r>
              <a:rPr sz="1600" spc="-7" dirty="0">
                <a:solidFill>
                  <a:srgbClr val="76A5AE"/>
                </a:solidFill>
                <a:latin typeface="Courier New"/>
                <a:cs typeface="Courier New"/>
              </a:rPr>
              <a:t>ga_entity </a:t>
            </a:r>
            <a:r>
              <a:rPr sz="1600" spc="-7" dirty="0">
                <a:solidFill>
                  <a:srgbClr val="595959"/>
                </a:solidFill>
                <a:latin typeface="Courier New"/>
                <a:cs typeface="Courier New"/>
              </a:rPr>
              <a:t>shooty_melee_guy;</a:t>
            </a:r>
            <a:endParaRPr sz="1600">
              <a:latin typeface="Courier New"/>
              <a:cs typeface="Courier New"/>
            </a:endParaRPr>
          </a:p>
          <a:p>
            <a:pPr>
              <a:spcBef>
                <a:spcPts val="33"/>
              </a:spcBef>
            </a:pPr>
            <a:endParaRPr sz="1667">
              <a:latin typeface="Times New Roman"/>
              <a:cs typeface="Times New Roman"/>
            </a:endParaRPr>
          </a:p>
          <a:p>
            <a:pPr marL="626518" marR="6773">
              <a:lnSpc>
                <a:spcPts val="1907"/>
              </a:lnSpc>
            </a:pPr>
            <a:r>
              <a:rPr sz="1600" spc="-7" dirty="0">
                <a:solidFill>
                  <a:srgbClr val="595959"/>
                </a:solidFill>
                <a:latin typeface="Courier New"/>
                <a:cs typeface="Courier New"/>
              </a:rPr>
              <a:t>shooty_melee_guy.add_component(</a:t>
            </a:r>
            <a:r>
              <a:rPr sz="1600" spc="-7" dirty="0">
                <a:solidFill>
                  <a:srgbClr val="0000FF"/>
                </a:solidFill>
                <a:latin typeface="Courier New"/>
                <a:cs typeface="Courier New"/>
              </a:rPr>
              <a:t>new </a:t>
            </a:r>
            <a:r>
              <a:rPr sz="1600" spc="-7" dirty="0">
                <a:solidFill>
                  <a:srgbClr val="76A5AE"/>
                </a:solidFill>
                <a:latin typeface="Courier New"/>
                <a:cs typeface="Courier New"/>
              </a:rPr>
              <a:t>ga_move_component</a:t>
            </a:r>
            <a:r>
              <a:rPr sz="1600" spc="-7" dirty="0">
                <a:solidFill>
                  <a:srgbClr val="595959"/>
                </a:solidFill>
                <a:latin typeface="Courier New"/>
                <a:cs typeface="Courier New"/>
              </a:rPr>
              <a:t>);  shooty_melee_guy.add_component(</a:t>
            </a:r>
            <a:r>
              <a:rPr sz="1600" spc="-7" dirty="0">
                <a:solidFill>
                  <a:srgbClr val="0000FF"/>
                </a:solidFill>
                <a:latin typeface="Courier New"/>
                <a:cs typeface="Courier New"/>
              </a:rPr>
              <a:t>new </a:t>
            </a:r>
            <a:r>
              <a:rPr sz="1600" spc="-7" dirty="0">
                <a:solidFill>
                  <a:srgbClr val="76A5AE"/>
                </a:solidFill>
                <a:latin typeface="Courier New"/>
                <a:cs typeface="Courier New"/>
              </a:rPr>
              <a:t>ga_patrol_and_chase_ai_component</a:t>
            </a:r>
            <a:r>
              <a:rPr sz="1600" spc="-7" dirty="0">
                <a:solidFill>
                  <a:srgbClr val="595959"/>
                </a:solidFill>
                <a:latin typeface="Courier New"/>
                <a:cs typeface="Courier New"/>
              </a:rPr>
              <a:t>);  shooty_melee_guy.add_component(</a:t>
            </a:r>
            <a:r>
              <a:rPr sz="1600" spc="-7" dirty="0">
                <a:solidFill>
                  <a:srgbClr val="0000FF"/>
                </a:solidFill>
                <a:latin typeface="Courier New"/>
                <a:cs typeface="Courier New"/>
              </a:rPr>
              <a:t>new </a:t>
            </a:r>
            <a:r>
              <a:rPr sz="1600" spc="-7" dirty="0">
                <a:solidFill>
                  <a:srgbClr val="76A5AE"/>
                </a:solidFill>
                <a:latin typeface="Courier New"/>
                <a:cs typeface="Courier New"/>
              </a:rPr>
              <a:t>ga_shoot_bullet_component</a:t>
            </a:r>
            <a:r>
              <a:rPr sz="1600" spc="-7" dirty="0">
                <a:solidFill>
                  <a:srgbClr val="595959"/>
                </a:solidFill>
                <a:latin typeface="Courier New"/>
                <a:cs typeface="Courier New"/>
              </a:rPr>
              <a:t>);  shooty_melee_guy.add_component(</a:t>
            </a:r>
            <a:r>
              <a:rPr sz="1600" spc="-7" dirty="0">
                <a:solidFill>
                  <a:srgbClr val="0000FF"/>
                </a:solidFill>
                <a:latin typeface="Courier New"/>
                <a:cs typeface="Courier New"/>
              </a:rPr>
              <a:t>new</a:t>
            </a:r>
            <a:r>
              <a:rPr sz="1600" spc="-20" dirty="0">
                <a:solidFill>
                  <a:srgbClr val="0000FF"/>
                </a:solidFill>
                <a:latin typeface="Courier New"/>
                <a:cs typeface="Courier New"/>
              </a:rPr>
              <a:t> </a:t>
            </a:r>
            <a:r>
              <a:rPr sz="1600" spc="-7" dirty="0">
                <a:solidFill>
                  <a:srgbClr val="76A5AE"/>
                </a:solidFill>
                <a:latin typeface="Courier New"/>
                <a:cs typeface="Courier New"/>
              </a:rPr>
              <a:t>ga_damage_ahead_component</a:t>
            </a:r>
            <a:r>
              <a:rPr sz="1600" spc="-7" dirty="0">
                <a:solidFill>
                  <a:srgbClr val="595959"/>
                </a:solidFill>
                <a:latin typeface="Courier New"/>
                <a:cs typeface="Courier New"/>
              </a:rPr>
              <a:t>);</a:t>
            </a:r>
            <a:endParaRPr sz="1600">
              <a:latin typeface="Courier New"/>
              <a:cs typeface="Courier New"/>
            </a:endParaRPr>
          </a:p>
          <a:p>
            <a:pPr marL="626518" marR="4274713">
              <a:lnSpc>
                <a:spcPts val="3800"/>
              </a:lnSpc>
              <a:spcBef>
                <a:spcPts val="360"/>
              </a:spcBef>
            </a:pPr>
            <a:r>
              <a:rPr sz="1600" spc="-7" dirty="0">
                <a:solidFill>
                  <a:srgbClr val="76A5AE"/>
                </a:solidFill>
                <a:latin typeface="Courier New"/>
                <a:cs typeface="Courier New"/>
              </a:rPr>
              <a:t>ga_sim </a:t>
            </a:r>
            <a:r>
              <a:rPr sz="1600" spc="-7" dirty="0">
                <a:solidFill>
                  <a:srgbClr val="595959"/>
                </a:solidFill>
                <a:latin typeface="Courier New"/>
                <a:cs typeface="Courier New"/>
              </a:rPr>
              <a:t>sim;  sim.add_entity(&amp;shooty_melee_guy);  </a:t>
            </a:r>
            <a:r>
              <a:rPr sz="1600" spc="-7" dirty="0">
                <a:solidFill>
                  <a:srgbClr val="0000FF"/>
                </a:solidFill>
                <a:latin typeface="Courier New"/>
                <a:cs typeface="Courier New"/>
              </a:rPr>
              <a:t>while </a:t>
            </a:r>
            <a:r>
              <a:rPr sz="1600" spc="-7" dirty="0">
                <a:solidFill>
                  <a:srgbClr val="595959"/>
                </a:solidFill>
                <a:latin typeface="Courier New"/>
                <a:cs typeface="Courier New"/>
              </a:rPr>
              <a:t>(</a:t>
            </a:r>
            <a:r>
              <a:rPr sz="1600" spc="-7" dirty="0">
                <a:solidFill>
                  <a:srgbClr val="0000FF"/>
                </a:solidFill>
                <a:latin typeface="Courier New"/>
                <a:cs typeface="Courier New"/>
              </a:rPr>
              <a:t>true</a:t>
            </a:r>
            <a:r>
              <a:rPr sz="1600" spc="-7" dirty="0">
                <a:solidFill>
                  <a:srgbClr val="595959"/>
                </a:solidFill>
                <a:latin typeface="Courier New"/>
                <a:cs typeface="Courier New"/>
              </a:rPr>
              <a:t>)</a:t>
            </a:r>
            <a:r>
              <a:rPr sz="1600" spc="-13" dirty="0">
                <a:solidFill>
                  <a:srgbClr val="595959"/>
                </a:solidFill>
                <a:latin typeface="Courier New"/>
                <a:cs typeface="Courier New"/>
              </a:rPr>
              <a:t> </a:t>
            </a:r>
            <a:r>
              <a:rPr sz="1600" dirty="0">
                <a:solidFill>
                  <a:srgbClr val="595959"/>
                </a:solidFill>
                <a:latin typeface="Courier New"/>
                <a:cs typeface="Courier New"/>
              </a:rPr>
              <a:t>{</a:t>
            </a:r>
            <a:endParaRPr sz="1600">
              <a:latin typeface="Courier New"/>
              <a:cs typeface="Courier New"/>
            </a:endParaRPr>
          </a:p>
          <a:p>
            <a:pPr marL="1236102">
              <a:lnSpc>
                <a:spcPts val="1453"/>
              </a:lnSpc>
            </a:pPr>
            <a:r>
              <a:rPr sz="1600" spc="-7" dirty="0">
                <a:solidFill>
                  <a:srgbClr val="595959"/>
                </a:solidFill>
                <a:latin typeface="Courier New"/>
                <a:cs typeface="Courier New"/>
              </a:rPr>
              <a:t>sim.update();</a:t>
            </a:r>
            <a:endParaRPr sz="1600">
              <a:latin typeface="Courier New"/>
              <a:cs typeface="Courier New"/>
            </a:endParaRPr>
          </a:p>
          <a:p>
            <a:pPr marL="626518">
              <a:lnSpc>
                <a:spcPts val="1900"/>
              </a:lnSpc>
            </a:pPr>
            <a:r>
              <a:rPr sz="1600" dirty="0">
                <a:solidFill>
                  <a:srgbClr val="595959"/>
                </a:solidFill>
                <a:latin typeface="Courier New"/>
                <a:cs typeface="Courier New"/>
              </a:rPr>
              <a:t>}</a:t>
            </a:r>
            <a:endParaRPr sz="1600">
              <a:latin typeface="Courier New"/>
              <a:cs typeface="Courier New"/>
            </a:endParaRPr>
          </a:p>
          <a:p>
            <a:pPr marL="16933">
              <a:lnSpc>
                <a:spcPts val="1913"/>
              </a:lnSpc>
            </a:pPr>
            <a:r>
              <a:rPr sz="1600" dirty="0">
                <a:solidFill>
                  <a:srgbClr val="595959"/>
                </a:solidFill>
                <a:latin typeface="Courier New"/>
                <a:cs typeface="Courier New"/>
              </a:rPr>
              <a:t>}</a:t>
            </a:r>
            <a:endParaRPr sz="1600">
              <a:latin typeface="Courier New"/>
              <a:cs typeface="Courier New"/>
            </a:endParaRPr>
          </a:p>
        </p:txBody>
      </p:sp>
    </p:spTree>
    <p:extLst>
      <p:ext uri="{BB962C8B-B14F-4D97-AF65-F5344CB8AC3E}">
        <p14:creationId xmlns:p14="http://schemas.microsoft.com/office/powerpoint/2010/main" val="28955588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140462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Recap</a:t>
            </a:r>
            <a:endParaRPr sz="3733"/>
          </a:p>
        </p:txBody>
      </p:sp>
      <p:sp>
        <p:nvSpPr>
          <p:cNvPr id="3" name="object 3"/>
          <p:cNvSpPr txBox="1"/>
          <p:nvPr/>
        </p:nvSpPr>
        <p:spPr>
          <a:xfrm>
            <a:off x="674657" y="1578797"/>
            <a:ext cx="4880187" cy="683691"/>
          </a:xfrm>
          <a:prstGeom prst="rect">
            <a:avLst/>
          </a:prstGeom>
        </p:spPr>
        <p:txBody>
          <a:bodyPr vert="horz" wrap="square" lIns="0" tIns="16933" rIns="0" bIns="0" rtlCol="0">
            <a:spAutoFit/>
          </a:bodyPr>
          <a:lstStyle/>
          <a:p>
            <a:pPr marL="464808" marR="6773" indent="-447875">
              <a:lnSpc>
                <a:spcPct val="116100"/>
              </a:lnSpc>
              <a:spcBef>
                <a:spcPts val="133"/>
              </a:spcBef>
              <a:buChar char="●"/>
              <a:tabLst>
                <a:tab pos="463962" algn="l"/>
                <a:tab pos="465655" algn="l"/>
              </a:tabLst>
            </a:pPr>
            <a:r>
              <a:rPr sz="1867" spc="-7" dirty="0">
                <a:solidFill>
                  <a:srgbClr val="595959"/>
                </a:solidFill>
                <a:latin typeface="Arial"/>
                <a:cs typeface="Arial"/>
              </a:rPr>
              <a:t>No longer need to </a:t>
            </a:r>
            <a:r>
              <a:rPr sz="1867" dirty="0">
                <a:solidFill>
                  <a:srgbClr val="595959"/>
                </a:solidFill>
                <a:latin typeface="Arial"/>
                <a:cs typeface="Arial"/>
              </a:rPr>
              <a:t>change </a:t>
            </a:r>
            <a:r>
              <a:rPr sz="1867" spc="-7" dirty="0">
                <a:solidFill>
                  <a:srgbClr val="595959"/>
                </a:solidFill>
                <a:latin typeface="Arial"/>
                <a:cs typeface="Arial"/>
              </a:rPr>
              <a:t>entity hierarchy  to accommodate gameplay</a:t>
            </a:r>
            <a:r>
              <a:rPr sz="1867" spc="-40" dirty="0">
                <a:solidFill>
                  <a:srgbClr val="595959"/>
                </a:solidFill>
                <a:latin typeface="Arial"/>
                <a:cs typeface="Arial"/>
              </a:rPr>
              <a:t> </a:t>
            </a:r>
            <a:r>
              <a:rPr sz="1867" dirty="0">
                <a:solidFill>
                  <a:srgbClr val="595959"/>
                </a:solidFill>
                <a:latin typeface="Arial"/>
                <a:cs typeface="Arial"/>
              </a:rPr>
              <a:t>changes!</a:t>
            </a:r>
            <a:endParaRPr sz="1867">
              <a:latin typeface="Arial"/>
              <a:cs typeface="Arial"/>
            </a:endParaRPr>
          </a:p>
        </p:txBody>
      </p:sp>
    </p:spTree>
    <p:extLst>
      <p:ext uri="{BB962C8B-B14F-4D97-AF65-F5344CB8AC3E}">
        <p14:creationId xmlns:p14="http://schemas.microsoft.com/office/powerpoint/2010/main" val="294356509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140462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Recap</a:t>
            </a:r>
            <a:endParaRPr sz="3733"/>
          </a:p>
        </p:txBody>
      </p:sp>
      <p:sp>
        <p:nvSpPr>
          <p:cNvPr id="3" name="object 3"/>
          <p:cNvSpPr txBox="1"/>
          <p:nvPr/>
        </p:nvSpPr>
        <p:spPr>
          <a:xfrm>
            <a:off x="674657" y="1578798"/>
            <a:ext cx="4880187" cy="2016877"/>
          </a:xfrm>
          <a:prstGeom prst="rect">
            <a:avLst/>
          </a:prstGeom>
        </p:spPr>
        <p:txBody>
          <a:bodyPr vert="horz" wrap="square" lIns="0" tIns="16933" rIns="0" bIns="0" rtlCol="0">
            <a:spAutoFit/>
          </a:bodyPr>
          <a:lstStyle/>
          <a:p>
            <a:pPr marL="464808" marR="6773" indent="-447875">
              <a:lnSpc>
                <a:spcPct val="116100"/>
              </a:lnSpc>
              <a:spcBef>
                <a:spcPts val="133"/>
              </a:spcBef>
              <a:buChar char="●"/>
              <a:tabLst>
                <a:tab pos="463962" algn="l"/>
                <a:tab pos="465655" algn="l"/>
              </a:tabLst>
            </a:pPr>
            <a:r>
              <a:rPr sz="1867" spc="-7" dirty="0">
                <a:solidFill>
                  <a:srgbClr val="595959"/>
                </a:solidFill>
                <a:latin typeface="Arial"/>
                <a:cs typeface="Arial"/>
              </a:rPr>
              <a:t>No longer need to </a:t>
            </a:r>
            <a:r>
              <a:rPr sz="1867" dirty="0">
                <a:solidFill>
                  <a:srgbClr val="595959"/>
                </a:solidFill>
                <a:latin typeface="Arial"/>
                <a:cs typeface="Arial"/>
              </a:rPr>
              <a:t>change </a:t>
            </a:r>
            <a:r>
              <a:rPr sz="1867" spc="-7" dirty="0">
                <a:solidFill>
                  <a:srgbClr val="595959"/>
                </a:solidFill>
                <a:latin typeface="Arial"/>
                <a:cs typeface="Arial"/>
              </a:rPr>
              <a:t>entity hierarchy  to accommodate gameplay</a:t>
            </a:r>
            <a:r>
              <a:rPr sz="1867" spc="-40" dirty="0">
                <a:solidFill>
                  <a:srgbClr val="595959"/>
                </a:solidFill>
                <a:latin typeface="Arial"/>
                <a:cs typeface="Arial"/>
              </a:rPr>
              <a:t> </a:t>
            </a:r>
            <a:r>
              <a:rPr sz="1867" dirty="0">
                <a:solidFill>
                  <a:srgbClr val="595959"/>
                </a:solidFill>
                <a:latin typeface="Arial"/>
                <a:cs typeface="Arial"/>
              </a:rPr>
              <a:t>changes!</a:t>
            </a:r>
            <a:endParaRPr sz="1867">
              <a:latin typeface="Arial"/>
              <a:cs typeface="Arial"/>
            </a:endParaRPr>
          </a:p>
          <a:p>
            <a:pPr marL="464808" marR="218435" indent="-447875">
              <a:lnSpc>
                <a:spcPct val="116100"/>
              </a:lnSpc>
              <a:buChar char="●"/>
              <a:tabLst>
                <a:tab pos="463962" algn="l"/>
                <a:tab pos="465655" algn="l"/>
              </a:tabLst>
            </a:pPr>
            <a:r>
              <a:rPr sz="1867" spc="-7" dirty="0">
                <a:solidFill>
                  <a:srgbClr val="595959"/>
                </a:solidFill>
                <a:latin typeface="Arial"/>
                <a:cs typeface="Arial"/>
              </a:rPr>
              <a:t>Entities are built at </a:t>
            </a:r>
            <a:r>
              <a:rPr sz="1867" dirty="0">
                <a:solidFill>
                  <a:srgbClr val="595959"/>
                </a:solidFill>
                <a:latin typeface="Arial"/>
                <a:cs typeface="Arial"/>
              </a:rPr>
              <a:t>runtime. </a:t>
            </a:r>
            <a:r>
              <a:rPr sz="1867" spc="-7" dirty="0">
                <a:solidFill>
                  <a:srgbClr val="595959"/>
                </a:solidFill>
                <a:latin typeface="Arial"/>
                <a:cs typeface="Arial"/>
              </a:rPr>
              <a:t>This </a:t>
            </a:r>
            <a:r>
              <a:rPr sz="1867" dirty="0">
                <a:solidFill>
                  <a:srgbClr val="595959"/>
                </a:solidFill>
                <a:latin typeface="Arial"/>
                <a:cs typeface="Arial"/>
              </a:rPr>
              <a:t>could  </a:t>
            </a:r>
            <a:r>
              <a:rPr sz="1867" spc="-7" dirty="0">
                <a:solidFill>
                  <a:srgbClr val="595959"/>
                </a:solidFill>
                <a:latin typeface="Arial"/>
                <a:cs typeface="Arial"/>
              </a:rPr>
              <a:t>allow us to load </a:t>
            </a:r>
            <a:r>
              <a:rPr sz="1867" dirty="0">
                <a:solidFill>
                  <a:srgbClr val="595959"/>
                </a:solidFill>
                <a:latin typeface="Arial"/>
                <a:cs typeface="Arial"/>
              </a:rPr>
              <a:t>specifications </a:t>
            </a:r>
            <a:r>
              <a:rPr sz="1867" spc="-7" dirty="0">
                <a:solidFill>
                  <a:srgbClr val="595959"/>
                </a:solidFill>
                <a:latin typeface="Arial"/>
                <a:cs typeface="Arial"/>
              </a:rPr>
              <a:t>from data  </a:t>
            </a:r>
            <a:r>
              <a:rPr sz="1867" dirty="0">
                <a:solidFill>
                  <a:srgbClr val="595959"/>
                </a:solidFill>
                <a:latin typeface="Arial"/>
                <a:cs typeface="Arial"/>
              </a:rPr>
              <a:t>so </a:t>
            </a:r>
            <a:r>
              <a:rPr sz="1867" spc="-7" dirty="0">
                <a:solidFill>
                  <a:srgbClr val="595959"/>
                </a:solidFill>
                <a:latin typeface="Arial"/>
                <a:cs typeface="Arial"/>
              </a:rPr>
              <a:t>they </a:t>
            </a:r>
            <a:r>
              <a:rPr sz="1867" dirty="0">
                <a:solidFill>
                  <a:srgbClr val="595959"/>
                </a:solidFill>
                <a:latin typeface="Arial"/>
                <a:cs typeface="Arial"/>
              </a:rPr>
              <a:t>can </a:t>
            </a:r>
            <a:r>
              <a:rPr sz="1867" spc="-7" dirty="0">
                <a:solidFill>
                  <a:srgbClr val="595959"/>
                </a:solidFill>
                <a:latin typeface="Arial"/>
                <a:cs typeface="Arial"/>
              </a:rPr>
              <a:t>be </a:t>
            </a:r>
            <a:r>
              <a:rPr sz="1867" dirty="0">
                <a:solidFill>
                  <a:srgbClr val="595959"/>
                </a:solidFill>
                <a:latin typeface="Arial"/>
                <a:cs typeface="Arial"/>
              </a:rPr>
              <a:t>changed/created </a:t>
            </a:r>
            <a:r>
              <a:rPr sz="1867" spc="-7" dirty="0">
                <a:solidFill>
                  <a:srgbClr val="595959"/>
                </a:solidFill>
                <a:latin typeface="Arial"/>
                <a:cs typeface="Arial"/>
              </a:rPr>
              <a:t>by  designers without </a:t>
            </a:r>
            <a:r>
              <a:rPr sz="1867" dirty="0">
                <a:solidFill>
                  <a:srgbClr val="595959"/>
                </a:solidFill>
                <a:latin typeface="Arial"/>
                <a:cs typeface="Arial"/>
              </a:rPr>
              <a:t>recompiling</a:t>
            </a:r>
            <a:r>
              <a:rPr sz="1867" spc="-47" dirty="0">
                <a:solidFill>
                  <a:srgbClr val="595959"/>
                </a:solidFill>
                <a:latin typeface="Arial"/>
                <a:cs typeface="Arial"/>
              </a:rPr>
              <a:t> </a:t>
            </a:r>
            <a:r>
              <a:rPr sz="1867" dirty="0">
                <a:solidFill>
                  <a:srgbClr val="595959"/>
                </a:solidFill>
                <a:latin typeface="Arial"/>
                <a:cs typeface="Arial"/>
              </a:rPr>
              <a:t>code.</a:t>
            </a:r>
            <a:endParaRPr sz="1867">
              <a:latin typeface="Arial"/>
              <a:cs typeface="Arial"/>
            </a:endParaRPr>
          </a:p>
        </p:txBody>
      </p:sp>
    </p:spTree>
    <p:extLst>
      <p:ext uri="{BB962C8B-B14F-4D97-AF65-F5344CB8AC3E}">
        <p14:creationId xmlns:p14="http://schemas.microsoft.com/office/powerpoint/2010/main" val="127881518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140462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Recap</a:t>
            </a:r>
            <a:endParaRPr sz="3733"/>
          </a:p>
        </p:txBody>
      </p:sp>
      <p:sp>
        <p:nvSpPr>
          <p:cNvPr id="3" name="object 3"/>
          <p:cNvSpPr txBox="1"/>
          <p:nvPr/>
        </p:nvSpPr>
        <p:spPr>
          <a:xfrm>
            <a:off x="674657" y="1578798"/>
            <a:ext cx="4880187" cy="3016766"/>
          </a:xfrm>
          <a:prstGeom prst="rect">
            <a:avLst/>
          </a:prstGeom>
        </p:spPr>
        <p:txBody>
          <a:bodyPr vert="horz" wrap="square" lIns="0" tIns="16933" rIns="0" bIns="0" rtlCol="0">
            <a:spAutoFit/>
          </a:bodyPr>
          <a:lstStyle/>
          <a:p>
            <a:pPr marL="464808" marR="6773" indent="-447875">
              <a:lnSpc>
                <a:spcPct val="116100"/>
              </a:lnSpc>
              <a:spcBef>
                <a:spcPts val="133"/>
              </a:spcBef>
              <a:buChar char="●"/>
              <a:tabLst>
                <a:tab pos="463962" algn="l"/>
                <a:tab pos="465655" algn="l"/>
              </a:tabLst>
            </a:pPr>
            <a:r>
              <a:rPr sz="1867" spc="-7" dirty="0">
                <a:solidFill>
                  <a:srgbClr val="595959"/>
                </a:solidFill>
                <a:latin typeface="Arial"/>
                <a:cs typeface="Arial"/>
              </a:rPr>
              <a:t>No longer need to </a:t>
            </a:r>
            <a:r>
              <a:rPr sz="1867" dirty="0">
                <a:solidFill>
                  <a:srgbClr val="595959"/>
                </a:solidFill>
                <a:latin typeface="Arial"/>
                <a:cs typeface="Arial"/>
              </a:rPr>
              <a:t>change </a:t>
            </a:r>
            <a:r>
              <a:rPr sz="1867" spc="-7" dirty="0">
                <a:solidFill>
                  <a:srgbClr val="595959"/>
                </a:solidFill>
                <a:latin typeface="Arial"/>
                <a:cs typeface="Arial"/>
              </a:rPr>
              <a:t>entity hierarchy  to accommodate gameplay</a:t>
            </a:r>
            <a:r>
              <a:rPr sz="1867" spc="-40" dirty="0">
                <a:solidFill>
                  <a:srgbClr val="595959"/>
                </a:solidFill>
                <a:latin typeface="Arial"/>
                <a:cs typeface="Arial"/>
              </a:rPr>
              <a:t> </a:t>
            </a:r>
            <a:r>
              <a:rPr sz="1867" dirty="0">
                <a:solidFill>
                  <a:srgbClr val="595959"/>
                </a:solidFill>
                <a:latin typeface="Arial"/>
                <a:cs typeface="Arial"/>
              </a:rPr>
              <a:t>changes!</a:t>
            </a:r>
            <a:endParaRPr sz="1867">
              <a:latin typeface="Arial"/>
              <a:cs typeface="Arial"/>
            </a:endParaRPr>
          </a:p>
          <a:p>
            <a:pPr marL="464808" marR="218435" indent="-447875">
              <a:lnSpc>
                <a:spcPct val="116100"/>
              </a:lnSpc>
              <a:buChar char="●"/>
              <a:tabLst>
                <a:tab pos="463962" algn="l"/>
                <a:tab pos="465655" algn="l"/>
              </a:tabLst>
            </a:pPr>
            <a:r>
              <a:rPr sz="1867" spc="-7" dirty="0">
                <a:solidFill>
                  <a:srgbClr val="595959"/>
                </a:solidFill>
                <a:latin typeface="Arial"/>
                <a:cs typeface="Arial"/>
              </a:rPr>
              <a:t>Entities are built at </a:t>
            </a:r>
            <a:r>
              <a:rPr sz="1867" dirty="0">
                <a:solidFill>
                  <a:srgbClr val="595959"/>
                </a:solidFill>
                <a:latin typeface="Arial"/>
                <a:cs typeface="Arial"/>
              </a:rPr>
              <a:t>runtime. </a:t>
            </a:r>
            <a:r>
              <a:rPr sz="1867" spc="-7" dirty="0">
                <a:solidFill>
                  <a:srgbClr val="595959"/>
                </a:solidFill>
                <a:latin typeface="Arial"/>
                <a:cs typeface="Arial"/>
              </a:rPr>
              <a:t>This </a:t>
            </a:r>
            <a:r>
              <a:rPr sz="1867" dirty="0">
                <a:solidFill>
                  <a:srgbClr val="595959"/>
                </a:solidFill>
                <a:latin typeface="Arial"/>
                <a:cs typeface="Arial"/>
              </a:rPr>
              <a:t>could  </a:t>
            </a:r>
            <a:r>
              <a:rPr sz="1867" spc="-7" dirty="0">
                <a:solidFill>
                  <a:srgbClr val="595959"/>
                </a:solidFill>
                <a:latin typeface="Arial"/>
                <a:cs typeface="Arial"/>
              </a:rPr>
              <a:t>allow us to load </a:t>
            </a:r>
            <a:r>
              <a:rPr sz="1867" dirty="0">
                <a:solidFill>
                  <a:srgbClr val="595959"/>
                </a:solidFill>
                <a:latin typeface="Arial"/>
                <a:cs typeface="Arial"/>
              </a:rPr>
              <a:t>specifications </a:t>
            </a:r>
            <a:r>
              <a:rPr sz="1867" spc="-7" dirty="0">
                <a:solidFill>
                  <a:srgbClr val="595959"/>
                </a:solidFill>
                <a:latin typeface="Arial"/>
                <a:cs typeface="Arial"/>
              </a:rPr>
              <a:t>from data  </a:t>
            </a:r>
            <a:r>
              <a:rPr sz="1867" dirty="0">
                <a:solidFill>
                  <a:srgbClr val="595959"/>
                </a:solidFill>
                <a:latin typeface="Arial"/>
                <a:cs typeface="Arial"/>
              </a:rPr>
              <a:t>so </a:t>
            </a:r>
            <a:r>
              <a:rPr sz="1867" spc="-7" dirty="0">
                <a:solidFill>
                  <a:srgbClr val="595959"/>
                </a:solidFill>
                <a:latin typeface="Arial"/>
                <a:cs typeface="Arial"/>
              </a:rPr>
              <a:t>they </a:t>
            </a:r>
            <a:r>
              <a:rPr sz="1867" dirty="0">
                <a:solidFill>
                  <a:srgbClr val="595959"/>
                </a:solidFill>
                <a:latin typeface="Arial"/>
                <a:cs typeface="Arial"/>
              </a:rPr>
              <a:t>can </a:t>
            </a:r>
            <a:r>
              <a:rPr sz="1867" spc="-7" dirty="0">
                <a:solidFill>
                  <a:srgbClr val="595959"/>
                </a:solidFill>
                <a:latin typeface="Arial"/>
                <a:cs typeface="Arial"/>
              </a:rPr>
              <a:t>be </a:t>
            </a:r>
            <a:r>
              <a:rPr sz="1867" dirty="0">
                <a:solidFill>
                  <a:srgbClr val="595959"/>
                </a:solidFill>
                <a:latin typeface="Arial"/>
                <a:cs typeface="Arial"/>
              </a:rPr>
              <a:t>changed/created </a:t>
            </a:r>
            <a:r>
              <a:rPr sz="1867" spc="-7" dirty="0">
                <a:solidFill>
                  <a:srgbClr val="595959"/>
                </a:solidFill>
                <a:latin typeface="Arial"/>
                <a:cs typeface="Arial"/>
              </a:rPr>
              <a:t>by  designers without </a:t>
            </a:r>
            <a:r>
              <a:rPr sz="1867" dirty="0">
                <a:solidFill>
                  <a:srgbClr val="595959"/>
                </a:solidFill>
                <a:latin typeface="Arial"/>
                <a:cs typeface="Arial"/>
              </a:rPr>
              <a:t>recompiling</a:t>
            </a:r>
            <a:r>
              <a:rPr sz="1867" spc="-47" dirty="0">
                <a:solidFill>
                  <a:srgbClr val="595959"/>
                </a:solidFill>
                <a:latin typeface="Arial"/>
                <a:cs typeface="Arial"/>
              </a:rPr>
              <a:t> </a:t>
            </a:r>
            <a:r>
              <a:rPr sz="1867" dirty="0">
                <a:solidFill>
                  <a:srgbClr val="595959"/>
                </a:solidFill>
                <a:latin typeface="Arial"/>
                <a:cs typeface="Arial"/>
              </a:rPr>
              <a:t>code.</a:t>
            </a:r>
            <a:endParaRPr sz="1867">
              <a:latin typeface="Arial"/>
              <a:cs typeface="Arial"/>
            </a:endParaRPr>
          </a:p>
          <a:p>
            <a:pPr marL="464808" marR="123610" indent="-447875">
              <a:lnSpc>
                <a:spcPct val="116100"/>
              </a:lnSpc>
              <a:buChar char="●"/>
              <a:tabLst>
                <a:tab pos="463962" algn="l"/>
                <a:tab pos="465655" algn="l"/>
              </a:tabLst>
            </a:pPr>
            <a:r>
              <a:rPr sz="1867" spc="-7" dirty="0">
                <a:solidFill>
                  <a:srgbClr val="595959"/>
                </a:solidFill>
                <a:latin typeface="Arial"/>
                <a:cs typeface="Arial"/>
              </a:rPr>
              <a:t>Easier to </a:t>
            </a:r>
            <a:r>
              <a:rPr sz="1867" dirty="0">
                <a:solidFill>
                  <a:srgbClr val="595959"/>
                </a:solidFill>
                <a:latin typeface="Arial"/>
                <a:cs typeface="Arial"/>
              </a:rPr>
              <a:t>maintain since (ideally)  components </a:t>
            </a:r>
            <a:r>
              <a:rPr sz="1867" spc="-7" dirty="0">
                <a:solidFill>
                  <a:srgbClr val="595959"/>
                </a:solidFill>
                <a:latin typeface="Arial"/>
                <a:cs typeface="Arial"/>
              </a:rPr>
              <a:t>are independent of each  other and </a:t>
            </a:r>
            <a:r>
              <a:rPr sz="1867" dirty="0">
                <a:solidFill>
                  <a:srgbClr val="595959"/>
                </a:solidFill>
                <a:latin typeface="Arial"/>
                <a:cs typeface="Arial"/>
              </a:rPr>
              <a:t>can </a:t>
            </a:r>
            <a:r>
              <a:rPr sz="1867" spc="-7" dirty="0">
                <a:solidFill>
                  <a:srgbClr val="595959"/>
                </a:solidFill>
                <a:latin typeface="Arial"/>
                <a:cs typeface="Arial"/>
              </a:rPr>
              <a:t>be understood in</a:t>
            </a:r>
            <a:r>
              <a:rPr sz="1867" spc="-107" dirty="0">
                <a:solidFill>
                  <a:srgbClr val="595959"/>
                </a:solidFill>
                <a:latin typeface="Arial"/>
                <a:cs typeface="Arial"/>
              </a:rPr>
              <a:t> </a:t>
            </a:r>
            <a:r>
              <a:rPr sz="1867" spc="-7" dirty="0">
                <a:solidFill>
                  <a:srgbClr val="595959"/>
                </a:solidFill>
                <a:latin typeface="Arial"/>
                <a:cs typeface="Arial"/>
              </a:rPr>
              <a:t>isolation.</a:t>
            </a:r>
            <a:endParaRPr sz="1867">
              <a:latin typeface="Arial"/>
              <a:cs typeface="Arial"/>
            </a:endParaRPr>
          </a:p>
        </p:txBody>
      </p:sp>
    </p:spTree>
    <p:extLst>
      <p:ext uri="{BB962C8B-B14F-4D97-AF65-F5344CB8AC3E}">
        <p14:creationId xmlns:p14="http://schemas.microsoft.com/office/powerpoint/2010/main" val="151361975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677405"/>
            <a:ext cx="4801447"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Can we do any</a:t>
            </a:r>
            <a:r>
              <a:rPr sz="3733" spc="-113" dirty="0"/>
              <a:t> </a:t>
            </a:r>
            <a:r>
              <a:rPr sz="3733" spc="-7" dirty="0"/>
              <a:t>better?</a:t>
            </a:r>
            <a:endParaRPr sz="3733"/>
          </a:p>
        </p:txBody>
      </p:sp>
      <p:sp>
        <p:nvSpPr>
          <p:cNvPr id="3" name="object 3"/>
          <p:cNvSpPr txBox="1"/>
          <p:nvPr/>
        </p:nvSpPr>
        <p:spPr>
          <a:xfrm>
            <a:off x="674658" y="1578797"/>
            <a:ext cx="4962313" cy="3162318"/>
          </a:xfrm>
          <a:prstGeom prst="rect">
            <a:avLst/>
          </a:prstGeom>
        </p:spPr>
        <p:txBody>
          <a:bodyPr vert="horz" wrap="square" lIns="0" tIns="16933" rIns="0" bIns="0" rtlCol="0">
            <a:spAutoFit/>
          </a:bodyPr>
          <a:lstStyle/>
          <a:p>
            <a:pPr marL="464808" marR="88051" indent="-447875">
              <a:lnSpc>
                <a:spcPct val="116100"/>
              </a:lnSpc>
              <a:spcBef>
                <a:spcPts val="133"/>
              </a:spcBef>
              <a:buChar char="●"/>
              <a:tabLst>
                <a:tab pos="463962" algn="l"/>
                <a:tab pos="465655" algn="l"/>
              </a:tabLst>
            </a:pPr>
            <a:r>
              <a:rPr sz="1867" spc="-7" dirty="0">
                <a:solidFill>
                  <a:srgbClr val="595959"/>
                </a:solidFill>
                <a:latin typeface="Arial"/>
                <a:cs typeface="Arial"/>
              </a:rPr>
              <a:t>What we have is </a:t>
            </a:r>
            <a:r>
              <a:rPr sz="1867" dirty="0">
                <a:solidFill>
                  <a:srgbClr val="595959"/>
                </a:solidFill>
                <a:latin typeface="Arial"/>
                <a:cs typeface="Arial"/>
              </a:rPr>
              <a:t>very </a:t>
            </a:r>
            <a:r>
              <a:rPr sz="1867" spc="-7" dirty="0">
                <a:solidFill>
                  <a:srgbClr val="595959"/>
                </a:solidFill>
                <a:latin typeface="Arial"/>
                <a:cs typeface="Arial"/>
              </a:rPr>
              <a:t>flexible and </a:t>
            </a:r>
            <a:r>
              <a:rPr sz="1867" dirty="0">
                <a:solidFill>
                  <a:srgbClr val="595959"/>
                </a:solidFill>
                <a:latin typeface="Arial"/>
                <a:cs typeface="Arial"/>
              </a:rPr>
              <a:t>similar  </a:t>
            </a:r>
            <a:r>
              <a:rPr sz="1867" spc="-7" dirty="0">
                <a:solidFill>
                  <a:srgbClr val="595959"/>
                </a:solidFill>
                <a:latin typeface="Arial"/>
                <a:cs typeface="Arial"/>
              </a:rPr>
              <a:t>approaches have been used to </a:t>
            </a:r>
            <a:r>
              <a:rPr sz="1867" dirty="0">
                <a:solidFill>
                  <a:srgbClr val="595959"/>
                </a:solidFill>
                <a:latin typeface="Arial"/>
                <a:cs typeface="Arial"/>
              </a:rPr>
              <a:t>ship many  modern</a:t>
            </a:r>
            <a:r>
              <a:rPr sz="1867" spc="-13" dirty="0">
                <a:solidFill>
                  <a:srgbClr val="595959"/>
                </a:solidFill>
                <a:latin typeface="Arial"/>
                <a:cs typeface="Arial"/>
              </a:rPr>
              <a:t> </a:t>
            </a:r>
            <a:r>
              <a:rPr sz="1867" spc="-7" dirty="0">
                <a:solidFill>
                  <a:srgbClr val="595959"/>
                </a:solidFill>
                <a:latin typeface="Arial"/>
                <a:cs typeface="Arial"/>
              </a:rPr>
              <a:t>games.</a:t>
            </a:r>
            <a:endParaRPr sz="1867">
              <a:latin typeface="Arial"/>
              <a:cs typeface="Arial"/>
            </a:endParaRPr>
          </a:p>
          <a:p>
            <a:pPr marL="464808" marR="185415" indent="-447875">
              <a:lnSpc>
                <a:spcPct val="116100"/>
              </a:lnSpc>
              <a:buChar char="●"/>
              <a:tabLst>
                <a:tab pos="463962" algn="l"/>
                <a:tab pos="465655" algn="l"/>
              </a:tabLst>
            </a:pPr>
            <a:r>
              <a:rPr sz="1867" spc="-7" dirty="0">
                <a:solidFill>
                  <a:srgbClr val="595959"/>
                </a:solidFill>
                <a:latin typeface="Arial"/>
                <a:cs typeface="Arial"/>
              </a:rPr>
              <a:t>But… the performance is </a:t>
            </a:r>
            <a:r>
              <a:rPr sz="1867" dirty="0">
                <a:solidFill>
                  <a:srgbClr val="595959"/>
                </a:solidFill>
                <a:latin typeface="Arial"/>
                <a:cs typeface="Arial"/>
              </a:rPr>
              <a:t>still </a:t>
            </a:r>
            <a:r>
              <a:rPr sz="1867" spc="-7" dirty="0">
                <a:solidFill>
                  <a:srgbClr val="595959"/>
                </a:solidFill>
                <a:latin typeface="Arial"/>
                <a:cs typeface="Arial"/>
              </a:rPr>
              <a:t>not great.  Perhaps even worse than the inheritance  based</a:t>
            </a:r>
            <a:r>
              <a:rPr sz="1867" spc="-13" dirty="0">
                <a:solidFill>
                  <a:srgbClr val="595959"/>
                </a:solidFill>
                <a:latin typeface="Arial"/>
                <a:cs typeface="Arial"/>
              </a:rPr>
              <a:t> </a:t>
            </a:r>
            <a:r>
              <a:rPr sz="1867" spc="-7" dirty="0">
                <a:solidFill>
                  <a:srgbClr val="595959"/>
                </a:solidFill>
                <a:latin typeface="Arial"/>
                <a:cs typeface="Arial"/>
              </a:rPr>
              <a:t>approach.</a:t>
            </a:r>
            <a:endParaRPr sz="1867">
              <a:latin typeface="Arial"/>
              <a:cs typeface="Arial"/>
            </a:endParaRPr>
          </a:p>
          <a:p>
            <a:pPr marL="1074393" marR="242987" lvl="1" indent="-427556">
              <a:lnSpc>
                <a:spcPct val="114599"/>
              </a:lnSpc>
              <a:spcBef>
                <a:spcPts val="87"/>
              </a:spcBef>
              <a:buChar char="○"/>
              <a:tabLst>
                <a:tab pos="1073546" algn="l"/>
                <a:tab pos="1075240" algn="l"/>
              </a:tabLst>
            </a:pPr>
            <a:r>
              <a:rPr sz="1600" spc="-7" dirty="0">
                <a:solidFill>
                  <a:srgbClr val="595959"/>
                </a:solidFill>
                <a:latin typeface="Arial"/>
                <a:cs typeface="Arial"/>
              </a:rPr>
              <a:t>Even </a:t>
            </a:r>
            <a:r>
              <a:rPr sz="1600" dirty="0">
                <a:solidFill>
                  <a:srgbClr val="595959"/>
                </a:solidFill>
                <a:latin typeface="Arial"/>
                <a:cs typeface="Arial"/>
              </a:rPr>
              <a:t>more virtual method calls (for</a:t>
            </a:r>
            <a:r>
              <a:rPr sz="1600" spc="-160" dirty="0">
                <a:solidFill>
                  <a:srgbClr val="595959"/>
                </a:solidFill>
                <a:latin typeface="Arial"/>
                <a:cs typeface="Arial"/>
              </a:rPr>
              <a:t> </a:t>
            </a:r>
            <a:r>
              <a:rPr sz="1600" spc="-7" dirty="0">
                <a:solidFill>
                  <a:srgbClr val="595959"/>
                </a:solidFill>
                <a:latin typeface="Arial"/>
                <a:cs typeface="Arial"/>
              </a:rPr>
              <a:t>each  </a:t>
            </a:r>
            <a:r>
              <a:rPr sz="1600" dirty="0">
                <a:solidFill>
                  <a:srgbClr val="595959"/>
                </a:solidFill>
                <a:latin typeface="Arial"/>
                <a:cs typeface="Arial"/>
              </a:rPr>
              <a:t>component </a:t>
            </a:r>
            <a:r>
              <a:rPr sz="1600" spc="-7" dirty="0">
                <a:solidFill>
                  <a:srgbClr val="595959"/>
                </a:solidFill>
                <a:latin typeface="Arial"/>
                <a:cs typeface="Arial"/>
              </a:rPr>
              <a:t>instead of each</a:t>
            </a:r>
            <a:r>
              <a:rPr sz="1600" spc="-47" dirty="0">
                <a:solidFill>
                  <a:srgbClr val="595959"/>
                </a:solidFill>
                <a:latin typeface="Arial"/>
                <a:cs typeface="Arial"/>
              </a:rPr>
              <a:t> </a:t>
            </a:r>
            <a:r>
              <a:rPr sz="1600" spc="-7" dirty="0">
                <a:solidFill>
                  <a:srgbClr val="595959"/>
                </a:solidFill>
                <a:latin typeface="Arial"/>
                <a:cs typeface="Arial"/>
              </a:rPr>
              <a:t>entity).</a:t>
            </a:r>
            <a:endParaRPr sz="1600">
              <a:latin typeface="Arial"/>
              <a:cs typeface="Arial"/>
            </a:endParaRPr>
          </a:p>
          <a:p>
            <a:pPr marL="1074393" marR="6773" lvl="1" indent="-427556">
              <a:lnSpc>
                <a:spcPct val="114599"/>
              </a:lnSpc>
              <a:buChar char="○"/>
              <a:tabLst>
                <a:tab pos="1073546" algn="l"/>
                <a:tab pos="1075240" algn="l"/>
              </a:tabLst>
            </a:pPr>
            <a:r>
              <a:rPr sz="1600" spc="-7" dirty="0">
                <a:solidFill>
                  <a:srgbClr val="595959"/>
                </a:solidFill>
                <a:latin typeface="Arial"/>
                <a:cs typeface="Arial"/>
              </a:rPr>
              <a:t>Need to </a:t>
            </a:r>
            <a:r>
              <a:rPr sz="1600" dirty="0">
                <a:solidFill>
                  <a:srgbClr val="595959"/>
                </a:solidFill>
                <a:latin typeface="Arial"/>
                <a:cs typeface="Arial"/>
              </a:rPr>
              <a:t>search </a:t>
            </a:r>
            <a:r>
              <a:rPr sz="1600" spc="-7" dirty="0">
                <a:solidFill>
                  <a:srgbClr val="595959"/>
                </a:solidFill>
                <a:latin typeface="Arial"/>
                <a:cs typeface="Arial"/>
              </a:rPr>
              <a:t>list for </a:t>
            </a:r>
            <a:r>
              <a:rPr sz="1600" dirty="0">
                <a:solidFill>
                  <a:srgbClr val="595959"/>
                </a:solidFill>
                <a:latin typeface="Arial"/>
                <a:cs typeface="Arial"/>
              </a:rPr>
              <a:t>correct component</a:t>
            </a:r>
            <a:r>
              <a:rPr sz="1600" spc="-127" dirty="0">
                <a:solidFill>
                  <a:srgbClr val="595959"/>
                </a:solidFill>
                <a:latin typeface="Arial"/>
                <a:cs typeface="Arial"/>
              </a:rPr>
              <a:t> </a:t>
            </a:r>
            <a:r>
              <a:rPr sz="1600" spc="-7" dirty="0">
                <a:solidFill>
                  <a:srgbClr val="595959"/>
                </a:solidFill>
                <a:latin typeface="Arial"/>
                <a:cs typeface="Arial"/>
              </a:rPr>
              <a:t>if  </a:t>
            </a:r>
            <a:r>
              <a:rPr sz="1600" dirty="0">
                <a:solidFill>
                  <a:srgbClr val="595959"/>
                </a:solidFill>
                <a:latin typeface="Arial"/>
                <a:cs typeface="Arial"/>
              </a:rPr>
              <a:t>specific </a:t>
            </a:r>
            <a:r>
              <a:rPr sz="1600" spc="-7" dirty="0">
                <a:solidFill>
                  <a:srgbClr val="595959"/>
                </a:solidFill>
                <a:latin typeface="Arial"/>
                <a:cs typeface="Arial"/>
              </a:rPr>
              <a:t>functionality is</a:t>
            </a:r>
            <a:r>
              <a:rPr sz="1600" spc="-33" dirty="0">
                <a:solidFill>
                  <a:srgbClr val="595959"/>
                </a:solidFill>
                <a:latin typeface="Arial"/>
                <a:cs typeface="Arial"/>
              </a:rPr>
              <a:t> </a:t>
            </a:r>
            <a:r>
              <a:rPr sz="1600" spc="-7" dirty="0">
                <a:solidFill>
                  <a:srgbClr val="595959"/>
                </a:solidFill>
                <a:latin typeface="Arial"/>
                <a:cs typeface="Arial"/>
              </a:rPr>
              <a:t>needed.</a:t>
            </a:r>
            <a:endParaRPr sz="1600">
              <a:latin typeface="Arial"/>
              <a:cs typeface="Arial"/>
            </a:endParaRPr>
          </a:p>
        </p:txBody>
      </p:sp>
    </p:spTree>
    <p:extLst>
      <p:ext uri="{BB962C8B-B14F-4D97-AF65-F5344CB8AC3E}">
        <p14:creationId xmlns:p14="http://schemas.microsoft.com/office/powerpoint/2010/main" val="330062217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Or…"/>
          <p:cNvSpPr txBox="1">
            <a:spLocks noGrp="1"/>
          </p:cNvSpPr>
          <p:nvPr>
            <p:ph type="title"/>
          </p:nvPr>
        </p:nvSpPr>
        <p:spPr>
          <a:prstGeom prst="rect">
            <a:avLst/>
          </a:prstGeom>
        </p:spPr>
        <p:txBody>
          <a:bodyPr/>
          <a:lstStyle/>
          <a:p>
            <a:endParaRPr dirty="0"/>
          </a:p>
        </p:txBody>
      </p:sp>
      <p:sp>
        <p:nvSpPr>
          <p:cNvPr id="350" name="View it all as a relational database…"/>
          <p:cNvSpPr txBox="1">
            <a:spLocks noGrp="1"/>
          </p:cNvSpPr>
          <p:nvPr>
            <p:ph type="body" idx="1"/>
          </p:nvPr>
        </p:nvSpPr>
        <p:spPr>
          <a:prstGeom prst="rect">
            <a:avLst/>
          </a:prstGeom>
        </p:spPr>
        <p:txBody>
          <a:bodyPr/>
          <a:lstStyle/>
          <a:p>
            <a:r>
              <a:t>View it all as a relational database</a:t>
            </a:r>
          </a:p>
          <a:p>
            <a:r>
              <a:t>Build in introspection-like capabilities</a:t>
            </a:r>
          </a:p>
          <a:p>
            <a:r>
              <a:t>Attach code to objects for flexibility</a:t>
            </a:r>
          </a:p>
          <a:p>
            <a:r>
              <a:t>Support varieties of storage forms</a:t>
            </a:r>
          </a:p>
          <a:p>
            <a:r>
              <a:t>Inheritance and instantiation of aspects</a:t>
            </a:r>
          </a:p>
        </p:txBody>
      </p:sp>
    </p:spTree>
    <p:extLst>
      <p:ext uri="{BB962C8B-B14F-4D97-AF65-F5344CB8AC3E}">
        <p14:creationId xmlns:p14="http://schemas.microsoft.com/office/powerpoint/2010/main" val="3451274092"/>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5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5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35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35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35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35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 grpId="0" build="p" bldLvl="5" animBg="1" advAuto="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Runtime Object Model Architectures"/>
          <p:cNvSpPr txBox="1">
            <a:spLocks noGrp="1"/>
          </p:cNvSpPr>
          <p:nvPr>
            <p:ph type="title"/>
          </p:nvPr>
        </p:nvSpPr>
        <p:spPr>
          <a:prstGeom prst="rect">
            <a:avLst/>
          </a:prstGeom>
        </p:spPr>
        <p:txBody>
          <a:bodyPr/>
          <a:lstStyle/>
          <a:p>
            <a:r>
              <a:t>Runtime Object Model Architectures</a:t>
            </a:r>
          </a:p>
        </p:txBody>
      </p:sp>
      <p:sp>
        <p:nvSpPr>
          <p:cNvPr id="355" name="Object-centric: Each tool-side game object is represented at runtime by a class instance or a small cluster of interconnected instances. Each object has attributes and behaviors, classic OOP…"/>
          <p:cNvSpPr txBox="1">
            <a:spLocks noGrp="1"/>
          </p:cNvSpPr>
          <p:nvPr>
            <p:ph type="body" idx="1"/>
          </p:nvPr>
        </p:nvSpPr>
        <p:spPr>
          <a:xfrm>
            <a:off x="2416969" y="1946672"/>
            <a:ext cx="7358063" cy="4420195"/>
          </a:xfrm>
          <a:prstGeom prst="rect">
            <a:avLst/>
          </a:prstGeom>
        </p:spPr>
        <p:txBody>
          <a:bodyPr/>
          <a:lstStyle/>
          <a:p>
            <a:r>
              <a:t>Object-centric: Each tool-side game object is represented at runtime by a class instance or a small cluster of interconnected instances. Each object has attributes and behaviors, classic OOP</a:t>
            </a:r>
          </a:p>
          <a:p>
            <a:r>
              <a:t>Property-centric: Each object is represented by ID only, properties are distributed across (many) data tables which are keyed by the object ID</a:t>
            </a:r>
          </a:p>
        </p:txBody>
      </p:sp>
    </p:spTree>
    <p:extLst>
      <p:ext uri="{BB962C8B-B14F-4D97-AF65-F5344CB8AC3E}">
        <p14:creationId xmlns:p14="http://schemas.microsoft.com/office/powerpoint/2010/main" val="3397877948"/>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5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5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35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 grpId="0" build="p" bldLvl="5" animBg="1" advAuto="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Property-Centric Architectures"/>
          <p:cNvSpPr txBox="1">
            <a:spLocks noGrp="1"/>
          </p:cNvSpPr>
          <p:nvPr>
            <p:ph type="title"/>
          </p:nvPr>
        </p:nvSpPr>
        <p:spPr>
          <a:prstGeom prst="rect">
            <a:avLst/>
          </a:prstGeom>
        </p:spPr>
        <p:txBody>
          <a:bodyPr/>
          <a:lstStyle/>
          <a:p>
            <a:r>
              <a:t>Property-Centric Architectures</a:t>
            </a:r>
          </a:p>
        </p:txBody>
      </p:sp>
      <p:sp>
        <p:nvSpPr>
          <p:cNvPr id="358" name="Object1…"/>
          <p:cNvSpPr txBox="1"/>
          <p:nvPr/>
        </p:nvSpPr>
        <p:spPr>
          <a:xfrm>
            <a:off x="1685149" y="2022735"/>
            <a:ext cx="4536306" cy="4616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p>
            <a:pPr defTabSz="410751">
              <a:defRPr sz="4200">
                <a:latin typeface="+mj-lt"/>
                <a:ea typeface="+mj-ea"/>
                <a:cs typeface="+mj-cs"/>
                <a:sym typeface="Baskerville"/>
              </a:defRPr>
            </a:pPr>
            <a:r>
              <a:rPr sz="2953"/>
              <a:t>Object1</a:t>
            </a:r>
          </a:p>
          <a:p>
            <a:pPr lvl="1" indent="241093" defTabSz="410751">
              <a:defRPr sz="4200">
                <a:latin typeface="+mj-lt"/>
                <a:ea typeface="+mj-ea"/>
                <a:cs typeface="+mj-cs"/>
                <a:sym typeface="Baskerville"/>
              </a:defRPr>
            </a:pPr>
            <a:r>
              <a:rPr sz="2953"/>
              <a:t>Position = (0, 3, 15)</a:t>
            </a:r>
          </a:p>
          <a:p>
            <a:pPr lvl="1" indent="241093" defTabSz="410751">
              <a:defRPr sz="4200">
                <a:latin typeface="+mj-lt"/>
                <a:ea typeface="+mj-ea"/>
                <a:cs typeface="+mj-cs"/>
                <a:sym typeface="Baskerville"/>
              </a:defRPr>
            </a:pPr>
            <a:r>
              <a:rPr sz="2953"/>
              <a:t>Orientation = (0, 42, 0)</a:t>
            </a:r>
          </a:p>
          <a:p>
            <a:pPr lvl="1" indent="241093" defTabSz="410751">
              <a:defRPr sz="4200">
                <a:latin typeface="+mj-lt"/>
                <a:ea typeface="+mj-ea"/>
                <a:cs typeface="+mj-cs"/>
                <a:sym typeface="Baskerville"/>
              </a:defRPr>
            </a:pPr>
            <a:endParaRPr sz="2953"/>
          </a:p>
          <a:p>
            <a:pPr defTabSz="410751">
              <a:defRPr sz="4200">
                <a:latin typeface="+mj-lt"/>
                <a:ea typeface="+mj-ea"/>
                <a:cs typeface="+mj-cs"/>
                <a:sym typeface="Baskerville"/>
              </a:defRPr>
            </a:pPr>
            <a:r>
              <a:rPr sz="2953"/>
              <a:t>Object2</a:t>
            </a:r>
          </a:p>
          <a:p>
            <a:pPr lvl="1" indent="241093" defTabSz="410751">
              <a:defRPr sz="4200">
                <a:latin typeface="+mj-lt"/>
                <a:ea typeface="+mj-ea"/>
                <a:cs typeface="+mj-cs"/>
                <a:sym typeface="Baskerville"/>
              </a:defRPr>
            </a:pPr>
            <a:r>
              <a:rPr sz="2953"/>
              <a:t>Position = (-12, 0, 8)</a:t>
            </a:r>
          </a:p>
          <a:p>
            <a:pPr lvl="1" indent="241093" defTabSz="410751">
              <a:defRPr sz="4200">
                <a:latin typeface="+mj-lt"/>
                <a:ea typeface="+mj-ea"/>
                <a:cs typeface="+mj-cs"/>
                <a:sym typeface="Baskerville"/>
              </a:defRPr>
            </a:pPr>
            <a:r>
              <a:rPr sz="2953"/>
              <a:t>Health = 15</a:t>
            </a:r>
          </a:p>
          <a:p>
            <a:pPr lvl="1" indent="241093" defTabSz="410751">
              <a:defRPr sz="4200">
                <a:latin typeface="+mj-lt"/>
                <a:ea typeface="+mj-ea"/>
                <a:cs typeface="+mj-cs"/>
                <a:sym typeface="Baskerville"/>
              </a:defRPr>
            </a:pPr>
            <a:endParaRPr sz="2953"/>
          </a:p>
          <a:p>
            <a:pPr defTabSz="410751">
              <a:defRPr sz="4200">
                <a:latin typeface="+mj-lt"/>
                <a:ea typeface="+mj-ea"/>
                <a:cs typeface="+mj-cs"/>
                <a:sym typeface="Baskerville"/>
              </a:defRPr>
            </a:pPr>
            <a:r>
              <a:rPr sz="2953"/>
              <a:t>Object3 </a:t>
            </a:r>
          </a:p>
          <a:p>
            <a:pPr lvl="1" indent="241093" defTabSz="410751">
              <a:defRPr sz="4200">
                <a:latin typeface="+mj-lt"/>
                <a:ea typeface="+mj-ea"/>
                <a:cs typeface="+mj-cs"/>
                <a:sym typeface="Baskerville"/>
              </a:defRPr>
            </a:pPr>
            <a:r>
              <a:rPr sz="2953"/>
              <a:t>Orientation = (0, -87, 10)</a:t>
            </a:r>
          </a:p>
        </p:txBody>
      </p:sp>
      <p:sp>
        <p:nvSpPr>
          <p:cNvPr id="359" name="Position…"/>
          <p:cNvSpPr txBox="1"/>
          <p:nvPr/>
        </p:nvSpPr>
        <p:spPr>
          <a:xfrm>
            <a:off x="6712563" y="2022735"/>
            <a:ext cx="3994684" cy="4616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p>
            <a:pPr defTabSz="410751">
              <a:defRPr sz="4200">
                <a:latin typeface="+mj-lt"/>
                <a:ea typeface="+mj-ea"/>
                <a:cs typeface="+mj-cs"/>
                <a:sym typeface="Baskerville"/>
              </a:defRPr>
            </a:pPr>
            <a:r>
              <a:rPr sz="2953"/>
              <a:t>Position</a:t>
            </a:r>
          </a:p>
          <a:p>
            <a:pPr lvl="1" indent="241093" defTabSz="410751">
              <a:defRPr sz="4200">
                <a:latin typeface="+mj-lt"/>
                <a:ea typeface="+mj-ea"/>
                <a:cs typeface="+mj-cs"/>
                <a:sym typeface="Baskerville"/>
              </a:defRPr>
            </a:pPr>
            <a:r>
              <a:rPr sz="2953"/>
              <a:t>Object1 = (0, 3, 15)</a:t>
            </a:r>
          </a:p>
          <a:p>
            <a:pPr lvl="1" indent="241093" defTabSz="410751">
              <a:defRPr sz="4200">
                <a:latin typeface="+mj-lt"/>
                <a:ea typeface="+mj-ea"/>
                <a:cs typeface="+mj-cs"/>
                <a:sym typeface="Baskerville"/>
              </a:defRPr>
            </a:pPr>
            <a:r>
              <a:rPr sz="2953"/>
              <a:t>Object2 = (-12, 0, 8)</a:t>
            </a:r>
          </a:p>
          <a:p>
            <a:pPr lvl="1" indent="241093" defTabSz="410751">
              <a:defRPr sz="4200">
                <a:latin typeface="+mj-lt"/>
                <a:ea typeface="+mj-ea"/>
                <a:cs typeface="+mj-cs"/>
                <a:sym typeface="Baskerville"/>
              </a:defRPr>
            </a:pPr>
            <a:endParaRPr sz="2953"/>
          </a:p>
          <a:p>
            <a:pPr defTabSz="410751">
              <a:defRPr sz="4200">
                <a:latin typeface="+mj-lt"/>
                <a:ea typeface="+mj-ea"/>
                <a:cs typeface="+mj-cs"/>
                <a:sym typeface="Baskerville"/>
              </a:defRPr>
            </a:pPr>
            <a:r>
              <a:rPr sz="2953"/>
              <a:t>Orientation</a:t>
            </a:r>
          </a:p>
          <a:p>
            <a:pPr lvl="1" indent="241093" defTabSz="410751">
              <a:defRPr sz="4200">
                <a:latin typeface="+mj-lt"/>
                <a:ea typeface="+mj-ea"/>
                <a:cs typeface="+mj-cs"/>
                <a:sym typeface="Baskerville"/>
              </a:defRPr>
            </a:pPr>
            <a:r>
              <a:rPr sz="2953"/>
              <a:t>Object1 = (0, 42, 0)</a:t>
            </a:r>
          </a:p>
          <a:p>
            <a:pPr lvl="1" indent="241093" defTabSz="410751">
              <a:defRPr sz="4200">
                <a:latin typeface="+mj-lt"/>
                <a:ea typeface="+mj-ea"/>
                <a:cs typeface="+mj-cs"/>
                <a:sym typeface="Baskerville"/>
              </a:defRPr>
            </a:pPr>
            <a:r>
              <a:rPr sz="2953"/>
              <a:t>Object3 = (0, -87, 10)</a:t>
            </a:r>
          </a:p>
          <a:p>
            <a:pPr lvl="1" indent="241093" defTabSz="410751">
              <a:defRPr sz="4200">
                <a:latin typeface="+mj-lt"/>
                <a:ea typeface="+mj-ea"/>
                <a:cs typeface="+mj-cs"/>
                <a:sym typeface="Baskerville"/>
              </a:defRPr>
            </a:pPr>
            <a:endParaRPr sz="2953"/>
          </a:p>
          <a:p>
            <a:pPr defTabSz="410751">
              <a:defRPr sz="4200">
                <a:latin typeface="+mj-lt"/>
                <a:ea typeface="+mj-ea"/>
                <a:cs typeface="+mj-cs"/>
                <a:sym typeface="Baskerville"/>
              </a:defRPr>
            </a:pPr>
            <a:r>
              <a:rPr sz="2953"/>
              <a:t>Health</a:t>
            </a:r>
          </a:p>
          <a:p>
            <a:pPr lvl="1" indent="241093" defTabSz="410751">
              <a:defRPr sz="4200">
                <a:latin typeface="+mj-lt"/>
                <a:ea typeface="+mj-ea"/>
                <a:cs typeface="+mj-cs"/>
                <a:sym typeface="Baskerville"/>
              </a:defRPr>
            </a:pPr>
            <a:r>
              <a:rPr sz="2953"/>
              <a:t>Object2 = 15</a:t>
            </a:r>
          </a:p>
        </p:txBody>
      </p:sp>
      <p:grpSp>
        <p:nvGrpSpPr>
          <p:cNvPr id="362" name="Group"/>
          <p:cNvGrpSpPr/>
          <p:nvPr/>
        </p:nvGrpSpPr>
        <p:grpSpPr>
          <a:xfrm>
            <a:off x="1721918" y="2242782"/>
            <a:ext cx="4018360" cy="4304109"/>
            <a:chOff x="0" y="0"/>
            <a:chExt cx="5714999" cy="6121398"/>
          </a:xfrm>
        </p:grpSpPr>
        <p:sp>
          <p:nvSpPr>
            <p:cNvPr id="360" name="Line"/>
            <p:cNvSpPr/>
            <p:nvPr/>
          </p:nvSpPr>
          <p:spPr>
            <a:xfrm>
              <a:off x="0" y="0"/>
              <a:ext cx="5608342" cy="6121399"/>
            </a:xfrm>
            <a:prstGeom prst="line">
              <a:avLst/>
            </a:prstGeom>
            <a:noFill/>
            <a:ln w="76200" cap="flat">
              <a:solidFill>
                <a:srgbClr val="FF2600"/>
              </a:solidFill>
              <a:prstDash val="solid"/>
              <a:miter lim="400000"/>
            </a:ln>
            <a:effectLst/>
          </p:spPr>
          <p:txBody>
            <a:bodyPr wrap="square" lIns="35719" tIns="35719" rIns="35719" bIns="35719" numCol="1" anchor="ctr">
              <a:noAutofit/>
            </a:bodyPr>
            <a:lstStyle/>
            <a:p>
              <a:endParaRPr sz="1266"/>
            </a:p>
          </p:txBody>
        </p:sp>
        <p:sp>
          <p:nvSpPr>
            <p:cNvPr id="361" name="Line"/>
            <p:cNvSpPr/>
            <p:nvPr/>
          </p:nvSpPr>
          <p:spPr>
            <a:xfrm flipH="1">
              <a:off x="106658" y="0"/>
              <a:ext cx="5608342" cy="6121399"/>
            </a:xfrm>
            <a:prstGeom prst="line">
              <a:avLst/>
            </a:prstGeom>
            <a:noFill/>
            <a:ln w="76200" cap="flat">
              <a:solidFill>
                <a:srgbClr val="FF2600"/>
              </a:solidFill>
              <a:prstDash val="solid"/>
              <a:miter lim="400000"/>
            </a:ln>
            <a:effectLst/>
          </p:spPr>
          <p:txBody>
            <a:bodyPr wrap="square" lIns="35719" tIns="35719" rIns="35719" bIns="35719" numCol="1" anchor="ctr">
              <a:noAutofit/>
            </a:bodyPr>
            <a:lstStyle/>
            <a:p>
              <a:endParaRPr sz="1266"/>
            </a:p>
          </p:txBody>
        </p:sp>
      </p:grpSp>
    </p:spTree>
    <p:extLst>
      <p:ext uri="{BB962C8B-B14F-4D97-AF65-F5344CB8AC3E}">
        <p14:creationId xmlns:p14="http://schemas.microsoft.com/office/powerpoint/2010/main" val="3091965499"/>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3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 grpId="0" animBg="1" advAuto="0"/>
      <p:bldP spid="362" grpId="0" animBg="1" advAuto="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Behavior in a Property-Centric Architecture"/>
          <p:cNvSpPr txBox="1">
            <a:spLocks noGrp="1"/>
          </p:cNvSpPr>
          <p:nvPr>
            <p:ph type="title"/>
          </p:nvPr>
        </p:nvSpPr>
        <p:spPr>
          <a:prstGeom prst="rect">
            <a:avLst/>
          </a:prstGeom>
        </p:spPr>
        <p:txBody>
          <a:bodyPr/>
          <a:lstStyle/>
          <a:p>
            <a:r>
              <a:t>Behavior in a Property-Centric Architecture</a:t>
            </a:r>
          </a:p>
        </p:txBody>
      </p:sp>
      <p:sp>
        <p:nvSpPr>
          <p:cNvPr id="367" name="In the classes themselves…"/>
          <p:cNvSpPr txBox="1">
            <a:spLocks noGrp="1"/>
          </p:cNvSpPr>
          <p:nvPr>
            <p:ph type="body" idx="1"/>
          </p:nvPr>
        </p:nvSpPr>
        <p:spPr>
          <a:xfrm>
            <a:off x="2416969" y="1946672"/>
            <a:ext cx="7358063" cy="4330898"/>
          </a:xfrm>
          <a:prstGeom prst="rect">
            <a:avLst/>
          </a:prstGeom>
        </p:spPr>
        <p:txBody>
          <a:bodyPr>
            <a:normAutofit fontScale="85000" lnSpcReduction="20000"/>
          </a:bodyPr>
          <a:lstStyle/>
          <a:p>
            <a:pPr marL="577220" indent="-353986">
              <a:defRPr sz="3700"/>
            </a:pPr>
            <a:r>
              <a:t>In the classes themselves</a:t>
            </a:r>
          </a:p>
          <a:p>
            <a:pPr marL="889748" lvl="1" indent="-353986">
              <a:defRPr sz="3700"/>
            </a:pPr>
            <a:r>
              <a:t>Each property is implemented as a property class with hard-coded methods, properties call each other with event messages (e.g. Health calls RBD to ragdoll)</a:t>
            </a:r>
          </a:p>
          <a:p>
            <a:pPr marL="577220" indent="-353986">
              <a:defRPr sz="3700"/>
            </a:pPr>
            <a:r>
              <a:t>Via Scripts</a:t>
            </a:r>
          </a:p>
          <a:p>
            <a:pPr marL="889748" lvl="1" indent="-353986">
              <a:defRPr sz="3700"/>
            </a:pPr>
            <a:r>
              <a:t>Properties are raw data, and include a special ScriptId property that points to a script that contains the behavior</a:t>
            </a:r>
          </a:p>
        </p:txBody>
      </p:sp>
    </p:spTree>
    <p:extLst>
      <p:ext uri="{BB962C8B-B14F-4D97-AF65-F5344CB8AC3E}">
        <p14:creationId xmlns:p14="http://schemas.microsoft.com/office/powerpoint/2010/main" val="2885485641"/>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67">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67">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367">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367">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3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 grpId="0" build="p" bldLvl="5" animBg="1" advAuto="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static const U32 MAX_GAME_OBJECTS = 1024…"/>
          <p:cNvSpPr txBox="1"/>
          <p:nvPr/>
        </p:nvSpPr>
        <p:spPr>
          <a:xfrm>
            <a:off x="1532930" y="531951"/>
            <a:ext cx="9117211" cy="62941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defTabSz="410751">
              <a:defRPr sz="2500">
                <a:latin typeface="Courier New"/>
                <a:ea typeface="Courier New"/>
                <a:cs typeface="Courier New"/>
                <a:sym typeface="Courier New"/>
              </a:defRPr>
            </a:pPr>
            <a:r>
              <a:rPr sz="1758"/>
              <a:t>static const U32 MAX_GAME_OBJECTS = 1024</a:t>
            </a:r>
          </a:p>
          <a:p>
            <a:pPr defTabSz="410751">
              <a:defRPr sz="2500">
                <a:latin typeface="Courier New"/>
                <a:ea typeface="Courier New"/>
                <a:cs typeface="Courier New"/>
                <a:sym typeface="Courier New"/>
              </a:defRPr>
            </a:pPr>
            <a:endParaRPr sz="1758"/>
          </a:p>
          <a:p>
            <a:pPr defTabSz="410751">
              <a:defRPr sz="2500">
                <a:latin typeface="Courier New"/>
                <a:ea typeface="Courier New"/>
                <a:cs typeface="Courier New"/>
                <a:sym typeface="Courier New"/>
              </a:defRPr>
            </a:pPr>
            <a:endParaRPr sz="1758"/>
          </a:p>
          <a:p>
            <a:pPr defTabSz="410751">
              <a:defRPr sz="2500">
                <a:latin typeface="Courier New"/>
                <a:ea typeface="Courier New"/>
                <a:cs typeface="Courier New"/>
                <a:sym typeface="Courier New"/>
              </a:defRPr>
            </a:pPr>
            <a:r>
              <a:rPr sz="1758"/>
              <a:t>struct GameObject</a:t>
            </a:r>
          </a:p>
          <a:p>
            <a:pPr defTabSz="410751">
              <a:defRPr sz="2500">
                <a:latin typeface="Courier New"/>
                <a:ea typeface="Courier New"/>
                <a:cs typeface="Courier New"/>
                <a:sym typeface="Courier New"/>
              </a:defRPr>
            </a:pPr>
            <a:r>
              <a:rPr sz="1758"/>
              <a:t>{</a:t>
            </a:r>
          </a:p>
          <a:p>
            <a:pPr lvl="1" indent="241093" defTabSz="410751">
              <a:defRPr sz="2500">
                <a:latin typeface="Courier New"/>
                <a:ea typeface="Courier New"/>
                <a:cs typeface="Courier New"/>
                <a:sym typeface="Courier New"/>
              </a:defRPr>
            </a:pPr>
            <a:r>
              <a:rPr sz="1758"/>
              <a:t>U32           m_uniqueId;</a:t>
            </a:r>
          </a:p>
          <a:p>
            <a:pPr lvl="1" indent="241093" defTabSz="410751">
              <a:defRPr sz="2500">
                <a:latin typeface="Courier New"/>
                <a:ea typeface="Courier New"/>
                <a:cs typeface="Courier New"/>
                <a:sym typeface="Courier New"/>
              </a:defRPr>
            </a:pPr>
            <a:r>
              <a:rPr sz="1758"/>
              <a:t>Vector        m_pos;</a:t>
            </a:r>
          </a:p>
          <a:p>
            <a:pPr lvl="1" indent="241093" defTabSz="410751">
              <a:defRPr sz="2500">
                <a:latin typeface="Courier New"/>
                <a:ea typeface="Courier New"/>
                <a:cs typeface="Courier New"/>
                <a:sym typeface="Courier New"/>
              </a:defRPr>
            </a:pPr>
            <a:r>
              <a:rPr sz="1758"/>
              <a:t>Quaternion    m_rot;</a:t>
            </a:r>
          </a:p>
          <a:p>
            <a:pPr lvl="1" indent="241093" defTabSz="410751">
              <a:defRPr sz="2500">
                <a:latin typeface="Courier New"/>
                <a:ea typeface="Courier New"/>
                <a:cs typeface="Courier New"/>
                <a:sym typeface="Courier New"/>
              </a:defRPr>
            </a:pPr>
            <a:r>
              <a:rPr sz="1758"/>
              <a:t>float         m_health;</a:t>
            </a:r>
          </a:p>
          <a:p>
            <a:pPr lvl="1" indent="241093" defTabSz="410751">
              <a:defRPr sz="2500">
                <a:latin typeface="Courier New"/>
                <a:ea typeface="Courier New"/>
                <a:cs typeface="Courier New"/>
                <a:sym typeface="Courier New"/>
              </a:defRPr>
            </a:pPr>
            <a:r>
              <a:rPr sz="1758"/>
              <a:t>// ...</a:t>
            </a:r>
          </a:p>
          <a:p>
            <a:pPr defTabSz="410751">
              <a:defRPr sz="2500">
                <a:latin typeface="Courier New"/>
                <a:ea typeface="Courier New"/>
                <a:cs typeface="Courier New"/>
                <a:sym typeface="Courier New"/>
              </a:defRPr>
            </a:pPr>
            <a:r>
              <a:rPr sz="1758"/>
              <a:t>};</a:t>
            </a:r>
          </a:p>
          <a:p>
            <a:pPr defTabSz="410751">
              <a:defRPr sz="2500">
                <a:latin typeface="Courier New"/>
                <a:ea typeface="Courier New"/>
                <a:cs typeface="Courier New"/>
                <a:sym typeface="Courier New"/>
              </a:defRPr>
            </a:pPr>
            <a:r>
              <a:rPr sz="1758"/>
              <a:t>GameObject g_aAllGameObjects[MAX_GAME_OBJECTS];</a:t>
            </a:r>
          </a:p>
          <a:p>
            <a:pPr defTabSz="410751">
              <a:defRPr sz="2500">
                <a:latin typeface="Courier New"/>
                <a:ea typeface="Courier New"/>
                <a:cs typeface="Courier New"/>
                <a:sym typeface="Courier New"/>
              </a:defRPr>
            </a:pPr>
            <a:endParaRPr sz="1758"/>
          </a:p>
          <a:p>
            <a:pPr defTabSz="410751">
              <a:defRPr sz="2500">
                <a:latin typeface="Courier New"/>
                <a:ea typeface="Courier New"/>
                <a:cs typeface="Courier New"/>
                <a:sym typeface="Courier New"/>
              </a:defRPr>
            </a:pPr>
            <a:endParaRPr sz="1758"/>
          </a:p>
          <a:p>
            <a:pPr defTabSz="410751">
              <a:defRPr sz="2500">
                <a:latin typeface="Courier New"/>
                <a:ea typeface="Courier New"/>
                <a:cs typeface="Courier New"/>
                <a:sym typeface="Courier New"/>
              </a:defRPr>
            </a:pPr>
            <a:r>
              <a:rPr sz="1758"/>
              <a:t>struct AllGameObjects</a:t>
            </a:r>
          </a:p>
          <a:p>
            <a:pPr defTabSz="410751">
              <a:defRPr sz="2500">
                <a:latin typeface="Courier New"/>
                <a:ea typeface="Courier New"/>
                <a:cs typeface="Courier New"/>
                <a:sym typeface="Courier New"/>
              </a:defRPr>
            </a:pPr>
            <a:r>
              <a:rPr sz="1758"/>
              <a:t>{</a:t>
            </a:r>
          </a:p>
          <a:p>
            <a:pPr lvl="1" indent="241093" defTabSz="410751">
              <a:defRPr sz="2500">
                <a:latin typeface="Courier New"/>
                <a:ea typeface="Courier New"/>
                <a:cs typeface="Courier New"/>
                <a:sym typeface="Courier New"/>
              </a:defRPr>
            </a:pPr>
            <a:r>
              <a:rPr sz="1758"/>
              <a:t>U32          m_aUniqueId[MAX_GAME_OBJECTS];</a:t>
            </a:r>
          </a:p>
          <a:p>
            <a:pPr lvl="1" indent="241093" defTabSz="410751">
              <a:defRPr sz="2500">
                <a:latin typeface="Courier New"/>
                <a:ea typeface="Courier New"/>
                <a:cs typeface="Courier New"/>
                <a:sym typeface="Courier New"/>
              </a:defRPr>
            </a:pPr>
            <a:r>
              <a:rPr sz="1758"/>
              <a:t>Vector       m_aPos[MAX_GAME_OBJECTS];</a:t>
            </a:r>
          </a:p>
          <a:p>
            <a:pPr lvl="1" indent="241093" defTabSz="410751">
              <a:defRPr sz="2500">
                <a:latin typeface="Courier New"/>
                <a:ea typeface="Courier New"/>
                <a:cs typeface="Courier New"/>
                <a:sym typeface="Courier New"/>
              </a:defRPr>
            </a:pPr>
            <a:r>
              <a:rPr sz="1758"/>
              <a:t>Quaternion   m_aRot[MAX_GAME_OBJECTS];</a:t>
            </a:r>
          </a:p>
          <a:p>
            <a:pPr lvl="1" indent="241093" defTabSz="410751">
              <a:defRPr sz="2500">
                <a:latin typeface="Courier New"/>
                <a:ea typeface="Courier New"/>
                <a:cs typeface="Courier New"/>
                <a:sym typeface="Courier New"/>
              </a:defRPr>
            </a:pPr>
            <a:r>
              <a:rPr sz="1758"/>
              <a:t>float        m_aHealth[MAX_GAME_OBJECTS];</a:t>
            </a:r>
          </a:p>
          <a:p>
            <a:pPr lvl="1" indent="241093" defTabSz="410751">
              <a:defRPr sz="2500">
                <a:latin typeface="Courier New"/>
                <a:ea typeface="Courier New"/>
                <a:cs typeface="Courier New"/>
                <a:sym typeface="Courier New"/>
              </a:defRPr>
            </a:pPr>
            <a:r>
              <a:rPr sz="1758"/>
              <a:t>// ...</a:t>
            </a:r>
          </a:p>
          <a:p>
            <a:pPr defTabSz="410751">
              <a:defRPr sz="2500">
                <a:latin typeface="Courier New"/>
                <a:ea typeface="Courier New"/>
                <a:cs typeface="Courier New"/>
                <a:sym typeface="Courier New"/>
              </a:defRPr>
            </a:pPr>
            <a:r>
              <a:rPr sz="1758"/>
              <a:t>};</a:t>
            </a:r>
          </a:p>
          <a:p>
            <a:pPr defTabSz="410751">
              <a:defRPr sz="2500">
                <a:latin typeface="Courier New"/>
                <a:ea typeface="Courier New"/>
                <a:cs typeface="Courier New"/>
                <a:sym typeface="Courier New"/>
              </a:defRPr>
            </a:pPr>
            <a:r>
              <a:rPr sz="1758"/>
              <a:t>AllGameObjects g_allGameObjects;</a:t>
            </a:r>
          </a:p>
        </p:txBody>
      </p:sp>
      <p:sp>
        <p:nvSpPr>
          <p:cNvPr id="372" name="Traditional array-of-structs"/>
          <p:cNvSpPr txBox="1"/>
          <p:nvPr/>
        </p:nvSpPr>
        <p:spPr>
          <a:xfrm>
            <a:off x="5988924" y="1344066"/>
            <a:ext cx="4092724" cy="5265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4200">
                <a:solidFill>
                  <a:srgbClr val="FF2600"/>
                </a:solidFill>
                <a:latin typeface="+mj-lt"/>
                <a:ea typeface="+mj-ea"/>
                <a:cs typeface="+mj-cs"/>
                <a:sym typeface="Baskerville"/>
              </a:defRPr>
            </a:lvl1pPr>
          </a:lstStyle>
          <a:p>
            <a:r>
              <a:rPr sz="2953"/>
              <a:t>Traditional array-of-structs</a:t>
            </a:r>
          </a:p>
        </p:txBody>
      </p:sp>
      <p:sp>
        <p:nvSpPr>
          <p:cNvPr id="373" name="Cache-friendly struct-of-arrays"/>
          <p:cNvSpPr txBox="1"/>
          <p:nvPr/>
        </p:nvSpPr>
        <p:spPr>
          <a:xfrm>
            <a:off x="5978215" y="4219426"/>
            <a:ext cx="4685643" cy="5265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4200">
                <a:solidFill>
                  <a:srgbClr val="FF2600"/>
                </a:solidFill>
                <a:latin typeface="+mj-lt"/>
                <a:ea typeface="+mj-ea"/>
                <a:cs typeface="+mj-cs"/>
                <a:sym typeface="Baskerville"/>
              </a:defRPr>
            </a:lvl1pPr>
          </a:lstStyle>
          <a:p>
            <a:r>
              <a:rPr sz="2953"/>
              <a:t>Cache-friendly struct-of-arrays</a:t>
            </a:r>
          </a:p>
        </p:txBody>
      </p:sp>
    </p:spTree>
    <p:extLst>
      <p:ext uri="{BB962C8B-B14F-4D97-AF65-F5344CB8AC3E}">
        <p14:creationId xmlns:p14="http://schemas.microsoft.com/office/powerpoint/2010/main" val="6264605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Integrating Subsystems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389243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Major Subsystems"/>
          <p:cNvSpPr txBox="1">
            <a:spLocks noGrp="1"/>
          </p:cNvSpPr>
          <p:nvPr>
            <p:ph type="title"/>
          </p:nvPr>
        </p:nvSpPr>
        <p:spPr>
          <a:prstGeom prst="rect">
            <a:avLst/>
          </a:prstGeom>
        </p:spPr>
        <p:txBody>
          <a:bodyPr/>
          <a:lstStyle/>
          <a:p>
            <a:r>
              <a:rPr dirty="0" smtClean="0"/>
              <a:t>Major Subsystems</a:t>
            </a:r>
            <a:endParaRPr dirty="0"/>
          </a:p>
        </p:txBody>
      </p:sp>
      <p:sp>
        <p:nvSpPr>
          <p:cNvPr id="378" name="Games have reasonable natural decomposition into subcomponents…"/>
          <p:cNvSpPr txBox="1">
            <a:spLocks noGrp="1"/>
          </p:cNvSpPr>
          <p:nvPr>
            <p:ph type="body" idx="1"/>
          </p:nvPr>
        </p:nvSpPr>
        <p:spPr>
          <a:prstGeom prst="rect">
            <a:avLst/>
          </a:prstGeom>
        </p:spPr>
        <p:txBody>
          <a:bodyPr/>
          <a:lstStyle/>
          <a:p>
            <a:r>
              <a:t>Games have reasonable natural decomposition into subcomponents</a:t>
            </a:r>
          </a:p>
          <a:p>
            <a:r>
              <a:t>Subsystems should have well-defined boundaries and communication paths</a:t>
            </a:r>
          </a:p>
          <a:p>
            <a:pPr lvl="1"/>
            <a:r>
              <a:t>Probably going to be implemented by different people</a:t>
            </a:r>
          </a:p>
          <a:p>
            <a:pPr lvl="1"/>
            <a:r>
              <a:t>Manage complexity</a:t>
            </a:r>
          </a:p>
        </p:txBody>
      </p:sp>
    </p:spTree>
    <p:extLst>
      <p:ext uri="{BB962C8B-B14F-4D97-AF65-F5344CB8AC3E}">
        <p14:creationId xmlns:p14="http://schemas.microsoft.com/office/powerpoint/2010/main" val="852479227"/>
      </p:ext>
    </p:extLst>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7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7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37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37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37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 grpId="0" build="p" bldLvl="5" animBg="1" advAuto="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Major Subsystems"/>
          <p:cNvSpPr txBox="1">
            <a:spLocks noGrp="1"/>
          </p:cNvSpPr>
          <p:nvPr>
            <p:ph type="title"/>
          </p:nvPr>
        </p:nvSpPr>
        <p:spPr>
          <a:prstGeom prst="rect">
            <a:avLst/>
          </a:prstGeom>
        </p:spPr>
        <p:txBody>
          <a:bodyPr/>
          <a:lstStyle/>
          <a:p>
            <a:r>
              <a:t>Major Subsystems</a:t>
            </a:r>
          </a:p>
        </p:txBody>
      </p:sp>
      <p:sp>
        <p:nvSpPr>
          <p:cNvPr id="381" name="Input…"/>
          <p:cNvSpPr txBox="1">
            <a:spLocks noGrp="1"/>
          </p:cNvSpPr>
          <p:nvPr>
            <p:ph type="body" idx="1"/>
          </p:nvPr>
        </p:nvSpPr>
        <p:spPr>
          <a:prstGeom prst="rect">
            <a:avLst/>
          </a:prstGeom>
        </p:spPr>
        <p:txBody>
          <a:bodyPr numCol="2" spcCol="523240"/>
          <a:lstStyle/>
          <a:p>
            <a:pPr marL="682458" indent="-459224"/>
            <a:r>
              <a:t>Input</a:t>
            </a:r>
          </a:p>
          <a:p>
            <a:pPr marL="682458" indent="-459224"/>
            <a:r>
              <a:t>Networking</a:t>
            </a:r>
          </a:p>
          <a:p>
            <a:pPr marL="682458" indent="-459224"/>
            <a:r>
              <a:t>Rendering</a:t>
            </a:r>
          </a:p>
          <a:p>
            <a:pPr marL="682458" indent="-459224"/>
            <a:r>
              <a:t>Sound</a:t>
            </a:r>
          </a:p>
          <a:p>
            <a:pPr marL="682458" indent="-459224"/>
            <a:r>
              <a:t>Script</a:t>
            </a:r>
          </a:p>
          <a:p>
            <a:pPr marL="682458" indent="-459224"/>
            <a:r>
              <a:t>Loading</a:t>
            </a:r>
          </a:p>
          <a:p>
            <a:pPr marL="682458" indent="-459224"/>
            <a:r>
              <a:t>Front-end</a:t>
            </a:r>
          </a:p>
          <a:p>
            <a:pPr marL="682458" indent="-459224"/>
            <a:r>
              <a:t>HUD</a:t>
            </a:r>
          </a:p>
          <a:p>
            <a:pPr marL="682458" indent="-459224"/>
            <a:r>
              <a:t>Physics</a:t>
            </a:r>
          </a:p>
          <a:p>
            <a:pPr marL="682458" indent="-459224"/>
            <a:r>
              <a:t>AI</a:t>
            </a:r>
          </a:p>
          <a:p>
            <a:pPr marL="682458" indent="-459224"/>
            <a:r>
              <a:t>Gameplay</a:t>
            </a:r>
          </a:p>
        </p:txBody>
      </p:sp>
    </p:spTree>
    <p:extLst>
      <p:ext uri="{BB962C8B-B14F-4D97-AF65-F5344CB8AC3E}">
        <p14:creationId xmlns:p14="http://schemas.microsoft.com/office/powerpoint/2010/main" val="3507758565"/>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81">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8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38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38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38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381">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381">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381">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381">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381">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p:tmAbs val="0"/>
                                  </p:iterate>
                                  <p:childTnLst>
                                    <p:set>
                                      <p:cBhvr>
                                        <p:cTn id="44" fill="hold"/>
                                        <p:tgtEl>
                                          <p:spTgt spid="381">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iterate>
                                    <p:tmAbs val="0"/>
                                  </p:iterate>
                                  <p:childTnLst>
                                    <p:set>
                                      <p:cBhvr>
                                        <p:cTn id="48" fill="hold"/>
                                        <p:tgtEl>
                                          <p:spTgt spid="381">
                                            <p:txEl>
                                              <p:pRg st="10" end="1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p:tmAbs val="0"/>
                                  </p:iterate>
                                  <p:childTnLst>
                                    <p:set>
                                      <p:cBhvr>
                                        <p:cTn id="52" fill="hold"/>
                                        <p:tgtEl>
                                          <p:spTgt spid="381">
                                            <p:txEl>
                                              <p:charRg st="82" end="8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 grpId="0" build="p" bldLvl="5" animBg="1" advAuto="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Modularity"/>
          <p:cNvSpPr txBox="1">
            <a:spLocks noGrp="1"/>
          </p:cNvSpPr>
          <p:nvPr>
            <p:ph type="title"/>
          </p:nvPr>
        </p:nvSpPr>
        <p:spPr>
          <a:prstGeom prst="rect">
            <a:avLst/>
          </a:prstGeom>
        </p:spPr>
        <p:txBody>
          <a:bodyPr/>
          <a:lstStyle/>
          <a:p>
            <a:r>
              <a:rPr dirty="0"/>
              <a:t>Modularity</a:t>
            </a:r>
          </a:p>
        </p:txBody>
      </p:sp>
      <p:sp>
        <p:nvSpPr>
          <p:cNvPr id="384" name="We want the major subsystems to be as decoupled as possible…"/>
          <p:cNvSpPr txBox="1">
            <a:spLocks noGrp="1"/>
          </p:cNvSpPr>
          <p:nvPr>
            <p:ph type="body" idx="1"/>
          </p:nvPr>
        </p:nvSpPr>
        <p:spPr>
          <a:xfrm>
            <a:off x="2416969" y="1946672"/>
            <a:ext cx="7358063" cy="4765540"/>
          </a:xfrm>
          <a:prstGeom prst="rect">
            <a:avLst/>
          </a:prstGeom>
        </p:spPr>
        <p:txBody>
          <a:bodyPr>
            <a:normAutofit fontScale="77500" lnSpcReduction="20000"/>
          </a:bodyPr>
          <a:lstStyle/>
          <a:p>
            <a:pPr marL="558086" indent="-334851">
              <a:spcBef>
                <a:spcPts val="1266"/>
              </a:spcBef>
              <a:defRPr sz="3500"/>
            </a:pPr>
            <a:r>
              <a:rPr dirty="0"/>
              <a:t>We want the major subsystems to be as decoupled as possible</a:t>
            </a:r>
          </a:p>
          <a:p>
            <a:pPr marL="870614" lvl="1" indent="-334851">
              <a:spcBef>
                <a:spcPts val="1266"/>
              </a:spcBef>
              <a:defRPr sz="3500"/>
            </a:pPr>
            <a:r>
              <a:rPr dirty="0"/>
              <a:t>Each system should view other systems as a black box, regardless of internal complexity</a:t>
            </a:r>
          </a:p>
          <a:p>
            <a:pPr marL="870614" lvl="1" indent="-334851">
              <a:spcBef>
                <a:spcPts val="1266"/>
              </a:spcBef>
              <a:defRPr sz="3500"/>
            </a:pPr>
            <a:r>
              <a:rPr dirty="0"/>
              <a:t>Communication should occur through narrow, well-defined interfaces</a:t>
            </a:r>
          </a:p>
          <a:p>
            <a:pPr marL="558086" indent="-334851">
              <a:spcBef>
                <a:spcPts val="1266"/>
              </a:spcBef>
              <a:defRPr sz="3500"/>
            </a:pPr>
            <a:r>
              <a:rPr dirty="0"/>
              <a:t>All systems are collaborating on updating or presenting the evolving state of the game</a:t>
            </a:r>
          </a:p>
          <a:p>
            <a:pPr marL="558086" indent="-334851">
              <a:spcBef>
                <a:spcPts val="1266"/>
              </a:spcBef>
              <a:defRPr sz="3500"/>
            </a:pPr>
            <a:r>
              <a:rPr dirty="0"/>
              <a:t>Designing this game state while maintaining modularity is the fundamental architectural challenge</a:t>
            </a:r>
          </a:p>
        </p:txBody>
      </p:sp>
    </p:spTree>
    <p:extLst>
      <p:ext uri="{BB962C8B-B14F-4D97-AF65-F5344CB8AC3E}">
        <p14:creationId xmlns:p14="http://schemas.microsoft.com/office/powerpoint/2010/main" val="4149747732"/>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84">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84">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384">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384">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384">
                                            <p:txEl>
                                              <p:pRg st="3" end="3"/>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iterate>
                                    <p:tmAbs val="0"/>
                                  </p:iterate>
                                  <p:childTnLst>
                                    <p:set>
                                      <p:cBhvr>
                                        <p:cTn id="21" fill="hold"/>
                                        <p:tgtEl>
                                          <p:spTgt spid="38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 grpId="0" build="p" bldLvl="5" animBg="1" advAuto="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Object References"/>
          <p:cNvSpPr txBox="1">
            <a:spLocks noGrp="1"/>
          </p:cNvSpPr>
          <p:nvPr>
            <p:ph type="title"/>
          </p:nvPr>
        </p:nvSpPr>
        <p:spPr>
          <a:prstGeom prst="rect">
            <a:avLst/>
          </a:prstGeom>
        </p:spPr>
        <p:txBody>
          <a:bodyPr/>
          <a:lstStyle/>
          <a:p>
            <a:r>
              <a:t>Object References</a:t>
            </a:r>
          </a:p>
        </p:txBody>
      </p:sp>
      <p:sp>
        <p:nvSpPr>
          <p:cNvPr id="431" name="Pointers…"/>
          <p:cNvSpPr txBox="1">
            <a:spLocks noGrp="1"/>
          </p:cNvSpPr>
          <p:nvPr>
            <p:ph type="body" idx="1"/>
          </p:nvPr>
        </p:nvSpPr>
        <p:spPr>
          <a:prstGeom prst="rect">
            <a:avLst/>
          </a:prstGeom>
        </p:spPr>
        <p:txBody>
          <a:bodyPr/>
          <a:lstStyle/>
          <a:p>
            <a:r>
              <a:t>Pointers</a:t>
            </a:r>
          </a:p>
          <a:p>
            <a:r>
              <a:t>Smart Pointers</a:t>
            </a:r>
          </a:p>
          <a:p>
            <a:r>
              <a:t>Handles</a:t>
            </a:r>
          </a:p>
        </p:txBody>
      </p:sp>
    </p:spTree>
    <p:extLst>
      <p:ext uri="{BB962C8B-B14F-4D97-AF65-F5344CB8AC3E}">
        <p14:creationId xmlns:p14="http://schemas.microsoft.com/office/powerpoint/2010/main" val="2890834316"/>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31">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43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43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4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 grpId="0" build="p" bldLvl="5" animBg="1" advAuto="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Pointers"/>
          <p:cNvSpPr txBox="1">
            <a:spLocks noGrp="1"/>
          </p:cNvSpPr>
          <p:nvPr>
            <p:ph type="title"/>
          </p:nvPr>
        </p:nvSpPr>
        <p:spPr>
          <a:prstGeom prst="rect">
            <a:avLst/>
          </a:prstGeom>
        </p:spPr>
        <p:txBody>
          <a:bodyPr/>
          <a:lstStyle/>
          <a:p>
            <a:r>
              <a:t>Pointers</a:t>
            </a:r>
          </a:p>
        </p:txBody>
      </p:sp>
      <p:sp>
        <p:nvSpPr>
          <p:cNvPr id="436" name="Fastest, most efficient, and easiest to work with…"/>
          <p:cNvSpPr txBox="1">
            <a:spLocks noGrp="1"/>
          </p:cNvSpPr>
          <p:nvPr>
            <p:ph type="body" idx="1"/>
          </p:nvPr>
        </p:nvSpPr>
        <p:spPr>
          <a:xfrm>
            <a:off x="2416969" y="1946672"/>
            <a:ext cx="7358063" cy="4679156"/>
          </a:xfrm>
          <a:prstGeom prst="rect">
            <a:avLst/>
          </a:prstGeom>
        </p:spPr>
        <p:txBody>
          <a:bodyPr>
            <a:normAutofit fontScale="77500" lnSpcReduction="20000"/>
          </a:bodyPr>
          <a:lstStyle/>
          <a:p>
            <a:pPr marL="586787" indent="-363553">
              <a:defRPr sz="3800"/>
            </a:pPr>
            <a:r>
              <a:t>Fastest, most efficient, and easiest to work with</a:t>
            </a:r>
          </a:p>
          <a:p>
            <a:pPr marL="586787" indent="-363553">
              <a:defRPr sz="3800"/>
            </a:pPr>
            <a:r>
              <a:t>Orphaned objects – still occupies memory but is no longer needed or referenced by any object in the system</a:t>
            </a:r>
          </a:p>
          <a:p>
            <a:pPr marL="586787" indent="-363553">
              <a:defRPr sz="3800"/>
            </a:pPr>
            <a:r>
              <a:t>Stale pointers – pointer to a block of memory that used to be occupied by a valid object but is now free memory</a:t>
            </a:r>
          </a:p>
          <a:p>
            <a:pPr marL="586787" indent="-363553">
              <a:defRPr sz="3800"/>
            </a:pPr>
            <a:r>
              <a:t>Invalid pointers – dereferencing null pointers (can use </a:t>
            </a:r>
            <a:r>
              <a:rPr>
                <a:latin typeface="Courier New"/>
                <a:ea typeface="Courier New"/>
                <a:cs typeface="Courier New"/>
                <a:sym typeface="Courier New"/>
              </a:rPr>
              <a:t>assert()</a:t>
            </a:r>
            <a:r>
              <a:t>), but if it’s a piece of data that’s misinterpreted as a pointer...</a:t>
            </a:r>
          </a:p>
        </p:txBody>
      </p:sp>
    </p:spTree>
    <p:extLst>
      <p:ext uri="{BB962C8B-B14F-4D97-AF65-F5344CB8AC3E}">
        <p14:creationId xmlns:p14="http://schemas.microsoft.com/office/powerpoint/2010/main" val="961507026"/>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3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43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43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43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43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 grpId="0" build="p" bldLvl="5" animBg="1" advAuto="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Memory Fragmentation"/>
          <p:cNvSpPr txBox="1">
            <a:spLocks noGrp="1"/>
          </p:cNvSpPr>
          <p:nvPr>
            <p:ph type="title"/>
          </p:nvPr>
        </p:nvSpPr>
        <p:spPr>
          <a:xfrm>
            <a:off x="2416969" y="-44648"/>
            <a:ext cx="7358063" cy="1714500"/>
          </a:xfrm>
          <a:prstGeom prst="rect">
            <a:avLst/>
          </a:prstGeom>
        </p:spPr>
        <p:txBody>
          <a:bodyPr/>
          <a:lstStyle/>
          <a:p>
            <a:r>
              <a:t>Memory Fragmentation</a:t>
            </a:r>
          </a:p>
        </p:txBody>
      </p:sp>
      <p:sp>
        <p:nvSpPr>
          <p:cNvPr id="441" name="Rectangle"/>
          <p:cNvSpPr/>
          <p:nvPr/>
        </p:nvSpPr>
        <p:spPr>
          <a:xfrm>
            <a:off x="1992809" y="1446609"/>
            <a:ext cx="8188523" cy="687586"/>
          </a:xfrm>
          <a:prstGeom prst="rect">
            <a:avLst/>
          </a:prstGeom>
          <a:solidFill>
            <a:srgbClr val="C0C0C0"/>
          </a:solidFill>
          <a:ln w="12700">
            <a:solidFill>
              <a:srgbClr val="000000"/>
            </a:solidFill>
            <a:miter lim="400000"/>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442" name="..."/>
          <p:cNvSpPr txBox="1"/>
          <p:nvPr/>
        </p:nvSpPr>
        <p:spPr>
          <a:xfrm>
            <a:off x="5922015" y="4380160"/>
            <a:ext cx="351059" cy="5265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4200">
                <a:latin typeface="+mj-lt"/>
                <a:ea typeface="+mj-ea"/>
                <a:cs typeface="+mj-cs"/>
                <a:sym typeface="Baskerville"/>
              </a:defRPr>
            </a:lvl1pPr>
          </a:lstStyle>
          <a:p>
            <a:r>
              <a:rPr sz="2953"/>
              <a:t>...</a:t>
            </a:r>
          </a:p>
        </p:txBody>
      </p:sp>
      <p:grpSp>
        <p:nvGrpSpPr>
          <p:cNvPr id="445" name="Group"/>
          <p:cNvGrpSpPr/>
          <p:nvPr/>
        </p:nvGrpSpPr>
        <p:grpSpPr>
          <a:xfrm>
            <a:off x="1992809" y="2259211"/>
            <a:ext cx="8188523" cy="687586"/>
            <a:chOff x="0" y="0"/>
            <a:chExt cx="11645900" cy="977900"/>
          </a:xfrm>
        </p:grpSpPr>
        <p:sp>
          <p:nvSpPr>
            <p:cNvPr id="443" name="Rectangle"/>
            <p:cNvSpPr/>
            <p:nvPr/>
          </p:nvSpPr>
          <p:spPr>
            <a:xfrm>
              <a:off x="0" y="0"/>
              <a:ext cx="11645900" cy="977900"/>
            </a:xfrm>
            <a:prstGeom prst="rect">
              <a:avLst/>
            </a:prstGeom>
            <a:solidFill>
              <a:srgbClr val="C0C0C0"/>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44" name="Rectangle"/>
            <p:cNvSpPr/>
            <p:nvPr/>
          </p:nvSpPr>
          <p:spPr>
            <a:xfrm>
              <a:off x="0" y="0"/>
              <a:ext cx="2133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grpSp>
      <p:grpSp>
        <p:nvGrpSpPr>
          <p:cNvPr id="455" name="Group"/>
          <p:cNvGrpSpPr/>
          <p:nvPr/>
        </p:nvGrpSpPr>
        <p:grpSpPr>
          <a:xfrm>
            <a:off x="1992809" y="3080742"/>
            <a:ext cx="8188523" cy="687586"/>
            <a:chOff x="0" y="0"/>
            <a:chExt cx="11645900" cy="977900"/>
          </a:xfrm>
        </p:grpSpPr>
        <p:sp>
          <p:nvSpPr>
            <p:cNvPr id="446" name="Rectangle"/>
            <p:cNvSpPr/>
            <p:nvPr/>
          </p:nvSpPr>
          <p:spPr>
            <a:xfrm>
              <a:off x="0" y="0"/>
              <a:ext cx="11645900" cy="977900"/>
            </a:xfrm>
            <a:prstGeom prst="rect">
              <a:avLst/>
            </a:prstGeom>
            <a:solidFill>
              <a:srgbClr val="C0C0C0"/>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47" name="Rectangle"/>
            <p:cNvSpPr/>
            <p:nvPr/>
          </p:nvSpPr>
          <p:spPr>
            <a:xfrm>
              <a:off x="0" y="0"/>
              <a:ext cx="2133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48" name="Rectangle"/>
            <p:cNvSpPr/>
            <p:nvPr/>
          </p:nvSpPr>
          <p:spPr>
            <a:xfrm>
              <a:off x="2133600" y="0"/>
              <a:ext cx="7239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49" name="Rectangle"/>
            <p:cNvSpPr/>
            <p:nvPr/>
          </p:nvSpPr>
          <p:spPr>
            <a:xfrm>
              <a:off x="2857500" y="0"/>
              <a:ext cx="2133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50" name="Rectangle"/>
            <p:cNvSpPr/>
            <p:nvPr/>
          </p:nvSpPr>
          <p:spPr>
            <a:xfrm>
              <a:off x="4991100" y="0"/>
              <a:ext cx="7239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51" name="Rectangle"/>
            <p:cNvSpPr/>
            <p:nvPr/>
          </p:nvSpPr>
          <p:spPr>
            <a:xfrm>
              <a:off x="5715000" y="0"/>
              <a:ext cx="2133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52" name="Rectangle"/>
            <p:cNvSpPr/>
            <p:nvPr/>
          </p:nvSpPr>
          <p:spPr>
            <a:xfrm>
              <a:off x="7848600" y="0"/>
              <a:ext cx="7239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53" name="Rectangle"/>
            <p:cNvSpPr/>
            <p:nvPr/>
          </p:nvSpPr>
          <p:spPr>
            <a:xfrm>
              <a:off x="8572500" y="0"/>
              <a:ext cx="2133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54" name="Rectangle"/>
            <p:cNvSpPr/>
            <p:nvPr/>
          </p:nvSpPr>
          <p:spPr>
            <a:xfrm>
              <a:off x="10706100" y="0"/>
              <a:ext cx="7239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grpSp>
      <p:grpSp>
        <p:nvGrpSpPr>
          <p:cNvPr id="462" name="Group"/>
          <p:cNvGrpSpPr/>
          <p:nvPr/>
        </p:nvGrpSpPr>
        <p:grpSpPr>
          <a:xfrm>
            <a:off x="1992809" y="3902273"/>
            <a:ext cx="8188523" cy="687586"/>
            <a:chOff x="0" y="0"/>
            <a:chExt cx="11645900" cy="977900"/>
          </a:xfrm>
        </p:grpSpPr>
        <p:sp>
          <p:nvSpPr>
            <p:cNvPr id="456" name="Rectangle"/>
            <p:cNvSpPr/>
            <p:nvPr/>
          </p:nvSpPr>
          <p:spPr>
            <a:xfrm>
              <a:off x="0" y="0"/>
              <a:ext cx="11645900" cy="977900"/>
            </a:xfrm>
            <a:prstGeom prst="rect">
              <a:avLst/>
            </a:prstGeom>
            <a:solidFill>
              <a:srgbClr val="C0C0C0"/>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57" name="Rectangle"/>
            <p:cNvSpPr/>
            <p:nvPr/>
          </p:nvSpPr>
          <p:spPr>
            <a:xfrm>
              <a:off x="0" y="0"/>
              <a:ext cx="2133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58" name="Rectangle"/>
            <p:cNvSpPr/>
            <p:nvPr/>
          </p:nvSpPr>
          <p:spPr>
            <a:xfrm>
              <a:off x="2857500" y="0"/>
              <a:ext cx="2133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59" name="Rectangle"/>
            <p:cNvSpPr/>
            <p:nvPr/>
          </p:nvSpPr>
          <p:spPr>
            <a:xfrm>
              <a:off x="5715000" y="0"/>
              <a:ext cx="2133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60" name="Rectangle"/>
            <p:cNvSpPr/>
            <p:nvPr/>
          </p:nvSpPr>
          <p:spPr>
            <a:xfrm>
              <a:off x="7848600" y="0"/>
              <a:ext cx="7239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61" name="Rectangle"/>
            <p:cNvSpPr/>
            <p:nvPr/>
          </p:nvSpPr>
          <p:spPr>
            <a:xfrm>
              <a:off x="10706100" y="0"/>
              <a:ext cx="7239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grpSp>
      <p:grpSp>
        <p:nvGrpSpPr>
          <p:cNvPr id="477" name="Group"/>
          <p:cNvGrpSpPr/>
          <p:nvPr/>
        </p:nvGrpSpPr>
        <p:grpSpPr>
          <a:xfrm>
            <a:off x="1992809" y="4884539"/>
            <a:ext cx="8188523" cy="687586"/>
            <a:chOff x="0" y="0"/>
            <a:chExt cx="11645900" cy="977900"/>
          </a:xfrm>
        </p:grpSpPr>
        <p:sp>
          <p:nvSpPr>
            <p:cNvPr id="463" name="Rectangle"/>
            <p:cNvSpPr/>
            <p:nvPr/>
          </p:nvSpPr>
          <p:spPr>
            <a:xfrm>
              <a:off x="0" y="0"/>
              <a:ext cx="11645900" cy="977900"/>
            </a:xfrm>
            <a:prstGeom prst="rect">
              <a:avLst/>
            </a:prstGeom>
            <a:solidFill>
              <a:srgbClr val="C0C0C0"/>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64" name="Rectangle"/>
            <p:cNvSpPr/>
            <p:nvPr/>
          </p:nvSpPr>
          <p:spPr>
            <a:xfrm>
              <a:off x="0" y="0"/>
              <a:ext cx="7239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65" name="Rectangle"/>
            <p:cNvSpPr/>
            <p:nvPr/>
          </p:nvSpPr>
          <p:spPr>
            <a:xfrm>
              <a:off x="952500" y="0"/>
              <a:ext cx="7239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66" name="Rectangle"/>
            <p:cNvSpPr/>
            <p:nvPr/>
          </p:nvSpPr>
          <p:spPr>
            <a:xfrm>
              <a:off x="2133600" y="0"/>
              <a:ext cx="15367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67" name="Rectangle"/>
            <p:cNvSpPr/>
            <p:nvPr/>
          </p:nvSpPr>
          <p:spPr>
            <a:xfrm>
              <a:off x="3924300" y="0"/>
              <a:ext cx="7239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68" name="Rectangle"/>
            <p:cNvSpPr/>
            <p:nvPr/>
          </p:nvSpPr>
          <p:spPr>
            <a:xfrm>
              <a:off x="4762500" y="0"/>
              <a:ext cx="4953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69" name="Rectangle"/>
            <p:cNvSpPr/>
            <p:nvPr/>
          </p:nvSpPr>
          <p:spPr>
            <a:xfrm>
              <a:off x="5880100" y="0"/>
              <a:ext cx="15367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70" name="Rectangle"/>
            <p:cNvSpPr/>
            <p:nvPr/>
          </p:nvSpPr>
          <p:spPr>
            <a:xfrm>
              <a:off x="7696200" y="0"/>
              <a:ext cx="3302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71" name="Rectangle"/>
            <p:cNvSpPr/>
            <p:nvPr/>
          </p:nvSpPr>
          <p:spPr>
            <a:xfrm>
              <a:off x="8585200" y="0"/>
              <a:ext cx="3302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72" name="Rectangle"/>
            <p:cNvSpPr/>
            <p:nvPr/>
          </p:nvSpPr>
          <p:spPr>
            <a:xfrm>
              <a:off x="9004300" y="0"/>
              <a:ext cx="7112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73" name="Rectangle"/>
            <p:cNvSpPr/>
            <p:nvPr/>
          </p:nvSpPr>
          <p:spPr>
            <a:xfrm>
              <a:off x="9893300" y="0"/>
              <a:ext cx="228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74" name="Rectangle"/>
            <p:cNvSpPr/>
            <p:nvPr/>
          </p:nvSpPr>
          <p:spPr>
            <a:xfrm>
              <a:off x="10502900" y="0"/>
              <a:ext cx="228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75" name="Rectangle"/>
            <p:cNvSpPr/>
            <p:nvPr/>
          </p:nvSpPr>
          <p:spPr>
            <a:xfrm>
              <a:off x="10807700" y="0"/>
              <a:ext cx="228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76" name="Rectangle"/>
            <p:cNvSpPr/>
            <p:nvPr/>
          </p:nvSpPr>
          <p:spPr>
            <a:xfrm>
              <a:off x="11125200" y="0"/>
              <a:ext cx="228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grpSp>
      <p:grpSp>
        <p:nvGrpSpPr>
          <p:cNvPr id="493" name="Group"/>
          <p:cNvGrpSpPr/>
          <p:nvPr/>
        </p:nvGrpSpPr>
        <p:grpSpPr>
          <a:xfrm>
            <a:off x="1992809" y="5616774"/>
            <a:ext cx="8188523" cy="1134070"/>
            <a:chOff x="0" y="0"/>
            <a:chExt cx="11645900" cy="1612900"/>
          </a:xfrm>
        </p:grpSpPr>
        <p:sp>
          <p:nvSpPr>
            <p:cNvPr id="478" name="Arrow"/>
            <p:cNvSpPr/>
            <p:nvPr/>
          </p:nvSpPr>
          <p:spPr>
            <a:xfrm rot="5400000">
              <a:off x="5549900" y="95250"/>
              <a:ext cx="558800" cy="368300"/>
            </a:xfrm>
            <a:prstGeom prst="rightArrow">
              <a:avLst>
                <a:gd name="adj1" fmla="val 41216"/>
                <a:gd name="adj2" fmla="val 66622"/>
              </a:avLst>
            </a:prstGeom>
            <a:solidFill>
              <a:srgbClr val="000000"/>
            </a:solidFill>
            <a:ln w="25400" cap="flat">
              <a:noFill/>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79" name="Rectangle"/>
            <p:cNvSpPr/>
            <p:nvPr/>
          </p:nvSpPr>
          <p:spPr>
            <a:xfrm>
              <a:off x="0" y="635000"/>
              <a:ext cx="11645900" cy="977900"/>
            </a:xfrm>
            <a:prstGeom prst="rect">
              <a:avLst/>
            </a:prstGeom>
            <a:solidFill>
              <a:srgbClr val="C0C0C0"/>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80" name="Rectangle"/>
            <p:cNvSpPr/>
            <p:nvPr/>
          </p:nvSpPr>
          <p:spPr>
            <a:xfrm>
              <a:off x="0" y="635000"/>
              <a:ext cx="7239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81" name="Rectangle"/>
            <p:cNvSpPr/>
            <p:nvPr/>
          </p:nvSpPr>
          <p:spPr>
            <a:xfrm>
              <a:off x="723900" y="635000"/>
              <a:ext cx="7239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82" name="Rectangle"/>
            <p:cNvSpPr/>
            <p:nvPr/>
          </p:nvSpPr>
          <p:spPr>
            <a:xfrm>
              <a:off x="1447800" y="635000"/>
              <a:ext cx="15367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83" name="Rectangle"/>
            <p:cNvSpPr/>
            <p:nvPr/>
          </p:nvSpPr>
          <p:spPr>
            <a:xfrm>
              <a:off x="2984500" y="635000"/>
              <a:ext cx="7239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84" name="Rectangle"/>
            <p:cNvSpPr/>
            <p:nvPr/>
          </p:nvSpPr>
          <p:spPr>
            <a:xfrm>
              <a:off x="3708400" y="635000"/>
              <a:ext cx="4953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85" name="Rectangle"/>
            <p:cNvSpPr/>
            <p:nvPr/>
          </p:nvSpPr>
          <p:spPr>
            <a:xfrm>
              <a:off x="4203700" y="635000"/>
              <a:ext cx="15367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86" name="Rectangle"/>
            <p:cNvSpPr/>
            <p:nvPr/>
          </p:nvSpPr>
          <p:spPr>
            <a:xfrm>
              <a:off x="5740400" y="635000"/>
              <a:ext cx="3302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87" name="Rectangle"/>
            <p:cNvSpPr/>
            <p:nvPr/>
          </p:nvSpPr>
          <p:spPr>
            <a:xfrm>
              <a:off x="6070600" y="635000"/>
              <a:ext cx="3302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88" name="Rectangle"/>
            <p:cNvSpPr/>
            <p:nvPr/>
          </p:nvSpPr>
          <p:spPr>
            <a:xfrm>
              <a:off x="6400800" y="635000"/>
              <a:ext cx="7112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89" name="Rectangle"/>
            <p:cNvSpPr/>
            <p:nvPr/>
          </p:nvSpPr>
          <p:spPr>
            <a:xfrm>
              <a:off x="7112000" y="635000"/>
              <a:ext cx="228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90" name="Rectangle"/>
            <p:cNvSpPr/>
            <p:nvPr/>
          </p:nvSpPr>
          <p:spPr>
            <a:xfrm>
              <a:off x="7340600" y="635000"/>
              <a:ext cx="228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91" name="Rectangle"/>
            <p:cNvSpPr/>
            <p:nvPr/>
          </p:nvSpPr>
          <p:spPr>
            <a:xfrm>
              <a:off x="7569200" y="635000"/>
              <a:ext cx="228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sp>
          <p:nvSpPr>
            <p:cNvPr id="492" name="Rectangle"/>
            <p:cNvSpPr/>
            <p:nvPr/>
          </p:nvSpPr>
          <p:spPr>
            <a:xfrm>
              <a:off x="7797800" y="635000"/>
              <a:ext cx="228600" cy="977900"/>
            </a:xfrm>
            <a:prstGeom prst="rect">
              <a:avLst/>
            </a:prstGeom>
            <a:solidFill>
              <a:srgbClr val="FFFFFF"/>
            </a:solidFill>
            <a:ln w="12700" cap="flat">
              <a:solidFill>
                <a:srgbClr val="000000"/>
              </a:solidFill>
              <a:prstDash val="solid"/>
              <a:miter lim="400000"/>
            </a:ln>
            <a:effectLst/>
          </p:spPr>
          <p:txBody>
            <a:bodyPr wrap="square" lIns="35719" tIns="35719" rIns="35719" bIns="35719" numCol="1" anchor="ctr">
              <a:noAutofit/>
            </a:bodyPr>
            <a:lstStyle/>
            <a:p>
              <a:pPr algn="ctr" defTabSz="410751">
                <a:defRPr sz="4000">
                  <a:latin typeface="+mj-lt"/>
                  <a:ea typeface="+mj-ea"/>
                  <a:cs typeface="+mj-cs"/>
                  <a:sym typeface="Baskerville"/>
                </a:defRPr>
              </a:pPr>
              <a:endParaRPr sz="2812"/>
            </a:p>
          </p:txBody>
        </p:sp>
      </p:grpSp>
    </p:spTree>
    <p:extLst>
      <p:ext uri="{BB962C8B-B14F-4D97-AF65-F5344CB8AC3E}">
        <p14:creationId xmlns:p14="http://schemas.microsoft.com/office/powerpoint/2010/main" val="2930275856"/>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4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4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4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4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4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 grpId="0" animBg="1" advAuto="0"/>
      <p:bldP spid="445" grpId="0" animBg="1" advAuto="0"/>
      <p:bldP spid="455" grpId="0" animBg="1" advAuto="0"/>
      <p:bldP spid="462" grpId="0" animBg="1" advAuto="0"/>
      <p:bldP spid="477" grpId="0" animBg="1" advAuto="0"/>
      <p:bldP spid="493" grpId="0" animBg="1" advAuto="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Smart Pointers"/>
          <p:cNvSpPr txBox="1">
            <a:spLocks noGrp="1"/>
          </p:cNvSpPr>
          <p:nvPr>
            <p:ph type="title"/>
          </p:nvPr>
        </p:nvSpPr>
        <p:spPr>
          <a:prstGeom prst="rect">
            <a:avLst/>
          </a:prstGeom>
        </p:spPr>
        <p:txBody>
          <a:bodyPr/>
          <a:lstStyle/>
          <a:p>
            <a:r>
              <a:t>Smart Pointers</a:t>
            </a:r>
          </a:p>
        </p:txBody>
      </p:sp>
      <p:sp>
        <p:nvSpPr>
          <p:cNvPr id="498" name="An object that acts like a pointer (has overloaded operators like * and -&gt;) and had additional metadata that lets it do more things, like recognizing that the object it points to has been deleted and returning NULL if so…"/>
          <p:cNvSpPr txBox="1">
            <a:spLocks noGrp="1"/>
          </p:cNvSpPr>
          <p:nvPr>
            <p:ph type="body" idx="1"/>
          </p:nvPr>
        </p:nvSpPr>
        <p:spPr>
          <a:xfrm>
            <a:off x="2416969" y="1946672"/>
            <a:ext cx="7358063" cy="4607719"/>
          </a:xfrm>
          <a:prstGeom prst="rect">
            <a:avLst/>
          </a:prstGeom>
        </p:spPr>
        <p:txBody>
          <a:bodyPr/>
          <a:lstStyle/>
          <a:p>
            <a:r>
              <a:rPr dirty="0"/>
              <a:t>An object that acts like a pointer (has overloaded operators like </a:t>
            </a:r>
            <a:r>
              <a:rPr dirty="0">
                <a:latin typeface="Courier New"/>
                <a:ea typeface="Courier New"/>
                <a:cs typeface="Courier New"/>
                <a:sym typeface="Courier New"/>
              </a:rPr>
              <a:t>*</a:t>
            </a:r>
            <a:r>
              <a:rPr dirty="0"/>
              <a:t> and </a:t>
            </a:r>
            <a:r>
              <a:rPr dirty="0">
                <a:latin typeface="Courier New"/>
                <a:ea typeface="Courier New"/>
                <a:cs typeface="Courier New"/>
                <a:sym typeface="Courier New"/>
              </a:rPr>
              <a:t>-&gt;</a:t>
            </a:r>
            <a:r>
              <a:rPr dirty="0"/>
              <a:t>) and had additional metadata that lets it do more things, like recognizing that the object it points to has been deleted and returning NULL if so</a:t>
            </a:r>
          </a:p>
          <a:p>
            <a:r>
              <a:rPr dirty="0"/>
              <a:t>Reference counting</a:t>
            </a:r>
          </a:p>
          <a:p>
            <a:r>
              <a:rPr dirty="0"/>
              <a:t>Very tricky to get right – many cases to </a:t>
            </a:r>
            <a:r>
              <a:rPr dirty="0" smtClean="0"/>
              <a:t>handle</a:t>
            </a:r>
            <a:endParaRPr dirty="0"/>
          </a:p>
        </p:txBody>
      </p:sp>
    </p:spTree>
    <p:extLst>
      <p:ext uri="{BB962C8B-B14F-4D97-AF65-F5344CB8AC3E}">
        <p14:creationId xmlns:p14="http://schemas.microsoft.com/office/powerpoint/2010/main" val="58293954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9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49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49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49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 grpId="0" build="p" bldLvl="5" animBg="1" advAuto="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 name="Boost/C++ 11"/>
          <p:cNvSpPr txBox="1">
            <a:spLocks noGrp="1"/>
          </p:cNvSpPr>
          <p:nvPr>
            <p:ph type="title"/>
          </p:nvPr>
        </p:nvSpPr>
        <p:spPr>
          <a:prstGeom prst="rect">
            <a:avLst/>
          </a:prstGeom>
        </p:spPr>
        <p:txBody>
          <a:bodyPr/>
          <a:lstStyle/>
          <a:p>
            <a:r>
              <a:t>Boost/C++ 11</a:t>
            </a:r>
          </a:p>
        </p:txBody>
      </p:sp>
      <p:sp>
        <p:nvSpPr>
          <p:cNvPr id="503" name="scoped_ptr – points to single object with one owner…"/>
          <p:cNvSpPr txBox="1">
            <a:spLocks noGrp="1"/>
          </p:cNvSpPr>
          <p:nvPr>
            <p:ph type="body" idx="1"/>
          </p:nvPr>
        </p:nvSpPr>
        <p:spPr>
          <a:xfrm>
            <a:off x="2416969" y="1946672"/>
            <a:ext cx="7358063" cy="4429125"/>
          </a:xfrm>
          <a:prstGeom prst="rect">
            <a:avLst/>
          </a:prstGeom>
        </p:spPr>
        <p:txBody>
          <a:bodyPr>
            <a:normAutofit fontScale="77500" lnSpcReduction="20000"/>
          </a:bodyPr>
          <a:lstStyle/>
          <a:p>
            <a:pPr marL="491115" indent="-267881">
              <a:defRPr sz="2800"/>
            </a:pPr>
            <a:r>
              <a:rPr>
                <a:latin typeface="Courier New"/>
                <a:ea typeface="Courier New"/>
                <a:cs typeface="Courier New"/>
                <a:sym typeface="Courier New"/>
              </a:rPr>
              <a:t>scoped_ptr</a:t>
            </a:r>
            <a:r>
              <a:t> – points to single object with one owner</a:t>
            </a:r>
          </a:p>
          <a:p>
            <a:pPr marL="491115" indent="-267881">
              <a:defRPr sz="2800"/>
            </a:pPr>
            <a:r>
              <a:rPr>
                <a:latin typeface="Courier New"/>
                <a:ea typeface="Courier New"/>
                <a:cs typeface="Courier New"/>
                <a:sym typeface="Courier New"/>
              </a:rPr>
              <a:t>scoped_array</a:t>
            </a:r>
            <a:r>
              <a:t> – points to an array of objects with one owner</a:t>
            </a:r>
          </a:p>
          <a:p>
            <a:pPr marL="491115" indent="-267881">
              <a:defRPr sz="2800"/>
            </a:pPr>
            <a:r>
              <a:rPr>
                <a:latin typeface="Courier New"/>
                <a:ea typeface="Courier New"/>
                <a:cs typeface="Courier New"/>
                <a:sym typeface="Courier New"/>
              </a:rPr>
              <a:t>shared_ptr</a:t>
            </a:r>
            <a:r>
              <a:t> – points to an object whose lifetime is shared by multiple owners</a:t>
            </a:r>
          </a:p>
          <a:p>
            <a:pPr marL="491115" indent="-267881">
              <a:defRPr sz="2800"/>
            </a:pPr>
            <a:r>
              <a:rPr>
                <a:latin typeface="Courier New"/>
                <a:ea typeface="Courier New"/>
                <a:cs typeface="Courier New"/>
                <a:sym typeface="Courier New"/>
              </a:rPr>
              <a:t>shared_array</a:t>
            </a:r>
            <a:r>
              <a:t> – points to an array of objects whose lifetime is shared by multiple owners</a:t>
            </a:r>
          </a:p>
          <a:p>
            <a:pPr marL="491115" indent="-267881">
              <a:defRPr sz="2800"/>
            </a:pPr>
            <a:r>
              <a:rPr>
                <a:latin typeface="Courier New"/>
                <a:ea typeface="Courier New"/>
                <a:cs typeface="Courier New"/>
                <a:sym typeface="Courier New"/>
              </a:rPr>
              <a:t>weak_ptr</a:t>
            </a:r>
            <a:r>
              <a:t> – does not own or automatically destroy the object it references (assumes its managed by a </a:t>
            </a:r>
            <a:r>
              <a:rPr>
                <a:latin typeface="Courier New"/>
                <a:ea typeface="Courier New"/>
                <a:cs typeface="Courier New"/>
                <a:sym typeface="Courier New"/>
              </a:rPr>
              <a:t>shared_ptr</a:t>
            </a:r>
            <a:r>
              <a:t>)</a:t>
            </a:r>
          </a:p>
          <a:p>
            <a:pPr marL="491115" indent="-267881">
              <a:defRPr sz="2800"/>
            </a:pPr>
            <a:r>
              <a:rPr>
                <a:latin typeface="Courier New"/>
                <a:ea typeface="Courier New"/>
                <a:cs typeface="Courier New"/>
                <a:sym typeface="Courier New"/>
              </a:rPr>
              <a:t>intrusive_ptr</a:t>
            </a:r>
            <a:r>
              <a:t> – implements reference counting by assuming the pointed-to object maintains the count itself. Same size as a native C++ pointer</a:t>
            </a:r>
          </a:p>
        </p:txBody>
      </p:sp>
    </p:spTree>
    <p:extLst>
      <p:ext uri="{BB962C8B-B14F-4D97-AF65-F5344CB8AC3E}">
        <p14:creationId xmlns:p14="http://schemas.microsoft.com/office/powerpoint/2010/main" val="3438441344"/>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03">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50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50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50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50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50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5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 grpId="0" build="p" bldLvl="5" animBg="1" advAuto="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 name="Handles"/>
          <p:cNvSpPr txBox="1">
            <a:spLocks noGrp="1"/>
          </p:cNvSpPr>
          <p:nvPr>
            <p:ph type="title"/>
          </p:nvPr>
        </p:nvSpPr>
        <p:spPr>
          <a:prstGeom prst="rect">
            <a:avLst/>
          </a:prstGeom>
        </p:spPr>
        <p:txBody>
          <a:bodyPr/>
          <a:lstStyle/>
          <a:p>
            <a:r>
              <a:t>Handles</a:t>
            </a:r>
          </a:p>
        </p:txBody>
      </p:sp>
      <p:graphicFrame>
        <p:nvGraphicFramePr>
          <p:cNvPr id="508" name="Table"/>
          <p:cNvGraphicFramePr/>
          <p:nvPr/>
        </p:nvGraphicFramePr>
        <p:xfrm>
          <a:off x="3935016" y="2152055"/>
          <a:ext cx="3196828" cy="3598665"/>
        </p:xfrm>
        <a:graphic>
          <a:graphicData uri="http://schemas.openxmlformats.org/drawingml/2006/table">
            <a:tbl>
              <a:tblPr/>
              <a:tblGrid>
                <a:gridCol w="1598414">
                  <a:extLst>
                    <a:ext uri="{9D8B030D-6E8A-4147-A177-3AD203B41FA5}">
                      <a16:colId xmlns:a16="http://schemas.microsoft.com/office/drawing/2014/main" val="20000"/>
                    </a:ext>
                  </a:extLst>
                </a:gridCol>
                <a:gridCol w="1598414">
                  <a:extLst>
                    <a:ext uri="{9D8B030D-6E8A-4147-A177-3AD203B41FA5}">
                      <a16:colId xmlns:a16="http://schemas.microsoft.com/office/drawing/2014/main" val="20001"/>
                    </a:ext>
                  </a:extLst>
                </a:gridCol>
              </a:tblGrid>
              <a:tr h="514095">
                <a:tc>
                  <a:txBody>
                    <a:bodyPr/>
                    <a:lstStyle/>
                    <a:p>
                      <a:pPr algn="r" defTabSz="914400">
                        <a:tabLst>
                          <a:tab pos="914400" algn="l"/>
                        </a:tabLst>
                        <a:defRPr>
                          <a:uFillTx/>
                        </a:defRPr>
                      </a:pPr>
                      <a:r>
                        <a:rPr sz="2500">
                          <a:latin typeface="+mj-lt"/>
                          <a:ea typeface="+mj-ea"/>
                          <a:cs typeface="+mj-cs"/>
                          <a:sym typeface="Baskerville"/>
                        </a:rPr>
                        <a:t>0</a:t>
                      </a:r>
                    </a:p>
                  </a:txBody>
                  <a:tcPr marL="35719" marR="35719" marT="35719" marB="35719" anchor="ctr" horzOverflow="overflow">
                    <a:lnL w="0">
                      <a:miter lim="400000"/>
                    </a:lnL>
                    <a:lnT w="0">
                      <a:miter lim="400000"/>
                    </a:lnT>
                    <a:lnB w="0">
                      <a:miter lim="400000"/>
                    </a:lnB>
                  </a:tcPr>
                </a:tc>
                <a:tc>
                  <a:txBody>
                    <a:bodyPr/>
                    <a:lstStyle/>
                    <a:p>
                      <a:pPr defTabSz="914400">
                        <a:tabLst>
                          <a:tab pos="914400" algn="l"/>
                        </a:tabLst>
                        <a:defRPr sz="3600">
                          <a:uFillTx/>
                          <a:latin typeface="+mj-lt"/>
                          <a:ea typeface="+mj-ea"/>
                          <a:cs typeface="+mj-cs"/>
                          <a:sym typeface="Baskerville"/>
                        </a:defRPr>
                      </a:pPr>
                      <a:endParaRPr sz="2500"/>
                    </a:p>
                  </a:txBody>
                  <a:tcPr marL="35719" marR="35719" marT="35719" marB="35719" anchor="ctr" horzOverflow="overflow"/>
                </a:tc>
                <a:extLst>
                  <a:ext uri="{0D108BD9-81ED-4DB2-BD59-A6C34878D82A}">
                    <a16:rowId xmlns:a16="http://schemas.microsoft.com/office/drawing/2014/main" val="10000"/>
                  </a:ext>
                </a:extLst>
              </a:tr>
              <a:tr h="514095">
                <a:tc>
                  <a:txBody>
                    <a:bodyPr/>
                    <a:lstStyle/>
                    <a:p>
                      <a:pPr algn="r" defTabSz="914400">
                        <a:tabLst>
                          <a:tab pos="914400" algn="l"/>
                        </a:tabLst>
                        <a:defRPr>
                          <a:uFillTx/>
                        </a:defRPr>
                      </a:pPr>
                      <a:r>
                        <a:rPr sz="2500">
                          <a:latin typeface="+mj-lt"/>
                          <a:ea typeface="+mj-ea"/>
                          <a:cs typeface="+mj-cs"/>
                          <a:sym typeface="Baskerville"/>
                        </a:rPr>
                        <a:t>1</a:t>
                      </a:r>
                    </a:p>
                  </a:txBody>
                  <a:tcPr marL="35719" marR="35719" marT="35719" marB="35719" anchor="ctr" horzOverflow="overflow">
                    <a:lnL w="0">
                      <a:miter lim="400000"/>
                    </a:lnL>
                    <a:lnT w="0">
                      <a:miter lim="400000"/>
                    </a:lnT>
                    <a:lnB w="0">
                      <a:miter lim="400000"/>
                    </a:lnB>
                  </a:tcPr>
                </a:tc>
                <a:tc>
                  <a:txBody>
                    <a:bodyPr/>
                    <a:lstStyle/>
                    <a:p>
                      <a:pPr defTabSz="914400">
                        <a:tabLst>
                          <a:tab pos="914400" algn="l"/>
                        </a:tabLst>
                        <a:defRPr sz="3600">
                          <a:uFillTx/>
                          <a:latin typeface="+mj-lt"/>
                          <a:ea typeface="+mj-ea"/>
                          <a:cs typeface="+mj-cs"/>
                          <a:sym typeface="Baskerville"/>
                        </a:defRPr>
                      </a:pPr>
                      <a:endParaRPr sz="2500"/>
                    </a:p>
                  </a:txBody>
                  <a:tcPr marL="35719" marR="35719" marT="35719" marB="35719" anchor="ctr" horzOverflow="overflow"/>
                </a:tc>
                <a:extLst>
                  <a:ext uri="{0D108BD9-81ED-4DB2-BD59-A6C34878D82A}">
                    <a16:rowId xmlns:a16="http://schemas.microsoft.com/office/drawing/2014/main" val="10001"/>
                  </a:ext>
                </a:extLst>
              </a:tr>
              <a:tr h="514095">
                <a:tc>
                  <a:txBody>
                    <a:bodyPr/>
                    <a:lstStyle/>
                    <a:p>
                      <a:pPr algn="r" defTabSz="914400">
                        <a:tabLst>
                          <a:tab pos="914400" algn="l"/>
                        </a:tabLst>
                        <a:defRPr>
                          <a:uFillTx/>
                        </a:defRPr>
                      </a:pPr>
                      <a:r>
                        <a:rPr sz="2500">
                          <a:latin typeface="+mj-lt"/>
                          <a:ea typeface="+mj-ea"/>
                          <a:cs typeface="+mj-cs"/>
                          <a:sym typeface="Baskerville"/>
                        </a:rPr>
                        <a:t>2</a:t>
                      </a:r>
                    </a:p>
                  </a:txBody>
                  <a:tcPr marL="35719" marR="35719" marT="35719" marB="35719" anchor="ctr" horzOverflow="overflow">
                    <a:lnL w="0">
                      <a:miter lim="400000"/>
                    </a:lnL>
                    <a:lnT w="0">
                      <a:miter lim="400000"/>
                    </a:lnT>
                    <a:lnB w="0">
                      <a:miter lim="400000"/>
                    </a:lnB>
                  </a:tcPr>
                </a:tc>
                <a:tc>
                  <a:txBody>
                    <a:bodyPr/>
                    <a:lstStyle/>
                    <a:p>
                      <a:pPr defTabSz="914400">
                        <a:tabLst>
                          <a:tab pos="914400" algn="l"/>
                        </a:tabLst>
                        <a:defRPr>
                          <a:uFillTx/>
                        </a:defRPr>
                      </a:pPr>
                      <a:r>
                        <a:rPr sz="2500">
                          <a:latin typeface="+mj-lt"/>
                          <a:ea typeface="+mj-ea"/>
                          <a:cs typeface="+mj-cs"/>
                          <a:sym typeface="Baskerville"/>
                        </a:rPr>
                        <a:t>NULL</a:t>
                      </a:r>
                    </a:p>
                  </a:txBody>
                  <a:tcPr marL="35719" marR="35719" marT="35719" marB="35719" anchor="ctr" horzOverflow="overflow"/>
                </a:tc>
                <a:extLst>
                  <a:ext uri="{0D108BD9-81ED-4DB2-BD59-A6C34878D82A}">
                    <a16:rowId xmlns:a16="http://schemas.microsoft.com/office/drawing/2014/main" val="10002"/>
                  </a:ext>
                </a:extLst>
              </a:tr>
              <a:tr h="514095">
                <a:tc>
                  <a:txBody>
                    <a:bodyPr/>
                    <a:lstStyle/>
                    <a:p>
                      <a:pPr algn="r" defTabSz="914400">
                        <a:tabLst>
                          <a:tab pos="914400" algn="l"/>
                        </a:tabLst>
                        <a:defRPr>
                          <a:uFillTx/>
                        </a:defRPr>
                      </a:pPr>
                      <a:r>
                        <a:rPr sz="2500">
                          <a:latin typeface="+mj-lt"/>
                          <a:ea typeface="+mj-ea"/>
                          <a:cs typeface="+mj-cs"/>
                          <a:sym typeface="Baskerville"/>
                        </a:rPr>
                        <a:t>3</a:t>
                      </a:r>
                    </a:p>
                  </a:txBody>
                  <a:tcPr marL="35719" marR="35719" marT="35719" marB="35719" anchor="ctr" horzOverflow="overflow">
                    <a:lnL w="0">
                      <a:miter lim="400000"/>
                    </a:lnL>
                    <a:lnT w="0">
                      <a:miter lim="400000"/>
                    </a:lnT>
                    <a:lnB w="0">
                      <a:miter lim="400000"/>
                    </a:lnB>
                  </a:tcPr>
                </a:tc>
                <a:tc>
                  <a:txBody>
                    <a:bodyPr/>
                    <a:lstStyle/>
                    <a:p>
                      <a:pPr defTabSz="914400">
                        <a:tabLst>
                          <a:tab pos="914400" algn="l"/>
                        </a:tabLst>
                        <a:defRPr sz="3600">
                          <a:uFillTx/>
                          <a:latin typeface="+mj-lt"/>
                          <a:ea typeface="+mj-ea"/>
                          <a:cs typeface="+mj-cs"/>
                          <a:sym typeface="Baskerville"/>
                        </a:defRPr>
                      </a:pPr>
                      <a:endParaRPr sz="2500"/>
                    </a:p>
                  </a:txBody>
                  <a:tcPr marL="35719" marR="35719" marT="35719" marB="35719" anchor="ctr" horzOverflow="overflow"/>
                </a:tc>
                <a:extLst>
                  <a:ext uri="{0D108BD9-81ED-4DB2-BD59-A6C34878D82A}">
                    <a16:rowId xmlns:a16="http://schemas.microsoft.com/office/drawing/2014/main" val="10003"/>
                  </a:ext>
                </a:extLst>
              </a:tr>
              <a:tr h="514095">
                <a:tc>
                  <a:txBody>
                    <a:bodyPr/>
                    <a:lstStyle/>
                    <a:p>
                      <a:pPr algn="r" defTabSz="914400">
                        <a:tabLst>
                          <a:tab pos="914400" algn="l"/>
                        </a:tabLst>
                        <a:defRPr>
                          <a:uFillTx/>
                        </a:defRPr>
                      </a:pPr>
                      <a:r>
                        <a:rPr sz="2500">
                          <a:latin typeface="+mj-lt"/>
                          <a:ea typeface="+mj-ea"/>
                          <a:cs typeface="+mj-cs"/>
                          <a:sym typeface="Baskerville"/>
                        </a:rPr>
                        <a:t>4</a:t>
                      </a:r>
                    </a:p>
                  </a:txBody>
                  <a:tcPr marL="35719" marR="35719" marT="35719" marB="35719" anchor="ctr" horzOverflow="overflow">
                    <a:lnL w="0">
                      <a:miter lim="400000"/>
                    </a:lnL>
                    <a:lnT w="0">
                      <a:miter lim="400000"/>
                    </a:lnT>
                    <a:lnB w="0">
                      <a:miter lim="400000"/>
                    </a:lnB>
                  </a:tcPr>
                </a:tc>
                <a:tc>
                  <a:txBody>
                    <a:bodyPr/>
                    <a:lstStyle/>
                    <a:p>
                      <a:pPr defTabSz="914400">
                        <a:tabLst>
                          <a:tab pos="914400" algn="l"/>
                        </a:tabLst>
                        <a:defRPr sz="3600">
                          <a:uFillTx/>
                          <a:latin typeface="+mj-lt"/>
                          <a:ea typeface="+mj-ea"/>
                          <a:cs typeface="+mj-cs"/>
                          <a:sym typeface="Baskerville"/>
                        </a:defRPr>
                      </a:pPr>
                      <a:endParaRPr sz="2500"/>
                    </a:p>
                  </a:txBody>
                  <a:tcPr marL="35719" marR="35719" marT="35719" marB="35719" anchor="ctr" horzOverflow="overflow"/>
                </a:tc>
                <a:extLst>
                  <a:ext uri="{0D108BD9-81ED-4DB2-BD59-A6C34878D82A}">
                    <a16:rowId xmlns:a16="http://schemas.microsoft.com/office/drawing/2014/main" val="10004"/>
                  </a:ext>
                </a:extLst>
              </a:tr>
              <a:tr h="514095">
                <a:tc>
                  <a:txBody>
                    <a:bodyPr/>
                    <a:lstStyle/>
                    <a:p>
                      <a:pPr algn="r" defTabSz="914400">
                        <a:tabLst>
                          <a:tab pos="914400" algn="l"/>
                        </a:tabLst>
                        <a:defRPr>
                          <a:uFillTx/>
                        </a:defRPr>
                      </a:pPr>
                      <a:r>
                        <a:rPr sz="2500">
                          <a:latin typeface="+mj-lt"/>
                          <a:ea typeface="+mj-ea"/>
                          <a:cs typeface="+mj-cs"/>
                          <a:sym typeface="Baskerville"/>
                        </a:rPr>
                        <a:t>5</a:t>
                      </a:r>
                    </a:p>
                  </a:txBody>
                  <a:tcPr marL="35719" marR="35719" marT="35719" marB="35719" anchor="ctr" horzOverflow="overflow">
                    <a:lnL w="0">
                      <a:miter lim="400000"/>
                    </a:lnL>
                    <a:lnT w="0">
                      <a:miter lim="400000"/>
                    </a:lnT>
                    <a:lnB w="0">
                      <a:miter lim="400000"/>
                    </a:lnB>
                  </a:tcPr>
                </a:tc>
                <a:tc>
                  <a:txBody>
                    <a:bodyPr/>
                    <a:lstStyle/>
                    <a:p>
                      <a:pPr defTabSz="914400">
                        <a:tabLst>
                          <a:tab pos="914400" algn="l"/>
                        </a:tabLst>
                        <a:defRPr>
                          <a:uFillTx/>
                        </a:defRPr>
                      </a:pPr>
                      <a:r>
                        <a:rPr sz="2500">
                          <a:latin typeface="+mj-lt"/>
                          <a:ea typeface="+mj-ea"/>
                          <a:cs typeface="+mj-cs"/>
                          <a:sym typeface="Baskerville"/>
                        </a:rPr>
                        <a:t>NULL</a:t>
                      </a:r>
                    </a:p>
                  </a:txBody>
                  <a:tcPr marL="35719" marR="35719" marT="35719" marB="35719" anchor="ctr" horzOverflow="overflow"/>
                </a:tc>
                <a:extLst>
                  <a:ext uri="{0D108BD9-81ED-4DB2-BD59-A6C34878D82A}">
                    <a16:rowId xmlns:a16="http://schemas.microsoft.com/office/drawing/2014/main" val="10005"/>
                  </a:ext>
                </a:extLst>
              </a:tr>
              <a:tr h="514095">
                <a:tc>
                  <a:txBody>
                    <a:bodyPr/>
                    <a:lstStyle/>
                    <a:p>
                      <a:pPr algn="r" defTabSz="914400">
                        <a:tabLst>
                          <a:tab pos="914400" algn="l"/>
                        </a:tabLst>
                        <a:defRPr>
                          <a:uFillTx/>
                        </a:defRPr>
                      </a:pPr>
                      <a:r>
                        <a:rPr sz="2500">
                          <a:latin typeface="+mj-lt"/>
                          <a:ea typeface="+mj-ea"/>
                          <a:cs typeface="+mj-cs"/>
                          <a:sym typeface="Baskerville"/>
                        </a:rPr>
                        <a:t>6</a:t>
                      </a:r>
                    </a:p>
                  </a:txBody>
                  <a:tcPr marL="35719" marR="35719" marT="35719" marB="35719" anchor="ctr" horzOverflow="overflow">
                    <a:lnL w="0">
                      <a:miter lim="400000"/>
                    </a:lnL>
                    <a:lnT w="0">
                      <a:miter lim="400000"/>
                    </a:lnT>
                    <a:lnB w="0">
                      <a:miter lim="400000"/>
                    </a:lnB>
                  </a:tcPr>
                </a:tc>
                <a:tc>
                  <a:txBody>
                    <a:bodyPr/>
                    <a:lstStyle/>
                    <a:p>
                      <a:pPr defTabSz="914400">
                        <a:tabLst>
                          <a:tab pos="914400" algn="l"/>
                        </a:tabLst>
                        <a:defRPr sz="3600">
                          <a:uFillTx/>
                          <a:latin typeface="+mj-lt"/>
                          <a:ea typeface="+mj-ea"/>
                          <a:cs typeface="+mj-cs"/>
                          <a:sym typeface="Baskerville"/>
                        </a:defRPr>
                      </a:pPr>
                      <a:endParaRPr sz="2500"/>
                    </a:p>
                  </a:txBody>
                  <a:tcPr marL="35719" marR="35719" marT="35719" marB="35719" anchor="ctr" horzOverflow="overflow"/>
                </a:tc>
                <a:extLst>
                  <a:ext uri="{0D108BD9-81ED-4DB2-BD59-A6C34878D82A}">
                    <a16:rowId xmlns:a16="http://schemas.microsoft.com/office/drawing/2014/main" val="10006"/>
                  </a:ext>
                </a:extLst>
              </a:tr>
            </a:tbl>
          </a:graphicData>
        </a:graphic>
      </p:graphicFrame>
      <p:sp>
        <p:nvSpPr>
          <p:cNvPr id="509" name="m_handleIndex == 6"/>
          <p:cNvSpPr txBox="1"/>
          <p:nvPr/>
        </p:nvSpPr>
        <p:spPr>
          <a:xfrm>
            <a:off x="2194872" y="2897004"/>
            <a:ext cx="1840312" cy="331758"/>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algn="ctr" defTabSz="584200">
              <a:defRPr sz="2400">
                <a:latin typeface="+mj-lt"/>
                <a:ea typeface="+mj-ea"/>
                <a:cs typeface="+mj-cs"/>
                <a:sym typeface="Baskerville"/>
              </a:defRPr>
            </a:lvl1pPr>
          </a:lstStyle>
          <a:p>
            <a:r>
              <a:rPr sz="1687"/>
              <a:t>m_handleIndex == 6</a:t>
            </a:r>
          </a:p>
        </p:txBody>
      </p:sp>
      <p:sp>
        <p:nvSpPr>
          <p:cNvPr id="510" name="Object 1"/>
          <p:cNvSpPr/>
          <p:nvPr/>
        </p:nvSpPr>
        <p:spPr>
          <a:xfrm>
            <a:off x="8248054" y="1902023"/>
            <a:ext cx="1384102" cy="428625"/>
          </a:xfrm>
          <a:prstGeom prst="roundRect">
            <a:avLst>
              <a:gd name="adj" fmla="val 31250"/>
            </a:avLst>
          </a:prstGeom>
          <a:ln w="254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algn="ctr" defTabSz="584200">
              <a:defRPr sz="2400">
                <a:latin typeface="+mj-lt"/>
                <a:ea typeface="+mj-ea"/>
                <a:cs typeface="+mj-cs"/>
                <a:sym typeface="Baskerville"/>
              </a:defRPr>
            </a:lvl1pPr>
          </a:lstStyle>
          <a:p>
            <a:r>
              <a:rPr sz="1687"/>
              <a:t>Object 1</a:t>
            </a:r>
          </a:p>
        </p:txBody>
      </p:sp>
      <p:sp>
        <p:nvSpPr>
          <p:cNvPr id="511" name="Object 2"/>
          <p:cNvSpPr/>
          <p:nvPr/>
        </p:nvSpPr>
        <p:spPr>
          <a:xfrm>
            <a:off x="8783836" y="2589609"/>
            <a:ext cx="1384102" cy="428625"/>
          </a:xfrm>
          <a:prstGeom prst="roundRect">
            <a:avLst>
              <a:gd name="adj" fmla="val 31250"/>
            </a:avLst>
          </a:prstGeom>
          <a:ln w="254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algn="ctr" defTabSz="584200">
              <a:defRPr sz="2400">
                <a:latin typeface="+mj-lt"/>
                <a:ea typeface="+mj-ea"/>
                <a:cs typeface="+mj-cs"/>
                <a:sym typeface="Baskerville"/>
              </a:defRPr>
            </a:lvl1pPr>
          </a:lstStyle>
          <a:p>
            <a:r>
              <a:rPr sz="1687"/>
              <a:t>Object 2</a:t>
            </a:r>
          </a:p>
        </p:txBody>
      </p:sp>
      <p:sp>
        <p:nvSpPr>
          <p:cNvPr id="512" name="Object 3"/>
          <p:cNvSpPr/>
          <p:nvPr/>
        </p:nvSpPr>
        <p:spPr>
          <a:xfrm>
            <a:off x="8131969" y="3661172"/>
            <a:ext cx="1384102" cy="428625"/>
          </a:xfrm>
          <a:prstGeom prst="roundRect">
            <a:avLst>
              <a:gd name="adj" fmla="val 31250"/>
            </a:avLst>
          </a:prstGeom>
          <a:ln w="254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algn="ctr" defTabSz="584200">
              <a:defRPr sz="2400">
                <a:latin typeface="+mj-lt"/>
                <a:ea typeface="+mj-ea"/>
                <a:cs typeface="+mj-cs"/>
                <a:sym typeface="Baskerville"/>
              </a:defRPr>
            </a:lvl1pPr>
          </a:lstStyle>
          <a:p>
            <a:r>
              <a:rPr sz="1687"/>
              <a:t>Object 3</a:t>
            </a:r>
          </a:p>
        </p:txBody>
      </p:sp>
      <p:sp>
        <p:nvSpPr>
          <p:cNvPr id="513" name="Object 4"/>
          <p:cNvSpPr/>
          <p:nvPr/>
        </p:nvSpPr>
        <p:spPr>
          <a:xfrm>
            <a:off x="8435578" y="4321969"/>
            <a:ext cx="1384102" cy="428625"/>
          </a:xfrm>
          <a:prstGeom prst="roundRect">
            <a:avLst>
              <a:gd name="adj" fmla="val 31250"/>
            </a:avLst>
          </a:prstGeom>
          <a:ln w="254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algn="ctr" defTabSz="584200">
              <a:defRPr sz="2400">
                <a:latin typeface="+mj-lt"/>
                <a:ea typeface="+mj-ea"/>
                <a:cs typeface="+mj-cs"/>
                <a:sym typeface="Baskerville"/>
              </a:defRPr>
            </a:lvl1pPr>
          </a:lstStyle>
          <a:p>
            <a:r>
              <a:rPr sz="1687"/>
              <a:t>Object 4</a:t>
            </a:r>
          </a:p>
        </p:txBody>
      </p:sp>
      <p:sp>
        <p:nvSpPr>
          <p:cNvPr id="514" name="Object 5"/>
          <p:cNvSpPr/>
          <p:nvPr/>
        </p:nvSpPr>
        <p:spPr>
          <a:xfrm>
            <a:off x="8131969" y="5161359"/>
            <a:ext cx="1384102" cy="428625"/>
          </a:xfrm>
          <a:prstGeom prst="roundRect">
            <a:avLst>
              <a:gd name="adj" fmla="val 31250"/>
            </a:avLst>
          </a:prstGeom>
          <a:ln w="254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algn="ctr" defTabSz="584200">
              <a:defRPr sz="2400">
                <a:latin typeface="+mj-lt"/>
                <a:ea typeface="+mj-ea"/>
                <a:cs typeface="+mj-cs"/>
                <a:sym typeface="Baskerville"/>
              </a:defRPr>
            </a:lvl1pPr>
          </a:lstStyle>
          <a:p>
            <a:r>
              <a:rPr sz="1687"/>
              <a:t>Object 5</a:t>
            </a:r>
          </a:p>
        </p:txBody>
      </p:sp>
      <p:sp>
        <p:nvSpPr>
          <p:cNvPr id="515" name="Line"/>
          <p:cNvSpPr/>
          <p:nvPr/>
        </p:nvSpPr>
        <p:spPr>
          <a:xfrm flipH="1">
            <a:off x="6361798" y="2097604"/>
            <a:ext cx="1880188" cy="304622"/>
          </a:xfrm>
          <a:prstGeom prst="line">
            <a:avLst/>
          </a:prstGeom>
          <a:ln w="25400">
            <a:solidFill>
              <a:srgbClr val="000000"/>
            </a:solidFill>
            <a:miter lim="400000"/>
            <a:headEnd type="stealth"/>
          </a:ln>
        </p:spPr>
        <p:txBody>
          <a:bodyPr lIns="35719" tIns="35719" rIns="35719" bIns="35719" anchor="ctr"/>
          <a:lstStyle/>
          <a:p>
            <a:endParaRPr sz="1266"/>
          </a:p>
        </p:txBody>
      </p:sp>
      <p:sp>
        <p:nvSpPr>
          <p:cNvPr id="516" name="Line"/>
          <p:cNvSpPr/>
          <p:nvPr/>
        </p:nvSpPr>
        <p:spPr>
          <a:xfrm flipH="1">
            <a:off x="6352520" y="2791504"/>
            <a:ext cx="2429224" cy="132585"/>
          </a:xfrm>
          <a:prstGeom prst="line">
            <a:avLst/>
          </a:prstGeom>
          <a:ln w="25400">
            <a:solidFill>
              <a:srgbClr val="000000"/>
            </a:solidFill>
            <a:miter lim="400000"/>
            <a:headEnd type="stealth"/>
          </a:ln>
        </p:spPr>
        <p:txBody>
          <a:bodyPr lIns="35719" tIns="35719" rIns="35719" bIns="35719" anchor="ctr"/>
          <a:lstStyle/>
          <a:p>
            <a:endParaRPr sz="1266"/>
          </a:p>
        </p:txBody>
      </p:sp>
      <p:sp>
        <p:nvSpPr>
          <p:cNvPr id="517" name="Line"/>
          <p:cNvSpPr/>
          <p:nvPr/>
        </p:nvSpPr>
        <p:spPr>
          <a:xfrm flipH="1">
            <a:off x="6341357" y="3869031"/>
            <a:ext cx="1786531" cy="82112"/>
          </a:xfrm>
          <a:prstGeom prst="line">
            <a:avLst/>
          </a:prstGeom>
          <a:ln w="25400">
            <a:solidFill>
              <a:srgbClr val="000000"/>
            </a:solidFill>
            <a:miter lim="400000"/>
            <a:headEnd type="stealth"/>
          </a:ln>
        </p:spPr>
        <p:txBody>
          <a:bodyPr lIns="35719" tIns="35719" rIns="35719" bIns="35719" anchor="ctr"/>
          <a:lstStyle/>
          <a:p>
            <a:endParaRPr sz="1266"/>
          </a:p>
        </p:txBody>
      </p:sp>
      <p:sp>
        <p:nvSpPr>
          <p:cNvPr id="518" name="Line"/>
          <p:cNvSpPr/>
          <p:nvPr/>
        </p:nvSpPr>
        <p:spPr>
          <a:xfrm flipH="1" flipV="1">
            <a:off x="6347182" y="4480331"/>
            <a:ext cx="2078386" cy="62892"/>
          </a:xfrm>
          <a:prstGeom prst="line">
            <a:avLst/>
          </a:prstGeom>
          <a:ln w="25400">
            <a:solidFill>
              <a:srgbClr val="000000"/>
            </a:solidFill>
            <a:miter lim="400000"/>
            <a:headEnd type="stealth"/>
          </a:ln>
        </p:spPr>
        <p:txBody>
          <a:bodyPr lIns="35719" tIns="35719" rIns="35719" bIns="35719" anchor="ctr"/>
          <a:lstStyle/>
          <a:p>
            <a:endParaRPr sz="1266"/>
          </a:p>
        </p:txBody>
      </p:sp>
      <p:sp>
        <p:nvSpPr>
          <p:cNvPr id="519" name="Line"/>
          <p:cNvSpPr/>
          <p:nvPr/>
        </p:nvSpPr>
        <p:spPr>
          <a:xfrm flipH="1">
            <a:off x="6353740" y="5381113"/>
            <a:ext cx="1762742" cy="124389"/>
          </a:xfrm>
          <a:prstGeom prst="line">
            <a:avLst/>
          </a:prstGeom>
          <a:ln w="25400">
            <a:solidFill>
              <a:srgbClr val="000000"/>
            </a:solidFill>
            <a:miter lim="400000"/>
            <a:headEnd type="stealth"/>
          </a:ln>
        </p:spPr>
        <p:txBody>
          <a:bodyPr lIns="35719" tIns="35719" rIns="35719" bIns="35719" anchor="ctr"/>
          <a:lstStyle/>
          <a:p>
            <a:endParaRPr sz="1266"/>
          </a:p>
        </p:txBody>
      </p:sp>
      <p:sp>
        <p:nvSpPr>
          <p:cNvPr id="520" name="Circle"/>
          <p:cNvSpPr/>
          <p:nvPr/>
        </p:nvSpPr>
        <p:spPr>
          <a:xfrm>
            <a:off x="6292453" y="2366367"/>
            <a:ext cx="89297" cy="89297"/>
          </a:xfrm>
          <a:prstGeom prst="ellipse">
            <a:avLst/>
          </a:prstGeom>
          <a:solidFill>
            <a:srgbClr val="000000"/>
          </a:solidFill>
          <a:ln w="25400">
            <a:miter lim="400000"/>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521" name="Circle"/>
          <p:cNvSpPr/>
          <p:nvPr/>
        </p:nvSpPr>
        <p:spPr>
          <a:xfrm>
            <a:off x="6292453" y="2875359"/>
            <a:ext cx="89297" cy="89297"/>
          </a:xfrm>
          <a:prstGeom prst="ellipse">
            <a:avLst/>
          </a:prstGeom>
          <a:solidFill>
            <a:srgbClr val="000000"/>
          </a:solidFill>
          <a:ln w="25400">
            <a:miter lim="400000"/>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522" name="Circle"/>
          <p:cNvSpPr/>
          <p:nvPr/>
        </p:nvSpPr>
        <p:spPr>
          <a:xfrm>
            <a:off x="6292453" y="3911203"/>
            <a:ext cx="89297" cy="89297"/>
          </a:xfrm>
          <a:prstGeom prst="ellipse">
            <a:avLst/>
          </a:prstGeom>
          <a:solidFill>
            <a:srgbClr val="000000"/>
          </a:solidFill>
          <a:ln w="25400">
            <a:miter lim="400000"/>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523" name="Circle"/>
          <p:cNvSpPr/>
          <p:nvPr/>
        </p:nvSpPr>
        <p:spPr>
          <a:xfrm>
            <a:off x="6292453" y="4420195"/>
            <a:ext cx="89297" cy="89297"/>
          </a:xfrm>
          <a:prstGeom prst="ellipse">
            <a:avLst/>
          </a:prstGeom>
          <a:solidFill>
            <a:srgbClr val="000000"/>
          </a:solidFill>
          <a:ln w="25400">
            <a:miter lim="400000"/>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524" name="Circle"/>
          <p:cNvSpPr/>
          <p:nvPr/>
        </p:nvSpPr>
        <p:spPr>
          <a:xfrm>
            <a:off x="6292453" y="5447109"/>
            <a:ext cx="89297" cy="89297"/>
          </a:xfrm>
          <a:prstGeom prst="ellipse">
            <a:avLst/>
          </a:prstGeom>
          <a:solidFill>
            <a:srgbClr val="000000"/>
          </a:solidFill>
          <a:ln w="25400">
            <a:miter lim="400000"/>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525" name="Line"/>
          <p:cNvSpPr/>
          <p:nvPr/>
        </p:nvSpPr>
        <p:spPr>
          <a:xfrm flipH="1" flipV="1">
            <a:off x="3106333" y="3290728"/>
            <a:ext cx="2125511" cy="2203751"/>
          </a:xfrm>
          <a:prstGeom prst="line">
            <a:avLst/>
          </a:prstGeom>
          <a:ln w="25400">
            <a:solidFill>
              <a:srgbClr val="000000"/>
            </a:solidFill>
            <a:miter lim="400000"/>
            <a:headEnd type="stealth"/>
          </a:ln>
        </p:spPr>
        <p:txBody>
          <a:bodyPr lIns="35719" tIns="35719" rIns="35719" bIns="35719" anchor="ctr"/>
          <a:lstStyle/>
          <a:p>
            <a:endParaRPr sz="1266"/>
          </a:p>
        </p:txBody>
      </p:sp>
    </p:spTree>
    <p:extLst>
      <p:ext uri="{BB962C8B-B14F-4D97-AF65-F5344CB8AC3E}">
        <p14:creationId xmlns:p14="http://schemas.microsoft.com/office/powerpoint/2010/main" val="3279646172"/>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Queries"/>
          <p:cNvSpPr txBox="1">
            <a:spLocks noGrp="1"/>
          </p:cNvSpPr>
          <p:nvPr>
            <p:ph type="title"/>
          </p:nvPr>
        </p:nvSpPr>
        <p:spPr>
          <a:prstGeom prst="rect">
            <a:avLst/>
          </a:prstGeom>
        </p:spPr>
        <p:txBody>
          <a:bodyPr/>
          <a:lstStyle/>
          <a:p>
            <a:r>
              <a:t>Queries</a:t>
            </a:r>
          </a:p>
        </p:txBody>
      </p:sp>
      <p:sp>
        <p:nvSpPr>
          <p:cNvPr id="530" name="Find objects by ID – Hash table or binary search tree keyed by ID…"/>
          <p:cNvSpPr txBox="1">
            <a:spLocks noGrp="1"/>
          </p:cNvSpPr>
          <p:nvPr>
            <p:ph type="body" idx="1"/>
          </p:nvPr>
        </p:nvSpPr>
        <p:spPr>
          <a:xfrm>
            <a:off x="2416969" y="1946672"/>
            <a:ext cx="7358063" cy="4589859"/>
          </a:xfrm>
          <a:prstGeom prst="rect">
            <a:avLst/>
          </a:prstGeom>
        </p:spPr>
        <p:txBody>
          <a:bodyPr>
            <a:normAutofit fontScale="77500" lnSpcReduction="20000"/>
          </a:bodyPr>
          <a:lstStyle/>
          <a:p>
            <a:pPr marL="615488" indent="-392254">
              <a:defRPr sz="4100"/>
            </a:pPr>
            <a:r>
              <a:t>Find objects by ID – Hash table or binary search tree keyed by ID</a:t>
            </a:r>
          </a:p>
          <a:p>
            <a:pPr marL="615488" indent="-392254">
              <a:defRPr sz="4100"/>
            </a:pPr>
            <a:r>
              <a:t>Iterating over all objects that meet a criterion – Presort into linked lists (presuming you know the criteria ahead of time)</a:t>
            </a:r>
          </a:p>
          <a:p>
            <a:pPr marL="615488" indent="-392254">
              <a:defRPr sz="4100"/>
            </a:pPr>
            <a:r>
              <a:t>Finding all objects within a given region or radius – store data in a spatial hash data structure: horizontal grid over the world, quadtrees, octtrees, k-d trees, etc.</a:t>
            </a:r>
          </a:p>
        </p:txBody>
      </p:sp>
    </p:spTree>
    <p:extLst>
      <p:ext uri="{BB962C8B-B14F-4D97-AF65-F5344CB8AC3E}">
        <p14:creationId xmlns:p14="http://schemas.microsoft.com/office/powerpoint/2010/main" val="3984617931"/>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3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53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53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53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 grpId="0" build="p" bldLvl="5" animBg="1" advAuto="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Game State"/>
          <p:cNvSpPr txBox="1">
            <a:spLocks noGrp="1"/>
          </p:cNvSpPr>
          <p:nvPr>
            <p:ph type="title"/>
          </p:nvPr>
        </p:nvSpPr>
        <p:spPr>
          <a:prstGeom prst="rect">
            <a:avLst/>
          </a:prstGeom>
        </p:spPr>
        <p:txBody>
          <a:bodyPr/>
          <a:lstStyle/>
          <a:p>
            <a:r>
              <a:t>Game State</a:t>
            </a:r>
          </a:p>
        </p:txBody>
      </p:sp>
      <p:sp>
        <p:nvSpPr>
          <p:cNvPr id="389" name="The collection of information that represents a snapshot of the game universe at a particular time…"/>
          <p:cNvSpPr txBox="1">
            <a:spLocks noGrp="1"/>
          </p:cNvSpPr>
          <p:nvPr>
            <p:ph type="body" idx="1"/>
          </p:nvPr>
        </p:nvSpPr>
        <p:spPr>
          <a:xfrm>
            <a:off x="2416969" y="1623811"/>
            <a:ext cx="7358063" cy="5090662"/>
          </a:xfrm>
          <a:prstGeom prst="rect">
            <a:avLst/>
          </a:prstGeom>
        </p:spPr>
        <p:txBody>
          <a:bodyPr>
            <a:normAutofit fontScale="77500" lnSpcReduction="20000"/>
          </a:bodyPr>
          <a:lstStyle/>
          <a:p>
            <a:pPr marL="558086" indent="-334851">
              <a:spcBef>
                <a:spcPts val="844"/>
              </a:spcBef>
              <a:defRPr sz="3500"/>
            </a:pPr>
            <a:r>
              <a:t>The collection of information that represents a snapshot of the game universe at a particular time</a:t>
            </a:r>
          </a:p>
          <a:p>
            <a:pPr marL="870614" lvl="1" indent="-334851">
              <a:spcBef>
                <a:spcPts val="844"/>
              </a:spcBef>
              <a:defRPr sz="3500"/>
            </a:pPr>
            <a:r>
              <a:t>Position, orientation, velocity of all dynamic entities</a:t>
            </a:r>
          </a:p>
          <a:p>
            <a:pPr marL="870614" lvl="1" indent="-334851">
              <a:spcBef>
                <a:spcPts val="844"/>
              </a:spcBef>
              <a:defRPr sz="3500"/>
            </a:pPr>
            <a:r>
              <a:t>Behavior/intentions of AI-controlled entities</a:t>
            </a:r>
          </a:p>
          <a:p>
            <a:pPr marL="870614" lvl="1" indent="-334851">
              <a:spcBef>
                <a:spcPts val="844"/>
              </a:spcBef>
              <a:defRPr sz="3500"/>
            </a:pPr>
            <a:r>
              <a:t>Scores, health, powers, damage levels, etc.</a:t>
            </a:r>
          </a:p>
          <a:p>
            <a:pPr marL="558086" indent="-334851">
              <a:spcBef>
                <a:spcPts val="844"/>
              </a:spcBef>
              <a:defRPr sz="3500"/>
            </a:pPr>
            <a:r>
              <a:t>All subsystems are interested in some aspect of the game state</a:t>
            </a:r>
          </a:p>
          <a:p>
            <a:pPr marL="870614" lvl="1" indent="-334851">
              <a:spcBef>
                <a:spcPts val="844"/>
              </a:spcBef>
              <a:defRPr sz="3500"/>
            </a:pPr>
            <a:r>
              <a:t>Position needs to be known by renderer, physics, networking, possibly sound</a:t>
            </a:r>
          </a:p>
          <a:p>
            <a:pPr marL="870614" lvl="1" indent="-334851">
              <a:spcBef>
                <a:spcPts val="844"/>
              </a:spcBef>
              <a:defRPr sz="3500"/>
            </a:pPr>
            <a:r>
              <a:t>Many systems need to know when an entity is spawned or destroyed</a:t>
            </a:r>
          </a:p>
        </p:txBody>
      </p:sp>
    </p:spTree>
    <p:extLst>
      <p:ext uri="{BB962C8B-B14F-4D97-AF65-F5344CB8AC3E}">
        <p14:creationId xmlns:p14="http://schemas.microsoft.com/office/powerpoint/2010/main" val="3181953021"/>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8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89">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389">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389">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389">
                                            <p:txEl>
                                              <p:pRg st="3" end="3"/>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iterate>
                                    <p:tmAbs val="0"/>
                                  </p:iterate>
                                  <p:childTnLst>
                                    <p:set>
                                      <p:cBhvr>
                                        <p:cTn id="20" fill="hold"/>
                                        <p:tgtEl>
                                          <p:spTgt spid="389">
                                            <p:txEl>
                                              <p:pRg st="4" end="4"/>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389">
                                            <p:txEl>
                                              <p:pRg st="5" end="5"/>
                                            </p:txEl>
                                          </p:spTgt>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iterate>
                                    <p:tmAbs val="0"/>
                                  </p:iterate>
                                  <p:childTnLst>
                                    <p:set>
                                      <p:cBhvr>
                                        <p:cTn id="26" fill="hold"/>
                                        <p:tgtEl>
                                          <p:spTgt spid="38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 grpId="0" build="p" bldLvl="5" animBg="1" advAuto="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Sharing State"/>
          <p:cNvSpPr txBox="1">
            <a:spLocks noGrp="1"/>
          </p:cNvSpPr>
          <p:nvPr>
            <p:ph type="title"/>
          </p:nvPr>
        </p:nvSpPr>
        <p:spPr>
          <a:prstGeom prst="rect">
            <a:avLst/>
          </a:prstGeom>
        </p:spPr>
        <p:txBody>
          <a:bodyPr/>
          <a:lstStyle/>
          <a:p>
            <a:r>
              <a:t>Sharing State</a:t>
            </a:r>
          </a:p>
        </p:txBody>
      </p:sp>
      <p:sp>
        <p:nvSpPr>
          <p:cNvPr id="392" name="How is the game state made available to subsystems?…"/>
          <p:cNvSpPr txBox="1">
            <a:spLocks noGrp="1"/>
          </p:cNvSpPr>
          <p:nvPr>
            <p:ph type="body" idx="1"/>
          </p:nvPr>
        </p:nvSpPr>
        <p:spPr>
          <a:xfrm>
            <a:off x="2416969" y="1946672"/>
            <a:ext cx="7358063" cy="4787632"/>
          </a:xfrm>
          <a:prstGeom prst="rect">
            <a:avLst/>
          </a:prstGeom>
        </p:spPr>
        <p:txBody>
          <a:bodyPr>
            <a:normAutofit fontScale="92500" lnSpcReduction="20000"/>
          </a:bodyPr>
          <a:lstStyle/>
          <a:p>
            <a:pPr>
              <a:defRPr sz="4000"/>
            </a:pPr>
            <a:r>
              <a:t>How is the game state made available to subsystems?</a:t>
            </a:r>
          </a:p>
          <a:p>
            <a:pPr lvl="1">
              <a:defRPr sz="4000"/>
            </a:pPr>
            <a:r>
              <a:t>Global</a:t>
            </a:r>
          </a:p>
          <a:p>
            <a:pPr lvl="1">
              <a:defRPr sz="4000"/>
            </a:pPr>
            <a:r>
              <a:t>Push/Pull models</a:t>
            </a:r>
          </a:p>
          <a:p>
            <a:pPr lvl="1">
              <a:defRPr sz="4000"/>
            </a:pPr>
            <a:r>
              <a:t>Brokers</a:t>
            </a:r>
          </a:p>
          <a:p>
            <a:pPr lvl="1">
              <a:defRPr sz="4000"/>
            </a:pPr>
            <a:r>
              <a:t>Broadcast/Listener</a:t>
            </a:r>
          </a:p>
          <a:p>
            <a:pPr lvl="1">
              <a:defRPr sz="4000"/>
            </a:pPr>
            <a:r>
              <a:t>Database</a:t>
            </a:r>
          </a:p>
          <a:p>
            <a:pPr lvl="1">
              <a:defRPr sz="4000"/>
            </a:pPr>
            <a:r>
              <a:t>Shared entities</a:t>
            </a:r>
          </a:p>
        </p:txBody>
      </p:sp>
    </p:spTree>
    <p:extLst>
      <p:ext uri="{BB962C8B-B14F-4D97-AF65-F5344CB8AC3E}">
        <p14:creationId xmlns:p14="http://schemas.microsoft.com/office/powerpoint/2010/main" val="269378587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92">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9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39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39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39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39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392">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39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 grpId="0" build="p" bldLvl="5" animBg="1" advAuto="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Global State"/>
          <p:cNvSpPr txBox="1">
            <a:spLocks noGrp="1"/>
          </p:cNvSpPr>
          <p:nvPr>
            <p:ph type="title"/>
          </p:nvPr>
        </p:nvSpPr>
        <p:spPr>
          <a:prstGeom prst="rect">
            <a:avLst/>
          </a:prstGeom>
        </p:spPr>
        <p:txBody>
          <a:bodyPr/>
          <a:lstStyle/>
          <a:p>
            <a:r>
              <a:t>Global State</a:t>
            </a:r>
          </a:p>
        </p:txBody>
      </p:sp>
      <p:sp>
        <p:nvSpPr>
          <p:cNvPr id="395" name="Everyone has access to everyone else…"/>
          <p:cNvSpPr txBox="1">
            <a:spLocks noGrp="1"/>
          </p:cNvSpPr>
          <p:nvPr>
            <p:ph type="body" sz="half" idx="1"/>
          </p:nvPr>
        </p:nvSpPr>
        <p:spPr>
          <a:xfrm>
            <a:off x="5983567" y="1562036"/>
            <a:ext cx="4426052" cy="4787632"/>
          </a:xfrm>
          <a:prstGeom prst="rect">
            <a:avLst/>
          </a:prstGeom>
        </p:spPr>
        <p:txBody>
          <a:bodyPr>
            <a:normAutofit fontScale="92500" lnSpcReduction="10000"/>
          </a:bodyPr>
          <a:lstStyle/>
          <a:p>
            <a:pPr marL="625055" indent="-401821">
              <a:defRPr sz="3400"/>
            </a:pPr>
            <a:r>
              <a:t>Everyone has access to everyone else</a:t>
            </a:r>
          </a:p>
          <a:p>
            <a:pPr marL="937583" lvl="1" indent="-401821">
              <a:defRPr sz="3400"/>
            </a:pPr>
            <a:r>
              <a:t>If the renderer needs access to player location, it just grabs it from the AI subsystem</a:t>
            </a:r>
          </a:p>
          <a:p>
            <a:pPr marL="937583" lvl="1" indent="-401821">
              <a:defRPr sz="3400"/>
            </a:pPr>
            <a:r>
              <a:t>This is what will happen if you don’t think about the design in advance</a:t>
            </a:r>
          </a:p>
        </p:txBody>
      </p:sp>
      <p:sp>
        <p:nvSpPr>
          <p:cNvPr id="396" name="Render"/>
          <p:cNvSpPr/>
          <p:nvPr/>
        </p:nvSpPr>
        <p:spPr>
          <a:xfrm>
            <a:off x="1686126" y="3470944"/>
            <a:ext cx="1356777" cy="733236"/>
          </a:xfrm>
          <a:prstGeom prst="rect">
            <a:avLst/>
          </a:prstGeom>
          <a:ln w="254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algn="ctr" defTabSz="584200">
              <a:defRPr sz="4000">
                <a:latin typeface="+mj-lt"/>
                <a:ea typeface="+mj-ea"/>
                <a:cs typeface="+mj-cs"/>
                <a:sym typeface="Baskerville"/>
              </a:defRPr>
            </a:lvl1pPr>
          </a:lstStyle>
          <a:p>
            <a:r>
              <a:rPr sz="2812"/>
              <a:t>Render</a:t>
            </a:r>
          </a:p>
        </p:txBody>
      </p:sp>
      <p:sp>
        <p:nvSpPr>
          <p:cNvPr id="397" name="AI"/>
          <p:cNvSpPr/>
          <p:nvPr/>
        </p:nvSpPr>
        <p:spPr>
          <a:xfrm>
            <a:off x="3010967" y="2045905"/>
            <a:ext cx="1356777" cy="733236"/>
          </a:xfrm>
          <a:prstGeom prst="rect">
            <a:avLst/>
          </a:prstGeom>
          <a:ln w="254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algn="ctr" defTabSz="584200">
              <a:defRPr sz="4000">
                <a:latin typeface="+mj-lt"/>
                <a:ea typeface="+mj-ea"/>
                <a:cs typeface="+mj-cs"/>
                <a:sym typeface="Baskerville"/>
              </a:defRPr>
            </a:lvl1pPr>
          </a:lstStyle>
          <a:p>
            <a:r>
              <a:rPr sz="2812"/>
              <a:t>AI</a:t>
            </a:r>
          </a:p>
        </p:txBody>
      </p:sp>
      <p:sp>
        <p:nvSpPr>
          <p:cNvPr id="398" name="Sound"/>
          <p:cNvSpPr/>
          <p:nvPr/>
        </p:nvSpPr>
        <p:spPr>
          <a:xfrm>
            <a:off x="4324674" y="3470944"/>
            <a:ext cx="1356777" cy="733236"/>
          </a:xfrm>
          <a:prstGeom prst="rect">
            <a:avLst/>
          </a:prstGeom>
          <a:ln w="254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algn="ctr" defTabSz="584200">
              <a:defRPr sz="4000">
                <a:latin typeface="+mj-lt"/>
                <a:ea typeface="+mj-ea"/>
                <a:cs typeface="+mj-cs"/>
                <a:sym typeface="Baskerville"/>
              </a:defRPr>
            </a:lvl1pPr>
          </a:lstStyle>
          <a:p>
            <a:r>
              <a:rPr sz="2812"/>
              <a:t>Sound</a:t>
            </a:r>
          </a:p>
        </p:txBody>
      </p:sp>
      <p:sp>
        <p:nvSpPr>
          <p:cNvPr id="399" name="Input"/>
          <p:cNvSpPr/>
          <p:nvPr/>
        </p:nvSpPr>
        <p:spPr>
          <a:xfrm>
            <a:off x="1919921" y="4969740"/>
            <a:ext cx="1356777" cy="733236"/>
          </a:xfrm>
          <a:prstGeom prst="rect">
            <a:avLst/>
          </a:prstGeom>
          <a:ln w="254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algn="ctr" defTabSz="584200">
              <a:defRPr sz="4000">
                <a:latin typeface="+mj-lt"/>
                <a:ea typeface="+mj-ea"/>
                <a:cs typeface="+mj-cs"/>
                <a:sym typeface="Baskerville"/>
              </a:defRPr>
            </a:lvl1pPr>
          </a:lstStyle>
          <a:p>
            <a:r>
              <a:rPr sz="2812"/>
              <a:t>Input</a:t>
            </a:r>
          </a:p>
        </p:txBody>
      </p:sp>
      <p:sp>
        <p:nvSpPr>
          <p:cNvPr id="400" name="Network"/>
          <p:cNvSpPr/>
          <p:nvPr/>
        </p:nvSpPr>
        <p:spPr>
          <a:xfrm>
            <a:off x="4102012" y="4969740"/>
            <a:ext cx="1356777" cy="733236"/>
          </a:xfrm>
          <a:prstGeom prst="rect">
            <a:avLst/>
          </a:prstGeom>
          <a:ln w="254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algn="ctr" defTabSz="584200">
              <a:defRPr sz="4000">
                <a:latin typeface="+mj-lt"/>
                <a:ea typeface="+mj-ea"/>
                <a:cs typeface="+mj-cs"/>
                <a:sym typeface="Baskerville"/>
              </a:defRPr>
            </a:lvl1pPr>
          </a:lstStyle>
          <a:p>
            <a:r>
              <a:rPr sz="2812"/>
              <a:t>Network</a:t>
            </a:r>
          </a:p>
        </p:txBody>
      </p:sp>
      <p:sp>
        <p:nvSpPr>
          <p:cNvPr id="401" name="Line"/>
          <p:cNvSpPr/>
          <p:nvPr/>
        </p:nvSpPr>
        <p:spPr>
          <a:xfrm flipV="1">
            <a:off x="2498844" y="2772525"/>
            <a:ext cx="695441" cy="695441"/>
          </a:xfrm>
          <a:prstGeom prst="line">
            <a:avLst/>
          </a:prstGeom>
          <a:ln w="25400">
            <a:solidFill>
              <a:srgbClr val="000000"/>
            </a:solidFill>
            <a:miter lim="400000"/>
            <a:tailEnd type="triangle"/>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402" name="Line"/>
          <p:cNvSpPr/>
          <p:nvPr/>
        </p:nvSpPr>
        <p:spPr>
          <a:xfrm flipH="1">
            <a:off x="2720359" y="2784175"/>
            <a:ext cx="684769" cy="684769"/>
          </a:xfrm>
          <a:prstGeom prst="line">
            <a:avLst/>
          </a:prstGeom>
          <a:ln w="25400">
            <a:solidFill>
              <a:srgbClr val="000000"/>
            </a:solidFill>
            <a:miter lim="400000"/>
            <a:tailEnd type="triangle"/>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403" name="Line"/>
          <p:cNvSpPr/>
          <p:nvPr/>
        </p:nvSpPr>
        <p:spPr>
          <a:xfrm flipV="1">
            <a:off x="2799438" y="2772989"/>
            <a:ext cx="818906" cy="2200152"/>
          </a:xfrm>
          <a:prstGeom prst="line">
            <a:avLst/>
          </a:prstGeom>
          <a:ln w="25400">
            <a:solidFill>
              <a:srgbClr val="000000"/>
            </a:solidFill>
            <a:miter lim="400000"/>
            <a:tailEnd type="triangle"/>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404" name="Line"/>
          <p:cNvSpPr/>
          <p:nvPr/>
        </p:nvSpPr>
        <p:spPr>
          <a:xfrm flipH="1" flipV="1">
            <a:off x="3735211" y="2772989"/>
            <a:ext cx="578302" cy="2204979"/>
          </a:xfrm>
          <a:prstGeom prst="line">
            <a:avLst/>
          </a:prstGeom>
          <a:ln w="25400">
            <a:solidFill>
              <a:srgbClr val="000000"/>
            </a:solidFill>
            <a:miter lim="400000"/>
            <a:tailEnd type="triangle"/>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405" name="Line"/>
          <p:cNvSpPr/>
          <p:nvPr/>
        </p:nvSpPr>
        <p:spPr>
          <a:xfrm>
            <a:off x="3904876" y="2781918"/>
            <a:ext cx="578301" cy="2204980"/>
          </a:xfrm>
          <a:prstGeom prst="line">
            <a:avLst/>
          </a:prstGeom>
          <a:ln w="25400">
            <a:solidFill>
              <a:srgbClr val="000000"/>
            </a:solidFill>
            <a:miter lim="400000"/>
            <a:tailEnd type="triangle"/>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406" name="Line"/>
          <p:cNvSpPr/>
          <p:nvPr/>
        </p:nvSpPr>
        <p:spPr>
          <a:xfrm>
            <a:off x="4149805" y="2780854"/>
            <a:ext cx="477103" cy="690521"/>
          </a:xfrm>
          <a:prstGeom prst="line">
            <a:avLst/>
          </a:prstGeom>
          <a:ln w="25400">
            <a:solidFill>
              <a:srgbClr val="000000"/>
            </a:solidFill>
            <a:miter lim="400000"/>
            <a:tailEnd type="triangle"/>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407" name="Line"/>
          <p:cNvSpPr/>
          <p:nvPr/>
        </p:nvSpPr>
        <p:spPr>
          <a:xfrm flipV="1">
            <a:off x="4936996" y="4205783"/>
            <a:ext cx="451905" cy="765154"/>
          </a:xfrm>
          <a:prstGeom prst="line">
            <a:avLst/>
          </a:prstGeom>
          <a:ln w="25400">
            <a:solidFill>
              <a:srgbClr val="000000"/>
            </a:solidFill>
            <a:miter lim="400000"/>
            <a:tailEnd type="triangle"/>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408" name="Line"/>
          <p:cNvSpPr/>
          <p:nvPr/>
        </p:nvSpPr>
        <p:spPr>
          <a:xfrm>
            <a:off x="3255727" y="5160199"/>
            <a:ext cx="867257" cy="1"/>
          </a:xfrm>
          <a:prstGeom prst="line">
            <a:avLst/>
          </a:prstGeom>
          <a:ln w="25400">
            <a:solidFill>
              <a:srgbClr val="000000"/>
            </a:solidFill>
            <a:miter lim="400000"/>
            <a:tailEnd type="triangle"/>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409" name="Line"/>
          <p:cNvSpPr/>
          <p:nvPr/>
        </p:nvSpPr>
        <p:spPr>
          <a:xfrm flipH="1">
            <a:off x="3255727" y="5449661"/>
            <a:ext cx="867257" cy="1"/>
          </a:xfrm>
          <a:prstGeom prst="line">
            <a:avLst/>
          </a:prstGeom>
          <a:ln w="25400">
            <a:solidFill>
              <a:srgbClr val="000000"/>
            </a:solidFill>
            <a:miter lim="400000"/>
            <a:tailEnd type="triangle"/>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410" name="Line"/>
          <p:cNvSpPr/>
          <p:nvPr/>
        </p:nvSpPr>
        <p:spPr>
          <a:xfrm>
            <a:off x="3046401" y="3837562"/>
            <a:ext cx="1285909" cy="1"/>
          </a:xfrm>
          <a:prstGeom prst="line">
            <a:avLst/>
          </a:prstGeom>
          <a:ln w="25400">
            <a:solidFill>
              <a:srgbClr val="000000"/>
            </a:solidFill>
            <a:miter lim="400000"/>
            <a:tailEnd type="triangle"/>
          </a:ln>
        </p:spPr>
        <p:txBody>
          <a:bodyPr lIns="35719" tIns="35719" rIns="35719" bIns="35719" anchor="ctr"/>
          <a:lstStyle/>
          <a:p>
            <a:pPr algn="ctr" defTabSz="410751">
              <a:defRPr sz="4000">
                <a:latin typeface="+mj-lt"/>
                <a:ea typeface="+mj-ea"/>
                <a:cs typeface="+mj-cs"/>
                <a:sym typeface="Baskerville"/>
              </a:defRPr>
            </a:pPr>
            <a:endParaRPr sz="2812"/>
          </a:p>
        </p:txBody>
      </p:sp>
      <p:sp>
        <p:nvSpPr>
          <p:cNvPr id="411" name="Line"/>
          <p:cNvSpPr/>
          <p:nvPr/>
        </p:nvSpPr>
        <p:spPr>
          <a:xfrm flipH="1">
            <a:off x="3313312" y="4195779"/>
            <a:ext cx="1189761" cy="816447"/>
          </a:xfrm>
          <a:prstGeom prst="line">
            <a:avLst/>
          </a:prstGeom>
          <a:ln w="25400">
            <a:solidFill>
              <a:srgbClr val="000000"/>
            </a:solidFill>
            <a:miter lim="400000"/>
            <a:tailEnd type="triangle"/>
          </a:ln>
        </p:spPr>
        <p:txBody>
          <a:bodyPr lIns="35719" tIns="35719" rIns="35719" bIns="35719" anchor="ctr"/>
          <a:lstStyle/>
          <a:p>
            <a:pPr algn="ctr" defTabSz="410751">
              <a:defRPr sz="4000">
                <a:latin typeface="+mj-lt"/>
                <a:ea typeface="+mj-ea"/>
                <a:cs typeface="+mj-cs"/>
                <a:sym typeface="Baskerville"/>
              </a:defRPr>
            </a:pPr>
            <a:endParaRPr sz="2812"/>
          </a:p>
        </p:txBody>
      </p:sp>
    </p:spTree>
    <p:extLst>
      <p:ext uri="{BB962C8B-B14F-4D97-AF65-F5344CB8AC3E}">
        <p14:creationId xmlns:p14="http://schemas.microsoft.com/office/powerpoint/2010/main" val="3010411176"/>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9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95">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395">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3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 grpId="0" build="p" bldLvl="5" animBg="1" advAuto="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 name="Title"/>
          <p:cNvSpPr txBox="1">
            <a:spLocks noGrp="1"/>
          </p:cNvSpPr>
          <p:nvPr>
            <p:ph type="title"/>
          </p:nvPr>
        </p:nvSpPr>
        <p:spPr>
          <a:prstGeom prst="rect">
            <a:avLst/>
          </a:prstGeom>
        </p:spPr>
        <p:txBody>
          <a:bodyPr/>
          <a:lstStyle/>
          <a:p>
            <a:r>
              <a:rPr lang="en-US" dirty="0" smtClean="0"/>
              <a:t>Communication Strategies</a:t>
            </a:r>
            <a:endParaRPr dirty="0"/>
          </a:p>
        </p:txBody>
      </p:sp>
      <p:sp>
        <p:nvSpPr>
          <p:cNvPr id="577" name="Body"/>
          <p:cNvSpPr txBox="1">
            <a:spLocks noGrp="1"/>
          </p:cNvSpPr>
          <p:nvPr>
            <p:ph type="body" idx="1"/>
          </p:nvPr>
        </p:nvSpPr>
        <p:spPr>
          <a:prstGeom prst="rect">
            <a:avLst/>
          </a:prstGeom>
        </p:spPr>
        <p:txBody>
          <a:bodyPr>
            <a:normAutofit fontScale="70000" lnSpcReduction="20000"/>
          </a:bodyPr>
          <a:lstStyle/>
          <a:p>
            <a:r>
              <a:rPr lang="en-US" dirty="0" smtClean="0"/>
              <a:t>Push/Pull</a:t>
            </a:r>
          </a:p>
          <a:p>
            <a:r>
              <a:rPr lang="en-US" dirty="0" smtClean="0"/>
              <a:t>Broker classes</a:t>
            </a:r>
          </a:p>
          <a:p>
            <a:r>
              <a:rPr lang="en-US" dirty="0" smtClean="0"/>
              <a:t>Broadcast/Listener</a:t>
            </a:r>
          </a:p>
          <a:p>
            <a:r>
              <a:rPr lang="en-US" dirty="0" smtClean="0"/>
              <a:t>Direct function calls</a:t>
            </a:r>
          </a:p>
          <a:p>
            <a:r>
              <a:rPr lang="en-US" dirty="0" smtClean="0"/>
              <a:t>Shared virtual interfaces</a:t>
            </a:r>
          </a:p>
          <a:p>
            <a:r>
              <a:rPr lang="en-US" dirty="0" smtClean="0"/>
              <a:t>Events</a:t>
            </a:r>
          </a:p>
          <a:p>
            <a:r>
              <a:rPr lang="en-US" dirty="0" smtClean="0"/>
              <a:t>Callbacks</a:t>
            </a:r>
          </a:p>
          <a:p>
            <a:r>
              <a:rPr lang="en-US" dirty="0" smtClean="0"/>
              <a:t>Shared Entities</a:t>
            </a:r>
          </a:p>
          <a:p>
            <a:r>
              <a:rPr lang="en-US" dirty="0" smtClean="0"/>
              <a:t>Database</a:t>
            </a:r>
          </a:p>
          <a:p>
            <a:endParaRPr dirty="0"/>
          </a:p>
        </p:txBody>
      </p:sp>
    </p:spTree>
    <p:extLst>
      <p:ext uri="{BB962C8B-B14F-4D97-AF65-F5344CB8AC3E}">
        <p14:creationId xmlns:p14="http://schemas.microsoft.com/office/powerpoint/2010/main" val="1182780006"/>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 grpId="0" animBg="1" advAuto="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Title"/>
          <p:cNvSpPr txBox="1">
            <a:spLocks noGrp="1"/>
          </p:cNvSpPr>
          <p:nvPr>
            <p:ph type="title"/>
          </p:nvPr>
        </p:nvSpPr>
        <p:spPr>
          <a:prstGeom prst="rect">
            <a:avLst/>
          </a:prstGeom>
        </p:spPr>
        <p:txBody>
          <a:bodyPr/>
          <a:lstStyle/>
          <a:p>
            <a:r>
              <a:rPr lang="en-US" dirty="0" smtClean="0"/>
              <a:t>Function Calls</a:t>
            </a:r>
            <a:endParaRPr dirty="0"/>
          </a:p>
        </p:txBody>
      </p:sp>
      <p:sp>
        <p:nvSpPr>
          <p:cNvPr id="581" name="Body"/>
          <p:cNvSpPr txBox="1">
            <a:spLocks noGrp="1"/>
          </p:cNvSpPr>
          <p:nvPr>
            <p:ph type="body" idx="1"/>
          </p:nvPr>
        </p:nvSpPr>
        <p:spPr>
          <a:prstGeom prst="rect">
            <a:avLst/>
          </a:prstGeom>
        </p:spPr>
        <p:txBody>
          <a:bodyPr>
            <a:normAutofit fontScale="92500" lnSpcReduction="20000"/>
          </a:bodyPr>
          <a:lstStyle/>
          <a:p>
            <a:r>
              <a:rPr lang="en-US" dirty="0" smtClean="0"/>
              <a:t>Pros</a:t>
            </a:r>
          </a:p>
          <a:p>
            <a:pPr lvl="1"/>
            <a:r>
              <a:rPr lang="en-US" dirty="0" smtClean="0"/>
              <a:t>Simple</a:t>
            </a:r>
          </a:p>
          <a:p>
            <a:pPr lvl="1"/>
            <a:r>
              <a:rPr lang="en-US" dirty="0" smtClean="0"/>
              <a:t>High performance</a:t>
            </a:r>
          </a:p>
          <a:p>
            <a:r>
              <a:rPr lang="en-US" dirty="0" smtClean="0"/>
              <a:t>Cons</a:t>
            </a:r>
          </a:p>
          <a:p>
            <a:pPr lvl="1"/>
            <a:r>
              <a:rPr lang="en-US" dirty="0" smtClean="0"/>
              <a:t>Scales poorly</a:t>
            </a:r>
          </a:p>
          <a:p>
            <a:pPr lvl="1"/>
            <a:r>
              <a:rPr lang="en-US" dirty="0" smtClean="0"/>
              <a:t>Header file dependencies increase</a:t>
            </a:r>
          </a:p>
          <a:p>
            <a:pPr lvl="1"/>
            <a:r>
              <a:rPr lang="en-US" dirty="0" smtClean="0"/>
              <a:t>High coupling</a:t>
            </a:r>
          </a:p>
          <a:p>
            <a:r>
              <a:rPr lang="en-US" dirty="0" smtClean="0"/>
              <a:t>Brokers can reign in complexity</a:t>
            </a:r>
          </a:p>
          <a:p>
            <a:endParaRPr lang="en-US" dirty="0" smtClean="0"/>
          </a:p>
          <a:p>
            <a:pPr lvl="1"/>
            <a:endParaRPr dirty="0"/>
          </a:p>
        </p:txBody>
      </p:sp>
    </p:spTree>
    <p:extLst>
      <p:ext uri="{BB962C8B-B14F-4D97-AF65-F5344CB8AC3E}">
        <p14:creationId xmlns:p14="http://schemas.microsoft.com/office/powerpoint/2010/main" val="3577634203"/>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 grpId="0" animBg="1" advAuto="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 name="Title"/>
          <p:cNvSpPr txBox="1">
            <a:spLocks noGrp="1"/>
          </p:cNvSpPr>
          <p:nvPr>
            <p:ph type="title"/>
          </p:nvPr>
        </p:nvSpPr>
        <p:spPr>
          <a:prstGeom prst="rect">
            <a:avLst/>
          </a:prstGeom>
        </p:spPr>
        <p:txBody>
          <a:bodyPr/>
          <a:lstStyle/>
          <a:p>
            <a:r>
              <a:rPr lang="en-US" dirty="0" smtClean="0"/>
              <a:t>Virtual Interfaces</a:t>
            </a:r>
            <a:endParaRPr dirty="0"/>
          </a:p>
        </p:txBody>
      </p:sp>
      <p:sp>
        <p:nvSpPr>
          <p:cNvPr id="585" name="Body"/>
          <p:cNvSpPr txBox="1">
            <a:spLocks noGrp="1"/>
          </p:cNvSpPr>
          <p:nvPr>
            <p:ph type="body" idx="1"/>
          </p:nvPr>
        </p:nvSpPr>
        <p:spPr>
          <a:prstGeom prst="rect">
            <a:avLst/>
          </a:prstGeom>
        </p:spPr>
        <p:txBody>
          <a:bodyPr>
            <a:normAutofit fontScale="70000" lnSpcReduction="20000"/>
          </a:bodyPr>
          <a:lstStyle/>
          <a:p>
            <a:r>
              <a:rPr lang="en-US" dirty="0" smtClean="0"/>
              <a:t>Pros</a:t>
            </a:r>
          </a:p>
          <a:p>
            <a:pPr lvl="1"/>
            <a:r>
              <a:rPr lang="en-US" dirty="0" smtClean="0"/>
              <a:t>Reduces coupling</a:t>
            </a:r>
          </a:p>
          <a:p>
            <a:pPr lvl="1"/>
            <a:r>
              <a:rPr lang="en-US" dirty="0" smtClean="0"/>
              <a:t>Provides polymorphism</a:t>
            </a:r>
          </a:p>
          <a:p>
            <a:r>
              <a:rPr lang="en-US" dirty="0" smtClean="0"/>
              <a:t>Cons</a:t>
            </a:r>
          </a:p>
          <a:p>
            <a:pPr lvl="1"/>
            <a:r>
              <a:rPr lang="en-US" dirty="0" smtClean="0"/>
              <a:t>More complicated</a:t>
            </a:r>
          </a:p>
          <a:p>
            <a:pPr lvl="2"/>
            <a:r>
              <a:rPr lang="en-US" dirty="0" smtClean="0"/>
              <a:t>Separate interface from implementation</a:t>
            </a:r>
          </a:p>
          <a:p>
            <a:pPr lvl="1"/>
            <a:r>
              <a:rPr lang="en-US" dirty="0" smtClean="0"/>
              <a:t>Interfaces that are too narrow are painful to use in practice</a:t>
            </a:r>
          </a:p>
          <a:p>
            <a:pPr lvl="1"/>
            <a:r>
              <a:rPr lang="en-US" dirty="0" smtClean="0"/>
              <a:t>Extra layer of indirection</a:t>
            </a:r>
          </a:p>
          <a:p>
            <a:pPr lvl="2"/>
            <a:r>
              <a:rPr lang="en-US" dirty="0" smtClean="0"/>
              <a:t>Additional call cost</a:t>
            </a:r>
          </a:p>
          <a:p>
            <a:pPr lvl="1"/>
            <a:endParaRPr lang="en-US" dirty="0" smtClean="0"/>
          </a:p>
        </p:txBody>
      </p:sp>
    </p:spTree>
    <p:extLst>
      <p:ext uri="{BB962C8B-B14F-4D97-AF65-F5344CB8AC3E}">
        <p14:creationId xmlns:p14="http://schemas.microsoft.com/office/powerpoint/2010/main" val="3642977588"/>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 grpId="0" animBg="1" advAuto="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Title"/>
          <p:cNvSpPr txBox="1">
            <a:spLocks noGrp="1"/>
          </p:cNvSpPr>
          <p:nvPr>
            <p:ph type="title"/>
          </p:nvPr>
        </p:nvSpPr>
        <p:spPr>
          <a:prstGeom prst="rect">
            <a:avLst/>
          </a:prstGeom>
        </p:spPr>
        <p:txBody>
          <a:bodyPr/>
          <a:lstStyle/>
          <a:p>
            <a:r>
              <a:rPr lang="en-US" dirty="0" smtClean="0"/>
              <a:t>Callbacks</a:t>
            </a:r>
            <a:endParaRPr dirty="0"/>
          </a:p>
        </p:txBody>
      </p:sp>
      <p:sp>
        <p:nvSpPr>
          <p:cNvPr id="593" name="Body"/>
          <p:cNvSpPr txBox="1">
            <a:spLocks noGrp="1"/>
          </p:cNvSpPr>
          <p:nvPr>
            <p:ph type="body" idx="1"/>
          </p:nvPr>
        </p:nvSpPr>
        <p:spPr>
          <a:prstGeom prst="rect">
            <a:avLst/>
          </a:prstGeom>
        </p:spPr>
        <p:txBody>
          <a:bodyPr>
            <a:normAutofit fontScale="62500" lnSpcReduction="20000"/>
          </a:bodyPr>
          <a:lstStyle/>
          <a:p>
            <a:r>
              <a:rPr lang="en-US" dirty="0" smtClean="0"/>
              <a:t>Pass function addresses between objects</a:t>
            </a:r>
          </a:p>
          <a:p>
            <a:r>
              <a:rPr lang="en-US" dirty="0" smtClean="0"/>
              <a:t>Many different implementations</a:t>
            </a:r>
          </a:p>
          <a:p>
            <a:pPr lvl="1"/>
            <a:r>
              <a:rPr lang="en-US" dirty="0" smtClean="0"/>
              <a:t>Function pointers</a:t>
            </a:r>
          </a:p>
          <a:p>
            <a:pPr lvl="1"/>
            <a:r>
              <a:rPr lang="en-US" dirty="0" smtClean="0"/>
              <a:t>Callback objects/</a:t>
            </a:r>
            <a:r>
              <a:rPr lang="en-US" dirty="0" err="1" smtClean="0"/>
              <a:t>functors</a:t>
            </a:r>
            <a:endParaRPr lang="en-US" dirty="0" smtClean="0"/>
          </a:p>
          <a:p>
            <a:r>
              <a:rPr lang="en-US" dirty="0" smtClean="0"/>
              <a:t>Pros: </a:t>
            </a:r>
          </a:p>
          <a:p>
            <a:pPr lvl="1"/>
            <a:r>
              <a:rPr lang="en-US" dirty="0" smtClean="0"/>
              <a:t>Decouples event from communicating the event</a:t>
            </a:r>
          </a:p>
          <a:p>
            <a:pPr lvl="1"/>
            <a:r>
              <a:rPr lang="en-US" dirty="0" err="1" smtClean="0"/>
              <a:t>Functors</a:t>
            </a:r>
            <a:r>
              <a:rPr lang="en-US" dirty="0" smtClean="0"/>
              <a:t> look and act like </a:t>
            </a:r>
            <a:r>
              <a:rPr lang="en-US" dirty="0" err="1" smtClean="0"/>
              <a:t>fnctions</a:t>
            </a:r>
            <a:endParaRPr lang="en-US" dirty="0" smtClean="0"/>
          </a:p>
          <a:p>
            <a:r>
              <a:rPr lang="en-US" dirty="0" smtClean="0"/>
              <a:t>Cons:</a:t>
            </a:r>
          </a:p>
          <a:p>
            <a:pPr lvl="1"/>
            <a:r>
              <a:rPr lang="en-US" dirty="0" smtClean="0"/>
              <a:t>More work to hook up between objects</a:t>
            </a:r>
          </a:p>
          <a:p>
            <a:pPr lvl="1"/>
            <a:r>
              <a:rPr lang="en-US" dirty="0" smtClean="0"/>
              <a:t>Not a complete system on their own – need some other interface to set up the callbacks</a:t>
            </a:r>
          </a:p>
          <a:p>
            <a:endParaRPr dirty="0"/>
          </a:p>
        </p:txBody>
      </p:sp>
    </p:spTree>
    <p:extLst>
      <p:ext uri="{BB962C8B-B14F-4D97-AF65-F5344CB8AC3E}">
        <p14:creationId xmlns:p14="http://schemas.microsoft.com/office/powerpoint/2010/main" val="265978130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 grpId="0" animBg="1" advAuto="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Brokers"/>
          <p:cNvSpPr txBox="1">
            <a:spLocks noGrp="1"/>
          </p:cNvSpPr>
          <p:nvPr>
            <p:ph type="title"/>
          </p:nvPr>
        </p:nvSpPr>
        <p:spPr>
          <a:prstGeom prst="rect">
            <a:avLst/>
          </a:prstGeom>
        </p:spPr>
        <p:txBody>
          <a:bodyPr/>
          <a:lstStyle/>
          <a:p>
            <a:r>
              <a:t>Brokers</a:t>
            </a:r>
          </a:p>
        </p:txBody>
      </p:sp>
      <p:sp>
        <p:nvSpPr>
          <p:cNvPr id="419" name="Brokers control the communication between complex subsystems…"/>
          <p:cNvSpPr txBox="1">
            <a:spLocks noGrp="1"/>
          </p:cNvSpPr>
          <p:nvPr>
            <p:ph type="body" idx="1"/>
          </p:nvPr>
        </p:nvSpPr>
        <p:spPr>
          <a:xfrm>
            <a:off x="2439235" y="1679477"/>
            <a:ext cx="7313531" cy="4977417"/>
          </a:xfrm>
          <a:prstGeom prst="rect">
            <a:avLst/>
          </a:prstGeom>
        </p:spPr>
        <p:txBody>
          <a:bodyPr>
            <a:normAutofit fontScale="77500" lnSpcReduction="20000"/>
          </a:bodyPr>
          <a:lstStyle/>
          <a:p>
            <a:pPr marL="625055" indent="-401821">
              <a:spcBef>
                <a:spcPts val="562"/>
              </a:spcBef>
              <a:defRPr sz="3400"/>
            </a:pPr>
            <a:r>
              <a:t>Brokers control the communication between complex subsystems</a:t>
            </a:r>
          </a:p>
          <a:p>
            <a:pPr marL="625055" indent="-401821">
              <a:spcBef>
                <a:spcPts val="562"/>
              </a:spcBef>
              <a:defRPr sz="3400"/>
            </a:pPr>
            <a:r>
              <a:t>Used to further isolate major systems from each other</a:t>
            </a:r>
          </a:p>
          <a:p>
            <a:pPr marL="937583" lvl="1" indent="-401821">
              <a:spcBef>
                <a:spcPts val="562"/>
              </a:spcBef>
              <a:defRPr sz="3400"/>
            </a:pPr>
            <a:r>
              <a:t>e.g., a broker is responsible for collecting all rendering-related events from the various game subsystems and sending them to the renderer (push)</a:t>
            </a:r>
          </a:p>
          <a:p>
            <a:pPr marL="937583" lvl="1" indent="-401821">
              <a:spcBef>
                <a:spcPts val="562"/>
              </a:spcBef>
              <a:defRPr sz="3400"/>
            </a:pPr>
            <a:r>
              <a:t>Alternatively, the rendering system retrieves the information from the broker (pull)</a:t>
            </a:r>
          </a:p>
          <a:p>
            <a:pPr marL="625055" indent="-401821">
              <a:spcBef>
                <a:spcPts val="562"/>
              </a:spcBef>
              <a:defRPr sz="3400"/>
            </a:pPr>
            <a:r>
              <a:t>A broker may have knowledge of many systems, but it should itself be straightforward and easy to modify</a:t>
            </a:r>
          </a:p>
          <a:p>
            <a:pPr marL="937583" lvl="1" indent="-401821">
              <a:spcBef>
                <a:spcPts val="562"/>
              </a:spcBef>
              <a:defRPr sz="3400"/>
            </a:pPr>
            <a:r>
              <a:t>Intermediate between systems, not responsible for a lot of complex work</a:t>
            </a:r>
          </a:p>
        </p:txBody>
      </p:sp>
    </p:spTree>
    <p:extLst>
      <p:ext uri="{BB962C8B-B14F-4D97-AF65-F5344CB8AC3E}">
        <p14:creationId xmlns:p14="http://schemas.microsoft.com/office/powerpoint/2010/main" val="2404311305"/>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1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41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419">
                                            <p:txEl>
                                              <p:pRg st="1" end="1"/>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419">
                                            <p:txEl>
                                              <p:pRg st="2" end="2"/>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419">
                                            <p:txEl>
                                              <p:pRg st="3" end="3"/>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iterate>
                                    <p:tmAbs val="0"/>
                                  </p:iterate>
                                  <p:childTnLst>
                                    <p:set>
                                      <p:cBhvr>
                                        <p:cTn id="21" fill="hold"/>
                                        <p:tgtEl>
                                          <p:spTgt spid="419">
                                            <p:txEl>
                                              <p:pRg st="4" end="4"/>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iterate>
                                    <p:tmAbs val="0"/>
                                  </p:iterate>
                                  <p:childTnLst>
                                    <p:set>
                                      <p:cBhvr>
                                        <p:cTn id="24" fill="hold"/>
                                        <p:tgtEl>
                                          <p:spTgt spid="4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 grpId="0" build="p" bldLvl="5" animBg="1" advAuto="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Push/Pull"/>
          <p:cNvSpPr txBox="1">
            <a:spLocks noGrp="1"/>
          </p:cNvSpPr>
          <p:nvPr>
            <p:ph type="title"/>
          </p:nvPr>
        </p:nvSpPr>
        <p:spPr>
          <a:prstGeom prst="rect">
            <a:avLst/>
          </a:prstGeom>
        </p:spPr>
        <p:txBody>
          <a:bodyPr/>
          <a:lstStyle/>
          <a:p>
            <a:r>
              <a:t>Push/Pull</a:t>
            </a:r>
          </a:p>
        </p:txBody>
      </p:sp>
      <p:sp>
        <p:nvSpPr>
          <p:cNvPr id="416" name="Flow of state information is restricted to certain directions. Systems have incomplete knowledge of each other…"/>
          <p:cNvSpPr txBox="1">
            <a:spLocks noGrp="1"/>
          </p:cNvSpPr>
          <p:nvPr>
            <p:ph type="body" idx="1"/>
          </p:nvPr>
        </p:nvSpPr>
        <p:spPr>
          <a:xfrm>
            <a:off x="2416969" y="1679477"/>
            <a:ext cx="7358063" cy="4977417"/>
          </a:xfrm>
          <a:prstGeom prst="rect">
            <a:avLst/>
          </a:prstGeom>
        </p:spPr>
        <p:txBody>
          <a:bodyPr>
            <a:normAutofit fontScale="70000" lnSpcReduction="20000"/>
          </a:bodyPr>
          <a:lstStyle/>
          <a:p>
            <a:pPr marL="625055" indent="-401821">
              <a:spcBef>
                <a:spcPts val="562"/>
              </a:spcBef>
              <a:defRPr sz="3400"/>
            </a:pPr>
            <a:r>
              <a:t>Flow of state information is restricted to certain directions. Systems have incomplete knowledge of each other</a:t>
            </a:r>
          </a:p>
          <a:p>
            <a:pPr marL="937583" lvl="1" indent="-401821">
              <a:spcBef>
                <a:spcPts val="562"/>
              </a:spcBef>
              <a:defRPr sz="3400"/>
            </a:pPr>
            <a:r>
              <a:t>Example: Renderer (Push)</a:t>
            </a:r>
          </a:p>
          <a:p>
            <a:pPr lvl="2">
              <a:spcBef>
                <a:spcPts val="562"/>
              </a:spcBef>
              <a:defRPr sz="3400"/>
            </a:pPr>
            <a:r>
              <a:t>AI tells renderer where objects are</a:t>
            </a:r>
          </a:p>
          <a:p>
            <a:pPr lvl="2">
              <a:spcBef>
                <a:spcPts val="562"/>
              </a:spcBef>
              <a:defRPr sz="3400"/>
            </a:pPr>
            <a:r>
              <a:t>AI tells renderer the damage state of objects</a:t>
            </a:r>
          </a:p>
          <a:p>
            <a:pPr lvl="3">
              <a:spcBef>
                <a:spcPts val="562"/>
              </a:spcBef>
              <a:defRPr sz="3400"/>
            </a:pPr>
            <a:r>
              <a:t>Matches damage state to visual representation</a:t>
            </a:r>
          </a:p>
          <a:p>
            <a:pPr lvl="2">
              <a:spcBef>
                <a:spcPts val="562"/>
              </a:spcBef>
              <a:defRPr sz="3400"/>
            </a:pPr>
            <a:r>
              <a:t>Game loop tells renderer elapsed time</a:t>
            </a:r>
          </a:p>
          <a:p>
            <a:pPr lvl="3">
              <a:spcBef>
                <a:spcPts val="562"/>
              </a:spcBef>
              <a:defRPr sz="3400"/>
            </a:pPr>
            <a:r>
              <a:t>Updates internal effects, animation list, etc.</a:t>
            </a:r>
          </a:p>
          <a:p>
            <a:pPr lvl="2">
              <a:spcBef>
                <a:spcPts val="562"/>
              </a:spcBef>
              <a:defRPr sz="3400"/>
            </a:pPr>
            <a:r>
              <a:t>AI tells renderer where camera is</a:t>
            </a:r>
          </a:p>
          <a:p>
            <a:pPr lvl="3">
              <a:spcBef>
                <a:spcPts val="562"/>
              </a:spcBef>
              <a:defRPr sz="3400"/>
            </a:pPr>
            <a:r>
              <a:t>Sets up appropriate graphics hardware state</a:t>
            </a:r>
          </a:p>
          <a:p>
            <a:pPr marL="937583" lvl="1" indent="-401821">
              <a:spcBef>
                <a:spcPts val="562"/>
              </a:spcBef>
              <a:defRPr sz="3400"/>
            </a:pPr>
            <a:r>
              <a:t>The rendering system has no knowledge of the AI</a:t>
            </a:r>
          </a:p>
        </p:txBody>
      </p:sp>
    </p:spTree>
    <p:extLst>
      <p:ext uri="{BB962C8B-B14F-4D97-AF65-F5344CB8AC3E}">
        <p14:creationId xmlns:p14="http://schemas.microsoft.com/office/powerpoint/2010/main" val="547027501"/>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1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416">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416">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416">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416">
                                            <p:txEl>
                                              <p:pRg st="3" end="3"/>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iterate>
                                    <p:tmAbs val="0"/>
                                  </p:iterate>
                                  <p:childTnLst>
                                    <p:set>
                                      <p:cBhvr>
                                        <p:cTn id="20" fill="hold"/>
                                        <p:tgtEl>
                                          <p:spTgt spid="416">
                                            <p:txEl>
                                              <p:pRg st="4" end="4"/>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416">
                                            <p:txEl>
                                              <p:pRg st="5" end="5"/>
                                            </p:txEl>
                                          </p:spTgt>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iterate>
                                    <p:tmAbs val="0"/>
                                  </p:iterate>
                                  <p:childTnLst>
                                    <p:set>
                                      <p:cBhvr>
                                        <p:cTn id="26" fill="hold"/>
                                        <p:tgtEl>
                                          <p:spTgt spid="416">
                                            <p:txEl>
                                              <p:pRg st="6" end="6"/>
                                            </p:txEl>
                                          </p:spTgt>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iterate>
                                    <p:tmAbs val="0"/>
                                  </p:iterate>
                                  <p:childTnLst>
                                    <p:set>
                                      <p:cBhvr>
                                        <p:cTn id="29" fill="hold"/>
                                        <p:tgtEl>
                                          <p:spTgt spid="416">
                                            <p:txEl>
                                              <p:pRg st="7" end="7"/>
                                            </p:txEl>
                                          </p:spTgt>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iterate>
                                    <p:tmAbs val="0"/>
                                  </p:iterate>
                                  <p:childTnLst>
                                    <p:set>
                                      <p:cBhvr>
                                        <p:cTn id="32" fill="hold"/>
                                        <p:tgtEl>
                                          <p:spTgt spid="416">
                                            <p:txEl>
                                              <p:pRg st="8" end="8"/>
                                            </p:txEl>
                                          </p:spTgt>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iterate>
                                    <p:tmAbs val="0"/>
                                  </p:iterate>
                                  <p:childTnLst>
                                    <p:set>
                                      <p:cBhvr>
                                        <p:cTn id="35" fill="hold"/>
                                        <p:tgtEl>
                                          <p:spTgt spid="41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 grpId="0" build="p" bldLvl="5" animBg="1" advAuto="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 name="Title"/>
          <p:cNvSpPr txBox="1">
            <a:spLocks noGrp="1"/>
          </p:cNvSpPr>
          <p:nvPr>
            <p:ph type="title"/>
          </p:nvPr>
        </p:nvSpPr>
        <p:spPr>
          <a:prstGeom prst="rect">
            <a:avLst/>
          </a:prstGeom>
        </p:spPr>
        <p:txBody>
          <a:bodyPr/>
          <a:lstStyle/>
          <a:p>
            <a:r>
              <a:rPr lang="en-US" dirty="0" smtClean="0"/>
              <a:t>Events</a:t>
            </a:r>
            <a:endParaRPr dirty="0"/>
          </a:p>
        </p:txBody>
      </p:sp>
      <p:sp>
        <p:nvSpPr>
          <p:cNvPr id="589" name="Body"/>
          <p:cNvSpPr txBox="1">
            <a:spLocks noGrp="1"/>
          </p:cNvSpPr>
          <p:nvPr>
            <p:ph type="body" idx="1"/>
          </p:nvPr>
        </p:nvSpPr>
        <p:spPr>
          <a:prstGeom prst="rect">
            <a:avLst/>
          </a:prstGeom>
        </p:spPr>
        <p:txBody>
          <a:bodyPr>
            <a:normAutofit lnSpcReduction="10000"/>
          </a:bodyPr>
          <a:lstStyle/>
          <a:p>
            <a:r>
              <a:rPr lang="en-US" dirty="0" smtClean="0"/>
              <a:t>Complicated to implement/use</a:t>
            </a:r>
          </a:p>
          <a:p>
            <a:r>
              <a:rPr lang="en-US" dirty="0" smtClean="0"/>
              <a:t>Really good systems are type-safe and double-blind</a:t>
            </a:r>
          </a:p>
          <a:p>
            <a:pPr lvl="1"/>
            <a:r>
              <a:rPr lang="en-US" dirty="0" smtClean="0"/>
              <a:t>Example: </a:t>
            </a:r>
            <a:r>
              <a:rPr lang="en-US" dirty="0" err="1" smtClean="0"/>
              <a:t>Qt</a:t>
            </a:r>
            <a:r>
              <a:rPr lang="en-US" dirty="0" smtClean="0"/>
              <a:t> signals/slots</a:t>
            </a:r>
          </a:p>
          <a:p>
            <a:r>
              <a:rPr lang="en-US" dirty="0" smtClean="0"/>
              <a:t>Poor systems are usually </a:t>
            </a:r>
            <a:r>
              <a:rPr lang="en-US" dirty="0" err="1" smtClean="0"/>
              <a:t>untyped</a:t>
            </a:r>
            <a:endParaRPr lang="en-US" dirty="0" smtClean="0"/>
          </a:p>
          <a:p>
            <a:pPr lvl="1"/>
            <a:r>
              <a:rPr lang="en-US" dirty="0" err="1" smtClean="0"/>
              <a:t>WndProc</a:t>
            </a:r>
            <a:endParaRPr lang="en-US" dirty="0" smtClean="0"/>
          </a:p>
          <a:p>
            <a:r>
              <a:rPr lang="en-US" dirty="0" smtClean="0"/>
              <a:t>Low coupling/very good scaling</a:t>
            </a:r>
          </a:p>
          <a:p>
            <a:r>
              <a:rPr lang="en-US" dirty="0" smtClean="0"/>
              <a:t>Need to be careful about ‘dangling events’</a:t>
            </a:r>
            <a:endParaRPr dirty="0"/>
          </a:p>
        </p:txBody>
      </p:sp>
    </p:spTree>
    <p:extLst>
      <p:ext uri="{BB962C8B-B14F-4D97-AF65-F5344CB8AC3E}">
        <p14:creationId xmlns:p14="http://schemas.microsoft.com/office/powerpoint/2010/main" val="1713300708"/>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 grpId="0" animBg="1" advAuto="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Broadcast/Listener"/>
          <p:cNvSpPr txBox="1">
            <a:spLocks noGrp="1"/>
          </p:cNvSpPr>
          <p:nvPr>
            <p:ph type="title"/>
          </p:nvPr>
        </p:nvSpPr>
        <p:spPr>
          <a:prstGeom prst="rect">
            <a:avLst/>
          </a:prstGeom>
        </p:spPr>
        <p:txBody>
          <a:bodyPr/>
          <a:lstStyle/>
          <a:p>
            <a:r>
              <a:t>Broadcast/Listener</a:t>
            </a:r>
          </a:p>
        </p:txBody>
      </p:sp>
      <p:sp>
        <p:nvSpPr>
          <p:cNvPr id="422" name="When a state change occurs that might be interesting to other systems, the system responsible for the change broadcasts it through a central event system…"/>
          <p:cNvSpPr txBox="1">
            <a:spLocks noGrp="1"/>
          </p:cNvSpPr>
          <p:nvPr>
            <p:ph type="body" idx="1"/>
          </p:nvPr>
        </p:nvSpPr>
        <p:spPr>
          <a:xfrm>
            <a:off x="2439235" y="1679477"/>
            <a:ext cx="7313531" cy="4977417"/>
          </a:xfrm>
          <a:prstGeom prst="rect">
            <a:avLst/>
          </a:prstGeom>
        </p:spPr>
        <p:txBody>
          <a:bodyPr>
            <a:normAutofit fontScale="77500" lnSpcReduction="20000"/>
          </a:bodyPr>
          <a:lstStyle/>
          <a:p>
            <a:pPr marL="625055" indent="-401821">
              <a:spcBef>
                <a:spcPts val="562"/>
              </a:spcBef>
              <a:defRPr sz="3300"/>
            </a:pPr>
            <a:r>
              <a:t>When a state change occurs that might be interesting to other systems, the system responsible for the change broadcasts it through a central event system</a:t>
            </a:r>
          </a:p>
          <a:p>
            <a:pPr marL="625055" indent="-401821">
              <a:spcBef>
                <a:spcPts val="562"/>
              </a:spcBef>
              <a:defRPr sz="3300"/>
            </a:pPr>
            <a:r>
              <a:t>Systems that are interested register as a listener with the event system</a:t>
            </a:r>
          </a:p>
          <a:p>
            <a:pPr marL="625055" indent="-401821">
              <a:spcBef>
                <a:spcPts val="562"/>
              </a:spcBef>
              <a:defRPr sz="3300"/>
            </a:pPr>
            <a:r>
              <a:t>No direct communication occurs between subsystems</a:t>
            </a:r>
          </a:p>
          <a:p>
            <a:pPr marL="625055" indent="-401821">
              <a:spcBef>
                <a:spcPts val="562"/>
              </a:spcBef>
              <a:defRPr sz="3300"/>
            </a:pPr>
            <a:r>
              <a:t>Useful for communication across thread and network boundaries</a:t>
            </a:r>
          </a:p>
          <a:p>
            <a:pPr marL="625055" indent="-401821">
              <a:spcBef>
                <a:spcPts val="562"/>
              </a:spcBef>
              <a:defRPr sz="3300"/>
            </a:pPr>
            <a:r>
              <a:t>Expensive</a:t>
            </a:r>
          </a:p>
          <a:p>
            <a:pPr marL="937583" lvl="1" indent="-401821">
              <a:spcBef>
                <a:spcPts val="562"/>
              </a:spcBef>
              <a:defRPr sz="3300"/>
            </a:pPr>
            <a:r>
              <a:t>requires storage for messengers and listeners</a:t>
            </a:r>
          </a:p>
          <a:p>
            <a:pPr marL="937583" lvl="1" indent="-401821">
              <a:spcBef>
                <a:spcPts val="562"/>
              </a:spcBef>
              <a:defRPr sz="3300"/>
            </a:pPr>
            <a:r>
              <a:t>message dispatch requires CPU time and memory access</a:t>
            </a:r>
          </a:p>
          <a:p>
            <a:pPr marL="625055" indent="-401821">
              <a:spcBef>
                <a:spcPts val="562"/>
              </a:spcBef>
              <a:defRPr sz="3300"/>
            </a:pPr>
            <a:r>
              <a:t>Convenient, easily abused </a:t>
            </a:r>
          </a:p>
        </p:txBody>
      </p:sp>
    </p:spTree>
    <p:extLst>
      <p:ext uri="{BB962C8B-B14F-4D97-AF65-F5344CB8AC3E}">
        <p14:creationId xmlns:p14="http://schemas.microsoft.com/office/powerpoint/2010/main" val="1201301811"/>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22">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42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42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42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42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422">
                                            <p:txEl>
                                              <p:pRg st="4" end="4"/>
                                            </p:txEl>
                                          </p:spTgt>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iterate>
                                    <p:tmAbs val="0"/>
                                  </p:iterate>
                                  <p:childTnLst>
                                    <p:set>
                                      <p:cBhvr>
                                        <p:cTn id="27" fill="hold"/>
                                        <p:tgtEl>
                                          <p:spTgt spid="422">
                                            <p:txEl>
                                              <p:pRg st="5" end="5"/>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iterate>
                                    <p:tmAbs val="0"/>
                                  </p:iterate>
                                  <p:childTnLst>
                                    <p:set>
                                      <p:cBhvr>
                                        <p:cTn id="30" fill="hold"/>
                                        <p:tgtEl>
                                          <p:spTgt spid="422">
                                            <p:txEl>
                                              <p:pRg st="6" end="6"/>
                                            </p:txEl>
                                          </p:spTgt>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iterate>
                                    <p:tmAbs val="0"/>
                                  </p:iterate>
                                  <p:childTnLst>
                                    <p:set>
                                      <p:cBhvr>
                                        <p:cTn id="33" fill="hold"/>
                                        <p:tgtEl>
                                          <p:spTgt spid="42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 grpId="0" build="p" bldLvl="5" animBg="1" advAuto="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Database"/>
          <p:cNvSpPr txBox="1">
            <a:spLocks noGrp="1"/>
          </p:cNvSpPr>
          <p:nvPr>
            <p:ph type="title"/>
          </p:nvPr>
        </p:nvSpPr>
        <p:spPr>
          <a:prstGeom prst="rect">
            <a:avLst/>
          </a:prstGeom>
        </p:spPr>
        <p:txBody>
          <a:bodyPr/>
          <a:lstStyle/>
          <a:p>
            <a:r>
              <a:t>Database</a:t>
            </a:r>
          </a:p>
        </p:txBody>
      </p:sp>
      <p:sp>
        <p:nvSpPr>
          <p:cNvPr id="425" name="Necessary when game state cannot fit into memory…"/>
          <p:cNvSpPr txBox="1">
            <a:spLocks noGrp="1"/>
          </p:cNvSpPr>
          <p:nvPr>
            <p:ph type="body" idx="1"/>
          </p:nvPr>
        </p:nvSpPr>
        <p:spPr>
          <a:xfrm>
            <a:off x="2439235" y="1679477"/>
            <a:ext cx="7313531" cy="4977417"/>
          </a:xfrm>
          <a:prstGeom prst="rect">
            <a:avLst/>
          </a:prstGeom>
        </p:spPr>
        <p:txBody>
          <a:bodyPr>
            <a:normAutofit fontScale="92500" lnSpcReduction="20000"/>
          </a:bodyPr>
          <a:lstStyle/>
          <a:p>
            <a:pPr>
              <a:spcBef>
                <a:spcPts val="562"/>
              </a:spcBef>
              <a:defRPr sz="3900"/>
            </a:pPr>
            <a:r>
              <a:t>Necessary when game state cannot fit into memory</a:t>
            </a:r>
          </a:p>
          <a:p>
            <a:pPr lvl="1">
              <a:spcBef>
                <a:spcPts val="562"/>
              </a:spcBef>
              <a:defRPr sz="3900"/>
            </a:pPr>
            <a:r>
              <a:t>MMOs</a:t>
            </a:r>
          </a:p>
          <a:p>
            <a:pPr>
              <a:spcBef>
                <a:spcPts val="562"/>
              </a:spcBef>
              <a:defRPr sz="3900"/>
            </a:pPr>
            <a:r>
              <a:t>Get some stuff for “free”</a:t>
            </a:r>
          </a:p>
          <a:p>
            <a:pPr lvl="1">
              <a:spcBef>
                <a:spcPts val="562"/>
              </a:spcBef>
              <a:defRPr sz="3900"/>
            </a:pPr>
            <a:r>
              <a:t>Persistence</a:t>
            </a:r>
          </a:p>
          <a:p>
            <a:pPr lvl="1">
              <a:spcBef>
                <a:spcPts val="562"/>
              </a:spcBef>
              <a:defRPr sz="3900"/>
            </a:pPr>
            <a:r>
              <a:t>Queries</a:t>
            </a:r>
          </a:p>
          <a:p>
            <a:pPr>
              <a:spcBef>
                <a:spcPts val="562"/>
              </a:spcBef>
              <a:defRPr sz="3900"/>
            </a:pPr>
            <a:r>
              <a:t>Nice separation between data and code</a:t>
            </a:r>
          </a:p>
          <a:p>
            <a:pPr>
              <a:spcBef>
                <a:spcPts val="562"/>
              </a:spcBef>
              <a:defRPr sz="3900"/>
            </a:pPr>
            <a:r>
              <a:t>Performance can be problematic</a:t>
            </a:r>
          </a:p>
          <a:p>
            <a:pPr lvl="1">
              <a:spcBef>
                <a:spcPts val="562"/>
              </a:spcBef>
              <a:defRPr sz="3900"/>
            </a:pPr>
            <a:r>
              <a:t>Will likely need to cache live stuff in more conventional objects</a:t>
            </a:r>
          </a:p>
        </p:txBody>
      </p:sp>
    </p:spTree>
    <p:extLst>
      <p:ext uri="{BB962C8B-B14F-4D97-AF65-F5344CB8AC3E}">
        <p14:creationId xmlns:p14="http://schemas.microsoft.com/office/powerpoint/2010/main" val="3311405450"/>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2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425">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425">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425">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iterate>
                                    <p:tmAbs val="0"/>
                                  </p:iterate>
                                  <p:childTnLst>
                                    <p:set>
                                      <p:cBhvr>
                                        <p:cTn id="17" fill="hold"/>
                                        <p:tgtEl>
                                          <p:spTgt spid="425">
                                            <p:txEl>
                                              <p:pRg st="3" end="3"/>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iterate>
                                    <p:tmAbs val="0"/>
                                  </p:iterate>
                                  <p:childTnLst>
                                    <p:set>
                                      <p:cBhvr>
                                        <p:cTn id="20" fill="hold"/>
                                        <p:tgtEl>
                                          <p:spTgt spid="425">
                                            <p:txEl>
                                              <p:pRg st="4" end="4"/>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425">
                                            <p:txEl>
                                              <p:pRg st="5" end="5"/>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p:tmAbs val="0"/>
                                  </p:iterate>
                                  <p:childTnLst>
                                    <p:set>
                                      <p:cBhvr>
                                        <p:cTn id="27" fill="hold"/>
                                        <p:tgtEl>
                                          <p:spTgt spid="425">
                                            <p:txEl>
                                              <p:pRg st="6" end="6"/>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iterate>
                                    <p:tmAbs val="0"/>
                                  </p:iterate>
                                  <p:childTnLst>
                                    <p:set>
                                      <p:cBhvr>
                                        <p:cTn id="30" fill="hold"/>
                                        <p:tgtEl>
                                          <p:spTgt spid="42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 grpId="0" build="p" bldLvl="5" animBg="1" advAuto="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Shared Entities"/>
          <p:cNvSpPr txBox="1">
            <a:spLocks noGrp="1"/>
          </p:cNvSpPr>
          <p:nvPr>
            <p:ph type="title"/>
          </p:nvPr>
        </p:nvSpPr>
        <p:spPr>
          <a:prstGeom prst="rect">
            <a:avLst/>
          </a:prstGeom>
        </p:spPr>
        <p:txBody>
          <a:bodyPr/>
          <a:lstStyle/>
          <a:p>
            <a:r>
              <a:t>Shared Entities</a:t>
            </a:r>
          </a:p>
        </p:txBody>
      </p:sp>
      <p:sp>
        <p:nvSpPr>
          <p:cNvPr id="428" name="Individual actors in the world are referenced by multiple systems…"/>
          <p:cNvSpPr txBox="1">
            <a:spLocks noGrp="1"/>
          </p:cNvSpPr>
          <p:nvPr>
            <p:ph type="body" idx="1"/>
          </p:nvPr>
        </p:nvSpPr>
        <p:spPr>
          <a:xfrm>
            <a:off x="2439235" y="1679477"/>
            <a:ext cx="7313531" cy="4977417"/>
          </a:xfrm>
          <a:prstGeom prst="rect">
            <a:avLst/>
          </a:prstGeom>
        </p:spPr>
        <p:txBody>
          <a:bodyPr>
            <a:normAutofit fontScale="85000" lnSpcReduction="20000"/>
          </a:bodyPr>
          <a:lstStyle/>
          <a:p>
            <a:pPr>
              <a:spcBef>
                <a:spcPts val="562"/>
              </a:spcBef>
              <a:defRPr sz="3500"/>
            </a:pPr>
            <a:r>
              <a:t>Individual actors in the world are referenced by multiple systems</a:t>
            </a:r>
          </a:p>
          <a:p>
            <a:pPr>
              <a:spcBef>
                <a:spcPts val="562"/>
              </a:spcBef>
              <a:defRPr sz="3500"/>
            </a:pPr>
            <a:r>
              <a:t>Example</a:t>
            </a:r>
          </a:p>
          <a:p>
            <a:pPr lvl="1">
              <a:spcBef>
                <a:spcPts val="562"/>
              </a:spcBef>
              <a:defRPr sz="3500"/>
            </a:pPr>
            <a:r>
              <a:t>AI and Renderer both have a reference to “Character”</a:t>
            </a:r>
          </a:p>
          <a:p>
            <a:pPr lvl="1">
              <a:spcBef>
                <a:spcPts val="562"/>
              </a:spcBef>
              <a:defRPr sz="3500"/>
            </a:pPr>
            <a:r>
              <a:t>AI and Renderer view of character don’t have to be the same class or interface</a:t>
            </a:r>
          </a:p>
          <a:p>
            <a:pPr>
              <a:spcBef>
                <a:spcPts val="562"/>
              </a:spcBef>
              <a:defRPr sz="3500"/>
            </a:pPr>
            <a:r>
              <a:t>Looks like global on the surface, but can be much cleaner with proper use of interfaces and inheritance</a:t>
            </a:r>
          </a:p>
          <a:p>
            <a:pPr>
              <a:spcBef>
                <a:spcPts val="562"/>
              </a:spcBef>
              <a:defRPr sz="3500"/>
            </a:pPr>
            <a:r>
              <a:t>Very common way of storing game state</a:t>
            </a:r>
          </a:p>
          <a:p>
            <a:pPr>
              <a:spcBef>
                <a:spcPts val="562"/>
              </a:spcBef>
              <a:defRPr sz="3500"/>
            </a:pPr>
            <a:r>
              <a:t>Don’t use bare pointers! Handles or smart pointers at least</a:t>
            </a:r>
          </a:p>
        </p:txBody>
      </p:sp>
    </p:spTree>
    <p:extLst>
      <p:ext uri="{BB962C8B-B14F-4D97-AF65-F5344CB8AC3E}">
        <p14:creationId xmlns:p14="http://schemas.microsoft.com/office/powerpoint/2010/main" val="3165621614"/>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2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42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428">
                                            <p:txEl>
                                              <p:pRg st="1" end="1"/>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428">
                                            <p:txEl>
                                              <p:pRg st="2" end="2"/>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428">
                                            <p:txEl>
                                              <p:pRg st="3" end="3"/>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iterate>
                                    <p:tmAbs val="0"/>
                                  </p:iterate>
                                  <p:childTnLst>
                                    <p:set>
                                      <p:cBhvr>
                                        <p:cTn id="21" fill="hold"/>
                                        <p:tgtEl>
                                          <p:spTgt spid="428">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428">
                                            <p:txEl>
                                              <p:pRg st="5" end="5"/>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iterate>
                                    <p:tmAbs val="0"/>
                                  </p:iterate>
                                  <p:childTnLst>
                                    <p:set>
                                      <p:cBhvr>
                                        <p:cTn id="29" fill="hold"/>
                                        <p:tgtEl>
                                          <p:spTgt spid="4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 grpId="0" build="p" bldLvl="5" animBg="1" advAuto="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 name="Title"/>
          <p:cNvSpPr txBox="1">
            <a:spLocks noGrp="1"/>
          </p:cNvSpPr>
          <p:nvPr>
            <p:ph type="title"/>
          </p:nvPr>
        </p:nvSpPr>
        <p:spPr>
          <a:prstGeom prst="rect">
            <a:avLst/>
          </a:prstGeom>
        </p:spPr>
        <p:txBody>
          <a:bodyPr/>
          <a:lstStyle/>
          <a:p>
            <a:r>
              <a:rPr lang="en-US" dirty="0" smtClean="0"/>
              <a:t>Additional Considerations</a:t>
            </a:r>
            <a:endParaRPr dirty="0"/>
          </a:p>
        </p:txBody>
      </p:sp>
      <p:sp>
        <p:nvSpPr>
          <p:cNvPr id="597" name="Body"/>
          <p:cNvSpPr txBox="1">
            <a:spLocks noGrp="1"/>
          </p:cNvSpPr>
          <p:nvPr>
            <p:ph type="body" idx="1"/>
          </p:nvPr>
        </p:nvSpPr>
        <p:spPr>
          <a:prstGeom prst="rect">
            <a:avLst/>
          </a:prstGeom>
        </p:spPr>
        <p:txBody>
          <a:bodyPr>
            <a:normAutofit fontScale="85000" lnSpcReduction="20000"/>
          </a:bodyPr>
          <a:lstStyle/>
          <a:p>
            <a:r>
              <a:rPr lang="en-US" dirty="0" smtClean="0"/>
              <a:t>Multicasting</a:t>
            </a:r>
          </a:p>
          <a:p>
            <a:pPr lvl="1"/>
            <a:r>
              <a:rPr lang="en-US" dirty="0" smtClean="0"/>
              <a:t>Example: player makes a noise, all AI’s within radius hear it</a:t>
            </a:r>
          </a:p>
          <a:p>
            <a:r>
              <a:rPr lang="en-US" dirty="0" smtClean="0"/>
              <a:t>When to dispatch?</a:t>
            </a:r>
          </a:p>
          <a:p>
            <a:pPr lvl="1"/>
            <a:r>
              <a:rPr lang="en-US" dirty="0" smtClean="0"/>
              <a:t>Instantaneously</a:t>
            </a:r>
          </a:p>
          <a:p>
            <a:pPr lvl="1"/>
            <a:r>
              <a:rPr lang="en-US" dirty="0" smtClean="0"/>
              <a:t>Defer events, send at particular point in game loop</a:t>
            </a:r>
          </a:p>
          <a:p>
            <a:pPr lvl="1"/>
            <a:r>
              <a:rPr lang="en-US" dirty="0" smtClean="0"/>
              <a:t>Cache and defer for multithreading</a:t>
            </a:r>
          </a:p>
          <a:p>
            <a:r>
              <a:rPr lang="en-US" dirty="0" smtClean="0"/>
              <a:t>Adaptation</a:t>
            </a:r>
          </a:p>
          <a:p>
            <a:pPr lvl="1"/>
            <a:r>
              <a:rPr lang="en-US" dirty="0" smtClean="0"/>
              <a:t>Example: game AI says “character is falling”, sound systems adapts that into “play scream07.wav”</a:t>
            </a:r>
          </a:p>
        </p:txBody>
      </p:sp>
    </p:spTree>
    <p:extLst>
      <p:ext uri="{BB962C8B-B14F-4D97-AF65-F5344CB8AC3E}">
        <p14:creationId xmlns:p14="http://schemas.microsoft.com/office/powerpoint/2010/main" val="1310715762"/>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 grpId="0" animBg="1" advAuto="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 name="Title"/>
          <p:cNvSpPr txBox="1">
            <a:spLocks noGrp="1"/>
          </p:cNvSpPr>
          <p:nvPr>
            <p:ph type="title"/>
          </p:nvPr>
        </p:nvSpPr>
        <p:spPr>
          <a:prstGeom prst="rect">
            <a:avLst/>
          </a:prstGeom>
        </p:spPr>
        <p:txBody>
          <a:bodyPr/>
          <a:lstStyle/>
          <a:p>
            <a:r>
              <a:rPr lang="en-US" dirty="0" smtClean="0"/>
              <a:t>Conclusion</a:t>
            </a:r>
            <a:endParaRPr dirty="0"/>
          </a:p>
        </p:txBody>
      </p:sp>
      <p:sp>
        <p:nvSpPr>
          <p:cNvPr id="601" name="Body"/>
          <p:cNvSpPr txBox="1">
            <a:spLocks noGrp="1"/>
          </p:cNvSpPr>
          <p:nvPr>
            <p:ph type="body" idx="1"/>
          </p:nvPr>
        </p:nvSpPr>
        <p:spPr>
          <a:prstGeom prst="rect">
            <a:avLst/>
          </a:prstGeom>
        </p:spPr>
        <p:txBody>
          <a:bodyPr/>
          <a:lstStyle/>
          <a:p>
            <a:r>
              <a:rPr lang="en-US" dirty="0" smtClean="0"/>
              <a:t>Manage complexity, divide game into simpler components</a:t>
            </a:r>
          </a:p>
          <a:p>
            <a:r>
              <a:rPr lang="en-US" dirty="0" smtClean="0"/>
              <a:t>Minimize coupling</a:t>
            </a:r>
          </a:p>
          <a:p>
            <a:pPr lvl="1"/>
            <a:r>
              <a:rPr lang="en-US" dirty="0" smtClean="0"/>
              <a:t>Both at system and entity level</a:t>
            </a:r>
          </a:p>
          <a:p>
            <a:pPr lvl="1"/>
            <a:r>
              <a:rPr lang="en-US" dirty="0" smtClean="0"/>
              <a:t>Formalize communication through designed interfaces</a:t>
            </a:r>
          </a:p>
          <a:p>
            <a:endParaRPr dirty="0"/>
          </a:p>
        </p:txBody>
      </p:sp>
    </p:spTree>
    <p:extLst>
      <p:ext uri="{BB962C8B-B14F-4D97-AF65-F5344CB8AC3E}">
        <p14:creationId xmlns:p14="http://schemas.microsoft.com/office/powerpoint/2010/main" val="666867775"/>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 grpId="0" animBg="1" advAuto="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5394</Words>
  <Application>Microsoft Office PowerPoint</Application>
  <PresentationFormat>Widescreen</PresentationFormat>
  <Paragraphs>743</Paragraphs>
  <Slides>82</Slides>
  <Notes>23</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82</vt:i4>
      </vt:variant>
    </vt:vector>
  </HeadingPairs>
  <TitlesOfParts>
    <vt:vector size="90" baseType="lpstr">
      <vt:lpstr>Arial</vt:lpstr>
      <vt:lpstr>Baskerville</vt:lpstr>
      <vt:lpstr>Calibri</vt:lpstr>
      <vt:lpstr>Calibri Light</vt:lpstr>
      <vt:lpstr>Courier New</vt:lpstr>
      <vt:lpstr>Gill Sans</vt:lpstr>
      <vt:lpstr>Times New Roman</vt:lpstr>
      <vt:lpstr>Office Theme</vt:lpstr>
      <vt:lpstr>Game Architecture</vt:lpstr>
      <vt:lpstr>Object Systems</vt:lpstr>
      <vt:lpstr>What can an entity do?</vt:lpstr>
      <vt:lpstr>What can an entity do?</vt:lpstr>
      <vt:lpstr>What can an entity do?</vt:lpstr>
      <vt:lpstr>What can an entity do?</vt:lpstr>
      <vt:lpstr>What can an entity do?</vt:lpstr>
      <vt:lpstr>What can an entity do?</vt:lpstr>
      <vt:lpstr>What can an entity do?</vt:lpstr>
      <vt:lpstr>What can an entity do?</vt:lpstr>
      <vt:lpstr>In General</vt:lpstr>
      <vt:lpstr>What is the goal?</vt:lpstr>
      <vt:lpstr>What is the goal?</vt:lpstr>
      <vt:lpstr>What is the goal?</vt:lpstr>
      <vt:lpstr>Let’s make a game</vt:lpstr>
      <vt:lpstr>The ShootyGuy entity model (Inheritance)</vt:lpstr>
      <vt:lpstr>The ShootyGuy entity model (Inheritance)</vt:lpstr>
      <vt:lpstr>The ShootyGuy entity model (Inheritance)</vt:lpstr>
      <vt:lpstr>Ship it!?</vt:lpstr>
      <vt:lpstr>The ShootyGuy entity model (Inheritance)</vt:lpstr>
      <vt:lpstr>The diamond of death</vt:lpstr>
      <vt:lpstr>Ship it!?</vt:lpstr>
      <vt:lpstr>The ShootyGuy entity model (Inheritance)</vt:lpstr>
      <vt:lpstr>Ship it!?</vt:lpstr>
      <vt:lpstr>The ShootyGuy entity model (Inheritance)</vt:lpstr>
      <vt:lpstr>The ShootyGuy entity model (Inheritance)</vt:lpstr>
      <vt:lpstr>Other potential problems</vt:lpstr>
      <vt:lpstr>It can work though!</vt:lpstr>
      <vt:lpstr>It can work though! Sorta.</vt:lpstr>
      <vt:lpstr>It can work though! Sorta =(</vt:lpstr>
      <vt:lpstr>It can work though! Sorta =((</vt:lpstr>
      <vt:lpstr>It can work though! Sorta =(((</vt:lpstr>
      <vt:lpstr>Multiple Inheritance</vt:lpstr>
      <vt:lpstr>Mixin Classes</vt:lpstr>
      <vt:lpstr>Mixin Classes</vt:lpstr>
      <vt:lpstr>Ownership-Based Entities</vt:lpstr>
      <vt:lpstr>Ownership-Based Entities</vt:lpstr>
      <vt:lpstr>PowerPoint Presentation</vt:lpstr>
      <vt:lpstr>Ownership-Based Entities</vt:lpstr>
      <vt:lpstr>It Won’t Work</vt:lpstr>
      <vt:lpstr>If not inheritance, than what?</vt:lpstr>
      <vt:lpstr>If not inheritance, than what?</vt:lpstr>
      <vt:lpstr>The ShootyGuy entity model (Composition)</vt:lpstr>
      <vt:lpstr>The ShootyGuy entity model (Composition)</vt:lpstr>
      <vt:lpstr>The ShootyGuy entity model (Composition)</vt:lpstr>
      <vt:lpstr>The ShootyGuy entity model (Components)</vt:lpstr>
      <vt:lpstr>The ShootyGuy entity model (Components)</vt:lpstr>
      <vt:lpstr>Recap</vt:lpstr>
      <vt:lpstr>Recap</vt:lpstr>
      <vt:lpstr>Recap</vt:lpstr>
      <vt:lpstr>Can we do any better?</vt:lpstr>
      <vt:lpstr>PowerPoint Presentation</vt:lpstr>
      <vt:lpstr>Runtime Object Model Architectures</vt:lpstr>
      <vt:lpstr>Property-Centric Architectures</vt:lpstr>
      <vt:lpstr>Behavior in a Property-Centric Architecture</vt:lpstr>
      <vt:lpstr>PowerPoint Presentation</vt:lpstr>
      <vt:lpstr>Integrating Subsystems</vt:lpstr>
      <vt:lpstr>Major Subsystems</vt:lpstr>
      <vt:lpstr>Major Subsystems</vt:lpstr>
      <vt:lpstr>Modularity</vt:lpstr>
      <vt:lpstr>Object References</vt:lpstr>
      <vt:lpstr>Pointers</vt:lpstr>
      <vt:lpstr>Memory Fragmentation</vt:lpstr>
      <vt:lpstr>Smart Pointers</vt:lpstr>
      <vt:lpstr>Boost/C++ 11</vt:lpstr>
      <vt:lpstr>Handles</vt:lpstr>
      <vt:lpstr>Queries</vt:lpstr>
      <vt:lpstr>Game State</vt:lpstr>
      <vt:lpstr>Sharing State</vt:lpstr>
      <vt:lpstr>Global State</vt:lpstr>
      <vt:lpstr>Communication Strategies</vt:lpstr>
      <vt:lpstr>Function Calls</vt:lpstr>
      <vt:lpstr>Virtual Interfaces</vt:lpstr>
      <vt:lpstr>Callbacks</vt:lpstr>
      <vt:lpstr>Brokers</vt:lpstr>
      <vt:lpstr>Push/Pull</vt:lpstr>
      <vt:lpstr>Events</vt:lpstr>
      <vt:lpstr>Broadcast/Listener</vt:lpstr>
      <vt:lpstr>Database</vt:lpstr>
      <vt:lpstr>Shared Entities</vt:lpstr>
      <vt:lpstr>Additional Considerations</vt:lpstr>
      <vt:lpstr>Conclusion</vt:lpstr>
    </vt:vector>
  </TitlesOfParts>
  <Company>Rensselaer Polytechnic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Architecture</dc:title>
  <dc:creator>Chang, Benjamin Chia-Ming</dc:creator>
  <cp:lastModifiedBy>Chang, Benjamin Chia-Ming</cp:lastModifiedBy>
  <cp:revision>7</cp:revision>
  <dcterms:created xsi:type="dcterms:W3CDTF">2019-01-17T15:25:33Z</dcterms:created>
  <dcterms:modified xsi:type="dcterms:W3CDTF">2019-01-17T16:12:33Z</dcterms:modified>
</cp:coreProperties>
</file>