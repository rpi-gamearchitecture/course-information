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media/image7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6" r:id="rId3"/>
    <p:sldMasterId id="2147483672" r:id="rId4"/>
    <p:sldMasterId id="2147483678" r:id="rId5"/>
    <p:sldMasterId id="2147483684" r:id="rId6"/>
    <p:sldMasterId id="2147483690" r:id="rId7"/>
  </p:sldMasterIdLst>
  <p:notesMasterIdLst>
    <p:notesMasterId r:id="rId53"/>
  </p:notesMasterIdLst>
  <p:sldIdLst>
    <p:sldId id="256" r:id="rId8"/>
    <p:sldId id="257" r:id="rId9"/>
    <p:sldId id="265" r:id="rId10"/>
    <p:sldId id="261" r:id="rId11"/>
    <p:sldId id="258" r:id="rId12"/>
    <p:sldId id="266" r:id="rId13"/>
    <p:sldId id="267" r:id="rId14"/>
    <p:sldId id="260" r:id="rId15"/>
    <p:sldId id="259" r:id="rId16"/>
    <p:sldId id="268" r:id="rId17"/>
    <p:sldId id="263" r:id="rId18"/>
    <p:sldId id="264" r:id="rId19"/>
    <p:sldId id="269" r:id="rId20"/>
    <p:sldId id="270" r:id="rId21"/>
    <p:sldId id="271" r:id="rId22"/>
    <p:sldId id="272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42" autoAdjust="0"/>
    <p:restoredTop sz="81961" autoAdjust="0"/>
  </p:normalViewPr>
  <p:slideViewPr>
    <p:cSldViewPr snapToGrid="0">
      <p:cViewPr varScale="1">
        <p:scale>
          <a:sx n="70" d="100"/>
          <a:sy n="70" d="100"/>
        </p:scale>
        <p:origin x="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59C3C-2804-4E7D-BE55-E94D06219100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1AC8E-007B-47EB-8BCE-0D33C5067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85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Rotation</a:t>
            </a:r>
            <a:r>
              <a:rPr lang="en-US" baseline="0" dirty="0" smtClean="0"/>
              <a:t> of joint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26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Point</a:t>
            </a:r>
            <a:r>
              <a:rPr lang="en-US" baseline="0" dirty="0" smtClean="0"/>
              <a:t> is the same in joint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01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20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Point in mode</a:t>
            </a:r>
            <a:r>
              <a:rPr lang="en-US" baseline="0" dirty="0" smtClean="0"/>
              <a:t>l space, bind pose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20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01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Transform joint</a:t>
            </a:r>
            <a:r>
              <a:rPr lang="en-US" baseline="0" dirty="0" smtClean="0"/>
              <a:t> to pose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87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Transform</a:t>
            </a:r>
            <a:r>
              <a:rPr lang="en-US" baseline="0" dirty="0" smtClean="0"/>
              <a:t> point back to model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62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Binding matrix</a:t>
            </a:r>
            <a:r>
              <a:rPr lang="en-US" baseline="0" dirty="0" smtClean="0"/>
              <a:t> is the pose of the joint at time of binding, in model space</a:t>
            </a:r>
          </a:p>
          <a:p>
            <a:r>
              <a:rPr lang="en-US" baseline="0" dirty="0" smtClean="0"/>
              <a:t>So it can also transform other points relative to the joint into model space </a:t>
            </a:r>
          </a:p>
          <a:p>
            <a:r>
              <a:rPr lang="en-US" baseline="0" dirty="0" smtClean="0"/>
              <a:t>So inverse will go from model to joint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63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Vertex</a:t>
            </a:r>
            <a:r>
              <a:rPr lang="en-US" baseline="0" dirty="0" smtClean="0"/>
              <a:t> in joint space is vertex in bind pose in model space times inverse of bind matrix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58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Vertex in current</a:t>
            </a:r>
            <a:r>
              <a:rPr lang="en-US" baseline="0" dirty="0" smtClean="0"/>
              <a:t> pose in model space = </a:t>
            </a:r>
          </a:p>
          <a:p>
            <a:r>
              <a:rPr lang="en-US" baseline="0" dirty="0" smtClean="0"/>
              <a:t>Vertex in joint space * current pose of joint in model space</a:t>
            </a:r>
          </a:p>
          <a:p>
            <a:r>
              <a:rPr lang="en-US" baseline="0" dirty="0" smtClean="0"/>
              <a:t>Vertex in joint space = vertex in bind pose model space * inverse bind pose matrix </a:t>
            </a:r>
          </a:p>
          <a:p>
            <a:r>
              <a:rPr lang="en-US" dirty="0" smtClean="0"/>
              <a:t>K = skinning</a:t>
            </a:r>
            <a:r>
              <a:rPr lang="en-US" baseline="0" dirty="0" smtClean="0"/>
              <a:t> matrix = inverse bind pose * current pose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80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Vertex in bind</a:t>
            </a:r>
            <a:r>
              <a:rPr lang="en-US" baseline="0" dirty="0" smtClean="0"/>
              <a:t> pose model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9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Get</a:t>
            </a:r>
            <a:r>
              <a:rPr lang="en-US" baseline="0" dirty="0" smtClean="0"/>
              <a:t> vertex in joint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75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1AC8E-007B-47EB-8BCE-0D33C5067B7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15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C033-E911-4259-9047-47096FE92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14471-7B5D-4237-A1D2-E73EEBE37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11ED-9504-4A69-BCB7-4359598D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03CA8-0510-4266-BFED-EACED12B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99224-826A-44BD-877E-950C6D8CA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2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0A28-FFAB-4B26-A946-585BEBD7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FBFE-CE97-4361-8B56-EC5A5311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AE9E8-474F-4452-9750-386A9C85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1981B-9043-4BFB-A0A2-65B01266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5D6E2-8B6E-48F5-A47F-32D0C467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8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CCC5-2A46-47F0-BFC8-A91197AA9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E99F9-638F-4CE9-96FC-4B15B21BA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007CA-C71E-4019-BDD2-D409ADC7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C723D-8497-4BCF-BABF-96680FE2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F2266-B544-4E34-88F3-F3A890BB2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9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045C-6306-47A9-9507-4CA8936A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116B-8B1D-45AC-8B3A-F9552ED28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0C34B-C903-434D-A25F-094490E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5E70A-001B-46F6-8FB6-862F9EA7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CE340-C8F2-41AF-BD0A-F7413E4D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A839F-0431-4C12-A571-26B78464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4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FEA1-C9F2-4957-8C22-E93950C1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D5D3A-F19E-4D15-89E3-1E95A5F15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DE27B-75CD-4B69-87C8-988A632EE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CC554-239E-4090-AF61-F04FF4BD9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24A62-A97D-4567-8B8F-FABEA61D7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DD218-7834-494A-AF43-28769481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A65A6-FBB9-467B-90EB-4F675BD8E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87B1D3-BD37-475D-9484-1D93EE3D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9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CD06-492E-4289-8493-85C728DC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11DB7-DF84-49A9-B305-A05EC0A0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22AF8-BB2A-4671-AC28-16A2EFA2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247D5-55A7-4F8E-BCCD-0BBD3C43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8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34556-4232-4FA7-88AD-A71E9A24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B5205-933F-4775-950D-CE57CEF7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687BC-B512-4EF2-80CE-89B0C081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5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C9AE-FBCF-44DB-9E83-69D8E0E3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15B8-CA67-4D37-9F6D-0DD6573B2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23D16-7978-42EC-A534-49BCBA504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20813-A520-4437-9146-1DB6599D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15741-3EF9-4DAB-A86C-6DD61C06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DB33-C630-4D63-804C-D7149D95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E8AC-C099-45D8-B361-A79AF1F3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42263-5933-4881-A5B4-FBA545ADC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55DC0-344E-41FD-8060-C097D1B96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36AC9-FB53-4063-85A2-1913913C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39CCA-C2BF-4417-A9FD-FE181063D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CB8DE-336B-4831-A8FF-2A92E087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9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5208-9E53-4DA0-9DEF-C1366CF2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D1B2A-3BD5-4771-BBD3-B22989E10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66E64-B2AB-4567-B995-B5E56850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D6D1C-EE2C-492C-B3D6-E583BE12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D585-D6E6-43C2-8F26-197538C7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8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D31AE-1F54-445D-8311-EBE33480B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1B2DD-C05A-4404-BBCB-AF782263C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D0CC0-0834-4CBB-9234-043C4388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97C8F-1F4A-41A4-B1C8-0FF9AD8A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67095-B55E-49CD-AF04-9FDCA576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17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8135" y="1783248"/>
            <a:ext cx="511572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122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81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66" y="1590311"/>
            <a:ext cx="32037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441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16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193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8135" y="1783248"/>
            <a:ext cx="511572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29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4662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66" y="1590311"/>
            <a:ext cx="32037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062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331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910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8135" y="1783248"/>
            <a:ext cx="511572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2301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399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66" y="1590311"/>
            <a:ext cx="32037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0573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5583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0091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8135" y="1783248"/>
            <a:ext cx="511572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2997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4527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66" y="1590311"/>
            <a:ext cx="32037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053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696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7088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8135" y="1783248"/>
            <a:ext cx="511572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2895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959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66" y="1590311"/>
            <a:ext cx="32037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3626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4751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1304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8135" y="1783248"/>
            <a:ext cx="511572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057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7290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66" y="1590311"/>
            <a:ext cx="32037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0265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8768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3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13DBF-261F-4148-B535-209873433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E1A72-EC99-425F-87B7-6119B989A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A39D-98CD-47D5-B5FE-BA3CB207F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3D5A8-057B-4BE2-94E5-29A1ABC8E5DC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7BEA-E397-4E75-A469-32C738A35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EED0D-5543-4712-8C25-90CD8DED9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FB374-7B1B-4605-B846-0170A6C5E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7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02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84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23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87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55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0553" y="2219151"/>
            <a:ext cx="1025089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868" y="1549744"/>
            <a:ext cx="109362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3/25/2019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lang="en-US" sz="2400" smtClean="0">
                <a:solidFill>
                  <a:prstClr val="black">
                    <a:tint val="75000"/>
                  </a:prstClr>
                </a:solidFill>
              </a:rPr>
              <a:pPr defTabSz="1219170"/>
              <a:t>‹#›</a:t>
            </a:fld>
            <a:endParaRPr lang="en-US" sz="24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03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ylpfbVpJQk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0.jpg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21.jp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22.jp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E821-A7B3-47A2-AA8F-EA0C876BF4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Animation and Smooth Skinning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57FF8-ADFB-43C0-ADE2-A90AABFBB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7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97FD-7757-403F-AE1B-AEF92046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2DD7E-2DEB-4082-BEE4-E6FB45C97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80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Frame-by-frame</a:t>
            </a:r>
          </a:p>
          <a:p>
            <a:pPr lvl="1"/>
            <a:r>
              <a:rPr lang="en-US" dirty="0"/>
              <a:t>Sprites, </a:t>
            </a:r>
            <a:r>
              <a:rPr lang="en-US" dirty="0" err="1"/>
              <a:t>spritesheets</a:t>
            </a:r>
            <a:r>
              <a:rPr lang="en-US" dirty="0"/>
              <a:t>, mesh flipbooks</a:t>
            </a:r>
          </a:p>
          <a:p>
            <a:r>
              <a:rPr lang="en-US" sz="2400" dirty="0"/>
              <a:t>Keyframed animation concepts: keyframes and in-between interpolation</a:t>
            </a:r>
          </a:p>
          <a:p>
            <a:r>
              <a:rPr lang="en-US" sz="2400" dirty="0"/>
              <a:t>LERP (linear interpolation) and SLERP (spherical linear interpolation)</a:t>
            </a:r>
          </a:p>
          <a:p>
            <a:r>
              <a:rPr lang="en-US" sz="2400" dirty="0"/>
              <a:t>Storing curve data: keyframes and tangents</a:t>
            </a:r>
          </a:p>
          <a:p>
            <a:r>
              <a:rPr lang="en-US" sz="2400" dirty="0"/>
              <a:t>Computing curves in an animation clip with an animation player</a:t>
            </a:r>
          </a:p>
          <a:p>
            <a:r>
              <a:rPr lang="en-US" sz="2400" dirty="0"/>
              <a:t>Loading curve data from FBX</a:t>
            </a:r>
          </a:p>
          <a:p>
            <a:r>
              <a:rPr lang="en-US" sz="2400" dirty="0"/>
              <a:t>Hierarchical animation</a:t>
            </a:r>
          </a:p>
          <a:p>
            <a:pPr marL="914400" lvl="2" indent="0">
              <a:buNone/>
            </a:pPr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644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Spritesheet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8055" b="82637"/>
          <a:stretch/>
        </p:blipFill>
        <p:spPr>
          <a:xfrm>
            <a:off x="776882" y="2086881"/>
            <a:ext cx="10638235" cy="4052661"/>
          </a:xfrm>
        </p:spPr>
      </p:pic>
    </p:spTree>
    <p:extLst>
      <p:ext uri="{BB962C8B-B14F-4D97-AF65-F5344CB8AC3E}">
        <p14:creationId xmlns:p14="http://schemas.microsoft.com/office/powerpoint/2010/main" val="358054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0301" y="833147"/>
            <a:ext cx="4279166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733" spc="-7" dirty="0" smtClean="0"/>
              <a:t>Per-vertex animation</a:t>
            </a:r>
            <a:endParaRPr sz="3733" dirty="0"/>
          </a:p>
        </p:txBody>
      </p:sp>
      <p:sp>
        <p:nvSpPr>
          <p:cNvPr id="4" name="object 4"/>
          <p:cNvSpPr txBox="1"/>
          <p:nvPr/>
        </p:nvSpPr>
        <p:spPr>
          <a:xfrm>
            <a:off x="3543368" y="5143262"/>
            <a:ext cx="4916593" cy="1299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30 frame animation for 3000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with 12-byte  position per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 frame == 1.0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MB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16933">
              <a:spcBef>
                <a:spcPts val="7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Doesn’t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well.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52550" y="1424698"/>
            <a:ext cx="6167563" cy="3512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7367" y="6626504"/>
            <a:ext cx="197950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DeletionQuality</a:t>
            </a:r>
            <a:r>
              <a:rPr sz="800" spc="-10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forums...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017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B33F-C5FC-4DBC-A254-24A6EB95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423E-6686-4855-8313-697B9363C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Rigidbody</a:t>
            </a:r>
            <a:r>
              <a:rPr lang="en-US" dirty="0"/>
              <a:t>, ragdoll, soft body, deformation from sound, data-driven</a:t>
            </a:r>
          </a:p>
          <a:p>
            <a:r>
              <a:rPr lang="en-US" dirty="0"/>
              <a:t>Pipeline consistency between DCC tools and engine</a:t>
            </a:r>
          </a:p>
          <a:p>
            <a:r>
              <a:rPr lang="en-US" dirty="0"/>
              <a:t>Hard because </a:t>
            </a:r>
            <a:r>
              <a:rPr lang="en-US" dirty="0" err="1"/>
              <a:t>codepath</a:t>
            </a:r>
            <a:r>
              <a:rPr lang="en-US" dirty="0"/>
              <a:t> isn’t the same!</a:t>
            </a:r>
          </a:p>
          <a:p>
            <a:r>
              <a:rPr lang="en-US" dirty="0"/>
              <a:t>For keyframed curves, math is fairly standard, deterministic, and keys are reliable</a:t>
            </a:r>
          </a:p>
          <a:p>
            <a:r>
              <a:rPr lang="en-US" dirty="0"/>
              <a:t>Physics simulation is subject to variability due to differences in implementation, entirely dependent on initial state and iterative function, no way to ensure results are the same</a:t>
            </a:r>
          </a:p>
          <a:p>
            <a:r>
              <a:rPr lang="en-US" dirty="0"/>
              <a:t>Alembic solution: cache the results of the simulation in the DCC, </a:t>
            </a:r>
          </a:p>
          <a:p>
            <a:r>
              <a:rPr lang="en-US" dirty="0"/>
              <a:t>Havok, Houdini: engine middleware with DCC tool or plugin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217" y="1547446"/>
            <a:ext cx="7020028" cy="4680019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 smtClean="0"/>
              <a:t>Havok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21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Bitfrost</a:t>
            </a:r>
            <a:r>
              <a:rPr lang="en-US" dirty="0" smtClean="0"/>
              <a:t> liquid simulation-&gt;Alembic-&gt;UE4</a:t>
            </a:r>
            <a:endParaRPr lang="en-US" dirty="0"/>
          </a:p>
        </p:txBody>
      </p:sp>
      <p:pic>
        <p:nvPicPr>
          <p:cNvPr id="6" name="9ylpfbVpJQk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35500" y="1879043"/>
            <a:ext cx="8520999" cy="47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8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B06D-10A0-4D07-9D04-65CF31A95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AA324-936D-49E8-92E6-F19C33F2E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1506" cy="4351338"/>
          </a:xfrm>
        </p:spPr>
        <p:txBody>
          <a:bodyPr/>
          <a:lstStyle/>
          <a:p>
            <a:r>
              <a:rPr lang="en-US" dirty="0"/>
              <a:t>Anything that changes the surface of the mesh</a:t>
            </a:r>
          </a:p>
          <a:p>
            <a:r>
              <a:rPr lang="en-US" dirty="0"/>
              <a:t>D</a:t>
            </a:r>
            <a:r>
              <a:rPr lang="en-US" dirty="0" smtClean="0"/>
              <a:t>oes </a:t>
            </a:r>
            <a:r>
              <a:rPr lang="en-US" dirty="0"/>
              <a:t>not change its topology</a:t>
            </a:r>
          </a:p>
          <a:p>
            <a:r>
              <a:rPr lang="en-US" dirty="0"/>
              <a:t>Examples from Maya: squash deformer, sine wave deformer, blend shape deformer</a:t>
            </a:r>
          </a:p>
          <a:p>
            <a:r>
              <a:rPr lang="en-US" dirty="0"/>
              <a:t>These affect the positions of vertices on a mesh </a:t>
            </a:r>
          </a:p>
          <a:p>
            <a:r>
              <a:rPr lang="en-US" dirty="0"/>
              <a:t>Vertex positions are in Model Space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659" y="2501660"/>
            <a:ext cx="4143429" cy="280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7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E11B-F4A3-4978-B7E0-4D82EE82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 skinning (Skeletal Subspace Deformation)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2789-ED7D-494E-AA28-05C75853C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81945" cy="4351338"/>
          </a:xfrm>
        </p:spPr>
        <p:txBody>
          <a:bodyPr>
            <a:normAutofit/>
          </a:bodyPr>
          <a:lstStyle/>
          <a:p>
            <a:r>
              <a:rPr lang="en-US" dirty="0"/>
              <a:t>Transform </a:t>
            </a:r>
            <a:r>
              <a:rPr lang="en-US" dirty="0" smtClean="0"/>
              <a:t>vertices </a:t>
            </a:r>
            <a:r>
              <a:rPr lang="en-US" dirty="0"/>
              <a:t>relative to </a:t>
            </a:r>
            <a:r>
              <a:rPr lang="en-US" dirty="0" smtClean="0"/>
              <a:t>joints with blended influences</a:t>
            </a:r>
          </a:p>
          <a:p>
            <a:r>
              <a:rPr lang="en-US" spc="-7" dirty="0">
                <a:solidFill>
                  <a:srgbClr val="595959"/>
                </a:solidFill>
                <a:latin typeface="Arial"/>
                <a:cs typeface="Arial"/>
              </a:rPr>
              <a:t>Treats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vertices </a:t>
            </a:r>
            <a:r>
              <a:rPr lang="en-US" spc="-7" dirty="0">
                <a:solidFill>
                  <a:srgbClr val="595959"/>
                </a:solidFill>
                <a:latin typeface="Arial"/>
                <a:cs typeface="Arial"/>
              </a:rPr>
              <a:t>as the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skin, </a:t>
            </a:r>
            <a:r>
              <a:rPr lang="en-US" spc="-7" dirty="0">
                <a:solidFill>
                  <a:srgbClr val="595959"/>
                </a:solidFill>
                <a:latin typeface="Arial"/>
                <a:cs typeface="Arial"/>
              </a:rPr>
              <a:t>and animation  is defined as transformations of the 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skeleton</a:t>
            </a:r>
            <a:endParaRPr lang="en-US" dirty="0"/>
          </a:p>
        </p:txBody>
      </p:sp>
      <p:sp>
        <p:nvSpPr>
          <p:cNvPr id="4" name="object 5"/>
          <p:cNvSpPr/>
          <p:nvPr/>
        </p:nvSpPr>
        <p:spPr>
          <a:xfrm>
            <a:off x="7325184" y="1825625"/>
            <a:ext cx="3142989" cy="37562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6166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transformation matrix can transform a point within a space, or it can express the transformation of frame of reference such as world space to view space for the camera.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World space</a:t>
            </a:r>
            <a:r>
              <a:rPr lang="en-US" dirty="0" smtClean="0"/>
              <a:t>: position of a vertex relative to world origin</a:t>
            </a:r>
          </a:p>
          <a:p>
            <a:r>
              <a:rPr lang="en-US" b="1" dirty="0" smtClean="0"/>
              <a:t>Model space</a:t>
            </a:r>
            <a:r>
              <a:rPr lang="en-US" dirty="0" smtClean="0"/>
              <a:t>: position relative to model origin</a:t>
            </a:r>
          </a:p>
          <a:p>
            <a:r>
              <a:rPr lang="en-US" b="1" dirty="0" smtClean="0"/>
              <a:t>Joint space</a:t>
            </a:r>
            <a:r>
              <a:rPr lang="en-US" dirty="0" smtClean="0"/>
              <a:t>: position relative to a joint</a:t>
            </a:r>
          </a:p>
          <a:p>
            <a:r>
              <a:rPr lang="en-US" b="1" dirty="0" smtClean="0"/>
              <a:t>Bind space</a:t>
            </a:r>
            <a:r>
              <a:rPr lang="en-US" dirty="0" smtClean="0"/>
              <a:t>: position of vertices in bind pose (e.g. T-pose)</a:t>
            </a:r>
          </a:p>
          <a:p>
            <a:r>
              <a:rPr lang="en-US" b="1" dirty="0" smtClean="0"/>
              <a:t>Pose</a:t>
            </a:r>
            <a:r>
              <a:rPr lang="en-US" dirty="0" smtClean="0"/>
              <a:t>: a particular configuration of the skeleton </a:t>
            </a:r>
          </a:p>
          <a:p>
            <a:r>
              <a:rPr lang="en-US" b="1" dirty="0" smtClean="0"/>
              <a:t>Pose space</a:t>
            </a:r>
            <a:r>
              <a:rPr lang="en-US" dirty="0" smtClean="0"/>
              <a:t>: position of vertices relative to a Pose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55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7405"/>
            <a:ext cx="2112433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spc="-7" dirty="0"/>
              <a:t>Skeletons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2089573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Joints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Hierarchy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Representation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T-pose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258" y="1578798"/>
            <a:ext cx="4881033" cy="689205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Sometimes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referred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as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bones.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Define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coordinate 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within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model.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92033" y="2787334"/>
            <a:ext cx="4635499" cy="3149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7368" y="6626504"/>
            <a:ext cx="1319953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Autodesk.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39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7405"/>
            <a:ext cx="2112433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spc="-7" dirty="0"/>
              <a:t>Skeletons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2089573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Joints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Hierarchy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Representation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T-pose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17901" y="1026567"/>
            <a:ext cx="3378199" cy="5575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75514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Carleton</a:t>
            </a:r>
            <a:r>
              <a:rPr sz="800" spc="-10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University.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065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7405"/>
            <a:ext cx="2112433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spc="-7" dirty="0"/>
              <a:t>Skeletons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2207260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Joints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Hierarchy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Representation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T-pose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93127" y="1268956"/>
            <a:ext cx="735676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Joint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Matrix4x3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m_invBind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uint8_t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m_parent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ga_joint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_name[32];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ga_mat4f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_world;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ga_mat4f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inv_bind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ga_mat4f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_skin; 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uint32_t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_parent;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0237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7405"/>
            <a:ext cx="2112433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spc="-7" dirty="0"/>
              <a:t>Skeletons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2089573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Joints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Hierarchy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Representation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T-pose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624518"/>
            <a:ext cx="32181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each joint in the</a:t>
            </a:r>
            <a:r>
              <a:rPr sz="1867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hierarchy: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8" y="2175698"/>
            <a:ext cx="4629572" cy="20168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170176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Update the joint’s local transform from  animation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data.</a:t>
            </a:r>
            <a:endParaRPr sz="1867" dirty="0">
              <a:latin typeface="Arial"/>
              <a:cs typeface="Arial"/>
            </a:endParaRPr>
          </a:p>
          <a:p>
            <a:pPr marL="464808" marR="259920" indent="-447875">
              <a:lnSpc>
                <a:spcPct val="116100"/>
              </a:lnSpc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parent transform to obtain  world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transform.</a:t>
            </a:r>
            <a:endParaRPr sz="1867" dirty="0">
              <a:latin typeface="Arial"/>
              <a:cs typeface="Arial"/>
            </a:endParaRPr>
          </a:p>
          <a:p>
            <a:pPr marL="464808" marR="6773" indent="-447875">
              <a:lnSpc>
                <a:spcPct val="116100"/>
              </a:lnSpc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inverse bind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obtain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skinning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matrix.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567" y="4469318"/>
            <a:ext cx="42468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That last bit will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make more sense</a:t>
            </a:r>
            <a:r>
              <a:rPr sz="1867" spc="-1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soon.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89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7405"/>
            <a:ext cx="2112433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spc="-7" dirty="0"/>
              <a:t>Skeletons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2089573" cy="1705061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Joints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Hierarchy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Representation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T-pose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16866" y="1536633"/>
            <a:ext cx="7059532" cy="2973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35890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Pintrerest..</a:t>
            </a:r>
            <a:endParaRPr sz="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247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7405"/>
            <a:ext cx="1849120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spc="-7" dirty="0"/>
              <a:t>Skinning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9628293" cy="2284578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Ok,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 do we get 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skin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follow the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skeleton?</a:t>
            </a:r>
            <a:endParaRPr sz="240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Vertices of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model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bound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the</a:t>
            </a:r>
            <a:r>
              <a:rPr sz="2400" spc="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skeleton.</a:t>
            </a:r>
            <a:endParaRPr sz="240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some small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number, often four, of joints that influence</a:t>
            </a:r>
            <a:r>
              <a:rPr sz="1867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amount of influence is described by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weight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, from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1.</a:t>
            </a:r>
            <a:endParaRPr sz="1867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process of assigning joint weights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vertices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weight</a:t>
            </a:r>
            <a:r>
              <a:rPr sz="1867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painting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move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skin,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move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using the influencing</a:t>
            </a:r>
            <a:r>
              <a:rPr sz="2400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joints.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946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7405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534160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257" y="1578798"/>
            <a:ext cx="4864947" cy="20168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68850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 need to transform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vertex</a:t>
            </a:r>
            <a:r>
              <a:rPr sz="1867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from  binding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pose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 dirty="0">
              <a:latin typeface="Arial"/>
              <a:cs typeface="Arial"/>
            </a:endParaRPr>
          </a:p>
          <a:p>
            <a:pPr marL="464808" marR="6773" indent="-447875">
              <a:lnSpc>
                <a:spcPct val="116100"/>
              </a:lnSpc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Vertex position is always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constant relative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joint influencing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it.</a:t>
            </a:r>
            <a:endParaRPr sz="1867" dirty="0">
              <a:latin typeface="Arial"/>
              <a:cs typeface="Arial"/>
            </a:endParaRPr>
          </a:p>
          <a:p>
            <a:pPr marL="464808" marR="61805" indent="-447875">
              <a:lnSpc>
                <a:spcPct val="116100"/>
              </a:lnSpc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to local joint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pose, then  transform back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68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7405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534160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257" y="1578798"/>
            <a:ext cx="4864947" cy="20168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401310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We need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to transform a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vertex</a:t>
            </a:r>
            <a:r>
              <a:rPr sz="1867" b="1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from 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binding space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pose</a:t>
            </a:r>
            <a:r>
              <a:rPr sz="1867" b="1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  <a:p>
            <a:pPr marL="464808" marR="6773" indent="-447875">
              <a:lnSpc>
                <a:spcPct val="116100"/>
              </a:lnSpc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Vertex position is always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constant relative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joint influencing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it.</a:t>
            </a:r>
            <a:endParaRPr sz="1867">
              <a:latin typeface="Arial"/>
              <a:cs typeface="Arial"/>
            </a:endParaRPr>
          </a:p>
          <a:p>
            <a:pPr marL="464808" marR="61805" indent="-447875">
              <a:lnSpc>
                <a:spcPct val="116100"/>
              </a:lnSpc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to local joint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pose, then  transform back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564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424766" y="2420000"/>
            <a:ext cx="495300" cy="1612053"/>
          </a:xfrm>
          <a:custGeom>
            <a:avLst/>
            <a:gdLst/>
            <a:ahLst/>
            <a:cxnLst/>
            <a:rect l="l" t="t" r="r" b="b"/>
            <a:pathLst>
              <a:path w="371475" h="1209039">
                <a:moveTo>
                  <a:pt x="0" y="0"/>
                </a:moveTo>
                <a:lnTo>
                  <a:pt x="16704" y="23822"/>
                </a:lnTo>
                <a:lnTo>
                  <a:pt x="38904" y="52617"/>
                </a:lnTo>
                <a:lnTo>
                  <a:pt x="65580" y="85870"/>
                </a:lnTo>
                <a:lnTo>
                  <a:pt x="95712" y="123065"/>
                </a:lnTo>
                <a:lnTo>
                  <a:pt x="128279" y="163688"/>
                </a:lnTo>
                <a:lnTo>
                  <a:pt x="162260" y="207224"/>
                </a:lnTo>
                <a:lnTo>
                  <a:pt x="196635" y="253157"/>
                </a:lnTo>
                <a:lnTo>
                  <a:pt x="230383" y="300974"/>
                </a:lnTo>
                <a:lnTo>
                  <a:pt x="262484" y="350159"/>
                </a:lnTo>
                <a:lnTo>
                  <a:pt x="291917" y="400197"/>
                </a:lnTo>
                <a:lnTo>
                  <a:pt x="317662" y="450573"/>
                </a:lnTo>
                <a:lnTo>
                  <a:pt x="338699" y="500773"/>
                </a:lnTo>
                <a:lnTo>
                  <a:pt x="354006" y="550281"/>
                </a:lnTo>
                <a:lnTo>
                  <a:pt x="362278" y="592066"/>
                </a:lnTo>
                <a:lnTo>
                  <a:pt x="367641" y="637374"/>
                </a:lnTo>
                <a:lnTo>
                  <a:pt x="370411" y="685547"/>
                </a:lnTo>
                <a:lnTo>
                  <a:pt x="370905" y="735929"/>
                </a:lnTo>
                <a:lnTo>
                  <a:pt x="369440" y="787864"/>
                </a:lnTo>
                <a:lnTo>
                  <a:pt x="366332" y="840694"/>
                </a:lnTo>
                <a:lnTo>
                  <a:pt x="361900" y="893762"/>
                </a:lnTo>
                <a:lnTo>
                  <a:pt x="356459" y="946413"/>
                </a:lnTo>
                <a:lnTo>
                  <a:pt x="350327" y="997989"/>
                </a:lnTo>
                <a:lnTo>
                  <a:pt x="343820" y="1047833"/>
                </a:lnTo>
                <a:lnTo>
                  <a:pt x="337255" y="1095289"/>
                </a:lnTo>
                <a:lnTo>
                  <a:pt x="330950" y="1139700"/>
                </a:lnTo>
                <a:lnTo>
                  <a:pt x="329452" y="1150250"/>
                </a:lnTo>
                <a:lnTo>
                  <a:pt x="327994" y="1160558"/>
                </a:lnTo>
                <a:lnTo>
                  <a:pt x="322672" y="1199170"/>
                </a:lnTo>
                <a:lnTo>
                  <a:pt x="321417" y="1208823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27867" y="4000397"/>
            <a:ext cx="57573" cy="81280"/>
          </a:xfrm>
          <a:custGeom>
            <a:avLst/>
            <a:gdLst/>
            <a:ahLst/>
            <a:cxnLst/>
            <a:rect l="l" t="t" r="r" b="b"/>
            <a:pathLst>
              <a:path w="43179" h="60960">
                <a:moveTo>
                  <a:pt x="15217" y="60760"/>
                </a:moveTo>
                <a:lnTo>
                  <a:pt x="0" y="0"/>
                </a:lnTo>
                <a:lnTo>
                  <a:pt x="19091" y="23525"/>
                </a:lnTo>
                <a:lnTo>
                  <a:pt x="33330" y="23525"/>
                </a:lnTo>
                <a:lnTo>
                  <a:pt x="15217" y="60760"/>
                </a:lnTo>
                <a:close/>
              </a:path>
              <a:path w="43179" h="60960">
                <a:moveTo>
                  <a:pt x="33330" y="23525"/>
                </a:moveTo>
                <a:lnTo>
                  <a:pt x="19091" y="23525"/>
                </a:lnTo>
                <a:lnTo>
                  <a:pt x="42617" y="4433"/>
                </a:lnTo>
                <a:lnTo>
                  <a:pt x="33330" y="235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27867" y="4000397"/>
            <a:ext cx="57573" cy="81280"/>
          </a:xfrm>
          <a:custGeom>
            <a:avLst/>
            <a:gdLst/>
            <a:ahLst/>
            <a:cxnLst/>
            <a:rect l="l" t="t" r="r" b="b"/>
            <a:pathLst>
              <a:path w="43179" h="60960">
                <a:moveTo>
                  <a:pt x="19091" y="23525"/>
                </a:moveTo>
                <a:lnTo>
                  <a:pt x="0" y="0"/>
                </a:lnTo>
                <a:lnTo>
                  <a:pt x="15217" y="60760"/>
                </a:lnTo>
                <a:lnTo>
                  <a:pt x="42617" y="4433"/>
                </a:lnTo>
                <a:lnTo>
                  <a:pt x="19091" y="23525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225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1767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534160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257" y="1578798"/>
            <a:ext cx="4701539" cy="23501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505447" indent="-447875" defTabSz="1219170">
              <a:lnSpc>
                <a:spcPct val="116100"/>
              </a:lnSpc>
              <a:spcBef>
                <a:spcPts val="13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 need to transform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vertex</a:t>
            </a:r>
            <a:r>
              <a:rPr sz="1867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from  binding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pose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marR="361518" indent="-447875" defTabSz="1219170">
              <a:lnSpc>
                <a:spcPct val="116100"/>
              </a:lnSpc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Vertex position is always constant  relative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joint influencing</a:t>
            </a:r>
            <a:r>
              <a:rPr sz="1867" b="1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it.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marR="6773" indent="-447875" defTabSz="1219170">
              <a:lnSpc>
                <a:spcPct val="116100"/>
              </a:lnSpc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to local joint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  into the pose, then transform back to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730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42361" y="2354633"/>
            <a:ext cx="78740" cy="507153"/>
          </a:xfrm>
          <a:custGeom>
            <a:avLst/>
            <a:gdLst/>
            <a:ahLst/>
            <a:cxnLst/>
            <a:rect l="l" t="t" r="r" b="b"/>
            <a:pathLst>
              <a:path w="59054" h="380364">
                <a:moveTo>
                  <a:pt x="58503" y="0"/>
                </a:moveTo>
                <a:lnTo>
                  <a:pt x="0" y="380015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1629" y="2858128"/>
            <a:ext cx="41487" cy="60960"/>
          </a:xfrm>
          <a:custGeom>
            <a:avLst/>
            <a:gdLst/>
            <a:ahLst/>
            <a:cxnLst/>
            <a:rect l="l" t="t" r="r" b="b"/>
            <a:pathLst>
              <a:path w="31114" h="45719">
                <a:moveTo>
                  <a:pt x="8972" y="45115"/>
                </a:moveTo>
                <a:lnTo>
                  <a:pt x="0" y="0"/>
                </a:lnTo>
                <a:lnTo>
                  <a:pt x="31098" y="4787"/>
                </a:lnTo>
                <a:lnTo>
                  <a:pt x="8972" y="451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21629" y="2858128"/>
            <a:ext cx="41487" cy="60960"/>
          </a:xfrm>
          <a:custGeom>
            <a:avLst/>
            <a:gdLst/>
            <a:ahLst/>
            <a:cxnLst/>
            <a:rect l="l" t="t" r="r" b="b"/>
            <a:pathLst>
              <a:path w="31114" h="45719">
                <a:moveTo>
                  <a:pt x="0" y="0"/>
                </a:moveTo>
                <a:lnTo>
                  <a:pt x="8972" y="45115"/>
                </a:lnTo>
                <a:lnTo>
                  <a:pt x="31098" y="47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95330" y="4214133"/>
            <a:ext cx="337820" cy="334433"/>
          </a:xfrm>
          <a:custGeom>
            <a:avLst/>
            <a:gdLst/>
            <a:ahLst/>
            <a:cxnLst/>
            <a:rect l="l" t="t" r="r" b="b"/>
            <a:pathLst>
              <a:path w="253365" h="250825">
                <a:moveTo>
                  <a:pt x="252802" y="0"/>
                </a:moveTo>
                <a:lnTo>
                  <a:pt x="0" y="250476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54388" y="4533199"/>
            <a:ext cx="55880" cy="5588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0" y="41599"/>
                </a:moveTo>
                <a:lnTo>
                  <a:pt x="19632" y="0"/>
                </a:lnTo>
                <a:lnTo>
                  <a:pt x="41779" y="22351"/>
                </a:lnTo>
                <a:lnTo>
                  <a:pt x="0" y="4159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54388" y="4533199"/>
            <a:ext cx="55880" cy="5588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19632" y="0"/>
                </a:moveTo>
                <a:lnTo>
                  <a:pt x="0" y="41599"/>
                </a:lnTo>
                <a:lnTo>
                  <a:pt x="41779" y="22351"/>
                </a:lnTo>
                <a:lnTo>
                  <a:pt x="19632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89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24999" y="1924832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1" y="403014"/>
                </a:lnTo>
                <a:lnTo>
                  <a:pt x="419539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31215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1" y="109118"/>
                </a:lnTo>
                <a:lnTo>
                  <a:pt x="490877" y="151304"/>
                </a:lnTo>
                <a:lnTo>
                  <a:pt x="505352" y="197059"/>
                </a:lnTo>
                <a:lnTo>
                  <a:pt x="510299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86607" y="4279577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40" h="490220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8"/>
                </a:lnTo>
                <a:lnTo>
                  <a:pt x="467432" y="109118"/>
                </a:lnTo>
                <a:lnTo>
                  <a:pt x="490878" y="151304"/>
                </a:lnTo>
                <a:lnTo>
                  <a:pt x="505352" y="197059"/>
                </a:lnTo>
                <a:lnTo>
                  <a:pt x="510300" y="245099"/>
                </a:lnTo>
                <a:lnTo>
                  <a:pt x="506189" y="289156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6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122150" y="1462500"/>
                </a:moveTo>
                <a:lnTo>
                  <a:pt x="0" y="128999"/>
                </a:lnTo>
                <a:lnTo>
                  <a:pt x="190499" y="0"/>
                </a:lnTo>
                <a:lnTo>
                  <a:pt x="1122150" y="1462500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8505" y="2420001"/>
            <a:ext cx="1496907" cy="1950720"/>
          </a:xfrm>
          <a:custGeom>
            <a:avLst/>
            <a:gdLst/>
            <a:ahLst/>
            <a:cxnLst/>
            <a:rect l="l" t="t" r="r" b="b"/>
            <a:pathLst>
              <a:path w="1122679" h="1463039">
                <a:moveTo>
                  <a:pt x="190499" y="0"/>
                </a:moveTo>
                <a:lnTo>
                  <a:pt x="1122150" y="1462500"/>
                </a:lnTo>
                <a:lnTo>
                  <a:pt x="0" y="128999"/>
                </a:lnTo>
                <a:lnTo>
                  <a:pt x="1904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223799"/>
                </a:moveTo>
                <a:lnTo>
                  <a:pt x="0" y="0"/>
                </a:lnTo>
                <a:lnTo>
                  <a:pt x="1781399" y="111899"/>
                </a:lnTo>
                <a:lnTo>
                  <a:pt x="0" y="223799"/>
                </a:lnTo>
                <a:close/>
              </a:path>
            </a:pathLst>
          </a:custGeom>
          <a:solidFill>
            <a:srgbClr val="41A2EE">
              <a:alpha val="5153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11397" y="4457139"/>
            <a:ext cx="2375747" cy="298872"/>
          </a:xfrm>
          <a:custGeom>
            <a:avLst/>
            <a:gdLst/>
            <a:ahLst/>
            <a:cxnLst/>
            <a:rect l="l" t="t" r="r" b="b"/>
            <a:pathLst>
              <a:path w="1781810" h="224154">
                <a:moveTo>
                  <a:pt x="0" y="0"/>
                </a:moveTo>
                <a:lnTo>
                  <a:pt x="1781399" y="111899"/>
                </a:lnTo>
                <a:lnTo>
                  <a:pt x="0" y="223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255149" y="490199"/>
                </a:move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85273" y="2580244"/>
            <a:ext cx="680720" cy="653627"/>
          </a:xfrm>
          <a:custGeom>
            <a:avLst/>
            <a:gdLst/>
            <a:ahLst/>
            <a:cxnLst/>
            <a:rect l="l" t="t" r="r" b="b"/>
            <a:pathLst>
              <a:path w="510539" h="490219">
                <a:moveTo>
                  <a:pt x="0" y="245099"/>
                </a:moveTo>
                <a:lnTo>
                  <a:pt x="4110" y="201042"/>
                </a:lnTo>
                <a:lnTo>
                  <a:pt x="15962" y="159576"/>
                </a:lnTo>
                <a:lnTo>
                  <a:pt x="34835" y="121393"/>
                </a:lnTo>
                <a:lnTo>
                  <a:pt x="60008" y="87185"/>
                </a:lnTo>
                <a:lnTo>
                  <a:pt x="90760" y="57644"/>
                </a:lnTo>
                <a:lnTo>
                  <a:pt x="126370" y="33463"/>
                </a:lnTo>
                <a:lnTo>
                  <a:pt x="166119" y="15334"/>
                </a:lnTo>
                <a:lnTo>
                  <a:pt x="209286" y="3948"/>
                </a:lnTo>
                <a:lnTo>
                  <a:pt x="255149" y="0"/>
                </a:lnTo>
                <a:lnTo>
                  <a:pt x="305159" y="4753"/>
                </a:lnTo>
                <a:lnTo>
                  <a:pt x="352791" y="18657"/>
                </a:lnTo>
                <a:lnTo>
                  <a:pt x="396707" y="41179"/>
                </a:lnTo>
                <a:lnTo>
                  <a:pt x="435568" y="71787"/>
                </a:lnTo>
                <a:lnTo>
                  <a:pt x="467432" y="109118"/>
                </a:lnTo>
                <a:lnTo>
                  <a:pt x="490877" y="151304"/>
                </a:lnTo>
                <a:lnTo>
                  <a:pt x="505352" y="197060"/>
                </a:lnTo>
                <a:lnTo>
                  <a:pt x="510299" y="245099"/>
                </a:lnTo>
                <a:lnTo>
                  <a:pt x="506189" y="289157"/>
                </a:lnTo>
                <a:lnTo>
                  <a:pt x="494337" y="330623"/>
                </a:lnTo>
                <a:lnTo>
                  <a:pt x="475464" y="368806"/>
                </a:lnTo>
                <a:lnTo>
                  <a:pt x="450292" y="403014"/>
                </a:lnTo>
                <a:lnTo>
                  <a:pt x="419540" y="432555"/>
                </a:lnTo>
                <a:lnTo>
                  <a:pt x="383929" y="456736"/>
                </a:lnTo>
                <a:lnTo>
                  <a:pt x="344180" y="474865"/>
                </a:lnTo>
                <a:lnTo>
                  <a:pt x="301013" y="486251"/>
                </a:lnTo>
                <a:lnTo>
                  <a:pt x="255149" y="490199"/>
                </a:lnTo>
                <a:lnTo>
                  <a:pt x="209286" y="486251"/>
                </a:lnTo>
                <a:lnTo>
                  <a:pt x="166119" y="474865"/>
                </a:lnTo>
                <a:lnTo>
                  <a:pt x="126370" y="456736"/>
                </a:lnTo>
                <a:lnTo>
                  <a:pt x="90760" y="432555"/>
                </a:lnTo>
                <a:lnTo>
                  <a:pt x="60008" y="403014"/>
                </a:lnTo>
                <a:lnTo>
                  <a:pt x="34835" y="368806"/>
                </a:lnTo>
                <a:lnTo>
                  <a:pt x="15962" y="330623"/>
                </a:lnTo>
                <a:lnTo>
                  <a:pt x="4110" y="289157"/>
                </a:lnTo>
                <a:lnTo>
                  <a:pt x="0" y="245099"/>
                </a:lnTo>
                <a:close/>
              </a:path>
            </a:pathLst>
          </a:custGeom>
          <a:ln w="9524">
            <a:solidFill>
              <a:srgbClr val="A4C1F4"/>
            </a:solidFill>
            <a:prstDash val="lgDash"/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125399" y="1091699"/>
                </a:moveTo>
                <a:lnTo>
                  <a:pt x="0" y="906299"/>
                </a:lnTo>
                <a:lnTo>
                  <a:pt x="1537799" y="0"/>
                </a:lnTo>
                <a:lnTo>
                  <a:pt x="125399" y="1091699"/>
                </a:lnTo>
                <a:close/>
              </a:path>
            </a:pathLst>
          </a:custGeom>
          <a:solidFill>
            <a:srgbClr val="41A2EE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07156" y="3114047"/>
            <a:ext cx="2050627" cy="1456267"/>
          </a:xfrm>
          <a:custGeom>
            <a:avLst/>
            <a:gdLst/>
            <a:ahLst/>
            <a:cxnLst/>
            <a:rect l="l" t="t" r="r" b="b"/>
            <a:pathLst>
              <a:path w="1537970" h="1092200">
                <a:moveTo>
                  <a:pt x="0" y="906299"/>
                </a:moveTo>
                <a:lnTo>
                  <a:pt x="1537799" y="0"/>
                </a:lnTo>
                <a:lnTo>
                  <a:pt x="125399" y="1091699"/>
                </a:lnTo>
                <a:lnTo>
                  <a:pt x="0" y="9062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1558200" y="2423400"/>
                </a:moveTo>
                <a:lnTo>
                  <a:pt x="0" y="359999"/>
                </a:lnTo>
                <a:lnTo>
                  <a:pt x="476999" y="0"/>
                </a:lnTo>
                <a:lnTo>
                  <a:pt x="2035200" y="2063400"/>
                </a:lnTo>
                <a:lnTo>
                  <a:pt x="1558200" y="2423400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77500" y="1660001"/>
            <a:ext cx="2714413" cy="3231727"/>
          </a:xfrm>
          <a:custGeom>
            <a:avLst/>
            <a:gdLst/>
            <a:ahLst/>
            <a:cxnLst/>
            <a:rect l="l" t="t" r="r" b="b"/>
            <a:pathLst>
              <a:path w="2035810" h="2423795">
                <a:moveTo>
                  <a:pt x="476999" y="0"/>
                </a:moveTo>
                <a:lnTo>
                  <a:pt x="2035200" y="2063400"/>
                </a:lnTo>
                <a:lnTo>
                  <a:pt x="1558200" y="2423400"/>
                </a:lnTo>
                <a:lnTo>
                  <a:pt x="0" y="359999"/>
                </a:lnTo>
                <a:lnTo>
                  <a:pt x="476999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8199"/>
                </a:moveTo>
                <a:lnTo>
                  <a:pt x="0" y="599"/>
                </a:ln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close/>
              </a:path>
            </a:pathLst>
          </a:custGeom>
          <a:solidFill>
            <a:srgbClr val="52EE19">
              <a:alpha val="2384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20999" y="4207519"/>
            <a:ext cx="3447627" cy="798407"/>
          </a:xfrm>
          <a:custGeom>
            <a:avLst/>
            <a:gdLst/>
            <a:ahLst/>
            <a:cxnLst/>
            <a:rect l="l" t="t" r="r" b="b"/>
            <a:pathLst>
              <a:path w="2585720" h="598804">
                <a:moveTo>
                  <a:pt x="0" y="599"/>
                </a:moveTo>
                <a:lnTo>
                  <a:pt x="2585699" y="0"/>
                </a:lnTo>
                <a:lnTo>
                  <a:pt x="2585699" y="597599"/>
                </a:lnTo>
                <a:lnTo>
                  <a:pt x="0" y="598199"/>
                </a:lnTo>
                <a:lnTo>
                  <a:pt x="0" y="5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354599" y="2016299"/>
                </a:moveTo>
                <a:lnTo>
                  <a:pt x="0" y="1535699"/>
                </a:ln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close/>
              </a:path>
            </a:pathLst>
          </a:custGeom>
          <a:solidFill>
            <a:srgbClr val="52EE19">
              <a:alpha val="12309"/>
            </a:srgbClr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75754" y="2304208"/>
            <a:ext cx="3246967" cy="2689013"/>
          </a:xfrm>
          <a:custGeom>
            <a:avLst/>
            <a:gdLst/>
            <a:ahLst/>
            <a:cxnLst/>
            <a:rect l="l" t="t" r="r" b="b"/>
            <a:pathLst>
              <a:path w="2435225" h="2016760">
                <a:moveTo>
                  <a:pt x="0" y="1535699"/>
                </a:moveTo>
                <a:lnTo>
                  <a:pt x="2080199" y="0"/>
                </a:lnTo>
                <a:lnTo>
                  <a:pt x="2434799" y="480599"/>
                </a:lnTo>
                <a:lnTo>
                  <a:pt x="354599" y="2016299"/>
                </a:lnTo>
                <a:lnTo>
                  <a:pt x="0" y="1535699"/>
                </a:lnTo>
                <a:close/>
              </a:path>
            </a:pathLst>
          </a:custGeom>
          <a:ln w="9524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045849" y="2279249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60649" y="4138816"/>
            <a:ext cx="147099" cy="1470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42361" y="2354633"/>
            <a:ext cx="78740" cy="507153"/>
          </a:xfrm>
          <a:custGeom>
            <a:avLst/>
            <a:gdLst/>
            <a:ahLst/>
            <a:cxnLst/>
            <a:rect l="l" t="t" r="r" b="b"/>
            <a:pathLst>
              <a:path w="59054" h="380364">
                <a:moveTo>
                  <a:pt x="58503" y="0"/>
                </a:moveTo>
                <a:lnTo>
                  <a:pt x="0" y="380015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21629" y="2858128"/>
            <a:ext cx="41487" cy="60960"/>
          </a:xfrm>
          <a:custGeom>
            <a:avLst/>
            <a:gdLst/>
            <a:ahLst/>
            <a:cxnLst/>
            <a:rect l="l" t="t" r="r" b="b"/>
            <a:pathLst>
              <a:path w="31114" h="45719">
                <a:moveTo>
                  <a:pt x="8972" y="45115"/>
                </a:moveTo>
                <a:lnTo>
                  <a:pt x="0" y="0"/>
                </a:lnTo>
                <a:lnTo>
                  <a:pt x="31098" y="4787"/>
                </a:lnTo>
                <a:lnTo>
                  <a:pt x="8972" y="451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21629" y="2858128"/>
            <a:ext cx="41487" cy="60960"/>
          </a:xfrm>
          <a:custGeom>
            <a:avLst/>
            <a:gdLst/>
            <a:ahLst/>
            <a:cxnLst/>
            <a:rect l="l" t="t" r="r" b="b"/>
            <a:pathLst>
              <a:path w="31114" h="45719">
                <a:moveTo>
                  <a:pt x="0" y="0"/>
                </a:moveTo>
                <a:lnTo>
                  <a:pt x="8972" y="45115"/>
                </a:lnTo>
                <a:lnTo>
                  <a:pt x="31098" y="47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595330" y="4214133"/>
            <a:ext cx="337820" cy="334433"/>
          </a:xfrm>
          <a:custGeom>
            <a:avLst/>
            <a:gdLst/>
            <a:ahLst/>
            <a:cxnLst/>
            <a:rect l="l" t="t" r="r" b="b"/>
            <a:pathLst>
              <a:path w="253365" h="250825">
                <a:moveTo>
                  <a:pt x="252802" y="0"/>
                </a:moveTo>
                <a:lnTo>
                  <a:pt x="0" y="250476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554388" y="4533199"/>
            <a:ext cx="55880" cy="5588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0" y="41599"/>
                </a:moveTo>
                <a:lnTo>
                  <a:pt x="19632" y="0"/>
                </a:lnTo>
                <a:lnTo>
                  <a:pt x="41779" y="22351"/>
                </a:lnTo>
                <a:lnTo>
                  <a:pt x="0" y="4159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554388" y="4533199"/>
            <a:ext cx="55880" cy="5588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19632" y="0"/>
                </a:moveTo>
                <a:lnTo>
                  <a:pt x="0" y="41599"/>
                </a:lnTo>
                <a:lnTo>
                  <a:pt x="41779" y="22351"/>
                </a:lnTo>
                <a:lnTo>
                  <a:pt x="19632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895465" y="1898766"/>
            <a:ext cx="4734560" cy="2037927"/>
          </a:xfrm>
          <a:custGeom>
            <a:avLst/>
            <a:gdLst/>
            <a:ahLst/>
            <a:cxnLst/>
            <a:rect l="l" t="t" r="r" b="b"/>
            <a:pathLst>
              <a:path w="3550920" h="1528445">
                <a:moveTo>
                  <a:pt x="3324399" y="1358399"/>
                </a:moveTo>
                <a:lnTo>
                  <a:pt x="226399" y="1358399"/>
                </a:lnTo>
                <a:lnTo>
                  <a:pt x="180772" y="1353800"/>
                </a:lnTo>
                <a:lnTo>
                  <a:pt x="138275" y="1340608"/>
                </a:lnTo>
                <a:lnTo>
                  <a:pt x="99817" y="1319734"/>
                </a:lnTo>
                <a:lnTo>
                  <a:pt x="66311" y="1292088"/>
                </a:lnTo>
                <a:lnTo>
                  <a:pt x="38665" y="1258582"/>
                </a:lnTo>
                <a:lnTo>
                  <a:pt x="17791" y="1220125"/>
                </a:lnTo>
                <a:lnTo>
                  <a:pt x="4599" y="1177627"/>
                </a:lnTo>
                <a:lnTo>
                  <a:pt x="0" y="1131999"/>
                </a:lnTo>
                <a:lnTo>
                  <a:pt x="0" y="226399"/>
                </a:lnTo>
                <a:lnTo>
                  <a:pt x="4599" y="180772"/>
                </a:lnTo>
                <a:lnTo>
                  <a:pt x="17791" y="138274"/>
                </a:lnTo>
                <a:lnTo>
                  <a:pt x="38665" y="99817"/>
                </a:lnTo>
                <a:lnTo>
                  <a:pt x="66311" y="66310"/>
                </a:lnTo>
                <a:lnTo>
                  <a:pt x="99817" y="38665"/>
                </a:lnTo>
                <a:lnTo>
                  <a:pt x="138275" y="17791"/>
                </a:lnTo>
                <a:lnTo>
                  <a:pt x="180772" y="4599"/>
                </a:lnTo>
                <a:lnTo>
                  <a:pt x="226399" y="0"/>
                </a:lnTo>
                <a:lnTo>
                  <a:pt x="3324399" y="0"/>
                </a:lnTo>
                <a:lnTo>
                  <a:pt x="3368774" y="4390"/>
                </a:lnTo>
                <a:lnTo>
                  <a:pt x="3411039" y="17233"/>
                </a:lnTo>
                <a:lnTo>
                  <a:pt x="3450006" y="38037"/>
                </a:lnTo>
                <a:lnTo>
                  <a:pt x="3484488" y="66311"/>
                </a:lnTo>
                <a:lnTo>
                  <a:pt x="3512762" y="100793"/>
                </a:lnTo>
                <a:lnTo>
                  <a:pt x="3533566" y="139760"/>
                </a:lnTo>
                <a:lnTo>
                  <a:pt x="3546409" y="182025"/>
                </a:lnTo>
                <a:lnTo>
                  <a:pt x="3550799" y="226399"/>
                </a:lnTo>
                <a:lnTo>
                  <a:pt x="3550799" y="1131999"/>
                </a:lnTo>
                <a:lnTo>
                  <a:pt x="3546200" y="1177627"/>
                </a:lnTo>
                <a:lnTo>
                  <a:pt x="3533008" y="1220125"/>
                </a:lnTo>
                <a:lnTo>
                  <a:pt x="3512134" y="1258582"/>
                </a:lnTo>
                <a:lnTo>
                  <a:pt x="3484489" y="1292088"/>
                </a:lnTo>
                <a:lnTo>
                  <a:pt x="3450982" y="1319734"/>
                </a:lnTo>
                <a:lnTo>
                  <a:pt x="3412525" y="1340608"/>
                </a:lnTo>
                <a:lnTo>
                  <a:pt x="3370027" y="1353800"/>
                </a:lnTo>
                <a:lnTo>
                  <a:pt x="3324399" y="1358399"/>
                </a:lnTo>
                <a:close/>
              </a:path>
              <a:path w="3550920" h="1528445">
                <a:moveTo>
                  <a:pt x="1035661" y="1528199"/>
                </a:moveTo>
                <a:lnTo>
                  <a:pt x="591799" y="1358399"/>
                </a:lnTo>
                <a:lnTo>
                  <a:pt x="1479499" y="1358399"/>
                </a:lnTo>
                <a:lnTo>
                  <a:pt x="1035661" y="15281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95465" y="1898766"/>
            <a:ext cx="4734560" cy="2037927"/>
          </a:xfrm>
          <a:custGeom>
            <a:avLst/>
            <a:gdLst/>
            <a:ahLst/>
            <a:cxnLst/>
            <a:rect l="l" t="t" r="r" b="b"/>
            <a:pathLst>
              <a:path w="3550920" h="1528445">
                <a:moveTo>
                  <a:pt x="0" y="226399"/>
                </a:moveTo>
                <a:lnTo>
                  <a:pt x="4599" y="180772"/>
                </a:lnTo>
                <a:lnTo>
                  <a:pt x="17791" y="138274"/>
                </a:lnTo>
                <a:lnTo>
                  <a:pt x="38665" y="99817"/>
                </a:lnTo>
                <a:lnTo>
                  <a:pt x="66311" y="66311"/>
                </a:lnTo>
                <a:lnTo>
                  <a:pt x="99817" y="38665"/>
                </a:lnTo>
                <a:lnTo>
                  <a:pt x="138275" y="17791"/>
                </a:lnTo>
                <a:lnTo>
                  <a:pt x="180772" y="4599"/>
                </a:lnTo>
                <a:lnTo>
                  <a:pt x="226399" y="0"/>
                </a:lnTo>
                <a:lnTo>
                  <a:pt x="591799" y="0"/>
                </a:lnTo>
                <a:lnTo>
                  <a:pt x="1479499" y="0"/>
                </a:lnTo>
                <a:lnTo>
                  <a:pt x="3324399" y="0"/>
                </a:lnTo>
                <a:lnTo>
                  <a:pt x="3368774" y="4390"/>
                </a:lnTo>
                <a:lnTo>
                  <a:pt x="3411039" y="17233"/>
                </a:lnTo>
                <a:lnTo>
                  <a:pt x="3450006" y="38037"/>
                </a:lnTo>
                <a:lnTo>
                  <a:pt x="3484488" y="66310"/>
                </a:lnTo>
                <a:lnTo>
                  <a:pt x="3512762" y="100793"/>
                </a:lnTo>
                <a:lnTo>
                  <a:pt x="3533566" y="139760"/>
                </a:lnTo>
                <a:lnTo>
                  <a:pt x="3546409" y="182025"/>
                </a:lnTo>
                <a:lnTo>
                  <a:pt x="3550799" y="226399"/>
                </a:lnTo>
                <a:lnTo>
                  <a:pt x="3550799" y="792399"/>
                </a:lnTo>
                <a:lnTo>
                  <a:pt x="3550799" y="1131999"/>
                </a:lnTo>
                <a:lnTo>
                  <a:pt x="3546200" y="1177627"/>
                </a:lnTo>
                <a:lnTo>
                  <a:pt x="3533008" y="1220125"/>
                </a:lnTo>
                <a:lnTo>
                  <a:pt x="3512134" y="1258582"/>
                </a:lnTo>
                <a:lnTo>
                  <a:pt x="3484489" y="1292088"/>
                </a:lnTo>
                <a:lnTo>
                  <a:pt x="3450982" y="1319734"/>
                </a:lnTo>
                <a:lnTo>
                  <a:pt x="3412525" y="1340608"/>
                </a:lnTo>
                <a:lnTo>
                  <a:pt x="3370027" y="1353800"/>
                </a:lnTo>
                <a:lnTo>
                  <a:pt x="3324399" y="1358399"/>
                </a:lnTo>
                <a:lnTo>
                  <a:pt x="1479499" y="1358399"/>
                </a:lnTo>
                <a:lnTo>
                  <a:pt x="1035661" y="1528199"/>
                </a:lnTo>
                <a:lnTo>
                  <a:pt x="591799" y="1358399"/>
                </a:lnTo>
                <a:lnTo>
                  <a:pt x="226399" y="1358399"/>
                </a:lnTo>
                <a:lnTo>
                  <a:pt x="180772" y="1353800"/>
                </a:lnTo>
                <a:lnTo>
                  <a:pt x="138275" y="1340608"/>
                </a:lnTo>
                <a:lnTo>
                  <a:pt x="99817" y="1319734"/>
                </a:lnTo>
                <a:lnTo>
                  <a:pt x="66311" y="1292088"/>
                </a:lnTo>
                <a:lnTo>
                  <a:pt x="38665" y="1258582"/>
                </a:lnTo>
                <a:lnTo>
                  <a:pt x="17791" y="1220125"/>
                </a:lnTo>
                <a:lnTo>
                  <a:pt x="4599" y="1177627"/>
                </a:lnTo>
                <a:lnTo>
                  <a:pt x="0" y="1131999"/>
                </a:lnTo>
                <a:lnTo>
                  <a:pt x="0" y="792399"/>
                </a:lnTo>
                <a:lnTo>
                  <a:pt x="0" y="226399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860897" y="2083699"/>
            <a:ext cx="8965584" cy="14414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127173" marR="6773">
              <a:lnSpc>
                <a:spcPts val="2200"/>
              </a:lnSpc>
              <a:spcBef>
                <a:spcPts val="240"/>
              </a:spcBef>
            </a:pPr>
            <a:r>
              <a:rPr spc="-7" dirty="0"/>
              <a:t>Think of this like </a:t>
            </a:r>
            <a:r>
              <a:rPr dirty="0"/>
              <a:t>a moon </a:t>
            </a:r>
            <a:r>
              <a:rPr spc="-7" dirty="0"/>
              <a:t>orbiting </a:t>
            </a:r>
            <a:r>
              <a:rPr dirty="0"/>
              <a:t>a  </a:t>
            </a:r>
            <a:r>
              <a:rPr spc="-7" dirty="0"/>
              <a:t>planet. As the planet </a:t>
            </a:r>
            <a:r>
              <a:rPr dirty="0"/>
              <a:t>moves, </a:t>
            </a:r>
            <a:r>
              <a:rPr spc="-7" dirty="0"/>
              <a:t>the </a:t>
            </a:r>
            <a:r>
              <a:rPr dirty="0"/>
              <a:t>moon  moves </a:t>
            </a:r>
            <a:r>
              <a:rPr spc="-7" dirty="0"/>
              <a:t>with it, at </a:t>
            </a:r>
            <a:r>
              <a:rPr dirty="0"/>
              <a:t>roughly a constant  </a:t>
            </a:r>
            <a:r>
              <a:rPr spc="-7" dirty="0"/>
              <a:t>distance</a:t>
            </a:r>
            <a:r>
              <a:rPr spc="-13" dirty="0"/>
              <a:t> </a:t>
            </a:r>
            <a:r>
              <a:rPr spc="-7" dirty="0"/>
              <a:t>away.</a:t>
            </a:r>
          </a:p>
        </p:txBody>
      </p:sp>
    </p:spTree>
    <p:extLst>
      <p:ext uri="{BB962C8B-B14F-4D97-AF65-F5344CB8AC3E}">
        <p14:creationId xmlns:p14="http://schemas.microsoft.com/office/powerpoint/2010/main" val="39538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1767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534160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257" y="1578797"/>
            <a:ext cx="4864947" cy="20168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68850" indent="-447875" defTabSz="1219170">
              <a:lnSpc>
                <a:spcPct val="116100"/>
              </a:lnSpc>
              <a:spcBef>
                <a:spcPts val="13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 need to transform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vertex</a:t>
            </a:r>
            <a:r>
              <a:rPr sz="1867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from  binding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pose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marR="6773" indent="-447875" defTabSz="1219170">
              <a:lnSpc>
                <a:spcPct val="116100"/>
              </a:lnSpc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Vertex position is always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constant relative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joint influencing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marR="255687" indent="-447875" defTabSz="1219170">
              <a:lnSpc>
                <a:spcPct val="116100"/>
              </a:lnSpc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Transform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local joint space, pose, 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then transform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back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1867" b="1" spc="-1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609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17167" y="2467846"/>
            <a:ext cx="4914053" cy="2796540"/>
          </a:xfrm>
          <a:custGeom>
            <a:avLst/>
            <a:gdLst/>
            <a:ahLst/>
            <a:cxnLst/>
            <a:rect l="l" t="t" r="r" b="b"/>
            <a:pathLst>
              <a:path w="3685540" h="2097404">
                <a:moveTo>
                  <a:pt x="0" y="2097390"/>
                </a:moveTo>
                <a:lnTo>
                  <a:pt x="3684994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80314" y="2363269"/>
            <a:ext cx="219495" cy="178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17167" y="5273333"/>
            <a:ext cx="748453" cy="0"/>
          </a:xfrm>
          <a:custGeom>
            <a:avLst/>
            <a:gdLst/>
            <a:ahLst/>
            <a:cxnLst/>
            <a:rect l="l" t="t" r="r" b="b"/>
            <a:pathLst>
              <a:path w="561339">
                <a:moveTo>
                  <a:pt x="0" y="0"/>
                </a:moveTo>
                <a:lnTo>
                  <a:pt x="56114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0" y="0"/>
                </a:lnTo>
                <a:lnTo>
                  <a:pt x="43225" y="15732"/>
                </a:lnTo>
                <a:lnTo>
                  <a:pt x="0" y="314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43225" y="15732"/>
                </a:lnTo>
                <a:lnTo>
                  <a:pt x="0" y="0"/>
                </a:lnTo>
                <a:lnTo>
                  <a:pt x="0" y="31465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17167" y="4564332"/>
            <a:ext cx="0" cy="709507"/>
          </a:xfrm>
          <a:custGeom>
            <a:avLst/>
            <a:gdLst/>
            <a:ahLst/>
            <a:cxnLst/>
            <a:rect l="l" t="t" r="r" b="b"/>
            <a:pathLst>
              <a:path h="532129">
                <a:moveTo>
                  <a:pt x="0" y="531749"/>
                </a:moveTo>
                <a:lnTo>
                  <a:pt x="0" y="0"/>
                </a:lnTo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0" y="43225"/>
                </a:lnTo>
                <a:lnTo>
                  <a:pt x="15732" y="0"/>
                </a:lnTo>
                <a:lnTo>
                  <a:pt x="31465" y="43225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15732" y="0"/>
                </a:lnTo>
                <a:lnTo>
                  <a:pt x="0" y="43225"/>
                </a:lnTo>
                <a:lnTo>
                  <a:pt x="31465" y="43225"/>
                </a:lnTo>
                <a:close/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7358" y="5163627"/>
            <a:ext cx="4977553" cy="947333"/>
          </a:xfrm>
          <a:prstGeom prst="rect">
            <a:avLst/>
          </a:prstGeom>
        </p:spPr>
        <p:txBody>
          <a:bodyPr vert="horz" wrap="square" lIns="0" tIns="135467" rIns="0" bIns="0" rtlCol="0">
            <a:spAutoFit/>
          </a:bodyPr>
          <a:lstStyle/>
          <a:p>
            <a:pPr marL="16933" defTabSz="1219170">
              <a:spcBef>
                <a:spcPts val="1067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1876166" defTabSz="1219170">
              <a:spcBef>
                <a:spcPts val="1200"/>
              </a:spcBef>
            </a:pP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Model (binding)</a:t>
            </a:r>
            <a:r>
              <a:rPr sz="2400" spc="-13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space.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658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8534" y="2598750"/>
            <a:ext cx="48260" cy="329353"/>
          </a:xfrm>
          <a:custGeom>
            <a:avLst/>
            <a:gdLst/>
            <a:ahLst/>
            <a:cxnLst/>
            <a:rect l="l" t="t" r="r" b="b"/>
            <a:pathLst>
              <a:path w="36195" h="247014">
                <a:moveTo>
                  <a:pt x="35908" y="0"/>
                </a:moveTo>
                <a:lnTo>
                  <a:pt x="0" y="246737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15086" y="2408600"/>
            <a:ext cx="162649" cy="2182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40613" y="2492707"/>
            <a:ext cx="586740" cy="465667"/>
          </a:xfrm>
          <a:custGeom>
            <a:avLst/>
            <a:gdLst/>
            <a:ahLst/>
            <a:cxnLst/>
            <a:rect l="l" t="t" r="r" b="b"/>
            <a:pathLst>
              <a:path w="440054" h="349250">
                <a:moveTo>
                  <a:pt x="0" y="348771"/>
                </a:moveTo>
                <a:lnTo>
                  <a:pt x="439435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13486" y="2456879"/>
            <a:ext cx="58420" cy="52493"/>
          </a:xfrm>
          <a:custGeom>
            <a:avLst/>
            <a:gdLst/>
            <a:ahLst/>
            <a:cxnLst/>
            <a:rect l="l" t="t" r="r" b="b"/>
            <a:pathLst>
              <a:path w="43815" h="39369">
                <a:moveTo>
                  <a:pt x="19561" y="39195"/>
                </a:moveTo>
                <a:lnTo>
                  <a:pt x="0" y="14548"/>
                </a:lnTo>
                <a:lnTo>
                  <a:pt x="43637" y="0"/>
                </a:lnTo>
                <a:lnTo>
                  <a:pt x="19561" y="391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13486" y="2456879"/>
            <a:ext cx="58420" cy="52493"/>
          </a:xfrm>
          <a:custGeom>
            <a:avLst/>
            <a:gdLst/>
            <a:ahLst/>
            <a:cxnLst/>
            <a:rect l="l" t="t" r="r" b="b"/>
            <a:pathLst>
              <a:path w="43815" h="39369">
                <a:moveTo>
                  <a:pt x="19561" y="39195"/>
                </a:moveTo>
                <a:lnTo>
                  <a:pt x="43637" y="0"/>
                </a:lnTo>
                <a:lnTo>
                  <a:pt x="0" y="14548"/>
                </a:lnTo>
                <a:lnTo>
                  <a:pt x="19561" y="39195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99969" y="2402235"/>
            <a:ext cx="441113" cy="556260"/>
          </a:xfrm>
          <a:custGeom>
            <a:avLst/>
            <a:gdLst/>
            <a:ahLst/>
            <a:cxnLst/>
            <a:rect l="l" t="t" r="r" b="b"/>
            <a:pathLst>
              <a:path w="330835" h="417194">
                <a:moveTo>
                  <a:pt x="330483" y="416625"/>
                </a:moveTo>
                <a:lnTo>
                  <a:pt x="0" y="0"/>
                </a:lnTo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64151" y="2357082"/>
            <a:ext cx="52493" cy="58420"/>
          </a:xfrm>
          <a:custGeom>
            <a:avLst/>
            <a:gdLst/>
            <a:ahLst/>
            <a:cxnLst/>
            <a:rect l="l" t="t" r="r" b="b"/>
            <a:pathLst>
              <a:path w="39370" h="43814">
                <a:moveTo>
                  <a:pt x="14537" y="43641"/>
                </a:moveTo>
                <a:lnTo>
                  <a:pt x="0" y="0"/>
                </a:lnTo>
                <a:lnTo>
                  <a:pt x="39188" y="24087"/>
                </a:lnTo>
                <a:lnTo>
                  <a:pt x="14537" y="43641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64151" y="2357082"/>
            <a:ext cx="52493" cy="58420"/>
          </a:xfrm>
          <a:custGeom>
            <a:avLst/>
            <a:gdLst/>
            <a:ahLst/>
            <a:cxnLst/>
            <a:rect l="l" t="t" r="r" b="b"/>
            <a:pathLst>
              <a:path w="39370" h="43814">
                <a:moveTo>
                  <a:pt x="39188" y="24087"/>
                </a:moveTo>
                <a:lnTo>
                  <a:pt x="0" y="0"/>
                </a:lnTo>
                <a:lnTo>
                  <a:pt x="14537" y="43641"/>
                </a:lnTo>
                <a:lnTo>
                  <a:pt x="39188" y="24087"/>
                </a:lnTo>
                <a:close/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5796" y="5718941"/>
            <a:ext cx="16603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Joint</a:t>
            </a:r>
            <a:r>
              <a:rPr sz="2400" spc="-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space.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385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66667" y="2918666"/>
            <a:ext cx="413173" cy="1472353"/>
          </a:xfrm>
          <a:custGeom>
            <a:avLst/>
            <a:gdLst/>
            <a:ahLst/>
            <a:cxnLst/>
            <a:rect l="l" t="t" r="r" b="b"/>
            <a:pathLst>
              <a:path w="309879" h="1104264">
                <a:moveTo>
                  <a:pt x="0" y="0"/>
                </a:moveTo>
                <a:lnTo>
                  <a:pt x="309513" y="1103915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99707" y="4246335"/>
            <a:ext cx="514891" cy="383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50134" y="4610800"/>
            <a:ext cx="748453" cy="0"/>
          </a:xfrm>
          <a:custGeom>
            <a:avLst/>
            <a:gdLst/>
            <a:ahLst/>
            <a:cxnLst/>
            <a:rect l="l" t="t" r="r" b="b"/>
            <a:pathLst>
              <a:path w="561340">
                <a:moveTo>
                  <a:pt x="0" y="0"/>
                </a:moveTo>
                <a:lnTo>
                  <a:pt x="56114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98334" y="458982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65"/>
                </a:moveTo>
                <a:lnTo>
                  <a:pt x="0" y="0"/>
                </a:lnTo>
                <a:lnTo>
                  <a:pt x="43224" y="15732"/>
                </a:lnTo>
                <a:lnTo>
                  <a:pt x="0" y="314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98334" y="458982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65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5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50133" y="3901800"/>
            <a:ext cx="0" cy="709507"/>
          </a:xfrm>
          <a:custGeom>
            <a:avLst/>
            <a:gdLst/>
            <a:ahLst/>
            <a:cxnLst/>
            <a:rect l="l" t="t" r="r" b="b"/>
            <a:pathLst>
              <a:path h="532129">
                <a:moveTo>
                  <a:pt x="0" y="531749"/>
                </a:moveTo>
                <a:lnTo>
                  <a:pt x="0" y="0"/>
                </a:lnTo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29156" y="3844166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0" y="43225"/>
                </a:lnTo>
                <a:lnTo>
                  <a:pt x="15732" y="0"/>
                </a:lnTo>
                <a:lnTo>
                  <a:pt x="31465" y="43225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29156" y="3844166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15732" y="0"/>
                </a:lnTo>
                <a:lnTo>
                  <a:pt x="0" y="43225"/>
                </a:lnTo>
                <a:lnTo>
                  <a:pt x="31465" y="43225"/>
                </a:lnTo>
                <a:close/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0346" y="5718941"/>
            <a:ext cx="17094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spc="-7" dirty="0">
                <a:solidFill>
                  <a:prstClr val="black"/>
                </a:solidFill>
                <a:latin typeface="Arial"/>
                <a:cs typeface="Arial"/>
              </a:rPr>
              <a:t>Pose</a:t>
            </a:r>
            <a:r>
              <a:rPr sz="2400" spc="-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space.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698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17167" y="4257105"/>
            <a:ext cx="5692987" cy="1016847"/>
          </a:xfrm>
          <a:custGeom>
            <a:avLst/>
            <a:gdLst/>
            <a:ahLst/>
            <a:cxnLst/>
            <a:rect l="l" t="t" r="r" b="b"/>
            <a:pathLst>
              <a:path w="4269740" h="762635">
                <a:moveTo>
                  <a:pt x="0" y="762171"/>
                </a:moveTo>
                <a:lnTo>
                  <a:pt x="4269717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80016" y="4176103"/>
            <a:ext cx="219369" cy="1620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17167" y="5273333"/>
            <a:ext cx="748453" cy="0"/>
          </a:xfrm>
          <a:custGeom>
            <a:avLst/>
            <a:gdLst/>
            <a:ahLst/>
            <a:cxnLst/>
            <a:rect l="l" t="t" r="r" b="b"/>
            <a:pathLst>
              <a:path w="561339">
                <a:moveTo>
                  <a:pt x="0" y="0"/>
                </a:moveTo>
                <a:lnTo>
                  <a:pt x="56114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0" y="0"/>
                </a:lnTo>
                <a:lnTo>
                  <a:pt x="43225" y="15732"/>
                </a:lnTo>
                <a:lnTo>
                  <a:pt x="0" y="314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43225" y="15732"/>
                </a:lnTo>
                <a:lnTo>
                  <a:pt x="0" y="0"/>
                </a:lnTo>
                <a:lnTo>
                  <a:pt x="0" y="31465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17167" y="4564332"/>
            <a:ext cx="0" cy="709507"/>
          </a:xfrm>
          <a:custGeom>
            <a:avLst/>
            <a:gdLst/>
            <a:ahLst/>
            <a:cxnLst/>
            <a:rect l="l" t="t" r="r" b="b"/>
            <a:pathLst>
              <a:path h="532129">
                <a:moveTo>
                  <a:pt x="0" y="531749"/>
                </a:moveTo>
                <a:lnTo>
                  <a:pt x="0" y="0"/>
                </a:lnTo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0" y="43225"/>
                </a:lnTo>
                <a:lnTo>
                  <a:pt x="15732" y="0"/>
                </a:lnTo>
                <a:lnTo>
                  <a:pt x="31465" y="43225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15732" y="0"/>
                </a:lnTo>
                <a:lnTo>
                  <a:pt x="0" y="43225"/>
                </a:lnTo>
                <a:lnTo>
                  <a:pt x="31465" y="43225"/>
                </a:lnTo>
                <a:close/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7358" y="5163627"/>
            <a:ext cx="4815839" cy="947333"/>
          </a:xfrm>
          <a:prstGeom prst="rect">
            <a:avLst/>
          </a:prstGeom>
        </p:spPr>
        <p:txBody>
          <a:bodyPr vert="horz" wrap="square" lIns="0" tIns="135467" rIns="0" bIns="0" rtlCol="0">
            <a:spAutoFit/>
          </a:bodyPr>
          <a:lstStyle/>
          <a:p>
            <a:pPr marL="16933" defTabSz="1219170">
              <a:spcBef>
                <a:spcPts val="1067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2037029" defTabSz="1219170">
              <a:spcBef>
                <a:spcPts val="1200"/>
              </a:spcBef>
            </a:pP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Model (pose)</a:t>
            </a:r>
            <a:r>
              <a:rPr sz="2400" spc="-13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space.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80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3977640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7" dirty="0"/>
              <a:t>The </a:t>
            </a:r>
            <a:r>
              <a:rPr sz="3733" spc="-13" dirty="0"/>
              <a:t>Binding</a:t>
            </a:r>
            <a:r>
              <a:rPr sz="3733" spc="-127" dirty="0"/>
              <a:t> </a:t>
            </a:r>
            <a:r>
              <a:rPr sz="3733" dirty="0"/>
              <a:t>Matrix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512967" y="1621807"/>
            <a:ext cx="10849187" cy="33343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binding matrix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describes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joint’s transform in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2400" b="1" spc="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626518" marR="130383" indent="-489361" defTabSz="1219170">
              <a:lnSpc>
                <a:spcPct val="114599"/>
              </a:lnSpc>
              <a:spcBef>
                <a:spcPts val="2100"/>
              </a:spcBef>
              <a:buFontTx/>
              <a:buChar char="●"/>
              <a:tabLst>
                <a:tab pos="625671" algn="l"/>
                <a:tab pos="626518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Or in other words, the binding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matrix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will transform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point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joint  into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space.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defTabSz="1219170">
              <a:spcBef>
                <a:spcPts val="60"/>
              </a:spcBef>
              <a:buClr>
                <a:srgbClr val="595959"/>
              </a:buClr>
              <a:buFont typeface="Arial"/>
              <a:buChar char="●"/>
            </a:pPr>
            <a:endParaRPr sz="213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6933" defTabSz="1219170">
              <a:spcBef>
                <a:spcPts val="7"/>
              </a:spcBef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Which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means…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626518" marR="6773" indent="-489361" defTabSz="1219170">
              <a:lnSpc>
                <a:spcPct val="114599"/>
              </a:lnSpc>
              <a:spcBef>
                <a:spcPts val="2100"/>
              </a:spcBef>
              <a:buFontTx/>
              <a:buChar char="●"/>
              <a:tabLst>
                <a:tab pos="625671" algn="l"/>
                <a:tab pos="626518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inverse binding matrix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will transform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point in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model space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point 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joint.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971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1767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625600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624518"/>
            <a:ext cx="50224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First obtain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vertex’s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1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joint: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8" y="2175697"/>
            <a:ext cx="4757420" cy="135028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773" indent="-447875" defTabSz="1219170">
              <a:lnSpc>
                <a:spcPct val="116100"/>
              </a:lnSpc>
              <a:spcBef>
                <a:spcPts val="13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Given </a:t>
            </a:r>
            <a:r>
              <a:rPr sz="1867" b="1" spc="7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r>
              <a:rPr i="1" spc="9" baseline="-33950" dirty="0">
                <a:solidFill>
                  <a:srgbClr val="595959"/>
                </a:solidFill>
                <a:latin typeface="Arial"/>
                <a:cs typeface="Arial"/>
              </a:rPr>
              <a:t>j→M</a:t>
            </a:r>
            <a:r>
              <a:rPr sz="1867" spc="7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bind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joint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j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, and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v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 the bind position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(denoted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superscript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B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),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multiply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v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the inverse  binding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matrix: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15901" y="4064001"/>
            <a:ext cx="3987799" cy="355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282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1767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625600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919133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Given </a:t>
            </a:r>
            <a:r>
              <a:rPr sz="1867" b="1" spc="7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i="1" spc="9" baseline="-33950" dirty="0">
                <a:solidFill>
                  <a:srgbClr val="595959"/>
                </a:solidFill>
                <a:latin typeface="Arial"/>
                <a:cs typeface="Arial"/>
              </a:rPr>
              <a:t>j→M</a:t>
            </a:r>
            <a:r>
              <a:rPr sz="1867" spc="7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current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pose of joint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j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, we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can  convert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v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into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current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pose by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multiplying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  by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63649" y="2822300"/>
            <a:ext cx="1892299" cy="342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12601" y="4046501"/>
            <a:ext cx="5994399" cy="35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567" y="3453318"/>
            <a:ext cx="56049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So…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0567" y="4672518"/>
            <a:ext cx="4413672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Where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K</a:t>
            </a:r>
            <a:r>
              <a:rPr i="1" baseline="-33950" dirty="0">
                <a:solidFill>
                  <a:srgbClr val="595959"/>
                </a:solidFill>
                <a:latin typeface="Arial"/>
                <a:cs typeface="Arial"/>
              </a:rPr>
              <a:t>j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known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as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skinning</a:t>
            </a:r>
            <a:r>
              <a:rPr sz="1867" spc="-2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matrix.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168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17167" y="2467846"/>
            <a:ext cx="4914053" cy="2796540"/>
          </a:xfrm>
          <a:custGeom>
            <a:avLst/>
            <a:gdLst/>
            <a:ahLst/>
            <a:cxnLst/>
            <a:rect l="l" t="t" r="r" b="b"/>
            <a:pathLst>
              <a:path w="3685540" h="2097404">
                <a:moveTo>
                  <a:pt x="0" y="2097390"/>
                </a:moveTo>
                <a:lnTo>
                  <a:pt x="3684994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80314" y="2363269"/>
            <a:ext cx="219495" cy="178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7167" y="5273333"/>
            <a:ext cx="748453" cy="0"/>
          </a:xfrm>
          <a:custGeom>
            <a:avLst/>
            <a:gdLst/>
            <a:ahLst/>
            <a:cxnLst/>
            <a:rect l="l" t="t" r="r" b="b"/>
            <a:pathLst>
              <a:path w="561339">
                <a:moveTo>
                  <a:pt x="0" y="0"/>
                </a:moveTo>
                <a:lnTo>
                  <a:pt x="56114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0" y="0"/>
                </a:lnTo>
                <a:lnTo>
                  <a:pt x="43225" y="15732"/>
                </a:lnTo>
                <a:lnTo>
                  <a:pt x="0" y="314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43225" y="15732"/>
                </a:lnTo>
                <a:lnTo>
                  <a:pt x="0" y="0"/>
                </a:lnTo>
                <a:lnTo>
                  <a:pt x="0" y="31465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17167" y="4564332"/>
            <a:ext cx="0" cy="709507"/>
          </a:xfrm>
          <a:custGeom>
            <a:avLst/>
            <a:gdLst/>
            <a:ahLst/>
            <a:cxnLst/>
            <a:rect l="l" t="t" r="r" b="b"/>
            <a:pathLst>
              <a:path h="532129">
                <a:moveTo>
                  <a:pt x="0" y="531749"/>
                </a:moveTo>
                <a:lnTo>
                  <a:pt x="0" y="0"/>
                </a:lnTo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0" y="43225"/>
                </a:lnTo>
                <a:lnTo>
                  <a:pt x="15732" y="0"/>
                </a:lnTo>
                <a:lnTo>
                  <a:pt x="31465" y="43225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15732" y="0"/>
                </a:lnTo>
                <a:lnTo>
                  <a:pt x="0" y="43225"/>
                </a:lnTo>
                <a:lnTo>
                  <a:pt x="31465" y="43225"/>
                </a:lnTo>
                <a:close/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0537" y="5773533"/>
            <a:ext cx="570935" cy="4808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487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8534" y="2598750"/>
            <a:ext cx="48260" cy="329353"/>
          </a:xfrm>
          <a:custGeom>
            <a:avLst/>
            <a:gdLst/>
            <a:ahLst/>
            <a:cxnLst/>
            <a:rect l="l" t="t" r="r" b="b"/>
            <a:pathLst>
              <a:path w="36195" h="247014">
                <a:moveTo>
                  <a:pt x="35908" y="0"/>
                </a:moveTo>
                <a:lnTo>
                  <a:pt x="0" y="246737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15086" y="2408600"/>
            <a:ext cx="162649" cy="2182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40613" y="2492707"/>
            <a:ext cx="586740" cy="465667"/>
          </a:xfrm>
          <a:custGeom>
            <a:avLst/>
            <a:gdLst/>
            <a:ahLst/>
            <a:cxnLst/>
            <a:rect l="l" t="t" r="r" b="b"/>
            <a:pathLst>
              <a:path w="440054" h="349250">
                <a:moveTo>
                  <a:pt x="0" y="348771"/>
                </a:moveTo>
                <a:lnTo>
                  <a:pt x="439435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13486" y="2456879"/>
            <a:ext cx="58420" cy="52493"/>
          </a:xfrm>
          <a:custGeom>
            <a:avLst/>
            <a:gdLst/>
            <a:ahLst/>
            <a:cxnLst/>
            <a:rect l="l" t="t" r="r" b="b"/>
            <a:pathLst>
              <a:path w="43815" h="39369">
                <a:moveTo>
                  <a:pt x="19561" y="39195"/>
                </a:moveTo>
                <a:lnTo>
                  <a:pt x="0" y="14548"/>
                </a:lnTo>
                <a:lnTo>
                  <a:pt x="43637" y="0"/>
                </a:lnTo>
                <a:lnTo>
                  <a:pt x="19561" y="391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13486" y="2456879"/>
            <a:ext cx="58420" cy="52493"/>
          </a:xfrm>
          <a:custGeom>
            <a:avLst/>
            <a:gdLst/>
            <a:ahLst/>
            <a:cxnLst/>
            <a:rect l="l" t="t" r="r" b="b"/>
            <a:pathLst>
              <a:path w="43815" h="39369">
                <a:moveTo>
                  <a:pt x="19561" y="39195"/>
                </a:moveTo>
                <a:lnTo>
                  <a:pt x="43637" y="0"/>
                </a:lnTo>
                <a:lnTo>
                  <a:pt x="0" y="14548"/>
                </a:lnTo>
                <a:lnTo>
                  <a:pt x="19561" y="39195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99969" y="2402235"/>
            <a:ext cx="441113" cy="556260"/>
          </a:xfrm>
          <a:custGeom>
            <a:avLst/>
            <a:gdLst/>
            <a:ahLst/>
            <a:cxnLst/>
            <a:rect l="l" t="t" r="r" b="b"/>
            <a:pathLst>
              <a:path w="330835" h="417194">
                <a:moveTo>
                  <a:pt x="330483" y="416625"/>
                </a:moveTo>
                <a:lnTo>
                  <a:pt x="0" y="0"/>
                </a:lnTo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64151" y="2357082"/>
            <a:ext cx="52493" cy="58420"/>
          </a:xfrm>
          <a:custGeom>
            <a:avLst/>
            <a:gdLst/>
            <a:ahLst/>
            <a:cxnLst/>
            <a:rect l="l" t="t" r="r" b="b"/>
            <a:pathLst>
              <a:path w="39370" h="43814">
                <a:moveTo>
                  <a:pt x="14537" y="43641"/>
                </a:moveTo>
                <a:lnTo>
                  <a:pt x="0" y="0"/>
                </a:lnTo>
                <a:lnTo>
                  <a:pt x="39188" y="24087"/>
                </a:lnTo>
                <a:lnTo>
                  <a:pt x="14537" y="43641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64151" y="2357082"/>
            <a:ext cx="52493" cy="58420"/>
          </a:xfrm>
          <a:custGeom>
            <a:avLst/>
            <a:gdLst/>
            <a:ahLst/>
            <a:cxnLst/>
            <a:rect l="l" t="t" r="r" b="b"/>
            <a:pathLst>
              <a:path w="39370" h="43814">
                <a:moveTo>
                  <a:pt x="39188" y="24087"/>
                </a:moveTo>
                <a:lnTo>
                  <a:pt x="0" y="0"/>
                </a:lnTo>
                <a:lnTo>
                  <a:pt x="14537" y="43641"/>
                </a:lnTo>
                <a:lnTo>
                  <a:pt x="39188" y="24087"/>
                </a:lnTo>
                <a:close/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17933" y="5773528"/>
            <a:ext cx="2156128" cy="4808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154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6749" y="5187883"/>
            <a:ext cx="147099" cy="147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358" y="5282118"/>
            <a:ext cx="665479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prstClr val="black"/>
                </a:solidFill>
                <a:latin typeface="Arial"/>
                <a:cs typeface="Arial"/>
              </a:rPr>
              <a:t>Origin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17167" y="4257105"/>
            <a:ext cx="5692987" cy="1016847"/>
          </a:xfrm>
          <a:custGeom>
            <a:avLst/>
            <a:gdLst/>
            <a:ahLst/>
            <a:cxnLst/>
            <a:rect l="l" t="t" r="r" b="b"/>
            <a:pathLst>
              <a:path w="4269740" h="762635">
                <a:moveTo>
                  <a:pt x="0" y="762171"/>
                </a:moveTo>
                <a:lnTo>
                  <a:pt x="4269717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80016" y="4176103"/>
            <a:ext cx="219369" cy="1620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7167" y="5273333"/>
            <a:ext cx="748453" cy="0"/>
          </a:xfrm>
          <a:custGeom>
            <a:avLst/>
            <a:gdLst/>
            <a:ahLst/>
            <a:cxnLst/>
            <a:rect l="l" t="t" r="r" b="b"/>
            <a:pathLst>
              <a:path w="561339">
                <a:moveTo>
                  <a:pt x="0" y="0"/>
                </a:moveTo>
                <a:lnTo>
                  <a:pt x="56114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0" y="0"/>
                </a:lnTo>
                <a:lnTo>
                  <a:pt x="43225" y="15732"/>
                </a:lnTo>
                <a:lnTo>
                  <a:pt x="0" y="314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65366" y="5252356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5"/>
                </a:moveTo>
                <a:lnTo>
                  <a:pt x="43225" y="15732"/>
                </a:lnTo>
                <a:lnTo>
                  <a:pt x="0" y="0"/>
                </a:lnTo>
                <a:lnTo>
                  <a:pt x="0" y="31465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17167" y="4564332"/>
            <a:ext cx="0" cy="709507"/>
          </a:xfrm>
          <a:custGeom>
            <a:avLst/>
            <a:gdLst/>
            <a:ahLst/>
            <a:cxnLst/>
            <a:rect l="l" t="t" r="r" b="b"/>
            <a:pathLst>
              <a:path h="532129">
                <a:moveTo>
                  <a:pt x="0" y="531749"/>
                </a:moveTo>
                <a:lnTo>
                  <a:pt x="0" y="0"/>
                </a:lnTo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0" y="43225"/>
                </a:lnTo>
                <a:lnTo>
                  <a:pt x="15732" y="0"/>
                </a:lnTo>
                <a:lnTo>
                  <a:pt x="31465" y="43225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96190" y="4506699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65" y="43225"/>
                </a:moveTo>
                <a:lnTo>
                  <a:pt x="15732" y="0"/>
                </a:lnTo>
                <a:lnTo>
                  <a:pt x="0" y="43225"/>
                </a:lnTo>
                <a:lnTo>
                  <a:pt x="31465" y="43225"/>
                </a:lnTo>
                <a:close/>
              </a:path>
            </a:pathLst>
          </a:custGeom>
          <a:ln w="9524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38383" y="5775681"/>
            <a:ext cx="4668560" cy="4979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661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1767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625600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929293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joints, average the positions of the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 skinned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each influencing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joint: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22333" y="2619767"/>
            <a:ext cx="2374899" cy="88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567" y="3758118"/>
            <a:ext cx="33324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Where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w</a:t>
            </a:r>
            <a:r>
              <a:rPr i="1" baseline="-3395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weight of joint</a:t>
            </a:r>
            <a:r>
              <a:rPr sz="1867" spc="-2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697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671767"/>
            <a:ext cx="27220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/>
              <a:t>Mathematics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601047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Concept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Equations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624518"/>
            <a:ext cx="44196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Commonly,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skinned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animation is done</a:t>
            </a:r>
            <a:r>
              <a:rPr sz="1867" spc="-1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by: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8" y="2175698"/>
            <a:ext cx="4520353" cy="1355798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Updating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skeletons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on the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CPU.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Pushing joint data to the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GPU.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marR="6773" indent="-447875" defTabSz="1219170">
              <a:lnSpc>
                <a:spcPct val="116100"/>
              </a:lnSpc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Performing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skinning calculations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vertex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567" y="3763197"/>
            <a:ext cx="5063067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skinned vertex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position is then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multiplied</a:t>
            </a:r>
            <a:r>
              <a:rPr sz="1867" spc="-1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model-view-projection matrix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obtain its  final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clip space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coordinates.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506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33189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Animation</a:t>
            </a:r>
            <a:r>
              <a:rPr sz="3733" spc="-113" dirty="0"/>
              <a:t> </a:t>
            </a:r>
            <a:r>
              <a:rPr sz="3733" spc="-7" dirty="0"/>
              <a:t>Clips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10985500" cy="3064855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 defTabSz="1219170">
              <a:spcBef>
                <a:spcPts val="552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game is driven by user input, and is therefore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unpredictable.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marR="6773" indent="-488514" defTabSz="1219170">
              <a:lnSpc>
                <a:spcPct val="114599"/>
              </a:lnSpc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Instead of lengthy animated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sequences, short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animation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clips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made ready 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be played depending on the player’s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input.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indent="-488514" defTabSz="1219170">
              <a:spcBef>
                <a:spcPts val="420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Examples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might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include…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115031" lvl="1" indent="-447875" defTabSz="1219170">
              <a:spcBef>
                <a:spcPts val="44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Walk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1115031" lvl="1" indent="-447875" defTabSz="1219170">
              <a:spcBef>
                <a:spcPts val="36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Run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1115031" lvl="1" indent="-447875" defTabSz="1219170">
              <a:spcBef>
                <a:spcPts val="36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Jump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1115031" lvl="1" indent="-447875" defTabSz="1219170">
              <a:spcBef>
                <a:spcPts val="36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Land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313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33189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Animation</a:t>
            </a:r>
            <a:r>
              <a:rPr sz="3733" spc="-113" dirty="0"/>
              <a:t> </a:t>
            </a:r>
            <a:r>
              <a:rPr sz="3733" spc="-7" dirty="0"/>
              <a:t>Clips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8477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Timelines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Creation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Playback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Interpolation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4032" y="1536634"/>
            <a:ext cx="7832365" cy="31681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244432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800" spc="-7" dirty="0">
                <a:solidFill>
                  <a:prstClr val="black"/>
                </a:solidFill>
                <a:latin typeface="Arial"/>
                <a:cs typeface="Arial"/>
              </a:rPr>
              <a:t>Image </a:t>
            </a:r>
            <a:r>
              <a:rPr sz="800" dirty="0">
                <a:solidFill>
                  <a:prstClr val="black"/>
                </a:solidFill>
                <a:latin typeface="Arial"/>
                <a:cs typeface="Arial"/>
              </a:rPr>
              <a:t>courtesy </a:t>
            </a:r>
            <a:r>
              <a:rPr sz="800" spc="-7" dirty="0">
                <a:solidFill>
                  <a:prstClr val="black"/>
                </a:solidFill>
                <a:latin typeface="Arial"/>
                <a:cs typeface="Arial"/>
              </a:rPr>
              <a:t>of</a:t>
            </a:r>
            <a:r>
              <a:rPr sz="800" spc="-9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800" spc="-7" dirty="0">
                <a:solidFill>
                  <a:prstClr val="black"/>
                </a:solidFill>
                <a:latin typeface="Arial"/>
                <a:cs typeface="Arial"/>
              </a:rPr>
              <a:t>animationmethods.wordpress.com.</a:t>
            </a:r>
            <a:endParaRPr sz="8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03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33189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Animation</a:t>
            </a:r>
            <a:r>
              <a:rPr sz="3733" spc="-113" dirty="0"/>
              <a:t> </a:t>
            </a:r>
            <a:r>
              <a:rPr sz="3733" spc="-7" dirty="0"/>
              <a:t>Clips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8477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Timelines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Creation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Playback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Interpolation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2258" y="1578798"/>
            <a:ext cx="4497493" cy="20168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100751" indent="-447875" defTabSz="1219170">
              <a:lnSpc>
                <a:spcPct val="116100"/>
              </a:lnSpc>
              <a:spcBef>
                <a:spcPts val="13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Keyframes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are points on the timeline  where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model’s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pose is</a:t>
            </a:r>
            <a:r>
              <a:rPr sz="1867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recorded.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marR="196422" indent="-447875" defTabSz="1219170">
              <a:lnSpc>
                <a:spcPct val="116100"/>
              </a:lnSpc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Poses are interpolated to fill the time  between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keyframes.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marR="6773" indent="-447875" defTabSz="1219170">
              <a:lnSpc>
                <a:spcPct val="116100"/>
              </a:lnSpc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more keyframes,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control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being exerted over the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animation.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271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33189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Animation</a:t>
            </a:r>
            <a:r>
              <a:rPr sz="3733" spc="-113" dirty="0"/>
              <a:t> </a:t>
            </a:r>
            <a:r>
              <a:rPr sz="3733" spc="-7" dirty="0"/>
              <a:t>Clips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8477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Timelines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Creation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Playback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Interpolation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624518"/>
            <a:ext cx="459909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There are three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common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types of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playback: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8" y="2175698"/>
            <a:ext cx="1561253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Looping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Ping-pong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567" y="3432998"/>
            <a:ext cx="4946227" cy="19659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6100"/>
              </a:lnSpc>
              <a:spcBef>
                <a:spcPts val="133"/>
              </a:spcBef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playing animation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considered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have  its own local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timeline.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defTabSz="1219170">
              <a:spcBef>
                <a:spcPts val="27"/>
              </a:spcBef>
            </a:pP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26518" marR="425016" indent="-448722" defTabSz="1219170">
              <a:lnSpc>
                <a:spcPct val="116100"/>
              </a:lnSpc>
              <a:buFont typeface="Arial"/>
              <a:buChar char="●"/>
              <a:tabLst>
                <a:tab pos="625671" algn="l"/>
                <a:tab pos="626518" algn="l"/>
              </a:tabLst>
            </a:pP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= 0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beginning,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= 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end  where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animation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length.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626518" indent="-448722" defTabSz="1219170">
              <a:spcBef>
                <a:spcPts val="360"/>
              </a:spcBef>
              <a:buFontTx/>
              <a:buChar char="●"/>
              <a:tabLst>
                <a:tab pos="625671" algn="l"/>
                <a:tab pos="626518" algn="l"/>
              </a:tabLst>
            </a:pP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scaled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slow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 fast</a:t>
            </a:r>
            <a:r>
              <a:rPr sz="1867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727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331893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Animation</a:t>
            </a:r>
            <a:r>
              <a:rPr sz="3733" spc="-113" dirty="0"/>
              <a:t> </a:t>
            </a:r>
            <a:r>
              <a:rPr sz="3733" spc="-7" dirty="0"/>
              <a:t>Clips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74657" y="1578798"/>
            <a:ext cx="191516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 defTabSz="1219170">
              <a:spcBef>
                <a:spcPts val="493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Timelines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Creation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Playback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464808" indent="-447875" defTabSz="1219170">
              <a:spcBef>
                <a:spcPts val="360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Interpolation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7"/>
            <a:ext cx="4721860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6100"/>
              </a:lnSpc>
              <a:spcBef>
                <a:spcPts val="133"/>
              </a:spcBef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game doesn’t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run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 the exact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rate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  animation is defined, and an animation is not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keyframed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regular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intervals.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7" y="2836097"/>
            <a:ext cx="5121487" cy="225341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26518" marR="6773" indent="-448722" defTabSz="1219170">
              <a:lnSpc>
                <a:spcPct val="116100"/>
              </a:lnSpc>
              <a:spcBef>
                <a:spcPts val="133"/>
              </a:spcBef>
              <a:buFontTx/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Thus, we need to interpolate joint  transforms between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keyframes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based on</a:t>
            </a:r>
            <a:r>
              <a:rPr sz="1867" spc="-8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t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defTabSz="1219170">
              <a:buClr>
                <a:srgbClr val="595959"/>
              </a:buClr>
              <a:buFont typeface="Arial"/>
              <a:buChar char="●"/>
            </a:pPr>
            <a:endParaRPr sz="213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6933" defTabSz="1219170">
              <a:spcBef>
                <a:spcPts val="7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Best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depends on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transform: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defTabSz="1219170"/>
            <a:endParaRPr sz="213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26518" indent="-448722" defTabSz="1219170">
              <a:spcBef>
                <a:spcPts val="7"/>
              </a:spcBef>
              <a:buFontTx/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Lerp for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translation.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626518" indent="-448722" defTabSz="1219170">
              <a:spcBef>
                <a:spcPts val="360"/>
              </a:spcBef>
              <a:buFontTx/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Slerp for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orientation.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21612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187621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7" dirty="0"/>
              <a:t>Blending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10885593" cy="19666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marR="1360558" indent="-488514" defTabSz="1219170">
              <a:lnSpc>
                <a:spcPct val="114599"/>
              </a:lnSpc>
              <a:spcBef>
                <a:spcPts val="133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believable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movement, multiple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animations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played 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simultaneously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blended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together.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indent="-488514" defTabSz="1219170">
              <a:spcBef>
                <a:spcPts val="420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For example,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character may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transitioning from walking to</a:t>
            </a:r>
            <a:r>
              <a:rPr sz="2400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running.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115031" marR="6773" lvl="1" indent="-447875" defTabSz="1219170">
              <a:lnSpc>
                <a:spcPct val="116100"/>
              </a:lnSpc>
              <a:spcBef>
                <a:spcPts val="8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 order to avoid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very visible switch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walk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cycle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run cycle,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game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execute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smooth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 between the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two.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6595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187621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7" dirty="0"/>
              <a:t>Blending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33665" y="1568468"/>
            <a:ext cx="10981267" cy="1540335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 defTabSz="1219170">
              <a:spcBef>
                <a:spcPts val="552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smooth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transition from one animation to another is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known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defTabSz="1219170">
              <a:spcBef>
                <a:spcPts val="420"/>
              </a:spcBef>
            </a:pP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cross-fading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115031" marR="6773" lvl="1" indent="-447875" defTabSz="1219170">
              <a:lnSpc>
                <a:spcPct val="116100"/>
              </a:lnSpc>
              <a:spcBef>
                <a:spcPts val="8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Over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period of time 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t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, animation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starts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 100 percent influence and ends at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percent, and  animation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B starts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ends at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100.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3592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187621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7" dirty="0"/>
              <a:t>Blending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10979573" cy="4231008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 defTabSz="1219170">
              <a:spcBef>
                <a:spcPts val="552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Another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common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type of blending is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known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additive</a:t>
            </a:r>
            <a:r>
              <a:rPr sz="2400" b="1" spc="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blending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indent="-488514" defTabSz="1219170">
              <a:spcBef>
                <a:spcPts val="420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 this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scenario,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motion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from one animation is added on top of</a:t>
            </a:r>
            <a:r>
              <a:rPr sz="2400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another.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115031" marR="6773" lvl="1" indent="-447875" defTabSz="1219170">
              <a:lnSpc>
                <a:spcPct val="116100"/>
              </a:lnSpc>
              <a:spcBef>
                <a:spcPts val="8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example,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character may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running,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at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time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“look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at” animation is added  on top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make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them look at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target.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1115031" lvl="1" indent="-447875" defTabSz="1219170">
              <a:spcBef>
                <a:spcPts val="36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character may crouch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“pick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up” animation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 blended over</a:t>
            </a:r>
            <a:r>
              <a:rPr sz="1867" spc="-8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it.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505447" marR="426709" indent="-488514" defTabSz="1219170">
              <a:lnSpc>
                <a:spcPts val="3307"/>
              </a:lnSpc>
              <a:spcBef>
                <a:spcPts val="93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Care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taken to blend animations that do not have heavy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contention 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over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joints.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indent="-488514" defTabSz="1219170">
              <a:spcBef>
                <a:spcPts val="233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Animation layers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offer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way for animations to be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restricted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portions of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defTabSz="1219170">
              <a:spcBef>
                <a:spcPts val="420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skeleton.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115031" lvl="1" indent="-447875" defTabSz="1219170">
              <a:spcBef>
                <a:spcPts val="44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example, one layer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target legs, while another targets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torso.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  <a:p>
            <a:pPr marL="1115031" lvl="1" indent="-447875" defTabSz="1219170">
              <a:spcBef>
                <a:spcPts val="360"/>
              </a:spcBef>
              <a:buFontTx/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Clever use of animation layers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lead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very complex,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believable</a:t>
            </a:r>
            <a:r>
              <a:rPr sz="1867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motion.</a:t>
            </a:r>
            <a:endParaRPr sz="1867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34780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1876213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7" dirty="0"/>
              <a:t>Blending</a:t>
            </a:r>
            <a:endParaRPr sz="3733"/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10238740" cy="17160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marR="6773" indent="-488514" defTabSz="1219170">
              <a:lnSpc>
                <a:spcPct val="114599"/>
              </a:lnSpc>
              <a:spcBef>
                <a:spcPts val="133"/>
              </a:spcBef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Mathematically,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blending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achieved by lerping between two target  transforms,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similar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lerping between frames within an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animation.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05447" marR="432636" indent="-488514" defTabSz="1219170">
              <a:lnSpc>
                <a:spcPct val="114599"/>
              </a:lnSpc>
              <a:buFontTx/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So, given pose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M</a:t>
            </a:r>
            <a:r>
              <a:rPr sz="2400" i="1" spc="-9" baseline="-32407" dirty="0">
                <a:solidFill>
                  <a:srgbClr val="595959"/>
                </a:solidFill>
                <a:latin typeface="Arial"/>
                <a:cs typeface="Arial"/>
              </a:rPr>
              <a:t>Ai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for joint </a:t>
            </a:r>
            <a:r>
              <a:rPr sz="2400" i="1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 animation A, and pose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M</a:t>
            </a:r>
            <a:r>
              <a:rPr sz="2400" i="1" spc="-9" baseline="-32407" dirty="0">
                <a:solidFill>
                  <a:srgbClr val="595959"/>
                </a:solidFill>
                <a:latin typeface="Arial"/>
                <a:cs typeface="Arial"/>
              </a:rPr>
              <a:t>Bi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for joint </a:t>
            </a:r>
            <a:r>
              <a:rPr sz="2400" i="1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  animation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22050" y="3634350"/>
            <a:ext cx="4147897" cy="3597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1219170"/>
            <a:endParaRPr sz="24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477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71767"/>
            <a:ext cx="3296920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State</a:t>
            </a:r>
            <a:r>
              <a:rPr sz="3733" spc="-120" dirty="0"/>
              <a:t> </a:t>
            </a:r>
            <a:r>
              <a:rPr sz="3733" dirty="0"/>
              <a:t>Machines</a:t>
            </a:r>
            <a:endParaRPr sz="3733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7158" y="2066325"/>
            <a:ext cx="14581687" cy="205088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10527" indent="-488514">
              <a:spcBef>
                <a:spcPts val="700"/>
              </a:spcBef>
              <a:buChar char="●"/>
              <a:tabLst>
                <a:tab pos="511374" algn="l"/>
                <a:tab pos="512221" algn="l"/>
              </a:tabLst>
            </a:pPr>
            <a:r>
              <a:rPr spc="-7" dirty="0"/>
              <a:t>At the highest level, it’s </a:t>
            </a:r>
            <a:r>
              <a:rPr dirty="0"/>
              <a:t>common </a:t>
            </a:r>
            <a:r>
              <a:rPr spc="-7" dirty="0"/>
              <a:t>to have an </a:t>
            </a:r>
            <a:r>
              <a:rPr b="1" spc="-7" dirty="0"/>
              <a:t>animation state</a:t>
            </a:r>
            <a:r>
              <a:rPr b="1" spc="20" dirty="0"/>
              <a:t> </a:t>
            </a:r>
            <a:r>
              <a:rPr b="1" spc="-7" dirty="0"/>
              <a:t>machine</a:t>
            </a:r>
            <a:r>
              <a:rPr spc="-7" dirty="0"/>
              <a:t>.</a:t>
            </a:r>
          </a:p>
          <a:p>
            <a:pPr marL="1120112" lvl="1" indent="-447875">
              <a:spcBef>
                <a:spcPts val="440"/>
              </a:spcBef>
              <a:buChar char="○"/>
              <a:tabLst>
                <a:tab pos="1120959" algn="l"/>
                <a:tab pos="112180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finite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state machine controlling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state.</a:t>
            </a:r>
            <a:endParaRPr sz="1867">
              <a:latin typeface="Arial"/>
              <a:cs typeface="Arial"/>
            </a:endParaRPr>
          </a:p>
          <a:p>
            <a:pPr marL="510527" indent="-488514">
              <a:spcBef>
                <a:spcPts val="339"/>
              </a:spcBef>
              <a:buChar char="●"/>
              <a:tabLst>
                <a:tab pos="511374" algn="l"/>
                <a:tab pos="512221" algn="l"/>
              </a:tabLst>
            </a:pPr>
            <a:r>
              <a:rPr spc="-7" dirty="0"/>
              <a:t>Responsible for </a:t>
            </a:r>
            <a:r>
              <a:rPr dirty="0"/>
              <a:t>smooth </a:t>
            </a:r>
            <a:r>
              <a:rPr spc="-7" dirty="0"/>
              <a:t>transitions between</a:t>
            </a:r>
            <a:r>
              <a:rPr spc="-27" dirty="0"/>
              <a:t> </a:t>
            </a:r>
            <a:r>
              <a:rPr dirty="0"/>
              <a:t>states.</a:t>
            </a:r>
          </a:p>
          <a:p>
            <a:pPr marL="510527" marR="596885" indent="-488514">
              <a:lnSpc>
                <a:spcPct val="114599"/>
              </a:lnSpc>
              <a:buChar char="●"/>
              <a:tabLst>
                <a:tab pos="511374" algn="l"/>
                <a:tab pos="512221" algn="l"/>
              </a:tabLst>
            </a:pPr>
            <a:r>
              <a:rPr spc="-7" dirty="0"/>
              <a:t>Individual </a:t>
            </a:r>
            <a:r>
              <a:rPr dirty="0"/>
              <a:t>states may </a:t>
            </a:r>
            <a:r>
              <a:rPr spc="-7" dirty="0"/>
              <a:t>be </a:t>
            </a:r>
            <a:r>
              <a:rPr dirty="0"/>
              <a:t>a single </a:t>
            </a:r>
            <a:r>
              <a:rPr spc="-7" dirty="0"/>
              <a:t>animation </a:t>
            </a:r>
            <a:r>
              <a:rPr dirty="0"/>
              <a:t>clip </a:t>
            </a:r>
            <a:r>
              <a:rPr spc="-7" dirty="0"/>
              <a:t>or </a:t>
            </a:r>
            <a:r>
              <a:rPr dirty="0"/>
              <a:t>a collection </a:t>
            </a:r>
            <a:r>
              <a:rPr spc="-7" dirty="0"/>
              <a:t>of blended  </a:t>
            </a:r>
            <a:r>
              <a:rPr dirty="0"/>
              <a:t>clips.</a:t>
            </a:r>
          </a:p>
          <a:p>
            <a:pPr marL="510527" indent="-488514">
              <a:spcBef>
                <a:spcPts val="420"/>
              </a:spcBef>
              <a:buChar char="●"/>
              <a:tabLst>
                <a:tab pos="511374" algn="l"/>
                <a:tab pos="512221" algn="l"/>
              </a:tabLst>
            </a:pPr>
            <a:r>
              <a:rPr spc="-7" dirty="0"/>
              <a:t>Serves as </a:t>
            </a:r>
            <a:r>
              <a:rPr dirty="0"/>
              <a:t>a simple </a:t>
            </a:r>
            <a:r>
              <a:rPr spc="-7" dirty="0"/>
              <a:t>interface for external </a:t>
            </a:r>
            <a:r>
              <a:rPr dirty="0"/>
              <a:t>systems </a:t>
            </a:r>
            <a:r>
              <a:rPr spc="-7" dirty="0"/>
              <a:t>to </a:t>
            </a:r>
            <a:r>
              <a:rPr dirty="0"/>
              <a:t>control character</a:t>
            </a:r>
            <a:r>
              <a:rPr spc="-133" dirty="0"/>
              <a:t> </a:t>
            </a:r>
            <a:r>
              <a:rPr dirty="0"/>
              <a:t>motion.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506" y="4720225"/>
            <a:ext cx="3877216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1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1715</Words>
  <Application>Microsoft Office PowerPoint</Application>
  <PresentationFormat>Widescreen</PresentationFormat>
  <Paragraphs>287</Paragraphs>
  <Slides>45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Arial</vt:lpstr>
      <vt:lpstr>Calibri</vt:lpstr>
      <vt:lpstr>Calibri Light</vt:lpstr>
      <vt:lpstr>Courier New</vt:lpstr>
      <vt:lpstr>Times New Roman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Animation and Smooth Skinning</vt:lpstr>
      <vt:lpstr>Animation</vt:lpstr>
      <vt:lpstr>Spritesheet</vt:lpstr>
      <vt:lpstr>Per-vertex animation</vt:lpstr>
      <vt:lpstr>Procedural animation</vt:lpstr>
      <vt:lpstr>Havok </vt:lpstr>
      <vt:lpstr>Bitfrost liquid simulation-&gt;Alembic-&gt;UE4</vt:lpstr>
      <vt:lpstr>Deformers</vt:lpstr>
      <vt:lpstr>Smooth skinning (Skeletal Subspace Deformation)</vt:lpstr>
      <vt:lpstr>Spaces</vt:lpstr>
      <vt:lpstr>Skeletons</vt:lpstr>
      <vt:lpstr>Skeletons</vt:lpstr>
      <vt:lpstr>Skeletons</vt:lpstr>
      <vt:lpstr>Skeletons</vt:lpstr>
      <vt:lpstr>Skeletons</vt:lpstr>
      <vt:lpstr>Skinning</vt:lpstr>
      <vt:lpstr>Mathematics</vt:lpstr>
      <vt:lpstr>Mathematics</vt:lpstr>
      <vt:lpstr>PowerPoint Presentation</vt:lpstr>
      <vt:lpstr>Mathematics</vt:lpstr>
      <vt:lpstr>PowerPoint Presentation</vt:lpstr>
      <vt:lpstr>Think of this like a moon orbiting a  planet. As the planet moves, the moon  moves with it, at roughly a constant  distance away.</vt:lpstr>
      <vt:lpstr>Mathematics</vt:lpstr>
      <vt:lpstr>PowerPoint Presentation</vt:lpstr>
      <vt:lpstr>PowerPoint Presentation</vt:lpstr>
      <vt:lpstr>PowerPoint Presentation</vt:lpstr>
      <vt:lpstr>PowerPoint Presentation</vt:lpstr>
      <vt:lpstr>The Binding Matrix</vt:lpstr>
      <vt:lpstr>Mathematics</vt:lpstr>
      <vt:lpstr>Mathematics</vt:lpstr>
      <vt:lpstr>PowerPoint Presentation</vt:lpstr>
      <vt:lpstr>PowerPoint Presentation</vt:lpstr>
      <vt:lpstr>PowerPoint Presentation</vt:lpstr>
      <vt:lpstr>Mathematics</vt:lpstr>
      <vt:lpstr>Mathematics</vt:lpstr>
      <vt:lpstr>Animation Clips</vt:lpstr>
      <vt:lpstr>Animation Clips</vt:lpstr>
      <vt:lpstr>Animation Clips</vt:lpstr>
      <vt:lpstr>Animation Clips</vt:lpstr>
      <vt:lpstr>Animation Clips</vt:lpstr>
      <vt:lpstr>Blending</vt:lpstr>
      <vt:lpstr>Blending</vt:lpstr>
      <vt:lpstr>Blending</vt:lpstr>
      <vt:lpstr>Blending</vt:lpstr>
      <vt:lpstr>State Machines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and Smooth Skinning</dc:title>
  <dc:creator>benjamin chang</dc:creator>
  <cp:lastModifiedBy>Chang, Benjamin Chia-Ming</cp:lastModifiedBy>
  <cp:revision>19</cp:revision>
  <dcterms:created xsi:type="dcterms:W3CDTF">2019-03-23T20:16:07Z</dcterms:created>
  <dcterms:modified xsi:type="dcterms:W3CDTF">2019-03-25T16:27:41Z</dcterms:modified>
</cp:coreProperties>
</file>