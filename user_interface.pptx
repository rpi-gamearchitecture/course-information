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4" r:id="rId29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634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905425" y="1184098"/>
            <a:ext cx="3748404" cy="3101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85717" y="1337436"/>
            <a:ext cx="4172564" cy="1362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176350"/>
            <a:ext cx="8193500" cy="1597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hyperlink" Target="http://www.w3.org/2000/svg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4305"/>
              </a:lnSpc>
              <a:spcBef>
                <a:spcPts val="100"/>
              </a:spcBef>
            </a:pPr>
            <a:r>
              <a:rPr spc="-10" dirty="0"/>
              <a:t>Game</a:t>
            </a:r>
            <a:r>
              <a:rPr spc="-50" dirty="0"/>
              <a:t> </a:t>
            </a:r>
            <a:r>
              <a:rPr spc="-5" dirty="0"/>
              <a:t>Architecture</a:t>
            </a:r>
          </a:p>
          <a:p>
            <a:pPr algn="ctr">
              <a:lnSpc>
                <a:spcPts val="6225"/>
              </a:lnSpc>
            </a:pPr>
            <a:r>
              <a:rPr sz="5200" spc="-5" dirty="0"/>
              <a:t>User</a:t>
            </a:r>
            <a:r>
              <a:rPr sz="5200" spc="-100" dirty="0"/>
              <a:t> </a:t>
            </a:r>
            <a:r>
              <a:rPr sz="5200" spc="-5" dirty="0"/>
              <a:t>Interface</a:t>
            </a:r>
            <a:endParaRPr sz="5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5888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Today’s</a:t>
            </a:r>
            <a:r>
              <a:rPr sz="2800" spc="-95" dirty="0"/>
              <a:t> </a:t>
            </a:r>
            <a:r>
              <a:rPr sz="2800" spc="-5" dirty="0"/>
              <a:t>Agenda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614284" cy="22256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UI: what it is and why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you’ll spend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way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more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time on it than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seems</a:t>
            </a:r>
            <a:r>
              <a:rPr sz="18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right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Architecture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Layout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Rendering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techniques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Text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Some third party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options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Homework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assignment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3262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What are we talking</a:t>
            </a:r>
            <a:r>
              <a:rPr sz="2800" spc="-95" dirty="0"/>
              <a:t> </a:t>
            </a:r>
            <a:r>
              <a:rPr sz="2800" spc="-5" dirty="0"/>
              <a:t>about?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3030220" cy="15970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Frontend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HUD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Pause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menus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The ‘macro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game’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Integrated developer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tools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077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Why it’s</a:t>
            </a:r>
            <a:r>
              <a:rPr sz="2800" spc="-95" dirty="0"/>
              <a:t> </a:t>
            </a:r>
            <a:r>
              <a:rPr sz="2800" spc="-5" dirty="0"/>
              <a:t>hard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5281930" cy="3900804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If it does it job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right,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probably don’t notice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UI does not have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lot of eyes on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Special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shortcuts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used to bypass UI during</a:t>
            </a:r>
            <a:r>
              <a:rPr sz="14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development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UI is involved in error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handling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Rarely well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tested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Certain behavior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mandated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by platform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owners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UI 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very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multi-disciplinary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Lots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room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misunderstanding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Often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slow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iteration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times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UI 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magnet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over-engineering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Getting data in and out of UI is often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over-thought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UI does not get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respect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i="1" spc="-5" dirty="0">
                <a:solidFill>
                  <a:srgbClr val="595959"/>
                </a:solidFill>
                <a:latin typeface="Arial"/>
                <a:cs typeface="Arial"/>
              </a:rPr>
              <a:t>Game Engine Architecture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does not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cover</a:t>
            </a: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Often where new programmers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start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their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career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3723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UI</a:t>
            </a:r>
            <a:r>
              <a:rPr sz="2800" spc="-90" dirty="0"/>
              <a:t> </a:t>
            </a:r>
            <a:r>
              <a:rPr sz="2800" spc="-5" dirty="0"/>
              <a:t>Architecture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05993" y="1184098"/>
            <a:ext cx="2278380" cy="20066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5915">
              <a:lnSpc>
                <a:spcPct val="100000"/>
              </a:lnSpc>
              <a:spcBef>
                <a:spcPts val="3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Widgets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Events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Animation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Retained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Immediate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Model-View-Controller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Model-View-View-Model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Thoughts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3723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UI</a:t>
            </a:r>
            <a:r>
              <a:rPr sz="2800" spc="-90" dirty="0"/>
              <a:t> </a:t>
            </a:r>
            <a:r>
              <a:rPr sz="2800" spc="-5" dirty="0"/>
              <a:t>Architecture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05993" y="1184098"/>
            <a:ext cx="2278380" cy="20066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5915">
              <a:lnSpc>
                <a:spcPct val="100000"/>
              </a:lnSpc>
              <a:spcBef>
                <a:spcPts val="3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Widgets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Events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Animation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Retained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Immediate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Model-View-Controller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Model-View-View-Model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Thoughts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5425" y="1218388"/>
            <a:ext cx="3606800" cy="3067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UI 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composed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i="1" spc="-5" dirty="0">
                <a:solidFill>
                  <a:srgbClr val="595959"/>
                </a:solidFill>
                <a:latin typeface="Arial"/>
                <a:cs typeface="Arial"/>
              </a:rPr>
              <a:t>widgets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i="1" spc="-5" dirty="0">
                <a:solidFill>
                  <a:srgbClr val="595959"/>
                </a:solidFill>
                <a:latin typeface="Arial"/>
                <a:cs typeface="Arial"/>
              </a:rPr>
              <a:t>controls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3655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Label</a:t>
            </a:r>
            <a:endParaRPr sz="1400">
              <a:latin typeface="Arial"/>
              <a:cs typeface="Arial"/>
            </a:endParaRP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Button</a:t>
            </a:r>
            <a:endParaRPr sz="1400">
              <a:latin typeface="Arial"/>
              <a:cs typeface="Arial"/>
            </a:endParaRP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Scroll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bar</a:t>
            </a:r>
            <a:endParaRPr sz="1400">
              <a:latin typeface="Arial"/>
              <a:cs typeface="Arial"/>
            </a:endParaRP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List</a:t>
            </a:r>
            <a:endParaRPr sz="1400">
              <a:latin typeface="Arial"/>
              <a:cs typeface="Arial"/>
            </a:endParaRP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595959"/>
              </a:buClr>
              <a:buFont typeface="Arial"/>
              <a:buChar char="●"/>
            </a:pP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ct val="116100"/>
              </a:lnSpc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Often parent-child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relationship.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Properties are  often inherited from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parent.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3655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Transform</a:t>
            </a:r>
            <a:endParaRPr sz="1400">
              <a:latin typeface="Arial"/>
              <a:cs typeface="Arial"/>
            </a:endParaRP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Color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3723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UI</a:t>
            </a:r>
            <a:r>
              <a:rPr sz="2800" spc="-90" dirty="0"/>
              <a:t> </a:t>
            </a:r>
            <a:r>
              <a:rPr sz="2800" spc="-5" dirty="0"/>
              <a:t>Architecture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05993" y="1184098"/>
            <a:ext cx="2278380" cy="20066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5915">
              <a:lnSpc>
                <a:spcPct val="100000"/>
              </a:lnSpc>
              <a:spcBef>
                <a:spcPts val="3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Widgets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Events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Animation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Retained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Immediate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Model-View-Controller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Model-View-View-Model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Thoughts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5425" y="1218388"/>
            <a:ext cx="3648075" cy="212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Events are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stuff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that happens to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UI: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3655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User taps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screen,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or presses</a:t>
            </a:r>
            <a:r>
              <a:rPr sz="14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button</a:t>
            </a:r>
            <a:endParaRPr sz="1400">
              <a:latin typeface="Arial"/>
              <a:cs typeface="Arial"/>
            </a:endParaRP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Player takes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damage</a:t>
            </a:r>
            <a:endParaRPr sz="1400">
              <a:latin typeface="Arial"/>
              <a:cs typeface="Arial"/>
            </a:endParaRP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Screen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resizes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ct val="116100"/>
              </a:lnSpc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Events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flow down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tree of widgets.  Parents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have option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consume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event or  pass along to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children.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3723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UI</a:t>
            </a:r>
            <a:r>
              <a:rPr sz="2800" spc="-90" dirty="0"/>
              <a:t> </a:t>
            </a:r>
            <a:r>
              <a:rPr sz="2800" spc="-5" dirty="0"/>
              <a:t>Architecture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05993" y="1184098"/>
            <a:ext cx="2278380" cy="20066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5915">
              <a:lnSpc>
                <a:spcPct val="100000"/>
              </a:lnSpc>
              <a:spcBef>
                <a:spcPts val="3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Widgets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Events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Animation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Retained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Immediate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Model-View-Controller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Model-View-View-Model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Thoughts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7314">
              <a:lnSpc>
                <a:spcPct val="116100"/>
              </a:lnSpc>
              <a:spcBef>
                <a:spcPts val="100"/>
              </a:spcBef>
            </a:pPr>
            <a:r>
              <a:rPr spc="-5" dirty="0"/>
              <a:t>Game UI loves beautiful transitions and loops.  Animation is</a:t>
            </a:r>
            <a:r>
              <a:rPr spc="-10" dirty="0"/>
              <a:t> </a:t>
            </a:r>
            <a:r>
              <a:rPr dirty="0"/>
              <a:t>key.</a:t>
            </a: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469900" indent="-336550">
              <a:lnSpc>
                <a:spcPct val="100000"/>
              </a:lnSpc>
              <a:spcBef>
                <a:spcPts val="5"/>
              </a:spcBef>
              <a:buChar char="●"/>
              <a:tabLst>
                <a:tab pos="469265" algn="l"/>
                <a:tab pos="469900" algn="l"/>
              </a:tabLst>
            </a:pPr>
            <a:r>
              <a:rPr spc="-5" dirty="0"/>
              <a:t>Transform</a:t>
            </a: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  <a:tab pos="469900" algn="l"/>
              </a:tabLst>
            </a:pPr>
            <a:r>
              <a:rPr spc="-5" dirty="0"/>
              <a:t>Color and</a:t>
            </a:r>
            <a:r>
              <a:rPr spc="-10" dirty="0"/>
              <a:t> </a:t>
            </a:r>
            <a:r>
              <a:rPr spc="-5" dirty="0"/>
              <a:t>opacity</a:t>
            </a: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  <a:tab pos="469900" algn="l"/>
              </a:tabLst>
            </a:pPr>
            <a:r>
              <a:rPr spc="-5" dirty="0"/>
              <a:t>Particle</a:t>
            </a:r>
            <a:r>
              <a:rPr spc="-10" dirty="0"/>
              <a:t> </a:t>
            </a:r>
            <a:r>
              <a:rPr dirty="0"/>
              <a:t>systems</a:t>
            </a:r>
          </a:p>
          <a:p>
            <a:pPr>
              <a:lnSpc>
                <a:spcPct val="100000"/>
              </a:lnSpc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Components of </a:t>
            </a:r>
            <a:r>
              <a:rPr dirty="0"/>
              <a:t>a </a:t>
            </a:r>
            <a:r>
              <a:rPr spc="-5" dirty="0"/>
              <a:t>basic UI animation</a:t>
            </a:r>
            <a:r>
              <a:rPr spc="-55" dirty="0"/>
              <a:t> </a:t>
            </a:r>
            <a:r>
              <a:rPr dirty="0"/>
              <a:t>system.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3655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pc="-5" dirty="0"/>
              <a:t>Animatable</a:t>
            </a:r>
            <a:r>
              <a:rPr spc="-10" dirty="0"/>
              <a:t> </a:t>
            </a:r>
            <a:r>
              <a:rPr spc="-5" dirty="0"/>
              <a:t>properties</a:t>
            </a: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  <a:tab pos="469900" algn="l"/>
              </a:tabLst>
            </a:pPr>
            <a:r>
              <a:rPr spc="-5" dirty="0"/>
              <a:t>Keyframes</a:t>
            </a: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  <a:tab pos="469900" algn="l"/>
              </a:tabLst>
            </a:pPr>
            <a:r>
              <a:rPr spc="-5" dirty="0"/>
              <a:t>Linear and Bezier</a:t>
            </a:r>
            <a:r>
              <a:rPr spc="-20" dirty="0"/>
              <a:t> </a:t>
            </a:r>
            <a:r>
              <a:rPr spc="-5" dirty="0"/>
              <a:t>interpolation</a:t>
            </a: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  <a:tab pos="469900" algn="l"/>
              </a:tabLst>
            </a:pPr>
            <a:r>
              <a:rPr spc="-5" dirty="0"/>
              <a:t>Ability to </a:t>
            </a:r>
            <a:r>
              <a:rPr dirty="0"/>
              <a:t>sync </a:t>
            </a:r>
            <a:r>
              <a:rPr spc="-5" dirty="0"/>
              <a:t>business logic to</a:t>
            </a:r>
            <a:r>
              <a:rPr spc="-80" dirty="0"/>
              <a:t> </a:t>
            </a:r>
            <a:r>
              <a:rPr spc="-5" dirty="0"/>
              <a:t>animation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3723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UI</a:t>
            </a:r>
            <a:r>
              <a:rPr sz="2800" spc="-90" dirty="0"/>
              <a:t> </a:t>
            </a:r>
            <a:r>
              <a:rPr sz="2800" spc="-5" dirty="0"/>
              <a:t>Architecture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05993" y="1184098"/>
            <a:ext cx="2278380" cy="20066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5915">
              <a:lnSpc>
                <a:spcPct val="100000"/>
              </a:lnSpc>
              <a:spcBef>
                <a:spcPts val="3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Widgets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Events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Animation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Retained</a:t>
            </a:r>
            <a:r>
              <a:rPr sz="14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mode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Immediate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Model-View-Controller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Model-View-View-Model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Thoughts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6693" y="1184098"/>
            <a:ext cx="3481070" cy="18923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5915">
              <a:lnSpc>
                <a:spcPct val="100000"/>
              </a:lnSpc>
              <a:spcBef>
                <a:spcPts val="3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UI holds long lived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state.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Widgets have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lifecycle.</a:t>
            </a:r>
            <a:endParaRPr sz="1400">
              <a:latin typeface="Arial"/>
              <a:cs typeface="Arial"/>
            </a:endParaRPr>
          </a:p>
          <a:p>
            <a:pPr marL="805815" lvl="1" indent="-320675">
              <a:lnSpc>
                <a:spcPct val="100000"/>
              </a:lnSpc>
              <a:spcBef>
                <a:spcPts val="275"/>
              </a:spcBef>
              <a:buChar char="○"/>
              <a:tabLst>
                <a:tab pos="805180" algn="l"/>
                <a:tab pos="806450" algn="l"/>
              </a:tabLst>
            </a:pP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Initialize</a:t>
            </a:r>
            <a:endParaRPr sz="1200">
              <a:latin typeface="Arial"/>
              <a:cs typeface="Arial"/>
            </a:endParaRPr>
          </a:p>
          <a:p>
            <a:pPr marL="805815" lvl="1" indent="-320675">
              <a:lnSpc>
                <a:spcPct val="100000"/>
              </a:lnSpc>
              <a:spcBef>
                <a:spcPts val="210"/>
              </a:spcBef>
              <a:buChar char="○"/>
              <a:tabLst>
                <a:tab pos="805180" algn="l"/>
                <a:tab pos="806450" algn="l"/>
              </a:tabLst>
            </a:pP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Update 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&amp;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handle</a:t>
            </a:r>
            <a:r>
              <a:rPr sz="12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events</a:t>
            </a:r>
            <a:endParaRPr sz="1200">
              <a:latin typeface="Arial"/>
              <a:cs typeface="Arial"/>
            </a:endParaRPr>
          </a:p>
          <a:p>
            <a:pPr marL="805815" lvl="1" indent="-320675">
              <a:lnSpc>
                <a:spcPct val="100000"/>
              </a:lnSpc>
              <a:spcBef>
                <a:spcPts val="210"/>
              </a:spcBef>
              <a:buChar char="○"/>
              <a:tabLst>
                <a:tab pos="805180" algn="l"/>
                <a:tab pos="806450" algn="l"/>
              </a:tabLst>
            </a:pP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Destroy</a:t>
            </a:r>
            <a:endParaRPr sz="12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04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Widgets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= special case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entities.</a:t>
            </a:r>
            <a:endParaRPr sz="1400">
              <a:latin typeface="Arial"/>
              <a:cs typeface="Arial"/>
            </a:endParaRPr>
          </a:p>
          <a:p>
            <a:pPr marL="348615" marR="5080" indent="-335915">
              <a:lnSpc>
                <a:spcPct val="116100"/>
              </a:lnSpc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How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widget implementation be  decoupled from gameplay logic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sz="14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data?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3723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UI</a:t>
            </a:r>
            <a:r>
              <a:rPr sz="2800" spc="-90" dirty="0"/>
              <a:t> </a:t>
            </a:r>
            <a:r>
              <a:rPr sz="2800" spc="-5" dirty="0"/>
              <a:t>Architecture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05993" y="1184098"/>
            <a:ext cx="2278380" cy="20066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5915">
              <a:lnSpc>
                <a:spcPct val="100000"/>
              </a:lnSpc>
              <a:spcBef>
                <a:spcPts val="3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Widgets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Events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Animation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Retained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Immediate</a:t>
            </a:r>
            <a:r>
              <a:rPr sz="1400" b="1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mode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Model-View-Controller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Model-View-View-Model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Thoughts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5425" y="1184098"/>
            <a:ext cx="3708400" cy="1958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9530">
              <a:lnSpc>
                <a:spcPct val="1161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API is like OpenGL. Every frame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 say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what  UI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need: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128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solidFill>
                  <a:srgbClr val="0000FF"/>
                </a:solidFill>
                <a:latin typeface="Courier New"/>
                <a:cs typeface="Courier New"/>
              </a:rPr>
              <a:t>if </a:t>
            </a:r>
            <a:r>
              <a:rPr sz="1400" dirty="0">
                <a:solidFill>
                  <a:srgbClr val="595959"/>
                </a:solidFill>
                <a:latin typeface="Courier New"/>
                <a:cs typeface="Courier New"/>
              </a:rPr>
              <a:t>(button(</a:t>
            </a:r>
            <a:r>
              <a:rPr sz="1400" dirty="0">
                <a:solidFill>
                  <a:srgbClr val="BE9000"/>
                </a:solidFill>
                <a:latin typeface="Courier New"/>
                <a:cs typeface="Courier New"/>
              </a:rPr>
              <a:t>“click </a:t>
            </a:r>
            <a:r>
              <a:rPr sz="1400" spc="-5" dirty="0">
                <a:solidFill>
                  <a:srgbClr val="BE9000"/>
                </a:solidFill>
                <a:latin typeface="Courier New"/>
                <a:cs typeface="Courier New"/>
              </a:rPr>
              <a:t>me”</a:t>
            </a:r>
            <a:r>
              <a:rPr sz="1400" spc="-675" dirty="0">
                <a:solidFill>
                  <a:srgbClr val="BE9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95959"/>
                </a:solidFill>
                <a:latin typeface="Courier New"/>
                <a:cs typeface="Courier New"/>
              </a:rPr>
              <a:t>, </a:t>
            </a:r>
            <a:r>
              <a:rPr sz="1400" spc="-5" dirty="0">
                <a:solidFill>
                  <a:srgbClr val="595959"/>
                </a:solidFill>
                <a:latin typeface="Courier New"/>
                <a:cs typeface="Courier New"/>
              </a:rPr>
              <a:t>100, 100))</a:t>
            </a:r>
            <a:endParaRPr sz="1400">
              <a:latin typeface="Courier New"/>
              <a:cs typeface="Courier New"/>
            </a:endParaRPr>
          </a:p>
          <a:p>
            <a:pPr marL="11938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595959"/>
                </a:solidFill>
                <a:latin typeface="Courier New"/>
                <a:cs typeface="Courier New"/>
              </a:rPr>
              <a:t>{ </a:t>
            </a:r>
            <a:r>
              <a:rPr sz="1400" spc="-5" dirty="0">
                <a:solidFill>
                  <a:srgbClr val="6AA84F"/>
                </a:solidFill>
                <a:latin typeface="Courier New"/>
                <a:cs typeface="Courier New"/>
              </a:rPr>
              <a:t>/* handle the click */</a:t>
            </a:r>
            <a:r>
              <a:rPr sz="1400" spc="340" dirty="0">
                <a:solidFill>
                  <a:srgbClr val="6AA84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95959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 marR="5080">
              <a:lnSpc>
                <a:spcPct val="116100"/>
              </a:lnSpc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don’t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say something,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it won’t exist. No UI 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state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lives longer than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1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frame.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3723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UI</a:t>
            </a:r>
            <a:r>
              <a:rPr sz="2800" spc="-90" dirty="0"/>
              <a:t> </a:t>
            </a:r>
            <a:r>
              <a:rPr sz="2800" spc="-5" dirty="0"/>
              <a:t>Architecture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05993" y="1184098"/>
            <a:ext cx="2278380" cy="20066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5915">
              <a:lnSpc>
                <a:spcPct val="100000"/>
              </a:lnSpc>
              <a:spcBef>
                <a:spcPts val="3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Widgets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Events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Animation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Retained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Immediate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Model-View-Controller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Model-View-View-Model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Thoughts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5425" y="1184098"/>
            <a:ext cx="3312795" cy="146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How do we decouple gameplay logic from  widget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implementation?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469900" indent="-336550">
              <a:lnSpc>
                <a:spcPct val="100000"/>
              </a:lnSpc>
              <a:spcBef>
                <a:spcPts val="5"/>
              </a:spcBef>
              <a:buChar char="●"/>
              <a:tabLst>
                <a:tab pos="469265" algn="l"/>
                <a:tab pos="46990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 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Gameplay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logic/data</a:t>
            </a:r>
            <a:endParaRPr sz="1400">
              <a:latin typeface="Arial"/>
              <a:cs typeface="Arial"/>
            </a:endParaRP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View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presentation</a:t>
            </a:r>
            <a:endParaRPr sz="1400">
              <a:latin typeface="Arial"/>
              <a:cs typeface="Arial"/>
            </a:endParaRP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Controller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Input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processing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05523" y="2718450"/>
            <a:ext cx="2053649" cy="22586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3723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UI</a:t>
            </a:r>
            <a:r>
              <a:rPr sz="2800" spc="-90" dirty="0"/>
              <a:t> </a:t>
            </a:r>
            <a:r>
              <a:rPr sz="2800" spc="-5" dirty="0"/>
              <a:t>Architecture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05993" y="1184098"/>
            <a:ext cx="2376805" cy="20066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5915">
              <a:lnSpc>
                <a:spcPct val="100000"/>
              </a:lnSpc>
              <a:spcBef>
                <a:spcPts val="3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Widgets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Events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Animation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Retained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Immediate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Model-View-Controller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Model-View-View-Model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Thoughts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5425" y="1184098"/>
            <a:ext cx="3312795" cy="146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How do we decouple gameplay logic from  widget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implementation?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469900" indent="-336550">
              <a:lnSpc>
                <a:spcPct val="100000"/>
              </a:lnSpc>
              <a:spcBef>
                <a:spcPts val="5"/>
              </a:spcBef>
              <a:buChar char="●"/>
              <a:tabLst>
                <a:tab pos="469265" algn="l"/>
                <a:tab pos="46990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 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Gameplay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logic/data</a:t>
            </a:r>
            <a:endParaRPr sz="1400">
              <a:latin typeface="Arial"/>
              <a:cs typeface="Arial"/>
            </a:endParaRP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View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presentation</a:t>
            </a:r>
            <a:endParaRPr sz="1400">
              <a:latin typeface="Arial"/>
              <a:cs typeface="Arial"/>
            </a:endParaRPr>
          </a:p>
          <a:p>
            <a:pPr marL="469900" indent="-336550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  <a:tab pos="4699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View-model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Binding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layer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43074" y="3227299"/>
            <a:ext cx="4571218" cy="12918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3723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UI</a:t>
            </a:r>
            <a:r>
              <a:rPr sz="2800" spc="-90" dirty="0"/>
              <a:t> </a:t>
            </a:r>
            <a:r>
              <a:rPr sz="2800" spc="-5" dirty="0"/>
              <a:t>Architecture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05993" y="1184098"/>
            <a:ext cx="2278380" cy="20066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5915">
              <a:lnSpc>
                <a:spcPct val="100000"/>
              </a:lnSpc>
              <a:spcBef>
                <a:spcPts val="3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Widgets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Events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Animation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Retained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Immediate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Model-View-Controller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Model-View-View-Model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Thoughts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6693" y="1184098"/>
            <a:ext cx="3585845" cy="15113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5915">
              <a:lnSpc>
                <a:spcPct val="100000"/>
              </a:lnSpc>
              <a:spcBef>
                <a:spcPts val="3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retained mode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complex</a:t>
            </a:r>
            <a:r>
              <a:rPr sz="14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UI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 immediate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simple</a:t>
            </a:r>
            <a:r>
              <a:rPr sz="14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UI</a:t>
            </a:r>
            <a:endParaRPr sz="1400">
              <a:latin typeface="Arial"/>
              <a:cs typeface="Arial"/>
            </a:endParaRPr>
          </a:p>
          <a:p>
            <a:pPr marL="348615" indent="-335915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Animation is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essential</a:t>
            </a:r>
            <a:endParaRPr sz="1400">
              <a:latin typeface="Arial"/>
              <a:cs typeface="Arial"/>
            </a:endParaRPr>
          </a:p>
          <a:p>
            <a:pPr marL="348615" marR="5080" indent="-335915">
              <a:lnSpc>
                <a:spcPct val="116100"/>
              </a:lnSpc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Adapting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MVC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MVVM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formalism is</a:t>
            </a:r>
            <a:r>
              <a:rPr sz="14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not 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required --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just have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standard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way of  integrating UI with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your</a:t>
            </a:r>
            <a:r>
              <a:rPr sz="14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game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0928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Layout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6778625" cy="3272154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Layout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Location of UI widgets on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screen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Layout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 pixel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perfect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Single transform path for all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widgets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Know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pixel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center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convention</a:t>
            </a:r>
            <a:endParaRPr sz="14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Direct3D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9 =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pixel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center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0,0</a:t>
            </a:r>
            <a:endParaRPr sz="14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Direct3D 10+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pixel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center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0.5,0.5</a:t>
            </a:r>
            <a:endParaRPr sz="14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OpenGL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pixel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center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0.5,0.5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Console games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fixed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resolution = static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layout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This is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trivial.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PC 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mobile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games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= variety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resolutions =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dynamic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layout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Don’t want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manually specify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layout for all possible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resolutions.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This is the focus of the next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couple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slides.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5736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Dynamic</a:t>
            </a:r>
            <a:r>
              <a:rPr sz="2800" spc="-85" dirty="0"/>
              <a:t> </a:t>
            </a:r>
            <a:r>
              <a:rPr sz="2800" spc="-5" dirty="0"/>
              <a:t>Layout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015605" cy="2940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UI is authored at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some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expected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resolution 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800" i="1" spc="5" dirty="0">
                <a:solidFill>
                  <a:srgbClr val="595959"/>
                </a:solidFill>
                <a:latin typeface="Arial"/>
                <a:cs typeface="Arial"/>
              </a:rPr>
              <a:t>E</a:t>
            </a:r>
            <a:r>
              <a:rPr sz="1800" i="1" spc="7" baseline="-32407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E</a:t>
            </a:r>
            <a:r>
              <a:rPr sz="1800" i="1" baseline="-32407" dirty="0">
                <a:solidFill>
                  <a:srgbClr val="595959"/>
                </a:solidFill>
                <a:latin typeface="Arial"/>
                <a:cs typeface="Arial"/>
              </a:rPr>
              <a:t>y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).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UI is displayed at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some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actual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resolution 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800" i="1" spc="5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i="1" spc="7" baseline="-32407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i="1" baseline="-32407" dirty="0">
                <a:solidFill>
                  <a:srgbClr val="595959"/>
                </a:solidFill>
                <a:latin typeface="Arial"/>
                <a:cs typeface="Arial"/>
              </a:rPr>
              <a:t>y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).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Handy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operations: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Scale: </a:t>
            </a: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Position</a:t>
            </a:r>
            <a:r>
              <a:rPr sz="1800" i="1" spc="-7" baseline="-32407" dirty="0">
                <a:solidFill>
                  <a:srgbClr val="595959"/>
                </a:solidFill>
                <a:latin typeface="Arial"/>
                <a:cs typeface="Arial"/>
              </a:rPr>
              <a:t>Actual 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= </a:t>
            </a: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Position</a:t>
            </a:r>
            <a:r>
              <a:rPr sz="1800" i="1" spc="-7" baseline="-32407" dirty="0">
                <a:solidFill>
                  <a:srgbClr val="595959"/>
                </a:solidFill>
                <a:latin typeface="Arial"/>
                <a:cs typeface="Arial"/>
              </a:rPr>
              <a:t>Expected 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* A</a:t>
            </a:r>
            <a:r>
              <a:rPr sz="1800" i="1" baseline="-32407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sz="1800" i="1" spc="-1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E</a:t>
            </a:r>
            <a:r>
              <a:rPr sz="1800" i="1" baseline="-32407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endParaRPr sz="1800" baseline="-32407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Scale: </a:t>
            </a: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Position</a:t>
            </a:r>
            <a:r>
              <a:rPr sz="1800" i="1" spc="-7" baseline="-32407" dirty="0">
                <a:solidFill>
                  <a:srgbClr val="595959"/>
                </a:solidFill>
                <a:latin typeface="Arial"/>
                <a:cs typeface="Arial"/>
              </a:rPr>
              <a:t>Actual 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= </a:t>
            </a: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Position</a:t>
            </a:r>
            <a:r>
              <a:rPr sz="1800" i="1" spc="-7" baseline="-32407" dirty="0">
                <a:solidFill>
                  <a:srgbClr val="595959"/>
                </a:solidFill>
                <a:latin typeface="Arial"/>
                <a:cs typeface="Arial"/>
              </a:rPr>
              <a:t>Expected 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* A</a:t>
            </a:r>
            <a:r>
              <a:rPr sz="1800" i="1" baseline="-32407" dirty="0">
                <a:solidFill>
                  <a:srgbClr val="595959"/>
                </a:solidFill>
                <a:latin typeface="Arial"/>
                <a:cs typeface="Arial"/>
              </a:rPr>
              <a:t>y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sz="1800" i="1" spc="-1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E</a:t>
            </a:r>
            <a:r>
              <a:rPr sz="1800" i="1" baseline="-32407" dirty="0">
                <a:solidFill>
                  <a:srgbClr val="595959"/>
                </a:solidFill>
                <a:latin typeface="Arial"/>
                <a:cs typeface="Arial"/>
              </a:rPr>
              <a:t>y</a:t>
            </a:r>
            <a:endParaRPr sz="1800" baseline="-32407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All Scale: </a:t>
            </a: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Position</a:t>
            </a:r>
            <a:r>
              <a:rPr sz="1800" i="1" spc="-7" baseline="-32407" dirty="0">
                <a:solidFill>
                  <a:srgbClr val="595959"/>
                </a:solidFill>
                <a:latin typeface="Arial"/>
                <a:cs typeface="Arial"/>
              </a:rPr>
              <a:t>Actual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= </a:t>
            </a: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Position</a:t>
            </a:r>
            <a:r>
              <a:rPr sz="1800" i="1" spc="-7" baseline="-32407" dirty="0">
                <a:solidFill>
                  <a:srgbClr val="595959"/>
                </a:solidFill>
                <a:latin typeface="Arial"/>
                <a:cs typeface="Arial"/>
              </a:rPr>
              <a:t>ExpectedX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* A</a:t>
            </a:r>
            <a:r>
              <a:rPr sz="1800" i="1" baseline="-32407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/ E</a:t>
            </a:r>
            <a:r>
              <a:rPr sz="1800" i="1" baseline="-32407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Position</a:t>
            </a:r>
            <a:r>
              <a:rPr sz="1800" i="1" spc="-7" baseline="-32407" dirty="0">
                <a:solidFill>
                  <a:srgbClr val="595959"/>
                </a:solidFill>
                <a:latin typeface="Arial"/>
                <a:cs typeface="Arial"/>
              </a:rPr>
              <a:t>ExpectedY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* A</a:t>
            </a:r>
            <a:r>
              <a:rPr sz="1800" i="1" baseline="-32407" dirty="0">
                <a:solidFill>
                  <a:srgbClr val="595959"/>
                </a:solidFill>
                <a:latin typeface="Arial"/>
                <a:cs typeface="Arial"/>
              </a:rPr>
              <a:t>y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sz="1800" i="1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E</a:t>
            </a:r>
            <a:r>
              <a:rPr sz="1800" i="1" baseline="-32407" dirty="0">
                <a:solidFill>
                  <a:srgbClr val="595959"/>
                </a:solidFill>
                <a:latin typeface="Arial"/>
                <a:cs typeface="Arial"/>
              </a:rPr>
              <a:t>y</a:t>
            </a:r>
            <a:endParaRPr sz="1800" baseline="-32407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X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Anchor: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Position</a:t>
            </a:r>
            <a:r>
              <a:rPr sz="1800" baseline="-32407" dirty="0">
                <a:solidFill>
                  <a:srgbClr val="595959"/>
                </a:solidFill>
                <a:latin typeface="Arial"/>
                <a:cs typeface="Arial"/>
              </a:rPr>
              <a:t>X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+=</a:t>
            </a:r>
            <a:r>
              <a:rPr sz="1800" spc="-2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Position</a:t>
            </a:r>
            <a:r>
              <a:rPr sz="1800" u="heavy" spc="-7" baseline="-32407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ParentX</a:t>
            </a:r>
            <a:endParaRPr sz="1800" baseline="-32407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Anchor: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Position</a:t>
            </a:r>
            <a:r>
              <a:rPr sz="1800" baseline="-32407" dirty="0">
                <a:solidFill>
                  <a:srgbClr val="595959"/>
                </a:solidFill>
                <a:latin typeface="Arial"/>
                <a:cs typeface="Arial"/>
              </a:rPr>
              <a:t>Y 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+=</a:t>
            </a:r>
            <a:r>
              <a:rPr sz="1800" spc="-2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Position</a:t>
            </a:r>
            <a:r>
              <a:rPr sz="1800" u="heavy" spc="-7" baseline="-32407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ParentY</a:t>
            </a:r>
            <a:endParaRPr sz="1800" baseline="-32407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8086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Layout</a:t>
            </a:r>
            <a:r>
              <a:rPr sz="2800" spc="-85" dirty="0"/>
              <a:t> </a:t>
            </a:r>
            <a:r>
              <a:rPr sz="2800" spc="-5" dirty="0"/>
              <a:t>Transform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033384" cy="2566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World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space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widget transform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= </a:t>
            </a: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[Pivot]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* </a:t>
            </a: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[Translation]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* </a:t>
            </a: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[Scale]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* </a:t>
            </a: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[Rot]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*</a:t>
            </a:r>
            <a:r>
              <a:rPr sz="1800" i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[Parent]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[Pivot]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= -Widget</a:t>
            </a:r>
            <a:r>
              <a:rPr sz="1800" i="1" baseline="-32407" dirty="0">
                <a:solidFill>
                  <a:srgbClr val="595959"/>
                </a:solidFill>
                <a:latin typeface="Arial"/>
                <a:cs typeface="Arial"/>
              </a:rPr>
              <a:t>Pivot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*</a:t>
            </a:r>
            <a:r>
              <a:rPr sz="1800" i="1" spc="-1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Widget</a:t>
            </a:r>
            <a:r>
              <a:rPr sz="1800" i="1" spc="-7" baseline="-32407" dirty="0">
                <a:solidFill>
                  <a:srgbClr val="595959"/>
                </a:solidFill>
                <a:latin typeface="Arial"/>
                <a:cs typeface="Arial"/>
              </a:rPr>
              <a:t>Bounds</a:t>
            </a:r>
            <a:endParaRPr sz="1800" baseline="-32407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[Translation]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= </a:t>
            </a: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Widget</a:t>
            </a:r>
            <a:r>
              <a:rPr sz="1800" i="1" spc="-7" baseline="-32407" dirty="0">
                <a:solidFill>
                  <a:srgbClr val="595959"/>
                </a:solidFill>
                <a:latin typeface="Arial"/>
                <a:cs typeface="Arial"/>
              </a:rPr>
              <a:t>Position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* </a:t>
            </a: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Dynamic_Scale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+</a:t>
            </a:r>
            <a:r>
              <a:rPr sz="1800" i="1" spc="-1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Dynamic_Anchor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Dynamic_Scale 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scaling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induced expected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resolution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!= actual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resolution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Dynamic_Anchor is locating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widget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relative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expected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resolution</a:t>
            </a:r>
            <a:endParaRPr sz="14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[Scale]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Widget</a:t>
            </a:r>
            <a:r>
              <a:rPr sz="1800" i="1" spc="-7" baseline="-32407" dirty="0">
                <a:solidFill>
                  <a:srgbClr val="595959"/>
                </a:solidFill>
                <a:latin typeface="Arial"/>
                <a:cs typeface="Arial"/>
              </a:rPr>
              <a:t>Scale</a:t>
            </a:r>
            <a:endParaRPr sz="1800" baseline="-32407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[Rot] </a:t>
            </a:r>
            <a:r>
              <a:rPr sz="1800" i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800" i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Widget</a:t>
            </a:r>
            <a:r>
              <a:rPr sz="1800" i="1" spc="-7" baseline="-32407" dirty="0">
                <a:solidFill>
                  <a:srgbClr val="595959"/>
                </a:solidFill>
                <a:latin typeface="Arial"/>
                <a:cs typeface="Arial"/>
              </a:rPr>
              <a:t>Rotation</a:t>
            </a:r>
            <a:endParaRPr sz="1800" baseline="-32407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i="1" spc="-5" dirty="0">
                <a:solidFill>
                  <a:srgbClr val="595959"/>
                </a:solidFill>
                <a:latin typeface="Arial"/>
                <a:cs typeface="Arial"/>
              </a:rPr>
              <a:t>[Parent]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Parent widget local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transform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4810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Rendering</a:t>
            </a:r>
            <a:r>
              <a:rPr sz="2800" spc="-85" dirty="0"/>
              <a:t> </a:t>
            </a:r>
            <a:r>
              <a:rPr sz="2800" spc="-5" dirty="0"/>
              <a:t>techniques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5610860" cy="287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UI wants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smooth,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pixel perfect edges. Even if we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scale.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Bitmap graphics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mapping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texture onto</a:t>
            </a:r>
            <a:r>
              <a:rPr sz="18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geometry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E.g. how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game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renders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stuff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Alpha tested textures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widget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edges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Really big textures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so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we never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upscale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Or,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signed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distance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fields</a:t>
            </a:r>
            <a:endParaRPr sz="1400">
              <a:latin typeface="Arial"/>
              <a:cs typeface="Arial"/>
            </a:endParaRPr>
          </a:p>
          <a:p>
            <a:pPr marL="469900" indent="-336550">
              <a:lnSpc>
                <a:spcPct val="100000"/>
              </a:lnSpc>
              <a:spcBef>
                <a:spcPts val="254"/>
              </a:spcBef>
              <a:buSzPct val="77777"/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Vector graphics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analytically describing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edges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Parametric equations describe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edges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Scaling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(and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other transforms) are always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perfect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Rendering and authoring 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more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complicated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6550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Signed </a:t>
            </a:r>
            <a:r>
              <a:rPr sz="2800" spc="-5" dirty="0"/>
              <a:t>Distance</a:t>
            </a:r>
            <a:r>
              <a:rPr sz="2800" spc="-85" dirty="0"/>
              <a:t> </a:t>
            </a:r>
            <a:r>
              <a:rPr sz="2800" spc="-5" dirty="0"/>
              <a:t>Fields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5" y="1218388"/>
            <a:ext cx="8346440" cy="1877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Richard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Mitton’s</a:t>
            </a:r>
            <a:r>
              <a:rPr sz="1400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description: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 marR="197485" algn="just">
              <a:lnSpc>
                <a:spcPct val="116100"/>
              </a:lnSpc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“Imagine you've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got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black-and-white image, where let's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black parts are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considered </a:t>
            </a:r>
            <a:r>
              <a:rPr sz="1400" i="1" spc="-5" dirty="0">
                <a:solidFill>
                  <a:srgbClr val="595959"/>
                </a:solidFill>
                <a:latin typeface="Arial"/>
                <a:cs typeface="Arial"/>
              </a:rPr>
              <a:t>inside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, and  the white parts are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considered </a:t>
            </a:r>
            <a:r>
              <a:rPr sz="1400" i="1" spc="-5" dirty="0">
                <a:solidFill>
                  <a:srgbClr val="595959"/>
                </a:solidFill>
                <a:latin typeface="Arial"/>
                <a:cs typeface="Arial"/>
              </a:rPr>
              <a:t>outside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. What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want 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quick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 looking up how far it is from  any given point to the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inside.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ct val="116100"/>
              </a:lnSpc>
              <a:spcBef>
                <a:spcPts val="5"/>
              </a:spcBef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“A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SDF is just an image where each pixel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contains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distance to the nearest point on the boundary. So if 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pixel is </a:t>
            </a:r>
            <a:r>
              <a:rPr sz="1400" i="1" spc="-5" dirty="0">
                <a:solidFill>
                  <a:srgbClr val="595959"/>
                </a:solidFill>
                <a:latin typeface="Arial"/>
                <a:cs typeface="Arial"/>
              </a:rPr>
              <a:t>outside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, it'll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contain maybe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+10 if it's 10 pixels away. If it's </a:t>
            </a:r>
            <a:r>
              <a:rPr sz="1400" i="1" spc="-5" dirty="0">
                <a:solidFill>
                  <a:srgbClr val="595959"/>
                </a:solidFill>
                <a:latin typeface="Arial"/>
                <a:cs typeface="Arial"/>
              </a:rPr>
              <a:t>inside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, it'll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contain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-10.”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52976" y="3391706"/>
            <a:ext cx="1651343" cy="14744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85825" y="3302662"/>
            <a:ext cx="1648174" cy="16481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81724" y="4043750"/>
            <a:ext cx="737870" cy="259715"/>
          </a:xfrm>
          <a:custGeom>
            <a:avLst/>
            <a:gdLst/>
            <a:ahLst/>
            <a:cxnLst/>
            <a:rect l="l" t="t" r="r" b="b"/>
            <a:pathLst>
              <a:path w="737870" h="259714">
                <a:moveTo>
                  <a:pt x="607949" y="259499"/>
                </a:moveTo>
                <a:lnTo>
                  <a:pt x="607949" y="194624"/>
                </a:lnTo>
                <a:lnTo>
                  <a:pt x="0" y="194624"/>
                </a:lnTo>
                <a:lnTo>
                  <a:pt x="0" y="64874"/>
                </a:lnTo>
                <a:lnTo>
                  <a:pt x="607949" y="64874"/>
                </a:lnTo>
                <a:lnTo>
                  <a:pt x="607949" y="0"/>
                </a:lnTo>
                <a:lnTo>
                  <a:pt x="737699" y="129749"/>
                </a:lnTo>
                <a:lnTo>
                  <a:pt x="607949" y="2594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81724" y="4043750"/>
            <a:ext cx="737870" cy="259715"/>
          </a:xfrm>
          <a:custGeom>
            <a:avLst/>
            <a:gdLst/>
            <a:ahLst/>
            <a:cxnLst/>
            <a:rect l="l" t="t" r="r" b="b"/>
            <a:pathLst>
              <a:path w="737870" h="259714">
                <a:moveTo>
                  <a:pt x="0" y="64874"/>
                </a:moveTo>
                <a:lnTo>
                  <a:pt x="607949" y="64874"/>
                </a:lnTo>
                <a:lnTo>
                  <a:pt x="607949" y="0"/>
                </a:lnTo>
                <a:lnTo>
                  <a:pt x="737699" y="129749"/>
                </a:lnTo>
                <a:lnTo>
                  <a:pt x="607949" y="259499"/>
                </a:lnTo>
                <a:lnTo>
                  <a:pt x="607949" y="194624"/>
                </a:lnTo>
                <a:lnTo>
                  <a:pt x="0" y="194624"/>
                </a:lnTo>
                <a:lnTo>
                  <a:pt x="0" y="64874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6970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Signed </a:t>
            </a:r>
            <a:r>
              <a:rPr sz="2800" spc="-5" dirty="0"/>
              <a:t>Distance Fields </a:t>
            </a:r>
            <a:r>
              <a:rPr sz="2800" spc="-10" dirty="0"/>
              <a:t>Part</a:t>
            </a:r>
            <a:r>
              <a:rPr sz="2800" spc="-85" dirty="0"/>
              <a:t> </a:t>
            </a:r>
            <a:r>
              <a:rPr sz="2800" dirty="0"/>
              <a:t>2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122284" cy="2452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draw widget with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SDF: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Enable linear interpolation for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textures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Enable alpha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test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fragment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shader: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sampled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SDF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value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&lt;= 0,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draw</a:t>
            </a:r>
            <a:endParaRPr sz="14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Else,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discard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GPU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smoothly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interpolate gradients like those in SDF,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edges are</a:t>
            </a:r>
            <a:r>
              <a:rPr sz="18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perfect.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4911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Vector</a:t>
            </a:r>
            <a:r>
              <a:rPr sz="2800" spc="-85" dirty="0"/>
              <a:t> </a:t>
            </a:r>
            <a:r>
              <a:rPr sz="2800" spc="-5" dirty="0"/>
              <a:t>graphics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5310505" cy="112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domain-specific, high level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rendering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primitives: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TrueType font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Bezier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control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points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Scalable Vector Graphics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(SVG) 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Basic</a:t>
            </a:r>
            <a:r>
              <a:rPr sz="18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shapes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544395"/>
            <a:ext cx="7090409" cy="105410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00" spc="-10" dirty="0">
                <a:solidFill>
                  <a:srgbClr val="595959"/>
                </a:solidFill>
                <a:latin typeface="Courier New"/>
                <a:cs typeface="Courier New"/>
              </a:rPr>
              <a:t>&lt;</a:t>
            </a:r>
            <a:r>
              <a:rPr sz="1000" spc="-10" dirty="0">
                <a:solidFill>
                  <a:srgbClr val="37761C"/>
                </a:solidFill>
                <a:latin typeface="Courier New"/>
                <a:cs typeface="Courier New"/>
              </a:rPr>
              <a:t>svg </a:t>
            </a:r>
            <a:r>
              <a:rPr sz="1000" spc="-10" dirty="0">
                <a:solidFill>
                  <a:srgbClr val="595959"/>
                </a:solidFill>
                <a:latin typeface="Courier New"/>
                <a:cs typeface="Courier New"/>
              </a:rPr>
              <a:t>xmlns=</a:t>
            </a:r>
            <a:r>
              <a:rPr sz="1000" spc="-10" dirty="0">
                <a:solidFill>
                  <a:srgbClr val="980000"/>
                </a:solidFill>
                <a:latin typeface="Courier New"/>
                <a:cs typeface="Courier New"/>
                <a:hlinkClick r:id="rId2"/>
              </a:rPr>
              <a:t>"http://www.w3.org/2000/svg"</a:t>
            </a:r>
            <a:r>
              <a:rPr sz="1000" spc="-455" dirty="0">
                <a:solidFill>
                  <a:srgbClr val="980000"/>
                </a:solidFill>
                <a:latin typeface="Courier New"/>
                <a:cs typeface="Courier New"/>
                <a:hlinkClick r:id="rId2"/>
              </a:rPr>
              <a:t> </a:t>
            </a:r>
            <a:r>
              <a:rPr sz="1000" spc="-20" dirty="0">
                <a:solidFill>
                  <a:srgbClr val="595959"/>
                </a:solidFill>
                <a:latin typeface="Courier New"/>
                <a:cs typeface="Courier New"/>
              </a:rPr>
              <a:t>version=</a:t>
            </a:r>
            <a:r>
              <a:rPr sz="1000" spc="-20" dirty="0">
                <a:solidFill>
                  <a:srgbClr val="980000"/>
                </a:solidFill>
                <a:latin typeface="Courier New"/>
                <a:cs typeface="Courier New"/>
              </a:rPr>
              <a:t>"1.1"</a:t>
            </a:r>
            <a:r>
              <a:rPr sz="1000" spc="-20" dirty="0">
                <a:solidFill>
                  <a:srgbClr val="595959"/>
                </a:solidFill>
                <a:latin typeface="Courier New"/>
                <a:cs typeface="Courier New"/>
              </a:rPr>
              <a:t>&gt;</a:t>
            </a:r>
            <a:endParaRPr sz="100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  <a:spcBef>
                <a:spcPts val="150"/>
              </a:spcBef>
            </a:pP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&lt;</a:t>
            </a:r>
            <a:r>
              <a:rPr sz="1000" spc="-15" dirty="0">
                <a:solidFill>
                  <a:srgbClr val="37761C"/>
                </a:solidFill>
                <a:latin typeface="Courier New"/>
                <a:cs typeface="Courier New"/>
              </a:rPr>
              <a:t>rect </a:t>
            </a: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x=</a:t>
            </a:r>
            <a:r>
              <a:rPr sz="1000" spc="-15" dirty="0">
                <a:solidFill>
                  <a:srgbClr val="980000"/>
                </a:solidFill>
                <a:latin typeface="Courier New"/>
                <a:cs typeface="Courier New"/>
              </a:rPr>
              <a:t>"25" </a:t>
            </a: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y=</a:t>
            </a:r>
            <a:r>
              <a:rPr sz="1000" spc="-15" dirty="0">
                <a:solidFill>
                  <a:srgbClr val="980000"/>
                </a:solidFill>
                <a:latin typeface="Courier New"/>
                <a:cs typeface="Courier New"/>
              </a:rPr>
              <a:t>"25" </a:t>
            </a: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width=</a:t>
            </a:r>
            <a:r>
              <a:rPr sz="1000" spc="-15" dirty="0">
                <a:solidFill>
                  <a:srgbClr val="980000"/>
                </a:solidFill>
                <a:latin typeface="Courier New"/>
                <a:cs typeface="Courier New"/>
              </a:rPr>
              <a:t>"200" </a:t>
            </a: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height=</a:t>
            </a:r>
            <a:r>
              <a:rPr sz="1000" spc="-15" dirty="0">
                <a:solidFill>
                  <a:srgbClr val="980000"/>
                </a:solidFill>
                <a:latin typeface="Courier New"/>
                <a:cs typeface="Courier New"/>
              </a:rPr>
              <a:t>"200" </a:t>
            </a: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fill=</a:t>
            </a:r>
            <a:r>
              <a:rPr sz="1000" spc="-15" dirty="0">
                <a:solidFill>
                  <a:srgbClr val="980000"/>
                </a:solidFill>
                <a:latin typeface="Courier New"/>
                <a:cs typeface="Courier New"/>
              </a:rPr>
              <a:t>"lime" </a:t>
            </a:r>
            <a:r>
              <a:rPr sz="1000" spc="-20" dirty="0">
                <a:solidFill>
                  <a:srgbClr val="595959"/>
                </a:solidFill>
                <a:latin typeface="Courier New"/>
                <a:cs typeface="Courier New"/>
              </a:rPr>
              <a:t>stroke-widt</a:t>
            </a:r>
            <a:r>
              <a:rPr sz="1000" spc="-20" dirty="0">
                <a:solidFill>
                  <a:srgbClr val="980000"/>
                </a:solidFill>
                <a:latin typeface="Courier New"/>
                <a:cs typeface="Courier New"/>
              </a:rPr>
              <a:t>h="</a:t>
            </a:r>
            <a:r>
              <a:rPr sz="1000" spc="-20" dirty="0">
                <a:solidFill>
                  <a:srgbClr val="595959"/>
                </a:solidFill>
                <a:latin typeface="Courier New"/>
                <a:cs typeface="Courier New"/>
              </a:rPr>
              <a:t>4" stroke=</a:t>
            </a:r>
            <a:r>
              <a:rPr sz="1000" spc="-20" dirty="0">
                <a:solidFill>
                  <a:srgbClr val="980000"/>
                </a:solidFill>
                <a:latin typeface="Courier New"/>
                <a:cs typeface="Courier New"/>
              </a:rPr>
              <a:t>"pink"</a:t>
            </a:r>
            <a:r>
              <a:rPr sz="1000" spc="-340" dirty="0">
                <a:solidFill>
                  <a:srgbClr val="98000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Courier New"/>
                <a:cs typeface="Courier New"/>
              </a:rPr>
              <a:t>/&gt;</a:t>
            </a:r>
            <a:endParaRPr sz="100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  <a:spcBef>
                <a:spcPts val="150"/>
              </a:spcBef>
            </a:pPr>
            <a:r>
              <a:rPr sz="1000" spc="-10" dirty="0">
                <a:solidFill>
                  <a:srgbClr val="595959"/>
                </a:solidFill>
                <a:latin typeface="Courier New"/>
                <a:cs typeface="Courier New"/>
              </a:rPr>
              <a:t>&lt;</a:t>
            </a:r>
            <a:r>
              <a:rPr sz="1000" spc="-10" dirty="0">
                <a:solidFill>
                  <a:srgbClr val="37761C"/>
                </a:solidFill>
                <a:latin typeface="Courier New"/>
                <a:cs typeface="Courier New"/>
              </a:rPr>
              <a:t>circle </a:t>
            </a: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cx=</a:t>
            </a:r>
            <a:r>
              <a:rPr sz="1000" spc="-15" dirty="0">
                <a:solidFill>
                  <a:srgbClr val="980000"/>
                </a:solidFill>
                <a:latin typeface="Courier New"/>
                <a:cs typeface="Courier New"/>
              </a:rPr>
              <a:t>"125" </a:t>
            </a: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cy=</a:t>
            </a:r>
            <a:r>
              <a:rPr sz="1000" spc="-15" dirty="0">
                <a:solidFill>
                  <a:srgbClr val="980000"/>
                </a:solidFill>
                <a:latin typeface="Courier New"/>
                <a:cs typeface="Courier New"/>
              </a:rPr>
              <a:t>"125" </a:t>
            </a: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r=</a:t>
            </a:r>
            <a:r>
              <a:rPr sz="1000" spc="-15" dirty="0">
                <a:solidFill>
                  <a:srgbClr val="980000"/>
                </a:solidFill>
                <a:latin typeface="Courier New"/>
                <a:cs typeface="Courier New"/>
              </a:rPr>
              <a:t>"75" </a:t>
            </a: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fill=</a:t>
            </a:r>
            <a:r>
              <a:rPr sz="1000" spc="-15" dirty="0">
                <a:solidFill>
                  <a:srgbClr val="980000"/>
                </a:solidFill>
                <a:latin typeface="Courier New"/>
                <a:cs typeface="Courier New"/>
              </a:rPr>
              <a:t>"orange"</a:t>
            </a:r>
            <a:r>
              <a:rPr sz="1000" spc="-365" dirty="0">
                <a:solidFill>
                  <a:srgbClr val="98000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Courier New"/>
                <a:cs typeface="Courier New"/>
              </a:rPr>
              <a:t>/&gt;</a:t>
            </a:r>
            <a:endParaRPr sz="100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  <a:spcBef>
                <a:spcPts val="150"/>
              </a:spcBef>
            </a:pPr>
            <a:r>
              <a:rPr sz="1000" spc="-10" dirty="0">
                <a:solidFill>
                  <a:srgbClr val="595959"/>
                </a:solidFill>
                <a:latin typeface="Courier New"/>
                <a:cs typeface="Courier New"/>
              </a:rPr>
              <a:t>&lt;</a:t>
            </a:r>
            <a:r>
              <a:rPr sz="1000" spc="-10" dirty="0">
                <a:solidFill>
                  <a:srgbClr val="37761C"/>
                </a:solidFill>
                <a:latin typeface="Courier New"/>
                <a:cs typeface="Courier New"/>
              </a:rPr>
              <a:t>polyline</a:t>
            </a:r>
            <a:r>
              <a:rPr sz="1000" spc="-125" dirty="0">
                <a:solidFill>
                  <a:srgbClr val="37761C"/>
                </a:solidFill>
                <a:latin typeface="Courier New"/>
                <a:cs typeface="Courier New"/>
              </a:rPr>
              <a:t> </a:t>
            </a: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points=</a:t>
            </a:r>
            <a:r>
              <a:rPr sz="1000" spc="-15" dirty="0">
                <a:solidFill>
                  <a:srgbClr val="980000"/>
                </a:solidFill>
                <a:latin typeface="Courier New"/>
                <a:cs typeface="Courier New"/>
              </a:rPr>
              <a:t>"50,150</a:t>
            </a:r>
            <a:r>
              <a:rPr sz="1000" spc="-5" dirty="0">
                <a:solidFill>
                  <a:srgbClr val="980000"/>
                </a:solidFill>
                <a:latin typeface="Courier New"/>
                <a:cs typeface="Courier New"/>
              </a:rPr>
              <a:t> 50,200 200,200 200,100"</a:t>
            </a:r>
            <a:r>
              <a:rPr sz="1000" spc="-465" dirty="0">
                <a:solidFill>
                  <a:srgbClr val="980000"/>
                </a:solidFill>
                <a:latin typeface="Courier New"/>
                <a:cs typeface="Courier New"/>
              </a:rPr>
              <a:t> </a:t>
            </a: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stroke=</a:t>
            </a:r>
            <a:r>
              <a:rPr sz="1000" spc="-15" dirty="0">
                <a:solidFill>
                  <a:srgbClr val="980000"/>
                </a:solidFill>
                <a:latin typeface="Courier New"/>
                <a:cs typeface="Courier New"/>
              </a:rPr>
              <a:t>"red"</a:t>
            </a:r>
            <a:r>
              <a:rPr sz="1000" spc="-75" dirty="0">
                <a:solidFill>
                  <a:srgbClr val="980000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595959"/>
                </a:solidFill>
                <a:latin typeface="Courier New"/>
                <a:cs typeface="Courier New"/>
              </a:rPr>
              <a:t>stroke-widt</a:t>
            </a:r>
            <a:r>
              <a:rPr sz="1000" spc="-20" dirty="0">
                <a:solidFill>
                  <a:srgbClr val="980000"/>
                </a:solidFill>
                <a:latin typeface="Courier New"/>
                <a:cs typeface="Courier New"/>
              </a:rPr>
              <a:t>h="</a:t>
            </a:r>
            <a:r>
              <a:rPr sz="1000" spc="-20" dirty="0">
                <a:solidFill>
                  <a:srgbClr val="595959"/>
                </a:solidFill>
                <a:latin typeface="Courier New"/>
                <a:cs typeface="Courier New"/>
              </a:rPr>
              <a:t>4"</a:t>
            </a:r>
            <a:r>
              <a:rPr sz="1000" spc="-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fill=</a:t>
            </a:r>
            <a:r>
              <a:rPr sz="1000" spc="-15" dirty="0">
                <a:solidFill>
                  <a:srgbClr val="980000"/>
                </a:solidFill>
                <a:latin typeface="Courier New"/>
                <a:cs typeface="Courier New"/>
              </a:rPr>
              <a:t>"none"</a:t>
            </a:r>
            <a:r>
              <a:rPr sz="1000" spc="-90" dirty="0">
                <a:solidFill>
                  <a:srgbClr val="98000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Courier New"/>
                <a:cs typeface="Courier New"/>
              </a:rPr>
              <a:t>/&gt;</a:t>
            </a:r>
            <a:endParaRPr sz="100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  <a:spcBef>
                <a:spcPts val="150"/>
              </a:spcBef>
            </a:pP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&lt;</a:t>
            </a:r>
            <a:r>
              <a:rPr sz="1000" spc="-15" dirty="0">
                <a:solidFill>
                  <a:srgbClr val="37761C"/>
                </a:solidFill>
                <a:latin typeface="Courier New"/>
                <a:cs typeface="Courier New"/>
              </a:rPr>
              <a:t>line </a:t>
            </a: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x1=</a:t>
            </a:r>
            <a:r>
              <a:rPr sz="1000" spc="-15" dirty="0">
                <a:solidFill>
                  <a:srgbClr val="980000"/>
                </a:solidFill>
                <a:latin typeface="Courier New"/>
                <a:cs typeface="Courier New"/>
              </a:rPr>
              <a:t>"50" </a:t>
            </a: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y1=</a:t>
            </a:r>
            <a:r>
              <a:rPr sz="1000" spc="-15" dirty="0">
                <a:solidFill>
                  <a:srgbClr val="980000"/>
                </a:solidFill>
                <a:latin typeface="Courier New"/>
                <a:cs typeface="Courier New"/>
              </a:rPr>
              <a:t>"50" </a:t>
            </a: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x2=</a:t>
            </a:r>
            <a:r>
              <a:rPr sz="1000" spc="-15" dirty="0">
                <a:solidFill>
                  <a:srgbClr val="980000"/>
                </a:solidFill>
                <a:latin typeface="Courier New"/>
                <a:cs typeface="Courier New"/>
              </a:rPr>
              <a:t>"200" </a:t>
            </a: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y2=</a:t>
            </a:r>
            <a:r>
              <a:rPr sz="1000" spc="-15" dirty="0">
                <a:solidFill>
                  <a:srgbClr val="980000"/>
                </a:solidFill>
                <a:latin typeface="Courier New"/>
                <a:cs typeface="Courier New"/>
              </a:rPr>
              <a:t>"200" </a:t>
            </a: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stroke=</a:t>
            </a:r>
            <a:r>
              <a:rPr sz="1000" spc="-15" dirty="0">
                <a:solidFill>
                  <a:srgbClr val="980000"/>
                </a:solidFill>
                <a:latin typeface="Courier New"/>
                <a:cs typeface="Courier New"/>
              </a:rPr>
              <a:t>"blue" </a:t>
            </a:r>
            <a:r>
              <a:rPr sz="1000" spc="-20" dirty="0">
                <a:solidFill>
                  <a:srgbClr val="595959"/>
                </a:solidFill>
                <a:latin typeface="Courier New"/>
                <a:cs typeface="Courier New"/>
              </a:rPr>
              <a:t>stroke-widt</a:t>
            </a:r>
            <a:r>
              <a:rPr sz="1000" spc="-20" dirty="0">
                <a:solidFill>
                  <a:srgbClr val="980000"/>
                </a:solidFill>
                <a:latin typeface="Courier New"/>
                <a:cs typeface="Courier New"/>
              </a:rPr>
              <a:t>h="</a:t>
            </a:r>
            <a:r>
              <a:rPr sz="1000" spc="-20" dirty="0">
                <a:solidFill>
                  <a:srgbClr val="595959"/>
                </a:solidFill>
                <a:latin typeface="Courier New"/>
                <a:cs typeface="Courier New"/>
              </a:rPr>
              <a:t>4"</a:t>
            </a:r>
            <a:r>
              <a:rPr sz="1000" spc="-3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Courier New"/>
                <a:cs typeface="Courier New"/>
              </a:rPr>
              <a:t>/&gt;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&lt;/</a:t>
            </a:r>
            <a:r>
              <a:rPr sz="1000" spc="-15" dirty="0">
                <a:solidFill>
                  <a:srgbClr val="37761C"/>
                </a:solidFill>
                <a:latin typeface="Courier New"/>
                <a:cs typeface="Courier New"/>
              </a:rPr>
              <a:t>svg</a:t>
            </a:r>
            <a:r>
              <a:rPr sz="1000" spc="-15" dirty="0">
                <a:solidFill>
                  <a:srgbClr val="595959"/>
                </a:solidFill>
                <a:latin typeface="Courier New"/>
                <a:cs typeface="Courier New"/>
              </a:rPr>
              <a:t>&gt;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34500" y="3340199"/>
            <a:ext cx="1694024" cy="16940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70200" y="4362837"/>
            <a:ext cx="14547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Source: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Wikipedia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6099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Vector </a:t>
            </a:r>
            <a:r>
              <a:rPr sz="2800" spc="-5" dirty="0"/>
              <a:t>Graphics </a:t>
            </a:r>
            <a:r>
              <a:rPr sz="2800" spc="-10" dirty="0"/>
              <a:t>Part</a:t>
            </a:r>
            <a:r>
              <a:rPr sz="2800" spc="-90" dirty="0"/>
              <a:t> </a:t>
            </a:r>
            <a:r>
              <a:rPr sz="2800" dirty="0"/>
              <a:t>2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4645660" cy="1938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Usual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architecture: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Convert high level primitives into</a:t>
            </a:r>
            <a:r>
              <a:rPr sz="18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textures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Usually done on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CPU</a:t>
            </a:r>
            <a:endParaRPr sz="14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Conversion is generally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expensive</a:t>
            </a:r>
            <a:endParaRPr sz="180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Maintain 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texture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cache</a:t>
            </a:r>
            <a:endParaRPr sz="14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254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Render with alpha test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enabled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6217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Text:</a:t>
            </a:r>
            <a:r>
              <a:rPr sz="2800" spc="-95" dirty="0"/>
              <a:t> </a:t>
            </a:r>
            <a:r>
              <a:rPr sz="2800" spc="-5" dirty="0"/>
              <a:t>Font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1800860" cy="3014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Know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your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terms: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X-height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Baseline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Leading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Kerning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Ascender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Descender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Tracking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Typeface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93777" y="716695"/>
            <a:ext cx="1967819" cy="15250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20020" y="2694295"/>
            <a:ext cx="2069324" cy="10116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96050" y="3869953"/>
            <a:ext cx="3721459" cy="10035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5520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Text:</a:t>
            </a:r>
            <a:r>
              <a:rPr sz="2800" spc="-90" dirty="0"/>
              <a:t> </a:t>
            </a:r>
            <a:r>
              <a:rPr sz="2800" spc="-5" dirty="0"/>
              <a:t>Rendering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6140450" cy="3709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Two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main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options: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419734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Bitmap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graphics</a:t>
            </a:r>
            <a:endParaRPr sz="1800">
              <a:latin typeface="Arial"/>
              <a:cs typeface="Arial"/>
            </a:endParaRPr>
          </a:p>
          <a:p>
            <a:pPr marL="927100" lvl="1" indent="-377190">
              <a:lnSpc>
                <a:spcPct val="100000"/>
              </a:lnSpc>
              <a:spcBef>
                <a:spcPts val="330"/>
              </a:spcBef>
              <a:buAutoNum type="alphaLcPeriod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Offline,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create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atlas texture with all necessary letters and</a:t>
            </a:r>
            <a:r>
              <a:rPr sz="14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symbols.</a:t>
            </a:r>
            <a:endParaRPr sz="1400">
              <a:latin typeface="Arial"/>
              <a:cs typeface="Arial"/>
            </a:endParaRPr>
          </a:p>
          <a:p>
            <a:pPr marL="927100" lvl="1" indent="-377190">
              <a:lnSpc>
                <a:spcPct val="100000"/>
              </a:lnSpc>
              <a:spcBef>
                <a:spcPts val="270"/>
              </a:spcBef>
              <a:buAutoNum type="alphaLcPeriod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 texture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coords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select specific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symbols.</a:t>
            </a:r>
            <a:endParaRPr sz="1400">
              <a:latin typeface="Arial"/>
              <a:cs typeface="Arial"/>
            </a:endParaRPr>
          </a:p>
          <a:p>
            <a:pPr marL="927100" lvl="1" indent="-367030">
              <a:lnSpc>
                <a:spcPct val="100000"/>
              </a:lnSpc>
              <a:spcBef>
                <a:spcPts val="270"/>
              </a:spcBef>
              <a:buAutoNum type="alphaLcPeriod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Consider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signed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distance fields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scale more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cleanly.</a:t>
            </a:r>
            <a:endParaRPr sz="1400">
              <a:latin typeface="Arial"/>
              <a:cs typeface="Arial"/>
            </a:endParaRPr>
          </a:p>
          <a:p>
            <a:pPr marL="469900" indent="-419734">
              <a:lnSpc>
                <a:spcPct val="100000"/>
              </a:lnSpc>
              <a:spcBef>
                <a:spcPts val="254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Vector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graphics.</a:t>
            </a:r>
            <a:endParaRPr sz="1800">
              <a:latin typeface="Arial"/>
              <a:cs typeface="Arial"/>
            </a:endParaRPr>
          </a:p>
          <a:p>
            <a:pPr marL="927100" lvl="1" indent="-377190">
              <a:lnSpc>
                <a:spcPct val="100000"/>
              </a:lnSpc>
              <a:spcBef>
                <a:spcPts val="330"/>
              </a:spcBef>
              <a:buAutoNum type="alphaLcPeriod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Render directly from TrueType with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caching.</a:t>
            </a:r>
            <a:endParaRPr sz="1400">
              <a:latin typeface="Arial"/>
              <a:cs typeface="Arial"/>
            </a:endParaRPr>
          </a:p>
          <a:p>
            <a:pPr marL="927100" lvl="1" indent="-377190">
              <a:lnSpc>
                <a:spcPct val="100000"/>
              </a:lnSpc>
              <a:spcBef>
                <a:spcPts val="270"/>
              </a:spcBef>
              <a:buAutoNum type="alphaLcPeriod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Consider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stb_truetype.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want to add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support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simple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markup: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Change text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color /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other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properties.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Render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special symbols such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controller</a:t>
            </a:r>
            <a:r>
              <a:rPr sz="18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buttons.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7889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Text:</a:t>
            </a:r>
            <a:r>
              <a:rPr sz="2800" spc="-90" dirty="0"/>
              <a:t> </a:t>
            </a:r>
            <a:r>
              <a:rPr sz="2800" spc="-5" dirty="0"/>
              <a:t>Localization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014334" cy="320548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Localization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preparing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ship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outside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your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native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culture,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language,</a:t>
            </a:r>
            <a:r>
              <a:rPr sz="18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etc.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Text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considerations: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Supporting all the necessary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symbols/letters</a:t>
            </a:r>
            <a:endParaRPr sz="14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bitmap fonts, do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need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more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than one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texture?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Supporting the necessary display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conventions (right-to-left,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vertical)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Affordances for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much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longer/shorter words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(*cough*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German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*cough*)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Know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Unicode: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Assigns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32-bit integer to </a:t>
            </a: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every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written language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symbol (code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points)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Unicode has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several standard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encodings:</a:t>
            </a:r>
            <a:endParaRPr sz="14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UTF-8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Variable length, if high bit 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set,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look at next byte. </a:t>
            </a: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First 127 points </a:t>
            </a: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-&gt;</a:t>
            </a:r>
            <a:r>
              <a:rPr sz="14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ASCII.</a:t>
            </a:r>
            <a:endParaRPr sz="14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UTF-16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16-bit, fixed length,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covers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all the Unicode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will ever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need.</a:t>
            </a:r>
            <a:endParaRPr sz="14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UTF-32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You do not need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this.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9168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Implementing Text</a:t>
            </a:r>
            <a:r>
              <a:rPr sz="2800" spc="-100" dirty="0"/>
              <a:t> </a:t>
            </a:r>
            <a:r>
              <a:rPr sz="2800" spc="-5" dirty="0"/>
              <a:t>Localization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22676" y="1162308"/>
            <a:ext cx="7021195" cy="31527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525"/>
              </a:spcBef>
              <a:buAutoNum type="arabicPeriod"/>
              <a:tabLst>
                <a:tab pos="431800" algn="l"/>
                <a:tab pos="432434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Offline:</a:t>
            </a:r>
            <a:endParaRPr sz="1800">
              <a:latin typeface="Arial"/>
              <a:cs typeface="Arial"/>
            </a:endParaRPr>
          </a:p>
          <a:p>
            <a:pPr marL="889000" lvl="1" indent="-377190">
              <a:lnSpc>
                <a:spcPct val="100000"/>
              </a:lnSpc>
              <a:spcBef>
                <a:spcPts val="330"/>
              </a:spcBef>
              <a:buAutoNum type="alphaLcPeriod"/>
              <a:tabLst>
                <a:tab pos="889000" algn="l"/>
                <a:tab pos="8896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Choose an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encoding</a:t>
            </a:r>
            <a:endParaRPr sz="1400">
              <a:latin typeface="Arial"/>
              <a:cs typeface="Arial"/>
            </a:endParaRPr>
          </a:p>
          <a:p>
            <a:pPr marL="1346200" lvl="2" indent="-317500">
              <a:lnSpc>
                <a:spcPct val="100000"/>
              </a:lnSpc>
              <a:spcBef>
                <a:spcPts val="270"/>
              </a:spcBef>
              <a:buAutoNum type="romanLcPeriod"/>
              <a:tabLst>
                <a:tab pos="1346200" algn="l"/>
                <a:tab pos="13468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UTF-8 or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UTF-16</a:t>
            </a:r>
            <a:endParaRPr sz="1400">
              <a:latin typeface="Arial"/>
              <a:cs typeface="Arial"/>
            </a:endParaRPr>
          </a:p>
          <a:p>
            <a:pPr marL="889000" lvl="1" indent="-377190">
              <a:lnSpc>
                <a:spcPct val="100000"/>
              </a:lnSpc>
              <a:spcBef>
                <a:spcPts val="270"/>
              </a:spcBef>
              <a:buAutoNum type="alphaLcPeriod"/>
              <a:tabLst>
                <a:tab pos="889000" algn="l"/>
                <a:tab pos="8896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Find all the places 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code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data where user-visible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strings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4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stored</a:t>
            </a:r>
            <a:endParaRPr sz="1400">
              <a:latin typeface="Arial"/>
              <a:cs typeface="Arial"/>
            </a:endParaRPr>
          </a:p>
          <a:p>
            <a:pPr marL="1346200" lvl="2" indent="-317500">
              <a:lnSpc>
                <a:spcPct val="100000"/>
              </a:lnSpc>
              <a:spcBef>
                <a:spcPts val="270"/>
              </a:spcBef>
              <a:buAutoNum type="romanLcPeriod"/>
              <a:tabLst>
                <a:tab pos="1346200" algn="l"/>
                <a:tab pos="13468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Try to avoid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strings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baked into other game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textures</a:t>
            </a:r>
            <a:endParaRPr sz="1400">
              <a:latin typeface="Arial"/>
              <a:cs typeface="Arial"/>
            </a:endParaRPr>
          </a:p>
          <a:p>
            <a:pPr marL="889000" lvl="1" indent="-367030">
              <a:lnSpc>
                <a:spcPct val="100000"/>
              </a:lnSpc>
              <a:spcBef>
                <a:spcPts val="270"/>
              </a:spcBef>
              <a:buAutoNum type="alphaLcPeriod"/>
              <a:tabLst>
                <a:tab pos="889000" algn="l"/>
                <a:tab pos="8896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Build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big list of those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strings</a:t>
            </a:r>
            <a:endParaRPr sz="1400">
              <a:latin typeface="Arial"/>
              <a:cs typeface="Arial"/>
            </a:endParaRPr>
          </a:p>
          <a:p>
            <a:pPr marL="889000" lvl="1" indent="-377190">
              <a:lnSpc>
                <a:spcPct val="100000"/>
              </a:lnSpc>
              <a:spcBef>
                <a:spcPts val="270"/>
              </a:spcBef>
              <a:buAutoNum type="alphaLcPeriod"/>
              <a:tabLst>
                <a:tab pos="889000" algn="l"/>
                <a:tab pos="8896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Get them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translated</a:t>
            </a:r>
            <a:endParaRPr sz="1400">
              <a:latin typeface="Arial"/>
              <a:cs typeface="Arial"/>
            </a:endParaRPr>
          </a:p>
          <a:p>
            <a:pPr marL="889000" lvl="1" indent="-377190">
              <a:lnSpc>
                <a:spcPct val="100000"/>
              </a:lnSpc>
              <a:spcBef>
                <a:spcPts val="270"/>
              </a:spcBef>
              <a:buAutoNum type="alphaLcPeriod"/>
              <a:tabLst>
                <a:tab pos="889000" algn="l"/>
                <a:tab pos="8896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bitmap fonts, build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library of all necessary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symbols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pack into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texture</a:t>
            </a:r>
            <a:endParaRPr sz="1400">
              <a:latin typeface="Arial"/>
              <a:cs typeface="Arial"/>
            </a:endParaRPr>
          </a:p>
          <a:p>
            <a:pPr marL="889000" lvl="1" indent="-327660">
              <a:lnSpc>
                <a:spcPct val="100000"/>
              </a:lnSpc>
              <a:spcBef>
                <a:spcPts val="270"/>
              </a:spcBef>
              <a:buAutoNum type="alphaLcPeriod"/>
              <a:tabLst>
                <a:tab pos="889000" algn="l"/>
                <a:tab pos="8896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Find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min,max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extents of each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string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use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size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UI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elements</a:t>
            </a:r>
            <a:endParaRPr sz="14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254"/>
              </a:spcBef>
              <a:buAutoNum type="arabicPeriod"/>
              <a:tabLst>
                <a:tab pos="431800" algn="l"/>
                <a:tab pos="432434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runtime:</a:t>
            </a:r>
            <a:endParaRPr sz="1800">
              <a:latin typeface="Arial"/>
              <a:cs typeface="Arial"/>
            </a:endParaRPr>
          </a:p>
          <a:p>
            <a:pPr marL="889000" lvl="1" indent="-377190">
              <a:lnSpc>
                <a:spcPct val="100000"/>
              </a:lnSpc>
              <a:spcBef>
                <a:spcPts val="330"/>
              </a:spcBef>
              <a:buAutoNum type="alphaLcPeriod"/>
              <a:tabLst>
                <a:tab pos="889000" algn="l"/>
                <a:tab pos="8896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Detect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current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language</a:t>
            </a:r>
            <a:endParaRPr sz="1400">
              <a:latin typeface="Arial"/>
              <a:cs typeface="Arial"/>
            </a:endParaRPr>
          </a:p>
          <a:p>
            <a:pPr marL="889000" lvl="1" indent="-377190">
              <a:lnSpc>
                <a:spcPct val="100000"/>
              </a:lnSpc>
              <a:spcBef>
                <a:spcPts val="270"/>
              </a:spcBef>
              <a:buAutoNum type="alphaLcPeriod"/>
              <a:tabLst>
                <a:tab pos="889000" algn="l"/>
                <a:tab pos="88963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 indirection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/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patching 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map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native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strings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translated</a:t>
            </a:r>
            <a:r>
              <a:rPr sz="14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strings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0797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Third </a:t>
            </a:r>
            <a:r>
              <a:rPr sz="2800" spc="-10" dirty="0"/>
              <a:t>Party</a:t>
            </a:r>
            <a:r>
              <a:rPr sz="2800" spc="-95" dirty="0"/>
              <a:t> </a:t>
            </a:r>
            <a:r>
              <a:rPr sz="2800" spc="-5" dirty="0"/>
              <a:t>Options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6315710" cy="1442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Some useful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packages: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Scaleform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Flash player for games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commonly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used for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UI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Stb_truetype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Small, open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source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TrueType</a:t>
            </a:r>
            <a:r>
              <a:rPr sz="18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renderer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IMGUI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Small, open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source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immediate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UI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5443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Summary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6665595" cy="15970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UI is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challenging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Dynamic layout: expected and actual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resolution, scale,</a:t>
            </a:r>
            <a:r>
              <a:rPr sz="18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anchor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Bitmap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rendering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Vector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rendering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Localization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9405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End</a:t>
            </a:r>
            <a:r>
              <a:rPr sz="2800" spc="-90" dirty="0"/>
              <a:t> </a:t>
            </a:r>
            <a:r>
              <a:rPr sz="2800" spc="-5" dirty="0"/>
              <a:t>Lecture</a:t>
            </a:r>
            <a:endParaRPr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8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1538</Words>
  <Application>Microsoft Office PowerPoint</Application>
  <PresentationFormat>On-screen Show (16:9)</PresentationFormat>
  <Paragraphs>316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Courier New</vt:lpstr>
      <vt:lpstr>Times New Roman</vt:lpstr>
      <vt:lpstr>Office Theme</vt:lpstr>
      <vt:lpstr>Game Architecture User Interface</vt:lpstr>
      <vt:lpstr>Today’s Agenda</vt:lpstr>
      <vt:lpstr>What are we talking about?</vt:lpstr>
      <vt:lpstr>Why it’s hard</vt:lpstr>
      <vt:lpstr>UI Architecture</vt:lpstr>
      <vt:lpstr>UI Architecture</vt:lpstr>
      <vt:lpstr>UI Architecture</vt:lpstr>
      <vt:lpstr>UI Architecture</vt:lpstr>
      <vt:lpstr>UI Architecture</vt:lpstr>
      <vt:lpstr>UI Architecture</vt:lpstr>
      <vt:lpstr>UI Architecture</vt:lpstr>
      <vt:lpstr>UI Architecture</vt:lpstr>
      <vt:lpstr>UI Architecture</vt:lpstr>
      <vt:lpstr>Layout</vt:lpstr>
      <vt:lpstr>Dynamic Layout</vt:lpstr>
      <vt:lpstr>Layout Transform</vt:lpstr>
      <vt:lpstr>Rendering techniques</vt:lpstr>
      <vt:lpstr>Signed Distance Fields</vt:lpstr>
      <vt:lpstr>Signed Distance Fields Part 2</vt:lpstr>
      <vt:lpstr>Vector graphics</vt:lpstr>
      <vt:lpstr>Vector Graphics Part 2</vt:lpstr>
      <vt:lpstr>Text: Font</vt:lpstr>
      <vt:lpstr>Text: Rendering</vt:lpstr>
      <vt:lpstr>Text: Localization</vt:lpstr>
      <vt:lpstr>Implementing Text Localization</vt:lpstr>
      <vt:lpstr>Third Party Options</vt:lpstr>
      <vt:lpstr>Summary</vt:lpstr>
      <vt:lpstr>End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Architecture User Interface</dc:title>
  <cp:lastModifiedBy>Chang, Benjamin Chia-Ming</cp:lastModifiedBy>
  <cp:revision>1</cp:revision>
  <dcterms:created xsi:type="dcterms:W3CDTF">2019-03-11T20:29:57Z</dcterms:created>
  <dcterms:modified xsi:type="dcterms:W3CDTF">2019-03-11T20:30:47Z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